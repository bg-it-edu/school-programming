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8"/>
  </p:notesMasterIdLst>
  <p:handoutMasterIdLst>
    <p:handoutMasterId r:id="rId29"/>
  </p:handoutMasterIdLst>
  <p:sldIdLst>
    <p:sldId id="503" r:id="rId2"/>
    <p:sldId id="276" r:id="rId3"/>
    <p:sldId id="353" r:id="rId4"/>
    <p:sldId id="497" r:id="rId5"/>
    <p:sldId id="903" r:id="rId6"/>
    <p:sldId id="904" r:id="rId7"/>
    <p:sldId id="905" r:id="rId8"/>
    <p:sldId id="914" r:id="rId9"/>
    <p:sldId id="610" r:id="rId10"/>
    <p:sldId id="902" r:id="rId11"/>
    <p:sldId id="906" r:id="rId12"/>
    <p:sldId id="908" r:id="rId13"/>
    <p:sldId id="916" r:id="rId14"/>
    <p:sldId id="909" r:id="rId15"/>
    <p:sldId id="616" r:id="rId16"/>
    <p:sldId id="874" r:id="rId17"/>
    <p:sldId id="654" r:id="rId18"/>
    <p:sldId id="881" r:id="rId19"/>
    <p:sldId id="912" r:id="rId20"/>
    <p:sldId id="911" r:id="rId21"/>
    <p:sldId id="913" r:id="rId22"/>
    <p:sldId id="910" r:id="rId23"/>
    <p:sldId id="915" r:id="rId24"/>
    <p:sldId id="633" r:id="rId25"/>
    <p:sldId id="504" r:id="rId26"/>
    <p:sldId id="50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WordPress теми" id="{66DCFE1F-60FD-44F2-BE82-706DDBC14898}">
          <p14:sldIdLst>
            <p14:sldId id="353"/>
            <p14:sldId id="497"/>
            <p14:sldId id="903"/>
            <p14:sldId id="904"/>
            <p14:sldId id="905"/>
            <p14:sldId id="914"/>
          </p14:sldIdLst>
        </p14:section>
        <p14:section name="WordPress добавки" id="{EB44CA50-B176-0C4C-B0D0-5459023C7783}">
          <p14:sldIdLst>
            <p14:sldId id="610"/>
            <p14:sldId id="902"/>
            <p14:sldId id="906"/>
            <p14:sldId id="908"/>
            <p14:sldId id="916"/>
            <p14:sldId id="909"/>
          </p14:sldIdLst>
        </p14:section>
        <p14:section name="Добри практики" id="{2B3E1915-4BA2-9447-BC07-AE658EE7EC35}">
          <p14:sldIdLst>
            <p14:sldId id="616"/>
            <p14:sldId id="874"/>
          </p14:sldIdLst>
        </p14:section>
        <p14:section name="Демо" id="{276EAB92-AF41-DD42-AFD3-D1ABB239E1A7}">
          <p14:sldIdLst>
            <p14:sldId id="654"/>
            <p14:sldId id="881"/>
            <p14:sldId id="912"/>
            <p14:sldId id="911"/>
            <p14:sldId id="913"/>
            <p14:sldId id="910"/>
            <p14:sldId id="915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30" autoAdjust="0"/>
    <p:restoredTop sz="95274" autoAdjust="0"/>
  </p:normalViewPr>
  <p:slideViewPr>
    <p:cSldViewPr showGuides="1">
      <p:cViewPr varScale="1">
        <p:scale>
          <a:sx n="108" d="100"/>
          <a:sy n="108" d="100"/>
        </p:scale>
        <p:origin x="256" y="18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4.09.26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849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598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291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539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GB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WordPress </a:t>
            </a:r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теми и добавки</a:t>
            </a:r>
            <a:endParaRPr lang="en-US" sz="4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73413"/>
            <a:ext cx="1819960" cy="814500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84281C-584A-D6CD-E29E-94CBB20C31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4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теми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Предназначение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и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избор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подходяща 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добавки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Инсталиране</a:t>
            </a:r>
            <a:r>
              <a:rPr lang="bg-BG" sz="3600" dirty="0"/>
              <a:t> и </a:t>
            </a:r>
            <a:r>
              <a:rPr lang="bg-BG" sz="3600" b="1" dirty="0"/>
              <a:t>управление</a:t>
            </a:r>
            <a:r>
              <a:rPr lang="bg-BG" sz="3600" dirty="0"/>
              <a:t> на </a:t>
            </a:r>
            <a:r>
              <a:rPr lang="bg-BG" sz="3600" b="1" dirty="0"/>
              <a:t>добавка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Управление на външния вид и функционалността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Предназначение и избор на подходяща тема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WordPress</a:t>
            </a:r>
            <a:r>
              <a:rPr lang="bg-BG" sz="6000" dirty="0"/>
              <a:t> теми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B70EA8-4579-F746-B70B-0F0E0BFC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100" y="1385091"/>
            <a:ext cx="3808364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Темите</a:t>
            </a:r>
            <a:r>
              <a:rPr lang="bg-BG" sz="2800" dirty="0"/>
              <a:t> (</a:t>
            </a:r>
            <a:r>
              <a:rPr lang="bg-BG" sz="2800" b="1" dirty="0"/>
              <a:t>тематичните шаблони</a:t>
            </a:r>
            <a:r>
              <a:rPr lang="en-US" sz="2800" dirty="0"/>
              <a:t>)</a:t>
            </a:r>
            <a:r>
              <a:rPr lang="bg-BG" sz="2800" dirty="0"/>
              <a:t> определят </a:t>
            </a:r>
            <a:r>
              <a:rPr lang="bg-BG" sz="2800" b="1" dirty="0">
                <a:solidFill>
                  <a:schemeClr val="bg1"/>
                </a:solidFill>
              </a:rPr>
              <a:t>външния вид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2800" b="1" dirty="0"/>
              <a:t>Съдържанието</a:t>
            </a:r>
            <a:r>
              <a:rPr lang="bg-BG" sz="2800" dirty="0"/>
              <a:t> на </a:t>
            </a:r>
            <a:r>
              <a:rPr lang="bg-BG" sz="2800" b="1" dirty="0"/>
              <a:t>уеб сайта </a:t>
            </a:r>
            <a:r>
              <a:rPr lang="bg-BG" sz="2800" b="1" dirty="0">
                <a:solidFill>
                  <a:schemeClr val="bg1"/>
                </a:solidFill>
              </a:rPr>
              <a:t>се запазва</a:t>
            </a:r>
            <a:r>
              <a:rPr lang="bg-BG" sz="2800" dirty="0"/>
              <a:t> при </a:t>
            </a:r>
            <a:r>
              <a:rPr lang="bg-BG" sz="2800" b="1" dirty="0"/>
              <a:t>смяна на темата</a:t>
            </a:r>
          </a:p>
          <a:p>
            <a:r>
              <a:rPr lang="bg-BG" sz="2800" dirty="0"/>
              <a:t>В даден момент е </a:t>
            </a:r>
            <a:r>
              <a:rPr lang="bg-BG" sz="2800" b="1" dirty="0">
                <a:solidFill>
                  <a:schemeClr val="bg1"/>
                </a:solidFill>
              </a:rPr>
              <a:t>активна</a:t>
            </a:r>
            <a:r>
              <a:rPr lang="bg-BG" sz="2800" b="1" dirty="0"/>
              <a:t> само една тема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WordPress </a:t>
            </a:r>
            <a:r>
              <a:rPr lang="bg-BG" dirty="0"/>
              <a:t>теми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7B49AC-7B98-CF6E-A0D3-FA0C522EC5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82" y="3091030"/>
            <a:ext cx="6459435" cy="363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C487B6F-E649-6A6C-424B-69EDDB47E0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782" y="3792063"/>
            <a:ext cx="1996122" cy="1903280"/>
          </a:xfrm>
          <a:prstGeom prst="rect">
            <a:avLst/>
          </a:prstGeom>
        </p:spPr>
      </p:pic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Оформление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страници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Цветова схема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Шрифтове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Заглавна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долна част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Навигационни менюта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Изглед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b="1" dirty="0"/>
              <a:t>различни устройства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Елементи, които определя темата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553DB-F9ED-F676-80D3-0FC32E4A08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568" y="1625658"/>
            <a:ext cx="1996122" cy="190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AC8C36-66A0-CC91-D1BB-BD5A54FFE6B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0894" y="1625658"/>
            <a:ext cx="1996122" cy="1903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54164-5A41-074B-D226-C9625C250B3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8599" y="1625658"/>
            <a:ext cx="1996122" cy="1903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C6FCF-B385-8F51-DF21-69D5037AB5F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5062" y="3792063"/>
            <a:ext cx="1996122" cy="1903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2AC73B-6B84-B295-3EFA-3CF0F35CFEF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71722" y="3924000"/>
            <a:ext cx="2129876" cy="190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31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535598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Подходящата тема</a:t>
            </a:r>
            <a:r>
              <a:rPr lang="bg-BG" sz="2800" dirty="0"/>
              <a:t>: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Съответства</a:t>
            </a:r>
            <a:r>
              <a:rPr lang="bg-BG" sz="2600" dirty="0"/>
              <a:t> на </a:t>
            </a:r>
            <a:r>
              <a:rPr lang="bg-BG" sz="26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</a:p>
          <a:p>
            <a:pPr lvl="1"/>
            <a:r>
              <a:rPr lang="bg-BG" sz="2600" dirty="0"/>
              <a:t>Има </a:t>
            </a:r>
            <a:r>
              <a:rPr lang="bg-BG" sz="2600" b="1" dirty="0">
                <a:solidFill>
                  <a:schemeClr val="bg1"/>
                </a:solidFill>
              </a:rPr>
              <a:t>ясно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четимо</a:t>
            </a:r>
            <a:r>
              <a:rPr lang="bg-BG" sz="2600" dirty="0"/>
              <a:t> </a:t>
            </a:r>
            <a:r>
              <a:rPr lang="bg-BG" sz="2600" b="1" dirty="0"/>
              <a:t>оформление</a:t>
            </a:r>
          </a:p>
          <a:p>
            <a:pPr lvl="1"/>
            <a:r>
              <a:rPr lang="bg-BG" sz="2600" b="1" dirty="0"/>
              <a:t>Подходяща</a:t>
            </a:r>
            <a:r>
              <a:rPr lang="bg-BG" sz="2600" dirty="0"/>
              <a:t> е за </a:t>
            </a:r>
            <a:r>
              <a:rPr lang="bg-BG" sz="2600" b="1" dirty="0">
                <a:solidFill>
                  <a:schemeClr val="bg1"/>
                </a:solidFill>
              </a:rPr>
              <a:t>различни размери </a:t>
            </a:r>
            <a:r>
              <a:rPr lang="bg-BG" sz="2600" dirty="0"/>
              <a:t>на </a:t>
            </a:r>
            <a:r>
              <a:rPr lang="bg-BG" sz="2600" b="1" dirty="0"/>
              <a:t>екрана</a:t>
            </a:r>
          </a:p>
          <a:p>
            <a:pPr lvl="1"/>
            <a:r>
              <a:rPr lang="bg-BG" sz="2600" b="1" dirty="0"/>
              <a:t>Поддържа</a:t>
            </a:r>
            <a:r>
              <a:rPr lang="bg-BG" sz="2600" dirty="0"/>
              <a:t> необходимите </a:t>
            </a:r>
            <a:r>
              <a:rPr lang="bg-BG" sz="2600" b="1" dirty="0">
                <a:solidFill>
                  <a:schemeClr val="bg1"/>
                </a:solidFill>
              </a:rPr>
              <a:t>настройки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възможности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Актуализира се </a:t>
            </a:r>
            <a:r>
              <a:rPr lang="bg-BG" sz="2600" dirty="0"/>
              <a:t>и е </a:t>
            </a:r>
            <a:r>
              <a:rPr lang="bg-BG" sz="2600" b="1" dirty="0">
                <a:solidFill>
                  <a:schemeClr val="bg1"/>
                </a:solidFill>
              </a:rPr>
              <a:t>съвместима</a:t>
            </a:r>
            <a:r>
              <a:rPr lang="bg-BG" sz="2600" dirty="0"/>
              <a:t> с използваната </a:t>
            </a:r>
            <a:r>
              <a:rPr lang="bg-BG" sz="2600" b="1" dirty="0"/>
              <a:t>версия</a:t>
            </a:r>
            <a:r>
              <a:rPr lang="bg-BG" sz="2600" dirty="0"/>
              <a:t> на </a:t>
            </a:r>
            <a:r>
              <a:rPr lang="en-US" sz="2600" b="1" dirty="0"/>
              <a:t>WordPress</a:t>
            </a:r>
            <a:endParaRPr lang="bg-BG" sz="26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на подходяща тема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0A16E-5F9B-4FB5-520B-10AB95B0E4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8"/>
          <a:stretch/>
        </p:blipFill>
        <p:spPr>
          <a:xfrm>
            <a:off x="6499890" y="3205750"/>
            <a:ext cx="5674749" cy="359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91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Отваряме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Appearance</a:t>
            </a:r>
            <a:r>
              <a:rPr lang="en-GB" sz="3000" b="1" dirty="0"/>
              <a:t>] → [</a:t>
            </a:r>
            <a:r>
              <a:rPr lang="en-GB" sz="3000" b="1" dirty="0">
                <a:solidFill>
                  <a:schemeClr val="bg1"/>
                </a:solidFill>
              </a:rPr>
              <a:t>Themes</a:t>
            </a:r>
            <a:r>
              <a:rPr lang="en-GB" sz="3000" b="1" dirty="0"/>
              <a:t>]</a:t>
            </a:r>
          </a:p>
          <a:p>
            <a:r>
              <a:rPr lang="bg-BG" sz="3000" dirty="0"/>
              <a:t>Разглеждаме </a:t>
            </a:r>
            <a:r>
              <a:rPr lang="bg-BG" sz="3000" b="1" dirty="0"/>
              <a:t>наличните теми</a:t>
            </a:r>
            <a:endParaRPr lang="en-GB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и активиране на тема </a:t>
            </a:r>
            <a:r>
              <a:rPr lang="en-US" dirty="0"/>
              <a:t>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EF5CED-8C48-0494-392F-051C814F8B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12" y="3670002"/>
            <a:ext cx="4889500" cy="1104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90EE49-8326-D901-FCA1-CD48E6147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6000" y="1590561"/>
            <a:ext cx="4889500" cy="491643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5A32A5E5-D0B6-0F05-DBEE-03FEBDB946B1}"/>
              </a:ext>
            </a:extLst>
          </p:cNvPr>
          <p:cNvSpPr/>
          <p:nvPr/>
        </p:nvSpPr>
        <p:spPr>
          <a:xfrm>
            <a:off x="5454816" y="3786479"/>
            <a:ext cx="1045240" cy="87194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 dirty="0"/>
          </a:p>
        </p:txBody>
      </p:sp>
    </p:spTree>
    <p:extLst>
      <p:ext uri="{BB962C8B-B14F-4D97-AF65-F5344CB8AC3E}">
        <p14:creationId xmlns:p14="http://schemas.microsoft.com/office/powerpoint/2010/main" val="1240705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09559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/>
              <a:t>тема</a:t>
            </a:r>
            <a:r>
              <a:rPr lang="bg-BG" sz="3000" dirty="0"/>
              <a:t> и я преглеждаме с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Preview</a:t>
            </a:r>
            <a:r>
              <a:rPr lang="en-GB" sz="3000" b="1" dirty="0"/>
              <a:t>]</a:t>
            </a:r>
          </a:p>
          <a:p>
            <a:r>
              <a:rPr lang="bg-BG" sz="3000" dirty="0"/>
              <a:t>Активираме темата с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Activate</a:t>
            </a:r>
            <a:r>
              <a:rPr lang="en-GB" sz="3000" b="1" dirty="0"/>
              <a:t>]</a:t>
            </a:r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и активиране на тема</a:t>
            </a:r>
            <a:r>
              <a:rPr lang="en-US" dirty="0"/>
              <a:t> 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BE6AAD-E8D1-86B3-78A6-5086BE31A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600" y="1238400"/>
            <a:ext cx="4790016" cy="5443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51982F-7400-9CA1-1BC6-79D678A1C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600" y="1238400"/>
            <a:ext cx="4790016" cy="5443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64901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Добавяне на нова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GB" sz="4400" dirty="0"/>
              <a:t>WordPress </a:t>
            </a:r>
            <a:r>
              <a:rPr lang="bg-BG" sz="4400" dirty="0"/>
              <a:t>добавки</a:t>
            </a:r>
            <a:endParaRPr lang="en-US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22402-48CB-ADD6-BB35-A51EF311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663" y="1134000"/>
            <a:ext cx="4264674" cy="284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rgbClr val="C4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Добавката 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GB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е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допълнителна функционалност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Разширяват</a:t>
            </a:r>
            <a:r>
              <a:rPr lang="bg-BG" sz="3200" dirty="0"/>
              <a:t> </a:t>
            </a:r>
            <a:r>
              <a:rPr lang="bg-BG" sz="3200" b="1" dirty="0"/>
              <a:t>възможностите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r>
              <a:rPr lang="bg-BG" sz="3200" dirty="0"/>
              <a:t>, но </a:t>
            </a:r>
            <a:r>
              <a:rPr lang="bg-BG" sz="3200" b="1" dirty="0">
                <a:solidFill>
                  <a:schemeClr val="bg1"/>
                </a:solidFill>
              </a:rPr>
              <a:t>не променят </a:t>
            </a:r>
            <a:r>
              <a:rPr lang="bg-BG" sz="3200" dirty="0"/>
              <a:t>основния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bg-BG" sz="3200" b="1" dirty="0"/>
          </a:p>
          <a:p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Към един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уеб сайт 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могат да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работят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няколко добавки</a:t>
            </a:r>
          </a:p>
          <a:p>
            <a:endParaRPr lang="bg-BG" sz="32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GB" dirty="0"/>
              <a:t>WordPress </a:t>
            </a:r>
            <a:r>
              <a:rPr lang="bg-BG" dirty="0"/>
              <a:t>добавки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F71A2-5634-DAAC-1A20-72AF75DA3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845" y="3609000"/>
            <a:ext cx="5542309" cy="31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A4CA9D-181F-774E-71DC-C25E9BE2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EF08-0450-A3CC-1462-6F98F57C6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Контактна форма</a:t>
            </a:r>
          </a:p>
          <a:p>
            <a:r>
              <a:rPr lang="bg-BG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en-US" b="1" dirty="0">
                <a:solidFill>
                  <a:schemeClr val="bg1"/>
                </a:solidFill>
              </a:rPr>
              <a:t>SEO </a:t>
            </a:r>
            <a:r>
              <a:rPr lang="bg-BG" b="1" dirty="0">
                <a:solidFill>
                  <a:schemeClr val="bg1"/>
                </a:solidFill>
              </a:rPr>
              <a:t>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Архивиране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2439-AC30-DFB6-0D50-C1EEBE56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функционалности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2B4B8C-E907-3ED1-63D7-12D830C82B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1314000"/>
            <a:ext cx="3600000" cy="184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1B0EC0-A5CE-367B-F184-3893C4D059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1314000"/>
            <a:ext cx="3600000" cy="184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54ECA1-645E-1E57-1051-3B06BD7DFDA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3707931"/>
            <a:ext cx="3600000" cy="1845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767716-31EC-F904-35A6-DCB64CE94CF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3707931"/>
            <a:ext cx="3600000" cy="18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18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>
                <a:solidFill>
                  <a:schemeClr val="bg1"/>
                </a:solidFill>
              </a:rPr>
              <a:t>Plugins</a:t>
            </a:r>
            <a:r>
              <a:rPr lang="en-GB" b="1" dirty="0"/>
              <a:t>] </a:t>
            </a:r>
            <a:endParaRPr lang="bg-BG" b="1" dirty="0"/>
          </a:p>
          <a:p>
            <a:r>
              <a:rPr lang="bg-BG" dirty="0"/>
              <a:t>Разглеждаме и избираме </a:t>
            </a:r>
            <a:r>
              <a:rPr lang="bg-BG" b="1" dirty="0"/>
              <a:t>необходимата добавка</a:t>
            </a:r>
            <a:endParaRPr lang="bg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70B94A-F13F-F059-5B02-50A27A6E7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76" y="3921975"/>
            <a:ext cx="3416300" cy="1739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692DDD-E40C-DB2E-40C9-C21950F053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099" y="2602769"/>
            <a:ext cx="5666901" cy="39042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71BED927-065B-07A6-BC27-9C6344CA0750}"/>
              </a:ext>
            </a:extLst>
          </p:cNvPr>
          <p:cNvSpPr/>
          <p:nvPr/>
        </p:nvSpPr>
        <p:spPr>
          <a:xfrm>
            <a:off x="4358605" y="4348586"/>
            <a:ext cx="1128765" cy="88667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62533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90559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en-GB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Activate</a:t>
            </a:r>
            <a:r>
              <a:rPr lang="en-GB" sz="3000" b="1" dirty="0"/>
              <a:t>]</a:t>
            </a:r>
            <a:endParaRPr lang="bg-BG" sz="3000" b="1" dirty="0"/>
          </a:p>
          <a:p>
            <a:r>
              <a:rPr lang="bg-BG" sz="3000" dirty="0"/>
              <a:t>Можем да </a:t>
            </a:r>
            <a:r>
              <a:rPr lang="bg-BG" sz="3000" b="1" dirty="0">
                <a:solidFill>
                  <a:schemeClr val="bg1"/>
                </a:solidFill>
              </a:rPr>
              <a:t>активираме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деактивираме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актуализираме</a:t>
            </a:r>
            <a:r>
              <a:rPr lang="bg-BG" sz="3000" dirty="0"/>
              <a:t> или </a:t>
            </a:r>
            <a:r>
              <a:rPr lang="bg-BG" sz="3000" b="1" dirty="0">
                <a:solidFill>
                  <a:schemeClr val="bg1"/>
                </a:solidFill>
              </a:rPr>
              <a:t>премахваме</a:t>
            </a:r>
            <a:r>
              <a:rPr lang="bg-BG" sz="3000" dirty="0"/>
              <a:t> </a:t>
            </a:r>
            <a:r>
              <a:rPr lang="bg-BG" sz="3000" b="1" dirty="0"/>
              <a:t>добавки</a:t>
            </a:r>
          </a:p>
          <a:p>
            <a:r>
              <a:rPr lang="bg-BG" sz="3000" b="1" i="1" dirty="0">
                <a:solidFill>
                  <a:schemeClr val="bg1"/>
                </a:solidFill>
              </a:rPr>
              <a:t>Инсталирането на допълнителни добавки изисква платен план</a:t>
            </a:r>
            <a:endParaRPr lang="en-BG" sz="3000" b="1" i="1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152F5F-00CB-5B7E-7D58-B1217F5E2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000" y="1359000"/>
            <a:ext cx="4612693" cy="527427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80804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ADB9A-E71F-FC57-D6E9-98911F882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9D752-A457-52CF-DD59-16F0AB7990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Добавка</a:t>
            </a:r>
          </a:p>
          <a:p>
            <a:pPr lvl="1"/>
            <a:r>
              <a:rPr lang="bg-BG" sz="3000" b="1" dirty="0"/>
              <a:t>Добавя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функционалност</a:t>
            </a:r>
          </a:p>
          <a:p>
            <a:pPr lvl="1"/>
            <a:r>
              <a:rPr lang="bg-BG" sz="3000" b="1" dirty="0"/>
              <a:t>Разширява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</a:p>
          <a:p>
            <a:pPr lvl="1"/>
            <a:r>
              <a:rPr lang="bg-BG" sz="3000" b="1" dirty="0"/>
              <a:t>Могат</a:t>
            </a:r>
            <a:r>
              <a:rPr lang="bg-BG" sz="3000" dirty="0"/>
              <a:t> да </a:t>
            </a:r>
            <a:r>
              <a:rPr lang="bg-BG" sz="3000" b="1" dirty="0">
                <a:solidFill>
                  <a:schemeClr val="bg1"/>
                </a:solidFill>
              </a:rPr>
              <a:t>работят няколко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0ACDC-79EF-1508-54E2-F3C378883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6265598" cy="4957073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Тема</a:t>
            </a:r>
          </a:p>
          <a:p>
            <a:pPr lvl="1"/>
            <a:r>
              <a:rPr lang="bg-BG" sz="3000" b="1" dirty="0"/>
              <a:t>Променя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оформление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стил</a:t>
            </a:r>
          </a:p>
          <a:p>
            <a:pPr lvl="1"/>
            <a:r>
              <a:rPr lang="bg-BG" sz="3000" b="1" dirty="0"/>
              <a:t>Активна</a:t>
            </a:r>
            <a:r>
              <a:rPr lang="bg-BG" sz="3000" dirty="0"/>
              <a:t> е </a:t>
            </a:r>
            <a:r>
              <a:rPr lang="bg-BG" sz="3000" b="1" dirty="0">
                <a:solidFill>
                  <a:schemeClr val="bg1"/>
                </a:solidFill>
              </a:rPr>
              <a:t>само една тема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9C927F-7D89-8C45-C012-2077BA63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Тема v</a:t>
            </a:r>
            <a:r>
              <a:rPr lang="en-US" dirty="0"/>
              <a:t>s. </a:t>
            </a:r>
            <a:r>
              <a:rPr lang="bg-BG" dirty="0"/>
              <a:t>добавка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8C278-66CB-DDBA-2D69-AD1404026A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5856" y="3950834"/>
            <a:ext cx="2194689" cy="2066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213148-F26B-9F5B-083A-CB6A90CAB5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000" y="3882492"/>
            <a:ext cx="2492468" cy="220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5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Надеждност, актуализация и проверка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Добри практики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F9A54D-E09E-5707-7A88-DE61F87C5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000" y="1089000"/>
            <a:ext cx="3015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2900" b="1" dirty="0"/>
              <a:t>Използват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теми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добавки</a:t>
            </a:r>
            <a:r>
              <a:rPr lang="bg-BG" sz="2900" dirty="0"/>
              <a:t> </a:t>
            </a:r>
            <a:r>
              <a:rPr lang="bg-BG" sz="2900" b="1" dirty="0"/>
              <a:t>само</a:t>
            </a:r>
            <a:r>
              <a:rPr lang="bg-BG" sz="2900" dirty="0"/>
              <a:t> от </a:t>
            </a:r>
            <a:r>
              <a:rPr lang="bg-BG" sz="2900" b="1" dirty="0">
                <a:solidFill>
                  <a:schemeClr val="bg1"/>
                </a:solidFill>
              </a:rPr>
              <a:t>надеждни източници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Инсталират</a:t>
            </a:r>
            <a:r>
              <a:rPr lang="bg-BG" sz="2900" dirty="0"/>
              <a:t> се </a:t>
            </a:r>
            <a:r>
              <a:rPr lang="bg-BG" sz="2900" b="1" dirty="0"/>
              <a:t>само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необходимите добавки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Проверява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съвместимостта</a:t>
            </a:r>
            <a:r>
              <a:rPr lang="bg-BG" sz="2900" dirty="0"/>
              <a:t> с </a:t>
            </a:r>
            <a:r>
              <a:rPr lang="bg-BG" sz="2900" b="1" dirty="0"/>
              <a:t>версията</a:t>
            </a:r>
            <a:r>
              <a:rPr lang="bg-BG" sz="2900" dirty="0"/>
              <a:t> на </a:t>
            </a:r>
            <a:r>
              <a:rPr lang="en-GB" sz="2900" b="1" dirty="0"/>
              <a:t>WordPress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Темите</a:t>
            </a:r>
            <a:r>
              <a:rPr lang="bg-BG" sz="2900" dirty="0"/>
              <a:t> и </a:t>
            </a:r>
            <a:r>
              <a:rPr lang="bg-BG" sz="2900" b="1" dirty="0"/>
              <a:t>добавките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актуализират редовно</a:t>
            </a:r>
          </a:p>
          <a:p>
            <a:pPr>
              <a:buClr>
                <a:schemeClr val="tx2"/>
              </a:buClr>
            </a:pPr>
            <a:r>
              <a:rPr lang="bg-BG" sz="2900" b="1" dirty="0">
                <a:solidFill>
                  <a:schemeClr val="bg1"/>
                </a:solidFill>
              </a:rPr>
              <a:t>Ненужните неактивни компоненти </a:t>
            </a:r>
            <a:r>
              <a:rPr lang="bg-BG" sz="2900" dirty="0"/>
              <a:t>се </a:t>
            </a:r>
            <a:r>
              <a:rPr lang="bg-BG" sz="2900" b="1" dirty="0"/>
              <a:t>премахват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Уеб сайтът </a:t>
            </a:r>
            <a:r>
              <a:rPr lang="bg-BG" sz="2900" dirty="0"/>
              <a:t>се </a:t>
            </a:r>
            <a:r>
              <a:rPr lang="bg-BG" sz="2900" b="1" dirty="0"/>
              <a:t>проверява</a:t>
            </a:r>
            <a:r>
              <a:rPr lang="bg-BG" sz="2900" dirty="0"/>
              <a:t> </a:t>
            </a:r>
            <a:r>
              <a:rPr lang="bg-BG" sz="2900" b="1" dirty="0"/>
              <a:t>след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всяка промяна</a:t>
            </a: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1754D-966B-CBBC-6D5B-14BDCB6FBD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6349" y="4145352"/>
            <a:ext cx="3354651" cy="262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Управление на външния вид и функционалността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67546C-B586-82C6-0D0E-06F0CECD5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902" y="788895"/>
            <a:ext cx="3926195" cy="380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Отваряме </a:t>
            </a:r>
            <a:r>
              <a:rPr lang="bg-BG" sz="3200" b="1" dirty="0"/>
              <a:t>[</a:t>
            </a:r>
            <a:r>
              <a:rPr lang="en-US" sz="3200" b="1" dirty="0">
                <a:solidFill>
                  <a:schemeClr val="bg1"/>
                </a:solidFill>
              </a:rPr>
              <a:t>Appearance</a:t>
            </a:r>
            <a:r>
              <a:rPr lang="en-US" sz="3200" b="1" dirty="0"/>
              <a:t>] → [</a:t>
            </a:r>
            <a:r>
              <a:rPr lang="en-US" sz="3200" b="1" dirty="0">
                <a:solidFill>
                  <a:schemeClr val="bg1"/>
                </a:solidFill>
              </a:rPr>
              <a:t>Themes</a:t>
            </a:r>
            <a:r>
              <a:rPr lang="en-US" sz="3200" b="1" dirty="0"/>
              <a:t>]</a:t>
            </a:r>
            <a:endParaRPr lang="bg-BG" sz="3200" b="1" dirty="0"/>
          </a:p>
          <a:p>
            <a:r>
              <a:rPr lang="bg-BG" sz="3200" dirty="0"/>
              <a:t>Избираме </a:t>
            </a:r>
            <a:r>
              <a:rPr lang="bg-BG" sz="3200" b="1" dirty="0">
                <a:solidFill>
                  <a:schemeClr val="bg1"/>
                </a:solidFill>
              </a:rPr>
              <a:t>подходяща тема </a:t>
            </a:r>
            <a:r>
              <a:rPr lang="bg-BG" sz="3200" dirty="0"/>
              <a:t>за </a:t>
            </a:r>
            <a:r>
              <a:rPr lang="bg-BG" sz="3200" b="1" dirty="0"/>
              <a:t>уеб сайта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Избиране и активиране на тема (1)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0DE99-947D-0CCF-3D16-9462784A1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393" y="4212935"/>
            <a:ext cx="4230000" cy="828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E1B4F-2B1E-DD83-E55A-C0644B00F9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2" t="14746" r="1294"/>
          <a:stretch/>
        </p:blipFill>
        <p:spPr>
          <a:xfrm>
            <a:off x="5376000" y="2518698"/>
            <a:ext cx="6359182" cy="41449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7776C010-DA42-903D-3C47-507343C87FF8}"/>
              </a:ext>
            </a:extLst>
          </p:cNvPr>
          <p:cNvSpPr/>
          <p:nvPr/>
        </p:nvSpPr>
        <p:spPr>
          <a:xfrm>
            <a:off x="4558216" y="4307438"/>
            <a:ext cx="697960" cy="63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Preview</a:t>
            </a:r>
            <a:r>
              <a:rPr lang="en-US" sz="3000" b="1" dirty="0"/>
              <a:t>] → [</a:t>
            </a:r>
            <a:r>
              <a:rPr lang="en-US" sz="3000" b="1" dirty="0">
                <a:solidFill>
                  <a:schemeClr val="bg1"/>
                </a:solidFill>
              </a:rPr>
              <a:t>Preview with your content</a:t>
            </a:r>
            <a:r>
              <a:rPr lang="en-US" sz="3000" b="1" dirty="0"/>
              <a:t>]</a:t>
            </a:r>
            <a:endParaRPr lang="bg-BG" sz="3000" b="1" dirty="0"/>
          </a:p>
          <a:p>
            <a:r>
              <a:rPr lang="bg-BG" sz="3000" dirty="0"/>
              <a:t>Ако резултатът ни харесва, избираме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Activate</a:t>
            </a:r>
            <a:r>
              <a:rPr lang="en-US" sz="3000" b="1" dirty="0"/>
              <a:t>]</a:t>
            </a:r>
            <a:endParaRPr lang="bg-BG" sz="30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Избиране и активиране на тема (2)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9A26AD-4138-5B09-D1FA-4531B1142C0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92"/>
          <a:stretch/>
        </p:blipFill>
        <p:spPr>
          <a:xfrm>
            <a:off x="5325703" y="2566919"/>
            <a:ext cx="6561248" cy="394008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F15DCC-DC85-0BAF-A3FD-43A1216EA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000" y="3429000"/>
            <a:ext cx="3375000" cy="223852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B55CAAB-37FE-204E-B8CE-0F1BAE7B3DA1}"/>
              </a:ext>
            </a:extLst>
          </p:cNvPr>
          <p:cNvSpPr/>
          <p:nvPr/>
        </p:nvSpPr>
        <p:spPr>
          <a:xfrm>
            <a:off x="4102209" y="4110080"/>
            <a:ext cx="967285" cy="85375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74453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600" dirty="0"/>
              <a:t>Отваряме </a:t>
            </a:r>
            <a:r>
              <a:rPr lang="bg-BG" sz="2600" b="1" dirty="0"/>
              <a:t>[</a:t>
            </a:r>
            <a:r>
              <a:rPr lang="en-US" sz="2600" b="1" dirty="0">
                <a:solidFill>
                  <a:schemeClr val="bg1"/>
                </a:solidFill>
              </a:rPr>
              <a:t>Appearance</a:t>
            </a:r>
            <a:r>
              <a:rPr lang="en-US" sz="2600" b="1" dirty="0"/>
              <a:t>] → [</a:t>
            </a:r>
            <a:r>
              <a:rPr lang="en-US" sz="2600" b="1" dirty="0">
                <a:solidFill>
                  <a:schemeClr val="bg1"/>
                </a:solidFill>
              </a:rPr>
              <a:t>Editor</a:t>
            </a:r>
            <a:r>
              <a:rPr lang="en-US" sz="2600" b="1" dirty="0"/>
              <a:t>]</a:t>
            </a:r>
            <a:endParaRPr lang="bg-BG" sz="2600" b="1" dirty="0"/>
          </a:p>
          <a:p>
            <a:r>
              <a:rPr lang="bg-BG" sz="2600" dirty="0"/>
              <a:t>При </a:t>
            </a:r>
            <a:r>
              <a:rPr lang="bg-BG" sz="2600" b="1" dirty="0"/>
              <a:t>блокова тема </a:t>
            </a:r>
            <a:r>
              <a:rPr lang="bg-BG" sz="2600" dirty="0"/>
              <a:t>може да </a:t>
            </a:r>
            <a:r>
              <a:rPr lang="bg-BG" sz="2600" b="1" dirty="0"/>
              <a:t>редактираме</a:t>
            </a:r>
            <a:r>
              <a:rPr lang="bg-BG" sz="2600" dirty="0"/>
              <a:t> </a:t>
            </a:r>
            <a:r>
              <a:rPr lang="bg-BG" sz="2600" b="1" dirty="0">
                <a:solidFill>
                  <a:schemeClr val="bg1"/>
                </a:solidFill>
              </a:rPr>
              <a:t>цялостния изглед </a:t>
            </a:r>
            <a:r>
              <a:rPr lang="bg-BG" sz="2600" dirty="0"/>
              <a:t>на </a:t>
            </a:r>
            <a:r>
              <a:rPr lang="bg-BG" sz="2600" b="1" dirty="0"/>
              <a:t>уеб сайта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Редактиране на тема </a:t>
            </a:r>
            <a:r>
              <a:rPr lang="en-US" sz="4000" dirty="0"/>
              <a:t>(1)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EA96C-179D-27B2-12C9-4624692CF2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56"/>
          <a:stretch/>
        </p:blipFill>
        <p:spPr>
          <a:xfrm>
            <a:off x="336000" y="3675447"/>
            <a:ext cx="5310000" cy="288741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9125B9-D987-A1A4-38E6-F5B1761C3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000" y="2328007"/>
            <a:ext cx="4234850" cy="423485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EFD9AE-1BF4-2C50-0FCE-B8C83ED9E4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000" y="2328007"/>
            <a:ext cx="4936092" cy="83172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AD9F07F6-0D4A-A4C7-3F4C-179523AE844C}"/>
              </a:ext>
            </a:extLst>
          </p:cNvPr>
          <p:cNvSpPr/>
          <p:nvPr/>
        </p:nvSpPr>
        <p:spPr>
          <a:xfrm>
            <a:off x="5960004" y="4554000"/>
            <a:ext cx="901992" cy="81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2706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Редактиране на тема </a:t>
            </a:r>
            <a:r>
              <a:rPr lang="en-US" sz="4000" dirty="0"/>
              <a:t>(2)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6CA08C-6424-A3D7-0584-C788B5F03F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30" t="31849" r="2695" b="551"/>
          <a:stretch/>
        </p:blipFill>
        <p:spPr>
          <a:xfrm>
            <a:off x="177770" y="2618998"/>
            <a:ext cx="5850000" cy="289213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2DF0B9-6CBA-87DC-A1B8-ED4064675A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53" y="3308437"/>
            <a:ext cx="5651560" cy="151325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1420FCA1-43A6-BAA5-10BA-99E2CF4B19CF}"/>
              </a:ext>
            </a:extLst>
          </p:cNvPr>
          <p:cNvSpPr/>
          <p:nvPr/>
        </p:nvSpPr>
        <p:spPr>
          <a:xfrm>
            <a:off x="6006000" y="3818349"/>
            <a:ext cx="515218" cy="49343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08100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885598" cy="5528766"/>
          </a:xfrm>
        </p:spPr>
        <p:txBody>
          <a:bodyPr>
            <a:normAutofit/>
          </a:bodyPr>
          <a:lstStyle/>
          <a:p>
            <a:r>
              <a:rPr lang="bg-BG" sz="2600" dirty="0"/>
              <a:t>Отваряме </a:t>
            </a:r>
            <a:r>
              <a:rPr lang="bg-BG" sz="2600" b="1" dirty="0"/>
              <a:t>[</a:t>
            </a:r>
            <a:r>
              <a:rPr lang="en-GB" sz="2600" b="1" dirty="0">
                <a:solidFill>
                  <a:schemeClr val="bg1"/>
                </a:solidFill>
              </a:rPr>
              <a:t>Plugins</a:t>
            </a:r>
            <a:r>
              <a:rPr lang="en-GB" sz="2600" b="1" dirty="0"/>
              <a:t>] </a:t>
            </a:r>
            <a:endParaRPr lang="bg-BG" sz="2600" b="1" dirty="0"/>
          </a:p>
          <a:p>
            <a:r>
              <a:rPr lang="bg-BG" sz="2600" dirty="0"/>
              <a:t>Търсим </a:t>
            </a:r>
            <a:r>
              <a:rPr lang="bg-BG" sz="2600" b="1" dirty="0">
                <a:solidFill>
                  <a:schemeClr val="bg1"/>
                </a:solidFill>
              </a:rPr>
              <a:t>подходяща добавка </a:t>
            </a:r>
            <a:r>
              <a:rPr lang="en-US" sz="2600" dirty="0"/>
              <a:t>(</a:t>
            </a:r>
            <a:r>
              <a:rPr lang="bg-BG" sz="2600" dirty="0"/>
              <a:t>напр. </a:t>
            </a:r>
            <a:r>
              <a:rPr lang="en-GB" sz="2600" b="1" dirty="0"/>
              <a:t>Yoast SEO</a:t>
            </a:r>
            <a:r>
              <a:rPr lang="en-US" sz="2600" dirty="0"/>
              <a:t>)</a:t>
            </a:r>
            <a:endParaRPr lang="bg-BG" sz="2600" dirty="0"/>
          </a:p>
          <a:p>
            <a:r>
              <a:rPr lang="bg-BG" sz="2600" dirty="0"/>
              <a:t>Преглеждаме нейното </a:t>
            </a:r>
            <a:r>
              <a:rPr lang="bg-BG" sz="2600" b="1" dirty="0"/>
              <a:t>предназначение</a:t>
            </a:r>
            <a:r>
              <a:rPr lang="bg-BG" sz="2600" dirty="0"/>
              <a:t> и </a:t>
            </a:r>
            <a:r>
              <a:rPr lang="bg-BG" sz="2600" b="1" dirty="0"/>
              <a:t>възможности</a:t>
            </a:r>
          </a:p>
          <a:p>
            <a:r>
              <a:rPr lang="bg-BG" sz="2600" b="1" i="1" dirty="0">
                <a:solidFill>
                  <a:schemeClr val="bg1"/>
                </a:solidFill>
              </a:rPr>
              <a:t>При безплатния план добавките могат да се разглеждат, но инсталирането им изисква надграждане на плана</a:t>
            </a:r>
            <a:endParaRPr lang="en-US" sz="2600" b="1" i="1" dirty="0">
              <a:solidFill>
                <a:schemeClr val="bg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Преглед на добавки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056A75-3CF0-38D7-69B7-19EB79EDB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700" y="4778222"/>
            <a:ext cx="3416300" cy="1739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CE9CEF-FBA9-B6F7-9707-97003B015A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1277469"/>
            <a:ext cx="3738997" cy="53660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00862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4ABE36-2784-6713-18BC-430EFC7C7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879148-49C0-3FFF-5733-3685D20E5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D5DEBD-6CE3-DEE4-806B-5942DB8F2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686" y="1307069"/>
            <a:ext cx="5207000" cy="5054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CA10A5-7937-1196-C52A-0CB8B14A1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00" y="1307069"/>
            <a:ext cx="5207000" cy="5054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578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определят </a:t>
            </a:r>
            <a:r>
              <a:rPr lang="bg-BG" sz="3000" b="1" dirty="0"/>
              <a:t>външния вид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dirty="0">
                <a:solidFill>
                  <a:schemeClr val="bg2"/>
                </a:solidFill>
              </a:rPr>
              <a:t>Могат да се </a:t>
            </a:r>
            <a:r>
              <a:rPr lang="bg-BG" sz="2800" b="1" dirty="0">
                <a:solidFill>
                  <a:schemeClr val="bg2"/>
                </a:solidFill>
              </a:rPr>
              <a:t>избират</a:t>
            </a:r>
            <a:r>
              <a:rPr lang="bg-BG" sz="2800" dirty="0">
                <a:solidFill>
                  <a:schemeClr val="bg2"/>
                </a:solidFill>
              </a:rPr>
              <a:t>, </a:t>
            </a:r>
            <a:r>
              <a:rPr lang="bg-BG" sz="2800" b="1" dirty="0">
                <a:solidFill>
                  <a:schemeClr val="bg2"/>
                </a:solidFill>
              </a:rPr>
              <a:t>активират</a:t>
            </a:r>
            <a:r>
              <a:rPr lang="bg-BG" sz="2800" dirty="0">
                <a:solidFill>
                  <a:schemeClr val="bg2"/>
                </a:solidFill>
              </a:rPr>
              <a:t> и </a:t>
            </a:r>
            <a:r>
              <a:rPr lang="bg-BG" sz="2800" b="1" dirty="0">
                <a:solidFill>
                  <a:schemeClr val="bg2"/>
                </a:solidFill>
              </a:rPr>
              <a:t>сменят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разширяват </a:t>
            </a:r>
            <a:r>
              <a:rPr lang="bg-BG" sz="3000" b="1" dirty="0"/>
              <a:t>функционалността</a:t>
            </a:r>
            <a:r>
              <a:rPr lang="bg-BG" sz="3000" dirty="0"/>
              <a:t> на </a:t>
            </a:r>
            <a:r>
              <a:rPr lang="en-US" sz="3000" b="1" dirty="0"/>
              <a:t>WordPress</a:t>
            </a:r>
            <a:endParaRPr lang="bg-BG" sz="3000" b="1" dirty="0"/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dirty="0">
                <a:solidFill>
                  <a:schemeClr val="bg2"/>
                </a:solidFill>
              </a:rPr>
              <a:t>Могат да се </a:t>
            </a:r>
            <a:r>
              <a:rPr lang="bg-BG" sz="2800" b="1" dirty="0">
                <a:solidFill>
                  <a:schemeClr val="bg2"/>
                </a:solidFill>
              </a:rPr>
              <a:t>активират</a:t>
            </a:r>
            <a:r>
              <a:rPr lang="bg-BG" sz="2800" dirty="0">
                <a:solidFill>
                  <a:schemeClr val="bg2"/>
                </a:solidFill>
              </a:rPr>
              <a:t>, </a:t>
            </a:r>
            <a:r>
              <a:rPr lang="bg-BG" sz="2800" b="1" dirty="0">
                <a:solidFill>
                  <a:schemeClr val="bg2"/>
                </a:solidFill>
              </a:rPr>
              <a:t>деактивират</a:t>
            </a:r>
            <a:r>
              <a:rPr lang="bg-BG" sz="2800" dirty="0">
                <a:solidFill>
                  <a:schemeClr val="bg2"/>
                </a:solidFill>
              </a:rPr>
              <a:t> и </a:t>
            </a:r>
            <a:r>
              <a:rPr lang="bg-BG" sz="2800" b="1" dirty="0">
                <a:solidFill>
                  <a:schemeClr val="bg2"/>
                </a:solidFill>
              </a:rPr>
              <a:t>премахват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61257</TotalTime>
  <Words>943</Words>
  <Application>Microsoft Macintosh PowerPoint</Application>
  <PresentationFormat>Widescreen</PresentationFormat>
  <Paragraphs>155</Paragraphs>
  <Slides>26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Wingdings</vt:lpstr>
      <vt:lpstr>SoftUni</vt:lpstr>
      <vt:lpstr>WordPress теми и добавки</vt:lpstr>
      <vt:lpstr>Съдържание</vt:lpstr>
      <vt:lpstr>WordPress теми</vt:lpstr>
      <vt:lpstr>WordPress теми</vt:lpstr>
      <vt:lpstr>Елементи, които определя темата</vt:lpstr>
      <vt:lpstr>Избиране на подходяща тема</vt:lpstr>
      <vt:lpstr>Избиране и активиране на тема (1)</vt:lpstr>
      <vt:lpstr>Избиране и активиране на тема (2)</vt:lpstr>
      <vt:lpstr>WordPress добавки</vt:lpstr>
      <vt:lpstr>WordPress добавки</vt:lpstr>
      <vt:lpstr>Примери за функционалности</vt:lpstr>
      <vt:lpstr>Инсталиране и управление на добавка (1)</vt:lpstr>
      <vt:lpstr>Инсталиране и управление на добавка (2)</vt:lpstr>
      <vt:lpstr>Тема vs. добавка</vt:lpstr>
      <vt:lpstr>Добри практики</vt:lpstr>
      <vt:lpstr>Добри практики</vt:lpstr>
      <vt:lpstr>Пример</vt:lpstr>
      <vt:lpstr>Избиране и активиране на тема (1)</vt:lpstr>
      <vt:lpstr>Избиране и активиране на тема (2)</vt:lpstr>
      <vt:lpstr>Редактиране на тема (1)</vt:lpstr>
      <vt:lpstr>Редактиране на тема (2)</vt:lpstr>
      <vt:lpstr>Преглед на добавки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теми и добавки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474</cp:revision>
  <dcterms:created xsi:type="dcterms:W3CDTF">2018-05-23T13:08:44Z</dcterms:created>
  <dcterms:modified xsi:type="dcterms:W3CDTF">2026-09-04T12:11:17Z</dcterms:modified>
  <cp:category/>
</cp:coreProperties>
</file>