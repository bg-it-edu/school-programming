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2"/>
  </p:notesMasterIdLst>
  <p:handoutMasterIdLst>
    <p:handoutMasterId r:id="rId43"/>
  </p:handoutMasterIdLst>
  <p:sldIdLst>
    <p:sldId id="503" r:id="rId2"/>
    <p:sldId id="276" r:id="rId3"/>
    <p:sldId id="353" r:id="rId4"/>
    <p:sldId id="497" r:id="rId5"/>
    <p:sldId id="933" r:id="rId6"/>
    <p:sldId id="922" r:id="rId7"/>
    <p:sldId id="923" r:id="rId8"/>
    <p:sldId id="934" r:id="rId9"/>
    <p:sldId id="943" r:id="rId10"/>
    <p:sldId id="935" r:id="rId11"/>
    <p:sldId id="936" r:id="rId12"/>
    <p:sldId id="937" r:id="rId13"/>
    <p:sldId id="924" r:id="rId14"/>
    <p:sldId id="610" r:id="rId15"/>
    <p:sldId id="902" r:id="rId16"/>
    <p:sldId id="925" r:id="rId17"/>
    <p:sldId id="938" r:id="rId18"/>
    <p:sldId id="926" r:id="rId19"/>
    <p:sldId id="944" r:id="rId20"/>
    <p:sldId id="616" r:id="rId21"/>
    <p:sldId id="927" r:id="rId22"/>
    <p:sldId id="939" r:id="rId23"/>
    <p:sldId id="928" r:id="rId24"/>
    <p:sldId id="940" r:id="rId25"/>
    <p:sldId id="929" r:id="rId26"/>
    <p:sldId id="945" r:id="rId27"/>
    <p:sldId id="931" r:id="rId28"/>
    <p:sldId id="930" r:id="rId29"/>
    <p:sldId id="932" r:id="rId30"/>
    <p:sldId id="941" r:id="rId31"/>
    <p:sldId id="654" r:id="rId32"/>
    <p:sldId id="946" r:id="rId33"/>
    <p:sldId id="950" r:id="rId34"/>
    <p:sldId id="947" r:id="rId35"/>
    <p:sldId id="948" r:id="rId36"/>
    <p:sldId id="951" r:id="rId37"/>
    <p:sldId id="949" r:id="rId38"/>
    <p:sldId id="633" r:id="rId39"/>
    <p:sldId id="504" r:id="rId40"/>
    <p:sldId id="50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Сигурност в уеб" id="{66DCFE1F-60FD-44F2-BE82-706DDBC14898}">
          <p14:sldIdLst>
            <p14:sldId id="353"/>
            <p14:sldId id="497"/>
            <p14:sldId id="933"/>
            <p14:sldId id="922"/>
            <p14:sldId id="923"/>
            <p14:sldId id="934"/>
            <p14:sldId id="943"/>
            <p14:sldId id="935"/>
            <p14:sldId id="936"/>
            <p14:sldId id="937"/>
            <p14:sldId id="924"/>
          </p14:sldIdLst>
        </p14:section>
        <p14:section name="Бисквитки и ​​​уеб маяци" id="{EB44CA50-B176-0C4C-B0D0-5459023C7783}">
          <p14:sldIdLst>
            <p14:sldId id="610"/>
            <p14:sldId id="902"/>
            <p14:sldId id="925"/>
            <p14:sldId id="938"/>
            <p14:sldId id="926"/>
            <p14:sldId id="944"/>
          </p14:sldIdLst>
        </p14:section>
        <p14:section name="Средства за защита" id="{2B3E1915-4BA2-9447-BC07-AE658EE7EC35}">
          <p14:sldIdLst>
            <p14:sldId id="616"/>
            <p14:sldId id="927"/>
            <p14:sldId id="939"/>
            <p14:sldId id="928"/>
            <p14:sldId id="940"/>
            <p14:sldId id="929"/>
            <p14:sldId id="945"/>
          </p14:sldIdLst>
        </p14:section>
        <p14:section name="Допълнителна функционалност (Plug-in) за защита" id="{46C1A0DE-3FA6-A645-B3FA-56F6146B5018}">
          <p14:sldIdLst>
            <p14:sldId id="931"/>
            <p14:sldId id="930"/>
            <p14:sldId id="932"/>
            <p14:sldId id="941"/>
          </p14:sldIdLst>
        </p14:section>
        <p14:section name="Демо" id="{276EAB92-AF41-DD42-AFD3-D1ABB239E1A7}">
          <p14:sldIdLst>
            <p14:sldId id="654"/>
            <p14:sldId id="946"/>
            <p14:sldId id="950"/>
            <p14:sldId id="947"/>
            <p14:sldId id="948"/>
            <p14:sldId id="951"/>
            <p14:sldId id="949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95503" autoAdjust="0"/>
  </p:normalViewPr>
  <p:slideViewPr>
    <p:cSldViewPr showGuides="1">
      <p:cViewPr varScale="1">
        <p:scale>
          <a:sx n="108" d="100"/>
          <a:sy n="108" d="100"/>
        </p:scale>
        <p:origin x="288" y="1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76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84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74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800" dirty="0"/>
              <a:t>Сигурност на уеб сайтовете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Опасности и уязвимости в уеб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3158E58-A6C2-15A4-1B21-D1261CB160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 b="128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Сигурност в уеб</a:t>
            </a:r>
          </a:p>
          <a:p>
            <a:pPr lvl="1">
              <a:buClr>
                <a:schemeClr val="tx1"/>
              </a:buClr>
            </a:pPr>
            <a:r>
              <a:rPr lang="bg-BG" sz="3600" dirty="0"/>
              <a:t>​</a:t>
            </a:r>
            <a:r>
              <a:rPr lang="bg-BG" sz="3600" b="1" dirty="0"/>
              <a:t>Опасности</a:t>
            </a:r>
            <a:r>
              <a:rPr lang="bg-BG" sz="3600" dirty="0"/>
              <a:t> и </a:t>
            </a:r>
            <a:r>
              <a:rPr lang="bg-BG" sz="3600" b="1" dirty="0"/>
              <a:t>уязвимости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Видове атаки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700" b="1" dirty="0">
                <a:solidFill>
                  <a:schemeClr val="bg1"/>
                </a:solidFill>
              </a:rPr>
              <a:t>Бисквитки и </a:t>
            </a:r>
            <a:r>
              <a:rPr lang="bg-BG" sz="3700" dirty="0"/>
              <a:t>​​​</a:t>
            </a:r>
            <a:r>
              <a:rPr lang="bg-BG" sz="3700" b="1" dirty="0">
                <a:solidFill>
                  <a:schemeClr val="bg1"/>
                </a:solidFill>
              </a:rPr>
              <a:t>уеб маяци</a:t>
            </a:r>
          </a:p>
          <a:p>
            <a:pPr>
              <a:buClr>
                <a:schemeClr val="tx1"/>
              </a:buClr>
            </a:pPr>
            <a:r>
              <a:rPr lang="bg-BG" sz="3700" dirty="0"/>
              <a:t>​​​</a:t>
            </a:r>
            <a:r>
              <a:rPr lang="bg-BG" sz="3700" b="1" dirty="0">
                <a:solidFill>
                  <a:schemeClr val="bg1"/>
                </a:solidFill>
              </a:rPr>
              <a:t>Средства за защита</a:t>
            </a:r>
          </a:p>
          <a:p>
            <a:pPr lvl="1">
              <a:buClr>
                <a:schemeClr val="tx1"/>
              </a:buClr>
            </a:pPr>
            <a:r>
              <a:rPr lang="en-US" sz="3600" b="1" dirty="0"/>
              <a:t>CAPTCHA</a:t>
            </a:r>
            <a:endParaRPr lang="bg-BG" sz="3600" b="1" dirty="0"/>
          </a:p>
          <a:p>
            <a:pPr lvl="1">
              <a:buClr>
                <a:schemeClr val="tx1"/>
              </a:buClr>
            </a:pPr>
            <a:r>
              <a:rPr lang="bg-BG" sz="3600" dirty="0"/>
              <a:t>​​​</a:t>
            </a:r>
            <a:r>
              <a:rPr lang="bg-BG" sz="3600" b="1" dirty="0"/>
              <a:t>Сертификат</a:t>
            </a:r>
            <a:r>
              <a:rPr lang="bg-BG" sz="3600" dirty="0"/>
              <a:t> </a:t>
            </a:r>
            <a:r>
              <a:rPr lang="bg-BG" sz="3600" b="1" dirty="0"/>
              <a:t>за сигурност</a:t>
            </a:r>
          </a:p>
          <a:p>
            <a:pPr>
              <a:buClr>
                <a:schemeClr val="tx1"/>
              </a:buClr>
            </a:pPr>
            <a:r>
              <a:rPr lang="bg-BG" sz="3700" dirty="0">
                <a:solidFill>
                  <a:schemeClr val="bg1"/>
                </a:solidFill>
              </a:rPr>
              <a:t>​</a:t>
            </a:r>
            <a:r>
              <a:rPr lang="bg-BG" sz="3700" b="1" dirty="0">
                <a:solidFill>
                  <a:schemeClr val="bg1"/>
                </a:solidFill>
              </a:rPr>
              <a:t>Допълнителна функционалност (</a:t>
            </a:r>
            <a:r>
              <a:rPr lang="en-GB" sz="3700" b="1" dirty="0">
                <a:solidFill>
                  <a:schemeClr val="bg1"/>
                </a:solidFill>
              </a:rPr>
              <a:t>Plug-in) </a:t>
            </a:r>
            <a:r>
              <a:rPr lang="bg-BG" sz="3700" b="1" dirty="0">
                <a:solidFill>
                  <a:schemeClr val="bg1"/>
                </a:solidFill>
              </a:rPr>
              <a:t>за защита</a:t>
            </a:r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3700" b="1" dirty="0"/>
              <a:t>Пример: </a:t>
            </a:r>
            <a:r>
              <a:rPr lang="bg-BG" sz="3700" dirty="0"/>
              <a:t>Повишаване на сигурността на </a:t>
            </a:r>
            <a:r>
              <a:rPr lang="en-GB" sz="3700" dirty="0"/>
              <a:t>WordPress </a:t>
            </a:r>
            <a:r>
              <a:rPr lang="bg-BG" sz="3700" dirty="0"/>
              <a:t>сайт чрез добавка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Основни понятия и рискове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6000" dirty="0"/>
              <a:t>​</a:t>
            </a:r>
            <a:r>
              <a:rPr lang="bg-BG" sz="6000" b="1" dirty="0"/>
              <a:t>Сигурност в уеб</a:t>
            </a:r>
          </a:p>
        </p:txBody>
      </p:sp>
      <p:pic>
        <p:nvPicPr>
          <p:cNvPr id="3" name="Picture 2" descr="glossy_cybersecurity_shield_icon.png">
            <a:extLst>
              <a:ext uri="{FF2B5EF4-FFF2-40B4-BE49-F238E27FC236}">
                <a16:creationId xmlns:a16="http://schemas.microsoft.com/office/drawing/2014/main" id="{986D306F-7093-6E80-DA49-50C20011CD1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6000" y="1134000"/>
            <a:ext cx="3195000" cy="31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Включва </a:t>
            </a:r>
            <a:r>
              <a:rPr lang="bg-BG" sz="3000" b="1" dirty="0">
                <a:solidFill>
                  <a:schemeClr val="bg1"/>
                </a:solidFill>
              </a:rPr>
              <a:t>мерки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защита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  <a:r>
              <a:rPr lang="bg-BG" sz="3000" dirty="0"/>
              <a:t>, </a:t>
            </a:r>
            <a:r>
              <a:rPr lang="bg-BG" sz="3000" b="1" dirty="0"/>
              <a:t>потребителите</a:t>
            </a:r>
            <a:r>
              <a:rPr lang="bg-BG" sz="3000" dirty="0"/>
              <a:t> и </a:t>
            </a:r>
            <a:r>
              <a:rPr lang="bg-BG" sz="3000" b="1" dirty="0"/>
              <a:t>данните</a:t>
            </a:r>
          </a:p>
          <a:p>
            <a:r>
              <a:rPr lang="bg-BG" sz="3000" dirty="0"/>
              <a:t>Цели </a:t>
            </a:r>
            <a:r>
              <a:rPr lang="bg-BG" sz="3000" b="1" dirty="0"/>
              <a:t>предотвратяване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неоторизиран достъп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промяна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загуба на информация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Надеждната защита </a:t>
            </a:r>
            <a:r>
              <a:rPr lang="bg-BG" sz="3000" b="1" dirty="0"/>
              <a:t>повишава</a:t>
            </a:r>
            <a:r>
              <a:rPr lang="bg-BG" sz="3000" dirty="0"/>
              <a:t> </a:t>
            </a:r>
            <a:r>
              <a:rPr lang="bg-BG" sz="3000" b="1" dirty="0"/>
              <a:t>доверието</a:t>
            </a:r>
            <a:r>
              <a:rPr lang="bg-BG" sz="3000" dirty="0"/>
              <a:t> към </a:t>
            </a:r>
            <a:r>
              <a:rPr lang="bg-BG" sz="30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Сигурност в уеб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9A430-2EBC-7E3B-8414-6DD7A91A92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335" b="6157"/>
          <a:stretch/>
        </p:blipFill>
        <p:spPr>
          <a:xfrm>
            <a:off x="3017156" y="3485885"/>
            <a:ext cx="6157688" cy="322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Целостта на данните</a:t>
            </a:r>
          </a:p>
          <a:p>
            <a:pPr lvl="1"/>
            <a:r>
              <a:rPr lang="bg-BG" sz="2800" dirty="0"/>
              <a:t>Данните се </a:t>
            </a:r>
            <a:r>
              <a:rPr lang="bg-BG" sz="2800" b="1" dirty="0"/>
              <a:t>добавят</a:t>
            </a:r>
            <a:r>
              <a:rPr lang="bg-BG" sz="2800" dirty="0"/>
              <a:t>, </a:t>
            </a:r>
            <a:r>
              <a:rPr lang="bg-BG" sz="2800" b="1" dirty="0"/>
              <a:t>променят</a:t>
            </a:r>
            <a:r>
              <a:rPr lang="bg-BG" sz="2800" dirty="0"/>
              <a:t> или </a:t>
            </a:r>
            <a:r>
              <a:rPr lang="bg-BG" sz="2800" b="1" dirty="0"/>
              <a:t>изтриват </a:t>
            </a:r>
            <a:r>
              <a:rPr lang="bg-BG" sz="2800" b="1" dirty="0">
                <a:solidFill>
                  <a:schemeClr val="bg1"/>
                </a:solidFill>
              </a:rPr>
              <a:t>неправомерно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Конфиденциалност</a:t>
            </a:r>
            <a:r>
              <a:rPr lang="bg-BG" sz="3000" dirty="0"/>
              <a:t> </a:t>
            </a:r>
          </a:p>
          <a:p>
            <a:pPr lvl="1"/>
            <a:r>
              <a:rPr lang="bg-BG" sz="2800" b="1" dirty="0"/>
              <a:t>Информацията</a:t>
            </a:r>
            <a:r>
              <a:rPr lang="bg-BG" sz="2800" dirty="0"/>
              <a:t> става </a:t>
            </a:r>
            <a:r>
              <a:rPr lang="bg-BG" sz="2800" b="1" dirty="0">
                <a:solidFill>
                  <a:schemeClr val="bg1"/>
                </a:solidFill>
              </a:rPr>
              <a:t>достъпна</a:t>
            </a:r>
            <a:r>
              <a:rPr lang="bg-BG" sz="2800" dirty="0"/>
              <a:t> за </a:t>
            </a:r>
            <a:r>
              <a:rPr lang="bg-BG" sz="2800" b="1" dirty="0"/>
              <a:t>неоторизирани потребители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Услуги</a:t>
            </a:r>
          </a:p>
          <a:p>
            <a:pPr lvl="1"/>
            <a:r>
              <a:rPr lang="bg-BG" sz="2800" b="1" dirty="0"/>
              <a:t>Уеб сайтът </a:t>
            </a:r>
            <a:r>
              <a:rPr lang="bg-BG" sz="2800" dirty="0"/>
              <a:t>или </a:t>
            </a:r>
            <a:r>
              <a:rPr lang="bg-BG" sz="2800" b="1" dirty="0"/>
              <a:t>част от него </a:t>
            </a:r>
            <a:r>
              <a:rPr lang="bg-BG" sz="2800" b="1" dirty="0">
                <a:solidFill>
                  <a:schemeClr val="bg1"/>
                </a:solidFill>
              </a:rPr>
              <a:t>спира да работи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Контрол</a:t>
            </a:r>
          </a:p>
          <a:p>
            <a:pPr lvl="1"/>
            <a:r>
              <a:rPr lang="bg-BG" sz="2800" b="1" dirty="0"/>
              <a:t>Услугите</a:t>
            </a:r>
            <a:r>
              <a:rPr lang="bg-BG" sz="2800" dirty="0"/>
              <a:t> се </a:t>
            </a:r>
            <a:r>
              <a:rPr lang="bg-BG" sz="2800" b="1" dirty="0"/>
              <a:t>използват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неоторизирани лица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sz="4000" b="1" dirty="0">
                <a:solidFill>
                  <a:srgbClr val="FFFFFF"/>
                </a:solidFill>
                <a:latin typeface="Calibri"/>
              </a:rPr>
              <a:t>Какво може да бъде засегнато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2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DA4BC-760D-CB6B-7774-2E8CF4F3F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3559B-0314-C636-6898-6978C89C1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Опасност</a:t>
            </a:r>
            <a:r>
              <a:rPr lang="bg-BG" sz="3000" dirty="0"/>
              <a:t> </a:t>
            </a:r>
            <a:r>
              <a:rPr lang="en-GB" sz="3000" dirty="0"/>
              <a:t>–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действие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събитие</a:t>
            </a:r>
            <a:r>
              <a:rPr lang="bg-BG" sz="3000" dirty="0"/>
              <a:t>, което </a:t>
            </a:r>
            <a:r>
              <a:rPr lang="bg-BG" sz="3000" b="1" dirty="0"/>
              <a:t>може да засегне 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Уязвимост</a:t>
            </a:r>
            <a:r>
              <a:rPr lang="bg-BG" sz="3000" dirty="0"/>
              <a:t> </a:t>
            </a:r>
            <a:r>
              <a:rPr lang="en-GB" sz="3000" dirty="0"/>
              <a:t>–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слабост</a:t>
            </a:r>
            <a:r>
              <a:rPr lang="bg-BG" sz="3000" dirty="0"/>
              <a:t> в </a:t>
            </a:r>
            <a:r>
              <a:rPr lang="bg-BG" sz="3000" b="1" dirty="0"/>
              <a:t>уеб сайта</a:t>
            </a:r>
            <a:r>
              <a:rPr lang="bg-BG" sz="3000" dirty="0"/>
              <a:t>, </a:t>
            </a:r>
            <a:r>
              <a:rPr lang="bg-BG" sz="3000" b="1" dirty="0"/>
              <a:t>настройките</a:t>
            </a:r>
            <a:r>
              <a:rPr lang="bg-BG" sz="3000" dirty="0"/>
              <a:t> или </a:t>
            </a:r>
            <a:r>
              <a:rPr lang="bg-BG" sz="3000" b="1" dirty="0"/>
              <a:t>поведението</a:t>
            </a:r>
            <a:r>
              <a:rPr lang="bg-BG" sz="3000" dirty="0"/>
              <a:t> на </a:t>
            </a:r>
            <a:r>
              <a:rPr lang="bg-BG" sz="3000" b="1" dirty="0"/>
              <a:t>потребителя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Опасностите</a:t>
            </a:r>
            <a:r>
              <a:rPr lang="bg-BG" sz="3000" dirty="0"/>
              <a:t> използват </a:t>
            </a:r>
            <a:r>
              <a:rPr lang="bg-BG" sz="3000" b="1" dirty="0">
                <a:solidFill>
                  <a:schemeClr val="bg1"/>
                </a:solidFill>
              </a:rPr>
              <a:t>уязвимостите</a:t>
            </a:r>
            <a:r>
              <a:rPr lang="bg-BG" sz="3000" dirty="0"/>
              <a:t>, за да </a:t>
            </a:r>
            <a:r>
              <a:rPr lang="bg-BG" sz="3000" b="1" dirty="0"/>
              <a:t>причинят проблем</a:t>
            </a:r>
          </a:p>
          <a:p>
            <a:r>
              <a:rPr lang="bg-BG" sz="3000" b="1" dirty="0"/>
              <a:t>Слаба парола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уязвимост</a:t>
            </a:r>
            <a:r>
              <a:rPr lang="bg-BG" sz="3000" dirty="0"/>
              <a:t>, а </a:t>
            </a:r>
            <a:r>
              <a:rPr lang="bg-BG" sz="3000" b="1" dirty="0"/>
              <a:t>опитът за разбиване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опасност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0FC5DE-3025-6CE7-C79B-DA6B4B14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Опасности и уязвимости</a:t>
            </a:r>
            <a:endParaRPr lang="en-BG" dirty="0"/>
          </a:p>
        </p:txBody>
      </p:sp>
      <p:pic>
        <p:nvPicPr>
          <p:cNvPr id="5" name="Picture 4" descr="cybersecurity_threat_vs_vulnerability.png">
            <a:extLst>
              <a:ext uri="{FF2B5EF4-FFF2-40B4-BE49-F238E27FC236}">
                <a16:creationId xmlns:a16="http://schemas.microsoft.com/office/drawing/2014/main" id="{16623879-73F9-86C8-9B0A-5B806B56CD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5" b="5278"/>
          <a:stretch/>
        </p:blipFill>
        <p:spPr>
          <a:xfrm>
            <a:off x="4072842" y="4065852"/>
            <a:ext cx="4046316" cy="27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9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79D77A-ED83-93D1-5593-C04334ED2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8744-6251-9893-01B0-EC65DEA049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DoS </a:t>
            </a:r>
            <a:r>
              <a:rPr lang="en-GB" sz="2800" b="1" dirty="0"/>
              <a:t>(</a:t>
            </a:r>
            <a:r>
              <a:rPr lang="en-GB" sz="2800" b="1" dirty="0">
                <a:solidFill>
                  <a:schemeClr val="bg1"/>
                </a:solidFill>
              </a:rPr>
              <a:t>D</a:t>
            </a:r>
            <a:r>
              <a:rPr lang="en-GB" sz="2800" b="1" dirty="0"/>
              <a:t>enial </a:t>
            </a:r>
            <a:r>
              <a:rPr lang="en-GB" sz="2800" b="1" dirty="0">
                <a:solidFill>
                  <a:schemeClr val="bg1"/>
                </a:solidFill>
              </a:rPr>
              <a:t>o</a:t>
            </a:r>
            <a:r>
              <a:rPr lang="en-GB" sz="2800" b="1" dirty="0"/>
              <a:t>f </a:t>
            </a:r>
            <a:r>
              <a:rPr lang="en-GB" sz="2800" b="1" dirty="0">
                <a:solidFill>
                  <a:schemeClr val="bg1"/>
                </a:solidFill>
              </a:rPr>
              <a:t>S</a:t>
            </a:r>
            <a:r>
              <a:rPr lang="en-GB" sz="2800" b="1" dirty="0"/>
              <a:t>ervice)</a:t>
            </a:r>
            <a:r>
              <a:rPr lang="bg-BG" sz="2800" b="1" dirty="0"/>
              <a:t> </a:t>
            </a:r>
            <a:r>
              <a:rPr lang="bg-BG" sz="2800" dirty="0"/>
              <a:t>и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GB" sz="2800" b="1" dirty="0">
                <a:solidFill>
                  <a:schemeClr val="bg1"/>
                </a:solidFill>
              </a:rPr>
              <a:t>DDoS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GB" sz="2800" b="1" dirty="0"/>
              <a:t>(</a:t>
            </a:r>
            <a:r>
              <a:rPr lang="en-GB" sz="2800" b="1" dirty="0">
                <a:solidFill>
                  <a:schemeClr val="bg1"/>
                </a:solidFill>
              </a:rPr>
              <a:t>D</a:t>
            </a:r>
            <a:r>
              <a:rPr lang="en-GB" sz="2800" b="1" dirty="0"/>
              <a:t>istributed </a:t>
            </a:r>
            <a:r>
              <a:rPr lang="en-GB" sz="2800" b="1" dirty="0">
                <a:solidFill>
                  <a:schemeClr val="bg1"/>
                </a:solidFill>
              </a:rPr>
              <a:t>D</a:t>
            </a:r>
            <a:r>
              <a:rPr lang="en-GB" sz="2800" b="1" dirty="0"/>
              <a:t>enial </a:t>
            </a:r>
            <a:r>
              <a:rPr lang="en-GB" sz="2800" b="1" dirty="0">
                <a:solidFill>
                  <a:schemeClr val="bg1"/>
                </a:solidFill>
              </a:rPr>
              <a:t>o</a:t>
            </a:r>
            <a:r>
              <a:rPr lang="en-GB" sz="2800" b="1" dirty="0"/>
              <a:t>f </a:t>
            </a:r>
            <a:r>
              <a:rPr lang="en-GB" sz="2800" b="1" dirty="0">
                <a:solidFill>
                  <a:schemeClr val="bg1"/>
                </a:solidFill>
              </a:rPr>
              <a:t>S</a:t>
            </a:r>
            <a:r>
              <a:rPr lang="en-GB" sz="2800" b="1" dirty="0"/>
              <a:t>ervice)</a:t>
            </a:r>
            <a:r>
              <a:rPr lang="en-GB" sz="2800" b="1" dirty="0">
                <a:solidFill>
                  <a:schemeClr val="bg1"/>
                </a:solidFill>
              </a:rPr>
              <a:t> </a:t>
            </a:r>
            <a:r>
              <a:rPr lang="bg-BG" sz="2800" b="1" dirty="0">
                <a:solidFill>
                  <a:schemeClr val="bg1"/>
                </a:solidFill>
              </a:rPr>
              <a:t>атаки</a:t>
            </a:r>
          </a:p>
          <a:p>
            <a:pPr lvl="1"/>
            <a:r>
              <a:rPr lang="bg-BG" sz="2600" b="1" dirty="0"/>
              <a:t>Претоварване</a:t>
            </a:r>
            <a:r>
              <a:rPr lang="bg-BG" sz="2600" dirty="0"/>
              <a:t> и </a:t>
            </a:r>
            <a:r>
              <a:rPr lang="bg-BG" sz="2600" b="1" dirty="0"/>
              <a:t>отказ</a:t>
            </a:r>
            <a:r>
              <a:rPr lang="bg-BG" sz="2600" dirty="0"/>
              <a:t> на </a:t>
            </a:r>
            <a:r>
              <a:rPr lang="bg-BG" sz="2600" b="1" dirty="0"/>
              <a:t>услуга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Sniffing </a:t>
            </a:r>
            <a:r>
              <a:rPr lang="bg-BG" sz="2800" b="1" dirty="0">
                <a:solidFill>
                  <a:schemeClr val="bg1"/>
                </a:solidFill>
              </a:rPr>
              <a:t>атаки</a:t>
            </a:r>
          </a:p>
          <a:p>
            <a:pPr lvl="1"/>
            <a:r>
              <a:rPr lang="bg-BG" sz="2600" b="1" dirty="0"/>
              <a:t>Прихващане</a:t>
            </a:r>
            <a:r>
              <a:rPr lang="bg-BG" sz="2600" dirty="0"/>
              <a:t> на </a:t>
            </a:r>
            <a:r>
              <a:rPr lang="bg-BG" sz="2600" b="1" dirty="0"/>
              <a:t>мрежов трафик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IP Spoofing</a:t>
            </a:r>
            <a:endParaRPr lang="bg-BG" sz="2800" b="1" dirty="0">
              <a:solidFill>
                <a:schemeClr val="bg1"/>
              </a:solidFill>
            </a:endParaRPr>
          </a:p>
          <a:p>
            <a:pPr lvl="1"/>
            <a:r>
              <a:rPr lang="bg-BG" sz="2600" b="1" dirty="0"/>
              <a:t>Подмяна</a:t>
            </a:r>
            <a:r>
              <a:rPr lang="bg-BG" sz="2600" dirty="0"/>
              <a:t> на </a:t>
            </a:r>
            <a:r>
              <a:rPr lang="en-GB" sz="2600" b="1" dirty="0"/>
              <a:t>IP </a:t>
            </a:r>
            <a:r>
              <a:rPr lang="bg-BG" sz="2600" b="1" dirty="0"/>
              <a:t>адрес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Фишинг</a:t>
            </a:r>
            <a:r>
              <a:rPr lang="bg-BG" sz="2800" dirty="0"/>
              <a:t>, </a:t>
            </a:r>
            <a:r>
              <a:rPr lang="en-GB" sz="2800" b="1" dirty="0">
                <a:solidFill>
                  <a:schemeClr val="bg1"/>
                </a:solidFill>
              </a:rPr>
              <a:t>Brute Force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зловреден код</a:t>
            </a:r>
          </a:p>
          <a:p>
            <a:pPr lvl="1"/>
            <a:r>
              <a:rPr lang="bg-BG" sz="2600" b="1" dirty="0"/>
              <a:t>Подвеждане</a:t>
            </a:r>
            <a:r>
              <a:rPr lang="bg-BG" sz="2600" dirty="0"/>
              <a:t>, </a:t>
            </a:r>
            <a:r>
              <a:rPr lang="bg-BG" sz="2600" b="1" dirty="0"/>
              <a:t>отгатване</a:t>
            </a:r>
            <a:r>
              <a:rPr lang="bg-BG" sz="2600" dirty="0"/>
              <a:t> на </a:t>
            </a:r>
            <a:r>
              <a:rPr lang="bg-BG" sz="2600" b="1" dirty="0"/>
              <a:t>пароли</a:t>
            </a:r>
            <a:r>
              <a:rPr lang="bg-BG" sz="2600" dirty="0"/>
              <a:t> и </a:t>
            </a:r>
            <a:r>
              <a:rPr lang="bg-BG" sz="2600" b="1" dirty="0"/>
              <a:t>заразяване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057AE-B098-4BF2-FB3C-BB768189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атаки в уеб</a:t>
            </a:r>
            <a:endParaRPr lang="en-BG" dirty="0"/>
          </a:p>
        </p:txBody>
      </p:sp>
      <p:pic>
        <p:nvPicPr>
          <p:cNvPr id="5" name="Picture 4" descr="cybersecurity_threats_around_a_protected_laptop.png">
            <a:extLst>
              <a:ext uri="{FF2B5EF4-FFF2-40B4-BE49-F238E27FC236}">
                <a16:creationId xmlns:a16="http://schemas.microsoft.com/office/drawing/2014/main" id="{6E192B91-E496-236D-7DED-69F564DC1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3321" y="3820291"/>
            <a:ext cx="3978277" cy="298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9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A4877-0764-4B73-3FE2-33D3488BD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D3AC-1346-723E-377C-936054027F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930042" cy="552876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DoS</a:t>
            </a:r>
            <a:r>
              <a:rPr lang="en-GB" sz="3200" b="1" dirty="0"/>
              <a:t> </a:t>
            </a:r>
            <a:r>
              <a:rPr lang="en-GB" sz="3200" dirty="0"/>
              <a:t>–</a:t>
            </a:r>
            <a:r>
              <a:rPr lang="bg-BG" sz="3200" dirty="0"/>
              <a:t> </a:t>
            </a:r>
            <a:r>
              <a:rPr lang="bg-BG" sz="3200" b="1" dirty="0"/>
              <a:t>отказ на услуга</a:t>
            </a:r>
          </a:p>
          <a:p>
            <a:pPr lvl="1"/>
            <a:r>
              <a:rPr lang="bg-BG" sz="2900" b="1" dirty="0"/>
              <a:t>Атаката</a:t>
            </a:r>
            <a:r>
              <a:rPr lang="bg-BG" sz="2900" dirty="0"/>
              <a:t> идва от </a:t>
            </a:r>
            <a:r>
              <a:rPr lang="bg-BG" sz="2900" b="1" dirty="0">
                <a:solidFill>
                  <a:schemeClr val="bg1"/>
                </a:solidFill>
              </a:rPr>
              <a:t>един източник</a:t>
            </a:r>
            <a:endParaRPr lang="bg-BG" sz="2900" dirty="0">
              <a:solidFill>
                <a:schemeClr val="bg1"/>
              </a:solidFill>
            </a:endParaRPr>
          </a:p>
          <a:p>
            <a:pPr lvl="1"/>
            <a:r>
              <a:rPr lang="bg-BG" sz="2900" b="1" dirty="0"/>
              <a:t>Изпращат</a:t>
            </a:r>
            <a:r>
              <a:rPr lang="bg-BG" sz="2900" dirty="0"/>
              <a:t> </a:t>
            </a:r>
            <a:r>
              <a:rPr lang="bg-BG" sz="2900" b="1" dirty="0"/>
              <a:t>се</a:t>
            </a:r>
            <a:r>
              <a:rPr lang="bg-BG" sz="2900" dirty="0"/>
              <a:t> </a:t>
            </a:r>
            <a:r>
              <a:rPr lang="bg-BG" sz="2900" b="1" dirty="0">
                <a:solidFill>
                  <a:schemeClr val="bg1"/>
                </a:solidFill>
              </a:rPr>
              <a:t>много заявки </a:t>
            </a:r>
            <a:r>
              <a:rPr lang="bg-BG" sz="2900" dirty="0"/>
              <a:t>или </a:t>
            </a:r>
            <a:r>
              <a:rPr lang="bg-BG" sz="2900" b="1" dirty="0"/>
              <a:t>се изчерпват </a:t>
            </a:r>
            <a:r>
              <a:rPr lang="bg-BG" sz="2900" b="1" dirty="0">
                <a:solidFill>
                  <a:schemeClr val="bg1"/>
                </a:solidFill>
              </a:rPr>
              <a:t>ресурсите</a:t>
            </a:r>
            <a:r>
              <a:rPr lang="bg-BG" sz="2900" dirty="0"/>
              <a:t> на </a:t>
            </a:r>
            <a:r>
              <a:rPr lang="bg-BG" sz="2900" b="1" dirty="0"/>
              <a:t>сървъра</a:t>
            </a:r>
          </a:p>
          <a:p>
            <a:pPr lvl="1"/>
            <a:r>
              <a:rPr lang="bg-BG" sz="2900" b="1" dirty="0"/>
              <a:t>Уеб сайтът </a:t>
            </a:r>
            <a:r>
              <a:rPr lang="bg-BG" sz="2900" dirty="0"/>
              <a:t>се </a:t>
            </a:r>
            <a:r>
              <a:rPr lang="bg-BG" sz="2900" b="1" dirty="0">
                <a:solidFill>
                  <a:schemeClr val="bg1"/>
                </a:solidFill>
              </a:rPr>
              <a:t>забавя</a:t>
            </a:r>
            <a:r>
              <a:rPr lang="bg-BG" sz="2900" dirty="0"/>
              <a:t> или става </a:t>
            </a:r>
            <a:r>
              <a:rPr lang="bg-BG" sz="2900" b="1" dirty="0">
                <a:solidFill>
                  <a:schemeClr val="bg1"/>
                </a:solidFill>
              </a:rPr>
              <a:t>недостъпен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090B80-E958-EED7-ABE7-F5BD78FC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DoS </a:t>
            </a:r>
            <a:r>
              <a:rPr lang="bg-BG" dirty="0"/>
              <a:t>и </a:t>
            </a:r>
            <a:r>
              <a:rPr lang="en-GB" dirty="0"/>
              <a:t>DDoS </a:t>
            </a:r>
            <a:r>
              <a:rPr lang="bg-BG" dirty="0"/>
              <a:t>атаки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5F6A4-21F8-B8B8-88C7-A3F958C7F9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9" b="8221"/>
          <a:stretch/>
        </p:blipFill>
        <p:spPr>
          <a:xfrm>
            <a:off x="4014216" y="3569446"/>
            <a:ext cx="3915000" cy="319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5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A4877-0764-4B73-3FE2-33D3488BD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D3AC-1346-723E-377C-936054027F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bg1"/>
                </a:solidFill>
              </a:rPr>
              <a:t>DDoS</a:t>
            </a:r>
            <a:r>
              <a:rPr lang="bg-BG" sz="3000" dirty="0"/>
              <a:t> </a:t>
            </a:r>
            <a:r>
              <a:rPr lang="en-GB" sz="3000" dirty="0"/>
              <a:t>– </a:t>
            </a:r>
            <a:r>
              <a:rPr lang="bg-BG" sz="3000" b="1" dirty="0"/>
              <a:t>разпределен отказ на услуга</a:t>
            </a:r>
          </a:p>
          <a:p>
            <a:pPr lvl="1"/>
            <a:r>
              <a:rPr lang="bg-BG" sz="2800" b="1" dirty="0"/>
              <a:t>Атаката</a:t>
            </a:r>
            <a:r>
              <a:rPr lang="bg-BG" sz="2800" dirty="0"/>
              <a:t> идва от </a:t>
            </a:r>
            <a:r>
              <a:rPr lang="bg-BG" sz="2800" b="1" dirty="0">
                <a:solidFill>
                  <a:schemeClr val="bg1"/>
                </a:solidFill>
              </a:rPr>
              <a:t>много устройства едновременно</a:t>
            </a:r>
            <a:endParaRPr lang="bg-BG" sz="2800" dirty="0">
              <a:solidFill>
                <a:schemeClr val="bg1"/>
              </a:solidFill>
            </a:endParaRP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Голям брой заявки </a:t>
            </a:r>
            <a:r>
              <a:rPr lang="bg-BG" sz="2800" b="1" dirty="0"/>
              <a:t>претоварват сървъра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Блокирането</a:t>
            </a:r>
            <a:r>
              <a:rPr lang="bg-BG" sz="2800" dirty="0"/>
              <a:t> на </a:t>
            </a:r>
            <a:r>
              <a:rPr lang="bg-BG" sz="2800" b="1" dirty="0"/>
              <a:t>атаката</a:t>
            </a:r>
            <a:r>
              <a:rPr lang="bg-BG" sz="2800" dirty="0"/>
              <a:t> е </a:t>
            </a:r>
            <a:r>
              <a:rPr lang="bg-BG" sz="2800" b="1" dirty="0"/>
              <a:t>по-трудно</a:t>
            </a:r>
            <a:r>
              <a:rPr lang="bg-BG" sz="2800" dirty="0"/>
              <a:t> заради </a:t>
            </a:r>
            <a:r>
              <a:rPr lang="bg-BG" sz="2800" b="1" dirty="0">
                <a:solidFill>
                  <a:schemeClr val="bg1"/>
                </a:solidFill>
              </a:rPr>
              <a:t>множеството източници</a:t>
            </a:r>
          </a:p>
          <a:p>
            <a:r>
              <a:rPr lang="bg-BG" sz="3000" dirty="0"/>
              <a:t>И при</a:t>
            </a:r>
            <a:r>
              <a:rPr lang="bg-BG" sz="3000" b="1" dirty="0"/>
              <a:t> двата вида </a:t>
            </a:r>
            <a:r>
              <a:rPr lang="bg-BG" sz="3000" b="1" dirty="0">
                <a:solidFill>
                  <a:schemeClr val="bg1"/>
                </a:solidFill>
              </a:rPr>
              <a:t>целта е една и съща </a:t>
            </a:r>
            <a:r>
              <a:rPr lang="bg-BG" sz="3000" dirty="0"/>
              <a:t>– </a:t>
            </a:r>
            <a:r>
              <a:rPr lang="bg-BG" sz="3000" b="1" dirty="0"/>
              <a:t>услугата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да стане недостъпна</a:t>
            </a:r>
            <a:r>
              <a:rPr lang="bg-BG" sz="3000" dirty="0"/>
              <a:t> за </a:t>
            </a:r>
            <a:r>
              <a:rPr lang="bg-BG" sz="3000" b="1" dirty="0"/>
              <a:t>потребителите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090B80-E958-EED7-ABE7-F5BD78FC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DoS </a:t>
            </a:r>
            <a:r>
              <a:rPr lang="bg-BG" dirty="0"/>
              <a:t>и </a:t>
            </a:r>
            <a:r>
              <a:rPr lang="en-GB" dirty="0"/>
              <a:t>DDoS </a:t>
            </a:r>
            <a:r>
              <a:rPr lang="bg-BG" dirty="0"/>
              <a:t>атаки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D66032-AD24-3E01-3BBE-26CC3156E3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" r="4068" b="13254"/>
          <a:stretch/>
        </p:blipFill>
        <p:spPr>
          <a:xfrm>
            <a:off x="7446000" y="3339000"/>
            <a:ext cx="4221525" cy="34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A4877-0764-4B73-3FE2-33D3488BD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D3AC-1346-723E-377C-936054027F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/>
              <a:t>Прихваща</a:t>
            </a:r>
            <a:r>
              <a:rPr lang="bg-BG" sz="3000" dirty="0"/>
              <a:t> </a:t>
            </a:r>
            <a:r>
              <a:rPr lang="bg-BG" sz="3000" b="1" dirty="0"/>
              <a:t>се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мрежов трафик </a:t>
            </a:r>
            <a:r>
              <a:rPr lang="bg-BG" sz="3000" dirty="0"/>
              <a:t>между </a:t>
            </a:r>
            <a:r>
              <a:rPr lang="bg-BG" sz="3000" b="1" dirty="0"/>
              <a:t>устройства</a:t>
            </a:r>
          </a:p>
          <a:p>
            <a:r>
              <a:rPr lang="bg-BG" sz="3000" b="1" dirty="0"/>
              <a:t>Незащитени данни</a:t>
            </a:r>
            <a:r>
              <a:rPr lang="bg-BG" sz="3000" dirty="0"/>
              <a:t> могат да бъдат </a:t>
            </a:r>
            <a:r>
              <a:rPr lang="bg-BG" sz="3000" b="1" dirty="0">
                <a:solidFill>
                  <a:schemeClr val="bg1"/>
                </a:solidFill>
              </a:rPr>
              <a:t>прочетени</a:t>
            </a:r>
            <a:r>
              <a:rPr lang="bg-BG" sz="3000" dirty="0"/>
              <a:t> или </a:t>
            </a:r>
            <a:r>
              <a:rPr lang="bg-BG" sz="3000" b="1" dirty="0">
                <a:solidFill>
                  <a:schemeClr val="bg1"/>
                </a:solidFill>
              </a:rPr>
              <a:t>анализирани</a:t>
            </a:r>
          </a:p>
          <a:p>
            <a:r>
              <a:rPr lang="bg-BG" sz="3000" b="1" dirty="0"/>
              <a:t>Рискът</a:t>
            </a:r>
            <a:r>
              <a:rPr lang="bg-BG" sz="3000" dirty="0"/>
              <a:t> е </a:t>
            </a:r>
            <a:r>
              <a:rPr lang="bg-BG" sz="3000" b="1" dirty="0"/>
              <a:t>по-голям</a:t>
            </a:r>
            <a:r>
              <a:rPr lang="bg-BG" sz="3000" dirty="0"/>
              <a:t> при </a:t>
            </a:r>
            <a:r>
              <a:rPr lang="bg-BG" sz="3000" b="1" dirty="0">
                <a:solidFill>
                  <a:schemeClr val="bg1"/>
                </a:solidFill>
              </a:rPr>
              <a:t>публични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слабо защитени мрежи</a:t>
            </a:r>
          </a:p>
          <a:p>
            <a:r>
              <a:rPr lang="bg-BG" sz="3000" b="1" dirty="0"/>
              <a:t>Защитата</a:t>
            </a:r>
            <a:r>
              <a:rPr lang="bg-BG" sz="3000" dirty="0"/>
              <a:t> изисква </a:t>
            </a:r>
            <a:r>
              <a:rPr lang="bg-BG" sz="3000" b="1" dirty="0">
                <a:solidFill>
                  <a:schemeClr val="bg1"/>
                </a:solidFill>
              </a:rPr>
              <a:t>сигурни връзки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внимателна работа </a:t>
            </a:r>
            <a:r>
              <a:rPr lang="bg-BG" sz="3000" dirty="0"/>
              <a:t>с </a:t>
            </a:r>
            <a:r>
              <a:rPr lang="bg-BG" sz="3000" b="1" dirty="0"/>
              <a:t>мрежите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090B80-E958-EED7-ABE7-F5BD78FC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latin typeface="Calibri"/>
              </a:rPr>
              <a:t>Sniffing </a:t>
            </a:r>
            <a:r>
              <a:rPr lang="bg-BG" sz="4000" b="1" dirty="0">
                <a:latin typeface="Calibri"/>
              </a:rPr>
              <a:t>атаки</a:t>
            </a:r>
            <a:endParaRPr lang="en-BG" dirty="0"/>
          </a:p>
        </p:txBody>
      </p:sp>
      <p:pic>
        <p:nvPicPr>
          <p:cNvPr id="5" name="Picture 4" descr="a_clean_3d_isometric_illustrative_cybersecurity_co.png">
            <a:extLst>
              <a:ext uri="{FF2B5EF4-FFF2-40B4-BE49-F238E27FC236}">
                <a16:creationId xmlns:a16="http://schemas.microsoft.com/office/drawing/2014/main" id="{25A5BE4F-14EE-6529-F993-4ED8EC149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87" b="20157"/>
          <a:stretch/>
        </p:blipFill>
        <p:spPr>
          <a:xfrm>
            <a:off x="4003500" y="3541933"/>
            <a:ext cx="4185000" cy="318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3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5C7CE1-4CCF-8859-668D-16329D3BA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D3754-13E3-0104-4A84-32F8F71714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b="1" dirty="0"/>
              <a:t>Изпращат</a:t>
            </a:r>
            <a:r>
              <a:rPr lang="bg-BG" sz="2800" dirty="0"/>
              <a:t> </a:t>
            </a:r>
            <a:r>
              <a:rPr lang="bg-BG" sz="2800" b="1" dirty="0"/>
              <a:t>се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съобщения</a:t>
            </a:r>
            <a:r>
              <a:rPr lang="bg-BG" sz="2800" dirty="0"/>
              <a:t> с </a:t>
            </a:r>
            <a:r>
              <a:rPr lang="bg-BG" sz="2800" b="1" dirty="0">
                <a:solidFill>
                  <a:schemeClr val="bg1"/>
                </a:solidFill>
              </a:rPr>
              <a:t>подменен </a:t>
            </a:r>
            <a:r>
              <a:rPr lang="en-GB" sz="2800" b="1" dirty="0">
                <a:solidFill>
                  <a:schemeClr val="bg1"/>
                </a:solidFill>
              </a:rPr>
              <a:t>IP </a:t>
            </a:r>
            <a:r>
              <a:rPr lang="bg-BG" sz="2800" b="1" dirty="0">
                <a:solidFill>
                  <a:schemeClr val="bg1"/>
                </a:solidFill>
              </a:rPr>
              <a:t>адрес</a:t>
            </a:r>
          </a:p>
          <a:p>
            <a:r>
              <a:rPr lang="bg-BG" sz="2800" b="1" dirty="0"/>
              <a:t>Целта</a:t>
            </a:r>
            <a:r>
              <a:rPr lang="bg-BG" sz="2800" dirty="0"/>
              <a:t> е </a:t>
            </a:r>
            <a:r>
              <a:rPr lang="bg-BG" sz="2800" b="1" dirty="0"/>
              <a:t>източникът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да изглежда различен </a:t>
            </a:r>
            <a:r>
              <a:rPr lang="bg-BG" sz="2800" dirty="0"/>
              <a:t>от </a:t>
            </a:r>
            <a:r>
              <a:rPr lang="bg-BG" sz="2800" b="1" dirty="0"/>
              <a:t>реалния</a:t>
            </a:r>
          </a:p>
          <a:p>
            <a:r>
              <a:rPr lang="bg-BG" sz="2800" dirty="0"/>
              <a:t>Може да се използва за </a:t>
            </a:r>
            <a:r>
              <a:rPr lang="bg-BG" sz="2800" b="1" dirty="0">
                <a:solidFill>
                  <a:schemeClr val="bg1"/>
                </a:solidFill>
              </a:rPr>
              <a:t>скриване</a:t>
            </a:r>
            <a:r>
              <a:rPr lang="bg-BG" sz="2800" b="1" dirty="0"/>
              <a:t> </a:t>
            </a:r>
            <a:r>
              <a:rPr lang="bg-BG" sz="2800" dirty="0"/>
              <a:t>на</a:t>
            </a:r>
            <a:r>
              <a:rPr lang="bg-BG" sz="2800" b="1" dirty="0"/>
              <a:t> атакуващия </a:t>
            </a:r>
            <a:r>
              <a:rPr lang="bg-BG" sz="2800" dirty="0"/>
              <a:t>или за </a:t>
            </a:r>
            <a:r>
              <a:rPr lang="bg-BG" sz="2800" b="1" dirty="0">
                <a:solidFill>
                  <a:schemeClr val="bg1"/>
                </a:solidFill>
              </a:rPr>
              <a:t>достъп</a:t>
            </a:r>
            <a:r>
              <a:rPr lang="bg-BG" sz="2800" dirty="0"/>
              <a:t> до </a:t>
            </a:r>
            <a:r>
              <a:rPr lang="bg-BG" sz="2800" b="1" dirty="0"/>
              <a:t>услуга</a:t>
            </a:r>
          </a:p>
          <a:p>
            <a:r>
              <a:rPr lang="bg-BG" sz="2800" b="1" dirty="0"/>
              <a:t>Откриването</a:t>
            </a:r>
            <a:r>
              <a:rPr lang="bg-BG" sz="2800" dirty="0"/>
              <a:t> изисква </a:t>
            </a:r>
            <a:r>
              <a:rPr lang="bg-BG" sz="2800" b="1" dirty="0">
                <a:solidFill>
                  <a:schemeClr val="bg1"/>
                </a:solidFill>
              </a:rPr>
              <a:t>проверка</a:t>
            </a:r>
            <a:r>
              <a:rPr lang="bg-BG" sz="2800" dirty="0"/>
              <a:t> на </a:t>
            </a:r>
            <a:r>
              <a:rPr lang="bg-BG" sz="2800" b="1" dirty="0"/>
              <a:t>трафика</a:t>
            </a:r>
            <a:r>
              <a:rPr lang="bg-BG" sz="2800" dirty="0"/>
              <a:t> и </a:t>
            </a:r>
            <a:r>
              <a:rPr lang="bg-BG" sz="2800" b="1" dirty="0"/>
              <a:t>настройките</a:t>
            </a:r>
            <a:r>
              <a:rPr lang="bg-BG" sz="2800" dirty="0"/>
              <a:t> на </a:t>
            </a:r>
            <a:r>
              <a:rPr lang="bg-BG" sz="2800" b="1" dirty="0"/>
              <a:t>мрежата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F3BACB-58F3-3549-7BB1-E1711C11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 Spoofing </a:t>
            </a:r>
            <a:r>
              <a:rPr lang="bg-BG" dirty="0"/>
              <a:t>атаки</a:t>
            </a:r>
            <a:endParaRPr lang="en-BG" dirty="0"/>
          </a:p>
        </p:txBody>
      </p:sp>
      <p:pic>
        <p:nvPicPr>
          <p:cNvPr id="5" name="Picture 4" descr="a_clean_3d_glossy_vector_cgi_illustration_on_a_tra.png">
            <a:extLst>
              <a:ext uri="{FF2B5EF4-FFF2-40B4-BE49-F238E27FC236}">
                <a16:creationId xmlns:a16="http://schemas.microsoft.com/office/drawing/2014/main" id="{09AE5BE5-62EA-65A7-5CF7-428CFE6636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29" b="5140"/>
          <a:stretch/>
        </p:blipFill>
        <p:spPr>
          <a:xfrm>
            <a:off x="4172520" y="3568002"/>
            <a:ext cx="3598393" cy="315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6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63FF19-453B-A5E7-B26A-58FF2FCC8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31AA-AE6F-0AA7-1616-D7428914D4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/>
          <a:lstStyle/>
          <a:p>
            <a:r>
              <a:rPr lang="bg-BG" sz="2800" b="1" dirty="0">
                <a:solidFill>
                  <a:schemeClr val="bg1"/>
                </a:solidFill>
              </a:rPr>
              <a:t>Фишингът</a:t>
            </a:r>
            <a:r>
              <a:rPr lang="bg-BG" sz="2800" dirty="0"/>
              <a:t> </a:t>
            </a:r>
            <a:r>
              <a:rPr lang="bg-BG" sz="2800" b="1" dirty="0"/>
              <a:t>подвежда потребителя </a:t>
            </a:r>
            <a:r>
              <a:rPr lang="bg-BG" sz="2800" dirty="0"/>
              <a:t>да въведе </a:t>
            </a:r>
            <a:r>
              <a:rPr lang="bg-BG" sz="2800" b="1" dirty="0"/>
              <a:t>данни</a:t>
            </a:r>
            <a:r>
              <a:rPr lang="bg-BG" sz="2800" dirty="0"/>
              <a:t> във </a:t>
            </a:r>
            <a:r>
              <a:rPr lang="bg-BG" sz="2800" b="1" dirty="0">
                <a:solidFill>
                  <a:schemeClr val="bg1"/>
                </a:solidFill>
              </a:rPr>
              <a:t>фалшива страница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Brute Force </a:t>
            </a:r>
            <a:r>
              <a:rPr lang="bg-BG" sz="2800" dirty="0"/>
              <a:t>използва </a:t>
            </a:r>
            <a:r>
              <a:rPr lang="bg-BG" sz="2800" b="1" dirty="0"/>
              <a:t>многократни опити </a:t>
            </a:r>
            <a:r>
              <a:rPr lang="bg-BG" sz="2800" dirty="0"/>
              <a:t>за </a:t>
            </a:r>
            <a:r>
              <a:rPr lang="bg-BG" sz="2800" b="1" dirty="0">
                <a:solidFill>
                  <a:schemeClr val="bg1"/>
                </a:solidFill>
              </a:rPr>
              <a:t>отгатване на парола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Зловредният код </a:t>
            </a:r>
            <a:r>
              <a:rPr lang="bg-BG" sz="2800" dirty="0"/>
              <a:t>може </a:t>
            </a:r>
            <a:r>
              <a:rPr lang="bg-BG" sz="2800" b="1" dirty="0"/>
              <a:t>да промени сайта </a:t>
            </a:r>
            <a:r>
              <a:rPr lang="bg-BG" sz="2800" dirty="0"/>
              <a:t>или </a:t>
            </a:r>
            <a:r>
              <a:rPr lang="bg-BG" sz="2800" b="1" dirty="0"/>
              <a:t>да събира информация</a:t>
            </a:r>
          </a:p>
          <a:p>
            <a:r>
              <a:rPr lang="bg-BG" sz="2800" b="1" dirty="0"/>
              <a:t>Защитата</a:t>
            </a:r>
            <a:r>
              <a:rPr lang="bg-BG" sz="2800" dirty="0"/>
              <a:t> започва със </a:t>
            </a:r>
            <a:r>
              <a:rPr lang="bg-BG" sz="2800" b="1" dirty="0">
                <a:solidFill>
                  <a:schemeClr val="bg1"/>
                </a:solidFill>
              </a:rPr>
              <a:t>силни пароли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внимание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актуален софтуер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7BF47B-5402-E045-2A43-9FE7438F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Фишинг, </a:t>
            </a:r>
            <a:r>
              <a:rPr lang="en-GB" dirty="0"/>
              <a:t>Brute Force </a:t>
            </a:r>
            <a:r>
              <a:rPr lang="bg-BG" dirty="0"/>
              <a:t>и зловреден код</a:t>
            </a:r>
            <a:endParaRPr lang="en-BG" dirty="0"/>
          </a:p>
        </p:txBody>
      </p:sp>
      <p:pic>
        <p:nvPicPr>
          <p:cNvPr id="5" name="Picture 4" descr="a_colorful_3d_glossy_illustration_on_a_transparent.png">
            <a:extLst>
              <a:ext uri="{FF2B5EF4-FFF2-40B4-BE49-F238E27FC236}">
                <a16:creationId xmlns:a16="http://schemas.microsoft.com/office/drawing/2014/main" id="{ACA1AB5C-62A9-A1DE-698C-37E98AC2A1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432"/>
          <a:stretch/>
        </p:blipFill>
        <p:spPr>
          <a:xfrm>
            <a:off x="7724770" y="1089000"/>
            <a:ext cx="4395674" cy="420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6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F42464-1BAF-F1D9-31C5-FE11094BA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7FA13-E5FC-EB98-DF7D-79376757E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Предупреждение</a:t>
            </a:r>
            <a:r>
              <a:rPr lang="bg-BG" sz="3000" dirty="0"/>
              <a:t> от </a:t>
            </a:r>
            <a:r>
              <a:rPr lang="bg-BG" sz="3000" b="1" dirty="0"/>
              <a:t>браузъра</a:t>
            </a:r>
            <a:r>
              <a:rPr lang="bg-BG" sz="3000" dirty="0"/>
              <a:t> за </a:t>
            </a:r>
            <a:r>
              <a:rPr lang="bg-BG" sz="3000" b="1" dirty="0"/>
              <a:t>риск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Необичайно бавно зареждане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  <a:p>
            <a:r>
              <a:rPr lang="bg-BG" sz="3000" b="1" dirty="0"/>
              <a:t>Пренасочване</a:t>
            </a:r>
            <a:r>
              <a:rPr lang="bg-BG" sz="3000" dirty="0"/>
              <a:t> към </a:t>
            </a:r>
            <a:r>
              <a:rPr lang="bg-BG" sz="3000" b="1" dirty="0">
                <a:solidFill>
                  <a:schemeClr val="bg1"/>
                </a:solidFill>
              </a:rPr>
              <a:t>непозната страница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Непознати промени </a:t>
            </a:r>
            <a:r>
              <a:rPr lang="bg-BG" sz="3000" dirty="0"/>
              <a:t>в </a:t>
            </a:r>
            <a:r>
              <a:rPr lang="bg-BG" sz="3000" b="1" dirty="0"/>
              <a:t>съдържанието</a:t>
            </a:r>
          </a:p>
          <a:p>
            <a:r>
              <a:rPr lang="bg-BG" sz="3000" b="1" dirty="0"/>
              <a:t>Голям брой </a:t>
            </a:r>
            <a:r>
              <a:rPr lang="bg-BG" sz="3000" b="1" dirty="0">
                <a:solidFill>
                  <a:schemeClr val="bg1"/>
                </a:solidFill>
              </a:rPr>
              <a:t>неуспешни опити </a:t>
            </a:r>
            <a:r>
              <a:rPr lang="bg-BG" sz="3000" dirty="0"/>
              <a:t>за </a:t>
            </a:r>
            <a:r>
              <a:rPr lang="bg-BG" sz="3000" b="1" dirty="0"/>
              <a:t>вход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41EB79-1C6C-F8F6-62D7-603A01B3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Разпознаване на проблем</a:t>
            </a:r>
            <a:endParaRPr lang="en-BG" dirty="0"/>
          </a:p>
        </p:txBody>
      </p:sp>
      <p:pic>
        <p:nvPicPr>
          <p:cNvPr id="5" name="Picture 4" descr="3d_cybersecurity_warning_dashboard.png">
            <a:extLst>
              <a:ext uri="{FF2B5EF4-FFF2-40B4-BE49-F238E27FC236}">
                <a16:creationId xmlns:a16="http://schemas.microsoft.com/office/drawing/2014/main" id="{47BF01B3-139E-3EC7-9BF3-E339163AE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216" b="6256"/>
          <a:stretch/>
        </p:blipFill>
        <p:spPr>
          <a:xfrm>
            <a:off x="7251563" y="2760487"/>
            <a:ext cx="4501467" cy="389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1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Данни, настройки и проследяване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4400" dirty="0"/>
              <a:t>​</a:t>
            </a:r>
            <a:r>
              <a:rPr lang="bg-BG" sz="4400" b="1" dirty="0"/>
              <a:t>Бисквитки и </a:t>
            </a:r>
            <a:r>
              <a:rPr lang="bg-BG" sz="4400" dirty="0"/>
              <a:t>​​​</a:t>
            </a:r>
            <a:r>
              <a:rPr lang="bg-BG" sz="4400" b="1" dirty="0"/>
              <a:t>уеб маяци</a:t>
            </a:r>
          </a:p>
        </p:txBody>
      </p:sp>
      <p:pic>
        <p:nvPicPr>
          <p:cNvPr id="2" name="Picture 1" descr="cookie_tracking_beacon_icon.png">
            <a:extLst>
              <a:ext uri="{FF2B5EF4-FFF2-40B4-BE49-F238E27FC236}">
                <a16:creationId xmlns:a16="http://schemas.microsoft.com/office/drawing/2014/main" id="{75AF0BF0-9B9A-BC1D-1DEF-30FD56733B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6" b="15278"/>
          <a:stretch/>
        </p:blipFill>
        <p:spPr>
          <a:xfrm>
            <a:off x="4476000" y="1269000"/>
            <a:ext cx="3240000" cy="26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020598" cy="5528766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HTTP </a:t>
            </a:r>
            <a:r>
              <a:rPr lang="bg-BG" sz="3000" b="1" dirty="0">
                <a:solidFill>
                  <a:schemeClr val="bg1"/>
                </a:solidFill>
              </a:rPr>
              <a:t>бисквитки </a:t>
            </a:r>
            <a:r>
              <a:rPr lang="en-GB" sz="3000" dirty="0"/>
              <a:t>–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малки файлове </a:t>
            </a:r>
            <a:r>
              <a:rPr lang="bg-BG" sz="3000" dirty="0"/>
              <a:t>с </a:t>
            </a:r>
            <a:r>
              <a:rPr lang="bg-BG" sz="3000" b="1" dirty="0">
                <a:solidFill>
                  <a:schemeClr val="bg1"/>
                </a:solidFill>
              </a:rPr>
              <a:t>данни</a:t>
            </a:r>
            <a:r>
              <a:rPr lang="bg-BG" sz="3000" dirty="0"/>
              <a:t>, които </a:t>
            </a:r>
            <a:r>
              <a:rPr lang="bg-BG" sz="3000" b="1" dirty="0"/>
              <a:t>уеб сайтът записва </a:t>
            </a:r>
            <a:r>
              <a:rPr lang="bg-BG" sz="3000" dirty="0"/>
              <a:t>в </a:t>
            </a:r>
            <a:r>
              <a:rPr lang="bg-BG" sz="3000" b="1" dirty="0"/>
              <a:t>браузъра</a:t>
            </a:r>
          </a:p>
          <a:p>
            <a:pPr lvl="1"/>
            <a:r>
              <a:rPr lang="bg-BG" sz="2800" dirty="0"/>
              <a:t>Използват се за </a:t>
            </a:r>
            <a:r>
              <a:rPr lang="bg-BG" sz="2800" b="1" dirty="0"/>
              <a:t>вход</a:t>
            </a:r>
            <a:r>
              <a:rPr lang="bg-BG" sz="2800" dirty="0"/>
              <a:t>, </a:t>
            </a:r>
            <a:r>
              <a:rPr lang="bg-BG" sz="2800" b="1" dirty="0"/>
              <a:t>предпочитан език</a:t>
            </a:r>
            <a:r>
              <a:rPr lang="bg-BG" sz="2800" dirty="0"/>
              <a:t>, </a:t>
            </a:r>
            <a:r>
              <a:rPr lang="bg-BG" sz="2800" b="1" dirty="0"/>
              <a:t>настройки</a:t>
            </a:r>
            <a:r>
              <a:rPr lang="bg-BG" sz="2800" dirty="0"/>
              <a:t> и т.н.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Помагат работата </a:t>
            </a:r>
            <a:r>
              <a:rPr lang="bg-BG" sz="2800" dirty="0"/>
              <a:t>на </a:t>
            </a:r>
            <a:r>
              <a:rPr lang="bg-BG" sz="2800" b="1" dirty="0"/>
              <a:t>уеб сайта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персонализирането</a:t>
            </a:r>
            <a:r>
              <a:rPr lang="bg-BG" sz="2800" dirty="0"/>
              <a:t> на </a:t>
            </a:r>
            <a:r>
              <a:rPr lang="bg-BG" sz="2800" b="1" dirty="0"/>
              <a:t>съдържанието</a:t>
            </a:r>
          </a:p>
          <a:p>
            <a:pPr lvl="1"/>
            <a:r>
              <a:rPr lang="bg-BG" sz="2800" dirty="0"/>
              <a:t>Част от тях са </a:t>
            </a:r>
            <a:r>
              <a:rPr lang="bg-BG" sz="2800" b="1" dirty="0">
                <a:solidFill>
                  <a:schemeClr val="bg1"/>
                </a:solidFill>
              </a:rPr>
              <a:t>необходими</a:t>
            </a:r>
            <a:r>
              <a:rPr lang="bg-BG" sz="2800" dirty="0"/>
              <a:t>, а други се използват за </a:t>
            </a:r>
            <a:r>
              <a:rPr lang="bg-BG" sz="2800" b="1" dirty="0"/>
              <a:t>статистика</a:t>
            </a:r>
            <a:r>
              <a:rPr lang="bg-BG" sz="2800" dirty="0"/>
              <a:t> и </a:t>
            </a:r>
            <a:r>
              <a:rPr lang="bg-BG" sz="2800" b="1" dirty="0"/>
              <a:t>маркетинг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Бисквитки </a:t>
            </a:r>
            <a:r>
              <a:rPr lang="en-US" dirty="0"/>
              <a:t>(Cookies)</a:t>
            </a:r>
          </a:p>
        </p:txBody>
      </p:sp>
      <p:pic>
        <p:nvPicPr>
          <p:cNvPr id="3" name="Picture 2" descr="glossy_cookie_browser_data_icon.png">
            <a:extLst>
              <a:ext uri="{FF2B5EF4-FFF2-40B4-BE49-F238E27FC236}">
                <a16:creationId xmlns:a16="http://schemas.microsoft.com/office/drawing/2014/main" id="{54522126-0944-541B-E7F2-DCE34FD4F8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94" b="5337"/>
          <a:stretch/>
        </p:blipFill>
        <p:spPr>
          <a:xfrm>
            <a:off x="6913711" y="3450366"/>
            <a:ext cx="4851319" cy="33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281BC8-DD59-53F3-7B4E-6E9C74C4C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69ECC-12C8-1C7C-FB43-9D5A732E1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985598" cy="5528766"/>
          </a:xfrm>
        </p:spPr>
        <p:txBody>
          <a:bodyPr>
            <a:normAutofit/>
          </a:bodyPr>
          <a:lstStyle/>
          <a:p>
            <a:r>
              <a:rPr lang="bg-BG" sz="2800" dirty="0"/>
              <a:t>Могат да се </a:t>
            </a:r>
            <a:r>
              <a:rPr lang="bg-BG" sz="2800" b="1" dirty="0"/>
              <a:t>използват</a:t>
            </a:r>
            <a:r>
              <a:rPr lang="bg-BG" sz="2800" dirty="0"/>
              <a:t> за </a:t>
            </a:r>
            <a:r>
              <a:rPr lang="bg-BG" sz="2800" b="1" dirty="0">
                <a:solidFill>
                  <a:schemeClr val="bg1"/>
                </a:solidFill>
              </a:rPr>
              <a:t>проследяване</a:t>
            </a:r>
            <a:r>
              <a:rPr lang="bg-BG" sz="2800" dirty="0"/>
              <a:t> на </a:t>
            </a:r>
            <a:r>
              <a:rPr lang="bg-BG" sz="2800" b="1" dirty="0"/>
              <a:t>поведението</a:t>
            </a:r>
            <a:r>
              <a:rPr lang="bg-BG" sz="2800" dirty="0"/>
              <a:t> на </a:t>
            </a:r>
            <a:r>
              <a:rPr lang="bg-BG" sz="2800" b="1" dirty="0"/>
              <a:t>потребителя</a:t>
            </a:r>
          </a:p>
          <a:p>
            <a:r>
              <a:rPr lang="bg-BG" sz="2800" dirty="0"/>
              <a:t>Могат да </a:t>
            </a:r>
            <a:r>
              <a:rPr lang="bg-BG" sz="2800" b="1" dirty="0">
                <a:solidFill>
                  <a:schemeClr val="bg1"/>
                </a:solidFill>
              </a:rPr>
              <a:t>запомнят временно </a:t>
            </a:r>
            <a:r>
              <a:rPr lang="bg-BG" sz="2800" b="1" dirty="0"/>
              <a:t>входа </a:t>
            </a:r>
            <a:r>
              <a:rPr lang="bg-BG" sz="2800" dirty="0"/>
              <a:t>в </a:t>
            </a:r>
            <a:r>
              <a:rPr lang="bg-BG" sz="2800" b="1" dirty="0"/>
              <a:t>профил</a:t>
            </a:r>
            <a:r>
              <a:rPr lang="bg-BG" sz="2800" dirty="0"/>
              <a:t> и </a:t>
            </a:r>
            <a:r>
              <a:rPr lang="bg-BG" sz="2800" b="1" dirty="0"/>
              <a:t>действията</a:t>
            </a:r>
            <a:r>
              <a:rPr lang="bg-BG" sz="2800" dirty="0"/>
              <a:t> на </a:t>
            </a:r>
            <a:r>
              <a:rPr lang="bg-BG" sz="2800" b="1" dirty="0"/>
              <a:t>потребителя</a:t>
            </a:r>
          </a:p>
          <a:p>
            <a:r>
              <a:rPr lang="bg-BG" sz="2800" dirty="0"/>
              <a:t>При </a:t>
            </a:r>
            <a:r>
              <a:rPr lang="bg-BG" sz="2800" b="1" dirty="0">
                <a:solidFill>
                  <a:schemeClr val="bg1"/>
                </a:solidFill>
              </a:rPr>
              <a:t>злоупотреба</a:t>
            </a:r>
            <a:r>
              <a:rPr lang="bg-BG" sz="2800" dirty="0"/>
              <a:t> с </a:t>
            </a:r>
            <a:r>
              <a:rPr lang="bg-BG" sz="2800" b="1" dirty="0"/>
              <a:t>временни данни </a:t>
            </a:r>
            <a:r>
              <a:rPr lang="bg-BG" sz="2800" dirty="0"/>
              <a:t>е възможен </a:t>
            </a:r>
            <a:r>
              <a:rPr lang="bg-BG" sz="2800" b="1" dirty="0">
                <a:solidFill>
                  <a:schemeClr val="bg1"/>
                </a:solidFill>
              </a:rPr>
              <a:t>неправомерен достъп</a:t>
            </a:r>
          </a:p>
          <a:p>
            <a:r>
              <a:rPr lang="bg-BG" sz="2800" dirty="0"/>
              <a:t>Необходимо е </a:t>
            </a:r>
            <a:r>
              <a:rPr lang="bg-BG" sz="2800" b="1" dirty="0">
                <a:solidFill>
                  <a:schemeClr val="bg1"/>
                </a:solidFill>
              </a:rPr>
              <a:t>ясно уведомяване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правилно управление </a:t>
            </a:r>
            <a:r>
              <a:rPr lang="bg-BG" sz="2800" dirty="0"/>
              <a:t>на </a:t>
            </a:r>
            <a:r>
              <a:rPr lang="bg-BG" sz="2800" b="1" dirty="0"/>
              <a:t>бисквитките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C158E1-FB30-94D6-9CDB-B70C947D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Рискове при бисквитките</a:t>
            </a:r>
            <a:endParaRPr lang="en-BG" dirty="0"/>
          </a:p>
        </p:txBody>
      </p:sp>
      <p:pic>
        <p:nvPicPr>
          <p:cNvPr id="5" name="Picture 4" descr="glossy_3d_cookie_tracking_analytics_icon.png">
            <a:extLst>
              <a:ext uri="{FF2B5EF4-FFF2-40B4-BE49-F238E27FC236}">
                <a16:creationId xmlns:a16="http://schemas.microsoft.com/office/drawing/2014/main" id="{920351AB-5A0C-5DBB-83D2-369F537370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644" b="6998"/>
          <a:stretch/>
        </p:blipFill>
        <p:spPr>
          <a:xfrm>
            <a:off x="7176000" y="3051488"/>
            <a:ext cx="4322957" cy="37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5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A7BFCC-AFD8-F20E-5F86-75BAE0FBF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AC4A-0229-9470-194D-63FF6497D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dirty="0"/>
              <a:t>Може да открием </a:t>
            </a:r>
            <a:r>
              <a:rPr lang="bg-BG" sz="3000" b="1" dirty="0"/>
              <a:t>бисквитките </a:t>
            </a:r>
            <a:r>
              <a:rPr lang="bg-BG" sz="3000" dirty="0"/>
              <a:t>в</a:t>
            </a:r>
            <a:r>
              <a:rPr lang="en-US" sz="3000" dirty="0"/>
              <a:t>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Developer Tools</a:t>
            </a:r>
            <a:r>
              <a:rPr lang="en-US" sz="3000" b="1" dirty="0"/>
              <a:t>] →</a:t>
            </a:r>
            <a:r>
              <a:rPr lang="bg-BG" sz="3000" b="1" dirty="0"/>
              <a:t>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Application</a:t>
            </a:r>
            <a:r>
              <a:rPr lang="en-US" sz="3000" b="1" dirty="0"/>
              <a:t>]</a:t>
            </a:r>
            <a:endParaRPr lang="en-BG" sz="3000" b="1" dirty="0"/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ADB897-00EF-0434-9295-622B4ACB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Бисквитки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C7BC8-FEA4-76B4-C4FF-BE7062103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62" y="3343934"/>
            <a:ext cx="4140000" cy="248121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CDB227-FCBF-96FB-7B75-F3B0A3DF1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522" y="2581595"/>
            <a:ext cx="6755277" cy="4005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992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4AC4C-1B87-8C2D-2523-B4C6F9B20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98F24-CB3D-A8F3-BF2D-55A6D8FD0F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</a:rPr>
              <a:t>Уеб маяк </a:t>
            </a:r>
            <a:r>
              <a:rPr lang="en-GB" sz="3000" dirty="0"/>
              <a:t>–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малък графичен елемент </a:t>
            </a:r>
            <a:r>
              <a:rPr lang="bg-BG" sz="3000" dirty="0"/>
              <a:t>в </a:t>
            </a:r>
            <a:r>
              <a:rPr lang="bg-BG" sz="3000" b="1" dirty="0"/>
              <a:t>страница</a:t>
            </a:r>
            <a:r>
              <a:rPr lang="bg-BG" sz="3000" dirty="0"/>
              <a:t> или </a:t>
            </a:r>
            <a:r>
              <a:rPr lang="bg-BG" sz="3000" b="1" dirty="0"/>
              <a:t>имейл</a:t>
            </a:r>
          </a:p>
          <a:p>
            <a:pPr lvl="1"/>
            <a:r>
              <a:rPr lang="bg-BG" sz="2800" b="1" dirty="0"/>
              <a:t>Често</a:t>
            </a:r>
            <a:r>
              <a:rPr lang="bg-BG" sz="2800" dirty="0"/>
              <a:t> е </a:t>
            </a:r>
            <a:r>
              <a:rPr lang="bg-BG" sz="2800" b="1" dirty="0">
                <a:solidFill>
                  <a:schemeClr val="bg1"/>
                </a:solidFill>
              </a:rPr>
              <a:t>невидим за потребителя </a:t>
            </a:r>
            <a:r>
              <a:rPr lang="bg-BG" sz="2800" dirty="0"/>
              <a:t>и може да е с </a:t>
            </a:r>
            <a:r>
              <a:rPr lang="bg-BG" sz="2800" b="1" dirty="0"/>
              <a:t>размер </a:t>
            </a:r>
            <a:r>
              <a:rPr lang="bg-BG" sz="2800" b="1" dirty="0">
                <a:solidFill>
                  <a:schemeClr val="bg1"/>
                </a:solidFill>
              </a:rPr>
              <a:t>1×1</a:t>
            </a:r>
            <a:r>
              <a:rPr lang="bg-BG" sz="2800" b="1" dirty="0"/>
              <a:t> пиксела</a:t>
            </a:r>
          </a:p>
          <a:p>
            <a:pPr lvl="1"/>
            <a:r>
              <a:rPr lang="bg-BG" sz="2800" b="1" dirty="0"/>
              <a:t>Отчита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посещение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отваряне</a:t>
            </a:r>
            <a:r>
              <a:rPr lang="bg-BG" sz="2800" dirty="0"/>
              <a:t> или </a:t>
            </a:r>
            <a:r>
              <a:rPr lang="bg-BG" sz="2800" b="1" dirty="0"/>
              <a:t>друго действие</a:t>
            </a:r>
          </a:p>
          <a:p>
            <a:pPr lvl="1"/>
            <a:r>
              <a:rPr lang="bg-BG" sz="2800" b="1" dirty="0"/>
              <a:t>Използва се </a:t>
            </a:r>
            <a:r>
              <a:rPr lang="bg-BG" sz="2800" dirty="0"/>
              <a:t>за </a:t>
            </a:r>
            <a:r>
              <a:rPr lang="bg-BG" sz="2800" b="1" dirty="0">
                <a:solidFill>
                  <a:schemeClr val="bg1"/>
                </a:solidFill>
              </a:rPr>
              <a:t>статистика</a:t>
            </a:r>
            <a:r>
              <a:rPr lang="bg-BG" sz="2800" dirty="0"/>
              <a:t>, но може да служи и за </a:t>
            </a:r>
            <a:r>
              <a:rPr lang="bg-BG" sz="2800" b="1" dirty="0"/>
              <a:t>проследяване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3AA3F7-D2F1-7482-AFB5-778F3BAE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Уеб маяци </a:t>
            </a:r>
            <a:r>
              <a:rPr lang="en-US" dirty="0"/>
              <a:t>(</a:t>
            </a:r>
            <a:r>
              <a:rPr lang="en-GB" dirty="0"/>
              <a:t>Web beacon)</a:t>
            </a:r>
            <a:endParaRPr lang="en-BG" dirty="0"/>
          </a:p>
        </p:txBody>
      </p:sp>
      <p:pic>
        <p:nvPicPr>
          <p:cNvPr id="5" name="Picture 4" descr="web_tracking_pixel_analytics_illustration.png">
            <a:extLst>
              <a:ext uri="{FF2B5EF4-FFF2-40B4-BE49-F238E27FC236}">
                <a16:creationId xmlns:a16="http://schemas.microsoft.com/office/drawing/2014/main" id="{45E88106-CCD7-378C-CEC9-7A1BB7F33A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059" b="6521"/>
          <a:stretch/>
        </p:blipFill>
        <p:spPr>
          <a:xfrm>
            <a:off x="3652425" y="3715957"/>
            <a:ext cx="4638583" cy="304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2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A7BFCC-AFD8-F20E-5F86-75BAE0FBF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AC4A-0229-9470-194D-63FF6497D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Може да открием </a:t>
            </a:r>
            <a:r>
              <a:rPr lang="bg-BG" sz="3000" b="1" dirty="0"/>
              <a:t>уеб маяците </a:t>
            </a:r>
            <a:r>
              <a:rPr lang="bg-BG" sz="3000" dirty="0"/>
              <a:t>в</a:t>
            </a:r>
            <a:r>
              <a:rPr lang="en-US" sz="3000" dirty="0"/>
              <a:t>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Developer Tools</a:t>
            </a:r>
            <a:r>
              <a:rPr lang="en-US" sz="3000" b="1" dirty="0"/>
              <a:t>] →</a:t>
            </a:r>
            <a:r>
              <a:rPr lang="bg-BG" sz="3000" b="1" dirty="0"/>
              <a:t>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Network</a:t>
            </a:r>
            <a:r>
              <a:rPr lang="en-US" sz="3000" b="1" dirty="0"/>
              <a:t>]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ADB897-00EF-0434-9295-622B4ACB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Уеб маяци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8D6ACA-F0E4-4EE9-6AA3-3B12E5BB3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203" y="1968524"/>
            <a:ext cx="7257593" cy="466824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044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Проверка, криптиране и допълнителни инструменти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​​​Средства за защита</a:t>
            </a:r>
            <a:endParaRPr lang="en-GB" sz="6000" dirty="0"/>
          </a:p>
        </p:txBody>
      </p:sp>
      <p:pic>
        <p:nvPicPr>
          <p:cNvPr id="2" name="Picture 1" descr="glossy_3d_cybersecurity_shield_collage.png">
            <a:extLst>
              <a:ext uri="{FF2B5EF4-FFF2-40B4-BE49-F238E27FC236}">
                <a16:creationId xmlns:a16="http://schemas.microsoft.com/office/drawing/2014/main" id="{B7DC1A60-EDE5-CD07-25E6-0423E7D424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46" b="6155"/>
          <a:stretch/>
        </p:blipFill>
        <p:spPr>
          <a:xfrm>
            <a:off x="4566000" y="1385090"/>
            <a:ext cx="2925000" cy="253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4AC4C-1B87-8C2D-2523-B4C6F9B20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98F24-CB3D-A8F3-BF2D-55A6D8FD0F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G" sz="3000" b="1" dirty="0">
                <a:solidFill>
                  <a:schemeClr val="bg1"/>
                </a:solidFill>
              </a:rPr>
              <a:t>CAPTCHA</a:t>
            </a:r>
            <a:r>
              <a:rPr lang="en-BG" sz="3000" dirty="0"/>
              <a:t> </a:t>
            </a:r>
            <a:r>
              <a:rPr lang="bg-BG" sz="3000" dirty="0"/>
              <a:t>проверява </a:t>
            </a:r>
            <a:r>
              <a:rPr lang="bg-BG" sz="3000" b="1" dirty="0"/>
              <a:t>дали </a:t>
            </a:r>
            <a:r>
              <a:rPr lang="bg-BG" sz="3000" b="1" dirty="0">
                <a:solidFill>
                  <a:schemeClr val="bg1"/>
                </a:solidFill>
              </a:rPr>
              <a:t>действието</a:t>
            </a:r>
            <a:r>
              <a:rPr lang="bg-BG" sz="3000" b="1" dirty="0"/>
              <a:t> се извършва </a:t>
            </a:r>
            <a:r>
              <a:rPr lang="bg-BG" sz="3000" dirty="0"/>
              <a:t>от </a:t>
            </a:r>
            <a:r>
              <a:rPr lang="bg-BG" sz="3000" b="1" dirty="0">
                <a:solidFill>
                  <a:schemeClr val="bg1"/>
                </a:solidFill>
              </a:rPr>
              <a:t>човек</a:t>
            </a:r>
          </a:p>
          <a:p>
            <a:pPr lvl="1"/>
            <a:r>
              <a:rPr lang="bg-BG" sz="2800" b="1" dirty="0"/>
              <a:t>Използва се </a:t>
            </a:r>
            <a:r>
              <a:rPr lang="bg-BG" sz="2800" dirty="0"/>
              <a:t>при </a:t>
            </a:r>
            <a:r>
              <a:rPr lang="bg-BG" sz="2800" b="1" dirty="0">
                <a:solidFill>
                  <a:schemeClr val="bg1"/>
                </a:solidFill>
              </a:rPr>
              <a:t>вход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регистрация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коментари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форми</a:t>
            </a:r>
          </a:p>
          <a:p>
            <a:pPr lvl="1"/>
            <a:r>
              <a:rPr lang="bg-BG" sz="2800" b="1" dirty="0"/>
              <a:t>Намалява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автоматизирания спам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масовите опити </a:t>
            </a:r>
            <a:r>
              <a:rPr lang="bg-BG" sz="2800" dirty="0"/>
              <a:t>за </a:t>
            </a:r>
            <a:r>
              <a:rPr lang="bg-BG" sz="2800" b="1" dirty="0"/>
              <a:t>злоупотреба</a:t>
            </a:r>
          </a:p>
          <a:p>
            <a:pPr lvl="1"/>
            <a:r>
              <a:rPr lang="bg-BG" sz="2800" b="1" dirty="0"/>
              <a:t>Подпомага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защитата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публичните форми </a:t>
            </a:r>
            <a:r>
              <a:rPr lang="bg-BG" sz="2800" dirty="0"/>
              <a:t>в </a:t>
            </a:r>
            <a:r>
              <a:rPr lang="bg-BG" sz="2800" b="1" dirty="0"/>
              <a:t>уеб сайта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3AA3F7-D2F1-7482-AFB5-778F3BAE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C</a:t>
            </a:r>
            <a:r>
              <a:rPr lang="en-US" dirty="0"/>
              <a:t>APTCHA</a:t>
            </a:r>
            <a:endParaRPr lang="en-BG" dirty="0"/>
          </a:p>
        </p:txBody>
      </p:sp>
      <p:pic>
        <p:nvPicPr>
          <p:cNvPr id="6" name="Picture 5" descr="captcha_shield_humans_in_bots_blocked.png">
            <a:extLst>
              <a:ext uri="{FF2B5EF4-FFF2-40B4-BE49-F238E27FC236}">
                <a16:creationId xmlns:a16="http://schemas.microsoft.com/office/drawing/2014/main" id="{775A4B5F-320A-50A1-E6B1-15557CB747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33" b="4270"/>
          <a:stretch/>
        </p:blipFill>
        <p:spPr>
          <a:xfrm>
            <a:off x="3728370" y="3526152"/>
            <a:ext cx="4735260" cy="32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0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1C98FB-3850-716D-1B38-32490AA72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81462E-C149-1B30-38C0-BD75B3EF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CAPTCHA 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B01DF-87C8-B5F0-A1B3-78DED591C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3411080"/>
            <a:ext cx="4334105" cy="10506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1EA095-9E11-DE31-F15B-3D4905734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895" y="3411080"/>
            <a:ext cx="4334105" cy="10506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54551DC-EF40-C5DD-58A1-5A047C649D48}"/>
              </a:ext>
            </a:extLst>
          </p:cNvPr>
          <p:cNvSpPr/>
          <p:nvPr/>
        </p:nvSpPr>
        <p:spPr>
          <a:xfrm>
            <a:off x="5468336" y="3403053"/>
            <a:ext cx="1255328" cy="105069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93773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F67C9-3795-19C1-3300-7591BDC81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071D1-D902-6AC5-AD09-05E08F256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000" b="1" dirty="0">
                <a:solidFill>
                  <a:schemeClr val="bg1"/>
                </a:solidFill>
              </a:rPr>
              <a:t>SSL/TLS </a:t>
            </a:r>
            <a:r>
              <a:rPr lang="bg-BG" sz="3000" b="1" dirty="0">
                <a:solidFill>
                  <a:schemeClr val="bg1"/>
                </a:solidFill>
              </a:rPr>
              <a:t>сертификатът </a:t>
            </a:r>
            <a:r>
              <a:rPr lang="bg-BG" sz="3000" b="1" dirty="0"/>
              <a:t>удостоверява</a:t>
            </a:r>
            <a:r>
              <a:rPr lang="bg-BG" sz="3000" dirty="0"/>
              <a:t> </a:t>
            </a:r>
            <a:r>
              <a:rPr lang="bg-BG" sz="3000" b="1" dirty="0"/>
              <a:t>самоличността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b="1" dirty="0"/>
              <a:t>Осигурява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защитена връзка </a:t>
            </a:r>
            <a:r>
              <a:rPr lang="bg-BG" sz="3000" dirty="0"/>
              <a:t>между </a:t>
            </a:r>
            <a:r>
              <a:rPr lang="bg-BG" sz="3000" b="1" dirty="0"/>
              <a:t>браузъра</a:t>
            </a:r>
            <a:r>
              <a:rPr lang="bg-BG" sz="3000" dirty="0"/>
              <a:t> и </a:t>
            </a:r>
            <a:r>
              <a:rPr lang="bg-BG" sz="3000" b="1" dirty="0"/>
              <a:t>сървъра</a:t>
            </a:r>
          </a:p>
          <a:p>
            <a:r>
              <a:rPr lang="bg-BG" sz="3000" dirty="0"/>
              <a:t>При </a:t>
            </a:r>
            <a:r>
              <a:rPr lang="bg-BG" sz="3000" b="1" dirty="0"/>
              <a:t>защитена връзка </a:t>
            </a:r>
            <a:r>
              <a:rPr lang="bg-BG" sz="3000" b="1" dirty="0">
                <a:solidFill>
                  <a:schemeClr val="bg1"/>
                </a:solidFill>
              </a:rPr>
              <a:t>адресът</a:t>
            </a:r>
            <a:r>
              <a:rPr lang="bg-BG" sz="3000" dirty="0"/>
              <a:t> </a:t>
            </a:r>
            <a:r>
              <a:rPr lang="bg-BG" sz="3000" b="1" dirty="0"/>
              <a:t>започва</a:t>
            </a:r>
            <a:r>
              <a:rPr lang="bg-BG" sz="3000" dirty="0"/>
              <a:t> с </a:t>
            </a:r>
            <a:r>
              <a:rPr lang="en-GB" sz="3000" b="1" dirty="0">
                <a:solidFill>
                  <a:schemeClr val="bg1"/>
                </a:solidFill>
              </a:rPr>
              <a:t>HTTPS</a:t>
            </a:r>
          </a:p>
          <a:p>
            <a:r>
              <a:rPr lang="bg-BG" sz="3000" b="1" dirty="0"/>
              <a:t>Данните</a:t>
            </a:r>
            <a:r>
              <a:rPr lang="bg-BG" sz="3000" dirty="0"/>
              <a:t> се </a:t>
            </a:r>
            <a:r>
              <a:rPr lang="bg-BG" sz="3000" b="1" dirty="0"/>
              <a:t>предават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криптирано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0B21C6-A4BD-2FBA-74DB-E3A608A2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Сертификат за сигурност</a:t>
            </a:r>
            <a:endParaRPr lang="en-BG" dirty="0"/>
          </a:p>
        </p:txBody>
      </p:sp>
      <p:pic>
        <p:nvPicPr>
          <p:cNvPr id="5" name="Picture 4" descr="glossy_https_security_illustration.png">
            <a:extLst>
              <a:ext uri="{FF2B5EF4-FFF2-40B4-BE49-F238E27FC236}">
                <a16:creationId xmlns:a16="http://schemas.microsoft.com/office/drawing/2014/main" id="{B7550F60-E421-6F78-7888-65B65A1F6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1000" y="3631500"/>
            <a:ext cx="4230000" cy="31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6D372F-1981-A508-481F-4E2A132CB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FE70C-0CB7-EC12-ECD6-12DE01876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900" dirty="0"/>
              <a:t>Може да открием </a:t>
            </a:r>
            <a:r>
              <a:rPr lang="en-US" sz="2900" b="1" dirty="0"/>
              <a:t>HTTPS</a:t>
            </a:r>
            <a:r>
              <a:rPr lang="en-US" sz="2900" dirty="0"/>
              <a:t> </a:t>
            </a:r>
            <a:r>
              <a:rPr lang="bg-BG" sz="2900" b="1" dirty="0"/>
              <a:t>сертификатът </a:t>
            </a:r>
            <a:r>
              <a:rPr lang="bg-BG" sz="2900" dirty="0"/>
              <a:t>в</a:t>
            </a:r>
            <a:r>
              <a:rPr lang="en-US" sz="2900" dirty="0"/>
              <a:t>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Developer Tools</a:t>
            </a:r>
            <a:r>
              <a:rPr lang="en-US" sz="2900" b="1" dirty="0"/>
              <a:t>] →</a:t>
            </a:r>
            <a:r>
              <a:rPr lang="bg-BG" sz="2900" b="1" dirty="0"/>
              <a:t>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Security</a:t>
            </a:r>
            <a:r>
              <a:rPr lang="en-US" sz="2900" b="1" dirty="0"/>
              <a:t>]</a:t>
            </a:r>
            <a:endParaRPr lang="en-BG" sz="2900" b="1" dirty="0"/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15905A-23C4-2860-AD84-53869675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Сертификат за сигурност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AE777-60A8-6C0B-DAD4-9AAEF2E7B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27" y="1894220"/>
            <a:ext cx="8460000" cy="47612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661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93DB98-49A5-34A6-4296-9B4D304F4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7BDF7-9067-DD4F-6404-95409C13BC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/>
              <a:t>Защитената връзка </a:t>
            </a:r>
            <a:r>
              <a:rPr lang="bg-BG" sz="3000" dirty="0"/>
              <a:t>използва </a:t>
            </a:r>
            <a:r>
              <a:rPr lang="bg-BG" sz="3000" b="1" dirty="0">
                <a:solidFill>
                  <a:schemeClr val="bg1"/>
                </a:solidFill>
              </a:rPr>
              <a:t>двойка ключове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Публичният ключ </a:t>
            </a:r>
            <a:r>
              <a:rPr lang="bg-BG" sz="3000" dirty="0"/>
              <a:t>може </a:t>
            </a:r>
            <a:r>
              <a:rPr lang="bg-BG" sz="3000" b="1" dirty="0"/>
              <a:t>да бъде </a:t>
            </a:r>
            <a:r>
              <a:rPr lang="bg-BG" sz="3000" b="1" dirty="0">
                <a:solidFill>
                  <a:schemeClr val="bg1"/>
                </a:solidFill>
              </a:rPr>
              <a:t>споделян</a:t>
            </a:r>
            <a:r>
              <a:rPr lang="bg-BG" sz="3000" dirty="0"/>
              <a:t> и </a:t>
            </a:r>
            <a:r>
              <a:rPr lang="bg-BG" sz="3000" b="1" dirty="0"/>
              <a:t>служи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криптиране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Частният ключ </a:t>
            </a:r>
            <a:r>
              <a:rPr lang="bg-BG" sz="3000" dirty="0"/>
              <a:t>се </a:t>
            </a:r>
            <a:r>
              <a:rPr lang="bg-BG" sz="3000" b="1" dirty="0"/>
              <a:t>пази</a:t>
            </a:r>
            <a:r>
              <a:rPr lang="bg-BG" sz="3000" dirty="0"/>
              <a:t> от </a:t>
            </a:r>
            <a:r>
              <a:rPr lang="bg-BG" sz="3000" b="1" dirty="0">
                <a:solidFill>
                  <a:schemeClr val="bg1"/>
                </a:solidFill>
              </a:rPr>
              <a:t>сървъра</a:t>
            </a:r>
            <a:r>
              <a:rPr lang="bg-BG" sz="3000" dirty="0"/>
              <a:t> и </a:t>
            </a:r>
            <a:r>
              <a:rPr lang="bg-BG" sz="3000" b="1" dirty="0"/>
              <a:t>служи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разшифроване</a:t>
            </a:r>
          </a:p>
          <a:p>
            <a:r>
              <a:rPr lang="bg-BG" sz="3000" dirty="0"/>
              <a:t>Този </a:t>
            </a:r>
            <a:r>
              <a:rPr lang="bg-BG" sz="3000" b="1" dirty="0"/>
              <a:t>механизъм</a:t>
            </a:r>
            <a:r>
              <a:rPr lang="bg-BG" sz="3000" dirty="0"/>
              <a:t> подпомага </a:t>
            </a:r>
            <a:r>
              <a:rPr lang="bg-BG" sz="3000" b="1" dirty="0">
                <a:solidFill>
                  <a:schemeClr val="bg1"/>
                </a:solidFill>
              </a:rPr>
              <a:t>сигурния обмен </a:t>
            </a:r>
            <a:r>
              <a:rPr lang="bg-BG" sz="3000" dirty="0"/>
              <a:t>на </a:t>
            </a:r>
            <a:r>
              <a:rPr lang="bg-BG" sz="3000" b="1" dirty="0"/>
              <a:t>данни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261694-22AB-5F8C-829B-2E38A385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Публичен ключ и частен ключ</a:t>
            </a:r>
            <a:endParaRPr lang="en-BG" dirty="0"/>
          </a:p>
        </p:txBody>
      </p:sp>
      <p:pic>
        <p:nvPicPr>
          <p:cNvPr id="5" name="Picture 4" descr="glossy_3d_https_security_illustration.png">
            <a:extLst>
              <a:ext uri="{FF2B5EF4-FFF2-40B4-BE49-F238E27FC236}">
                <a16:creationId xmlns:a16="http://schemas.microsoft.com/office/drawing/2014/main" id="{B351CE41-A534-6F29-32FA-113FF8F88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445"/>
          <a:stretch/>
        </p:blipFill>
        <p:spPr>
          <a:xfrm>
            <a:off x="4173381" y="3475750"/>
            <a:ext cx="3845238" cy="332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6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00021-BBCA-1983-D8A8-888E67C07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D4CF5-822F-FD95-B9B5-9466E98E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Публичен ключ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B01DF-3FE9-DEEF-ADDF-EF040EEA4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000" y="1298384"/>
            <a:ext cx="4184692" cy="5229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C61C4FC-F555-5D98-2DB6-17D5DC72D24C}"/>
              </a:ext>
            </a:extLst>
          </p:cNvPr>
          <p:cNvSpPr/>
          <p:nvPr/>
        </p:nvSpPr>
        <p:spPr bwMode="auto">
          <a:xfrm>
            <a:off x="7581000" y="2169000"/>
            <a:ext cx="3967211" cy="1440000"/>
          </a:xfrm>
          <a:prstGeom prst="wedgeRoundRectCallout">
            <a:avLst>
              <a:gd name="adj1" fmla="val -64470"/>
              <a:gd name="adj2" fmla="val 1827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Това е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публичният ключ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включен в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сертификата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уеб сайта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279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Разширяване на защитата на уеб сайта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3600" dirty="0"/>
              <a:t>Допълнителна функционалност (</a:t>
            </a:r>
            <a:r>
              <a:rPr lang="en-GB" sz="3600" dirty="0"/>
              <a:t>Plug-in) </a:t>
            </a:r>
            <a:r>
              <a:rPr lang="bg-BG" sz="3600" dirty="0"/>
              <a:t>за защита</a:t>
            </a:r>
            <a:endParaRPr lang="en-GB" sz="3600" dirty="0"/>
          </a:p>
        </p:txBody>
      </p:sp>
      <p:pic>
        <p:nvPicPr>
          <p:cNvPr id="3" name="Picture 2" descr="glossy_cybersecurity_plugin_dashboard.png">
            <a:extLst>
              <a:ext uri="{FF2B5EF4-FFF2-40B4-BE49-F238E27FC236}">
                <a16:creationId xmlns:a16="http://schemas.microsoft.com/office/drawing/2014/main" id="{64AA1DB9-A73B-36D0-BD43-AD478440EF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63" b="6250"/>
          <a:stretch/>
        </p:blipFill>
        <p:spPr>
          <a:xfrm>
            <a:off x="4656000" y="1269000"/>
            <a:ext cx="2880000" cy="24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6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E4547-3E10-31DE-E8AE-22D1D266F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E0D04-9113-DCFE-6C90-0F30E8527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600" b="1" dirty="0">
                <a:solidFill>
                  <a:schemeClr val="bg1"/>
                </a:solidFill>
              </a:rPr>
              <a:t>Добавката</a:t>
            </a:r>
            <a:r>
              <a:rPr lang="bg-BG" sz="2600" dirty="0"/>
              <a:t> </a:t>
            </a:r>
            <a:r>
              <a:rPr lang="bg-BG" sz="2600" b="1" dirty="0"/>
              <a:t>разширява възможностите </a:t>
            </a:r>
            <a:r>
              <a:rPr lang="bg-BG" sz="2600" dirty="0"/>
              <a:t>на </a:t>
            </a:r>
            <a:r>
              <a:rPr lang="bg-BG" sz="2600" b="1" dirty="0"/>
              <a:t>уеб сайта </a:t>
            </a:r>
            <a:r>
              <a:rPr lang="bg-BG" sz="2600" dirty="0"/>
              <a:t>с </a:t>
            </a:r>
            <a:r>
              <a:rPr lang="bg-BG" sz="2600" b="1" dirty="0">
                <a:solidFill>
                  <a:schemeClr val="bg1"/>
                </a:solidFill>
              </a:rPr>
              <a:t>допълнителна защита</a:t>
            </a:r>
          </a:p>
          <a:p>
            <a:r>
              <a:rPr lang="bg-BG" sz="2600" dirty="0"/>
              <a:t>Може да </a:t>
            </a:r>
            <a:r>
              <a:rPr lang="bg-BG" sz="2600" b="1" dirty="0"/>
              <a:t>добавя</a:t>
            </a:r>
            <a:r>
              <a:rPr lang="bg-BG" sz="2600" dirty="0"/>
              <a:t> </a:t>
            </a:r>
            <a:r>
              <a:rPr lang="en-GB" sz="2600" b="1" dirty="0">
                <a:solidFill>
                  <a:schemeClr val="bg1"/>
                </a:solidFill>
              </a:rPr>
              <a:t>CAPTCHA</a:t>
            </a:r>
            <a:r>
              <a:rPr lang="en-GB" sz="2600" dirty="0"/>
              <a:t>, </a:t>
            </a:r>
            <a:r>
              <a:rPr lang="bg-BG" sz="2600" b="1" dirty="0">
                <a:solidFill>
                  <a:schemeClr val="bg1"/>
                </a:solidFill>
              </a:rPr>
              <a:t>ограничаване</a:t>
            </a:r>
            <a:r>
              <a:rPr lang="bg-BG" sz="2600" dirty="0"/>
              <a:t> </a:t>
            </a:r>
            <a:r>
              <a:rPr lang="bg-BG" sz="2600" b="1" dirty="0">
                <a:solidFill>
                  <a:schemeClr val="bg1"/>
                </a:solidFill>
              </a:rPr>
              <a:t>на</a:t>
            </a:r>
            <a:r>
              <a:rPr lang="bg-BG" sz="2600" dirty="0"/>
              <a:t> </a:t>
            </a:r>
            <a:r>
              <a:rPr lang="bg-BG" sz="2600" b="1" dirty="0">
                <a:solidFill>
                  <a:schemeClr val="bg1"/>
                </a:solidFill>
              </a:rPr>
              <a:t>опити</a:t>
            </a:r>
            <a:r>
              <a:rPr lang="bg-BG" sz="2600" dirty="0"/>
              <a:t> за </a:t>
            </a:r>
            <a:r>
              <a:rPr lang="bg-BG" sz="2600" b="1" dirty="0"/>
              <a:t>вход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известия</a:t>
            </a:r>
            <a:r>
              <a:rPr lang="bg-BG" sz="2600" dirty="0"/>
              <a:t> за </a:t>
            </a:r>
            <a:r>
              <a:rPr lang="bg-BG" sz="2600" b="1" dirty="0"/>
              <a:t>риск</a:t>
            </a:r>
          </a:p>
          <a:p>
            <a:r>
              <a:rPr lang="bg-BG" sz="2600" dirty="0"/>
              <a:t>Може да </a:t>
            </a:r>
            <a:r>
              <a:rPr lang="bg-BG" sz="2600" b="1" dirty="0">
                <a:solidFill>
                  <a:schemeClr val="bg1"/>
                </a:solidFill>
              </a:rPr>
              <a:t>сканира файлове </a:t>
            </a:r>
            <a:r>
              <a:rPr lang="bg-BG" sz="2600" dirty="0"/>
              <a:t>и да </a:t>
            </a:r>
            <a:r>
              <a:rPr lang="bg-BG" sz="2600" b="1" dirty="0"/>
              <a:t>следи</a:t>
            </a:r>
            <a:r>
              <a:rPr lang="bg-BG" sz="2600" dirty="0"/>
              <a:t> за </a:t>
            </a:r>
            <a:r>
              <a:rPr lang="bg-BG" sz="2600" b="1" dirty="0">
                <a:solidFill>
                  <a:schemeClr val="bg1"/>
                </a:solidFill>
              </a:rPr>
              <a:t>подозрителни промени</a:t>
            </a:r>
          </a:p>
          <a:p>
            <a:r>
              <a:rPr lang="bg-BG" sz="2600" b="1" dirty="0"/>
              <a:t>Инсталират се </a:t>
            </a:r>
            <a:r>
              <a:rPr lang="bg-BG" sz="2600" b="1" dirty="0">
                <a:solidFill>
                  <a:schemeClr val="bg1"/>
                </a:solidFill>
              </a:rPr>
              <a:t>само надеждни </a:t>
            </a:r>
            <a:r>
              <a:rPr lang="bg-BG" sz="2600" dirty="0"/>
              <a:t>и </a:t>
            </a:r>
            <a:r>
              <a:rPr lang="bg-BG" sz="2600" b="1" dirty="0">
                <a:solidFill>
                  <a:schemeClr val="bg1"/>
                </a:solidFill>
              </a:rPr>
              <a:t>актуални </a:t>
            </a:r>
            <a:r>
              <a:rPr lang="bg-BG" sz="2600" b="1" dirty="0"/>
              <a:t>добавки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F9683-2C76-64A9-9148-D69A268E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4000" dirty="0">
                <a:latin typeface="Calibri"/>
              </a:rPr>
              <a:t>Защитна добавка в </a:t>
            </a:r>
            <a:r>
              <a:rPr lang="en-GB" sz="4000" dirty="0">
                <a:latin typeface="Calibri"/>
              </a:rPr>
              <a:t>WordPress</a:t>
            </a:r>
            <a:endParaRPr lang="en-BG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0887C-0CB5-A202-9C7A-A48065F91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6" b="5374"/>
          <a:stretch/>
        </p:blipFill>
        <p:spPr>
          <a:xfrm>
            <a:off x="3751562" y="3544612"/>
            <a:ext cx="4688875" cy="311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3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9A9DBA-EFAB-0A29-F4F0-A0C144BE1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F221AE-BEAA-6E1D-6BCC-FE31AA79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alibri"/>
              </a:rPr>
              <a:t>Защитна добавка в </a:t>
            </a:r>
            <a:r>
              <a:rPr lang="en-GB" sz="4000" dirty="0">
                <a:latin typeface="Calibri"/>
              </a:rPr>
              <a:t>WordPress</a:t>
            </a:r>
            <a:r>
              <a:rPr lang="en-GB" sz="4000" dirty="0"/>
              <a:t> 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9943F-F5D2-F92F-019F-2393A4464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480135"/>
            <a:ext cx="7200000" cy="502973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258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B71BF4-E1C4-E44E-0E19-D495C591B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49C06-975F-09E7-50EA-75F4FC15F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/>
              <a:t>Проверява се </a:t>
            </a:r>
            <a:r>
              <a:rPr lang="bg-BG" sz="2800" b="1" dirty="0">
                <a:solidFill>
                  <a:schemeClr val="bg1"/>
                </a:solidFill>
              </a:rPr>
              <a:t>предназначението</a:t>
            </a:r>
            <a:r>
              <a:rPr lang="bg-BG" sz="2800" dirty="0"/>
              <a:t> на </a:t>
            </a:r>
            <a:r>
              <a:rPr lang="bg-BG" sz="2800" b="1" dirty="0"/>
              <a:t>добавката</a:t>
            </a:r>
          </a:p>
          <a:p>
            <a:r>
              <a:rPr lang="bg-BG" sz="2800" b="1" dirty="0"/>
              <a:t>Гледат</a:t>
            </a:r>
            <a:r>
              <a:rPr lang="bg-BG" sz="2800" dirty="0"/>
              <a:t> </a:t>
            </a:r>
            <a:r>
              <a:rPr lang="bg-BG" sz="2800" b="1" dirty="0"/>
              <a:t>се </a:t>
            </a:r>
            <a:r>
              <a:rPr lang="bg-BG" sz="2800" b="1" dirty="0">
                <a:solidFill>
                  <a:schemeClr val="bg1"/>
                </a:solidFill>
              </a:rPr>
              <a:t>оценка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активни инсталации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последна актуализация</a:t>
            </a:r>
          </a:p>
          <a:p>
            <a:r>
              <a:rPr lang="bg-BG" sz="2800" b="1" dirty="0"/>
              <a:t>Проверява се </a:t>
            </a:r>
            <a:r>
              <a:rPr lang="bg-BG" sz="2800" b="1" dirty="0">
                <a:solidFill>
                  <a:schemeClr val="bg1"/>
                </a:solidFill>
              </a:rPr>
              <a:t>съвместимостта</a:t>
            </a:r>
            <a:r>
              <a:rPr lang="bg-BG" sz="2800" dirty="0"/>
              <a:t> с </a:t>
            </a:r>
            <a:r>
              <a:rPr lang="bg-BG" sz="2800" b="1" dirty="0"/>
              <a:t>използваната </a:t>
            </a:r>
            <a:r>
              <a:rPr lang="bg-BG" sz="2800" b="1" dirty="0">
                <a:solidFill>
                  <a:schemeClr val="bg1"/>
                </a:solidFill>
              </a:rPr>
              <a:t>версия</a:t>
            </a:r>
            <a:r>
              <a:rPr lang="bg-BG" sz="2800" b="1" dirty="0"/>
              <a:t> </a:t>
            </a:r>
            <a:r>
              <a:rPr lang="bg-BG" sz="2800" dirty="0"/>
              <a:t>на </a:t>
            </a:r>
            <a:r>
              <a:rPr lang="en-GB" sz="2800" b="1" dirty="0"/>
              <a:t>WordPress</a:t>
            </a:r>
          </a:p>
          <a:p>
            <a:r>
              <a:rPr lang="bg-BG" sz="2800" b="1" dirty="0"/>
              <a:t>Избягват се </a:t>
            </a:r>
            <a:r>
              <a:rPr lang="bg-BG" sz="2800" b="1" dirty="0">
                <a:solidFill>
                  <a:schemeClr val="bg1"/>
                </a:solidFill>
              </a:rPr>
              <a:t>остарели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ненужни</a:t>
            </a:r>
            <a:r>
              <a:rPr lang="bg-BG" sz="2800" dirty="0"/>
              <a:t> </a:t>
            </a:r>
            <a:r>
              <a:rPr lang="bg-BG" sz="2800" b="1" dirty="0"/>
              <a:t>добавки</a:t>
            </a:r>
          </a:p>
          <a:p>
            <a:r>
              <a:rPr lang="bg-BG" sz="2800" b="1" dirty="0"/>
              <a:t>След активиране </a:t>
            </a:r>
            <a:r>
              <a:rPr lang="bg-BG" sz="2800" dirty="0"/>
              <a:t>уеб сайтът се </a:t>
            </a:r>
            <a:r>
              <a:rPr lang="bg-BG" sz="2800" b="1" dirty="0">
                <a:solidFill>
                  <a:schemeClr val="bg1"/>
                </a:solidFill>
              </a:rPr>
              <a:t>проверява отново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39E323-8320-2621-E9E3-C0239627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Избор на надеждна добавка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3D3F0C-0F44-7BC1-B7B7-B7CE79A10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2" b="2872"/>
          <a:stretch/>
        </p:blipFill>
        <p:spPr>
          <a:xfrm>
            <a:off x="4198614" y="4104654"/>
            <a:ext cx="3794771" cy="269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9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Средства за повишаване на сигурността в уеб сайт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9EC649-C7E1-FEF8-1E81-255E0AE73F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7" b="14698"/>
          <a:stretch/>
        </p:blipFill>
        <p:spPr>
          <a:xfrm>
            <a:off x="4543500" y="1385091"/>
            <a:ext cx="3105000" cy="23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774907-10E6-2A8C-AB58-1F4926233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0C6ED-9A01-5FC9-A830-500546E78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Нека да </a:t>
            </a:r>
            <a:r>
              <a:rPr lang="bg-BG" sz="3000" b="1" dirty="0"/>
              <a:t>добавим</a:t>
            </a:r>
            <a:r>
              <a:rPr lang="bg-BG" sz="3000" dirty="0"/>
              <a:t> </a:t>
            </a:r>
            <a:r>
              <a:rPr lang="bg-BG" sz="3000" b="1" dirty="0"/>
              <a:t>защита </a:t>
            </a:r>
            <a:r>
              <a:rPr lang="bg-BG" sz="3000" dirty="0"/>
              <a:t>срещу </a:t>
            </a:r>
            <a:r>
              <a:rPr lang="bg-BG" sz="3000" b="1" dirty="0">
                <a:solidFill>
                  <a:schemeClr val="bg1"/>
                </a:solidFill>
              </a:rPr>
              <a:t>многократни опити за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вход</a:t>
            </a:r>
          </a:p>
          <a:p>
            <a:r>
              <a:rPr lang="bg-BG" sz="3000" dirty="0"/>
              <a:t>За </a:t>
            </a:r>
            <a:r>
              <a:rPr lang="bg-BG" sz="3000" b="1" dirty="0"/>
              <a:t>целта</a:t>
            </a:r>
            <a:r>
              <a:rPr lang="bg-BG" sz="3000" dirty="0"/>
              <a:t> ще използваме </a:t>
            </a:r>
            <a:r>
              <a:rPr lang="bg-BG" sz="3000" b="1" dirty="0"/>
              <a:t>добавката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Limit Login Attempts</a:t>
            </a:r>
            <a:endParaRPr lang="bg-BG" sz="3000" b="1" dirty="0">
              <a:solidFill>
                <a:schemeClr val="bg1"/>
              </a:solidFill>
            </a:endParaRPr>
          </a:p>
          <a:p>
            <a:r>
              <a:rPr lang="bg-BG" sz="3000" dirty="0"/>
              <a:t>Добавката ще ни </a:t>
            </a:r>
            <a:r>
              <a:rPr lang="bg-BG" sz="3000" b="1" dirty="0"/>
              <a:t>предпази</a:t>
            </a:r>
            <a:r>
              <a:rPr lang="bg-BG" sz="3000" dirty="0"/>
              <a:t> от </a:t>
            </a:r>
            <a:r>
              <a:rPr lang="en-US" sz="3000" b="1" dirty="0">
                <a:solidFill>
                  <a:schemeClr val="bg1"/>
                </a:solidFill>
              </a:rPr>
              <a:t>Brute Force </a:t>
            </a:r>
            <a:r>
              <a:rPr lang="bg-BG" sz="3000" b="1" dirty="0">
                <a:solidFill>
                  <a:schemeClr val="bg1"/>
                </a:solidFill>
              </a:rPr>
              <a:t>атаки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14C6F3-E859-DE7F-2F75-BB99F7C2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4000" dirty="0"/>
              <a:t>Средства за повишаване на сигурността в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F0FE0D-3DDE-45DB-7591-8AA36F07F0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5" b="8660"/>
          <a:stretch/>
        </p:blipFill>
        <p:spPr>
          <a:xfrm>
            <a:off x="3876799" y="3163971"/>
            <a:ext cx="4189835" cy="349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4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B61AB-14F5-57AA-1F4C-01FFEC1BA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072D3-B646-4046-EC45-D9D8C2309C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dirty="0"/>
              <a:t>Избираме </a:t>
            </a:r>
            <a:r>
              <a:rPr lang="en-US" sz="3400" b="1" dirty="0"/>
              <a:t>[</a:t>
            </a:r>
            <a:r>
              <a:rPr lang="en-US" sz="3400" b="1" dirty="0">
                <a:solidFill>
                  <a:schemeClr val="bg1"/>
                </a:solidFill>
              </a:rPr>
              <a:t>Plugins</a:t>
            </a:r>
            <a:r>
              <a:rPr lang="en-US" sz="3400" b="1" dirty="0"/>
              <a:t>] →</a:t>
            </a:r>
            <a:r>
              <a:rPr lang="bg-BG" sz="3400" b="1" dirty="0"/>
              <a:t> </a:t>
            </a:r>
            <a:r>
              <a:rPr lang="en-US" sz="3400" b="1" dirty="0"/>
              <a:t>[</a:t>
            </a:r>
            <a:r>
              <a:rPr lang="en-US" sz="3400" b="1" dirty="0">
                <a:solidFill>
                  <a:schemeClr val="bg1"/>
                </a:solidFill>
              </a:rPr>
              <a:t>Add Plugin</a:t>
            </a:r>
            <a:r>
              <a:rPr lang="en-US" sz="3400" b="1" dirty="0"/>
              <a:t>]</a:t>
            </a:r>
            <a:r>
              <a:rPr lang="bg-BG" sz="3400" dirty="0"/>
              <a:t> </a:t>
            </a:r>
            <a:endParaRPr lang="en-US" sz="3400" dirty="0"/>
          </a:p>
          <a:p>
            <a:r>
              <a:rPr lang="bg-BG" sz="3400" dirty="0"/>
              <a:t>Търсим </a:t>
            </a:r>
            <a:r>
              <a:rPr lang="en-US" sz="3400" b="1" dirty="0">
                <a:solidFill>
                  <a:schemeClr val="bg1"/>
                </a:solidFill>
              </a:rPr>
              <a:t>Limit Login Attempts</a:t>
            </a:r>
            <a:endParaRPr lang="bg-BG" sz="3400" b="1" dirty="0">
              <a:solidFill>
                <a:schemeClr val="bg1"/>
              </a:solidFill>
            </a:endParaRPr>
          </a:p>
          <a:p>
            <a:endParaRPr lang="bg-BG" sz="3000" b="1" dirty="0">
              <a:solidFill>
                <a:schemeClr val="bg1"/>
              </a:solidFill>
            </a:endParaRPr>
          </a:p>
          <a:p>
            <a:endParaRPr lang="bg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613E61-D101-1413-F7F1-D11013C2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Избор на добавка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D5B88-69D1-A725-F46A-3CFD5A907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0" y="3669138"/>
            <a:ext cx="2546329" cy="166490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61BE9-16F8-CEA6-D88B-27D5CFD6B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00" y="4014000"/>
            <a:ext cx="6800699" cy="8237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B6238512-8669-8C37-F7E3-FA6B5C09B3E9}"/>
              </a:ext>
            </a:extLst>
          </p:cNvPr>
          <p:cNvSpPr/>
          <p:nvPr/>
        </p:nvSpPr>
        <p:spPr>
          <a:xfrm>
            <a:off x="3457418" y="4014000"/>
            <a:ext cx="990182" cy="8237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9549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B61AB-14F5-57AA-1F4C-01FFEC1BA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072D3-B646-4046-EC45-D9D8C2309C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Преглеждаме </a:t>
            </a:r>
            <a:r>
              <a:rPr lang="bg-BG" sz="2800" b="1" dirty="0"/>
              <a:t>информацията за добавката</a:t>
            </a:r>
            <a:endParaRPr lang="bg-BG" sz="2800" dirty="0"/>
          </a:p>
          <a:p>
            <a:r>
              <a:rPr lang="bg-BG" sz="2800" dirty="0"/>
              <a:t>Избираме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Install now</a:t>
            </a:r>
            <a:r>
              <a:rPr lang="en-US" sz="2800" b="1" dirty="0"/>
              <a:t>] </a:t>
            </a:r>
            <a:r>
              <a:rPr lang="bg-BG" sz="2800" dirty="0"/>
              <a:t>и след това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Activate</a:t>
            </a:r>
            <a:r>
              <a:rPr lang="en-US" sz="2800" b="1" dirty="0"/>
              <a:t>]</a:t>
            </a:r>
            <a:endParaRPr lang="bg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613E61-D101-1413-F7F1-D11013C2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Инсталиране и активиране на добавка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1C3A3B-60AF-1D1A-D742-0ED7E9B63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125" y="1314000"/>
            <a:ext cx="3945905" cy="275650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C3612E-BE6F-6390-77ED-7B25444E5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89" y="4548238"/>
            <a:ext cx="4301530" cy="169892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8A4D73-EFA8-1D5B-F87C-66B0632AF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94" y="4548238"/>
            <a:ext cx="4301530" cy="169892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5" name="Arrow: Right 10">
            <a:extLst>
              <a:ext uri="{FF2B5EF4-FFF2-40B4-BE49-F238E27FC236}">
                <a16:creationId xmlns:a16="http://schemas.microsoft.com/office/drawing/2014/main" id="{3F700E1E-1319-6659-BEE5-2EDAA90BFB43}"/>
              </a:ext>
            </a:extLst>
          </p:cNvPr>
          <p:cNvSpPr/>
          <p:nvPr/>
        </p:nvSpPr>
        <p:spPr>
          <a:xfrm>
            <a:off x="5600909" y="4985801"/>
            <a:ext cx="990182" cy="8237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48294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45C3E-43AA-C8C5-6E2A-CFEE331E2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A36E-4762-200C-8C4A-1D990E9DF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b="1" dirty="0"/>
              <a:t>Отваряме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настройките</a:t>
            </a:r>
            <a:r>
              <a:rPr lang="bg-BG" sz="3200" dirty="0"/>
              <a:t> и </a:t>
            </a:r>
            <a:r>
              <a:rPr lang="bg-BG" sz="3200" b="1" dirty="0"/>
              <a:t>задаваме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ограничения</a:t>
            </a:r>
            <a:r>
              <a:rPr lang="bg-BG" sz="3200" dirty="0"/>
              <a:t> за </a:t>
            </a:r>
            <a:r>
              <a:rPr lang="bg-BG" sz="3200" b="1" dirty="0"/>
              <a:t>неуспешните</a:t>
            </a:r>
            <a:r>
              <a:rPr lang="bg-BG" sz="3200" dirty="0"/>
              <a:t> </a:t>
            </a:r>
            <a:r>
              <a:rPr lang="bg-BG" sz="3200" b="1" dirty="0"/>
              <a:t>опити за вход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BFA277-BFB8-C00B-5725-A86DF120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Настройване на добавка (</a:t>
            </a:r>
            <a:r>
              <a:rPr lang="en-US" dirty="0"/>
              <a:t>1)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5E205D-4E51-F589-4D4B-475646CF9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00" y="2799000"/>
            <a:ext cx="9180000" cy="318950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881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45C3E-43AA-C8C5-6E2A-CFEE331E2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A36E-4762-200C-8C4A-1D990E9DF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900" dirty="0"/>
              <a:t>От </a:t>
            </a:r>
            <a:r>
              <a:rPr lang="en-US" sz="2900" b="1" dirty="0">
                <a:solidFill>
                  <a:schemeClr val="bg1"/>
                </a:solidFill>
              </a:rPr>
              <a:t>Dashboard</a:t>
            </a:r>
            <a:r>
              <a:rPr lang="bg-BG" sz="2900" dirty="0"/>
              <a:t> </a:t>
            </a:r>
            <a:r>
              <a:rPr lang="bg-BG" sz="2900" b="1" dirty="0"/>
              <a:t>преглеждаме</a:t>
            </a:r>
            <a:r>
              <a:rPr lang="en-US" sz="2900" b="1" dirty="0"/>
              <a:t> </a:t>
            </a:r>
            <a:r>
              <a:rPr lang="bg-BG" sz="2900" b="1" dirty="0"/>
              <a:t>статистика</a:t>
            </a:r>
            <a:r>
              <a:rPr lang="bg-BG" sz="2900" dirty="0"/>
              <a:t> за </a:t>
            </a:r>
            <a:r>
              <a:rPr lang="bg-BG" sz="2900" b="1" dirty="0">
                <a:solidFill>
                  <a:schemeClr val="bg1"/>
                </a:solidFill>
              </a:rPr>
              <a:t>неуспешните опити </a:t>
            </a:r>
            <a:r>
              <a:rPr lang="bg-BG" sz="2900" b="1" dirty="0"/>
              <a:t>за вход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BFA277-BFB8-C00B-5725-A86DF120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Настройване на добавка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09525A-1DAD-FBD0-290F-E60FE69AA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750" y="1844124"/>
            <a:ext cx="9112500" cy="467236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607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38AFF-DDB0-D4DE-B275-0FE441443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393E0E-40CE-B255-2E05-4F9C97BA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8FDE1A-5C0D-7A5F-BF5E-C763CF98C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000" y="1449000"/>
            <a:ext cx="4634373" cy="48142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D1DB93-E592-5979-0FA3-B694805CA6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3" t="42401" r="3621" b="97"/>
          <a:stretch/>
        </p:blipFill>
        <p:spPr>
          <a:xfrm>
            <a:off x="439519" y="2615628"/>
            <a:ext cx="4095000" cy="24370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0284D0EE-3B25-AEB2-3723-6649206824F0}"/>
              </a:ext>
            </a:extLst>
          </p:cNvPr>
          <p:cNvSpPr/>
          <p:nvPr/>
        </p:nvSpPr>
        <p:spPr>
          <a:xfrm>
            <a:off x="5160133" y="3422237"/>
            <a:ext cx="990182" cy="8237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414223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Сигурността в уеб </a:t>
            </a:r>
            <a:r>
              <a:rPr lang="bg-BG" sz="3000" dirty="0"/>
              <a:t>защитава </a:t>
            </a:r>
            <a:r>
              <a:rPr lang="bg-BG" sz="3000" b="1" dirty="0"/>
              <a:t>сайта</a:t>
            </a:r>
            <a:r>
              <a:rPr lang="bg-BG" sz="3000" dirty="0"/>
              <a:t>, </a:t>
            </a:r>
            <a:r>
              <a:rPr lang="bg-BG" sz="3000" b="1" dirty="0"/>
              <a:t>потребителите</a:t>
            </a:r>
            <a:r>
              <a:rPr lang="bg-BG" sz="3000" dirty="0"/>
              <a:t> и </a:t>
            </a:r>
            <a:r>
              <a:rPr lang="bg-BG" sz="3000" b="1" dirty="0"/>
              <a:t>данните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Опасностите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dirty="0"/>
              <a:t>използват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уязвимости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dirty="0"/>
              <a:t>и могат да доведат до </a:t>
            </a:r>
            <a:r>
              <a:rPr lang="bg-BG" sz="3000" b="1" dirty="0"/>
              <a:t>злоупотреба</a:t>
            </a:r>
            <a:r>
              <a:rPr lang="bg-BG" sz="3000" dirty="0"/>
              <a:t> с </a:t>
            </a:r>
            <a:r>
              <a:rPr lang="bg-BG" sz="3000" b="1" dirty="0"/>
              <a:t>информация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Бисквитките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dirty="0"/>
              <a:t>и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уеб маяците </a:t>
            </a:r>
            <a:r>
              <a:rPr lang="bg-BG" sz="3000" dirty="0"/>
              <a:t>подпомагат </a:t>
            </a:r>
            <a:r>
              <a:rPr lang="bg-BG" sz="3000" b="1" dirty="0"/>
              <a:t>работата</a:t>
            </a:r>
            <a:r>
              <a:rPr lang="bg-BG" sz="3000" dirty="0"/>
              <a:t> и </a:t>
            </a:r>
            <a:r>
              <a:rPr lang="bg-BG" sz="3000" b="1" dirty="0"/>
              <a:t>анализа</a:t>
            </a:r>
            <a:r>
              <a:rPr lang="bg-BG" sz="3000" dirty="0"/>
              <a:t>, но изискват </a:t>
            </a:r>
            <a:r>
              <a:rPr lang="bg-BG" sz="3000" b="1" dirty="0"/>
              <a:t>внимателно използване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CAPTCHA</a:t>
            </a:r>
            <a:r>
              <a:rPr lang="en-GB" sz="3000" dirty="0"/>
              <a:t>,</a:t>
            </a:r>
            <a:r>
              <a:rPr lang="en-GB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HTTPS</a:t>
            </a:r>
            <a:r>
              <a:rPr lang="en-GB" sz="3000" dirty="0"/>
              <a:t>,</a:t>
            </a:r>
            <a:r>
              <a:rPr lang="en-GB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ключовете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dirty="0"/>
              <a:t>и</a:t>
            </a:r>
            <a:r>
              <a:rPr lang="bg-BG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защитните добавки</a:t>
            </a:r>
            <a:r>
              <a:rPr lang="bg-BG" sz="3000" b="1" dirty="0"/>
              <a:t> </a:t>
            </a:r>
            <a:r>
              <a:rPr lang="bg-BG" sz="3000" dirty="0"/>
              <a:t>повишават </a:t>
            </a:r>
            <a:r>
              <a:rPr lang="bg-BG" sz="3000" b="1" dirty="0"/>
              <a:t>сигурността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58780</TotalTime>
  <Words>1456</Words>
  <Application>Microsoft Macintosh PowerPoint</Application>
  <PresentationFormat>Widescreen</PresentationFormat>
  <Paragraphs>221</Paragraphs>
  <Slides>40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Consolas</vt:lpstr>
      <vt:lpstr>Wingdings</vt:lpstr>
      <vt:lpstr>SoftUni</vt:lpstr>
      <vt:lpstr>Опасности и уязвимости в уеб</vt:lpstr>
      <vt:lpstr>Съдържание</vt:lpstr>
      <vt:lpstr>​Сигурност в уеб</vt:lpstr>
      <vt:lpstr>Сигурност в уеб</vt:lpstr>
      <vt:lpstr>Какво може да бъде засегнато</vt:lpstr>
      <vt:lpstr>Опасности и уязвимости</vt:lpstr>
      <vt:lpstr>Видове атаки в уеб</vt:lpstr>
      <vt:lpstr>DoS и DDoS атаки (1)</vt:lpstr>
      <vt:lpstr>DoS и DDoS атаки (2)</vt:lpstr>
      <vt:lpstr>Sniffing атаки</vt:lpstr>
      <vt:lpstr>IP Spoofing атаки</vt:lpstr>
      <vt:lpstr>Фишинг, Brute Force и зловреден код</vt:lpstr>
      <vt:lpstr>Разпознаване на проблем</vt:lpstr>
      <vt:lpstr>​Бисквитки и ​​​уеб маяци</vt:lpstr>
      <vt:lpstr>Бисквитки (Cookies)</vt:lpstr>
      <vt:lpstr>Рискове при бисквитките</vt:lpstr>
      <vt:lpstr>Бисквитки – Пример</vt:lpstr>
      <vt:lpstr>Уеб маяци (Web beacon)</vt:lpstr>
      <vt:lpstr>Уеб маяци – Пример</vt:lpstr>
      <vt:lpstr>​​​Средства за защита</vt:lpstr>
      <vt:lpstr>CAPTCHA</vt:lpstr>
      <vt:lpstr>CAPTCHA – Пример</vt:lpstr>
      <vt:lpstr>Сертификат за сигурност</vt:lpstr>
      <vt:lpstr>Сертификат за сигурност – Пример</vt:lpstr>
      <vt:lpstr>Публичен ключ и частен ключ</vt:lpstr>
      <vt:lpstr>Публичен ключ – Пример</vt:lpstr>
      <vt:lpstr>Допълнителна функционалност (Plug-in) за защита</vt:lpstr>
      <vt:lpstr>Защитна добавка в WordPress</vt:lpstr>
      <vt:lpstr>Защитна добавка в WordPress – Пример</vt:lpstr>
      <vt:lpstr>Избор на надеждна добавка</vt:lpstr>
      <vt:lpstr>Пример</vt:lpstr>
      <vt:lpstr>Средства за повишаване на сигурността в уеб сайт</vt:lpstr>
      <vt:lpstr>Избор на добавка</vt:lpstr>
      <vt:lpstr>Инсталиране и активиране на добавка</vt:lpstr>
      <vt:lpstr>Настройване на добавка (1)</vt:lpstr>
      <vt:lpstr>Настройване на добавка (2)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Опасности и уязвимости в уеб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507</cp:revision>
  <dcterms:created xsi:type="dcterms:W3CDTF">2018-05-23T13:08:44Z</dcterms:created>
  <dcterms:modified xsi:type="dcterms:W3CDTF">2026-09-04T12:12:24Z</dcterms:modified>
  <cp:category/>
</cp:coreProperties>
</file>