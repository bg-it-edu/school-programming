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1"/>
  </p:notesMasterIdLst>
  <p:handoutMasterIdLst>
    <p:handoutMasterId r:id="rId42"/>
  </p:handoutMasterIdLst>
  <p:sldIdLst>
    <p:sldId id="503" r:id="rId2"/>
    <p:sldId id="276" r:id="rId3"/>
    <p:sldId id="353" r:id="rId4"/>
    <p:sldId id="880" r:id="rId5"/>
    <p:sldId id="927" r:id="rId6"/>
    <p:sldId id="610" r:id="rId7"/>
    <p:sldId id="869" r:id="rId8"/>
    <p:sldId id="922" r:id="rId9"/>
    <p:sldId id="907" r:id="rId10"/>
    <p:sldId id="928" r:id="rId11"/>
    <p:sldId id="923" r:id="rId12"/>
    <p:sldId id="930" r:id="rId13"/>
    <p:sldId id="895" r:id="rId14"/>
    <p:sldId id="894" r:id="rId15"/>
    <p:sldId id="924" r:id="rId16"/>
    <p:sldId id="921" r:id="rId17"/>
    <p:sldId id="929" r:id="rId18"/>
    <p:sldId id="616" r:id="rId19"/>
    <p:sldId id="904" r:id="rId20"/>
    <p:sldId id="905" r:id="rId21"/>
    <p:sldId id="926" r:id="rId22"/>
    <p:sldId id="931" r:id="rId23"/>
    <p:sldId id="932" r:id="rId24"/>
    <p:sldId id="933" r:id="rId25"/>
    <p:sldId id="939" r:id="rId26"/>
    <p:sldId id="942" r:id="rId27"/>
    <p:sldId id="940" r:id="rId28"/>
    <p:sldId id="941" r:id="rId29"/>
    <p:sldId id="654" r:id="rId30"/>
    <p:sldId id="911" r:id="rId31"/>
    <p:sldId id="912" r:id="rId32"/>
    <p:sldId id="934" r:id="rId33"/>
    <p:sldId id="935" r:id="rId34"/>
    <p:sldId id="936" r:id="rId35"/>
    <p:sldId id="937" r:id="rId36"/>
    <p:sldId id="938" r:id="rId37"/>
    <p:sldId id="633" r:id="rId38"/>
    <p:sldId id="504" r:id="rId39"/>
    <p:sldId id="50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Стилизиране на уеб съдържание" id="{66DCFE1F-60FD-44F2-BE82-706DDBC14898}">
          <p14:sldIdLst>
            <p14:sldId id="353"/>
            <p14:sldId id="880"/>
            <p14:sldId id="927"/>
          </p14:sldIdLst>
        </p14:section>
        <p14:section name="Цветове и фон" id="{EB44CA50-B176-0C4C-B0D0-5459023C7783}">
          <p14:sldIdLst>
            <p14:sldId id="610"/>
            <p14:sldId id="869"/>
            <p14:sldId id="922"/>
            <p14:sldId id="907"/>
            <p14:sldId id="928"/>
            <p14:sldId id="923"/>
            <p14:sldId id="930"/>
          </p14:sldIdLst>
        </p14:section>
        <p14:section name="Шрифтове и текст" id="{30FD680E-FD68-D941-B3C3-76A3AFC25B7E}">
          <p14:sldIdLst>
            <p14:sldId id="895"/>
            <p14:sldId id="894"/>
            <p14:sldId id="924"/>
            <p14:sldId id="921"/>
            <p14:sldId id="929"/>
          </p14:sldIdLst>
        </p14:section>
        <p14:section name="Подредба на елементи" id="{2B3E1915-4BA2-9447-BC07-AE658EE7EC35}">
          <p14:sldIdLst>
            <p14:sldId id="616"/>
            <p14:sldId id="904"/>
            <p14:sldId id="905"/>
            <p14:sldId id="926"/>
            <p14:sldId id="931"/>
            <p14:sldId id="932"/>
            <p14:sldId id="933"/>
            <p14:sldId id="939"/>
            <p14:sldId id="942"/>
            <p14:sldId id="940"/>
            <p14:sldId id="941"/>
          </p14:sldIdLst>
        </p14:section>
        <p14:section name="Демо" id="{276EAB92-AF41-DD42-AFD3-D1ABB239E1A7}">
          <p14:sldIdLst>
            <p14:sldId id="654"/>
            <p14:sldId id="911"/>
            <p14:sldId id="912"/>
            <p14:sldId id="934"/>
            <p14:sldId id="935"/>
            <p14:sldId id="936"/>
            <p14:sldId id="937"/>
            <p14:sldId id="938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95" autoAdjust="0"/>
    <p:restoredTop sz="95427" autoAdjust="0"/>
  </p:normalViewPr>
  <p:slideViewPr>
    <p:cSldViewPr showGuides="1">
      <p:cViewPr varScale="1">
        <p:scale>
          <a:sx n="68" d="100"/>
          <a:sy n="68" d="100"/>
        </p:scale>
        <p:origin x="240" y="106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20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3800" dirty="0"/>
              <a:t>Цветове, шрифтове, подредба на елементи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4200" dirty="0"/>
              <a:t>Визуално оформяне на уеб страници със </a:t>
            </a:r>
            <a:r>
              <a:rPr lang="en-US" sz="4200" dirty="0"/>
              <a:t>CSS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311E9A1-AF31-CC0F-FEEA-7BEE21DC49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1"/>
          <a:stretch/>
        </p:blipFill>
        <p:spPr>
          <a:xfrm>
            <a:off x="6390123" y="3400017"/>
            <a:ext cx="5248260" cy="2188983"/>
          </a:xfr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775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Стилизиране</a:t>
            </a:r>
            <a:r>
              <a:rPr lang="bg-BG" sz="3800" dirty="0"/>
              <a:t> на </a:t>
            </a:r>
            <a:r>
              <a:rPr lang="bg-BG" sz="3800" b="1" dirty="0">
                <a:solidFill>
                  <a:schemeClr val="bg1"/>
                </a:solidFill>
              </a:rPr>
              <a:t>уеб съдържание</a:t>
            </a:r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​​</a:t>
            </a:r>
            <a:r>
              <a:rPr lang="bg-BG" sz="3800" b="1" dirty="0">
                <a:solidFill>
                  <a:schemeClr val="bg1"/>
                </a:solidFill>
              </a:rPr>
              <a:t>Цветове </a:t>
            </a:r>
            <a:r>
              <a:rPr lang="bg-BG" sz="3800" dirty="0"/>
              <a:t>и</a:t>
            </a:r>
            <a:r>
              <a:rPr lang="bg-BG" sz="3800" b="1" dirty="0"/>
              <a:t> </a:t>
            </a:r>
            <a:r>
              <a:rPr lang="bg-BG" sz="3800" b="1" dirty="0">
                <a:solidFill>
                  <a:schemeClr val="bg1"/>
                </a:solidFill>
              </a:rPr>
              <a:t>фон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Цветови стойности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Изображения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r>
              <a:rPr lang="bg-BG" sz="3600" dirty="0"/>
              <a:t>за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r>
              <a:rPr lang="bg-BG" sz="3600" b="1" dirty="0"/>
              <a:t>фон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Шрифтове </a:t>
            </a:r>
            <a:r>
              <a:rPr lang="bg-BG" sz="3800" dirty="0"/>
              <a:t>и</a:t>
            </a:r>
            <a:r>
              <a:rPr lang="bg-BG" sz="3800" b="1" dirty="0">
                <a:solidFill>
                  <a:schemeClr val="bg1"/>
                </a:solidFill>
              </a:rPr>
              <a:t> текст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Външни шрифтове</a:t>
            </a:r>
          </a:p>
          <a:p>
            <a:pPr lvl="1">
              <a:buClr>
                <a:schemeClr val="tx1"/>
              </a:buClr>
            </a:pPr>
            <a:r>
              <a:rPr lang="en-US" sz="3600" b="1" dirty="0"/>
              <a:t>Google Fonts</a:t>
            </a:r>
            <a:endParaRPr lang="bg-BG" sz="3600" b="1" dirty="0"/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​​</a:t>
            </a:r>
            <a:r>
              <a:rPr lang="bg-BG" sz="3800" b="1" dirty="0">
                <a:solidFill>
                  <a:schemeClr val="bg1"/>
                </a:solidFill>
              </a:rPr>
              <a:t>Подредба </a:t>
            </a:r>
            <a:r>
              <a:rPr lang="bg-BG" sz="3800" dirty="0"/>
              <a:t>на</a:t>
            </a:r>
            <a:r>
              <a:rPr lang="bg-BG" sz="3800" b="1" dirty="0">
                <a:solidFill>
                  <a:schemeClr val="bg1"/>
                </a:solidFill>
              </a:rPr>
              <a:t> елементи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G</a:t>
            </a:r>
            <a:r>
              <a:rPr lang="en-US" sz="3600" b="1" dirty="0"/>
              <a:t>rid </a:t>
            </a:r>
            <a:r>
              <a:rPr lang="bg-BG" sz="3600" b="1" dirty="0"/>
              <a:t>система</a:t>
            </a:r>
          </a:p>
          <a:p>
            <a:pPr>
              <a:buClr>
                <a:schemeClr val="tx1"/>
              </a:buClr>
            </a:pPr>
            <a:r>
              <a:rPr lang="en-US" sz="3800" dirty="0"/>
              <a:t>​</a:t>
            </a:r>
            <a:r>
              <a:rPr lang="bg-BG" sz="3800" dirty="0"/>
              <a:t>​</a:t>
            </a: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Визуално оформление на уеб страница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Значение и роля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400" dirty="0"/>
              <a:t>Стилизиране на уеб съдържание</a:t>
            </a:r>
            <a:endParaRPr lang="en-US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21CB4-B59F-41CC-4E4A-1EE3B7AA2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32863" y="1674000"/>
            <a:ext cx="3326274" cy="20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400" dirty="0"/>
              <a:t>Определя </a:t>
            </a:r>
            <a:r>
              <a:rPr lang="bg-BG" sz="3400" b="1" dirty="0">
                <a:solidFill>
                  <a:schemeClr val="bg1"/>
                </a:solidFill>
              </a:rPr>
              <a:t>как</a:t>
            </a:r>
            <a:r>
              <a:rPr lang="bg-BG" sz="3400" dirty="0"/>
              <a:t> </a:t>
            </a:r>
            <a:r>
              <a:rPr lang="bg-BG" sz="3400" b="1" dirty="0">
                <a:solidFill>
                  <a:schemeClr val="bg1"/>
                </a:solidFill>
              </a:rPr>
              <a:t>изглежда</a:t>
            </a:r>
            <a:r>
              <a:rPr lang="bg-BG" sz="3400" dirty="0"/>
              <a:t> </a:t>
            </a:r>
            <a:r>
              <a:rPr lang="bg-BG" sz="3400" b="1" dirty="0"/>
              <a:t>уеб страницата</a:t>
            </a:r>
          </a:p>
          <a:p>
            <a:r>
              <a:rPr lang="bg-BG" sz="3400" dirty="0"/>
              <a:t>Позволява задаване на </a:t>
            </a:r>
            <a:r>
              <a:rPr lang="bg-BG" sz="3400" b="1" dirty="0">
                <a:solidFill>
                  <a:schemeClr val="bg1"/>
                </a:solidFill>
              </a:rPr>
              <a:t>цветове</a:t>
            </a:r>
            <a:r>
              <a:rPr lang="bg-BG" sz="3400" dirty="0"/>
              <a:t>, </a:t>
            </a:r>
            <a:r>
              <a:rPr lang="bg-BG" sz="3400" b="1" dirty="0">
                <a:solidFill>
                  <a:schemeClr val="bg1"/>
                </a:solidFill>
              </a:rPr>
              <a:t>шрифтове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оформление</a:t>
            </a:r>
          </a:p>
          <a:p>
            <a:r>
              <a:rPr lang="bg-BG" sz="3400" dirty="0"/>
              <a:t>Подобрява </a:t>
            </a:r>
            <a:r>
              <a:rPr lang="bg-BG" sz="3400" b="1" dirty="0">
                <a:solidFill>
                  <a:schemeClr val="bg1"/>
                </a:solidFill>
              </a:rPr>
              <a:t>четимостта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външния вид </a:t>
            </a:r>
            <a:r>
              <a:rPr lang="bg-BG" sz="3400" dirty="0"/>
              <a:t>на </a:t>
            </a:r>
            <a:r>
              <a:rPr lang="bg-BG" sz="3400" b="1" dirty="0"/>
              <a:t>уеб страницата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уеб съдържание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8A13E-5081-6279-64A3-64AECD2BF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8500" y="3180429"/>
            <a:ext cx="3555000" cy="347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Прави </a:t>
            </a:r>
            <a:r>
              <a:rPr lang="bg-BG" sz="3600" b="1" dirty="0"/>
              <a:t>уеб страницата </a:t>
            </a:r>
            <a:r>
              <a:rPr lang="bg-BG" sz="3600" b="1" dirty="0">
                <a:solidFill>
                  <a:schemeClr val="bg1"/>
                </a:solidFill>
              </a:rPr>
              <a:t>по-лесна</a:t>
            </a:r>
            <a:r>
              <a:rPr lang="bg-BG" sz="3600" dirty="0"/>
              <a:t> за </a:t>
            </a:r>
            <a:r>
              <a:rPr lang="bg-BG" sz="3600" b="1" dirty="0">
                <a:solidFill>
                  <a:schemeClr val="bg1"/>
                </a:solidFill>
              </a:rPr>
              <a:t>използване</a:t>
            </a:r>
          </a:p>
          <a:p>
            <a:r>
              <a:rPr lang="bg-BG" sz="3600" dirty="0"/>
              <a:t>Подобрява </a:t>
            </a:r>
            <a:r>
              <a:rPr lang="bg-BG" sz="3600" b="1" dirty="0">
                <a:solidFill>
                  <a:schemeClr val="bg1"/>
                </a:solidFill>
              </a:rPr>
              <a:t>визуалното представяне </a:t>
            </a:r>
            <a:r>
              <a:rPr lang="bg-BG" sz="3600" dirty="0"/>
              <a:t>на </a:t>
            </a:r>
            <a:r>
              <a:rPr lang="bg-BG" sz="3600" b="1" dirty="0"/>
              <a:t>информацията</a:t>
            </a:r>
          </a:p>
          <a:p>
            <a:r>
              <a:rPr lang="bg-BG" sz="3600" dirty="0"/>
              <a:t>Създава </a:t>
            </a:r>
            <a:r>
              <a:rPr lang="bg-BG" sz="3600" b="1" dirty="0">
                <a:solidFill>
                  <a:schemeClr val="bg1"/>
                </a:solidFill>
              </a:rPr>
              <a:t>по-добро потребителско преживяване</a:t>
            </a:r>
            <a:r>
              <a:rPr lang="en-GB" sz="3600" b="1" dirty="0">
                <a:solidFill>
                  <a:schemeClr val="bg1"/>
                </a:solidFill>
              </a:rPr>
              <a:t> </a:t>
            </a:r>
            <a:r>
              <a:rPr lang="en-GB" sz="3600" b="1" dirty="0"/>
              <a:t>(UX)</a:t>
            </a:r>
            <a:endParaRPr lang="bg-BG" sz="36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Значение и роля на стилизирането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39D35-948C-AD37-EDA0-AF6DAA326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5558" y="3386068"/>
            <a:ext cx="5140884" cy="312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8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Стойности и изображения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400" dirty="0"/>
              <a:t>Цветове и фон</a:t>
            </a:r>
            <a:endParaRPr lang="en-US" sz="5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9801E7-40DE-A311-1238-C3734A520E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29120" y="1584000"/>
            <a:ext cx="3133760" cy="211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525598" cy="5528766"/>
          </a:xfrm>
        </p:spPr>
        <p:txBody>
          <a:bodyPr>
            <a:normAutofit/>
          </a:bodyPr>
          <a:lstStyle/>
          <a:p>
            <a:r>
              <a:rPr lang="bg-BG" sz="3000" dirty="0"/>
              <a:t>Използват се за </a:t>
            </a:r>
            <a:r>
              <a:rPr lang="bg-BG" sz="3000" b="1" dirty="0">
                <a:solidFill>
                  <a:schemeClr val="bg1"/>
                </a:solidFill>
              </a:rPr>
              <a:t>текст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фон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рамки</a:t>
            </a:r>
            <a:r>
              <a:rPr lang="bg-BG" sz="3000" dirty="0"/>
              <a:t> и </a:t>
            </a:r>
            <a:r>
              <a:rPr lang="bg-BG" sz="3000" b="1" dirty="0"/>
              <a:t>други елементи</a:t>
            </a:r>
            <a:endParaRPr lang="bg-BG" sz="3000" b="1" dirty="0">
              <a:solidFill>
                <a:schemeClr val="bg1"/>
              </a:solidFill>
            </a:endParaRPr>
          </a:p>
          <a:p>
            <a:r>
              <a:rPr lang="bg-BG" sz="3000" dirty="0"/>
              <a:t>Могат да се </a:t>
            </a:r>
            <a:r>
              <a:rPr lang="bg-BG" sz="3000" b="1" dirty="0"/>
              <a:t>задават</a:t>
            </a:r>
            <a:r>
              <a:rPr lang="bg-BG" sz="3000" dirty="0"/>
              <a:t> по </a:t>
            </a:r>
            <a:r>
              <a:rPr lang="bg-BG" sz="3000" b="1" dirty="0">
                <a:solidFill>
                  <a:schemeClr val="bg1"/>
                </a:solidFill>
              </a:rPr>
              <a:t>различни начини</a:t>
            </a:r>
          </a:p>
          <a:p>
            <a:r>
              <a:rPr lang="bg-BG" sz="3000" dirty="0"/>
              <a:t>Най-често се използват </a:t>
            </a:r>
            <a:r>
              <a:rPr lang="bg-BG" sz="3000" b="1" dirty="0">
                <a:solidFill>
                  <a:schemeClr val="bg1"/>
                </a:solidFill>
              </a:rPr>
              <a:t>имена на цветове</a:t>
            </a:r>
            <a:r>
              <a:rPr lang="bg-BG" sz="3000" dirty="0"/>
              <a:t>, </a:t>
            </a:r>
            <a:r>
              <a:rPr lang="en-US" sz="3000" b="1" dirty="0">
                <a:solidFill>
                  <a:schemeClr val="bg1"/>
                </a:solidFill>
              </a:rPr>
              <a:t>HEX</a:t>
            </a:r>
            <a:r>
              <a:rPr lang="en-US" sz="3000" dirty="0"/>
              <a:t> </a:t>
            </a:r>
            <a:r>
              <a:rPr lang="bg-BG" sz="3000" dirty="0"/>
              <a:t>и </a:t>
            </a:r>
            <a:r>
              <a:rPr lang="en-US" sz="3000" b="1" dirty="0">
                <a:solidFill>
                  <a:schemeClr val="bg1"/>
                </a:solidFill>
              </a:rPr>
              <a:t>RGB </a:t>
            </a:r>
            <a:r>
              <a:rPr lang="bg-BG" sz="3000" b="1" dirty="0">
                <a:solidFill>
                  <a:schemeClr val="bg1"/>
                </a:solidFill>
              </a:rPr>
              <a:t>стойности</a:t>
            </a:r>
          </a:p>
          <a:p>
            <a:pPr lvl="1"/>
            <a:r>
              <a:rPr lang="en-US" sz="2800" b="1" dirty="0">
                <a:solidFill>
                  <a:schemeClr val="bg1"/>
                </a:solidFill>
              </a:rPr>
              <a:t>HEX</a:t>
            </a:r>
            <a:r>
              <a:rPr lang="en-US" sz="2800" b="1" dirty="0"/>
              <a:t> (</a:t>
            </a:r>
            <a:r>
              <a:rPr lang="en-US" sz="2800" b="1" dirty="0">
                <a:solidFill>
                  <a:schemeClr val="bg1"/>
                </a:solidFill>
              </a:rPr>
              <a:t>Hex</a:t>
            </a:r>
            <a:r>
              <a:rPr lang="en-US" sz="2800" b="1" dirty="0"/>
              <a:t>adecimal) </a:t>
            </a:r>
            <a:r>
              <a:rPr lang="bg-BG" sz="2800" dirty="0"/>
              <a:t>–</a:t>
            </a:r>
            <a:r>
              <a:rPr lang="en-US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шестнадесетичен код</a:t>
            </a:r>
            <a:r>
              <a:rPr lang="bg-BG" sz="2800" dirty="0"/>
              <a:t>, започващ с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sz="2800" dirty="0"/>
              <a:t> (</a:t>
            </a:r>
            <a:r>
              <a:rPr lang="bg-BG" sz="2800" dirty="0"/>
              <a:t>напр. "</a:t>
            </a: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FF5733</a:t>
            </a:r>
            <a:r>
              <a:rPr lang="bg-BG" sz="2800" dirty="0"/>
              <a:t>"</a:t>
            </a:r>
            <a:r>
              <a:rPr lang="en-US" sz="2800" dirty="0"/>
              <a:t>)</a:t>
            </a:r>
          </a:p>
          <a:p>
            <a:pPr lvl="1"/>
            <a:r>
              <a:rPr lang="en-US" sz="2800" b="1" dirty="0">
                <a:solidFill>
                  <a:schemeClr val="bg1"/>
                </a:solidFill>
              </a:rPr>
              <a:t>RGB</a:t>
            </a:r>
            <a:r>
              <a:rPr lang="en-US" sz="2800" b="1" dirty="0"/>
              <a:t> (</a:t>
            </a:r>
            <a:r>
              <a:rPr lang="en-US" sz="2800" b="1" dirty="0">
                <a:solidFill>
                  <a:schemeClr val="bg1"/>
                </a:solidFill>
              </a:rPr>
              <a:t>R</a:t>
            </a:r>
            <a:r>
              <a:rPr lang="en-US" sz="2800" b="1" dirty="0"/>
              <a:t>ed, </a:t>
            </a:r>
            <a:r>
              <a:rPr lang="en-US" sz="2800" b="1" dirty="0">
                <a:solidFill>
                  <a:schemeClr val="bg1"/>
                </a:solidFill>
              </a:rPr>
              <a:t>G</a:t>
            </a:r>
            <a:r>
              <a:rPr lang="en-US" sz="2800" b="1" dirty="0"/>
              <a:t>reen, </a:t>
            </a:r>
            <a:r>
              <a:rPr lang="en-US" sz="2800" b="1" dirty="0">
                <a:solidFill>
                  <a:schemeClr val="bg1"/>
                </a:solidFill>
              </a:rPr>
              <a:t>B</a:t>
            </a:r>
            <a:r>
              <a:rPr lang="en-US" sz="2800" b="1" dirty="0"/>
              <a:t>lue)</a:t>
            </a:r>
            <a:r>
              <a:rPr lang="bg-BG" sz="2800" dirty="0"/>
              <a:t> – </a:t>
            </a:r>
            <a:r>
              <a:rPr lang="bg-BG" sz="2800" b="1" dirty="0">
                <a:solidFill>
                  <a:schemeClr val="bg1"/>
                </a:solidFill>
              </a:rPr>
              <a:t>комбинация от стойности </a:t>
            </a:r>
            <a:r>
              <a:rPr lang="bg-BG" sz="2800" dirty="0"/>
              <a:t>на </a:t>
            </a:r>
            <a:r>
              <a:rPr lang="bg-BG" sz="2800" b="1" dirty="0"/>
              <a:t>червено</a:t>
            </a:r>
            <a:r>
              <a:rPr lang="bg-BG" sz="2800" dirty="0"/>
              <a:t>, </a:t>
            </a:r>
            <a:r>
              <a:rPr lang="bg-BG" sz="2800" b="1" dirty="0"/>
              <a:t>зелено</a:t>
            </a:r>
            <a:r>
              <a:rPr lang="bg-BG" sz="2800" dirty="0"/>
              <a:t> и </a:t>
            </a:r>
            <a:r>
              <a:rPr lang="bg-BG" sz="2800" b="1" dirty="0"/>
              <a:t>синьо</a:t>
            </a:r>
            <a:r>
              <a:rPr lang="bg-BG" sz="2800" dirty="0"/>
              <a:t> в </a:t>
            </a:r>
            <a:r>
              <a:rPr lang="bg-BG" sz="2800" b="1" dirty="0"/>
              <a:t>диапазон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0-255</a:t>
            </a:r>
            <a:r>
              <a:rPr lang="bg-BG" sz="2800" dirty="0"/>
              <a:t> (напр. "</a:t>
            </a:r>
            <a:r>
              <a:rPr lang="en-US" sz="2800" b="1" dirty="0"/>
              <a:t>rgb(255, 87, 51</a:t>
            </a:r>
            <a:r>
              <a:rPr lang="bg-BG" sz="2800" b="1" dirty="0"/>
              <a:t>)</a:t>
            </a:r>
            <a:r>
              <a:rPr lang="bg-BG" sz="2800" dirty="0"/>
              <a:t>"</a:t>
            </a:r>
            <a:r>
              <a:rPr lang="en-US" sz="2800" dirty="0"/>
              <a:t>)</a:t>
            </a:r>
            <a:endParaRPr lang="bg-BG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Цветове в C</a:t>
            </a:r>
            <a:r>
              <a:rPr lang="en-US" dirty="0"/>
              <a:t>SS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C5783E-F341-8F42-C78E-E2E05E7E74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9603" y="2064429"/>
            <a:ext cx="4338827" cy="104566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3E4135-7EE5-D58E-5242-B151A0B7DA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16000" y="3960508"/>
            <a:ext cx="4294566" cy="107935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003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Цветови стойности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EAE46-FEBC-8928-A7CF-E4B8DF9872A6}"/>
              </a:ext>
            </a:extLst>
          </p:cNvPr>
          <p:cNvSpPr txBox="1">
            <a:spLocks/>
          </p:cNvSpPr>
          <p:nvPr/>
        </p:nvSpPr>
        <p:spPr>
          <a:xfrm>
            <a:off x="2256262" y="1655942"/>
            <a:ext cx="7740000" cy="44935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h1 {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color: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blue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GB" sz="2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p {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color: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#0000FF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GB" sz="2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header {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background-color: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rgb(0, 0, 255)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AA15BE32-4986-EFCB-0BAD-81FB6CED30DC}"/>
              </a:ext>
            </a:extLst>
          </p:cNvPr>
          <p:cNvSpPr/>
          <p:nvPr/>
        </p:nvSpPr>
        <p:spPr bwMode="auto">
          <a:xfrm>
            <a:off x="6126262" y="1849523"/>
            <a:ext cx="2272904" cy="441116"/>
          </a:xfrm>
          <a:prstGeom prst="wedgeRoundRectCallout">
            <a:avLst>
              <a:gd name="adj1" fmla="val -85940"/>
              <a:gd name="adj2" fmla="val 5272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цвят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31F7FC9-0240-4857-9F94-79FB8309787E}"/>
              </a:ext>
            </a:extLst>
          </p:cNvPr>
          <p:cNvSpPr/>
          <p:nvPr/>
        </p:nvSpPr>
        <p:spPr bwMode="auto">
          <a:xfrm>
            <a:off x="6126262" y="3541691"/>
            <a:ext cx="2272904" cy="441116"/>
          </a:xfrm>
          <a:prstGeom prst="wedgeRoundRectCallout">
            <a:avLst>
              <a:gd name="adj1" fmla="val -63707"/>
              <a:gd name="adj2" fmla="val 2662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HEX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стойност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8980B898-F68E-7B28-3A86-21187F4A1761}"/>
              </a:ext>
            </a:extLst>
          </p:cNvPr>
          <p:cNvSpPr/>
          <p:nvPr/>
        </p:nvSpPr>
        <p:spPr bwMode="auto">
          <a:xfrm>
            <a:off x="8389754" y="4404469"/>
            <a:ext cx="2272904" cy="441116"/>
          </a:xfrm>
          <a:prstGeom prst="wedgeRoundRectCallout">
            <a:avLst>
              <a:gd name="adj1" fmla="val -61576"/>
              <a:gd name="adj2" fmla="val 1403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RGB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стойност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164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400" b="1" dirty="0"/>
              <a:t>Текстът</a:t>
            </a:r>
            <a:r>
              <a:rPr lang="bg-BG" sz="3400" dirty="0"/>
              <a:t> трябва да се вижда </a:t>
            </a:r>
            <a:r>
              <a:rPr lang="bg-BG" sz="3400" b="1" dirty="0">
                <a:solidFill>
                  <a:schemeClr val="bg1"/>
                </a:solidFill>
              </a:rPr>
              <a:t>ясно върху фона</a:t>
            </a:r>
          </a:p>
          <a:p>
            <a:r>
              <a:rPr lang="bg-BG" sz="3400" b="1" dirty="0"/>
              <a:t>Добрият контраст </a:t>
            </a:r>
            <a:r>
              <a:rPr lang="bg-BG" sz="3400" b="1" dirty="0">
                <a:solidFill>
                  <a:schemeClr val="bg1"/>
                </a:solidFill>
              </a:rPr>
              <a:t>подобрява</a:t>
            </a:r>
            <a:r>
              <a:rPr lang="bg-BG" sz="3400" dirty="0"/>
              <a:t> </a:t>
            </a:r>
            <a:r>
              <a:rPr lang="bg-BG" sz="3400" b="1" dirty="0">
                <a:solidFill>
                  <a:schemeClr val="bg1"/>
                </a:solidFill>
              </a:rPr>
              <a:t>четимостта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Цветове и добър контраст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C9AA7C-0E68-04C7-90E0-4A86631E62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6000" y="2603386"/>
            <a:ext cx="4500000" cy="3903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5DD71F-AFF8-650C-FA05-987435C3F5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2603386"/>
            <a:ext cx="4500000" cy="390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6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Цветове и фон </a:t>
            </a:r>
            <a:r>
              <a:rPr lang="bg-BG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AE175-F3CB-307C-DF0D-CA582714D1ED}"/>
              </a:ext>
            </a:extLst>
          </p:cNvPr>
          <p:cNvSpPr txBox="1">
            <a:spLocks/>
          </p:cNvSpPr>
          <p:nvPr/>
        </p:nvSpPr>
        <p:spPr>
          <a:xfrm>
            <a:off x="402436" y="1854000"/>
            <a:ext cx="11350594" cy="169277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&lt;section class="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banner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&lt;h2&gt;</a:t>
            </a:r>
            <a:r>
              <a:rPr lang="bg-BG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Лятна ваканция&lt;/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&lt;p&gt;</a:t>
            </a:r>
            <a:r>
              <a:rPr lang="bg-BG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Планирайте следващото си приключение.&lt;/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2BBC625-E72A-371D-3C9F-4EEF3574348F}"/>
              </a:ext>
            </a:extLst>
          </p:cNvPr>
          <p:cNvSpPr txBox="1">
            <a:spLocks/>
          </p:cNvSpPr>
          <p:nvPr/>
        </p:nvSpPr>
        <p:spPr>
          <a:xfrm>
            <a:off x="402436" y="3973052"/>
            <a:ext cx="7740000" cy="20928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banner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background-color: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#87CEEB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color: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white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padding: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20px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B4197B-FAF9-ED31-4B5E-3F7172945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0999" y="3281270"/>
            <a:ext cx="6094111" cy="181273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6051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b="1" dirty="0"/>
              <a:t>C</a:t>
            </a:r>
            <a:r>
              <a:rPr lang="en-US" sz="3600" b="1" dirty="0"/>
              <a:t>SS </a:t>
            </a:r>
            <a:r>
              <a:rPr lang="bg-BG" sz="3600" dirty="0"/>
              <a:t>позволява задаване на </a:t>
            </a:r>
            <a:r>
              <a:rPr lang="bg-BG" sz="3600" b="1" dirty="0">
                <a:solidFill>
                  <a:schemeClr val="bg1"/>
                </a:solidFill>
              </a:rPr>
              <a:t>изображение</a:t>
            </a:r>
            <a:r>
              <a:rPr lang="bg-BG" sz="3600" dirty="0"/>
              <a:t> като </a:t>
            </a:r>
            <a:r>
              <a:rPr lang="bg-BG" sz="3600" b="1" dirty="0">
                <a:solidFill>
                  <a:schemeClr val="bg1"/>
                </a:solidFill>
              </a:rPr>
              <a:t>фон</a:t>
            </a:r>
          </a:p>
          <a:p>
            <a:endParaRPr lang="bg-BG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Изображения за фон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203E4-F4EE-E22F-93F9-3730F82F63DD}"/>
              </a:ext>
            </a:extLst>
          </p:cNvPr>
          <p:cNvSpPr txBox="1">
            <a:spLocks/>
          </p:cNvSpPr>
          <p:nvPr/>
        </p:nvSpPr>
        <p:spPr>
          <a:xfrm>
            <a:off x="876000" y="2889000"/>
            <a:ext cx="10097349" cy="249299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body {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background-image: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url("background.jpg")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background-size: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cover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background-position: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background-repeat: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no-repeat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B1173B67-34A9-7E20-6B09-29A0343BBBAB}"/>
              </a:ext>
            </a:extLst>
          </p:cNvPr>
          <p:cNvSpPr/>
          <p:nvPr/>
        </p:nvSpPr>
        <p:spPr bwMode="auto">
          <a:xfrm>
            <a:off x="6366000" y="2120580"/>
            <a:ext cx="4607348" cy="555699"/>
          </a:xfrm>
          <a:prstGeom prst="wedgeRoundRectCallout">
            <a:avLst>
              <a:gd name="adj1" fmla="val -46110"/>
              <a:gd name="adj2" fmla="val 19870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Задава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изображение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фон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DED3073C-D916-F218-2209-E117DFE859FD}"/>
              </a:ext>
            </a:extLst>
          </p:cNvPr>
          <p:cNvSpPr/>
          <p:nvPr/>
        </p:nvSpPr>
        <p:spPr bwMode="auto">
          <a:xfrm>
            <a:off x="7544674" y="3914936"/>
            <a:ext cx="3771325" cy="555699"/>
          </a:xfrm>
          <a:prstGeom prst="wedgeRoundRectCallout">
            <a:avLst>
              <a:gd name="adj1" fmla="val -94330"/>
              <a:gd name="adj2" fmla="val -4070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Покрива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цялата област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79C1A75F-1695-C341-B80E-13CB5636B298}"/>
              </a:ext>
            </a:extLst>
          </p:cNvPr>
          <p:cNvSpPr/>
          <p:nvPr/>
        </p:nvSpPr>
        <p:spPr bwMode="auto">
          <a:xfrm>
            <a:off x="7314912" y="5493228"/>
            <a:ext cx="4172030" cy="555699"/>
          </a:xfrm>
          <a:prstGeom prst="wedgeRoundRectCallout">
            <a:avLst>
              <a:gd name="adj1" fmla="val -62929"/>
              <a:gd name="adj2" fmla="val -24897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Центрира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изображението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7EEBDB4C-7F50-249A-7892-5675637F703A}"/>
              </a:ext>
            </a:extLst>
          </p:cNvPr>
          <p:cNvSpPr/>
          <p:nvPr/>
        </p:nvSpPr>
        <p:spPr bwMode="auto">
          <a:xfrm>
            <a:off x="2784369" y="5493229"/>
            <a:ext cx="4172030" cy="555698"/>
          </a:xfrm>
          <a:prstGeom prst="wedgeRoundRectCallout">
            <a:avLst>
              <a:gd name="adj1" fmla="val 24723"/>
              <a:gd name="adj2" fmla="val -15854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 повтаря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изображението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429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Изображения за фон </a:t>
            </a:r>
            <a:r>
              <a:rPr lang="bg-BG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323594D-6DF6-169C-1A50-94384D606A57}"/>
              </a:ext>
            </a:extLst>
          </p:cNvPr>
          <p:cNvSpPr txBox="1">
            <a:spLocks/>
          </p:cNvSpPr>
          <p:nvPr/>
        </p:nvSpPr>
        <p:spPr>
          <a:xfrm>
            <a:off x="402436" y="1269000"/>
            <a:ext cx="11350594" cy="14465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&lt;section class="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banner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&lt;h2&gt;</a:t>
            </a: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Лятна ваканция&lt;/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&lt;p&gt;</a:t>
            </a: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Планирайте следващото си приключение.&lt;/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371CABF-BB2C-2137-1909-F33DF4F137DB}"/>
              </a:ext>
            </a:extLst>
          </p:cNvPr>
          <p:cNvSpPr txBox="1">
            <a:spLocks/>
          </p:cNvSpPr>
          <p:nvPr/>
        </p:nvSpPr>
        <p:spPr>
          <a:xfrm>
            <a:off x="402436" y="2818940"/>
            <a:ext cx="9743564" cy="31393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banner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background-image: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url("background.jpg")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background-size: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cover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background-position: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background-repeat: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no-repeat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color: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white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text-shadow: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2px 2px 6px gray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padding: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20px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C76AAE-884E-48DC-D1EC-A37732815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1000" y="4586806"/>
            <a:ext cx="6227916" cy="187083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9347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Външни шрифтове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200" dirty="0"/>
              <a:t>Шрифтове и текст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D3DC7-D53A-BB4B-6433-48DD85285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500" y="1404381"/>
            <a:ext cx="2439000" cy="243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4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0034A-D1BB-D74F-513F-438462E1D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C3FC5-0EA9-EF02-A0DD-B8B3E1E1B7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CSS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позволява използване на 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стандартни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външни шрифтове</a:t>
            </a:r>
          </a:p>
          <a:p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Влияят върху 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стила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четимостта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страницата</a:t>
            </a:r>
          </a:p>
          <a:p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Добра практика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е да се задава 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резервен шрифт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B08C65-8AA0-9891-E1E5-3D1E0667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Шрифтове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D2C0ABC-47A7-5EF4-2A6C-404EA0A77CAB}"/>
              </a:ext>
            </a:extLst>
          </p:cNvPr>
          <p:cNvSpPr txBox="1">
            <a:spLocks/>
          </p:cNvSpPr>
          <p:nvPr/>
        </p:nvSpPr>
        <p:spPr>
          <a:xfrm>
            <a:off x="1047325" y="4369213"/>
            <a:ext cx="10097349" cy="129266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body {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font-family: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Arial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sans-serif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9D7246B4-871A-0CC8-28AE-3FE77443E1FD}"/>
              </a:ext>
            </a:extLst>
          </p:cNvPr>
          <p:cNvSpPr/>
          <p:nvPr/>
        </p:nvSpPr>
        <p:spPr bwMode="auto">
          <a:xfrm>
            <a:off x="3621000" y="3564000"/>
            <a:ext cx="2641669" cy="490662"/>
          </a:xfrm>
          <a:prstGeom prst="wedgeRoundRectCallout">
            <a:avLst>
              <a:gd name="adj1" fmla="val -11006"/>
              <a:gd name="adj2" fmla="val 20427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Основен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шрифт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A111771D-D160-6287-0AB9-166D34134061}"/>
              </a:ext>
            </a:extLst>
          </p:cNvPr>
          <p:cNvSpPr/>
          <p:nvPr/>
        </p:nvSpPr>
        <p:spPr bwMode="auto">
          <a:xfrm>
            <a:off x="5826000" y="5773746"/>
            <a:ext cx="3384173" cy="535254"/>
          </a:xfrm>
          <a:prstGeom prst="wedgeRoundRectCallout">
            <a:avLst>
              <a:gd name="adj1" fmla="val -26268"/>
              <a:gd name="adj2" fmla="val -1503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Резервен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 шрифт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583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0034A-D1BB-D74F-513F-438462E1D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C3FC5-0EA9-EF02-A0DD-B8B3E1E1B7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 са задължително инсталирани 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bg-BG" b="1" dirty="0">
                <a:latin typeface="Calibri" panose="020F0502020204030204" pitchFamily="34" charset="0"/>
                <a:cs typeface="Calibri" panose="020F0502020204030204" pitchFamily="34" charset="0"/>
              </a:rPr>
              <a:t>компютъра</a:t>
            </a:r>
          </a:p>
          <a:p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Зареждат се от </a:t>
            </a: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външен източник</a:t>
            </a:r>
          </a:p>
          <a:p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Често използвана </a:t>
            </a:r>
            <a:r>
              <a:rPr lang="bg-BG" b="1" dirty="0">
                <a:latin typeface="Calibri" panose="020F0502020204030204" pitchFamily="34" charset="0"/>
                <a:cs typeface="Calibri" panose="020F0502020204030204" pitchFamily="34" charset="0"/>
              </a:rPr>
              <a:t>услуга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 е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Google Fonts</a:t>
            </a:r>
            <a:endParaRPr lang="bg-BG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B08C65-8AA0-9891-E1E5-3D1E0667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Външни шрифтове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3C3AF3-3798-B4FE-655C-BD5350CB9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900" y="4419000"/>
            <a:ext cx="6676200" cy="96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B7E35-6D2E-FC8B-870B-140011305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DB7C1-11C3-FA5C-1F42-DE2A3786C0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200" dirty="0"/>
              <a:t>Отваряме </a:t>
            </a:r>
            <a:r>
              <a:rPr lang="en-GB" sz="3200" b="1" dirty="0">
                <a:solidFill>
                  <a:schemeClr val="bg1"/>
                </a:solidFill>
              </a:rPr>
              <a:t>Google Fonts </a:t>
            </a:r>
            <a:r>
              <a:rPr lang="bg-BG" sz="3200" dirty="0"/>
              <a:t>–</a:t>
            </a:r>
            <a:r>
              <a:rPr lang="en-GB" sz="3200" b="1" dirty="0">
                <a:solidFill>
                  <a:schemeClr val="bg1"/>
                </a:solidFill>
              </a:rPr>
              <a:t> </a:t>
            </a:r>
            <a:r>
              <a:rPr lang="en-GB" sz="3200" b="1" dirty="0">
                <a:solidFill>
                  <a:schemeClr val="bg1"/>
                </a:solidFill>
                <a:hlinkClick r:id="rId2"/>
              </a:rPr>
              <a:t>fonts.google.com</a:t>
            </a:r>
            <a:endParaRPr lang="en-GB" sz="3200" b="1" dirty="0">
              <a:solidFill>
                <a:schemeClr val="bg1"/>
              </a:solidFill>
            </a:endParaRPr>
          </a:p>
          <a:p>
            <a:r>
              <a:rPr lang="bg-BG" sz="3200" dirty="0"/>
              <a:t>Избираме </a:t>
            </a:r>
            <a:r>
              <a:rPr lang="bg-BG" sz="3200" b="1" dirty="0"/>
              <a:t>подходящ шрифт </a:t>
            </a:r>
          </a:p>
          <a:p>
            <a:r>
              <a:rPr lang="bg-BG" sz="3200" dirty="0"/>
              <a:t>Копираме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link&gt;</a:t>
            </a:r>
            <a:r>
              <a:rPr lang="en-GB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b="1" dirty="0"/>
              <a:t>кода</a:t>
            </a:r>
            <a:r>
              <a:rPr lang="bg-BG" sz="3200" dirty="0"/>
              <a:t> 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166BA0-2002-E787-42DA-B56E5DAD5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</a:t>
            </a:r>
            <a:r>
              <a:rPr lang="en-US" dirty="0"/>
              <a:t>Google Fonts</a:t>
            </a:r>
            <a:r>
              <a:rPr lang="bg-BG" dirty="0"/>
              <a:t>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E7051B-EA63-0329-7A4A-1E60ECEC6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000" y="3256467"/>
            <a:ext cx="3510000" cy="325053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0B95B4-F936-E0CC-91D4-3EF013EBD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1393" y="3699000"/>
            <a:ext cx="6996381" cy="220132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Arrow: Right 10">
            <a:extLst>
              <a:ext uri="{FF2B5EF4-FFF2-40B4-BE49-F238E27FC236}">
                <a16:creationId xmlns:a16="http://schemas.microsoft.com/office/drawing/2014/main" id="{D835DA84-34BF-4578-F31C-42A1762374DB}"/>
              </a:ext>
            </a:extLst>
          </p:cNvPr>
          <p:cNvSpPr/>
          <p:nvPr/>
        </p:nvSpPr>
        <p:spPr>
          <a:xfrm>
            <a:off x="3860660" y="4267078"/>
            <a:ext cx="1174001" cy="10651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45525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B7E35-6D2E-FC8B-870B-140011305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DB7C1-11C3-FA5C-1F42-DE2A3786C0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dirty="0"/>
              <a:t>Поставяме го в 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head&gt;</a:t>
            </a:r>
            <a:r>
              <a:rPr lang="en-GB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/>
              <a:t>частта</a:t>
            </a:r>
            <a:endParaRPr lang="bg-BG" sz="3000" dirty="0"/>
          </a:p>
          <a:p>
            <a:endParaRPr lang="bg-BG" sz="3000" dirty="0"/>
          </a:p>
          <a:p>
            <a:endParaRPr lang="bg-BG" sz="3000" dirty="0"/>
          </a:p>
          <a:p>
            <a:r>
              <a:rPr lang="bg-BG" sz="3000" dirty="0"/>
              <a:t>Използваме </a:t>
            </a:r>
            <a:r>
              <a:rPr lang="bg-BG" sz="3000" b="1" dirty="0"/>
              <a:t>шрифта</a:t>
            </a:r>
            <a:r>
              <a:rPr lang="bg-BG" sz="3000" dirty="0"/>
              <a:t> чрез </a:t>
            </a:r>
            <a:r>
              <a:rPr lang="en-GB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font-family</a:t>
            </a:r>
            <a:r>
              <a:rPr lang="en-GB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166BA0-2002-E787-42DA-B56E5DAD5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</a:t>
            </a:r>
            <a:r>
              <a:rPr lang="en-US" dirty="0"/>
              <a:t>Google Fonts</a:t>
            </a:r>
            <a:r>
              <a:rPr lang="bg-BG" dirty="0"/>
              <a:t> </a:t>
            </a:r>
            <a:r>
              <a:rPr lang="en-US" dirty="0"/>
              <a:t>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CF49D0-E773-DB6A-A182-C2C3EF541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283" y="1850131"/>
            <a:ext cx="11907434" cy="113758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770DD9-A081-2380-D1E2-BB61456B0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729" y="3679004"/>
            <a:ext cx="5529195" cy="106835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86F96E-470D-6B18-EEDB-DCAAF6634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6000" y="4509388"/>
            <a:ext cx="6106548" cy="185851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7048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sz="4800" dirty="0"/>
              <a:t>Grid </a:t>
            </a:r>
            <a:r>
              <a:rPr lang="bg-BG" sz="4800" dirty="0"/>
              <a:t>система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400" dirty="0"/>
              <a:t>Подредба на елементи</a:t>
            </a:r>
            <a:endParaRPr lang="en-GB" sz="54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5714D1-B151-7EDD-7F92-4FCEB51CA3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032" t="18504" r="11032" b="23753"/>
          <a:stretch/>
        </p:blipFill>
        <p:spPr>
          <a:xfrm>
            <a:off x="4840090" y="1366016"/>
            <a:ext cx="2511819" cy="26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dirty="0"/>
              <a:t>Определя </a:t>
            </a:r>
            <a:r>
              <a:rPr lang="bg-BG" sz="3000" b="1" dirty="0">
                <a:solidFill>
                  <a:schemeClr val="bg1"/>
                </a:solidFill>
              </a:rPr>
              <a:t>как</a:t>
            </a:r>
            <a:r>
              <a:rPr lang="bg-BG" sz="3000" b="1" dirty="0"/>
              <a:t> елементите </a:t>
            </a:r>
            <a:r>
              <a:rPr lang="bg-BG" sz="3000" dirty="0"/>
              <a:t>са </a:t>
            </a:r>
            <a:r>
              <a:rPr lang="bg-BG" sz="3000" b="1" dirty="0">
                <a:solidFill>
                  <a:schemeClr val="bg1"/>
                </a:solidFill>
              </a:rPr>
              <a:t>разположени</a:t>
            </a:r>
            <a:r>
              <a:rPr lang="bg-BG" sz="3000" dirty="0"/>
              <a:t> в </a:t>
            </a:r>
            <a:r>
              <a:rPr lang="bg-BG" sz="3000" b="1" dirty="0"/>
              <a:t>уеб страницата</a:t>
            </a:r>
          </a:p>
          <a:p>
            <a:r>
              <a:rPr lang="bg-BG" sz="3000" b="1" dirty="0"/>
              <a:t>C</a:t>
            </a:r>
            <a:r>
              <a:rPr lang="en-US" sz="3000" b="1" dirty="0"/>
              <a:t>SS </a:t>
            </a:r>
            <a:r>
              <a:rPr lang="bg-BG" sz="3000" dirty="0"/>
              <a:t>позволява </a:t>
            </a:r>
            <a:r>
              <a:rPr lang="bg-BG" sz="3000" b="1" dirty="0"/>
              <a:t>създаване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колони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редове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разстояния</a:t>
            </a:r>
            <a:r>
              <a:rPr lang="bg-BG" sz="3000" dirty="0"/>
              <a:t> между </a:t>
            </a:r>
            <a:r>
              <a:rPr lang="bg-BG" sz="3000" b="1" dirty="0"/>
              <a:t>елементите</a:t>
            </a:r>
          </a:p>
          <a:p>
            <a:r>
              <a:rPr lang="en-US" sz="3000" b="1" dirty="0">
                <a:solidFill>
                  <a:schemeClr val="bg1"/>
                </a:solidFill>
              </a:rPr>
              <a:t>Grid </a:t>
            </a:r>
            <a:r>
              <a:rPr lang="bg-BG" sz="3000" b="1" dirty="0">
                <a:solidFill>
                  <a:schemeClr val="bg1"/>
                </a:solidFill>
              </a:rPr>
              <a:t>системата </a:t>
            </a:r>
            <a:r>
              <a:rPr lang="bg-BG" sz="3000" dirty="0"/>
              <a:t>е подходяща за </a:t>
            </a:r>
            <a:r>
              <a:rPr lang="bg-BG" sz="3000" b="1" dirty="0"/>
              <a:t>оформление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секции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карти</a:t>
            </a:r>
            <a:endParaRPr lang="en-US" sz="3000" b="1" dirty="0">
              <a:solidFill>
                <a:schemeClr val="bg1"/>
              </a:solidFill>
            </a:endParaRPr>
          </a:p>
          <a:p>
            <a:endParaRPr lang="en-US" sz="3600" dirty="0"/>
          </a:p>
          <a:p>
            <a:endParaRPr lang="en-BG" sz="34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Подредба на елементи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746DE-0E4E-BB48-C517-28B460DFE8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5" t="19602" r="67662" b="44116"/>
          <a:stretch/>
        </p:blipFill>
        <p:spPr>
          <a:xfrm>
            <a:off x="1281000" y="4013243"/>
            <a:ext cx="2475000" cy="184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48AFE5-2040-206A-0433-FF6AFD43AD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31" t="19802" r="36306" b="43916"/>
          <a:stretch/>
        </p:blipFill>
        <p:spPr>
          <a:xfrm>
            <a:off x="4858500" y="4030997"/>
            <a:ext cx="2475000" cy="184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1B9DFA-8E90-FEE3-1F2C-E37082EC85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94" t="19600" r="4343" b="44118"/>
          <a:stretch/>
        </p:blipFill>
        <p:spPr>
          <a:xfrm>
            <a:off x="8436000" y="4013243"/>
            <a:ext cx="2475000" cy="18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8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Използва се за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подреждане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елементите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редове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колони</a:t>
            </a:r>
          </a:p>
          <a:p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Подходяща е за създаване на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галерии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карти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секции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цялостно оформление</a:t>
            </a:r>
          </a:p>
          <a:p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Работи чрез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контейнер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елементи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в него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600" b="1" dirty="0">
              <a:solidFill>
                <a:schemeClr val="bg1"/>
              </a:solidFill>
            </a:endParaRPr>
          </a:p>
          <a:p>
            <a:endParaRPr lang="en-US" sz="3600" b="1" dirty="0">
              <a:solidFill>
                <a:schemeClr val="bg1"/>
              </a:solidFill>
            </a:endParaRPr>
          </a:p>
          <a:p>
            <a:endParaRPr lang="en-BG" sz="34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</a:t>
            </a:r>
            <a:r>
              <a:rPr lang="bg-BG" dirty="0"/>
              <a:t>система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9995AA-AAEC-6A3E-A587-BD7EB160B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7940" y="3687250"/>
            <a:ext cx="3496120" cy="296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4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</a:t>
            </a:r>
            <a:r>
              <a:rPr lang="bg-BG" dirty="0"/>
              <a:t>система</a:t>
            </a:r>
            <a:endParaRPr lang="en-BG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07CEA32-8D52-8E70-32B2-588115CFB842}"/>
              </a:ext>
            </a:extLst>
          </p:cNvPr>
          <p:cNvSpPr txBox="1">
            <a:spLocks/>
          </p:cNvSpPr>
          <p:nvPr/>
        </p:nvSpPr>
        <p:spPr>
          <a:xfrm>
            <a:off x="376437" y="1269000"/>
            <a:ext cx="10097349" cy="163121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&lt;div class="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cards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&lt;div class="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"&gt;HTML&lt;/div&gt;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&lt;div class="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"&gt;CSS&lt;/div&gt;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&lt;div class="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"&gt;JavaScript&lt;/div&gt;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&lt;/div&gt;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F955E23-D525-98C6-A98D-3A32479A80FF}"/>
              </a:ext>
            </a:extLst>
          </p:cNvPr>
          <p:cNvSpPr txBox="1">
            <a:spLocks/>
          </p:cNvSpPr>
          <p:nvPr/>
        </p:nvSpPr>
        <p:spPr>
          <a:xfrm>
            <a:off x="376437" y="2988616"/>
            <a:ext cx="10097349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.cards {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grid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grid-template-columns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1fr 1fr 1fr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gap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20px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GB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.card {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background-color: #f0f0f0;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padding: 20px;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text-align: center;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font-size: 1.5em;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F60839BD-599D-06B1-956E-AED12FC31737}"/>
              </a:ext>
            </a:extLst>
          </p:cNvPr>
          <p:cNvSpPr/>
          <p:nvPr/>
        </p:nvSpPr>
        <p:spPr bwMode="auto">
          <a:xfrm>
            <a:off x="3400111" y="2759990"/>
            <a:ext cx="3955889" cy="509443"/>
          </a:xfrm>
          <a:prstGeom prst="wedgeRoundRectCallout">
            <a:avLst>
              <a:gd name="adj1" fmla="val -59394"/>
              <a:gd name="adj2" fmla="val 965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Активира 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Grid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подредба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8A68FEC6-AFE0-F5C2-2D46-91C15E0BD9A4}"/>
              </a:ext>
            </a:extLst>
          </p:cNvPr>
          <p:cNvSpPr/>
          <p:nvPr/>
        </p:nvSpPr>
        <p:spPr bwMode="auto">
          <a:xfrm>
            <a:off x="6372824" y="3414556"/>
            <a:ext cx="4050000" cy="509443"/>
          </a:xfrm>
          <a:prstGeom prst="wedgeRoundRectCallout">
            <a:avLst>
              <a:gd name="adj1" fmla="val -60397"/>
              <a:gd name="adj2" fmla="val 2879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Задава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броя на колоните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7CBC8EF4-039E-2036-275A-5F8604151B21}"/>
              </a:ext>
            </a:extLst>
          </p:cNvPr>
          <p:cNvSpPr/>
          <p:nvPr/>
        </p:nvSpPr>
        <p:spPr bwMode="auto">
          <a:xfrm>
            <a:off x="8395773" y="4147154"/>
            <a:ext cx="3055227" cy="1306846"/>
          </a:xfrm>
          <a:prstGeom prst="wedgeRoundRectCallout">
            <a:avLst>
              <a:gd name="adj1" fmla="val -131324"/>
              <a:gd name="adj2" fmla="val -6906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 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ractional 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nit)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една равна част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от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пространството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7EC18006-1EA6-71EC-AD3B-757B100DC3CF}"/>
              </a:ext>
            </a:extLst>
          </p:cNvPr>
          <p:cNvSpPr/>
          <p:nvPr/>
        </p:nvSpPr>
        <p:spPr bwMode="auto">
          <a:xfrm>
            <a:off x="2635825" y="4562084"/>
            <a:ext cx="4815000" cy="509443"/>
          </a:xfrm>
          <a:prstGeom prst="wedgeRoundRectCallout">
            <a:avLst>
              <a:gd name="adj1" fmla="val -53392"/>
              <a:gd name="adj2" fmla="val -13113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Разстояние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между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елементите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A0BC1-AF1D-1B67-83A9-472A20F91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9120" y="1612693"/>
            <a:ext cx="5468265" cy="8379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4788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EC9F02-A635-D433-664B-7442A20DE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61822-7146-E592-1166-D34422522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Едноколонен</a:t>
            </a:r>
          </a:p>
          <a:p>
            <a:pPr lvl="1"/>
            <a:r>
              <a:rPr lang="bg-BG" b="1" dirty="0"/>
              <a:t>Всички елементи </a:t>
            </a:r>
            <a:r>
              <a:rPr lang="bg-BG" dirty="0"/>
              <a:t>се подреждат </a:t>
            </a:r>
            <a:r>
              <a:rPr lang="bg-BG" b="1" dirty="0">
                <a:solidFill>
                  <a:schemeClr val="bg1"/>
                </a:solidFill>
              </a:rPr>
              <a:t>един под друг </a:t>
            </a:r>
            <a:r>
              <a:rPr lang="bg-BG" dirty="0"/>
              <a:t>в </a:t>
            </a:r>
            <a:r>
              <a:rPr lang="bg-BG" b="1" dirty="0"/>
              <a:t>една колона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0A01B4-5B95-9B6C-E9E0-CFC3312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</a:t>
            </a:r>
            <a:r>
              <a:rPr lang="en-US" dirty="0"/>
              <a:t>Grid </a:t>
            </a:r>
            <a:r>
              <a:rPr lang="bg-BG" dirty="0"/>
              <a:t>оформления </a:t>
            </a:r>
            <a:r>
              <a:rPr lang="en-US" dirty="0"/>
              <a:t>(1)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4818DE-7DA3-5CB0-9A04-1AC1B32BD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0558" y="2558191"/>
            <a:ext cx="5450883" cy="408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9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EC9F02-A635-D433-664B-7442A20DE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61822-7146-E592-1166-D34422522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Двуколонен</a:t>
            </a:r>
          </a:p>
          <a:p>
            <a:pPr lvl="1"/>
            <a:r>
              <a:rPr lang="bg-BG" b="1" dirty="0"/>
              <a:t>Елементите </a:t>
            </a:r>
            <a:r>
              <a:rPr lang="bg-BG" dirty="0"/>
              <a:t>се разполагат в </a:t>
            </a:r>
            <a:r>
              <a:rPr lang="bg-BG" b="1" dirty="0">
                <a:solidFill>
                  <a:schemeClr val="bg1"/>
                </a:solidFill>
              </a:rPr>
              <a:t>две колони </a:t>
            </a:r>
            <a:r>
              <a:rPr lang="bg-BG" dirty="0"/>
              <a:t>с</a:t>
            </a:r>
            <a:r>
              <a:rPr lang="bg-BG" b="1" dirty="0"/>
              <a:t> еднаква ширина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0A01B4-5B95-9B6C-E9E0-CFC3312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</a:t>
            </a:r>
            <a:r>
              <a:rPr lang="en-US" dirty="0"/>
              <a:t>Grid </a:t>
            </a:r>
            <a:r>
              <a:rPr lang="bg-BG" dirty="0"/>
              <a:t>оформления </a:t>
            </a:r>
            <a:r>
              <a:rPr lang="en-US" dirty="0"/>
              <a:t>(</a:t>
            </a:r>
            <a:r>
              <a:rPr lang="bg-BG" dirty="0"/>
              <a:t>2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4818DE-7DA3-5CB0-9A04-1AC1B32BD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7433" y="2587226"/>
            <a:ext cx="5597133" cy="419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5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EC9F02-A635-D433-664B-7442A20DE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61822-7146-E592-1166-D34422522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Многоколонен</a:t>
            </a:r>
          </a:p>
          <a:p>
            <a:pPr lvl="1"/>
            <a:r>
              <a:rPr lang="bg-BG" b="1" dirty="0"/>
              <a:t>Съдържанието </a:t>
            </a:r>
            <a:r>
              <a:rPr lang="bg-BG" dirty="0"/>
              <a:t>се разпределя в </a:t>
            </a:r>
            <a:r>
              <a:rPr lang="bg-BG" b="1" dirty="0">
                <a:solidFill>
                  <a:schemeClr val="bg1"/>
                </a:solidFill>
              </a:rPr>
              <a:t>три или повече колони</a:t>
            </a:r>
            <a:endParaRPr lang="en-BG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0A01B4-5B95-9B6C-E9E0-CFC3312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</a:t>
            </a:r>
            <a:r>
              <a:rPr lang="en-US" dirty="0"/>
              <a:t>Grid </a:t>
            </a:r>
            <a:r>
              <a:rPr lang="bg-BG" dirty="0"/>
              <a:t>оформления </a:t>
            </a:r>
            <a:r>
              <a:rPr lang="en-US" dirty="0"/>
              <a:t>(</a:t>
            </a:r>
            <a:r>
              <a:rPr lang="bg-BG" dirty="0"/>
              <a:t>3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4818DE-7DA3-5CB0-9A04-1AC1B32BD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1906" y="2593750"/>
            <a:ext cx="5508187" cy="413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CA0D81-D529-4EFA-1511-73161803F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4575E-7F15-056C-7A9B-BFEFAFC80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Позволява </a:t>
            </a:r>
            <a:r>
              <a:rPr lang="bg-BG" sz="2800" b="1" dirty="0"/>
              <a:t>уеб страницата </a:t>
            </a:r>
            <a:r>
              <a:rPr lang="bg-BG" sz="2800" dirty="0"/>
              <a:t>да се </a:t>
            </a:r>
            <a:r>
              <a:rPr lang="bg-BG" sz="2800" b="1" dirty="0">
                <a:solidFill>
                  <a:schemeClr val="bg1"/>
                </a:solidFill>
              </a:rPr>
              <a:t>променя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според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размера</a:t>
            </a:r>
            <a:r>
              <a:rPr lang="bg-BG" sz="2800" dirty="0"/>
              <a:t> на </a:t>
            </a:r>
            <a:r>
              <a:rPr lang="bg-BG" sz="2800" b="1" dirty="0"/>
              <a:t>екрана</a:t>
            </a:r>
          </a:p>
          <a:p>
            <a:r>
              <a:rPr lang="bg-BG" sz="2800" b="1" dirty="0"/>
              <a:t>Един и същ уеб сайт </a:t>
            </a:r>
            <a:r>
              <a:rPr lang="bg-BG" sz="2800" dirty="0"/>
              <a:t>може да се </a:t>
            </a:r>
            <a:r>
              <a:rPr lang="bg-BG" sz="2800" b="1" dirty="0"/>
              <a:t>използва</a:t>
            </a:r>
            <a:r>
              <a:rPr lang="bg-BG" sz="2800" dirty="0"/>
              <a:t> на </a:t>
            </a:r>
            <a:r>
              <a:rPr lang="bg-BG" sz="2800" b="1" dirty="0">
                <a:solidFill>
                  <a:schemeClr val="bg1"/>
                </a:solidFill>
              </a:rPr>
              <a:t>компютър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таблет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телефон</a:t>
            </a:r>
          </a:p>
          <a:p>
            <a:r>
              <a:rPr lang="bg-BG" sz="2800" dirty="0"/>
              <a:t>Променят се </a:t>
            </a:r>
            <a:r>
              <a:rPr lang="bg-BG" sz="2800" b="1" dirty="0">
                <a:solidFill>
                  <a:schemeClr val="bg1"/>
                </a:solidFill>
              </a:rPr>
              <a:t>подредбата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размерите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разстоянията</a:t>
            </a:r>
            <a:r>
              <a:rPr lang="bg-BG" sz="2800" dirty="0"/>
              <a:t> между </a:t>
            </a:r>
            <a:r>
              <a:rPr lang="bg-BG" sz="2800" b="1" dirty="0"/>
              <a:t>елементите</a:t>
            </a:r>
            <a:endParaRPr lang="en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9A783F-A297-AFA2-820C-59370056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Адаптивен уеб дизайн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A3E8B8-0870-90E3-DF9F-F07850E73F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9" b="11948"/>
          <a:stretch/>
        </p:blipFill>
        <p:spPr>
          <a:xfrm>
            <a:off x="3532373" y="3597909"/>
            <a:ext cx="5127254" cy="305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29F413-ECE9-8987-E3C7-EBDD5B1F4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928B6-66C3-93EF-AD66-4E65FD821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b="1" dirty="0">
                <a:solidFill>
                  <a:schemeClr val="bg1"/>
                </a:solidFill>
              </a:rPr>
              <a:t>Условно </a:t>
            </a:r>
            <a:r>
              <a:rPr lang="en-US" sz="3000" b="1" dirty="0">
                <a:solidFill>
                  <a:schemeClr val="bg1"/>
                </a:solidFill>
              </a:rPr>
              <a:t>CSS </a:t>
            </a:r>
            <a:r>
              <a:rPr lang="bg-BG" sz="3000" b="1" dirty="0">
                <a:solidFill>
                  <a:schemeClr val="bg1"/>
                </a:solidFill>
              </a:rPr>
              <a:t>правило </a:t>
            </a:r>
            <a:r>
              <a:rPr lang="bg-BG" sz="3000" dirty="0"/>
              <a:t>за </a:t>
            </a:r>
            <a:r>
              <a:rPr lang="bg-BG" sz="3000" b="1" dirty="0"/>
              <a:t>адаптиране</a:t>
            </a:r>
            <a:r>
              <a:rPr lang="bg-BG" sz="3000" dirty="0"/>
              <a:t> на </a:t>
            </a:r>
            <a:r>
              <a:rPr lang="bg-BG" sz="3000" b="1" dirty="0"/>
              <a:t>уеб страницата </a:t>
            </a:r>
            <a:r>
              <a:rPr lang="bg-BG" sz="3000" dirty="0"/>
              <a:t>към </a:t>
            </a:r>
            <a:r>
              <a:rPr lang="bg-BG" sz="3000" b="1" dirty="0"/>
              <a:t>различни устройства</a:t>
            </a:r>
          </a:p>
          <a:p>
            <a:r>
              <a:rPr lang="bg-BG" sz="3000" dirty="0"/>
              <a:t>Прилага </a:t>
            </a:r>
            <a:r>
              <a:rPr lang="bg-BG" sz="3000" b="1" dirty="0"/>
              <a:t>стилове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само</a:t>
            </a:r>
            <a:r>
              <a:rPr lang="bg-BG" sz="3000" dirty="0"/>
              <a:t> при </a:t>
            </a:r>
            <a:r>
              <a:rPr lang="bg-BG" sz="3000" b="1" dirty="0">
                <a:solidFill>
                  <a:schemeClr val="bg1"/>
                </a:solidFill>
              </a:rPr>
              <a:t>зададено условие</a:t>
            </a:r>
          </a:p>
          <a:p>
            <a:r>
              <a:rPr lang="bg-BG" sz="3000" b="1" dirty="0"/>
              <a:t>Уеб страницата </a:t>
            </a:r>
            <a:r>
              <a:rPr lang="bg-BG" sz="3000" dirty="0"/>
              <a:t>изглежда </a:t>
            </a:r>
            <a:r>
              <a:rPr lang="bg-BG" sz="3000" b="1" dirty="0"/>
              <a:t>добре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различни размери </a:t>
            </a:r>
            <a:r>
              <a:rPr lang="bg-BG" sz="3000" dirty="0"/>
              <a:t>на </a:t>
            </a:r>
            <a:r>
              <a:rPr lang="bg-BG" sz="3000" b="1" dirty="0"/>
              <a:t>екрана</a:t>
            </a:r>
          </a:p>
          <a:p>
            <a:pPr marL="0" indent="0">
              <a:buNone/>
            </a:pPr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21DDD0-A6E7-63FF-62CC-17008716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query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9F440-E9E1-0C57-B9F8-4D05D69DF6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9" b="11766"/>
          <a:stretch/>
        </p:blipFill>
        <p:spPr>
          <a:xfrm>
            <a:off x="3226716" y="3737049"/>
            <a:ext cx="5490000" cy="298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0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29F413-ECE9-8987-E3C7-EBDD5B1F4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21DDD0-A6E7-63FF-62CC-17008716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query</a:t>
            </a:r>
            <a:r>
              <a:rPr lang="bg-BG" dirty="0"/>
              <a:t> </a:t>
            </a:r>
            <a:r>
              <a:rPr lang="bg-BG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0837BC6-0DA0-F7DF-0EBE-9172AD8A587D}"/>
              </a:ext>
            </a:extLst>
          </p:cNvPr>
          <p:cNvSpPr txBox="1">
            <a:spLocks/>
          </p:cNvSpPr>
          <p:nvPr/>
        </p:nvSpPr>
        <p:spPr>
          <a:xfrm>
            <a:off x="1047324" y="2709000"/>
            <a:ext cx="10097349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@media (max-width: 700px) {</a:t>
            </a:r>
          </a:p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  .products {</a:t>
            </a:r>
          </a:p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grid-template-columns: 1fr;</a:t>
            </a:r>
          </a:p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GB" sz="28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7E74D97A-B58E-1746-CF40-4219032BBE56}"/>
              </a:ext>
            </a:extLst>
          </p:cNvPr>
          <p:cNvSpPr/>
          <p:nvPr/>
        </p:nvSpPr>
        <p:spPr bwMode="auto">
          <a:xfrm>
            <a:off x="336000" y="1544865"/>
            <a:ext cx="3960000" cy="602674"/>
          </a:xfrm>
          <a:prstGeom prst="wedgeRoundRectCallout">
            <a:avLst>
              <a:gd name="adj1" fmla="val -16740"/>
              <a:gd name="adj2" fmla="val 15763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Създава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условно правило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B32A963D-439D-29DC-0781-C02A7FCB80BE}"/>
              </a:ext>
            </a:extLst>
          </p:cNvPr>
          <p:cNvSpPr/>
          <p:nvPr/>
        </p:nvSpPr>
        <p:spPr bwMode="auto">
          <a:xfrm>
            <a:off x="4971000" y="1540330"/>
            <a:ext cx="4635000" cy="602674"/>
          </a:xfrm>
          <a:prstGeom prst="wedgeRoundRectCallout">
            <a:avLst>
              <a:gd name="adj1" fmla="val -36468"/>
              <a:gd name="adj2" fmla="val 15130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Прилага се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 ширина 700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px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907925F7-C301-5B44-EACC-C04CBA4A3DB4}"/>
              </a:ext>
            </a:extLst>
          </p:cNvPr>
          <p:cNvSpPr/>
          <p:nvPr/>
        </p:nvSpPr>
        <p:spPr bwMode="auto">
          <a:xfrm>
            <a:off x="606000" y="5561128"/>
            <a:ext cx="5220000" cy="1048107"/>
          </a:xfrm>
          <a:prstGeom prst="wedgeRoundRectCallout">
            <a:avLst>
              <a:gd name="adj1" fmla="val -34522"/>
              <a:gd name="adj2" fmla="val -12374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Стиловете в блока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се изпълняват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когато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условието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вярно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97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F25068-F582-AFCB-F3A5-37FF48168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689D8-0729-4D41-9505-DB92B39AFF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700" dirty="0"/>
              <a:t>При </a:t>
            </a:r>
            <a:r>
              <a:rPr lang="bg-BG" sz="2700" b="1" dirty="0">
                <a:solidFill>
                  <a:schemeClr val="bg1"/>
                </a:solidFill>
              </a:rPr>
              <a:t>голям екран </a:t>
            </a:r>
            <a:r>
              <a:rPr lang="bg-BG" sz="2700" b="1" dirty="0"/>
              <a:t>елементите</a:t>
            </a:r>
            <a:r>
              <a:rPr lang="bg-BG" sz="2700" dirty="0"/>
              <a:t> могат да бъдат </a:t>
            </a:r>
            <a:r>
              <a:rPr lang="bg-BG" sz="2700" b="1" dirty="0"/>
              <a:t>подредени</a:t>
            </a:r>
            <a:r>
              <a:rPr lang="bg-BG" sz="2700" dirty="0"/>
              <a:t> в </a:t>
            </a:r>
            <a:r>
              <a:rPr lang="bg-BG" sz="2700" b="1" dirty="0">
                <a:solidFill>
                  <a:schemeClr val="bg1"/>
                </a:solidFill>
              </a:rPr>
              <a:t>няколко колони</a:t>
            </a:r>
          </a:p>
          <a:p>
            <a:r>
              <a:rPr lang="bg-BG" sz="2700" dirty="0"/>
              <a:t>При </a:t>
            </a:r>
            <a:r>
              <a:rPr lang="bg-BG" sz="2700" b="1" dirty="0">
                <a:solidFill>
                  <a:schemeClr val="bg1"/>
                </a:solidFill>
              </a:rPr>
              <a:t>малък екран </a:t>
            </a:r>
            <a:r>
              <a:rPr lang="bg-BG" sz="2700" dirty="0"/>
              <a:t>същите </a:t>
            </a:r>
            <a:r>
              <a:rPr lang="bg-BG" sz="2700" b="1" dirty="0"/>
              <a:t>елементи</a:t>
            </a:r>
            <a:r>
              <a:rPr lang="bg-BG" sz="2700" dirty="0"/>
              <a:t> могат да се подредят в </a:t>
            </a:r>
            <a:r>
              <a:rPr lang="bg-BG" sz="2700" b="1" dirty="0"/>
              <a:t>една колона</a:t>
            </a:r>
          </a:p>
          <a:p>
            <a:r>
              <a:rPr lang="en-US" sz="2700" b="1" dirty="0"/>
              <a:t>Media query </a:t>
            </a:r>
            <a:r>
              <a:rPr lang="bg-BG" sz="2700" dirty="0"/>
              <a:t>променя </a:t>
            </a:r>
            <a:r>
              <a:rPr lang="bg-BG" sz="2700" b="1" dirty="0">
                <a:solidFill>
                  <a:schemeClr val="bg1"/>
                </a:solidFill>
              </a:rPr>
              <a:t>G</a:t>
            </a:r>
            <a:r>
              <a:rPr lang="en-US" sz="2700" b="1" dirty="0">
                <a:solidFill>
                  <a:schemeClr val="bg1"/>
                </a:solidFill>
              </a:rPr>
              <a:t>rid </a:t>
            </a:r>
            <a:r>
              <a:rPr lang="bg-BG" sz="2700" b="1" dirty="0">
                <a:solidFill>
                  <a:schemeClr val="bg1"/>
                </a:solidFill>
              </a:rPr>
              <a:t>оформлението </a:t>
            </a:r>
            <a:r>
              <a:rPr lang="bg-BG" sz="2700" dirty="0"/>
              <a:t>според </a:t>
            </a:r>
            <a:r>
              <a:rPr lang="bg-BG" sz="2700" b="1" dirty="0"/>
              <a:t>ширината</a:t>
            </a:r>
            <a:r>
              <a:rPr lang="bg-BG" sz="2700" dirty="0"/>
              <a:t> на </a:t>
            </a:r>
            <a:r>
              <a:rPr lang="bg-BG" sz="2700" b="1" dirty="0"/>
              <a:t>екрана</a:t>
            </a:r>
            <a:endParaRPr lang="en-BG" sz="27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C27C57-45EA-6A6A-D614-87CDBA21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Адаптивно </a:t>
            </a:r>
            <a:r>
              <a:rPr lang="en-US" dirty="0"/>
              <a:t>Grid </a:t>
            </a:r>
            <a:r>
              <a:rPr lang="bg-BG" dirty="0"/>
              <a:t>оформление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7A0EDD3-B5BC-76A3-A23D-BE9B32F6DC13}"/>
              </a:ext>
            </a:extLst>
          </p:cNvPr>
          <p:cNvSpPr txBox="1">
            <a:spLocks/>
          </p:cNvSpPr>
          <p:nvPr/>
        </p:nvSpPr>
        <p:spPr>
          <a:xfrm>
            <a:off x="560916" y="3204000"/>
            <a:ext cx="10097349" cy="317009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.products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display: grid;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grid-template-columns: repeat(3, 1fr);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bg-BG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@media (max-width: 700px)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.products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grid-template-columns: 1fr;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GB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2140E7-FF03-A122-1FE4-DD0C27ABD8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56" b="13663"/>
          <a:stretch/>
        </p:blipFill>
        <p:spPr>
          <a:xfrm>
            <a:off x="6913958" y="3407648"/>
            <a:ext cx="5022779" cy="282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2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Визуално оформление на уеб страница</a:t>
            </a:r>
            <a:endParaRPr lang="bg-BG" sz="40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C9EDA59-C079-C6BC-4F7A-241280A331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5879" r="1537" b="15879"/>
          <a:stretch/>
        </p:blipFill>
        <p:spPr>
          <a:xfrm>
            <a:off x="4521000" y="1044000"/>
            <a:ext cx="2933591" cy="31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400" dirty="0"/>
              <a:t>Нека</a:t>
            </a:r>
            <a:r>
              <a:rPr lang="bg-BG" sz="2400" b="1" dirty="0">
                <a:solidFill>
                  <a:schemeClr val="bg1"/>
                </a:solidFill>
              </a:rPr>
              <a:t> стилизираме </a:t>
            </a:r>
            <a:r>
              <a:rPr lang="bg-BG" sz="2400" b="1" dirty="0"/>
              <a:t>дадената уеб страница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52A2AE6-B126-17C5-E1D0-DCDE83CEE729}"/>
              </a:ext>
            </a:extLst>
          </p:cNvPr>
          <p:cNvSpPr txBox="1">
            <a:spLocks/>
          </p:cNvSpPr>
          <p:nvPr/>
        </p:nvSpPr>
        <p:spPr>
          <a:xfrm>
            <a:off x="277028" y="1674000"/>
            <a:ext cx="10097349" cy="509370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    &lt;title&gt;</a:t>
            </a:r>
            <a:r>
              <a:rPr lang="bg-BG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Лятна ваканция&lt;/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title&gt;</a:t>
            </a:r>
          </a:p>
          <a:p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&lt;/head&gt;</a:t>
            </a:r>
          </a:p>
          <a:p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</a:p>
          <a:p>
            <a:pPr lvl="1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&lt;header class="</a:t>
            </a:r>
            <a:r>
              <a:rPr lang="en-GB" sz="13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hero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 lvl="2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&lt;h1&gt;</a:t>
            </a:r>
            <a:r>
              <a:rPr lang="bg-BG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Лятна ваканция&lt;/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</a:p>
          <a:p>
            <a:pPr lvl="2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Планирайте следващото си приключение.&lt;/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1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&lt;/header&gt;</a:t>
            </a:r>
            <a:b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&lt;main&gt;</a:t>
            </a:r>
          </a:p>
          <a:p>
            <a:pPr lvl="2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&lt;section class="</a:t>
            </a:r>
            <a:r>
              <a:rPr lang="en-GB" sz="13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destinations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 lvl="3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&lt;article class="</a:t>
            </a:r>
            <a:r>
              <a:rPr lang="en-GB" sz="13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 lvl="4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bg-BG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Гърция&lt;/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 lvl="4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Море, плажове и вкусна храна.&lt;/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3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&lt;/article&gt;</a:t>
            </a:r>
            <a:b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&lt;article class="</a:t>
            </a:r>
            <a:r>
              <a:rPr lang="en-GB" sz="13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 lvl="4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bg-BG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Италия&lt;/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 lvl="4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Култура, история и красиви градове.&lt;/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3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&lt;/article&gt;</a:t>
            </a:r>
            <a:b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&lt;article class="</a:t>
            </a:r>
            <a:r>
              <a:rPr lang="en-GB" sz="13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 lvl="4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bg-BG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Испания&lt;/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 lvl="4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Слънце, музика и незабравими гледки.&lt;/</a:t>
            </a:r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3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&lt;/article&gt;</a:t>
            </a:r>
          </a:p>
          <a:p>
            <a:pPr lvl="2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</a:p>
          <a:p>
            <a:pPr lvl="1"/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&lt;/main&gt;</a:t>
            </a:r>
          </a:p>
          <a:p>
            <a:r>
              <a:rPr lang="en-GB" sz="1300" b="1" dirty="0"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уеб страница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B0060-6D7D-D4E8-70EB-963303245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32170" y="1847706"/>
            <a:ext cx="4008914" cy="466343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60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Отваряме </a:t>
            </a:r>
            <a:r>
              <a:rPr lang="bg-BG" sz="3000" b="1" dirty="0">
                <a:solidFill>
                  <a:schemeClr val="bg1"/>
                </a:solidFill>
              </a:rPr>
              <a:t>текстов редактор </a:t>
            </a:r>
            <a:r>
              <a:rPr lang="bg-BG" sz="3000" dirty="0"/>
              <a:t>по избор, напр. </a:t>
            </a:r>
            <a:r>
              <a:rPr lang="en-US" sz="3000" b="1" dirty="0"/>
              <a:t>VS Code</a:t>
            </a:r>
            <a:endParaRPr lang="bg-BG" sz="3000" dirty="0"/>
          </a:p>
          <a:p>
            <a:r>
              <a:rPr lang="bg-BG" sz="3000" dirty="0"/>
              <a:t>Създаваме в </a:t>
            </a:r>
            <a:r>
              <a:rPr lang="bg-BG" sz="3000" b="1" dirty="0">
                <a:solidFill>
                  <a:schemeClr val="bg1"/>
                </a:solidFill>
              </a:rPr>
              <a:t>директорията</a:t>
            </a:r>
            <a:r>
              <a:rPr lang="bg-BG" sz="3000" dirty="0"/>
              <a:t> на </a:t>
            </a:r>
            <a:r>
              <a:rPr lang="bg-BG" sz="3000" b="1" dirty="0"/>
              <a:t>уеб страницата </a:t>
            </a:r>
            <a:r>
              <a:rPr lang="bg-BG" sz="3000" b="1" dirty="0">
                <a:solidFill>
                  <a:schemeClr val="bg1"/>
                </a:solidFill>
              </a:rPr>
              <a:t>нов файл </a:t>
            </a:r>
            <a:r>
              <a:rPr lang="bg-BG" sz="3000" dirty="0"/>
              <a:t>с </a:t>
            </a:r>
            <a:r>
              <a:rPr lang="bg-BG" sz="3000" b="1" dirty="0"/>
              <a:t>разширение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css</a:t>
            </a:r>
            <a:r>
              <a:rPr lang="en-US" sz="3000" dirty="0"/>
              <a:t>, </a:t>
            </a:r>
            <a:r>
              <a:rPr lang="bg-BG" sz="3000" dirty="0"/>
              <a:t>напр. "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style.css</a:t>
            </a:r>
            <a:r>
              <a:rPr lang="bg-BG" sz="3000" dirty="0"/>
              <a:t>"</a:t>
            </a:r>
          </a:p>
          <a:p>
            <a:r>
              <a:rPr lang="bg-BG" sz="3000" dirty="0"/>
              <a:t>Отваряме също и </a:t>
            </a:r>
            <a:r>
              <a:rPr lang="en-US" sz="3000" b="1" dirty="0"/>
              <a:t>HTML </a:t>
            </a:r>
            <a:r>
              <a:rPr lang="bg-BG" sz="3000" b="1" dirty="0"/>
              <a:t>файла </a:t>
            </a:r>
            <a:r>
              <a:rPr lang="bg-BG" sz="3000" dirty="0"/>
              <a:t>и добавяме </a:t>
            </a:r>
            <a:r>
              <a:rPr lang="bg-BG" sz="3000" b="1" dirty="0"/>
              <a:t>външния стил </a:t>
            </a:r>
            <a:r>
              <a:rPr lang="bg-BG" sz="3000" dirty="0"/>
              <a:t>в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  <a:endParaRPr lang="bg-BG" sz="30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CSS </a:t>
            </a:r>
            <a:r>
              <a:rPr lang="bg-BG" dirty="0"/>
              <a:t>файл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FFD45F-E096-2939-754F-4B835B592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08223" y="4249727"/>
            <a:ext cx="7975554" cy="175232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830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0AD9C-27E0-0A95-D1D4-37A29C5B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756EC-D818-BB5C-7B55-13AB300C9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Задаваме </a:t>
            </a:r>
            <a:r>
              <a:rPr lang="bg-BG" b="1" dirty="0">
                <a:solidFill>
                  <a:schemeClr val="bg1"/>
                </a:solidFill>
              </a:rPr>
              <a:t>шрифт</a:t>
            </a:r>
            <a:r>
              <a:rPr lang="bg-BG" dirty="0"/>
              <a:t> на </a:t>
            </a:r>
            <a:r>
              <a:rPr lang="bg-BG" b="1" dirty="0"/>
              <a:t>цялата страница</a:t>
            </a:r>
            <a:endParaRPr lang="en-US" b="1" dirty="0"/>
          </a:p>
          <a:p>
            <a:r>
              <a:rPr lang="bg-BG" dirty="0"/>
              <a:t>Премахваме </a:t>
            </a:r>
            <a:r>
              <a:rPr lang="bg-BG" b="1" dirty="0">
                <a:solidFill>
                  <a:schemeClr val="bg1"/>
                </a:solidFill>
              </a:rPr>
              <a:t>стандартното разстояние </a:t>
            </a:r>
            <a:r>
              <a:rPr lang="bg-BG" dirty="0"/>
              <a:t>около нея</a:t>
            </a:r>
            <a:endParaRPr lang="en-US" dirty="0"/>
          </a:p>
          <a:p>
            <a:r>
              <a:rPr lang="bg-BG" dirty="0"/>
              <a:t>Добавяме </a:t>
            </a:r>
            <a:r>
              <a:rPr lang="bg-BG" b="1" dirty="0">
                <a:solidFill>
                  <a:schemeClr val="bg1"/>
                </a:solidFill>
              </a:rPr>
              <a:t>фон</a:t>
            </a:r>
            <a:endParaRPr lang="en-BG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1CC57-6279-CE54-82E1-E8301775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</a:t>
            </a:r>
            <a:r>
              <a:rPr lang="en-US" dirty="0"/>
              <a:t>body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C1E1D-7094-8F30-5DB3-8949C982C170}"/>
              </a:ext>
            </a:extLst>
          </p:cNvPr>
          <p:cNvSpPr txBox="1">
            <a:spLocks/>
          </p:cNvSpPr>
          <p:nvPr/>
        </p:nvSpPr>
        <p:spPr>
          <a:xfrm>
            <a:off x="291000" y="3539817"/>
            <a:ext cx="8415000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body {</a:t>
            </a:r>
            <a:endParaRPr lang="bg-BG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font-family: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Arial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sans-serif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bg-BG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margin: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bg-BG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background-color: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#f5f7fa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22DD6D-EE5B-1C2D-097B-A08F20463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81000" y="2670904"/>
            <a:ext cx="3813338" cy="39845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4121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0AD9C-27E0-0A95-D1D4-37A29C5B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756EC-D818-BB5C-7B55-13AB300C9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Създаваме </a:t>
            </a:r>
            <a:r>
              <a:rPr lang="bg-BG" sz="3200" b="1" dirty="0">
                <a:solidFill>
                  <a:schemeClr val="bg1"/>
                </a:solidFill>
              </a:rPr>
              <a:t>цветен банер </a:t>
            </a:r>
            <a:r>
              <a:rPr lang="bg-BG" sz="3200" dirty="0"/>
              <a:t>с </a:t>
            </a:r>
            <a:r>
              <a:rPr lang="bg-BG" sz="3200" b="1" dirty="0">
                <a:solidFill>
                  <a:schemeClr val="bg1"/>
                </a:solidFill>
              </a:rPr>
              <a:t>бял текст </a:t>
            </a:r>
            <a:r>
              <a:rPr lang="bg-BG" sz="3200" dirty="0"/>
              <a:t>и </a:t>
            </a:r>
            <a:r>
              <a:rPr lang="bg-BG" sz="3200" b="1" dirty="0">
                <a:solidFill>
                  <a:schemeClr val="bg1"/>
                </a:solidFill>
              </a:rPr>
              <a:t>центрирано съдържание</a:t>
            </a:r>
            <a:endParaRPr lang="en-BG" sz="32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1CC57-6279-CE54-82E1-E8301775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</a:t>
            </a:r>
            <a:r>
              <a:rPr lang="en-US" dirty="0"/>
              <a:t>hero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C1E1D-7094-8F30-5DB3-8949C982C170}"/>
              </a:ext>
            </a:extLst>
          </p:cNvPr>
          <p:cNvSpPr txBox="1">
            <a:spLocks/>
          </p:cNvSpPr>
          <p:nvPr/>
        </p:nvSpPr>
        <p:spPr>
          <a:xfrm>
            <a:off x="291000" y="2090172"/>
            <a:ext cx="8415000" cy="267765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.hero {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background-color: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#87CEEB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color: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white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padding: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60px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text-align: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22DD6D-EE5B-1C2D-097B-A08F20463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22496" y="2646434"/>
            <a:ext cx="4918588" cy="38605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867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0AD9C-27E0-0A95-D1D4-37A29C5B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756EC-D818-BB5C-7B55-13AB300C9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Подреждаме </a:t>
            </a:r>
            <a:r>
              <a:rPr lang="bg-BG" b="1" dirty="0"/>
              <a:t>картите</a:t>
            </a:r>
            <a:r>
              <a:rPr lang="bg-BG" dirty="0"/>
              <a:t> с </a:t>
            </a:r>
            <a:r>
              <a:rPr lang="en-US" b="1" dirty="0">
                <a:solidFill>
                  <a:schemeClr val="bg1"/>
                </a:solidFill>
              </a:rPr>
              <a:t>grid</a:t>
            </a:r>
            <a:endParaRPr lang="en-BG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1CC57-6279-CE54-82E1-E8301775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g</a:t>
            </a:r>
            <a:r>
              <a:rPr lang="en-US" dirty="0"/>
              <a:t>rid </a:t>
            </a:r>
            <a:r>
              <a:rPr lang="bg-BG" dirty="0"/>
              <a:t>подредба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C1E1D-7094-8F30-5DB3-8949C982C170}"/>
              </a:ext>
            </a:extLst>
          </p:cNvPr>
          <p:cNvSpPr txBox="1">
            <a:spLocks/>
          </p:cNvSpPr>
          <p:nvPr/>
        </p:nvSpPr>
        <p:spPr>
          <a:xfrm>
            <a:off x="291000" y="2169000"/>
            <a:ext cx="8415000" cy="212365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.destinations {</a:t>
            </a:r>
            <a:b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display: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grid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grid-template-columns: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1fr 1fr 1fr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gap: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20px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padding: 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40px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22DD6D-EE5B-1C2D-097B-A08F20463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08984" y="2792807"/>
            <a:ext cx="4732100" cy="371419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5693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0AD9C-27E0-0A95-D1D4-37A29C5B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756EC-D818-BB5C-7B55-13AB300C9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Задаваме </a:t>
            </a:r>
            <a:r>
              <a:rPr lang="bg-BG" b="1" dirty="0">
                <a:solidFill>
                  <a:schemeClr val="bg1"/>
                </a:solidFill>
              </a:rPr>
              <a:t>бял фон</a:t>
            </a:r>
            <a:r>
              <a:rPr lang="bg-BG" dirty="0"/>
              <a:t>, </a:t>
            </a:r>
            <a:r>
              <a:rPr lang="bg-BG" b="1" dirty="0">
                <a:solidFill>
                  <a:schemeClr val="bg1"/>
                </a:solidFill>
              </a:rPr>
              <a:t>вътрешно разстояние </a:t>
            </a:r>
            <a:r>
              <a:rPr lang="bg-BG" dirty="0"/>
              <a:t>и </a:t>
            </a:r>
            <a:r>
              <a:rPr lang="bg-BG" b="1" dirty="0">
                <a:solidFill>
                  <a:schemeClr val="bg1"/>
                </a:solidFill>
              </a:rPr>
              <a:t>заоблени ъгли </a:t>
            </a:r>
          </a:p>
          <a:p>
            <a:endParaRPr lang="bg-BG" dirty="0"/>
          </a:p>
          <a:p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sz="1800" dirty="0"/>
          </a:p>
          <a:p>
            <a:r>
              <a:rPr lang="bg-BG" dirty="0"/>
              <a:t>Задаваме </a:t>
            </a:r>
            <a:r>
              <a:rPr lang="bg-BG" b="1" dirty="0"/>
              <a:t>акцентен цвят </a:t>
            </a:r>
            <a:r>
              <a:rPr lang="bg-BG" dirty="0"/>
              <a:t>на </a:t>
            </a:r>
            <a:r>
              <a:rPr lang="bg-BG" b="1" dirty="0">
                <a:solidFill>
                  <a:schemeClr val="bg1"/>
                </a:solidFill>
              </a:rPr>
              <a:t>заглавията</a:t>
            </a:r>
          </a:p>
          <a:p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1CC57-6279-CE54-82E1-E8301775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картите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C1E1D-7094-8F30-5DB3-8949C982C170}"/>
              </a:ext>
            </a:extLst>
          </p:cNvPr>
          <p:cNvSpPr txBox="1">
            <a:spLocks/>
          </p:cNvSpPr>
          <p:nvPr/>
        </p:nvSpPr>
        <p:spPr>
          <a:xfrm>
            <a:off x="291000" y="1854000"/>
            <a:ext cx="8415000" cy="249299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.card {</a:t>
            </a:r>
          </a:p>
          <a:p>
            <a:pPr>
              <a:lnSpc>
                <a:spcPct val="100000"/>
              </a:lnSpc>
            </a:pP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background-color: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white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padding: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25px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text-align: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    border-radius: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10px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22DD6D-EE5B-1C2D-097B-A08F20463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1000" y="1989000"/>
            <a:ext cx="5252030" cy="220974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2BD5D8C-F604-43AD-147D-CE25E6BE35F3}"/>
              </a:ext>
            </a:extLst>
          </p:cNvPr>
          <p:cNvSpPr txBox="1">
            <a:spLocks/>
          </p:cNvSpPr>
          <p:nvPr/>
        </p:nvSpPr>
        <p:spPr>
          <a:xfrm>
            <a:off x="291000" y="5214338"/>
            <a:ext cx="8415000" cy="129266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.card h2 {</a:t>
            </a:r>
          </a:p>
          <a:p>
            <a:pPr>
              <a:lnSpc>
                <a:spcPct val="100000"/>
              </a:lnSpc>
            </a:pPr>
            <a:r>
              <a:rPr lang="bg-BG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color: 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#1E88E5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590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0AD9C-27E0-0A95-D1D4-37A29C5B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1CC57-6279-CE54-82E1-E8301775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9E6BDA-4923-9D0C-029D-239C9F646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260" y="1494000"/>
            <a:ext cx="11493479" cy="483578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62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Цветовете </a:t>
            </a:r>
            <a:r>
              <a:rPr lang="bg-BG" sz="2800" dirty="0">
                <a:solidFill>
                  <a:schemeClr val="bg2"/>
                </a:solidFill>
              </a:rPr>
              <a:t>могат да се </a:t>
            </a:r>
            <a:r>
              <a:rPr lang="bg-BG" sz="2800" b="1" dirty="0">
                <a:solidFill>
                  <a:schemeClr val="bg2"/>
                </a:solidFill>
              </a:rPr>
              <a:t>задават </a:t>
            </a:r>
            <a:r>
              <a:rPr lang="bg-BG" sz="2800" dirty="0">
                <a:solidFill>
                  <a:schemeClr val="bg2"/>
                </a:solidFill>
              </a:rPr>
              <a:t>с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имена</a:t>
            </a:r>
            <a:r>
              <a:rPr lang="bg-BG" sz="2800" dirty="0">
                <a:solidFill>
                  <a:schemeClr val="bg2"/>
                </a:solidFill>
              </a:rPr>
              <a:t>,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HEX</a:t>
            </a:r>
            <a:r>
              <a:rPr lang="en-GB" sz="2800" b="1" dirty="0">
                <a:solidFill>
                  <a:schemeClr val="bg2"/>
                </a:solidFill>
              </a:rPr>
              <a:t> </a:t>
            </a:r>
            <a:r>
              <a:rPr lang="bg-BG" sz="2800" dirty="0">
                <a:solidFill>
                  <a:schemeClr val="bg2"/>
                </a:solidFill>
              </a:rPr>
              <a:t>и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RGB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стойности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Фонът </a:t>
            </a:r>
            <a:r>
              <a:rPr lang="bg-BG" sz="2800" dirty="0">
                <a:solidFill>
                  <a:schemeClr val="bg2"/>
                </a:solidFill>
              </a:rPr>
              <a:t>може да бъде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цвят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dirty="0">
                <a:solidFill>
                  <a:schemeClr val="bg2"/>
                </a:solidFill>
              </a:rPr>
              <a:t>или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изображение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Външните шрифтове </a:t>
            </a:r>
            <a:r>
              <a:rPr lang="bg-BG" sz="2800" dirty="0">
                <a:solidFill>
                  <a:schemeClr val="bg2"/>
                </a:solidFill>
              </a:rPr>
              <a:t>се добавят чрез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link&gt;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dirty="0">
                <a:solidFill>
                  <a:schemeClr val="bg2"/>
                </a:solidFill>
              </a:rPr>
              <a:t>и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font-family</a:t>
            </a:r>
            <a:r>
              <a:rPr lang="en-GB" sz="2800" b="1" dirty="0">
                <a:solidFill>
                  <a:schemeClr val="bg2"/>
                </a:solidFill>
              </a:rPr>
              <a:t> </a:t>
            </a:r>
            <a:endParaRPr lang="bg-BG" sz="2800" b="1" dirty="0">
              <a:solidFill>
                <a:schemeClr val="bg2"/>
              </a:solidFill>
            </a:endParaRPr>
          </a:p>
          <a:p>
            <a:pPr marL="969948" lvl="1" indent="-360363" fontAlgn="base">
              <a:buClr>
                <a:schemeClr val="bg2"/>
              </a:buClr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Google Fonts </a:t>
            </a:r>
            <a:r>
              <a:rPr lang="bg-BG" sz="2600" dirty="0">
                <a:solidFill>
                  <a:schemeClr val="bg2"/>
                </a:solidFill>
              </a:rPr>
              <a:t>е</a:t>
            </a:r>
            <a:r>
              <a:rPr lang="bg-BG" sz="2600" b="1" dirty="0">
                <a:solidFill>
                  <a:schemeClr val="bg2"/>
                </a:solidFill>
              </a:rPr>
              <a:t> популярна услуга </a:t>
            </a:r>
            <a:r>
              <a:rPr lang="bg-BG" sz="2600" dirty="0">
                <a:solidFill>
                  <a:schemeClr val="bg2"/>
                </a:solidFill>
              </a:rPr>
              <a:t>за</a:t>
            </a:r>
            <a:r>
              <a:rPr lang="bg-BG" sz="2600" b="1" dirty="0">
                <a:solidFill>
                  <a:schemeClr val="bg2"/>
                </a:solidFill>
              </a:rPr>
              <a:t> уеб шрифтове 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CSS Grid </a:t>
            </a:r>
            <a:r>
              <a:rPr lang="bg-BG" sz="2800" dirty="0">
                <a:solidFill>
                  <a:schemeClr val="bg2"/>
                </a:solidFill>
              </a:rPr>
              <a:t>се използва за </a:t>
            </a:r>
            <a:r>
              <a:rPr lang="bg-BG" sz="2800" b="1" dirty="0">
                <a:solidFill>
                  <a:schemeClr val="bg2"/>
                </a:solidFill>
              </a:rPr>
              <a:t>подредба </a:t>
            </a:r>
            <a:r>
              <a:rPr lang="bg-BG" sz="2800" dirty="0">
                <a:solidFill>
                  <a:schemeClr val="bg2"/>
                </a:solidFill>
              </a:rPr>
              <a:t>на </a:t>
            </a:r>
            <a:r>
              <a:rPr lang="bg-BG" sz="2800" b="1" dirty="0">
                <a:solidFill>
                  <a:schemeClr val="bg2"/>
                </a:solidFill>
              </a:rPr>
              <a:t>елементи</a:t>
            </a:r>
            <a:r>
              <a:rPr lang="bg-BG" sz="2800" dirty="0">
                <a:solidFill>
                  <a:schemeClr val="bg2"/>
                </a:solidFill>
              </a:rPr>
              <a:t> в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редове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dirty="0">
                <a:solidFill>
                  <a:schemeClr val="bg2"/>
                </a:solidFill>
              </a:rPr>
              <a:t>и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колони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Визуалното оформление </a:t>
            </a:r>
            <a:r>
              <a:rPr lang="bg-BG" sz="2800" dirty="0">
                <a:solidFill>
                  <a:schemeClr val="bg2"/>
                </a:solidFill>
              </a:rPr>
              <a:t>прави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b="1" dirty="0"/>
              <a:t>уеб </a:t>
            </a:r>
            <a:r>
              <a:rPr lang="bg-BG" sz="2800" b="1" dirty="0">
                <a:solidFill>
                  <a:schemeClr val="bg2"/>
                </a:solidFill>
              </a:rPr>
              <a:t>страницата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по-четима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dirty="0">
                <a:solidFill>
                  <a:schemeClr val="bg2"/>
                </a:solidFill>
              </a:rPr>
              <a:t>и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завършена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47487</TotalTime>
  <Words>1740</Words>
  <Application>Microsoft Macintosh PowerPoint</Application>
  <PresentationFormat>Widescreen</PresentationFormat>
  <Paragraphs>306</Paragraphs>
  <Slides>39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Consolas</vt:lpstr>
      <vt:lpstr>Wingdings</vt:lpstr>
      <vt:lpstr>SoftUni</vt:lpstr>
      <vt:lpstr>Визуално оформяне на уеб страници със CSS</vt:lpstr>
      <vt:lpstr>Съдържание</vt:lpstr>
      <vt:lpstr>Стилизиране на уеб съдържание</vt:lpstr>
      <vt:lpstr>Стилизиране на уеб съдържание</vt:lpstr>
      <vt:lpstr>Значение и роля на стилизирането</vt:lpstr>
      <vt:lpstr>Цветове и фон</vt:lpstr>
      <vt:lpstr>Цветове в CSS</vt:lpstr>
      <vt:lpstr>Цветови стойности</vt:lpstr>
      <vt:lpstr>Цветове и добър контраст</vt:lpstr>
      <vt:lpstr>Цветове и фон – Пример</vt:lpstr>
      <vt:lpstr>Изображения за фон</vt:lpstr>
      <vt:lpstr>Изображения за фон – Пример</vt:lpstr>
      <vt:lpstr>Шрифтове и текст</vt:lpstr>
      <vt:lpstr>Шрифтове</vt:lpstr>
      <vt:lpstr>Външни шрифтове</vt:lpstr>
      <vt:lpstr>Използване на Google Fonts (1)</vt:lpstr>
      <vt:lpstr>Използване на Google Fonts (2)</vt:lpstr>
      <vt:lpstr>Подредба на елементи</vt:lpstr>
      <vt:lpstr>Подредба на елементи</vt:lpstr>
      <vt:lpstr>Grid система</vt:lpstr>
      <vt:lpstr>Grid система</vt:lpstr>
      <vt:lpstr>Видове Grid оформления (1)</vt:lpstr>
      <vt:lpstr>Видове Grid оформления (2)</vt:lpstr>
      <vt:lpstr>Видове Grid оформления (3)</vt:lpstr>
      <vt:lpstr>Адаптивен уеб дизайн</vt:lpstr>
      <vt:lpstr>Media query</vt:lpstr>
      <vt:lpstr>Media query – Пример</vt:lpstr>
      <vt:lpstr>Адаптивно Grid оформление</vt:lpstr>
      <vt:lpstr>Пример</vt:lpstr>
      <vt:lpstr>Стилизиране на уеб страница</vt:lpstr>
      <vt:lpstr>Създаване на CSS файл</vt:lpstr>
      <vt:lpstr>Стилизиране на body</vt:lpstr>
      <vt:lpstr>Стилизиране на hero</vt:lpstr>
      <vt:lpstr>Създаване на grid подредба</vt:lpstr>
      <vt:lpstr>Стилизиране на картите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на CSS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484</cp:revision>
  <dcterms:created xsi:type="dcterms:W3CDTF">2018-05-23T13:08:44Z</dcterms:created>
  <dcterms:modified xsi:type="dcterms:W3CDTF">2026-09-04T12:32:19Z</dcterms:modified>
  <cp:category/>
</cp:coreProperties>
</file>