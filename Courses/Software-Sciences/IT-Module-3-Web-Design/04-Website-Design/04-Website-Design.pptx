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3"/>
  </p:notesMasterIdLst>
  <p:handoutMasterIdLst>
    <p:handoutMasterId r:id="rId44"/>
  </p:handoutMasterIdLst>
  <p:sldIdLst>
    <p:sldId id="503" r:id="rId2"/>
    <p:sldId id="276" r:id="rId3"/>
    <p:sldId id="353" r:id="rId4"/>
    <p:sldId id="497" r:id="rId5"/>
    <p:sldId id="818" r:id="rId6"/>
    <p:sldId id="824" r:id="rId7"/>
    <p:sldId id="831" r:id="rId8"/>
    <p:sldId id="610" r:id="rId9"/>
    <p:sldId id="812" r:id="rId10"/>
    <p:sldId id="819" r:id="rId11"/>
    <p:sldId id="616" r:id="rId12"/>
    <p:sldId id="823" r:id="rId13"/>
    <p:sldId id="827" r:id="rId14"/>
    <p:sldId id="830" r:id="rId15"/>
    <p:sldId id="820" r:id="rId16"/>
    <p:sldId id="826" r:id="rId17"/>
    <p:sldId id="854" r:id="rId18"/>
    <p:sldId id="850" r:id="rId19"/>
    <p:sldId id="855" r:id="rId20"/>
    <p:sldId id="851" r:id="rId21"/>
    <p:sldId id="856" r:id="rId22"/>
    <p:sldId id="852" r:id="rId23"/>
    <p:sldId id="857" r:id="rId24"/>
    <p:sldId id="828" r:id="rId25"/>
    <p:sldId id="838" r:id="rId26"/>
    <p:sldId id="844" r:id="rId27"/>
    <p:sldId id="845" r:id="rId28"/>
    <p:sldId id="846" r:id="rId29"/>
    <p:sldId id="849" r:id="rId30"/>
    <p:sldId id="848" r:id="rId31"/>
    <p:sldId id="847" r:id="rId32"/>
    <p:sldId id="654" r:id="rId33"/>
    <p:sldId id="817" r:id="rId34"/>
    <p:sldId id="832" r:id="rId35"/>
    <p:sldId id="837" r:id="rId36"/>
    <p:sldId id="833" r:id="rId37"/>
    <p:sldId id="835" r:id="rId38"/>
    <p:sldId id="836" r:id="rId39"/>
    <p:sldId id="633" r:id="rId40"/>
    <p:sldId id="504" r:id="rId41"/>
    <p:sldId id="505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Проектиране на уеб сайт" id="{66DCFE1F-60FD-44F2-BE82-706DDBC14898}">
          <p14:sldIdLst>
            <p14:sldId id="353"/>
            <p14:sldId id="497"/>
            <p14:sldId id="818"/>
            <p14:sldId id="824"/>
            <p14:sldId id="831"/>
          </p14:sldIdLst>
        </p14:section>
        <p14:section name="Архитектура на уеб сайт" id="{EB44CA50-B176-0C4C-B0D0-5459023C7783}">
          <p14:sldIdLst>
            <p14:sldId id="610"/>
            <p14:sldId id="812"/>
            <p14:sldId id="819"/>
          </p14:sldIdLst>
        </p14:section>
        <p14:section name="Структура на уеб сайт" id="{2B3E1915-4BA2-9447-BC07-AE658EE7EC35}">
          <p14:sldIdLst>
            <p14:sldId id="616"/>
            <p14:sldId id="823"/>
            <p14:sldId id="827"/>
            <p14:sldId id="830"/>
            <p14:sldId id="820"/>
            <p14:sldId id="826"/>
            <p14:sldId id="854"/>
            <p14:sldId id="850"/>
            <p14:sldId id="855"/>
            <p14:sldId id="851"/>
            <p14:sldId id="856"/>
            <p14:sldId id="852"/>
            <p14:sldId id="857"/>
            <p14:sldId id="828"/>
          </p14:sldIdLst>
        </p14:section>
        <p14:section name="Навигационна структура на уеб сайт" id="{23E1C1D3-C190-EF49-BBD0-D54C17EFBBA7}">
          <p14:sldIdLst>
            <p14:sldId id="838"/>
            <p14:sldId id="844"/>
            <p14:sldId id="845"/>
            <p14:sldId id="846"/>
            <p14:sldId id="849"/>
            <p14:sldId id="848"/>
            <p14:sldId id="847"/>
          </p14:sldIdLst>
        </p14:section>
        <p14:section name="Демо" id="{276EAB92-AF41-DD42-AFD3-D1ABB239E1A7}">
          <p14:sldIdLst>
            <p14:sldId id="654"/>
            <p14:sldId id="817"/>
            <p14:sldId id="832"/>
            <p14:sldId id="837"/>
            <p14:sldId id="833"/>
            <p14:sldId id="835"/>
            <p14:sldId id="836"/>
          </p14:sldIdLst>
        </p14:section>
        <p14:section name="Заключение" id="{E19D07F1-86E2-47E9-B2AB-7ADC4F89DC12}">
          <p14:sldIdLst>
            <p14:sldId id="633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BF2F8-D32F-9387-A6CE-368ED6EFDCF0}" name="Zaraliev" initials="KZ" userId="S::Zaraliev@students.softuni.bg::e1c6524a-140e-4108-9ad5-2163634319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" initials="P" lastIdx="8" clrIdx="0">
    <p:extLst>
      <p:ext uri="{19B8F6BF-5375-455C-9EA6-DF929625EA0E}">
        <p15:presenceInfo xmlns:p15="http://schemas.microsoft.com/office/powerpoint/2012/main" userId="PC" providerId="None"/>
      </p:ext>
    </p:extLst>
  </p:cmAuthor>
  <p:cmAuthor id="2" name="Mirela Damyanova" initials="MD" lastIdx="5" clrIdx="1">
    <p:extLst>
      <p:ext uri="{19B8F6BF-5375-455C-9EA6-DF929625EA0E}">
        <p15:presenceInfo xmlns:p15="http://schemas.microsoft.com/office/powerpoint/2012/main" userId="Mirela Damya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959" autoAdjust="0"/>
    <p:restoredTop sz="95427" autoAdjust="0"/>
  </p:normalViewPr>
  <p:slideViewPr>
    <p:cSldViewPr showGuides="1">
      <p:cViewPr varScale="1">
        <p:scale>
          <a:sx n="80" d="100"/>
          <a:sy n="80" d="100"/>
        </p:scale>
        <p:origin x="200" y="79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4.09.26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098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2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563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08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71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187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338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519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61513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9477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84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484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0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719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926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88B0D8-949C-482D-990A-2DAB14AD4AD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74633-D38D-4432-867B-70F325FA70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994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01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80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3325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72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639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EF363-177A-44DE-80E9-FC9248B7DCA2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13EE-6697-4964-A067-C2136C00C83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156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5F1CA9-65DC-416B-8882-B3A5E415CE67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3FAF785-0C8D-730E-8E59-68198DC82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89344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buClr>
                <a:schemeClr val="tx1"/>
              </a:buClr>
              <a:defRPr/>
            </a:lvl1pPr>
            <a:lvl2pPr latinLnBrk="0">
              <a:buClr>
                <a:schemeClr val="tx1"/>
              </a:buClr>
              <a:defRPr/>
            </a:lvl2pPr>
            <a:lvl3pPr latinLnBrk="0">
              <a:buClr>
                <a:schemeClr val="tx1"/>
              </a:buClr>
              <a:defRPr/>
            </a:lvl3pPr>
            <a:lvl4pPr latinLnBrk="0">
              <a:buClr>
                <a:schemeClr val="tx1"/>
              </a:buClr>
              <a:defRPr/>
            </a:lvl4pPr>
            <a:lvl5pPr latinLnBrk="0">
              <a:buClr>
                <a:schemeClr val="tx1"/>
              </a:buClr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bg-BG" dirty="0"/>
              <a:t>Софтуерни и хардуерни науки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Курс </a:t>
            </a:r>
            <a:r>
              <a:rPr lang="en-US" dirty="0"/>
              <a:t>"</a:t>
            </a:r>
            <a:r>
              <a:rPr lang="bg-BG" dirty="0"/>
              <a:t>Информационни технологии"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4746" y="1402942"/>
            <a:ext cx="11083636" cy="971589"/>
          </a:xfrm>
        </p:spPr>
        <p:txBody>
          <a:bodyPr>
            <a:normAutofit/>
          </a:bodyPr>
          <a:lstStyle/>
          <a:p>
            <a:r>
              <a:rPr lang="bg-BG" sz="4400" dirty="0"/>
              <a:t>Етапи, архитектура, структура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971589"/>
          </a:xfrm>
        </p:spPr>
        <p:txBody>
          <a:bodyPr>
            <a:noAutofit/>
          </a:bodyPr>
          <a:lstStyle/>
          <a:p>
            <a:r>
              <a:rPr lang="bg-BG" sz="6000" dirty="0"/>
              <a:t>Проектиране на уеб сайт</a:t>
            </a:r>
            <a:endParaRPr lang="en-US" sz="6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C89CDB-9A69-7B24-74E6-10BF87DE1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1007" y="3073413"/>
            <a:ext cx="1819960" cy="814500"/>
          </a:xfrm>
          <a:prstGeom prst="rect">
            <a:avLst/>
          </a:prstGeom>
        </p:spPr>
      </p:pic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E0636FF-9DFF-1E3C-B648-B7D58C2CC7D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 t="238" r="-1094" b="44266"/>
          <a:stretch/>
        </p:blipFill>
        <p:spPr>
          <a:xfrm>
            <a:off x="6390123" y="3400017"/>
            <a:ext cx="5248260" cy="2188983"/>
          </a:xfr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97"/>
    </mc:Choice>
    <mc:Fallback xmlns="">
      <p:transition spd="slow" advTm="25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11781606" cy="5207396"/>
          </a:xfrm>
        </p:spPr>
        <p:txBody>
          <a:bodyPr>
            <a:normAutofit fontScale="85000" lnSpcReduction="20000"/>
          </a:bodyPr>
          <a:lstStyle/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Проектиране на уеб сайт 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етапи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​​</a:t>
            </a:r>
            <a:r>
              <a:rPr lang="bg-BG" sz="3800" b="1" dirty="0">
                <a:solidFill>
                  <a:schemeClr val="bg1"/>
                </a:solidFill>
              </a:rPr>
              <a:t>Архитектура на уеб сайт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Основни елементи</a:t>
            </a:r>
          </a:p>
          <a:p>
            <a:pPr>
              <a:buClr>
                <a:schemeClr val="tx1"/>
              </a:buClr>
            </a:pPr>
            <a:r>
              <a:rPr lang="bg-BG" sz="38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Структура на уеб сайт</a:t>
            </a:r>
          </a:p>
          <a:p>
            <a:pPr lvl="1">
              <a:buClr>
                <a:schemeClr val="tx1"/>
              </a:buClr>
            </a:pPr>
            <a:r>
              <a:rPr lang="bg-BG" sz="3600" b="1" dirty="0"/>
              <a:t>Видове структури</a:t>
            </a:r>
          </a:p>
          <a:p>
            <a:pPr>
              <a:buClr>
                <a:schemeClr val="tx1"/>
              </a:buClr>
            </a:pPr>
            <a:r>
              <a:rPr lang="bg-BG" sz="4000" dirty="0"/>
              <a:t>​</a:t>
            </a:r>
            <a:r>
              <a:rPr lang="bg-BG" sz="3800" b="1" dirty="0">
                <a:solidFill>
                  <a:schemeClr val="bg1"/>
                </a:solidFill>
              </a:rPr>
              <a:t>Навигационна структура на уеб сайт</a:t>
            </a:r>
            <a:endParaRPr lang="en-US" sz="3800" b="1" dirty="0">
              <a:solidFill>
                <a:schemeClr val="bg1"/>
              </a:solidFill>
            </a:endParaRPr>
          </a:p>
          <a:p>
            <a:pPr lvl="1">
              <a:buClr>
                <a:schemeClr val="tx1"/>
              </a:buClr>
            </a:pPr>
            <a:r>
              <a:rPr lang="bg-BG" sz="3600" b="1" dirty="0"/>
              <a:t>Видове навигационни структури</a:t>
            </a:r>
          </a:p>
          <a:p>
            <a:r>
              <a:rPr lang="bg-BG" sz="3800" dirty="0">
                <a:highlight>
                  <a:srgbClr val="FFFF00"/>
                </a:highlight>
              </a:rPr>
              <a:t>​​​</a:t>
            </a:r>
            <a:r>
              <a:rPr lang="bg-BG" sz="3800" b="1" dirty="0"/>
              <a:t>Пример: </a:t>
            </a:r>
            <a:r>
              <a:rPr lang="bg-BG" sz="3800" dirty="0"/>
              <a:t>Структура на уеб сайт по избор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6605"/>
    </mc:Choice>
    <mc:Fallback xmlns="">
      <p:transition spd="slow" advClick="0" advTm="6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етапи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Проектиране на уеб сайт</a:t>
            </a:r>
            <a:endParaRPr lang="en-US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3ED84-FAAA-70BF-7240-9FBB3D2E9B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130" y="1089000"/>
            <a:ext cx="1903739" cy="306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Проектирането</a:t>
            </a:r>
            <a:r>
              <a:rPr lang="bg-BG" sz="3600" dirty="0"/>
              <a:t> е етапът </a:t>
            </a:r>
            <a:r>
              <a:rPr lang="bg-BG" sz="3600" b="1" dirty="0"/>
              <a:t>след планирането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1"/>
              </a:buClr>
            </a:pPr>
            <a:r>
              <a:rPr lang="bg-BG" sz="3600" b="1" dirty="0"/>
              <a:t>Процесът</a:t>
            </a:r>
            <a:r>
              <a:rPr lang="bg-BG" sz="3600" dirty="0"/>
              <a:t>, който определя </a:t>
            </a:r>
            <a:r>
              <a:rPr lang="bg-BG" sz="3600" b="1" dirty="0">
                <a:solidFill>
                  <a:schemeClr val="bg1"/>
                </a:solidFill>
              </a:rPr>
              <a:t>как ще изглежда и как ще бъде организиран</a:t>
            </a:r>
            <a:r>
              <a:rPr lang="bg-BG" sz="3600" dirty="0"/>
              <a:t>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1"/>
              </a:buClr>
            </a:pPr>
            <a:r>
              <a:rPr lang="bg-BG" sz="3600" dirty="0"/>
              <a:t>Изгражда </a:t>
            </a:r>
            <a:r>
              <a:rPr lang="bg-BG" sz="3600" b="1" dirty="0">
                <a:solidFill>
                  <a:schemeClr val="bg1"/>
                </a:solidFill>
              </a:rPr>
              <a:t>логическата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визуална основа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1"/>
              </a:buClr>
            </a:pPr>
            <a:endParaRPr lang="en-US" sz="3400" b="1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Проектиране на уеб сайт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E7F43E-5C50-FE77-A90F-238C9BA0A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144" y="3927910"/>
            <a:ext cx="3177711" cy="269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5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695598" cy="5528766"/>
          </a:xfrm>
        </p:spPr>
        <p:txBody>
          <a:bodyPr>
            <a:normAutofit lnSpcReduction="10000"/>
          </a:bodyPr>
          <a:lstStyle/>
          <a:p>
            <a:r>
              <a:rPr lang="bg-BG" sz="3700" b="1" dirty="0">
                <a:solidFill>
                  <a:schemeClr val="bg1"/>
                </a:solidFill>
              </a:rPr>
              <a:t>Архитектура на уеб сайта </a:t>
            </a:r>
          </a:p>
          <a:p>
            <a:pPr lvl="1"/>
            <a:r>
              <a:rPr lang="bg-BG" sz="3200" dirty="0"/>
              <a:t>Определя </a:t>
            </a:r>
            <a:r>
              <a:rPr lang="bg-BG" sz="3200" b="1" dirty="0">
                <a:solidFill>
                  <a:schemeClr val="bg1"/>
                </a:solidFill>
              </a:rPr>
              <a:t>структурата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взаимовръзките</a:t>
            </a:r>
            <a:r>
              <a:rPr lang="bg-BG" sz="3200" dirty="0"/>
              <a:t> между </a:t>
            </a:r>
            <a:r>
              <a:rPr lang="bg-BG" sz="3200" b="1" dirty="0"/>
              <a:t>уеб страниците</a:t>
            </a:r>
          </a:p>
          <a:p>
            <a:pPr lvl="1"/>
            <a:r>
              <a:rPr lang="bg-BG" sz="3200" dirty="0"/>
              <a:t>Изгражда се </a:t>
            </a:r>
            <a:r>
              <a:rPr lang="bg-BG" sz="3200" b="1" dirty="0">
                <a:solidFill>
                  <a:schemeClr val="bg1"/>
                </a:solidFill>
              </a:rPr>
              <a:t>структурната рамка </a:t>
            </a:r>
            <a:r>
              <a:rPr lang="bg-BG" sz="3200" dirty="0"/>
              <a:t>на </a:t>
            </a:r>
            <a:r>
              <a:rPr lang="bg-BG" sz="3200" b="1" dirty="0"/>
              <a:t>уеб сайта</a:t>
            </a:r>
          </a:p>
          <a:p>
            <a:r>
              <a:rPr lang="bg-BG" sz="3700" b="1" dirty="0">
                <a:solidFill>
                  <a:schemeClr val="bg1"/>
                </a:solidFill>
              </a:rPr>
              <a:t>Схема на уеб страница </a:t>
            </a:r>
            <a:r>
              <a:rPr lang="bg-BG" sz="3700" b="1" dirty="0"/>
              <a:t>(</a:t>
            </a:r>
            <a:r>
              <a:rPr lang="en-US" sz="3700" b="1" dirty="0"/>
              <a:t>Wireframe)</a:t>
            </a:r>
            <a:endParaRPr lang="bg-BG" sz="3700" b="1" dirty="0"/>
          </a:p>
          <a:p>
            <a:pPr lvl="1"/>
            <a:r>
              <a:rPr lang="bg-BG" sz="3200" dirty="0"/>
              <a:t>Определя </a:t>
            </a:r>
            <a:r>
              <a:rPr lang="bg-BG" sz="3200" b="1" dirty="0">
                <a:solidFill>
                  <a:schemeClr val="bg1"/>
                </a:solidFill>
              </a:rPr>
              <a:t>подредбата</a:t>
            </a:r>
            <a:r>
              <a:rPr lang="bg-BG" sz="3200" dirty="0"/>
              <a:t> на </a:t>
            </a:r>
            <a:r>
              <a:rPr lang="bg-BG" sz="3200" b="1" dirty="0"/>
              <a:t>съдържанието</a:t>
            </a:r>
            <a:r>
              <a:rPr lang="bg-BG" sz="3200" dirty="0"/>
              <a:t> в отделните </a:t>
            </a:r>
            <a:r>
              <a:rPr lang="bg-BG" sz="3200" b="1" dirty="0"/>
              <a:t>уеб страници</a:t>
            </a:r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Чертеж</a:t>
            </a:r>
            <a:r>
              <a:rPr lang="bg-BG" sz="3200" dirty="0"/>
              <a:t> на </a:t>
            </a:r>
            <a:r>
              <a:rPr lang="bg-BG" sz="3200" b="1" dirty="0"/>
              <a:t>страница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без цветове </a:t>
            </a:r>
            <a:r>
              <a:rPr lang="bg-BG" sz="3200" dirty="0"/>
              <a:t>и </a:t>
            </a:r>
            <a:r>
              <a:rPr lang="bg-BG" sz="3200" b="1" dirty="0">
                <a:solidFill>
                  <a:schemeClr val="bg1"/>
                </a:solidFill>
              </a:rPr>
              <a:t>дизайн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 fontScale="90000"/>
          </a:bodyPr>
          <a:lstStyle/>
          <a:p>
            <a:r>
              <a:rPr lang="bg-BG" dirty="0"/>
              <a:t>Основни етапи в проектирането на уеб сайт (1)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015C21-F431-1450-C4BB-5C609205ED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908" y="3969000"/>
            <a:ext cx="3174122" cy="18788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E2DF2B-36C7-7933-79B7-EECEF2BFE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908" y="2090147"/>
            <a:ext cx="3174122" cy="187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4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386542" cy="5528766"/>
          </a:xfrm>
        </p:spPr>
        <p:txBody>
          <a:bodyPr>
            <a:normAutofit/>
          </a:bodyPr>
          <a:lstStyle/>
          <a:p>
            <a:r>
              <a:rPr lang="bg-BG" sz="3400" b="1" dirty="0">
                <a:solidFill>
                  <a:schemeClr val="bg1"/>
                </a:solidFill>
              </a:rPr>
              <a:t>Графичен модел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en-US" sz="3400" b="1" dirty="0"/>
              <a:t>(Mockup)</a:t>
            </a:r>
            <a:endParaRPr lang="bg-BG" sz="3400" b="1" dirty="0"/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Визуален модел </a:t>
            </a:r>
            <a:r>
              <a:rPr lang="bg-BG" sz="3200" dirty="0"/>
              <a:t>с </a:t>
            </a:r>
            <a:r>
              <a:rPr lang="bg-BG" sz="3200" b="1" dirty="0"/>
              <a:t>цветове</a:t>
            </a:r>
            <a:r>
              <a:rPr lang="bg-BG" sz="3200" dirty="0"/>
              <a:t>, </a:t>
            </a:r>
            <a:r>
              <a:rPr lang="bg-BG" sz="3200" b="1" dirty="0"/>
              <a:t>изображения</a:t>
            </a:r>
            <a:r>
              <a:rPr lang="bg-BG" sz="3200" dirty="0"/>
              <a:t> и </a:t>
            </a:r>
            <a:r>
              <a:rPr lang="bg-BG" sz="3200" b="1" dirty="0"/>
              <a:t>шрифтове</a:t>
            </a:r>
          </a:p>
          <a:p>
            <a:pPr lvl="1"/>
            <a:r>
              <a:rPr lang="bg-BG" sz="3200" dirty="0"/>
              <a:t>Показва </a:t>
            </a:r>
            <a:r>
              <a:rPr lang="bg-BG" sz="3200" b="1" dirty="0"/>
              <a:t>как уеб сайтът </a:t>
            </a:r>
            <a:r>
              <a:rPr lang="bg-BG" sz="3200" b="1" dirty="0">
                <a:solidFill>
                  <a:schemeClr val="bg1"/>
                </a:solidFill>
              </a:rPr>
              <a:t>ще изглежда</a:t>
            </a:r>
          </a:p>
          <a:p>
            <a:r>
              <a:rPr lang="bg-BG" sz="3400" b="1" dirty="0">
                <a:solidFill>
                  <a:schemeClr val="bg1"/>
                </a:solidFill>
              </a:rPr>
              <a:t>Прототип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en-US" sz="3400" b="1" dirty="0"/>
              <a:t>(Prototype)</a:t>
            </a:r>
            <a:endParaRPr lang="bg-BG" sz="3400" b="1" dirty="0"/>
          </a:p>
          <a:p>
            <a:pPr lvl="1"/>
            <a:r>
              <a:rPr lang="bg-BG" sz="3200" b="1" dirty="0">
                <a:solidFill>
                  <a:schemeClr val="bg1"/>
                </a:solidFill>
              </a:rPr>
              <a:t>Интерактивен модел </a:t>
            </a:r>
            <a:r>
              <a:rPr lang="bg-BG" sz="3200" dirty="0"/>
              <a:t>на </a:t>
            </a:r>
            <a:r>
              <a:rPr lang="bg-BG" sz="3200" b="1" dirty="0"/>
              <a:t>уеб сайта</a:t>
            </a:r>
          </a:p>
          <a:p>
            <a:pPr lvl="1"/>
            <a:r>
              <a:rPr lang="bg-BG" sz="3200" dirty="0"/>
              <a:t>Демонстрира </a:t>
            </a:r>
            <a:r>
              <a:rPr lang="bg-BG" sz="3200" b="1" dirty="0"/>
              <a:t>как уеб сайтът </a:t>
            </a:r>
            <a:r>
              <a:rPr lang="bg-BG" sz="3200" b="1" dirty="0">
                <a:solidFill>
                  <a:schemeClr val="bg1"/>
                </a:solidFill>
              </a:rPr>
              <a:t>ще работи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 fontScale="90000"/>
          </a:bodyPr>
          <a:lstStyle/>
          <a:p>
            <a:r>
              <a:rPr lang="bg-BG" dirty="0"/>
              <a:t>Основни етапи в проектирането на уеб сайт (2)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32D0EE-490F-2F1E-1788-A304920B5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908" y="3654000"/>
            <a:ext cx="3174122" cy="10959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D7B1F8-E77C-A260-46F3-7D568DB4D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926" y="1775147"/>
            <a:ext cx="3174122" cy="187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7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76ABBA-F687-5AED-C0EC-F4DEA8E09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3DE1AE-B225-BEDD-9057-CBD4116B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Връзка между етапите при създаване на уеб сайт</a:t>
            </a:r>
            <a:endParaRPr lang="en-B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965B32-FA17-146B-ED0E-42F276D4D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500" y="1407436"/>
            <a:ext cx="5085000" cy="5085000"/>
          </a:xfrm>
          <a:prstGeom prst="rect">
            <a:avLst/>
          </a:prstGeom>
        </p:spPr>
      </p:pic>
      <p:sp>
        <p:nvSpPr>
          <p:cNvPr id="3" name="Rounded Rectangular Callout 8">
            <a:extLst>
              <a:ext uri="{FF2B5EF4-FFF2-40B4-BE49-F238E27FC236}">
                <a16:creationId xmlns:a16="http://schemas.microsoft.com/office/drawing/2014/main" id="{47385249-5622-9A17-F924-7EB1CFDD27CF}"/>
              </a:ext>
            </a:extLst>
          </p:cNvPr>
          <p:cNvSpPr/>
          <p:nvPr/>
        </p:nvSpPr>
        <p:spPr bwMode="auto">
          <a:xfrm>
            <a:off x="1044750" y="1520747"/>
            <a:ext cx="2430000" cy="649100"/>
          </a:xfrm>
          <a:prstGeom prst="wedgeRoundRectCallout">
            <a:avLst>
              <a:gd name="adj1" fmla="val 157890"/>
              <a:gd name="adj2" fmla="val 32545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Изисквания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ounded Rectangular Callout 8">
            <a:extLst>
              <a:ext uri="{FF2B5EF4-FFF2-40B4-BE49-F238E27FC236}">
                <a16:creationId xmlns:a16="http://schemas.microsoft.com/office/drawing/2014/main" id="{2B56158F-8E22-1CB6-B544-BDC1DA903B71}"/>
              </a:ext>
            </a:extLst>
          </p:cNvPr>
          <p:cNvSpPr/>
          <p:nvPr/>
        </p:nvSpPr>
        <p:spPr bwMode="auto">
          <a:xfrm>
            <a:off x="957873" y="3448007"/>
            <a:ext cx="2430000" cy="649100"/>
          </a:xfrm>
          <a:prstGeom prst="wedgeRoundRectCallout">
            <a:avLst>
              <a:gd name="adj1" fmla="val 131664"/>
              <a:gd name="adj2" fmla="val 159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Архитектура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ounded Rectangular Callout 8">
            <a:extLst>
              <a:ext uri="{FF2B5EF4-FFF2-40B4-BE49-F238E27FC236}">
                <a16:creationId xmlns:a16="http://schemas.microsoft.com/office/drawing/2014/main" id="{4C91D21F-F1A8-EE4D-4338-35552CFFD9E5}"/>
              </a:ext>
            </a:extLst>
          </p:cNvPr>
          <p:cNvSpPr/>
          <p:nvPr/>
        </p:nvSpPr>
        <p:spPr bwMode="auto">
          <a:xfrm>
            <a:off x="1040059" y="5012703"/>
            <a:ext cx="2430000" cy="649100"/>
          </a:xfrm>
          <a:prstGeom prst="wedgeRoundRectCallout">
            <a:avLst>
              <a:gd name="adj1" fmla="val 121971"/>
              <a:gd name="adj2" fmla="val -9502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Структура</a:t>
            </a:r>
            <a:endParaRPr lang="en-BG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8">
            <a:extLst>
              <a:ext uri="{FF2B5EF4-FFF2-40B4-BE49-F238E27FC236}">
                <a16:creationId xmlns:a16="http://schemas.microsoft.com/office/drawing/2014/main" id="{169A72BF-67FE-C2EC-5025-DD6AC6092A09}"/>
              </a:ext>
            </a:extLst>
          </p:cNvPr>
          <p:cNvSpPr/>
          <p:nvPr/>
        </p:nvSpPr>
        <p:spPr bwMode="auto">
          <a:xfrm>
            <a:off x="8526000" y="2149174"/>
            <a:ext cx="2430000" cy="649100"/>
          </a:xfrm>
          <a:prstGeom prst="wedgeRoundRectCallout">
            <a:avLst>
              <a:gd name="adj1" fmla="val -83282"/>
              <a:gd name="adj2" fmla="val 15257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Дизайн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8">
            <a:extLst>
              <a:ext uri="{FF2B5EF4-FFF2-40B4-BE49-F238E27FC236}">
                <a16:creationId xmlns:a16="http://schemas.microsoft.com/office/drawing/2014/main" id="{6ECEF22E-7017-F7B4-8EB1-F7D997A7039D}"/>
              </a:ext>
            </a:extLst>
          </p:cNvPr>
          <p:cNvSpPr/>
          <p:nvPr/>
        </p:nvSpPr>
        <p:spPr bwMode="auto">
          <a:xfrm>
            <a:off x="9021000" y="4650940"/>
            <a:ext cx="2430000" cy="649100"/>
          </a:xfrm>
          <a:prstGeom prst="wedgeRoundRectCallout">
            <a:avLst>
              <a:gd name="adj1" fmla="val -77011"/>
              <a:gd name="adj2" fmla="val -608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Код</a:t>
            </a:r>
            <a:endParaRPr lang="en-BG" sz="2800" b="1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496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Основни елементи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Архитектура на уеб сайт</a:t>
            </a:r>
            <a:endParaRPr lang="en-US" sz="6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6984E-E1C0-4B97-F857-DDD5BF9AF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829" y="1539000"/>
            <a:ext cx="2824341" cy="202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Архитектура на уеб сайт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r>
              <a:rPr lang="bg-BG" sz="3600" b="1" dirty="0"/>
              <a:t>"</a:t>
            </a:r>
            <a:r>
              <a:rPr lang="bg-BG" sz="3600" b="1" dirty="0">
                <a:solidFill>
                  <a:schemeClr val="bg1"/>
                </a:solidFill>
              </a:rPr>
              <a:t>Скелетът</a:t>
            </a:r>
            <a:r>
              <a:rPr lang="bg-BG" sz="3600" b="1" dirty="0"/>
              <a:t>"</a:t>
            </a:r>
            <a:r>
              <a:rPr lang="bg-BG" sz="3600" dirty="0"/>
              <a:t> на </a:t>
            </a:r>
            <a:r>
              <a:rPr lang="bg-BG" sz="3600" b="1" dirty="0"/>
              <a:t>уеб сайта</a:t>
            </a:r>
          </a:p>
          <a:p>
            <a:r>
              <a:rPr lang="bg-BG" sz="3600" dirty="0"/>
              <a:t>Определя </a:t>
            </a:r>
            <a:r>
              <a:rPr lang="bg-BG" sz="3600" b="1" dirty="0">
                <a:solidFill>
                  <a:schemeClr val="bg1"/>
                </a:solidFill>
              </a:rPr>
              <a:t>логическата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b="1" dirty="0">
                <a:solidFill>
                  <a:schemeClr val="bg1"/>
                </a:solidFill>
              </a:rPr>
              <a:t>йерархия</a:t>
            </a:r>
            <a:r>
              <a:rPr lang="bg-BG" sz="3600" dirty="0">
                <a:solidFill>
                  <a:schemeClr val="bg1"/>
                </a:solidFill>
              </a:rPr>
              <a:t> </a:t>
            </a:r>
            <a:r>
              <a:rPr lang="bg-BG" sz="3600" dirty="0"/>
              <a:t>на </a:t>
            </a:r>
            <a:r>
              <a:rPr lang="bg-BG" sz="3600" b="1" dirty="0"/>
              <a:t>уеб сайта</a:t>
            </a:r>
          </a:p>
          <a:p>
            <a:r>
              <a:rPr lang="bg-BG" sz="3600" dirty="0"/>
              <a:t>Показва </a:t>
            </a:r>
            <a:r>
              <a:rPr lang="bg-BG" sz="3600" b="1" dirty="0"/>
              <a:t>как е подреден уеб сайтът </a:t>
            </a:r>
            <a:r>
              <a:rPr lang="bg-BG" sz="3600" dirty="0"/>
              <a:t>и </a:t>
            </a:r>
            <a:r>
              <a:rPr lang="bg-BG" sz="3600" b="1" dirty="0"/>
              <a:t>по какъв начин</a:t>
            </a:r>
            <a:r>
              <a:rPr lang="bg-BG" sz="3600" dirty="0"/>
              <a:t> потребителят ще се </a:t>
            </a:r>
            <a:r>
              <a:rPr lang="bg-BG" sz="3600" b="1" dirty="0"/>
              <a:t>придвижва между уеб страниците</a:t>
            </a:r>
            <a:endParaRPr lang="en-BG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04562-4364-D988-EED6-E81E90CBF6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6" t="11286" r="9974" b="9974"/>
          <a:stretch/>
        </p:blipFill>
        <p:spPr>
          <a:xfrm>
            <a:off x="4633500" y="3795636"/>
            <a:ext cx="2925000" cy="29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65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Основни елементи на архитектурата на уеб сайт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fontScale="92500" lnSpcReduction="10000"/>
          </a:bodyPr>
          <a:lstStyle/>
          <a:p>
            <a:r>
              <a:rPr lang="bg-BG" sz="3600" b="1" dirty="0">
                <a:solidFill>
                  <a:schemeClr val="bg1"/>
                </a:solidFill>
              </a:rPr>
              <a:t>Навигация</a:t>
            </a:r>
          </a:p>
          <a:p>
            <a:pPr lvl="1"/>
            <a:r>
              <a:rPr lang="bg-BG" sz="3400" b="1" dirty="0"/>
              <a:t>Менюта</a:t>
            </a:r>
            <a:r>
              <a:rPr lang="bg-BG" sz="3400" dirty="0"/>
              <a:t>, </a:t>
            </a:r>
            <a:r>
              <a:rPr lang="bg-BG" sz="3400" b="1" dirty="0"/>
              <a:t>бутони</a:t>
            </a:r>
            <a:r>
              <a:rPr lang="bg-BG" sz="3400" dirty="0"/>
              <a:t>, </a:t>
            </a:r>
            <a:r>
              <a:rPr lang="bg-BG" sz="3400" b="1" dirty="0"/>
              <a:t>линкове </a:t>
            </a:r>
            <a:r>
              <a:rPr lang="bg-BG" sz="3400" dirty="0"/>
              <a:t>и </a:t>
            </a:r>
            <a:r>
              <a:rPr lang="bg-BG" sz="3400" b="1" dirty="0"/>
              <a:t>др</a:t>
            </a:r>
            <a:r>
              <a:rPr lang="bg-BG" sz="3400" dirty="0"/>
              <a:t>.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Графичен дизайн</a:t>
            </a:r>
          </a:p>
          <a:p>
            <a:pPr lvl="1"/>
            <a:r>
              <a:rPr lang="bg-BG" sz="3400" b="1" dirty="0"/>
              <a:t>Визуалната рамка </a:t>
            </a:r>
            <a:r>
              <a:rPr lang="bg-BG" sz="3400" dirty="0"/>
              <a:t>и </a:t>
            </a:r>
            <a:r>
              <a:rPr lang="bg-BG" sz="3400" b="1" dirty="0"/>
              <a:t>разположение</a:t>
            </a:r>
            <a:r>
              <a:rPr lang="bg-BG" sz="3400" dirty="0"/>
              <a:t> на </a:t>
            </a:r>
            <a:r>
              <a:rPr lang="bg-BG" sz="3400" b="1" dirty="0"/>
              <a:t>елементите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Структура на съдържанието</a:t>
            </a:r>
          </a:p>
          <a:p>
            <a:pPr lvl="1"/>
            <a:r>
              <a:rPr lang="bg-BG" sz="3400" dirty="0"/>
              <a:t>Как е </a:t>
            </a:r>
            <a:r>
              <a:rPr lang="bg-BG" sz="3400" b="1" dirty="0"/>
              <a:t>организирана информацията</a:t>
            </a:r>
          </a:p>
          <a:p>
            <a:r>
              <a:rPr lang="bg-BG" sz="3600" b="1" dirty="0">
                <a:solidFill>
                  <a:schemeClr val="bg1"/>
                </a:solidFill>
              </a:rPr>
              <a:t>Функционалности</a:t>
            </a:r>
          </a:p>
          <a:p>
            <a:pPr lvl="1"/>
            <a:r>
              <a:rPr lang="bg-BG" sz="3400" b="1" dirty="0"/>
              <a:t>Техническите решения</a:t>
            </a:r>
            <a:r>
              <a:rPr lang="bg-BG" sz="3400" dirty="0"/>
              <a:t>, определящи </a:t>
            </a:r>
            <a:r>
              <a:rPr lang="bg-BG" sz="3400" b="1" dirty="0"/>
              <a:t>какво ще може да прави потребителят</a:t>
            </a:r>
          </a:p>
        </p:txBody>
      </p:sp>
    </p:spTree>
    <p:extLst>
      <p:ext uri="{BB962C8B-B14F-4D97-AF65-F5344CB8AC3E}">
        <p14:creationId xmlns:p14="http://schemas.microsoft.com/office/powerpoint/2010/main" val="157854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Визуална организация на уеб сайта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Структура на уеб сайт</a:t>
            </a:r>
            <a:endParaRPr lang="en-US" sz="6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FDC5A-07FC-B317-9A86-A6FD6FE00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512" y="1134000"/>
            <a:ext cx="3494975" cy="270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25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Структура на уеб сайт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4000" b="1" dirty="0">
                <a:solidFill>
                  <a:schemeClr val="bg1"/>
                </a:solidFill>
              </a:rPr>
              <a:t>Организацията</a:t>
            </a:r>
            <a:r>
              <a:rPr lang="bg-BG" sz="4000" dirty="0"/>
              <a:t> и </a:t>
            </a:r>
            <a:r>
              <a:rPr lang="bg-BG" sz="4000" b="1" dirty="0">
                <a:solidFill>
                  <a:schemeClr val="bg1"/>
                </a:solidFill>
              </a:rPr>
              <a:t>връзките</a:t>
            </a:r>
            <a:r>
              <a:rPr lang="bg-BG" sz="4000" dirty="0"/>
              <a:t> между </a:t>
            </a:r>
            <a:r>
              <a:rPr lang="bg-BG" sz="4000" b="1" dirty="0"/>
              <a:t>уеб страниците</a:t>
            </a:r>
          </a:p>
          <a:p>
            <a:pPr>
              <a:buClr>
                <a:schemeClr val="tx2"/>
              </a:buClr>
            </a:pPr>
            <a:r>
              <a:rPr lang="bg-BG" sz="3800" dirty="0"/>
              <a:t>За </a:t>
            </a:r>
            <a:r>
              <a:rPr lang="bg-BG" sz="3800" b="1" dirty="0"/>
              <a:t>визуализацията</a:t>
            </a:r>
            <a:r>
              <a:rPr lang="bg-BG" sz="3800" dirty="0"/>
              <a:t> се използват </a:t>
            </a:r>
            <a:r>
              <a:rPr lang="bg-BG" sz="3800" b="1" dirty="0">
                <a:solidFill>
                  <a:schemeClr val="bg1"/>
                </a:solidFill>
              </a:rPr>
              <a:t>блок-схеми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F7366-AAB4-7DCA-3C9A-DFC325F4C8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550" y="2710074"/>
            <a:ext cx="4650900" cy="394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8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dirty="0"/>
              <a:t>Примерна структура на уеб сайт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7472DB-0049-2CA5-8342-96CD8D3FAF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860" y="1854000"/>
            <a:ext cx="10872280" cy="39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36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Структура на уеб сайт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76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800" dirty="0"/>
              <a:t>При </a:t>
            </a:r>
            <a:r>
              <a:rPr lang="bg-BG" sz="3800" b="1" dirty="0"/>
              <a:t>големи уеб сайтове </a:t>
            </a:r>
            <a:r>
              <a:rPr lang="bg-BG" sz="3800" dirty="0"/>
              <a:t>се създава </a:t>
            </a:r>
            <a:r>
              <a:rPr lang="bg-BG" sz="4000" b="1" dirty="0"/>
              <a:t>"</a:t>
            </a:r>
            <a:r>
              <a:rPr lang="bg-BG" sz="3800" b="1" dirty="0">
                <a:solidFill>
                  <a:schemeClr val="bg1"/>
                </a:solidFill>
              </a:rPr>
              <a:t>карта на сайта</a:t>
            </a:r>
            <a:r>
              <a:rPr lang="bg-BG" sz="4000" b="1" dirty="0"/>
              <a:t>" </a:t>
            </a:r>
            <a:r>
              <a:rPr lang="bg-BG" sz="4000" dirty="0"/>
              <a:t>(</a:t>
            </a:r>
            <a:r>
              <a:rPr lang="en-US" sz="4000" b="1" dirty="0"/>
              <a:t>sitemap</a:t>
            </a:r>
            <a:r>
              <a:rPr lang="bg-BG" sz="4000" dirty="0"/>
              <a:t>)</a:t>
            </a:r>
            <a:endParaRPr lang="bg-BG" sz="3800" dirty="0"/>
          </a:p>
          <a:p>
            <a:pPr lvl="1"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Специална</a:t>
            </a:r>
            <a:r>
              <a:rPr lang="bg-BG" sz="3600" b="1" dirty="0"/>
              <a:t> уеб страница </a:t>
            </a:r>
            <a:r>
              <a:rPr lang="bg-BG" sz="3600" dirty="0"/>
              <a:t>със </a:t>
            </a:r>
            <a:r>
              <a:rPr lang="bg-BG" sz="3600" b="1" dirty="0">
                <a:solidFill>
                  <a:schemeClr val="bg1"/>
                </a:solidFill>
              </a:rPr>
              <a:t>списък</a:t>
            </a:r>
            <a:r>
              <a:rPr lang="bg-BG" sz="3600" dirty="0"/>
              <a:t> с </a:t>
            </a:r>
            <a:r>
              <a:rPr lang="bg-BG" sz="3600" b="1" dirty="0">
                <a:solidFill>
                  <a:schemeClr val="bg1"/>
                </a:solidFill>
              </a:rPr>
              <a:t>линкове</a:t>
            </a:r>
            <a:r>
              <a:rPr lang="bg-BG" sz="3600" dirty="0"/>
              <a:t> към </a:t>
            </a:r>
            <a:r>
              <a:rPr lang="bg-BG" sz="3600" b="1" dirty="0"/>
              <a:t>всички уеб страници</a:t>
            </a:r>
          </a:p>
          <a:p>
            <a:pPr lvl="1">
              <a:buClr>
                <a:schemeClr val="tx2"/>
              </a:buClr>
            </a:pPr>
            <a:r>
              <a:rPr lang="bg-BG" sz="3600" dirty="0"/>
              <a:t>Помага на </a:t>
            </a:r>
            <a:r>
              <a:rPr lang="bg-BG" sz="3600" b="1" dirty="0"/>
              <a:t>потребителите</a:t>
            </a:r>
            <a:r>
              <a:rPr lang="bg-BG" sz="3600" dirty="0"/>
              <a:t> и улеснява </a:t>
            </a:r>
            <a:r>
              <a:rPr lang="bg-BG" sz="3600" b="1" dirty="0"/>
              <a:t>търсачките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30D0A-BBA5-F6DC-9576-46906F3AF8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1" t="7208" r="8071" b="6693"/>
          <a:stretch/>
        </p:blipFill>
        <p:spPr>
          <a:xfrm>
            <a:off x="6951000" y="2071969"/>
            <a:ext cx="4905000" cy="377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95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400" b="1" dirty="0"/>
              <a:t>Използване</a:t>
            </a:r>
            <a:r>
              <a:rPr lang="bg-BG" sz="3400" dirty="0"/>
              <a:t> на </a:t>
            </a:r>
            <a:r>
              <a:rPr lang="bg-BG" sz="3400" b="1" dirty="0">
                <a:solidFill>
                  <a:schemeClr val="bg1"/>
                </a:solidFill>
              </a:rPr>
              <a:t>ясни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кратки</a:t>
            </a:r>
            <a:r>
              <a:rPr lang="bg-BG" sz="3400" dirty="0"/>
              <a:t> </a:t>
            </a:r>
            <a:r>
              <a:rPr lang="bg-BG" sz="3400" b="1" dirty="0"/>
              <a:t>имена</a:t>
            </a:r>
            <a:r>
              <a:rPr lang="bg-BG" sz="3400" dirty="0"/>
              <a:t> на </a:t>
            </a:r>
            <a:r>
              <a:rPr lang="bg-BG" sz="3400" b="1" dirty="0">
                <a:solidFill>
                  <a:schemeClr val="bg1"/>
                </a:solidFill>
              </a:rPr>
              <a:t>файлове</a:t>
            </a:r>
            <a:r>
              <a:rPr lang="bg-BG" sz="3400" dirty="0"/>
              <a:t> и </a:t>
            </a:r>
            <a:r>
              <a:rPr lang="bg-BG" sz="3400" b="1" dirty="0">
                <a:solidFill>
                  <a:schemeClr val="bg1"/>
                </a:solidFill>
              </a:rPr>
              <a:t>директории</a:t>
            </a:r>
          </a:p>
          <a:p>
            <a:pPr>
              <a:buClr>
                <a:schemeClr val="tx2"/>
              </a:buClr>
            </a:pPr>
            <a:r>
              <a:rPr lang="bg-BG" sz="3400" b="1" dirty="0"/>
              <a:t>Създаване</a:t>
            </a:r>
            <a:r>
              <a:rPr lang="bg-BG" sz="3400" dirty="0"/>
              <a:t> на </a:t>
            </a:r>
            <a:r>
              <a:rPr lang="bg-BG" sz="3400" b="1" dirty="0">
                <a:solidFill>
                  <a:schemeClr val="bg1"/>
                </a:solidFill>
              </a:rPr>
              <a:t>подпапки</a:t>
            </a:r>
            <a:r>
              <a:rPr lang="bg-BG" sz="3400" dirty="0"/>
              <a:t> за </a:t>
            </a:r>
            <a:r>
              <a:rPr lang="bg-BG" sz="3400" b="1" dirty="0"/>
              <a:t>различни типове </a:t>
            </a:r>
            <a:r>
              <a:rPr lang="bg-BG" sz="3400" b="1" dirty="0">
                <a:solidFill>
                  <a:schemeClr val="bg1"/>
                </a:solidFill>
              </a:rPr>
              <a:t>съдържание</a:t>
            </a:r>
          </a:p>
          <a:p>
            <a:pPr>
              <a:buClr>
                <a:schemeClr val="tx2"/>
              </a:buClr>
            </a:pPr>
            <a:r>
              <a:rPr lang="bg-BG" sz="3400" b="1" dirty="0"/>
              <a:t>Изграждане</a:t>
            </a:r>
            <a:r>
              <a:rPr lang="bg-BG" sz="3400" dirty="0"/>
              <a:t> на </a:t>
            </a:r>
            <a:r>
              <a:rPr lang="bg-BG" sz="3400" b="1" dirty="0">
                <a:solidFill>
                  <a:schemeClr val="bg1"/>
                </a:solidFill>
              </a:rPr>
              <a:t>вътрешни връзки </a:t>
            </a:r>
            <a:r>
              <a:rPr lang="bg-BG" sz="3400" dirty="0"/>
              <a:t>за </a:t>
            </a:r>
            <a:r>
              <a:rPr lang="bg-BG" sz="3400" b="1" dirty="0"/>
              <a:t>по-добра навигация</a:t>
            </a:r>
          </a:p>
          <a:p>
            <a:pPr>
              <a:buClr>
                <a:schemeClr val="tx2"/>
              </a:buClr>
            </a:pPr>
            <a:r>
              <a:rPr lang="bg-BG" sz="3400" b="1" dirty="0">
                <a:solidFill>
                  <a:schemeClr val="bg1"/>
                </a:solidFill>
              </a:rPr>
              <a:t>Оптимизиране</a:t>
            </a:r>
            <a:r>
              <a:rPr lang="bg-BG" sz="3400" dirty="0"/>
              <a:t> на </a:t>
            </a:r>
            <a:r>
              <a:rPr lang="bg-BG" sz="3400" b="1" dirty="0"/>
              <a:t>структурата</a:t>
            </a:r>
            <a:r>
              <a:rPr lang="bg-BG" sz="3400" dirty="0"/>
              <a:t> за </a:t>
            </a:r>
            <a:r>
              <a:rPr lang="bg-BG" sz="3400" b="1" dirty="0">
                <a:solidFill>
                  <a:schemeClr val="bg1"/>
                </a:solidFill>
              </a:rPr>
              <a:t>търсачки</a:t>
            </a:r>
            <a:r>
              <a:rPr lang="bg-BG" sz="3400" dirty="0"/>
              <a:t> </a:t>
            </a:r>
            <a:r>
              <a:rPr lang="en-US" sz="3400" dirty="0"/>
              <a:t>(</a:t>
            </a:r>
            <a:r>
              <a:rPr lang="en-US" sz="3400" b="1" dirty="0"/>
              <a:t>SEO</a:t>
            </a:r>
            <a:r>
              <a:rPr lang="bg-BG" sz="3400" dirty="0"/>
              <a:t>)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 fontScale="90000"/>
          </a:bodyPr>
          <a:lstStyle/>
          <a:p>
            <a:r>
              <a:rPr lang="bg-BG" dirty="0"/>
              <a:t>Добри практики при изграждане на структура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FBDEF-F44E-5B42-1E33-69E094A1C9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081"/>
          <a:stretch/>
        </p:blipFill>
        <p:spPr>
          <a:xfrm>
            <a:off x="5106000" y="4374000"/>
            <a:ext cx="1828647" cy="24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46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Видове структури на уеб сайт</a:t>
            </a:r>
            <a:r>
              <a:rPr lang="en-US" dirty="0"/>
              <a:t> (1)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660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Йерархична </a:t>
            </a:r>
            <a:r>
              <a:rPr lang="bg-BG" sz="3600" b="1" dirty="0"/>
              <a:t>(пирамидална</a:t>
            </a:r>
            <a:r>
              <a:rPr lang="en-US" sz="3600" b="1" dirty="0"/>
              <a:t>)</a:t>
            </a:r>
            <a:r>
              <a:rPr lang="bg-BG" sz="3600" b="1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структура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Най-разпространената</a:t>
            </a:r>
            <a:r>
              <a:rPr lang="bg-BG" sz="3400" dirty="0"/>
              <a:t> структура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Главната страница </a:t>
            </a:r>
            <a:r>
              <a:rPr lang="bg-BG" sz="3400" dirty="0"/>
              <a:t>е на </a:t>
            </a:r>
            <a:r>
              <a:rPr lang="bg-BG" sz="3400" b="1" dirty="0"/>
              <a:t>върха</a:t>
            </a:r>
            <a:r>
              <a:rPr lang="bg-BG" sz="3400" dirty="0"/>
              <a:t>,</a:t>
            </a:r>
            <a:r>
              <a:rPr lang="en-US" sz="3400" dirty="0"/>
              <a:t> </a:t>
            </a:r>
            <a:r>
              <a:rPr lang="bg-BG" sz="3600" dirty="0"/>
              <a:t>а </a:t>
            </a:r>
            <a:r>
              <a:rPr lang="bg-BG" sz="3600" b="1" dirty="0"/>
              <a:t>под нея </a:t>
            </a:r>
            <a:r>
              <a:rPr lang="bg-BG" sz="3600" dirty="0"/>
              <a:t>са </a:t>
            </a:r>
            <a:r>
              <a:rPr lang="bg-BG" sz="3600" b="1" dirty="0"/>
              <a:t>раздели</a:t>
            </a:r>
            <a:r>
              <a:rPr lang="bg-BG" sz="3600" dirty="0"/>
              <a:t> и </a:t>
            </a:r>
            <a:r>
              <a:rPr lang="bg-BG" sz="3600" b="1" dirty="0"/>
              <a:t>подстраници</a:t>
            </a:r>
            <a:endParaRPr lang="en-US" sz="3600" b="1" dirty="0"/>
          </a:p>
          <a:p>
            <a:pPr lvl="1">
              <a:buClr>
                <a:schemeClr val="tx2"/>
              </a:buClr>
            </a:pPr>
            <a:r>
              <a:rPr lang="bg-BG" sz="3400" dirty="0"/>
              <a:t>Подходяща за </a:t>
            </a:r>
            <a:r>
              <a:rPr lang="bg-BG" sz="3400" b="1" dirty="0"/>
              <a:t>уеб сайтове </a:t>
            </a:r>
            <a:r>
              <a:rPr lang="bg-BG" sz="3400" dirty="0"/>
              <a:t>с </a:t>
            </a:r>
            <a:r>
              <a:rPr lang="bg-BG" sz="3400" b="1" dirty="0"/>
              <a:t>много страници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F914B5-5838-A7E6-2EDF-750F91A46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41000" y="2660362"/>
            <a:ext cx="4956058" cy="247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0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39990B-7FF9-1BB1-1F28-18E71DD15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4E9A48-444C-69CF-1EFC-6562719F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Йерархична (пирамидална</a:t>
            </a:r>
            <a:r>
              <a:rPr lang="en-US" sz="4000" dirty="0"/>
              <a:t>)</a:t>
            </a:r>
            <a:r>
              <a:rPr lang="bg-BG" sz="4000" dirty="0"/>
              <a:t> структура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EA753-0CC5-E55F-73DF-D37F2429D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750" y="1224000"/>
            <a:ext cx="8752500" cy="540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5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Видове структури на уеб сайт</a:t>
            </a:r>
            <a:r>
              <a:rPr lang="en-US" dirty="0"/>
              <a:t> (2)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941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800" b="1" dirty="0">
                <a:solidFill>
                  <a:schemeClr val="bg1"/>
                </a:solidFill>
              </a:rPr>
              <a:t>Линейна </a:t>
            </a:r>
            <a:r>
              <a:rPr lang="bg-BG" sz="3800" b="1" dirty="0"/>
              <a:t>(последователна) </a:t>
            </a:r>
            <a:r>
              <a:rPr lang="bg-BG" sz="3800" b="1" dirty="0">
                <a:solidFill>
                  <a:schemeClr val="bg1"/>
                </a:solidFill>
              </a:rPr>
              <a:t>структура</a:t>
            </a:r>
          </a:p>
          <a:p>
            <a:pPr lvl="1">
              <a:buClr>
                <a:schemeClr val="tx2"/>
              </a:buClr>
            </a:pPr>
            <a:r>
              <a:rPr lang="bg-BG" sz="3600" b="1" dirty="0"/>
              <a:t>Уеб страниците </a:t>
            </a:r>
            <a:r>
              <a:rPr lang="bg-BG" sz="3600" dirty="0"/>
              <a:t>са свързани в </a:t>
            </a:r>
            <a:r>
              <a:rPr lang="bg-BG" sz="3600" b="1" dirty="0"/>
              <a:t>последователен ред</a:t>
            </a:r>
            <a:endParaRPr lang="en-US" sz="3600" b="1" dirty="0"/>
          </a:p>
          <a:p>
            <a:pPr lvl="1">
              <a:buClr>
                <a:schemeClr val="tx2"/>
              </a:buClr>
            </a:pPr>
            <a:r>
              <a:rPr lang="bg-BG" sz="3600" dirty="0"/>
              <a:t>Подходяща за </a:t>
            </a:r>
            <a:r>
              <a:rPr lang="bg-BG" sz="3600" b="1" dirty="0"/>
              <a:t>малки уеб сайтове </a:t>
            </a:r>
            <a:r>
              <a:rPr lang="bg-BG" sz="3600" dirty="0"/>
              <a:t>с </a:t>
            </a:r>
            <a:r>
              <a:rPr lang="bg-BG" sz="3600" b="1" dirty="0"/>
              <a:t>последователна навигация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D35DB-E2A1-3024-9D68-7C7BE3170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293" y="1116526"/>
            <a:ext cx="2870737" cy="574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1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8B542-7D9E-EFD2-5477-DEBD34F81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484B4F-4D48-7BA1-2FFB-E02643B53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Линейна (последователна) структура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0467A-19F0-D3A1-B40D-BED3EA369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7" y="3159000"/>
            <a:ext cx="11898585" cy="10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4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Видове структури на уеб сайт</a:t>
            </a:r>
            <a:r>
              <a:rPr lang="en-US" dirty="0"/>
              <a:t> (</a:t>
            </a:r>
            <a:r>
              <a:rPr lang="bg-BG" dirty="0"/>
              <a:t>3</a:t>
            </a:r>
            <a:r>
              <a:rPr lang="en-US" dirty="0"/>
              <a:t>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950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800" b="1" dirty="0">
                <a:solidFill>
                  <a:schemeClr val="bg1"/>
                </a:solidFill>
              </a:rPr>
              <a:t>Мрежова структура</a:t>
            </a:r>
          </a:p>
          <a:p>
            <a:pPr lvl="1">
              <a:buClr>
                <a:schemeClr val="tx2"/>
              </a:buClr>
            </a:pPr>
            <a:r>
              <a:rPr lang="bg-BG" sz="3600" b="1" dirty="0"/>
              <a:t>Всяка</a:t>
            </a:r>
            <a:r>
              <a:rPr lang="bg-BG" sz="3600" dirty="0"/>
              <a:t> </a:t>
            </a:r>
            <a:r>
              <a:rPr lang="bg-BG" sz="3600" b="1" dirty="0"/>
              <a:t>уеб страница </a:t>
            </a:r>
            <a:r>
              <a:rPr lang="bg-BG" sz="3600" dirty="0"/>
              <a:t>може да бъде </a:t>
            </a:r>
            <a:r>
              <a:rPr lang="bg-BG" sz="3600" b="1" dirty="0"/>
              <a:t>свързана</a:t>
            </a:r>
            <a:r>
              <a:rPr lang="bg-BG" sz="3600" dirty="0"/>
              <a:t> с </a:t>
            </a:r>
            <a:r>
              <a:rPr lang="bg-BG" sz="3600" b="1" dirty="0"/>
              <a:t>всяка друга</a:t>
            </a:r>
          </a:p>
          <a:p>
            <a:pPr lvl="1">
              <a:buClr>
                <a:schemeClr val="tx2"/>
              </a:buClr>
            </a:pPr>
            <a:r>
              <a:rPr lang="bg-BG" sz="3600" dirty="0"/>
              <a:t>Подходяща за </a:t>
            </a:r>
            <a:r>
              <a:rPr lang="bg-BG" sz="3600" b="1" dirty="0"/>
              <a:t>големи проекти</a:t>
            </a:r>
            <a:r>
              <a:rPr lang="bg-BG" sz="3600" dirty="0"/>
              <a:t>, в които</a:t>
            </a:r>
            <a:endParaRPr lang="en-US" sz="3600" dirty="0"/>
          </a:p>
          <a:p>
            <a:pPr marL="442912" lvl="1" indent="0">
              <a:buClr>
                <a:schemeClr val="tx2"/>
              </a:buClr>
              <a:buNone/>
            </a:pPr>
            <a:r>
              <a:rPr lang="en-US" sz="3600" b="1" dirty="0"/>
              <a:t>   </a:t>
            </a:r>
            <a:r>
              <a:rPr lang="bg-BG" sz="3600" b="1" dirty="0"/>
              <a:t>уеб страниците </a:t>
            </a:r>
            <a:r>
              <a:rPr lang="bg-BG" sz="3600" dirty="0"/>
              <a:t>са </a:t>
            </a:r>
            <a:r>
              <a:rPr lang="bg-BG" sz="3600" b="1" dirty="0"/>
              <a:t>силно свързани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0B51A-BAB8-2D67-93E8-E795C0BC1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000" y="1089000"/>
            <a:ext cx="3896345" cy="37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28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4CFCAD-7EAB-4381-626E-656599C03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FBC8A93-982E-44C5-3457-BF2EA282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/>
              <a:t>Мрежова структура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63C69-FA90-3499-98CC-0DC2881C3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49" y="3069000"/>
            <a:ext cx="11752502" cy="130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2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AABC86-82E0-F099-701A-D4347B605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B6A643-676D-3506-B008-B24B36AA3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Видове структури на уеб сайт</a:t>
            </a:r>
            <a:r>
              <a:rPr lang="en-US" dirty="0"/>
              <a:t> (</a:t>
            </a:r>
            <a:r>
              <a:rPr lang="bg-BG" dirty="0"/>
              <a:t>4</a:t>
            </a:r>
            <a:r>
              <a:rPr lang="en-US" dirty="0"/>
              <a:t>)</a:t>
            </a:r>
            <a:endParaRPr lang="en-BG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CA50BB8-C95B-C726-A00E-EFF2B734CC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9505598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800" b="1" dirty="0">
                <a:solidFill>
                  <a:schemeClr val="bg1"/>
                </a:solidFill>
              </a:rPr>
              <a:t>Хибридна структура</a:t>
            </a:r>
          </a:p>
          <a:p>
            <a:pPr lvl="1">
              <a:buClr>
                <a:schemeClr val="tx2"/>
              </a:buClr>
            </a:pPr>
            <a:r>
              <a:rPr lang="bg-BG" sz="3600" b="1" dirty="0"/>
              <a:t>Комбинира елементи </a:t>
            </a:r>
            <a:r>
              <a:rPr lang="bg-BG" sz="3600" dirty="0"/>
              <a:t>от другите </a:t>
            </a:r>
          </a:p>
          <a:p>
            <a:pPr marL="442912" lvl="1" indent="0">
              <a:buClr>
                <a:schemeClr val="tx2"/>
              </a:buClr>
              <a:buNone/>
            </a:pPr>
            <a:r>
              <a:rPr lang="bg-BG" sz="3600" b="1" dirty="0"/>
              <a:t>    видове</a:t>
            </a:r>
            <a:r>
              <a:rPr lang="bg-BG" sz="3600" dirty="0"/>
              <a:t> </a:t>
            </a:r>
            <a:r>
              <a:rPr lang="bg-BG" sz="3600" b="1" dirty="0"/>
              <a:t>структури</a:t>
            </a:r>
          </a:p>
          <a:p>
            <a:pPr lvl="1">
              <a:buClr>
                <a:schemeClr val="tx2"/>
              </a:buClr>
            </a:pPr>
            <a:r>
              <a:rPr lang="bg-BG" sz="3600" dirty="0"/>
              <a:t>Подходяща за </a:t>
            </a:r>
            <a:r>
              <a:rPr lang="bg-BG" sz="3600" b="1" dirty="0"/>
              <a:t>големи проекти</a:t>
            </a:r>
            <a:r>
              <a:rPr lang="bg-BG" sz="3600" dirty="0"/>
              <a:t>, </a:t>
            </a:r>
          </a:p>
          <a:p>
            <a:pPr marL="442912" lvl="1" indent="0">
              <a:buClr>
                <a:schemeClr val="tx2"/>
              </a:buClr>
              <a:buNone/>
            </a:pPr>
            <a:r>
              <a:rPr lang="bg-BG" sz="3600" dirty="0"/>
              <a:t>    които имат </a:t>
            </a:r>
            <a:r>
              <a:rPr lang="bg-BG" sz="3600" b="1" dirty="0"/>
              <a:t>много различни раздели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7BEC63-1CB5-B526-EEC6-20F9523DF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239" y="1196124"/>
            <a:ext cx="3325845" cy="567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1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EB66FD-AAC4-9C81-586A-586E4A922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020D25-B056-E894-1814-985B4280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b="1" dirty="0"/>
              <a:t>Хибридна структура</a:t>
            </a:r>
            <a:endParaRPr lang="en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12FAAB-02BD-AA96-3047-1BCD13436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800" y="1284158"/>
            <a:ext cx="9720399" cy="52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07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5B3741-5430-E1F0-3342-CACCE9F40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7F4AAB-8CCA-CEE4-4655-A1DCBF988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/>
              <a:t>​​​​</a:t>
            </a:r>
            <a:r>
              <a:rPr lang="bg-BG" b="1" dirty="0">
                <a:solidFill>
                  <a:schemeClr val="bg1"/>
                </a:solidFill>
              </a:rPr>
              <a:t>Структура на уеб сайт</a:t>
            </a:r>
          </a:p>
          <a:p>
            <a:pPr lvl="1"/>
            <a:r>
              <a:rPr lang="bg-BG" dirty="0"/>
              <a:t>​</a:t>
            </a:r>
            <a:r>
              <a:rPr lang="bg-BG" b="1" dirty="0">
                <a:solidFill>
                  <a:schemeClr val="bg1"/>
                </a:solidFill>
              </a:rPr>
              <a:t>Техническата подредба </a:t>
            </a:r>
            <a:r>
              <a:rPr lang="bg-BG" dirty="0"/>
              <a:t>на </a:t>
            </a:r>
            <a:r>
              <a:rPr lang="bg-BG" b="1" dirty="0"/>
              <a:t>елементите</a:t>
            </a:r>
          </a:p>
          <a:p>
            <a:pPr lvl="1"/>
            <a:r>
              <a:rPr lang="bg-BG" dirty="0"/>
              <a:t>​В какъв </a:t>
            </a:r>
            <a:r>
              <a:rPr lang="bg-BG" b="1" dirty="0">
                <a:solidFill>
                  <a:schemeClr val="bg1"/>
                </a:solidFill>
              </a:rPr>
              <a:t>ред</a:t>
            </a:r>
            <a:r>
              <a:rPr lang="bg-BG" dirty="0"/>
              <a:t> и къде се </a:t>
            </a:r>
            <a:r>
              <a:rPr lang="bg-BG" b="1" dirty="0">
                <a:solidFill>
                  <a:schemeClr val="bg1"/>
                </a:solidFill>
              </a:rPr>
              <a:t>намира</a:t>
            </a:r>
            <a:r>
              <a:rPr lang="bg-BG" dirty="0"/>
              <a:t> всяка </a:t>
            </a:r>
            <a:r>
              <a:rPr lang="bg-BG" b="1" dirty="0"/>
              <a:t>уеб страница</a:t>
            </a:r>
          </a:p>
          <a:p>
            <a:pPr lvl="1"/>
            <a:r>
              <a:rPr lang="bg-BG" dirty="0"/>
              <a:t>​Как са </a:t>
            </a:r>
            <a:r>
              <a:rPr lang="bg-BG" b="1" dirty="0"/>
              <a:t>организирани </a:t>
            </a:r>
            <a:r>
              <a:rPr lang="bg-BG" b="1" dirty="0">
                <a:solidFill>
                  <a:schemeClr val="bg1"/>
                </a:solidFill>
              </a:rPr>
              <a:t>файловете</a:t>
            </a:r>
            <a:r>
              <a:rPr lang="bg-BG" b="1" dirty="0"/>
              <a:t>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връзките</a:t>
            </a:r>
            <a:r>
              <a:rPr lang="bg-BG" b="1" dirty="0"/>
              <a:t> между тях</a:t>
            </a:r>
            <a:endParaRPr lang="en-BG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F3A7D0-E10D-CFD7-39E0-530D3E0D5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bg-BG" b="1" dirty="0"/>
              <a:t>​</a:t>
            </a:r>
            <a:r>
              <a:rPr lang="bg-BG" b="1" dirty="0">
                <a:solidFill>
                  <a:schemeClr val="bg1"/>
                </a:solidFill>
              </a:rPr>
              <a:t>Архитектура на уеб сайт</a:t>
            </a:r>
          </a:p>
          <a:p>
            <a:pPr lvl="1"/>
            <a:r>
              <a:rPr lang="bg-BG" b="1" dirty="0"/>
              <a:t>​</a:t>
            </a:r>
            <a:r>
              <a:rPr lang="bg-BG" b="1" dirty="0">
                <a:solidFill>
                  <a:schemeClr val="bg1"/>
                </a:solidFill>
              </a:rPr>
              <a:t>Общият план </a:t>
            </a:r>
            <a:r>
              <a:rPr lang="bg-BG" dirty="0"/>
              <a:t>и </a:t>
            </a:r>
            <a:r>
              <a:rPr lang="bg-BG" b="1" dirty="0">
                <a:solidFill>
                  <a:schemeClr val="bg1"/>
                </a:solidFill>
              </a:rPr>
              <a:t>логическата организация </a:t>
            </a:r>
            <a:r>
              <a:rPr lang="bg-BG" dirty="0"/>
              <a:t>на </a:t>
            </a:r>
            <a:r>
              <a:rPr lang="bg-BG" b="1" dirty="0"/>
              <a:t>уеб сайта</a:t>
            </a:r>
          </a:p>
          <a:p>
            <a:pPr lvl="1"/>
            <a:r>
              <a:rPr lang="bg-BG" dirty="0"/>
              <a:t>​Какви </a:t>
            </a:r>
            <a:r>
              <a:rPr lang="bg-BG" b="1" dirty="0">
                <a:solidFill>
                  <a:schemeClr val="bg1"/>
                </a:solidFill>
              </a:rPr>
              <a:t>уеб страници</a:t>
            </a:r>
            <a:r>
              <a:rPr lang="bg-BG" dirty="0"/>
              <a:t> ще </a:t>
            </a:r>
            <a:r>
              <a:rPr lang="bg-BG" b="1" dirty="0"/>
              <a:t>има</a:t>
            </a:r>
            <a:r>
              <a:rPr lang="bg-BG" dirty="0"/>
              <a:t> и как ще бъдат </a:t>
            </a:r>
            <a:r>
              <a:rPr lang="bg-BG" b="1" dirty="0">
                <a:solidFill>
                  <a:schemeClr val="bg1"/>
                </a:solidFill>
              </a:rPr>
              <a:t>свързани</a:t>
            </a:r>
            <a:r>
              <a:rPr lang="bg-BG" b="1" dirty="0"/>
              <a:t> помежду си</a:t>
            </a:r>
          </a:p>
          <a:p>
            <a:pPr lvl="1"/>
            <a:r>
              <a:rPr lang="bg-BG" dirty="0"/>
              <a:t>​Какви </a:t>
            </a:r>
            <a:r>
              <a:rPr lang="bg-BG" b="1" dirty="0">
                <a:solidFill>
                  <a:schemeClr val="bg1"/>
                </a:solidFill>
              </a:rPr>
              <a:t>функции</a:t>
            </a:r>
            <a:r>
              <a:rPr lang="bg-BG" dirty="0"/>
              <a:t> ще предлага </a:t>
            </a:r>
            <a:r>
              <a:rPr lang="bg-BG" b="1" dirty="0"/>
              <a:t>уеб сайтът</a:t>
            </a:r>
            <a:endParaRPr lang="en-BG" b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0F2516-D947-8D19-EB4C-62FC6324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 v</a:t>
            </a:r>
            <a:r>
              <a:rPr lang="en-US" dirty="0"/>
              <a:t>s. </a:t>
            </a:r>
            <a:r>
              <a:rPr lang="bg-BG" dirty="0"/>
              <a:t>структура на уеб сайт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331323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Ориентирането в уеб сайта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4800" dirty="0"/>
              <a:t>Навигационна структура на уеб сайт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752D27-4816-5667-A2E4-5D5261346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000" y="1134000"/>
            <a:ext cx="2520000" cy="307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dirty="0"/>
              <a:t>Показва </a:t>
            </a:r>
            <a:r>
              <a:rPr lang="bg-BG" sz="3600" b="1" dirty="0"/>
              <a:t>как потребителят </a:t>
            </a:r>
            <a:r>
              <a:rPr lang="bg-BG" sz="3600" dirty="0"/>
              <a:t>ще се </a:t>
            </a:r>
            <a:r>
              <a:rPr lang="bg-BG" sz="3600" b="1" dirty="0">
                <a:solidFill>
                  <a:schemeClr val="bg1"/>
                </a:solidFill>
              </a:rPr>
              <a:t>придвижва</a:t>
            </a:r>
            <a:r>
              <a:rPr lang="bg-BG" sz="3600" dirty="0"/>
              <a:t> между </a:t>
            </a:r>
            <a:r>
              <a:rPr lang="bg-BG" sz="3600" b="1" dirty="0"/>
              <a:t>отделните уеб страници</a:t>
            </a:r>
            <a:endParaRPr lang="en-US" sz="3600" b="1" dirty="0"/>
          </a:p>
          <a:p>
            <a:pPr>
              <a:buClr>
                <a:schemeClr val="tx2"/>
              </a:buClr>
            </a:pPr>
            <a:r>
              <a:rPr lang="bg-BG" sz="3600" dirty="0"/>
              <a:t>Добрата </a:t>
            </a:r>
            <a:r>
              <a:rPr lang="bg-BG" sz="3600" b="1" dirty="0">
                <a:solidFill>
                  <a:schemeClr val="bg1"/>
                </a:solidFill>
              </a:rPr>
              <a:t>навигация</a:t>
            </a:r>
            <a:r>
              <a:rPr lang="bg-BG" sz="3600" dirty="0"/>
              <a:t> позволява </a:t>
            </a:r>
            <a:r>
              <a:rPr lang="bg-BG" sz="3600" b="1" dirty="0"/>
              <a:t>бързо</a:t>
            </a:r>
            <a:r>
              <a:rPr lang="bg-BG" sz="3600" dirty="0"/>
              <a:t> и </a:t>
            </a:r>
            <a:r>
              <a:rPr lang="bg-BG" sz="3600" b="1" dirty="0"/>
              <a:t>лесно</a:t>
            </a:r>
            <a:r>
              <a:rPr lang="bg-BG" sz="3600" dirty="0"/>
              <a:t> </a:t>
            </a:r>
            <a:r>
              <a:rPr lang="bg-BG" sz="3600" b="1" dirty="0">
                <a:solidFill>
                  <a:schemeClr val="bg1"/>
                </a:solidFill>
              </a:rPr>
              <a:t>ориентиране</a:t>
            </a:r>
            <a:r>
              <a:rPr lang="bg-BG" sz="3600" dirty="0"/>
              <a:t> в </a:t>
            </a:r>
            <a:r>
              <a:rPr lang="bg-BG" sz="3600" b="1" dirty="0"/>
              <a:t>уеб сайта</a:t>
            </a:r>
          </a:p>
          <a:p>
            <a:pPr>
              <a:buClr>
                <a:schemeClr val="tx2"/>
              </a:buClr>
            </a:pPr>
            <a:endParaRPr lang="bg-BG" sz="36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dirty="0"/>
              <a:t>Навигационна структура на уеб сайт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57CAC6-60A9-963D-3D12-E28CA28592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2" t="14250" r="18644" b="13557"/>
          <a:stretch/>
        </p:blipFill>
        <p:spPr>
          <a:xfrm>
            <a:off x="3721716" y="3885316"/>
            <a:ext cx="4500000" cy="283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21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8290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dirty="0"/>
              <a:t>Да има </a:t>
            </a:r>
            <a:r>
              <a:rPr lang="bg-BG" sz="3600" b="1" dirty="0">
                <a:solidFill>
                  <a:schemeClr val="bg1"/>
                </a:solidFill>
              </a:rPr>
              <a:t>главно меню </a:t>
            </a:r>
            <a:r>
              <a:rPr lang="bg-BG" sz="3600" dirty="0"/>
              <a:t>с </a:t>
            </a:r>
            <a:r>
              <a:rPr lang="bg-BG" sz="3600" b="1" dirty="0"/>
              <a:t>най-важните подстраници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Навигационните менюта </a:t>
            </a:r>
            <a:r>
              <a:rPr lang="bg-BG" sz="3600" dirty="0"/>
              <a:t>да са разположени на </a:t>
            </a:r>
            <a:r>
              <a:rPr lang="bg-BG" sz="3600" b="1" dirty="0">
                <a:solidFill>
                  <a:schemeClr val="bg1"/>
                </a:solidFill>
              </a:rPr>
              <a:t>едно и също </a:t>
            </a:r>
            <a:r>
              <a:rPr lang="bg-BG" sz="3600" b="1" dirty="0"/>
              <a:t>място</a:t>
            </a:r>
          </a:p>
          <a:p>
            <a:pPr>
              <a:buClr>
                <a:schemeClr val="tx2"/>
              </a:buClr>
            </a:pPr>
            <a:r>
              <a:rPr lang="bg-BG" sz="3600" b="1" dirty="0"/>
              <a:t>Линкове</a:t>
            </a:r>
            <a:r>
              <a:rPr lang="bg-BG" sz="3600" dirty="0"/>
              <a:t> и </a:t>
            </a:r>
            <a:r>
              <a:rPr lang="bg-BG" sz="3600" b="1" dirty="0"/>
              <a:t>бутони </a:t>
            </a:r>
            <a:r>
              <a:rPr lang="bg-BG" sz="3600" dirty="0"/>
              <a:t>да се наименуват </a:t>
            </a:r>
            <a:r>
              <a:rPr lang="bg-BG" sz="3600" b="1" dirty="0">
                <a:solidFill>
                  <a:schemeClr val="bg1"/>
                </a:solidFill>
              </a:rPr>
              <a:t>кратко</a:t>
            </a:r>
            <a:r>
              <a:rPr lang="bg-BG" sz="3600" dirty="0"/>
              <a:t> и </a:t>
            </a:r>
            <a:r>
              <a:rPr lang="bg-BG" sz="3600" b="1" dirty="0">
                <a:solidFill>
                  <a:schemeClr val="bg1"/>
                </a:solidFill>
              </a:rPr>
              <a:t>ясно</a:t>
            </a:r>
          </a:p>
          <a:p>
            <a:pPr>
              <a:buClr>
                <a:schemeClr val="tx2"/>
              </a:buClr>
            </a:pPr>
            <a:r>
              <a:rPr lang="bg-BG" sz="3600" dirty="0"/>
              <a:t>При </a:t>
            </a:r>
            <a:r>
              <a:rPr lang="bg-BG" sz="3600" b="1" dirty="0"/>
              <a:t>голям брой категории</a:t>
            </a:r>
            <a:r>
              <a:rPr lang="bg-BG" sz="3600" dirty="0"/>
              <a:t> и </a:t>
            </a:r>
            <a:r>
              <a:rPr lang="bg-BG" sz="3600" b="1" dirty="0"/>
              <a:t>подстраници</a:t>
            </a:r>
            <a:r>
              <a:rPr lang="bg-BG" sz="3600" dirty="0"/>
              <a:t>, се създава </a:t>
            </a:r>
            <a:r>
              <a:rPr lang="bg-BG" sz="3600" b="1" dirty="0">
                <a:solidFill>
                  <a:schemeClr val="bg1"/>
                </a:solidFill>
              </a:rPr>
              <a:t>карта на уеб сайта</a:t>
            </a:r>
          </a:p>
          <a:p>
            <a:pPr>
              <a:buClr>
                <a:schemeClr val="tx2"/>
              </a:buClr>
            </a:pPr>
            <a:endParaRPr lang="bg-BG" sz="36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 fontScale="90000"/>
          </a:bodyPr>
          <a:lstStyle/>
          <a:p>
            <a:r>
              <a:rPr lang="bg-BG" dirty="0"/>
              <a:t>Основни правила при навигационна структура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A649D7-4A45-7AB6-E1B2-90122E172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737" y="2376183"/>
            <a:ext cx="4064000" cy="316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77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355598" cy="5528766"/>
          </a:xfrm>
        </p:spPr>
        <p:txBody>
          <a:bodyPr>
            <a:normAutofit fontScale="92500" lnSpcReduction="200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Главна </a:t>
            </a:r>
            <a:r>
              <a:rPr lang="bg-BG" sz="3600" b="1" dirty="0"/>
              <a:t>(основна) </a:t>
            </a:r>
            <a:r>
              <a:rPr lang="bg-BG" sz="3600" b="1" dirty="0">
                <a:solidFill>
                  <a:schemeClr val="bg1"/>
                </a:solidFill>
              </a:rPr>
              <a:t>навигация</a:t>
            </a:r>
          </a:p>
          <a:p>
            <a:pPr lvl="1">
              <a:buClr>
                <a:schemeClr val="tx2"/>
              </a:buClr>
            </a:pPr>
            <a:r>
              <a:rPr lang="bg-BG" sz="3400" b="1" dirty="0"/>
              <a:t>Основното меню </a:t>
            </a:r>
            <a:r>
              <a:rPr lang="bg-BG" sz="3400" dirty="0"/>
              <a:t>в </a:t>
            </a:r>
            <a:r>
              <a:rPr lang="bg-BG" sz="3400" b="1" dirty="0">
                <a:solidFill>
                  <a:schemeClr val="bg1"/>
                </a:solidFill>
              </a:rPr>
              <a:t>горната част </a:t>
            </a:r>
            <a:r>
              <a:rPr lang="bg-BG" sz="3400" dirty="0"/>
              <a:t>на </a:t>
            </a:r>
            <a:r>
              <a:rPr lang="bg-BG" sz="3400" b="1" dirty="0"/>
              <a:t>уеб страницата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Води към </a:t>
            </a:r>
            <a:r>
              <a:rPr lang="bg-BG" sz="3400" b="1" dirty="0"/>
              <a:t>основните уеб страници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Второстепенна </a:t>
            </a:r>
            <a:r>
              <a:rPr lang="bg-BG" sz="3600" b="1" dirty="0"/>
              <a:t>(вътрешна) </a:t>
            </a:r>
            <a:r>
              <a:rPr lang="bg-BG" sz="3600" b="1" dirty="0">
                <a:solidFill>
                  <a:schemeClr val="bg1"/>
                </a:solidFill>
              </a:rPr>
              <a:t>навигация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Появява се в </a:t>
            </a:r>
            <a:r>
              <a:rPr lang="bg-BG" sz="3400" b="1" dirty="0">
                <a:solidFill>
                  <a:schemeClr val="bg1"/>
                </a:solidFill>
              </a:rPr>
              <a:t>рамките</a:t>
            </a:r>
            <a:r>
              <a:rPr lang="bg-BG" sz="3400" dirty="0"/>
              <a:t> на </a:t>
            </a:r>
            <a:r>
              <a:rPr lang="bg-BG" sz="3400" b="1" dirty="0"/>
              <a:t>конкретен раздел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Показва </a:t>
            </a:r>
            <a:r>
              <a:rPr lang="bg-BG" sz="3400" b="1" dirty="0"/>
              <a:t>вътрешните подстраници</a:t>
            </a:r>
          </a:p>
          <a:p>
            <a:pPr marL="0" indent="0">
              <a:buClr>
                <a:schemeClr val="tx2"/>
              </a:buClr>
              <a:buNone/>
            </a:pPr>
            <a:endParaRPr lang="bg-BG" sz="3600" dirty="0"/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dirty="0"/>
              <a:t>Видове навигационни структури (1)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58A35-4401-9AF6-BFC1-02E928280B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730" y="1989000"/>
            <a:ext cx="5575300" cy="7366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8B5774-2E3F-C9D1-7051-9DB46FF56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151" y="3944213"/>
            <a:ext cx="3742457" cy="25034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7455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525598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Странична навигация </a:t>
            </a:r>
            <a:r>
              <a:rPr lang="en-US" sz="3600" b="1" dirty="0"/>
              <a:t>(Sidebar)</a:t>
            </a:r>
            <a:endParaRPr lang="bg-BG" sz="3600" b="1" dirty="0"/>
          </a:p>
          <a:p>
            <a:pPr lvl="1">
              <a:buClr>
                <a:schemeClr val="tx2"/>
              </a:buClr>
            </a:pPr>
            <a:r>
              <a:rPr lang="bg-BG" sz="3400" dirty="0"/>
              <a:t>Намира се </a:t>
            </a:r>
            <a:r>
              <a:rPr lang="bg-BG" sz="3400" b="1" dirty="0">
                <a:solidFill>
                  <a:schemeClr val="bg1"/>
                </a:solidFill>
              </a:rPr>
              <a:t>отстрани</a:t>
            </a:r>
            <a:r>
              <a:rPr lang="bg-BG" sz="3400" dirty="0"/>
              <a:t> на </a:t>
            </a:r>
            <a:r>
              <a:rPr lang="bg-BG" sz="3400" b="1" dirty="0"/>
              <a:t>уеб страницата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Удобна за </a:t>
            </a:r>
            <a:r>
              <a:rPr lang="bg-BG" sz="3400" b="1" dirty="0"/>
              <a:t>категории</a:t>
            </a:r>
            <a:r>
              <a:rPr lang="bg-BG" sz="3400" dirty="0"/>
              <a:t>, </a:t>
            </a:r>
            <a:r>
              <a:rPr lang="bg-BG" sz="3400" b="1" dirty="0"/>
              <a:t>филтри</a:t>
            </a:r>
            <a:r>
              <a:rPr lang="bg-BG" sz="3400" dirty="0"/>
              <a:t> или </a:t>
            </a:r>
            <a:r>
              <a:rPr lang="bg-BG" sz="3400" b="1" dirty="0"/>
              <a:t>бърз достъп</a:t>
            </a:r>
          </a:p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Футър </a:t>
            </a:r>
            <a:r>
              <a:rPr lang="bg-BG" sz="3600" b="1" dirty="0"/>
              <a:t>(</a:t>
            </a:r>
            <a:r>
              <a:rPr lang="en-US" sz="3600" b="1" dirty="0"/>
              <a:t>Footer)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Намира се в </a:t>
            </a:r>
            <a:r>
              <a:rPr lang="bg-BG" sz="3400" b="1" dirty="0">
                <a:solidFill>
                  <a:schemeClr val="bg1"/>
                </a:solidFill>
              </a:rPr>
              <a:t>долната част </a:t>
            </a:r>
            <a:r>
              <a:rPr lang="bg-BG" sz="3400" dirty="0"/>
              <a:t>на </a:t>
            </a:r>
            <a:r>
              <a:rPr lang="bg-BG" sz="3400" b="1" dirty="0"/>
              <a:t>уеб сайта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Съдържа </a:t>
            </a:r>
            <a:r>
              <a:rPr lang="bg-BG" sz="3400" b="1" dirty="0"/>
              <a:t>допълнителни връзки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dirty="0"/>
              <a:t>Видове навигационни структури (2)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FE27B2-4B9A-DFF4-12CF-3A60CACAA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6000" y="1494000"/>
            <a:ext cx="3576775" cy="288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41BC4-16A2-18FC-2912-404772C53F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8" r="23575"/>
          <a:stretch/>
        </p:blipFill>
        <p:spPr>
          <a:xfrm>
            <a:off x="7614387" y="5359263"/>
            <a:ext cx="3960000" cy="5228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826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320B2856-CE5E-4934-BD1C-1D81E68E52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bg-BG" sz="3600" b="1" dirty="0">
                <a:solidFill>
                  <a:schemeClr val="bg1"/>
                </a:solidFill>
              </a:rPr>
              <a:t>Бутонна</a:t>
            </a:r>
            <a:r>
              <a:rPr lang="bg-BG" sz="3600" b="1" dirty="0"/>
              <a:t>/</a:t>
            </a:r>
            <a:r>
              <a:rPr lang="bg-BG" sz="3600" b="1" dirty="0">
                <a:solidFill>
                  <a:schemeClr val="bg1"/>
                </a:solidFill>
              </a:rPr>
              <a:t>линкова</a:t>
            </a:r>
          </a:p>
          <a:p>
            <a:pPr lvl="1"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Интерактивни елементи</a:t>
            </a:r>
          </a:p>
          <a:p>
            <a:pPr lvl="1">
              <a:buClr>
                <a:schemeClr val="tx2"/>
              </a:buClr>
            </a:pPr>
            <a:r>
              <a:rPr lang="bg-BG" sz="3400" dirty="0"/>
              <a:t>Насочват към </a:t>
            </a:r>
            <a:r>
              <a:rPr lang="bg-BG" sz="3400" b="1" dirty="0"/>
              <a:t>действия</a:t>
            </a:r>
            <a:r>
              <a:rPr lang="bg-BG" sz="3400" dirty="0"/>
              <a:t> и </a:t>
            </a:r>
            <a:r>
              <a:rPr lang="bg-BG" sz="3400" b="1" dirty="0"/>
              <a:t>свързани теми</a:t>
            </a: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>
            <a:normAutofit/>
          </a:bodyPr>
          <a:lstStyle/>
          <a:p>
            <a:r>
              <a:rPr lang="bg-BG" dirty="0"/>
              <a:t>Видове навигационни структури (3)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E6F221-05C9-871B-9BC9-C19F487F2A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105" y="3699000"/>
            <a:ext cx="6047789" cy="251250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42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88C1AE-179B-6849-E48A-16E87C264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33F0F5-648F-82F4-74BC-0EE374B5E7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​Архитектура</a:t>
            </a:r>
          </a:p>
          <a:p>
            <a:pPr lvl="1"/>
            <a:r>
              <a:rPr lang="bg-BG" b="1" dirty="0"/>
              <a:t>Логическата йерархия</a:t>
            </a:r>
            <a:r>
              <a:rPr lang="bg-BG" dirty="0"/>
              <a:t> и </a:t>
            </a:r>
            <a:r>
              <a:rPr lang="bg-BG" b="1" dirty="0"/>
              <a:t>организация</a:t>
            </a:r>
            <a:r>
              <a:rPr lang="bg-BG" dirty="0"/>
              <a:t> на </a:t>
            </a:r>
            <a:r>
              <a:rPr lang="bg-BG" b="1" dirty="0"/>
              <a:t>съдържанието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Структура</a:t>
            </a:r>
          </a:p>
          <a:p>
            <a:pPr lvl="1"/>
            <a:r>
              <a:rPr lang="bg-BG" b="1" dirty="0"/>
              <a:t>Визуалното подреждане </a:t>
            </a:r>
            <a:r>
              <a:rPr lang="bg-BG" dirty="0"/>
              <a:t>и </a:t>
            </a:r>
            <a:r>
              <a:rPr lang="bg-BG" b="1" dirty="0"/>
              <a:t>взаимовръзките</a:t>
            </a:r>
            <a:r>
              <a:rPr lang="bg-BG" dirty="0"/>
              <a:t> между </a:t>
            </a:r>
            <a:r>
              <a:rPr lang="bg-BG" b="1" dirty="0"/>
              <a:t>уеб страниците</a:t>
            </a:r>
          </a:p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Навигация</a:t>
            </a:r>
          </a:p>
          <a:p>
            <a:pPr lvl="1"/>
            <a:r>
              <a:rPr lang="bg-BG" b="1" dirty="0"/>
              <a:t>Пътищата</a:t>
            </a:r>
            <a:r>
              <a:rPr lang="bg-BG" dirty="0"/>
              <a:t> и </a:t>
            </a:r>
            <a:r>
              <a:rPr lang="bg-BG" b="1" dirty="0"/>
              <a:t>елементите</a:t>
            </a:r>
            <a:r>
              <a:rPr lang="bg-BG" dirty="0"/>
              <a:t> </a:t>
            </a:r>
            <a:r>
              <a:rPr lang="en-US" dirty="0"/>
              <a:t>(</a:t>
            </a:r>
            <a:r>
              <a:rPr lang="bg-BG" dirty="0"/>
              <a:t>менюта, бутони, линкове</a:t>
            </a:r>
            <a:r>
              <a:rPr lang="en-US" dirty="0"/>
              <a:t>)</a:t>
            </a:r>
            <a:endParaRPr lang="en-BG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8C9FB24-D331-5055-8B94-39EEA95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Архитектура, структура и навигация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59623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Subtitle">
            <a:extLst>
              <a:ext uri="{FF2B5EF4-FFF2-40B4-BE49-F238E27FC236}">
                <a16:creationId xmlns:a16="http://schemas.microsoft.com/office/drawing/2014/main" id="{BEB5BB41-09D4-4E9F-8C80-EE8709171CB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sz="4800" dirty="0"/>
              <a:t>Структура на уеб сайт по избор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028D9EA3-B5E0-4F17-9467-4BE3C280DA6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sz="6000" dirty="0"/>
              <a:t>Пример</a:t>
            </a:r>
            <a:endParaRPr lang="en-US" sz="5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4EAE4-865F-5139-F6F6-26F537269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591" y="1584000"/>
            <a:ext cx="2492818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5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>
            <a:normAutofit lnSpcReduction="10000"/>
          </a:bodyPr>
          <a:lstStyle/>
          <a:p>
            <a:r>
              <a:rPr lang="bg-BG" sz="3200" dirty="0"/>
              <a:t>Нека </a:t>
            </a:r>
            <a:r>
              <a:rPr lang="bg-BG" sz="3200" b="1" dirty="0"/>
              <a:t>създадем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структура</a:t>
            </a:r>
            <a:r>
              <a:rPr lang="bg-BG" sz="3200" dirty="0"/>
              <a:t> на </a:t>
            </a:r>
            <a:r>
              <a:rPr lang="bg-BG" sz="3200" b="1" dirty="0"/>
              <a:t>уеб сайт по избор</a:t>
            </a:r>
          </a:p>
          <a:p>
            <a:r>
              <a:rPr lang="bg-BG" sz="3200" dirty="0"/>
              <a:t>За примера ще използваме </a:t>
            </a:r>
            <a:r>
              <a:rPr lang="bg-BG" sz="3200" b="1" dirty="0"/>
              <a:t>уеб сайт </a:t>
            </a:r>
            <a:r>
              <a:rPr lang="bg-BG" sz="3200" dirty="0"/>
              <a:t>за </a:t>
            </a:r>
            <a:r>
              <a:rPr lang="bg-BG" sz="3200" b="1" dirty="0"/>
              <a:t>училище</a:t>
            </a:r>
          </a:p>
          <a:p>
            <a:r>
              <a:rPr lang="bg-BG" sz="3200" b="1" dirty="0"/>
              <a:t>Страниците</a:t>
            </a:r>
            <a:r>
              <a:rPr lang="bg-BG" sz="3200" dirty="0"/>
              <a:t>, които </a:t>
            </a:r>
            <a:r>
              <a:rPr lang="bg-BG" sz="3200" b="1" dirty="0"/>
              <a:t>ще</a:t>
            </a:r>
            <a:r>
              <a:rPr lang="bg-BG" sz="3200" dirty="0"/>
              <a:t> </a:t>
            </a:r>
            <a:r>
              <a:rPr lang="bg-BG" sz="3200" b="1" dirty="0"/>
              <a:t>присъстват</a:t>
            </a:r>
            <a:r>
              <a:rPr lang="bg-BG" sz="3200" dirty="0"/>
              <a:t> са:</a:t>
            </a:r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Начало</a:t>
            </a:r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Учебна дейност</a:t>
            </a:r>
          </a:p>
          <a:p>
            <a:pPr lvl="2"/>
            <a:r>
              <a:rPr lang="bg-BG" sz="2800" b="1" dirty="0"/>
              <a:t>Учебни програми</a:t>
            </a:r>
          </a:p>
          <a:p>
            <a:pPr lvl="2"/>
            <a:r>
              <a:rPr lang="bg-BG" sz="2800" b="1" dirty="0"/>
              <a:t>Извънкласни дейности</a:t>
            </a:r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Събития</a:t>
            </a:r>
          </a:p>
          <a:p>
            <a:pPr lvl="1"/>
            <a:r>
              <a:rPr lang="bg-BG" sz="3000" b="1" dirty="0">
                <a:solidFill>
                  <a:schemeClr val="bg1"/>
                </a:solidFill>
              </a:rPr>
              <a:t>Контакти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Структура на уеб сайт за училище</a:t>
            </a:r>
            <a:endParaRPr lang="en-BG" dirty="0"/>
          </a:p>
        </p:txBody>
      </p:sp>
    </p:spTree>
    <p:extLst>
      <p:ext uri="{BB962C8B-B14F-4D97-AF65-F5344CB8AC3E}">
        <p14:creationId xmlns:p14="http://schemas.microsoft.com/office/powerpoint/2010/main" val="1824539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200" dirty="0"/>
              <a:t>Влизаме в </a:t>
            </a:r>
            <a:r>
              <a:rPr lang="bg-BG" sz="3200" b="1" dirty="0"/>
              <a:t>сайта</a:t>
            </a:r>
            <a:r>
              <a:rPr lang="bg-BG" sz="3200" dirty="0"/>
              <a:t> </a:t>
            </a:r>
            <a:r>
              <a:rPr lang="en-GB" sz="3200" dirty="0">
                <a:hlinkClick r:id="rId3"/>
              </a:rPr>
              <a:t>app.diagrams.net</a:t>
            </a:r>
            <a:endParaRPr lang="en-GB" sz="3200" dirty="0"/>
          </a:p>
          <a:p>
            <a:r>
              <a:rPr lang="bg-BG" sz="3200" dirty="0"/>
              <a:t>Избираме </a:t>
            </a:r>
            <a:r>
              <a:rPr lang="bg-BG" sz="3200" b="1" dirty="0"/>
              <a:t>форма </a:t>
            </a:r>
            <a:r>
              <a:rPr lang="bg-BG" sz="3200" b="1" dirty="0">
                <a:solidFill>
                  <a:schemeClr val="bg1"/>
                </a:solidFill>
              </a:rPr>
              <a:t>правоъгълник</a:t>
            </a:r>
            <a:endParaRPr lang="bg-BG" sz="3200" dirty="0">
              <a:solidFill>
                <a:schemeClr val="bg1"/>
              </a:solidFill>
            </a:endParaRPr>
          </a:p>
          <a:p>
            <a:r>
              <a:rPr lang="bg-BG" sz="3200" dirty="0"/>
              <a:t>Поставяме </a:t>
            </a:r>
            <a:r>
              <a:rPr lang="bg-BG" sz="3200" b="1" dirty="0"/>
              <a:t>правоъгълници</a:t>
            </a:r>
            <a:r>
              <a:rPr lang="bg-BG" sz="3200" dirty="0"/>
              <a:t> спрямо </a:t>
            </a:r>
            <a:r>
              <a:rPr lang="bg-BG" sz="3200" b="1" dirty="0">
                <a:solidFill>
                  <a:schemeClr val="bg1"/>
                </a:solidFill>
              </a:rPr>
              <a:t>броя</a:t>
            </a:r>
            <a:r>
              <a:rPr lang="bg-BG" sz="3200" dirty="0"/>
              <a:t> на </a:t>
            </a:r>
            <a:r>
              <a:rPr lang="bg-BG" sz="3200" b="1" dirty="0"/>
              <a:t>уеб страниците</a:t>
            </a:r>
            <a:endParaRPr lang="en-US" sz="3200" b="1" dirty="0"/>
          </a:p>
          <a:p>
            <a:r>
              <a:rPr lang="bg-BG" sz="3200" dirty="0"/>
              <a:t>Разпределяме </a:t>
            </a:r>
            <a:r>
              <a:rPr lang="bg-BG" sz="3200" b="1" dirty="0"/>
              <a:t>правоъгълниците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логично</a:t>
            </a:r>
            <a:r>
              <a:rPr lang="bg-BG" sz="3200" dirty="0"/>
              <a:t> и </a:t>
            </a:r>
            <a:r>
              <a:rPr lang="bg-BG" sz="3200" b="1" dirty="0">
                <a:solidFill>
                  <a:schemeClr val="bg1"/>
                </a:solidFill>
              </a:rPr>
              <a:t>йерархично</a:t>
            </a:r>
          </a:p>
          <a:p>
            <a:endParaRPr lang="bg-BG" sz="3200" b="1" dirty="0"/>
          </a:p>
          <a:p>
            <a:endParaRPr lang="bg-BG" sz="32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блок-схема</a:t>
            </a:r>
            <a:r>
              <a:rPr lang="en-US" dirty="0"/>
              <a:t> (1)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4DABE7-8D8C-D1A6-39A3-492C39217B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127" y="4329000"/>
            <a:ext cx="4590000" cy="153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50171F-9A9A-FB96-4899-3587B8876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087" y="3771634"/>
            <a:ext cx="4862070" cy="295325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0234679-0357-0046-F303-AB918E6CB192}"/>
              </a:ext>
            </a:extLst>
          </p:cNvPr>
          <p:cNvSpPr/>
          <p:nvPr/>
        </p:nvSpPr>
        <p:spPr bwMode="auto">
          <a:xfrm>
            <a:off x="5231852" y="4779441"/>
            <a:ext cx="1157510" cy="98613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46983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200" dirty="0"/>
              <a:t>Свързваме </a:t>
            </a:r>
            <a:r>
              <a:rPr lang="bg-BG" sz="3200" b="1" dirty="0"/>
              <a:t>правоъгълниците</a:t>
            </a:r>
          </a:p>
          <a:p>
            <a:pPr lvl="1"/>
            <a:r>
              <a:rPr lang="bg-BG" sz="3000" dirty="0"/>
              <a:t>Избираме </a:t>
            </a:r>
            <a:r>
              <a:rPr lang="bg-BG" sz="3000" b="1" dirty="0">
                <a:solidFill>
                  <a:schemeClr val="bg1"/>
                </a:solidFill>
              </a:rPr>
              <a:t>страна</a:t>
            </a:r>
            <a:r>
              <a:rPr lang="bg-BG" sz="3000" dirty="0"/>
              <a:t> на </a:t>
            </a:r>
            <a:r>
              <a:rPr lang="bg-BG" sz="3000" b="1" dirty="0"/>
              <a:t>правоъгълника</a:t>
            </a:r>
          </a:p>
          <a:p>
            <a:pPr lvl="1"/>
            <a:r>
              <a:rPr lang="bg-BG" sz="3000" dirty="0"/>
              <a:t>Изтегляме </a:t>
            </a:r>
            <a:r>
              <a:rPr lang="bg-BG" sz="3000" b="1" dirty="0">
                <a:solidFill>
                  <a:schemeClr val="bg1"/>
                </a:solidFill>
              </a:rPr>
              <a:t>стрелките</a:t>
            </a:r>
            <a:r>
              <a:rPr lang="bg-BG" sz="3000" dirty="0"/>
              <a:t> в </a:t>
            </a:r>
            <a:r>
              <a:rPr lang="bg-BG" sz="3000" b="1" dirty="0"/>
              <a:t>посоката</a:t>
            </a:r>
            <a:r>
              <a:rPr lang="bg-BG" sz="3000" dirty="0"/>
              <a:t>, към която искаме да </a:t>
            </a:r>
            <a:r>
              <a:rPr lang="bg-BG" sz="3000" b="1" dirty="0"/>
              <a:t>сочат</a:t>
            </a:r>
          </a:p>
          <a:p>
            <a:endParaRPr lang="bg-BG" sz="32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блок-схема</a:t>
            </a:r>
            <a:r>
              <a:rPr lang="en-US" dirty="0"/>
              <a:t> (2)</a:t>
            </a:r>
            <a:endParaRPr lang="en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EBA28-DF7B-FD50-69CF-660AE8D2F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13" y="3561616"/>
            <a:ext cx="1568533" cy="22815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B32298-9EC0-0A45-D95F-7DC69CA3F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741" y="3561616"/>
            <a:ext cx="1568533" cy="22815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58BF27-31D8-9A0B-56CC-1FEA68EF0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569" y="3186126"/>
            <a:ext cx="5285461" cy="310793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Arrow: Right 6">
            <a:extLst>
              <a:ext uri="{FF2B5EF4-FFF2-40B4-BE49-F238E27FC236}">
                <a16:creationId xmlns:a16="http://schemas.microsoft.com/office/drawing/2014/main" id="{21EB7C12-492B-23A8-4123-0AD72D60D82D}"/>
              </a:ext>
            </a:extLst>
          </p:cNvPr>
          <p:cNvSpPr/>
          <p:nvPr/>
        </p:nvSpPr>
        <p:spPr bwMode="auto">
          <a:xfrm>
            <a:off x="2233321" y="4329000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rrow: Right 6">
            <a:extLst>
              <a:ext uri="{FF2B5EF4-FFF2-40B4-BE49-F238E27FC236}">
                <a16:creationId xmlns:a16="http://schemas.microsoft.com/office/drawing/2014/main" id="{D4925DD7-6B55-F0F8-2BD1-C1AFFF7173AD}"/>
              </a:ext>
            </a:extLst>
          </p:cNvPr>
          <p:cNvSpPr/>
          <p:nvPr/>
        </p:nvSpPr>
        <p:spPr bwMode="auto">
          <a:xfrm>
            <a:off x="5252149" y="4329000"/>
            <a:ext cx="956545" cy="822183"/>
          </a:xfrm>
          <a:prstGeom prst="right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4051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200" dirty="0"/>
              <a:t>Добавяме </a:t>
            </a:r>
            <a:r>
              <a:rPr lang="bg-BG" sz="3200" b="1" dirty="0">
                <a:solidFill>
                  <a:schemeClr val="bg1"/>
                </a:solidFill>
              </a:rPr>
              <a:t>текст</a:t>
            </a:r>
            <a:r>
              <a:rPr lang="bg-BG" sz="3200" dirty="0"/>
              <a:t> като кликнем </a:t>
            </a:r>
            <a:r>
              <a:rPr lang="bg-BG" sz="3200" b="1" dirty="0"/>
              <a:t>два пъти </a:t>
            </a:r>
            <a:r>
              <a:rPr lang="bg-BG" sz="3200" dirty="0"/>
              <a:t>във всеки </a:t>
            </a:r>
            <a:r>
              <a:rPr lang="bg-BG" sz="3200" b="1" dirty="0"/>
              <a:t>правоъгълник</a:t>
            </a:r>
          </a:p>
          <a:p>
            <a:endParaRPr lang="bg-BG" sz="3200" dirty="0"/>
          </a:p>
          <a:p>
            <a:endParaRPr lang="en-US" sz="3200" dirty="0"/>
          </a:p>
          <a:p>
            <a:endParaRPr lang="bg-BG" sz="3200" dirty="0"/>
          </a:p>
          <a:p>
            <a:r>
              <a:rPr lang="bg-BG" sz="3200" dirty="0"/>
              <a:t>Във всеки </a:t>
            </a:r>
            <a:r>
              <a:rPr lang="bg-BG" sz="3200" b="1" dirty="0"/>
              <a:t>правоъгълник</a:t>
            </a:r>
            <a:r>
              <a:rPr lang="bg-BG" sz="3200" dirty="0"/>
              <a:t> пишем </a:t>
            </a:r>
            <a:r>
              <a:rPr lang="bg-BG" sz="3200" b="1" dirty="0"/>
              <a:t>съответстващата</a:t>
            </a:r>
            <a:r>
              <a:rPr lang="bg-BG" sz="3200" dirty="0"/>
              <a:t> </a:t>
            </a:r>
            <a:r>
              <a:rPr lang="bg-BG" sz="3200" b="1" dirty="0">
                <a:solidFill>
                  <a:schemeClr val="bg1"/>
                </a:solidFill>
              </a:rPr>
              <a:t>уеб страница</a:t>
            </a:r>
          </a:p>
          <a:p>
            <a:endParaRPr lang="bg-BG" sz="3200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Създаване на блок-схема</a:t>
            </a:r>
            <a:r>
              <a:rPr lang="en-US" dirty="0"/>
              <a:t> (3)</a:t>
            </a:r>
            <a:endParaRPr lang="en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7FEA3F-988D-766C-98F1-9A3FCFA71E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5" y="4626945"/>
            <a:ext cx="8136818" cy="1215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C90ED4-4E97-79B1-0CF5-E98E45F161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85" y="2034000"/>
            <a:ext cx="2458335" cy="15436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2440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D4D3A2C-88C6-0657-2093-B55CEB7BCF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5528766"/>
          </a:xfrm>
        </p:spPr>
        <p:txBody>
          <a:bodyPr/>
          <a:lstStyle/>
          <a:p>
            <a:r>
              <a:rPr lang="bg-BG" sz="3200" dirty="0"/>
              <a:t>Запазваме </a:t>
            </a:r>
            <a:r>
              <a:rPr lang="bg-BG" sz="3200" b="1" dirty="0">
                <a:solidFill>
                  <a:schemeClr val="bg1"/>
                </a:solidFill>
              </a:rPr>
              <a:t>блок-схемата</a:t>
            </a:r>
            <a:r>
              <a:rPr lang="bg-BG" sz="3200" dirty="0"/>
              <a:t> от </a:t>
            </a:r>
            <a:r>
              <a:rPr lang="en-US" sz="3200" b="1" dirty="0"/>
              <a:t>[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sz="3200" b="1" dirty="0"/>
              <a:t>] </a:t>
            </a:r>
            <a:r>
              <a:rPr lang="bg-BG" sz="3200" dirty="0"/>
              <a:t>→</a:t>
            </a:r>
            <a:r>
              <a:rPr lang="en-US" sz="3200" dirty="0"/>
              <a:t> </a:t>
            </a:r>
            <a:r>
              <a:rPr lang="en-US" sz="3200" b="1" dirty="0"/>
              <a:t>[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Save as...</a:t>
            </a:r>
            <a:r>
              <a:rPr lang="en-US" sz="3200" b="1" dirty="0"/>
              <a:t>]</a:t>
            </a:r>
          </a:p>
          <a:p>
            <a:r>
              <a:rPr lang="bg-BG" sz="3200" dirty="0"/>
              <a:t>Задаваме </a:t>
            </a:r>
            <a:r>
              <a:rPr lang="bg-BG" sz="3200" b="1" dirty="0"/>
              <a:t>подходящо </a:t>
            </a:r>
            <a:r>
              <a:rPr lang="bg-BG" sz="3200" b="1" dirty="0">
                <a:solidFill>
                  <a:schemeClr val="bg1"/>
                </a:solidFill>
              </a:rPr>
              <a:t>име</a:t>
            </a:r>
          </a:p>
          <a:p>
            <a:r>
              <a:rPr lang="bg-BG" sz="3200" dirty="0"/>
              <a:t>Избираме в какъв </a:t>
            </a:r>
            <a:r>
              <a:rPr lang="bg-BG" sz="3200" b="1" dirty="0">
                <a:solidFill>
                  <a:schemeClr val="bg1"/>
                </a:solidFill>
              </a:rPr>
              <a:t>формат</a:t>
            </a:r>
            <a:r>
              <a:rPr lang="bg-BG" sz="3200" dirty="0"/>
              <a:t> искаме </a:t>
            </a:r>
            <a:r>
              <a:rPr lang="bg-BG" sz="3200" b="1" dirty="0"/>
              <a:t>файла</a:t>
            </a:r>
          </a:p>
          <a:p>
            <a:r>
              <a:rPr lang="bg-BG" sz="3200" dirty="0"/>
              <a:t>Избираме къде да го </a:t>
            </a:r>
            <a:r>
              <a:rPr lang="bg-BG" sz="3200" b="1" dirty="0">
                <a:solidFill>
                  <a:schemeClr val="bg1"/>
                </a:solidFill>
              </a:rPr>
              <a:t>запазим</a:t>
            </a:r>
            <a:r>
              <a:rPr lang="bg-BG" sz="3200" dirty="0"/>
              <a:t> и </a:t>
            </a:r>
            <a:r>
              <a:rPr lang="bg-BG" sz="3200" b="1" dirty="0"/>
              <a:t>кликаме</a:t>
            </a:r>
            <a:r>
              <a:rPr lang="bg-BG" sz="3200" dirty="0"/>
              <a:t> върху </a:t>
            </a:r>
            <a:r>
              <a:rPr lang="bg-BG" sz="3200" b="1" dirty="0"/>
              <a:t>[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OK</a:t>
            </a:r>
            <a:r>
              <a:rPr lang="en-US" sz="3200" b="1" dirty="0"/>
              <a:t>]</a:t>
            </a:r>
            <a:endParaRPr lang="bg-BG" sz="3200" b="1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Запазване </a:t>
            </a:r>
            <a:r>
              <a:rPr lang="bg-BG"/>
              <a:t>на блок-схема</a:t>
            </a:r>
            <a:endParaRPr lang="en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A1804-D8EA-60C8-461B-40DEFD2A5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000" y="3834000"/>
            <a:ext cx="6165000" cy="250541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84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891F045-A272-4231-985A-53063F832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6C5A2A5-9D43-35F8-B488-A60AEEC4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 dirty="0"/>
              <a:t>Резултат</a:t>
            </a:r>
            <a:endParaRPr lang="en-B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370FBC-CA80-1F4B-AF37-A8309FD3B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6200" y="1185540"/>
            <a:ext cx="9119600" cy="532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6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ummary Box Group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0406" y="1360993"/>
            <a:ext cx="11562624" cy="5394328"/>
            <a:chOff x="472011" y="1508786"/>
            <a:chExt cx="3799787" cy="4865561"/>
          </a:xfrm>
        </p:grpSpPr>
        <p:sp>
          <p:nvSpPr>
            <p:cNvPr id="10" name="Rounded Rectangle Blue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11" name="Rounded Rectangle Left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/>
          </p:nvSpPr>
          <p:spPr>
            <a:xfrm>
              <a:off x="546866" y="1696737"/>
              <a:ext cx="81601" cy="4489658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12" name="Half Frame Top Right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/>
          </p:nvSpPr>
          <p:spPr>
            <a:xfrm rot="5400000">
              <a:off x="374255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7877" y="1676785"/>
            <a:ext cx="10826625" cy="4977574"/>
          </a:xfrm>
        </p:spPr>
        <p:txBody>
          <a:bodyPr>
            <a:normAutofit fontScale="70000" lnSpcReduction="20000"/>
          </a:bodyPr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Проектиране на уеб сайт </a:t>
            </a:r>
            <a:r>
              <a:rPr lang="bg-BG" sz="4700" dirty="0"/>
              <a:t>=</a:t>
            </a:r>
            <a:r>
              <a:rPr lang="en-US" sz="4700" dirty="0"/>
              <a:t>= </a:t>
            </a:r>
            <a:r>
              <a:rPr lang="bg-BG" sz="4700" dirty="0"/>
              <a:t>определя </a:t>
            </a:r>
            <a:r>
              <a:rPr lang="bg-BG" sz="4700" b="1" dirty="0"/>
              <a:t>как ще изглежда</a:t>
            </a:r>
            <a:r>
              <a:rPr lang="bg-BG" sz="4700" dirty="0"/>
              <a:t> и </a:t>
            </a:r>
            <a:r>
              <a:rPr lang="bg-BG" sz="4700" b="1" dirty="0"/>
              <a:t>как ще бъде организиран</a:t>
            </a:r>
            <a:r>
              <a:rPr lang="bg-BG" sz="4700" dirty="0"/>
              <a:t> </a:t>
            </a:r>
            <a:r>
              <a:rPr lang="bg-BG" sz="4700" b="1" dirty="0"/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Архитектура на уеб сайт </a:t>
            </a:r>
            <a:r>
              <a:rPr lang="en-US" sz="4700" dirty="0"/>
              <a:t>== </a:t>
            </a:r>
            <a:r>
              <a:rPr lang="bg-BG" sz="4700" dirty="0"/>
              <a:t>определя </a:t>
            </a:r>
            <a:r>
              <a:rPr lang="bg-BG" sz="4700" b="1" dirty="0"/>
              <a:t>логическата йерархия </a:t>
            </a:r>
            <a:r>
              <a:rPr lang="bg-BG" sz="4700" dirty="0"/>
              <a:t>на </a:t>
            </a:r>
            <a:r>
              <a:rPr lang="bg-BG" sz="4700" b="1" dirty="0"/>
              <a:t>уеб сайта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Структура на уеб сайт </a:t>
            </a:r>
            <a:r>
              <a:rPr lang="en-US" sz="4700" dirty="0"/>
              <a:t>== </a:t>
            </a:r>
            <a:r>
              <a:rPr lang="bg-BG" sz="4800" b="1" dirty="0"/>
              <a:t>организацията</a:t>
            </a:r>
            <a:r>
              <a:rPr lang="bg-BG" sz="4800" dirty="0"/>
              <a:t> и </a:t>
            </a:r>
            <a:r>
              <a:rPr lang="bg-BG" sz="4800" b="1" dirty="0"/>
              <a:t>връзките</a:t>
            </a:r>
            <a:r>
              <a:rPr lang="bg-BG" sz="4800" dirty="0"/>
              <a:t> между </a:t>
            </a:r>
            <a:r>
              <a:rPr lang="bg-BG" sz="4800" b="1" dirty="0"/>
              <a:t>уеб страниците</a:t>
            </a:r>
            <a:endParaRPr lang="bg-BG" sz="4700" b="1" dirty="0"/>
          </a:p>
          <a:p>
            <a:pPr marL="969948" lvl="1" indent="-360363" fontAlgn="base">
              <a:buClr>
                <a:schemeClr val="bg2"/>
              </a:buClr>
            </a:pPr>
            <a:r>
              <a:rPr lang="bg-BG" sz="4500" dirty="0">
                <a:solidFill>
                  <a:schemeClr val="bg2"/>
                </a:solidFill>
              </a:rPr>
              <a:t>За </a:t>
            </a:r>
            <a:r>
              <a:rPr lang="bg-BG" sz="4500" b="1" dirty="0">
                <a:solidFill>
                  <a:schemeClr val="bg2"/>
                </a:solidFill>
              </a:rPr>
              <a:t>визуализацията</a:t>
            </a:r>
            <a:r>
              <a:rPr lang="bg-BG" sz="4500" dirty="0">
                <a:solidFill>
                  <a:schemeClr val="bg2"/>
                </a:solidFill>
              </a:rPr>
              <a:t> се използват </a:t>
            </a:r>
            <a:r>
              <a:rPr lang="bg-BG" sz="4500" b="1" dirty="0">
                <a:solidFill>
                  <a:schemeClr val="bg2"/>
                </a:solidFill>
              </a:rPr>
              <a:t>блок-схеми</a:t>
            </a:r>
          </a:p>
          <a:p>
            <a:pPr marL="360363" indent="-360363" fontAlgn="base">
              <a:buClr>
                <a:schemeClr val="bg2"/>
              </a:buClr>
            </a:pPr>
            <a:r>
              <a:rPr lang="bg-BG" sz="47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Навигационна структура на уеб сайт </a:t>
            </a:r>
            <a:r>
              <a:rPr lang="bg-BG" sz="4700" dirty="0"/>
              <a:t>=</a:t>
            </a:r>
            <a:r>
              <a:rPr lang="en-US" sz="4700" dirty="0"/>
              <a:t>= </a:t>
            </a:r>
            <a:r>
              <a:rPr lang="bg-BG" sz="4700" dirty="0"/>
              <a:t>показва </a:t>
            </a:r>
            <a:r>
              <a:rPr lang="bg-BG" sz="4700" b="1" dirty="0"/>
              <a:t>как</a:t>
            </a:r>
            <a:r>
              <a:rPr lang="bg-BG" sz="4700" dirty="0"/>
              <a:t> ще се </a:t>
            </a:r>
            <a:r>
              <a:rPr lang="bg-BG" sz="4700" b="1" dirty="0"/>
              <a:t>придвижваме</a:t>
            </a:r>
            <a:r>
              <a:rPr lang="bg-BG" sz="4700" dirty="0"/>
              <a:t> между </a:t>
            </a:r>
            <a:r>
              <a:rPr lang="bg-BG" sz="4700" b="1" dirty="0"/>
              <a:t>отделните уеб страници</a:t>
            </a:r>
            <a:endParaRPr lang="bg-BG" sz="4700" b="1" dirty="0">
              <a:solidFill>
                <a:schemeClr val="bg2"/>
              </a:solidFill>
            </a:endParaRPr>
          </a:p>
        </p:txBody>
      </p:sp>
      <p:sp>
        <p:nvSpPr>
          <p:cNvPr id="4" name="Slide 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369AAE7-BDDC-FE11-A61E-E20F7F663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304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4|0.3|0.5|0.3|0.3|0.4|0.4"/>
</p:tagLst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22802</TotalTime>
  <Words>1703</Words>
  <Application>Microsoft Macintosh PowerPoint</Application>
  <PresentationFormat>Widescreen</PresentationFormat>
  <Paragraphs>273</Paragraphs>
  <Slides>41</Slides>
  <Notes>27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Wingdings</vt:lpstr>
      <vt:lpstr>SoftUni</vt:lpstr>
      <vt:lpstr>Проектиране на уеб сайт</vt:lpstr>
      <vt:lpstr>Съдържание</vt:lpstr>
      <vt:lpstr>Проектиране на уеб сайт</vt:lpstr>
      <vt:lpstr>Проектиране на уеб сайт</vt:lpstr>
      <vt:lpstr>Основни етапи в проектирането на уеб сайт (1)</vt:lpstr>
      <vt:lpstr>Основни етапи в проектирането на уеб сайт (2)</vt:lpstr>
      <vt:lpstr>Връзка между етапите при създаване на уеб сайт</vt:lpstr>
      <vt:lpstr>Архитектура на уеб сайт</vt:lpstr>
      <vt:lpstr>Архитектура на уеб сайт</vt:lpstr>
      <vt:lpstr>Основни елементи на архитектурата на уеб сайт</vt:lpstr>
      <vt:lpstr>Структура на уеб сайт</vt:lpstr>
      <vt:lpstr>Структура на уеб сайт (1)</vt:lpstr>
      <vt:lpstr>Примерна структура на уеб сайт</vt:lpstr>
      <vt:lpstr>Структура на уеб сайт (2)</vt:lpstr>
      <vt:lpstr>Добри практики при изграждане на структура</vt:lpstr>
      <vt:lpstr>Видове структури на уеб сайт (1)</vt:lpstr>
      <vt:lpstr>Йерархична (пирамидална) структура</vt:lpstr>
      <vt:lpstr>Видове структури на уеб сайт (2)</vt:lpstr>
      <vt:lpstr>Линейна (последователна) структура</vt:lpstr>
      <vt:lpstr>Видове структури на уеб сайт (3)</vt:lpstr>
      <vt:lpstr>Мрежова структура</vt:lpstr>
      <vt:lpstr>Видове структури на уеб сайт (4)</vt:lpstr>
      <vt:lpstr>Хибридна структура</vt:lpstr>
      <vt:lpstr>Архитектура vs. структура на уеб сайт</vt:lpstr>
      <vt:lpstr>Навигационна структура на уеб сайт</vt:lpstr>
      <vt:lpstr>Навигационна структура на уеб сайт</vt:lpstr>
      <vt:lpstr>Основни правила при навигационна структура</vt:lpstr>
      <vt:lpstr>Видове навигационни структури (1)</vt:lpstr>
      <vt:lpstr>Видове навигационни структури (2)</vt:lpstr>
      <vt:lpstr>Видове навигационни структури (3)</vt:lpstr>
      <vt:lpstr>Архитектура, структура и навигация</vt:lpstr>
      <vt:lpstr>Пример</vt:lpstr>
      <vt:lpstr>Структура на уеб сайт за училище</vt:lpstr>
      <vt:lpstr>Създаване на блок-схема (1)</vt:lpstr>
      <vt:lpstr>Създаване на блок-схема (2)</vt:lpstr>
      <vt:lpstr>Създаване на блок-схема (3)</vt:lpstr>
      <vt:lpstr>Запазване на блок-схема</vt:lpstr>
      <vt:lpstr>Резултат</vt:lpstr>
      <vt:lpstr>Обобщение</vt:lpstr>
      <vt:lpstr>Въпроси?</vt:lpstr>
      <vt:lpstr>Лиценз</vt:lpstr>
    </vt:vector>
  </TitlesOfParts>
  <Manager/>
  <Company>BG-IT-Edu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Проектиране на уеб сайт</dc:title>
  <dc:subject>Модул 3: Информационни технологии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Mirela Damyanova</cp:lastModifiedBy>
  <cp:revision>326</cp:revision>
  <dcterms:created xsi:type="dcterms:W3CDTF">2018-05-23T13:08:44Z</dcterms:created>
  <dcterms:modified xsi:type="dcterms:W3CDTF">2026-09-04T11:09:21Z</dcterms:modified>
  <cp:category/>
</cp:coreProperties>
</file>