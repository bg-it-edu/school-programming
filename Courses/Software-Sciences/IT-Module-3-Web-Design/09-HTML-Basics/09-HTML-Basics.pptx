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6"/>
  </p:notesMasterIdLst>
  <p:handoutMasterIdLst>
    <p:handoutMasterId r:id="rId47"/>
  </p:handoutMasterIdLst>
  <p:sldIdLst>
    <p:sldId id="503" r:id="rId2"/>
    <p:sldId id="276" r:id="rId3"/>
    <p:sldId id="353" r:id="rId4"/>
    <p:sldId id="880" r:id="rId5"/>
    <p:sldId id="871" r:id="rId6"/>
    <p:sldId id="610" r:id="rId7"/>
    <p:sldId id="869" r:id="rId8"/>
    <p:sldId id="878" r:id="rId9"/>
    <p:sldId id="875" r:id="rId10"/>
    <p:sldId id="883" r:id="rId11"/>
    <p:sldId id="867" r:id="rId12"/>
    <p:sldId id="870" r:id="rId13"/>
    <p:sldId id="874" r:id="rId14"/>
    <p:sldId id="895" r:id="rId15"/>
    <p:sldId id="894" r:id="rId16"/>
    <p:sldId id="896" r:id="rId17"/>
    <p:sldId id="899" r:id="rId18"/>
    <p:sldId id="901" r:id="rId19"/>
    <p:sldId id="900" r:id="rId20"/>
    <p:sldId id="902" r:id="rId21"/>
    <p:sldId id="903" r:id="rId22"/>
    <p:sldId id="897" r:id="rId23"/>
    <p:sldId id="904" r:id="rId24"/>
    <p:sldId id="905" r:id="rId25"/>
    <p:sldId id="616" r:id="rId26"/>
    <p:sldId id="868" r:id="rId27"/>
    <p:sldId id="876" r:id="rId28"/>
    <p:sldId id="872" r:id="rId29"/>
    <p:sldId id="879" r:id="rId30"/>
    <p:sldId id="881" r:id="rId31"/>
    <p:sldId id="882" r:id="rId32"/>
    <p:sldId id="877" r:id="rId33"/>
    <p:sldId id="890" r:id="rId34"/>
    <p:sldId id="891" r:id="rId35"/>
    <p:sldId id="892" r:id="rId36"/>
    <p:sldId id="893" r:id="rId37"/>
    <p:sldId id="654" r:id="rId38"/>
    <p:sldId id="884" r:id="rId39"/>
    <p:sldId id="886" r:id="rId40"/>
    <p:sldId id="887" r:id="rId41"/>
    <p:sldId id="888" r:id="rId42"/>
    <p:sldId id="633" r:id="rId43"/>
    <p:sldId id="504" r:id="rId44"/>
    <p:sldId id="50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HTML" id="{66DCFE1F-60FD-44F2-BE82-706DDBC14898}">
          <p14:sldIdLst>
            <p14:sldId id="353"/>
            <p14:sldId id="880"/>
            <p14:sldId id="871"/>
          </p14:sldIdLst>
        </p14:section>
        <p14:section name="Основни компоненти на HTML" id="{EB44CA50-B176-0C4C-B0D0-5459023C7783}">
          <p14:sldIdLst>
            <p14:sldId id="610"/>
            <p14:sldId id="869"/>
            <p14:sldId id="878"/>
            <p14:sldId id="875"/>
            <p14:sldId id="883"/>
            <p14:sldId id="867"/>
            <p14:sldId id="870"/>
            <p14:sldId id="874"/>
          </p14:sldIdLst>
        </p14:section>
        <p14:section name="Контейнери в HTML" id="{30FD680E-FD68-D941-B3C3-76A3AFC25B7E}">
          <p14:sldIdLst>
            <p14:sldId id="895"/>
            <p14:sldId id="894"/>
            <p14:sldId id="896"/>
            <p14:sldId id="899"/>
            <p14:sldId id="901"/>
            <p14:sldId id="900"/>
            <p14:sldId id="902"/>
            <p14:sldId id="903"/>
            <p14:sldId id="897"/>
            <p14:sldId id="904"/>
            <p14:sldId id="905"/>
          </p14:sldIdLst>
        </p14:section>
        <p14:section name="Структурни тагове" id="{2B3E1915-4BA2-9447-BC07-AE658EE7EC35}">
          <p14:sldIdLst>
            <p14:sldId id="616"/>
            <p14:sldId id="868"/>
            <p14:sldId id="876"/>
            <p14:sldId id="872"/>
            <p14:sldId id="879"/>
            <p14:sldId id="881"/>
            <p14:sldId id="882"/>
            <p14:sldId id="877"/>
          </p14:sldIdLst>
        </p14:section>
        <p14:section name="HTML дърво (DOM)" id="{F3E5E60E-1C29-2A40-A946-DE661CC0CC66}">
          <p14:sldIdLst>
            <p14:sldId id="890"/>
            <p14:sldId id="891"/>
            <p14:sldId id="892"/>
            <p14:sldId id="893"/>
          </p14:sldIdLst>
        </p14:section>
        <p14:section name="Демо" id="{276EAB92-AF41-DD42-AFD3-D1ABB239E1A7}">
          <p14:sldIdLst>
            <p14:sldId id="654"/>
            <p14:sldId id="884"/>
            <p14:sldId id="886"/>
            <p14:sldId id="887"/>
            <p14:sldId id="888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58" autoAdjust="0"/>
    <p:restoredTop sz="95579" autoAdjust="0"/>
  </p:normalViewPr>
  <p:slideViewPr>
    <p:cSldViewPr showGuides="1">
      <p:cViewPr varScale="1">
        <p:scale>
          <a:sx n="99" d="100"/>
          <a:sy n="99" d="100"/>
        </p:scale>
        <p:origin x="184" y="3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40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Основни компоненти на </a:t>
            </a:r>
            <a:r>
              <a:rPr lang="en-US" sz="4400" dirty="0"/>
              <a:t>HTML</a:t>
            </a:r>
            <a:endParaRPr lang="bg-BG" sz="4400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600" dirty="0"/>
              <a:t>Основи на </a:t>
            </a:r>
            <a:r>
              <a:rPr lang="en-US" sz="6600" dirty="0"/>
              <a:t>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0123" y="3400017"/>
            <a:ext cx="5248260" cy="2188983"/>
          </a:xfr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HTML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Въведение</a:t>
            </a:r>
            <a:r>
              <a:rPr lang="bg-BG" sz="3600" dirty="0"/>
              <a:t> и </a:t>
            </a:r>
            <a:r>
              <a:rPr lang="bg-BG" sz="3600" b="1" dirty="0"/>
              <a:t>роля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Основни</a:t>
            </a:r>
            <a:r>
              <a:rPr lang="bg-BG" sz="3800" dirty="0">
                <a:solidFill>
                  <a:schemeClr val="bg1"/>
                </a:solidFill>
              </a:rPr>
              <a:t> </a:t>
            </a:r>
            <a:r>
              <a:rPr lang="bg-BG" sz="3800" b="1" dirty="0">
                <a:solidFill>
                  <a:schemeClr val="bg1"/>
                </a:solidFill>
              </a:rPr>
              <a:t>компоненти</a:t>
            </a:r>
            <a:r>
              <a:rPr lang="bg-BG" sz="3800" dirty="0">
                <a:solidFill>
                  <a:schemeClr val="bg1"/>
                </a:solidFill>
              </a:rPr>
              <a:t> </a:t>
            </a:r>
            <a:r>
              <a:rPr lang="bg-BG" sz="3800" dirty="0"/>
              <a:t>на</a:t>
            </a:r>
            <a:r>
              <a:rPr lang="en-US" sz="3800" dirty="0"/>
              <a:t> </a:t>
            </a:r>
            <a:r>
              <a:rPr lang="en-US" sz="3800" b="1" dirty="0">
                <a:solidFill>
                  <a:schemeClr val="bg1"/>
                </a:solidFill>
              </a:rPr>
              <a:t>HTML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Тагове</a:t>
            </a:r>
            <a:r>
              <a:rPr lang="bg-BG" sz="3600" dirty="0"/>
              <a:t>, </a:t>
            </a:r>
            <a:r>
              <a:rPr lang="bg-BG" sz="3600" b="1" dirty="0"/>
              <a:t>елементи</a:t>
            </a:r>
            <a:r>
              <a:rPr lang="bg-BG" sz="3600" dirty="0"/>
              <a:t>, </a:t>
            </a:r>
            <a:r>
              <a:rPr lang="bg-BG" sz="3600" b="1" dirty="0"/>
              <a:t>атрибути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/>
              <a:t>Контейнери</a:t>
            </a:r>
            <a:r>
              <a:rPr lang="bg-BG" sz="3800" dirty="0"/>
              <a:t> и </a:t>
            </a:r>
            <a:r>
              <a:rPr lang="bg-BG" sz="3800" b="1" dirty="0"/>
              <a:t>атрибути</a:t>
            </a:r>
            <a:r>
              <a:rPr lang="bg-BG" sz="3800" dirty="0"/>
              <a:t> за </a:t>
            </a:r>
            <a:r>
              <a:rPr lang="bg-BG" sz="3800" b="1" dirty="0">
                <a:solidFill>
                  <a:schemeClr val="bg1"/>
                </a:solidFill>
              </a:rPr>
              <a:t>групиране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Структурни тагове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структурни тагове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Примерна структура </a:t>
            </a:r>
            <a:r>
              <a:rPr lang="bg-BG" sz="3600" dirty="0"/>
              <a:t>на </a:t>
            </a:r>
            <a:r>
              <a:rPr lang="en-US" sz="3600" b="1" dirty="0"/>
              <a:t>HTML </a:t>
            </a:r>
            <a:r>
              <a:rPr lang="bg-BG" sz="3600" b="1" dirty="0"/>
              <a:t>страница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en-US" sz="3800" b="1" dirty="0">
                <a:solidFill>
                  <a:schemeClr val="bg1"/>
                </a:solidFill>
              </a:rPr>
              <a:t>HTML </a:t>
            </a:r>
            <a:r>
              <a:rPr lang="bg-BG" sz="3800" b="1" dirty="0">
                <a:solidFill>
                  <a:schemeClr val="bg1"/>
                </a:solidFill>
              </a:rPr>
              <a:t>дърво </a:t>
            </a:r>
            <a:r>
              <a:rPr lang="bg-BG" sz="3800" b="1" dirty="0"/>
              <a:t>(</a:t>
            </a:r>
            <a:r>
              <a:rPr lang="en-US" sz="3800" b="1" dirty="0"/>
              <a:t>DOM</a:t>
            </a:r>
            <a:r>
              <a:rPr lang="bg-BG" sz="3800" b="1" dirty="0"/>
              <a:t>)</a:t>
            </a:r>
            <a:endParaRPr lang="en-US" sz="3800" b="1" dirty="0"/>
          </a:p>
          <a:p>
            <a:pPr>
              <a:buClr>
                <a:schemeClr val="tx1"/>
              </a:buClr>
            </a:pPr>
            <a:r>
              <a:rPr lang="en-US" sz="3800" dirty="0"/>
              <a:t>​</a:t>
            </a: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Създаване на първа </a:t>
            </a:r>
            <a:r>
              <a:rPr lang="en-US" sz="3800" dirty="0"/>
              <a:t>HTML </a:t>
            </a:r>
            <a:r>
              <a:rPr lang="bg-BG" sz="3800" dirty="0"/>
              <a:t>уеб страница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Въведение и роля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6000" dirty="0"/>
              <a:t>HTML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6A6BD-57F4-9DF0-10F5-840BE90B56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59" r="11059"/>
          <a:stretch/>
        </p:blipFill>
        <p:spPr>
          <a:xfrm>
            <a:off x="4971000" y="1224000"/>
            <a:ext cx="2250000" cy="2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HTML</a:t>
            </a:r>
            <a:r>
              <a:rPr lang="en-GB" sz="3200" b="1" dirty="0"/>
              <a:t> (</a:t>
            </a:r>
            <a:r>
              <a:rPr lang="en-GB" sz="3200" b="1" dirty="0">
                <a:solidFill>
                  <a:schemeClr val="bg1"/>
                </a:solidFill>
              </a:rPr>
              <a:t>H</a:t>
            </a:r>
            <a:r>
              <a:rPr lang="en-GB" sz="3200" b="1" dirty="0"/>
              <a:t>yper</a:t>
            </a:r>
            <a:r>
              <a:rPr lang="en-GB" sz="3200" b="1" dirty="0">
                <a:solidFill>
                  <a:schemeClr val="bg1"/>
                </a:solidFill>
              </a:rPr>
              <a:t>T</a:t>
            </a:r>
            <a:r>
              <a:rPr lang="en-GB" sz="3200" b="1" dirty="0"/>
              <a:t>ext </a:t>
            </a:r>
            <a:r>
              <a:rPr lang="en-GB" sz="3200" b="1" dirty="0">
                <a:solidFill>
                  <a:schemeClr val="bg1"/>
                </a:solidFill>
              </a:rPr>
              <a:t>M</a:t>
            </a:r>
            <a:r>
              <a:rPr lang="en-GB" sz="3200" b="1" dirty="0"/>
              <a:t>arkup </a:t>
            </a:r>
            <a:r>
              <a:rPr lang="en-GB" sz="3200" b="1" dirty="0">
                <a:solidFill>
                  <a:schemeClr val="bg1"/>
                </a:solidFill>
              </a:rPr>
              <a:t>L</a:t>
            </a:r>
            <a:r>
              <a:rPr lang="en-GB" sz="3200" b="1" dirty="0"/>
              <a:t>anguage) </a:t>
            </a:r>
            <a:r>
              <a:rPr lang="bg-BG" sz="3200" dirty="0"/>
              <a:t>е </a:t>
            </a:r>
            <a:r>
              <a:rPr lang="bg-BG" sz="3200" b="1" dirty="0">
                <a:solidFill>
                  <a:schemeClr val="bg1"/>
                </a:solidFill>
              </a:rPr>
              <a:t>маркиращ език </a:t>
            </a:r>
            <a:r>
              <a:rPr lang="bg-BG" sz="3200" dirty="0"/>
              <a:t>за </a:t>
            </a:r>
            <a:r>
              <a:rPr lang="bg-BG" sz="3200" b="1" dirty="0"/>
              <a:t>създаване</a:t>
            </a:r>
            <a:r>
              <a:rPr lang="bg-BG" sz="3200" dirty="0"/>
              <a:t> и </a:t>
            </a:r>
            <a:r>
              <a:rPr lang="bg-BG" sz="3200" b="1" dirty="0"/>
              <a:t>структуриране</a:t>
            </a:r>
            <a:r>
              <a:rPr lang="bg-BG" sz="3200" dirty="0"/>
              <a:t> на </a:t>
            </a:r>
            <a:r>
              <a:rPr lang="bg-BG" sz="3200" b="1" dirty="0"/>
              <a:t>уеб страници</a:t>
            </a:r>
          </a:p>
          <a:p>
            <a:r>
              <a:rPr lang="bg-BG" sz="3200" dirty="0"/>
              <a:t>Описва </a:t>
            </a:r>
            <a:r>
              <a:rPr lang="bg-BG" sz="3200" b="1" dirty="0"/>
              <a:t>съдържанието</a:t>
            </a:r>
            <a:r>
              <a:rPr lang="bg-BG" sz="3200" dirty="0"/>
              <a:t> чрез специални </a:t>
            </a:r>
            <a:r>
              <a:rPr lang="bg-BG" sz="3200" b="1" dirty="0">
                <a:solidFill>
                  <a:schemeClr val="bg1"/>
                </a:solidFill>
              </a:rPr>
              <a:t>тагове</a:t>
            </a:r>
            <a:r>
              <a:rPr lang="bg-BG" sz="3200" dirty="0"/>
              <a:t>, които </a:t>
            </a:r>
            <a:r>
              <a:rPr lang="bg-BG" sz="3200" b="1" dirty="0"/>
              <a:t>браузърът</a:t>
            </a:r>
            <a:r>
              <a:rPr lang="bg-BG" sz="3200" dirty="0"/>
              <a:t> </a:t>
            </a:r>
            <a:r>
              <a:rPr lang="bg-BG" sz="3200" b="1" dirty="0"/>
              <a:t>разпознава</a:t>
            </a:r>
            <a:r>
              <a:rPr lang="bg-BG" sz="3200" dirty="0"/>
              <a:t> и </a:t>
            </a:r>
            <a:r>
              <a:rPr lang="bg-BG" sz="3200" b="1" dirty="0"/>
              <a:t>визуализира</a:t>
            </a:r>
          </a:p>
          <a:p>
            <a:r>
              <a:rPr lang="en-US" sz="3200" b="1" i="1" dirty="0">
                <a:solidFill>
                  <a:schemeClr val="bg1"/>
                </a:solidFill>
              </a:rPr>
              <a:t>HTML </a:t>
            </a:r>
            <a:r>
              <a:rPr lang="bg-BG" sz="3200" b="1" i="1" dirty="0">
                <a:solidFill>
                  <a:schemeClr val="bg1"/>
                </a:solidFill>
              </a:rPr>
              <a:t>не е програмен език!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E569C-2FAD-124D-B2F9-E217596B78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1369" y="4172894"/>
            <a:ext cx="5169262" cy="248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4D2E3B-82C0-9F61-91B3-1B35300C9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CC14D-B6E2-9F46-2064-E507E12B0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/>
              <a:t>Описва</a:t>
            </a:r>
            <a:r>
              <a:rPr lang="bg-BG" sz="3200" b="1" dirty="0">
                <a:solidFill>
                  <a:schemeClr val="bg1"/>
                </a:solidFill>
              </a:rPr>
              <a:t> съдържанието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bg-BG" sz="3200" dirty="0"/>
              <a:t>на </a:t>
            </a:r>
            <a:r>
              <a:rPr lang="bg-BG" sz="3200" b="1" dirty="0"/>
              <a:t>уеб страницата</a:t>
            </a:r>
          </a:p>
          <a:p>
            <a:r>
              <a:rPr lang="bg-BG" sz="3200" b="1" dirty="0"/>
              <a:t>Определя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логическата структура </a:t>
            </a:r>
            <a:r>
              <a:rPr lang="bg-BG" sz="3200" dirty="0"/>
              <a:t>на </a:t>
            </a:r>
            <a:r>
              <a:rPr lang="bg-BG" sz="3200" b="1" dirty="0"/>
              <a:t>документа</a:t>
            </a:r>
          </a:p>
          <a:p>
            <a:r>
              <a:rPr lang="bg-BG" sz="3200" b="1" dirty="0"/>
              <a:t>Служи</a:t>
            </a:r>
            <a:r>
              <a:rPr lang="bg-BG" sz="3200" dirty="0"/>
              <a:t> като </a:t>
            </a:r>
            <a:r>
              <a:rPr lang="bg-BG" sz="3200" b="1" dirty="0">
                <a:solidFill>
                  <a:schemeClr val="bg1"/>
                </a:solidFill>
              </a:rPr>
              <a:t>основа</a:t>
            </a:r>
            <a:r>
              <a:rPr lang="bg-BG" sz="3200" dirty="0"/>
              <a:t>, върху която </a:t>
            </a:r>
            <a:r>
              <a:rPr lang="en-US" sz="3200" b="1" dirty="0"/>
              <a:t>CSS </a:t>
            </a:r>
            <a:r>
              <a:rPr lang="bg-BG" sz="3200" b="1" dirty="0"/>
              <a:t>оформя дизайна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Работи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bg-BG" sz="3200" b="1" dirty="0">
                <a:solidFill>
                  <a:schemeClr val="bg1"/>
                </a:solidFill>
              </a:rPr>
              <a:t>съвместно </a:t>
            </a:r>
            <a:r>
              <a:rPr lang="bg-BG" sz="3200" dirty="0"/>
              <a:t>с</a:t>
            </a:r>
            <a:r>
              <a:rPr lang="bg-BG" sz="3200" b="1" dirty="0"/>
              <a:t> </a:t>
            </a:r>
            <a:r>
              <a:rPr lang="en-US" sz="3200" b="1" dirty="0"/>
              <a:t>JavaScript </a:t>
            </a:r>
            <a:r>
              <a:rPr lang="bg-BG" sz="3200" dirty="0"/>
              <a:t>за </a:t>
            </a:r>
            <a:r>
              <a:rPr lang="bg-BG" sz="3200" b="1" dirty="0"/>
              <a:t>добавяне</a:t>
            </a:r>
            <a:r>
              <a:rPr lang="bg-BG" sz="3200" dirty="0"/>
              <a:t> на </a:t>
            </a:r>
            <a:r>
              <a:rPr lang="bg-BG" sz="3200" b="1" dirty="0"/>
              <a:t>интерактивност</a:t>
            </a:r>
            <a:endParaRPr lang="en-BG" sz="3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F48D2-3FC6-5313-D86E-F47B1ED4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Роля на </a:t>
            </a:r>
            <a:r>
              <a:rPr lang="en-US" dirty="0"/>
              <a:t>HTML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C6444-3106-EC55-DD02-AD2453743F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682"/>
          <a:stretch/>
        </p:blipFill>
        <p:spPr>
          <a:xfrm>
            <a:off x="3404512" y="3852645"/>
            <a:ext cx="5091208" cy="29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1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Тагове, елементи, атрибути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Основни компоненти на</a:t>
            </a:r>
            <a:r>
              <a:rPr lang="en-US" sz="4400" dirty="0"/>
              <a:t> HTML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CF2EC-ED52-69C0-C3FF-514DE254D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02221" y="1680624"/>
            <a:ext cx="2987557" cy="19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Маркиращи конструкции</a:t>
            </a:r>
          </a:p>
          <a:p>
            <a:r>
              <a:rPr lang="bg-BG" sz="3600" b="1" dirty="0"/>
              <a:t>Етикети</a:t>
            </a:r>
            <a:r>
              <a:rPr lang="bg-BG" sz="3600" dirty="0"/>
              <a:t>, заградени в </a:t>
            </a:r>
            <a:r>
              <a:rPr lang="bg-BG" sz="3600" b="1" dirty="0"/>
              <a:t>ъглови скоби </a:t>
            </a:r>
            <a:r>
              <a:rPr lang="bg-BG" sz="3600" dirty="0"/>
              <a:t>(</a:t>
            </a:r>
            <a:r>
              <a:rPr lang="bg-BG" sz="3600" b="1" dirty="0"/>
              <a:t>&lt; </a:t>
            </a:r>
            <a:r>
              <a:rPr lang="en-US" sz="3600" b="1" dirty="0"/>
              <a:t>&gt;</a:t>
            </a:r>
            <a:r>
              <a:rPr lang="en-US" sz="3600" dirty="0"/>
              <a:t>)</a:t>
            </a:r>
            <a:endParaRPr lang="bg-BG" sz="3600" dirty="0"/>
          </a:p>
          <a:p>
            <a:r>
              <a:rPr lang="bg-BG" sz="3600" dirty="0"/>
              <a:t>Определят </a:t>
            </a:r>
            <a:r>
              <a:rPr lang="bg-BG" sz="3600" b="1" dirty="0">
                <a:solidFill>
                  <a:schemeClr val="bg1"/>
                </a:solidFill>
              </a:rPr>
              <a:t>типа</a:t>
            </a:r>
            <a:r>
              <a:rPr lang="bg-BG" sz="3600" dirty="0"/>
              <a:t> на </a:t>
            </a:r>
            <a:r>
              <a:rPr lang="bg-BG" sz="3600" b="1" dirty="0"/>
              <a:t>съдържанието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Тагове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F38C98-EF5F-8433-D089-9210022A88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92250" y="3485798"/>
            <a:ext cx="4207500" cy="316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905598" cy="5528766"/>
          </a:xfrm>
        </p:spPr>
        <p:txBody>
          <a:bodyPr/>
          <a:lstStyle/>
          <a:p>
            <a:r>
              <a:rPr lang="bg-BG" sz="3600" dirty="0"/>
              <a:t>Повечето </a:t>
            </a:r>
            <a:r>
              <a:rPr lang="bg-BG" sz="3600" b="1" dirty="0"/>
              <a:t>тагове</a:t>
            </a:r>
            <a:r>
              <a:rPr lang="bg-BG" sz="3600" dirty="0"/>
              <a:t> имат </a:t>
            </a:r>
            <a:r>
              <a:rPr lang="bg-BG" sz="3600" b="1" dirty="0">
                <a:solidFill>
                  <a:schemeClr val="bg1"/>
                </a:solidFill>
              </a:rPr>
              <a:t>отварящ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затварящ таг</a:t>
            </a:r>
            <a:endParaRPr lang="bg-BG" sz="3600" dirty="0"/>
          </a:p>
          <a:p>
            <a:r>
              <a:rPr lang="bg-BG" sz="3600" b="1" dirty="0"/>
              <a:t>Таговете</a:t>
            </a:r>
            <a:r>
              <a:rPr lang="bg-BG" sz="3600" dirty="0"/>
              <a:t> могат да се </a:t>
            </a:r>
            <a:r>
              <a:rPr lang="bg-BG" sz="3600" b="1" dirty="0">
                <a:solidFill>
                  <a:schemeClr val="bg1"/>
                </a:solidFill>
              </a:rPr>
              <a:t>влагат</a:t>
            </a:r>
            <a:r>
              <a:rPr lang="bg-BG" sz="3600" b="1" dirty="0"/>
              <a:t> един в друг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Първият</a:t>
            </a:r>
            <a:r>
              <a:rPr lang="bg-BG" sz="3400" dirty="0"/>
              <a:t> </a:t>
            </a:r>
            <a:r>
              <a:rPr lang="bg-BG" sz="3400" b="1" dirty="0"/>
              <a:t>отворен</a:t>
            </a:r>
            <a:r>
              <a:rPr lang="bg-BG" sz="3400" dirty="0"/>
              <a:t> таг се </a:t>
            </a:r>
            <a:r>
              <a:rPr lang="bg-BG" sz="3400" b="1" dirty="0"/>
              <a:t>затваря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последен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Тагове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2EF20-3FEE-5DBE-F240-F7C9969AEC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2618" y="1196125"/>
            <a:ext cx="4562194" cy="466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62F29-2E20-4D41-AEF3-F3A620EC7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0A044-E0EF-CF65-9F1D-43850DAF71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Затварящ таг</a:t>
            </a:r>
          </a:p>
          <a:p>
            <a:pPr lvl="1"/>
            <a:r>
              <a:rPr lang="bg-BG" dirty="0"/>
              <a:t>Отбелязва </a:t>
            </a:r>
            <a:r>
              <a:rPr lang="bg-BG" b="1" dirty="0"/>
              <a:t>края</a:t>
            </a:r>
            <a:r>
              <a:rPr lang="bg-BG" dirty="0"/>
              <a:t> на </a:t>
            </a:r>
            <a:r>
              <a:rPr lang="bg-BG" b="1" dirty="0"/>
              <a:t>елемента</a:t>
            </a:r>
          </a:p>
          <a:p>
            <a:pPr lvl="1"/>
            <a:r>
              <a:rPr lang="bg-BG" dirty="0"/>
              <a:t>Показва </a:t>
            </a:r>
            <a:r>
              <a:rPr lang="bg-BG" b="1" dirty="0"/>
              <a:t>къде </a:t>
            </a:r>
            <a:r>
              <a:rPr lang="bg-BG" b="1" dirty="0">
                <a:solidFill>
                  <a:schemeClr val="bg1"/>
                </a:solidFill>
              </a:rPr>
              <a:t>приключва</a:t>
            </a:r>
            <a:r>
              <a:rPr lang="bg-BG" b="1" dirty="0"/>
              <a:t> действието</a:t>
            </a:r>
            <a:r>
              <a:rPr lang="bg-BG" dirty="0"/>
              <a:t> на </a:t>
            </a:r>
            <a:r>
              <a:rPr lang="bg-BG" b="1" dirty="0"/>
              <a:t>елемента</a:t>
            </a:r>
            <a:endParaRPr lang="en-BG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71758-C923-809F-5633-E97F3F3C6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Отварящ таг</a:t>
            </a:r>
          </a:p>
          <a:p>
            <a:pPr lvl="1"/>
            <a:r>
              <a:rPr lang="bg-BG" dirty="0"/>
              <a:t>Отбелязва </a:t>
            </a:r>
            <a:r>
              <a:rPr lang="bg-BG" b="1" dirty="0"/>
              <a:t>началото</a:t>
            </a:r>
            <a:r>
              <a:rPr lang="bg-BG" dirty="0"/>
              <a:t> на </a:t>
            </a:r>
            <a:r>
              <a:rPr lang="bg-BG" b="1" dirty="0"/>
              <a:t>елемента</a:t>
            </a:r>
          </a:p>
          <a:p>
            <a:pPr lvl="1"/>
            <a:r>
              <a:rPr lang="bg-BG" dirty="0"/>
              <a:t>Казва на браузъра </a:t>
            </a:r>
            <a:r>
              <a:rPr lang="bg-BG" b="1" dirty="0"/>
              <a:t>какъв тип съдържание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започва</a:t>
            </a:r>
            <a:endParaRPr lang="en-US" b="1" dirty="0">
              <a:solidFill>
                <a:schemeClr val="bg1"/>
              </a:solidFill>
            </a:endParaRPr>
          </a:p>
          <a:p>
            <a:pPr lvl="1"/>
            <a:endParaRPr lang="en-B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108387-77C5-94D2-E51E-641019A2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Отварящи и затварящи тагове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420F305-62FA-E84C-D622-647F5EFF74E6}"/>
              </a:ext>
            </a:extLst>
          </p:cNvPr>
          <p:cNvSpPr txBox="1">
            <a:spLocks/>
          </p:cNvSpPr>
          <p:nvPr/>
        </p:nvSpPr>
        <p:spPr>
          <a:xfrm>
            <a:off x="443201" y="4477241"/>
            <a:ext cx="504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E66C816-8B2F-B4D0-F44F-5A9C70D1BD7F}"/>
              </a:ext>
            </a:extLst>
          </p:cNvPr>
          <p:cNvSpPr txBox="1">
            <a:spLocks/>
          </p:cNvSpPr>
          <p:nvPr/>
        </p:nvSpPr>
        <p:spPr>
          <a:xfrm>
            <a:off x="6896737" y="4499833"/>
            <a:ext cx="504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3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050E9-8316-4238-E1DD-70F855312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B9FF28-AB2E-2517-E828-316BB0E51E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Не всички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en-US" b="1" dirty="0"/>
              <a:t>HTML </a:t>
            </a:r>
            <a:r>
              <a:rPr lang="bg-BG" b="1" dirty="0"/>
              <a:t>тагове </a:t>
            </a:r>
            <a:r>
              <a:rPr lang="bg-BG" dirty="0"/>
              <a:t>имат </a:t>
            </a:r>
            <a:r>
              <a:rPr lang="bg-BG" b="1" dirty="0">
                <a:solidFill>
                  <a:schemeClr val="bg1"/>
                </a:solidFill>
              </a:rPr>
              <a:t>затварящ таг</a:t>
            </a:r>
          </a:p>
          <a:p>
            <a:r>
              <a:rPr lang="bg-BG" b="1" dirty="0"/>
              <a:t>Самостоятелните елементи </a:t>
            </a:r>
            <a:r>
              <a:rPr lang="bg-BG" dirty="0"/>
              <a:t>(</a:t>
            </a:r>
            <a:r>
              <a:rPr lang="en-US" dirty="0"/>
              <a:t>void) с</a:t>
            </a:r>
            <a:r>
              <a:rPr lang="bg-BG" dirty="0"/>
              <a:t>е изписват </a:t>
            </a:r>
            <a:r>
              <a:rPr lang="bg-BG" b="1" dirty="0">
                <a:solidFill>
                  <a:schemeClr val="bg1"/>
                </a:solidFill>
              </a:rPr>
              <a:t>само веднъж</a:t>
            </a:r>
          </a:p>
          <a:p>
            <a:r>
              <a:rPr lang="bg-BG" b="1" dirty="0"/>
              <a:t>Пример</a:t>
            </a:r>
            <a:r>
              <a:rPr lang="en-US" b="1" dirty="0"/>
              <a:t>:</a:t>
            </a:r>
          </a:p>
          <a:p>
            <a:endParaRPr lang="en-BG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BEB0C2-4FD0-9B52-1A99-816F87B1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Самозатварящи се тагове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5D2904C-A16D-E1B7-5677-0E1F18489F55}"/>
              </a:ext>
            </a:extLst>
          </p:cNvPr>
          <p:cNvSpPr txBox="1">
            <a:spLocks/>
          </p:cNvSpPr>
          <p:nvPr/>
        </p:nvSpPr>
        <p:spPr>
          <a:xfrm>
            <a:off x="681805" y="3958616"/>
            <a:ext cx="1872799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3901EB9-DA58-E288-E197-54A689303469}"/>
              </a:ext>
            </a:extLst>
          </p:cNvPr>
          <p:cNvSpPr txBox="1">
            <a:spLocks/>
          </p:cNvSpPr>
          <p:nvPr/>
        </p:nvSpPr>
        <p:spPr>
          <a:xfrm>
            <a:off x="4389303" y="3960508"/>
            <a:ext cx="1872799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</a:t>
            </a:r>
            <a:r>
              <a:rPr lang="en-US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FFD5834-A842-A75D-D3F5-09CF9982174E}"/>
              </a:ext>
            </a:extLst>
          </p:cNvPr>
          <p:cNvSpPr txBox="1">
            <a:spLocks/>
          </p:cNvSpPr>
          <p:nvPr/>
        </p:nvSpPr>
        <p:spPr>
          <a:xfrm>
            <a:off x="8096801" y="3958616"/>
            <a:ext cx="1872799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meta</a:t>
            </a:r>
            <a:r>
              <a:rPr lang="en-US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4BD0C7A-53C3-C2F4-9684-4E13F4F35AA7}"/>
              </a:ext>
            </a:extLst>
          </p:cNvPr>
          <p:cNvSpPr/>
          <p:nvPr/>
        </p:nvSpPr>
        <p:spPr bwMode="auto">
          <a:xfrm>
            <a:off x="681805" y="5499000"/>
            <a:ext cx="1530000" cy="612671"/>
          </a:xfrm>
          <a:prstGeom prst="wedgeRoundRectCallout">
            <a:avLst>
              <a:gd name="adj1" fmla="val 10654"/>
              <a:gd name="adj2" fmla="val -2191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Нов ред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50FD9A1F-1282-A785-CD17-80D32B609BD1}"/>
              </a:ext>
            </a:extLst>
          </p:cNvPr>
          <p:cNvSpPr/>
          <p:nvPr/>
        </p:nvSpPr>
        <p:spPr bwMode="auto">
          <a:xfrm>
            <a:off x="7761000" y="5499000"/>
            <a:ext cx="3683475" cy="612671"/>
          </a:xfrm>
          <a:prstGeom prst="wedgeRoundRectCallout">
            <a:avLst>
              <a:gd name="adj1" fmla="val -15438"/>
              <a:gd name="adj2" fmla="val -2234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Служебна информация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4829A393-1D67-786A-7200-F3F7C945A7F8}"/>
              </a:ext>
            </a:extLst>
          </p:cNvPr>
          <p:cNvSpPr/>
          <p:nvPr/>
        </p:nvSpPr>
        <p:spPr bwMode="auto">
          <a:xfrm>
            <a:off x="3261000" y="5499000"/>
            <a:ext cx="3470151" cy="612671"/>
          </a:xfrm>
          <a:prstGeom prst="wedgeRoundRectCallout">
            <a:avLst>
              <a:gd name="adj1" fmla="val 10161"/>
              <a:gd name="adj2" fmla="val -21047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Хоризонтална линия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980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Пълната конструкция </a:t>
            </a:r>
            <a:r>
              <a:rPr lang="bg-BG" dirty="0"/>
              <a:t>от </a:t>
            </a:r>
            <a:r>
              <a:rPr lang="bg-BG" b="1" dirty="0"/>
              <a:t>отварящ таг</a:t>
            </a:r>
            <a:r>
              <a:rPr lang="bg-BG" dirty="0"/>
              <a:t>, </a:t>
            </a:r>
            <a:r>
              <a:rPr lang="bg-BG" b="1" dirty="0"/>
              <a:t>съдържание</a:t>
            </a:r>
            <a:r>
              <a:rPr lang="bg-BG" dirty="0"/>
              <a:t> и </a:t>
            </a:r>
            <a:r>
              <a:rPr lang="bg-BG" b="1" dirty="0"/>
              <a:t>затварящ таг</a:t>
            </a:r>
          </a:p>
          <a:p>
            <a:r>
              <a:rPr lang="bg-BG" dirty="0"/>
              <a:t>Цялата </a:t>
            </a:r>
            <a:r>
              <a:rPr lang="en-US" b="1" dirty="0"/>
              <a:t>HTML </a:t>
            </a:r>
            <a:r>
              <a:rPr lang="bg-BG" b="1" dirty="0"/>
              <a:t>страница </a:t>
            </a:r>
            <a:r>
              <a:rPr lang="bg-BG" dirty="0"/>
              <a:t>е </a:t>
            </a:r>
            <a:r>
              <a:rPr lang="bg-BG" b="1" dirty="0">
                <a:solidFill>
                  <a:schemeClr val="bg1"/>
                </a:solidFill>
              </a:rPr>
              <a:t>изградена</a:t>
            </a:r>
            <a:r>
              <a:rPr lang="bg-BG" dirty="0"/>
              <a:t> от </a:t>
            </a:r>
            <a:r>
              <a:rPr lang="bg-BG" b="1" dirty="0">
                <a:solidFill>
                  <a:schemeClr val="bg1"/>
                </a:solidFill>
              </a:rPr>
              <a:t>елементи</a:t>
            </a:r>
          </a:p>
          <a:p>
            <a:r>
              <a:rPr lang="bg-BG" b="1" dirty="0"/>
              <a:t>Пример</a:t>
            </a:r>
            <a:r>
              <a:rPr lang="en-US" b="1" dirty="0"/>
              <a:t>:</a:t>
            </a:r>
            <a:r>
              <a:rPr lang="bg-BG" b="1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5424F-59C0-C226-0741-966B2A438C24}"/>
              </a:ext>
            </a:extLst>
          </p:cNvPr>
          <p:cNvSpPr txBox="1">
            <a:spLocks/>
          </p:cNvSpPr>
          <p:nvPr/>
        </p:nvSpPr>
        <p:spPr>
          <a:xfrm>
            <a:off x="3159750" y="4698794"/>
            <a:ext cx="504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параграф.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66128866-E8A6-24B6-B4C3-EE6345A4E3E0}"/>
              </a:ext>
            </a:extLst>
          </p:cNvPr>
          <p:cNvSpPr/>
          <p:nvPr/>
        </p:nvSpPr>
        <p:spPr bwMode="auto">
          <a:xfrm>
            <a:off x="3234587" y="5747506"/>
            <a:ext cx="5040000" cy="612671"/>
          </a:xfrm>
          <a:prstGeom prst="wedgeRoundRectCallout">
            <a:avLst>
              <a:gd name="adj1" fmla="val -18456"/>
              <a:gd name="adj2" fmla="val -1261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Целият ред е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EC473D20-6423-8090-6A3E-0F978F0BE97D}"/>
              </a:ext>
            </a:extLst>
          </p:cNvPr>
          <p:cNvSpPr/>
          <p:nvPr/>
        </p:nvSpPr>
        <p:spPr bwMode="auto">
          <a:xfrm>
            <a:off x="3452251" y="3789000"/>
            <a:ext cx="1125000" cy="612671"/>
          </a:xfrm>
          <a:prstGeom prst="wedgeRoundRectCallout">
            <a:avLst>
              <a:gd name="adj1" fmla="val -25607"/>
              <a:gd name="adj2" fmla="val 1183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Таг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C1C027F6-4336-CA43-E429-25BB53DCEF78}"/>
              </a:ext>
            </a:extLst>
          </p:cNvPr>
          <p:cNvSpPr/>
          <p:nvPr/>
        </p:nvSpPr>
        <p:spPr bwMode="auto">
          <a:xfrm>
            <a:off x="4611000" y="3789000"/>
            <a:ext cx="2137500" cy="612671"/>
          </a:xfrm>
          <a:prstGeom prst="wedgeRoundRectCallout">
            <a:avLst>
              <a:gd name="adj1" fmla="val 7252"/>
              <a:gd name="adj2" fmla="val 11830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Съдържание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C279B9D-8188-13AC-2AA8-10A36908C3C4}"/>
              </a:ext>
            </a:extLst>
          </p:cNvPr>
          <p:cNvSpPr/>
          <p:nvPr/>
        </p:nvSpPr>
        <p:spPr bwMode="auto">
          <a:xfrm>
            <a:off x="6782249" y="3788999"/>
            <a:ext cx="1125000" cy="612671"/>
          </a:xfrm>
          <a:prstGeom prst="wedgeRoundRectCallout">
            <a:avLst>
              <a:gd name="adj1" fmla="val -7937"/>
              <a:gd name="adj2" fmla="val 1204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Таг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256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Дават </a:t>
            </a:r>
            <a:r>
              <a:rPr lang="bg-BG" b="1" dirty="0">
                <a:solidFill>
                  <a:schemeClr val="bg1"/>
                </a:solidFill>
              </a:rPr>
              <a:t>допълнителна информация </a:t>
            </a:r>
            <a:r>
              <a:rPr lang="bg-BG" dirty="0"/>
              <a:t>за </a:t>
            </a:r>
            <a:r>
              <a:rPr lang="bg-BG" b="1" dirty="0"/>
              <a:t>елементите</a:t>
            </a:r>
          </a:p>
          <a:p>
            <a:r>
              <a:rPr lang="bg-BG" dirty="0"/>
              <a:t>Записват се </a:t>
            </a:r>
            <a:r>
              <a:rPr lang="bg-BG" b="1" dirty="0"/>
              <a:t>в отварящия таг </a:t>
            </a:r>
            <a:r>
              <a:rPr lang="bg-BG" dirty="0"/>
              <a:t>като </a:t>
            </a:r>
            <a:r>
              <a:rPr lang="bg-BG" b="1" dirty="0">
                <a:solidFill>
                  <a:schemeClr val="bg1"/>
                </a:solidFill>
              </a:rPr>
              <a:t>атрибут=стойност</a:t>
            </a:r>
          </a:p>
          <a:p>
            <a:r>
              <a:rPr lang="bg-BG" dirty="0"/>
              <a:t>Определят </a:t>
            </a:r>
            <a:r>
              <a:rPr lang="bg-BG" b="1" dirty="0">
                <a:solidFill>
                  <a:schemeClr val="bg1"/>
                </a:solidFill>
              </a:rPr>
              <a:t>свойства</a:t>
            </a:r>
            <a:r>
              <a:rPr lang="bg-BG" b="1" dirty="0"/>
              <a:t> </a:t>
            </a:r>
            <a:r>
              <a:rPr lang="bg-BG" dirty="0"/>
              <a:t>на</a:t>
            </a:r>
            <a:r>
              <a:rPr lang="bg-BG" b="1" dirty="0"/>
              <a:t> елемента</a:t>
            </a:r>
          </a:p>
          <a:p>
            <a:r>
              <a:rPr lang="bg-BG" b="1" dirty="0"/>
              <a:t>Пример: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CEDBA-B5B8-D559-887A-B7DDCC391D55}"/>
              </a:ext>
            </a:extLst>
          </p:cNvPr>
          <p:cNvSpPr txBox="1">
            <a:spLocks/>
          </p:cNvSpPr>
          <p:nvPr/>
        </p:nvSpPr>
        <p:spPr>
          <a:xfrm>
            <a:off x="3846000" y="4390554"/>
            <a:ext cx="342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&lt;html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lang="bg"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C94DF49-79B6-709E-FD13-52DB4230320C}"/>
              </a:ext>
            </a:extLst>
          </p:cNvPr>
          <p:cNvSpPr/>
          <p:nvPr/>
        </p:nvSpPr>
        <p:spPr bwMode="auto">
          <a:xfrm>
            <a:off x="4881000" y="5491040"/>
            <a:ext cx="1890000" cy="612671"/>
          </a:xfrm>
          <a:prstGeom prst="wedgeRoundRectCallout">
            <a:avLst>
              <a:gd name="adj1" fmla="val 13939"/>
              <a:gd name="adj2" fmla="val -1434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B893470E-B45F-D9DC-3259-BAE2C5FF335F}"/>
              </a:ext>
            </a:extLst>
          </p:cNvPr>
          <p:cNvSpPr/>
          <p:nvPr/>
        </p:nvSpPr>
        <p:spPr bwMode="auto">
          <a:xfrm>
            <a:off x="5556000" y="3303231"/>
            <a:ext cx="4590000" cy="612671"/>
          </a:xfrm>
          <a:prstGeom prst="wedgeRoundRectCallout">
            <a:avLst>
              <a:gd name="adj1" fmla="val -42898"/>
              <a:gd name="adj2" fmla="val 1507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Указва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езика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страницата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782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FB2169-C1A0-7A1F-1D93-D7D875F4E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D7C9FC-31D8-F6BF-36E4-729C90B118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2766" y="1120693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Елемент</a:t>
            </a:r>
            <a:r>
              <a:rPr lang="bg-BG" dirty="0"/>
              <a:t> – </a:t>
            </a:r>
            <a:r>
              <a:rPr lang="bg-BG" b="1" dirty="0"/>
              <a:t>таг</a:t>
            </a:r>
            <a:r>
              <a:rPr lang="bg-BG" dirty="0"/>
              <a:t> </a:t>
            </a:r>
            <a:r>
              <a:rPr lang="en-US" dirty="0"/>
              <a:t>+ </a:t>
            </a:r>
            <a:r>
              <a:rPr lang="bg-BG" b="1" dirty="0"/>
              <a:t>съдържание</a:t>
            </a:r>
            <a:r>
              <a:rPr lang="bg-BG" dirty="0"/>
              <a:t> + </a:t>
            </a:r>
            <a:r>
              <a:rPr lang="bg-BG" b="1" dirty="0"/>
              <a:t>атрибути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Таг</a:t>
            </a:r>
            <a:r>
              <a:rPr lang="bg-BG" dirty="0"/>
              <a:t> – указва </a:t>
            </a:r>
            <a:r>
              <a:rPr lang="bg-BG" b="1" dirty="0"/>
              <a:t>типа</a:t>
            </a:r>
            <a:r>
              <a:rPr lang="bg-BG" dirty="0"/>
              <a:t> на </a:t>
            </a:r>
            <a:r>
              <a:rPr lang="bg-BG" b="1" dirty="0"/>
              <a:t>съдържанието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Атрибут</a:t>
            </a:r>
            <a:r>
              <a:rPr lang="bg-BG" dirty="0"/>
              <a:t> – добавя </a:t>
            </a:r>
            <a:r>
              <a:rPr lang="bg-BG" b="1" dirty="0"/>
              <a:t>допълнителна информация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A36B19-AACE-1F48-E998-BBC64547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Елементи, тагове и атрибути</a:t>
            </a:r>
            <a:endParaRPr lang="en-BG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317C2D-ED4D-711A-1CA1-B5A880E602BC}"/>
              </a:ext>
            </a:extLst>
          </p:cNvPr>
          <p:cNvSpPr txBox="1">
            <a:spLocks/>
          </p:cNvSpPr>
          <p:nvPr/>
        </p:nvSpPr>
        <p:spPr>
          <a:xfrm>
            <a:off x="2689249" y="4374000"/>
            <a:ext cx="797625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class="example"&gt;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параграф.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13BA5C2-BEBC-0DBB-387F-1D81A89F73A3}"/>
              </a:ext>
            </a:extLst>
          </p:cNvPr>
          <p:cNvSpPr/>
          <p:nvPr/>
        </p:nvSpPr>
        <p:spPr bwMode="auto">
          <a:xfrm>
            <a:off x="1652144" y="5614745"/>
            <a:ext cx="2143435" cy="612671"/>
          </a:xfrm>
          <a:prstGeom prst="wedgeRoundRectCallout">
            <a:avLst>
              <a:gd name="adj1" fmla="val 17214"/>
              <a:gd name="adj2" fmla="val -1771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Отварящ таг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154A7DFA-EEBA-C7D2-E605-A4F364E2E458}"/>
              </a:ext>
            </a:extLst>
          </p:cNvPr>
          <p:cNvSpPr/>
          <p:nvPr/>
        </p:nvSpPr>
        <p:spPr bwMode="auto">
          <a:xfrm>
            <a:off x="9359649" y="5609941"/>
            <a:ext cx="2143435" cy="612671"/>
          </a:xfrm>
          <a:prstGeom prst="wedgeRoundRectCallout">
            <a:avLst>
              <a:gd name="adj1" fmla="val -17044"/>
              <a:gd name="adj2" fmla="val -15905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Затварящ таг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9F74975-C426-4512-9BB3-3F601B9592A2}"/>
              </a:ext>
            </a:extLst>
          </p:cNvPr>
          <p:cNvSpPr/>
          <p:nvPr/>
        </p:nvSpPr>
        <p:spPr bwMode="auto">
          <a:xfrm>
            <a:off x="3914496" y="5609942"/>
            <a:ext cx="1378740" cy="612671"/>
          </a:xfrm>
          <a:prstGeom prst="wedgeRoundRectCallout">
            <a:avLst>
              <a:gd name="adj1" fmla="val -44425"/>
              <a:gd name="adj2" fmla="val -1680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91AE35F-3F63-5408-EE47-F4E527D28437}"/>
              </a:ext>
            </a:extLst>
          </p:cNvPr>
          <p:cNvSpPr/>
          <p:nvPr/>
        </p:nvSpPr>
        <p:spPr bwMode="auto">
          <a:xfrm>
            <a:off x="5412153" y="5609942"/>
            <a:ext cx="1566228" cy="612671"/>
          </a:xfrm>
          <a:prstGeom prst="wedgeRoundRectCallout">
            <a:avLst>
              <a:gd name="adj1" fmla="val -48034"/>
              <a:gd name="adj2" fmla="val -1726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Стойност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C7D72DE-1700-DC00-1506-BF638221FD38}"/>
              </a:ext>
            </a:extLst>
          </p:cNvPr>
          <p:cNvSpPr/>
          <p:nvPr/>
        </p:nvSpPr>
        <p:spPr bwMode="auto">
          <a:xfrm>
            <a:off x="7097298" y="5609941"/>
            <a:ext cx="2143434" cy="612671"/>
          </a:xfrm>
          <a:prstGeom prst="wedgeRoundRectCallout">
            <a:avLst>
              <a:gd name="adj1" fmla="val -17044"/>
              <a:gd name="adj2" fmla="val -1771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Съдържание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9DAC66A5-5C13-4E68-4920-E173DFF15995}"/>
              </a:ext>
            </a:extLst>
          </p:cNvPr>
          <p:cNvSpPr/>
          <p:nvPr/>
        </p:nvSpPr>
        <p:spPr bwMode="auto">
          <a:xfrm>
            <a:off x="5123550" y="3277934"/>
            <a:ext cx="2143434" cy="612671"/>
          </a:xfrm>
          <a:prstGeom prst="wedgeRoundRectCallout">
            <a:avLst>
              <a:gd name="adj1" fmla="val -3470"/>
              <a:gd name="adj2" fmla="val 11004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084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iv</a:t>
            </a:r>
            <a:r>
              <a:rPr lang="en-US" sz="4000" dirty="0"/>
              <a:t>,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4000" dirty="0"/>
              <a:t>,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Семантичен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HTML</a:t>
            </a:r>
            <a:endParaRPr lang="bg-BG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200" dirty="0"/>
              <a:t>Контейнери и атрибути за групиране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54E13-572C-5CED-53E3-651A2660C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6595" y="1465543"/>
            <a:ext cx="2318810" cy="232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4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3FC5-0EA9-EF02-A0DD-B8B3E1E1B7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&lt;div&gt;&lt;/div&gt;</a:t>
            </a:r>
          </a:p>
          <a:p>
            <a:pPr lvl="1"/>
            <a:r>
              <a:rPr lang="bg-BG" dirty="0"/>
              <a:t>Използва се за </a:t>
            </a:r>
            <a:r>
              <a:rPr lang="bg-BG" b="1" dirty="0">
                <a:solidFill>
                  <a:schemeClr val="bg1"/>
                </a:solidFill>
              </a:rPr>
              <a:t>групиране</a:t>
            </a:r>
            <a:r>
              <a:rPr lang="bg-BG" dirty="0"/>
              <a:t> на </a:t>
            </a:r>
            <a:r>
              <a:rPr lang="bg-BG" b="1" dirty="0"/>
              <a:t>елементите</a:t>
            </a:r>
            <a:r>
              <a:rPr lang="bg-BG" dirty="0"/>
              <a:t> в </a:t>
            </a:r>
            <a:r>
              <a:rPr lang="bg-BG" b="1" dirty="0"/>
              <a:t>уеб страницата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Организира</a:t>
            </a:r>
            <a:r>
              <a:rPr lang="bg-BG" dirty="0"/>
              <a:t> </a:t>
            </a:r>
            <a:r>
              <a:rPr lang="bg-BG" b="1" dirty="0"/>
              <a:t>съдържанието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Контейнери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A0866-3F42-9CD7-3819-EF3686BAB91F}"/>
              </a:ext>
            </a:extLst>
          </p:cNvPr>
          <p:cNvSpPr txBox="1">
            <a:spLocks/>
          </p:cNvSpPr>
          <p:nvPr/>
        </p:nvSpPr>
        <p:spPr>
          <a:xfrm>
            <a:off x="786000" y="3564000"/>
            <a:ext cx="9977030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&lt;div&gt;</a:t>
            </a:r>
          </a:p>
          <a:p>
            <a:pPr>
              <a:lnSpc>
                <a:spcPct val="100000"/>
              </a:lnSpc>
            </a:pP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Новини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>
              <a:lnSpc>
                <a:spcPct val="100000"/>
              </a:lnSpc>
            </a:pP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е текст за новини.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&lt;/div&gt;</a:t>
            </a:r>
            <a:endParaRPr lang="en-US" sz="32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3FC5-0EA9-EF02-A0DD-B8B3E1E1B7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  <a:p>
            <a:pPr lvl="1"/>
            <a:r>
              <a:rPr lang="bg-BG" b="1" dirty="0"/>
              <a:t>Уникален идентификатор на елемент</a:t>
            </a:r>
            <a:endParaRPr lang="en-US" b="1" dirty="0"/>
          </a:p>
          <a:p>
            <a:pPr lvl="1"/>
            <a:endParaRPr lang="en-US" sz="300" b="1" dirty="0"/>
          </a:p>
          <a:p>
            <a:pPr lvl="1"/>
            <a:endParaRPr lang="bg-BG" b="1" dirty="0"/>
          </a:p>
          <a:p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lass</a:t>
            </a:r>
          </a:p>
          <a:p>
            <a:pPr lvl="1"/>
            <a:r>
              <a:rPr lang="bg-BG" b="1" dirty="0">
                <a:latin typeface="Calibri" panose="020F0502020204030204" pitchFamily="34" charset="0"/>
                <a:cs typeface="Calibri" panose="020F0502020204030204" pitchFamily="34" charset="0"/>
              </a:rPr>
              <a:t>Групира няколко елемента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 за групиране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A0866-3F42-9CD7-3819-EF3686BAB91F}"/>
              </a:ext>
            </a:extLst>
          </p:cNvPr>
          <p:cNvSpPr txBox="1">
            <a:spLocks/>
          </p:cNvSpPr>
          <p:nvPr/>
        </p:nvSpPr>
        <p:spPr>
          <a:xfrm>
            <a:off x="696000" y="2664000"/>
            <a:ext cx="6345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&lt;h2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id="contacts"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Контакти&lt;/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1D43D82-3696-0758-FDB1-A8C7C9782951}"/>
              </a:ext>
            </a:extLst>
          </p:cNvPr>
          <p:cNvSpPr txBox="1">
            <a:spLocks/>
          </p:cNvSpPr>
          <p:nvPr/>
        </p:nvSpPr>
        <p:spPr>
          <a:xfrm>
            <a:off x="693436" y="4824000"/>
            <a:ext cx="6842564" cy="9541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&lt;p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class="text"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Първи параграф&lt;/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&lt;p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class="text"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Втори параграф&lt;/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1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71511-59BC-E24B-AEF6-5755E764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D2D754-8261-4463-050C-466C7E1EA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header&gt;&lt;/header&gt;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Уводното съдържание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Може да съдържа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заглавие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лого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меню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др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Контейнер за 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началната част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&lt;nav&gt;&lt;/nav&gt;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Навигационното меню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уеб страницата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Съдържа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връзки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към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части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други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страници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 се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специално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навигационни връзки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FE25DE-37F2-D090-7A07-0CFD1656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Семантичен </a:t>
            </a:r>
            <a:r>
              <a:rPr lang="en-US" dirty="0"/>
              <a:t>HTML (1)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DB7F77-1692-4555-6F27-0E763BBE4D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3498" y="1854000"/>
            <a:ext cx="3735000" cy="103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720C21-9EB2-D63B-0C6D-EA6138A23C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068" r="3641" b="-8556"/>
          <a:stretch/>
        </p:blipFill>
        <p:spPr>
          <a:xfrm>
            <a:off x="8391000" y="3728603"/>
            <a:ext cx="3465000" cy="78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7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71511-59BC-E24B-AEF6-5755E764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D2D754-8261-4463-050C-466C7E1EA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795598" cy="5528766"/>
          </a:xfrm>
        </p:spPr>
        <p:txBody>
          <a:bodyPr/>
          <a:lstStyle/>
          <a:p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main&gt;&lt;/main&gt;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Основното съдържание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Съдържа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най-важната информация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&lt;section&gt;&lt;/section&gt;	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Разделя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съдържанието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секции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Групира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свързано съдържание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&lt;article&gt;&lt;/article&gt;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Определя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самостоятелно държание</a:t>
            </a:r>
            <a:r>
              <a:rPr lang="bg-BG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новина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статия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и др.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bg-BG" sz="2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FE25DE-37F2-D090-7A07-0CFD1656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Семантичен </a:t>
            </a:r>
            <a:r>
              <a:rPr lang="en-US" dirty="0"/>
              <a:t>HTML (</a:t>
            </a:r>
            <a:r>
              <a:rPr lang="bg-BG" dirty="0"/>
              <a:t>2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C5F09-3595-F991-651B-57251C4CD2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790" y="1195961"/>
            <a:ext cx="3623560" cy="1962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86D0C3-9F25-FA6F-3E60-1BD2AE6888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12461" y="3279382"/>
            <a:ext cx="3683328" cy="17918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624C00-85C1-89C9-B73F-31E133A6E5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31934" y="5289708"/>
            <a:ext cx="3651384" cy="12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5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71511-59BC-E24B-AEF6-5755E764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D2D754-8261-4463-050C-466C7E1EA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&lt;aside&gt;&lt;/aside&gt;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Допълнителна информация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страничната лента 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Може да съдържа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реклами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архивни връзки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 др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&lt;footer&gt;&lt;/footer&gt;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Поставя се в </a:t>
            </a:r>
            <a:r>
              <a:rPr lang="bg-BG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най-долната част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уеб страницата</a:t>
            </a:r>
          </a:p>
          <a:p>
            <a:pPr lvl="1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Може да съдържа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контакти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авторство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права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 др.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FE25DE-37F2-D090-7A07-0CFD1656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Семантичен </a:t>
            </a:r>
            <a:r>
              <a:rPr lang="en-US" dirty="0"/>
              <a:t>HTML (</a:t>
            </a:r>
            <a:r>
              <a:rPr lang="bg-BG" dirty="0"/>
              <a:t>3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1A995-01C1-E2E8-C00D-7BBA242613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9125" y="1719000"/>
            <a:ext cx="3063750" cy="171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4FC0A-88D9-113F-86DF-7B41A0B6F5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46000" y="4994122"/>
            <a:ext cx="6300000" cy="17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0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71511-59BC-E24B-AEF6-5755E764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FE25DE-37F2-D090-7A07-0CFD1656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Семантичен </a:t>
            </a:r>
            <a:r>
              <a:rPr lang="en-US" dirty="0"/>
              <a:t>HTML </a:t>
            </a:r>
            <a:r>
              <a:rPr lang="bg-BG" sz="4000" dirty="0"/>
              <a:t>–</a:t>
            </a:r>
            <a:r>
              <a:rPr lang="bg-BG" dirty="0"/>
              <a:t> Структура на уеб страница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9E8EA1-25B9-6212-CA0A-25BA9374C0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1000" y="1139900"/>
            <a:ext cx="6570000" cy="56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5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C78973-0D33-9F6F-2306-E74E9E711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9EF924-4A19-3024-CA6B-348196EE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Семантичен </a:t>
            </a:r>
            <a:r>
              <a:rPr lang="en-US" dirty="0"/>
              <a:t>HTML </a:t>
            </a:r>
            <a:r>
              <a:rPr lang="bg-BG" sz="3600" dirty="0"/>
              <a:t>–</a:t>
            </a:r>
            <a:r>
              <a:rPr lang="bg-BG" sz="4000" dirty="0"/>
              <a:t> Примерна схема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92F031-8663-5CF4-2870-D0F91128B4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7430"/>
          <a:stretch/>
        </p:blipFill>
        <p:spPr>
          <a:xfrm>
            <a:off x="1011262" y="1159218"/>
            <a:ext cx="10169476" cy="55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8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/>
              <a:t>Семантичен</a:t>
            </a:r>
            <a:r>
              <a:rPr lang="en-US" sz="3800" dirty="0"/>
              <a:t> HTML </a:t>
            </a:r>
            <a:r>
              <a:rPr lang="bg-BG" sz="3200" dirty="0"/>
              <a:t>–</a:t>
            </a:r>
            <a:r>
              <a:rPr lang="bg-BG" sz="3800" dirty="0"/>
              <a:t> Примерно решение</a:t>
            </a:r>
            <a:r>
              <a:rPr lang="en-US" sz="3800" dirty="0"/>
              <a:t> (1)</a:t>
            </a:r>
            <a:endParaRPr lang="en-BG" sz="3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A0866-3F42-9CD7-3819-EF3686BAB91F}"/>
              </a:ext>
            </a:extLst>
          </p:cNvPr>
          <p:cNvSpPr txBox="1">
            <a:spLocks/>
          </p:cNvSpPr>
          <p:nvPr/>
        </p:nvSpPr>
        <p:spPr>
          <a:xfrm>
            <a:off x="336000" y="1296442"/>
            <a:ext cx="11115000" cy="53553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&lt;header&gt;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Моят сайт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Кратко представяне на сайта.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&lt;/header&gt;</a:t>
            </a:r>
          </a:p>
          <a:p>
            <a:pPr>
              <a:lnSpc>
                <a:spcPct val="100000"/>
              </a:lnSpc>
            </a:pPr>
            <a:b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&lt;nav&gt;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Начало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За нас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Услуги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Контакти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</a:p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&lt;/nav&gt;</a:t>
            </a:r>
          </a:p>
          <a:p>
            <a:pPr>
              <a:lnSpc>
                <a:spcPct val="100000"/>
              </a:lnSpc>
            </a:pPr>
            <a:b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&lt;main&gt;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2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Добре дошли!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2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е началната страница на нашия сайт.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2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Тук ще намерите полезна информация.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B0A60-BC0C-8111-E397-6001905FD6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28"/>
          <a:stretch/>
        </p:blipFill>
        <p:spPr>
          <a:xfrm>
            <a:off x="7020794" y="1504248"/>
            <a:ext cx="4835206" cy="38495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555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/>
              <a:t>Семантичен</a:t>
            </a:r>
            <a:r>
              <a:rPr lang="en-US" sz="3800" dirty="0"/>
              <a:t> HTML </a:t>
            </a:r>
            <a:r>
              <a:rPr lang="bg-BG" sz="3200" dirty="0"/>
              <a:t>–</a:t>
            </a:r>
            <a:r>
              <a:rPr lang="bg-BG" sz="3800" dirty="0"/>
              <a:t> Примерно решение</a:t>
            </a:r>
            <a:r>
              <a:rPr lang="en-US" sz="3800" dirty="0"/>
              <a:t> (2)</a:t>
            </a:r>
            <a:endParaRPr lang="en-BG" sz="3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A0866-3F42-9CD7-3819-EF3686BAB91F}"/>
              </a:ext>
            </a:extLst>
          </p:cNvPr>
          <p:cNvSpPr txBox="1">
            <a:spLocks/>
          </p:cNvSpPr>
          <p:nvPr/>
        </p:nvSpPr>
        <p:spPr>
          <a:xfrm>
            <a:off x="194184" y="1336354"/>
            <a:ext cx="11115000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b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&lt;aside&gt;</a:t>
            </a:r>
          </a:p>
          <a:p>
            <a:pPr lvl="2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Новини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2"/>
            <a:b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</a:t>
            </a:r>
          </a:p>
          <a:p>
            <a:pPr lvl="3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Нов курс по 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&lt;/li&gt;</a:t>
            </a:r>
          </a:p>
          <a:p>
            <a:pPr lvl="3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Безплатен уъркшоп за начинаещи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 lvl="2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&lt;/ul&gt;</a:t>
            </a:r>
          </a:p>
          <a:p>
            <a:pPr lvl="1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&lt;/aside&gt;</a:t>
            </a:r>
          </a:p>
          <a:p>
            <a:pPr>
              <a:lnSpc>
                <a:spcPct val="100000"/>
              </a:lnSpc>
            </a:pP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&lt;/main&gt;</a:t>
            </a:r>
          </a:p>
          <a:p>
            <a:pPr>
              <a:lnSpc>
                <a:spcPct val="100000"/>
              </a:lnSpc>
            </a:pPr>
            <a:b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&lt;footer&gt;</a:t>
            </a:r>
          </a:p>
          <a:p>
            <a:pPr lvl="1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© 2026 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Моят сайт. Всички права запазени.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&lt;/footer&gt;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B0A60-BC0C-8111-E397-6001905FD6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70"/>
          <a:stretch/>
        </p:blipFill>
        <p:spPr>
          <a:xfrm>
            <a:off x="6942002" y="1449000"/>
            <a:ext cx="5055814" cy="21687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3849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0034A-D1BB-D74F-513F-438462E1D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B08C65-8AA0-9891-E1E5-3D1E0667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/>
              <a:t>Семантичен</a:t>
            </a:r>
            <a:r>
              <a:rPr lang="en-US" sz="3800" dirty="0"/>
              <a:t> HTML </a:t>
            </a:r>
            <a:r>
              <a:rPr lang="bg-BG" sz="3200" dirty="0"/>
              <a:t>–</a:t>
            </a:r>
            <a:r>
              <a:rPr lang="bg-BG" sz="3800" dirty="0"/>
              <a:t> Примерно решение</a:t>
            </a:r>
            <a:r>
              <a:rPr lang="en-US" sz="3800" dirty="0"/>
              <a:t> (3)</a:t>
            </a:r>
            <a:endParaRPr lang="en-BG" sz="3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B0A60-BC0C-8111-E397-6001905FD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6000" y="1229804"/>
            <a:ext cx="4500000" cy="55741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636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структурни тагове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Структурни тагове</a:t>
            </a:r>
            <a:endParaRPr lang="en-GB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0830B-36E5-7789-0213-77908429E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847" y="1269000"/>
            <a:ext cx="2470305" cy="265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4127E0-95FA-F239-30F1-05DB69C9A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6138" y="2649852"/>
            <a:ext cx="5776892" cy="415698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Изграждат </a:t>
            </a:r>
            <a:r>
              <a:rPr lang="bg-BG" sz="3600" b="1" dirty="0">
                <a:solidFill>
                  <a:schemeClr val="bg1"/>
                </a:solidFill>
              </a:rPr>
              <a:t>основната рамка </a:t>
            </a:r>
            <a:r>
              <a:rPr lang="bg-BG" sz="3600" dirty="0"/>
              <a:t>на </a:t>
            </a:r>
            <a:r>
              <a:rPr lang="en-US" sz="3600" b="1" dirty="0"/>
              <a:t>HTML </a:t>
            </a:r>
            <a:r>
              <a:rPr lang="bg-BG" sz="3600" b="1" dirty="0"/>
              <a:t>документа</a:t>
            </a:r>
          </a:p>
          <a:p>
            <a:r>
              <a:rPr lang="bg-BG" sz="3600" dirty="0"/>
              <a:t>Те </a:t>
            </a:r>
            <a:r>
              <a:rPr lang="bg-BG" sz="3600" b="1" dirty="0"/>
              <a:t>определят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Началото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края</a:t>
            </a:r>
            <a:r>
              <a:rPr lang="bg-BG" sz="3400" dirty="0"/>
              <a:t> на </a:t>
            </a:r>
            <a:r>
              <a:rPr lang="bg-BG" sz="3400" b="1" dirty="0"/>
              <a:t>документа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Служебната част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Видимото съдържание</a:t>
            </a:r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Структурни тагове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63450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b="1" dirty="0"/>
              <a:t>Началният таг </a:t>
            </a:r>
            <a:r>
              <a:rPr lang="bg-BG" dirty="0"/>
              <a:t>на </a:t>
            </a:r>
            <a:r>
              <a:rPr lang="en-US" b="1" dirty="0"/>
              <a:t>HTML</a:t>
            </a:r>
            <a:r>
              <a:rPr lang="bg-BG" b="1" dirty="0"/>
              <a:t> документа</a:t>
            </a:r>
          </a:p>
          <a:p>
            <a:pPr lvl="1"/>
            <a:r>
              <a:rPr lang="bg-BG" dirty="0"/>
              <a:t>Определя </a:t>
            </a:r>
            <a:r>
              <a:rPr lang="bg-BG" b="1" dirty="0"/>
              <a:t>типа</a:t>
            </a:r>
            <a:r>
              <a:rPr lang="bg-BG" dirty="0"/>
              <a:t> на </a:t>
            </a:r>
            <a:r>
              <a:rPr lang="bg-BG" b="1" dirty="0"/>
              <a:t>документа</a:t>
            </a:r>
            <a:r>
              <a:rPr lang="bg-BG" dirty="0"/>
              <a:t> (</a:t>
            </a:r>
            <a:r>
              <a:rPr lang="en-US" b="1" dirty="0"/>
              <a:t>HTML5</a:t>
            </a:r>
            <a:r>
              <a:rPr lang="en-US" dirty="0"/>
              <a:t>)</a:t>
            </a:r>
            <a:endParaRPr lang="bg-BG" dirty="0"/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b="1" dirty="0"/>
              <a:t>Основен елемент</a:t>
            </a:r>
          </a:p>
          <a:p>
            <a:pPr lvl="1"/>
            <a:r>
              <a:rPr lang="bg-BG" dirty="0"/>
              <a:t>Въвежда се </a:t>
            </a:r>
            <a:r>
              <a:rPr lang="bg-BG" b="1" dirty="0"/>
              <a:t>след тага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структурни тагове (1</a:t>
            </a:r>
            <a:r>
              <a:rPr lang="en-US" dirty="0"/>
              <a:t>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374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</a:p>
          <a:p>
            <a:pPr lvl="1"/>
            <a:r>
              <a:rPr lang="bg-BG" dirty="0"/>
              <a:t>Съдържа </a:t>
            </a:r>
            <a:r>
              <a:rPr lang="bg-BG" b="1" dirty="0"/>
              <a:t>служебна информация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bg-BG" b="1" dirty="0"/>
              <a:t>мета тагове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b="1" dirty="0"/>
              <a:t>Не се визуализира </a:t>
            </a:r>
            <a:r>
              <a:rPr lang="bg-BG" dirty="0"/>
              <a:t>в </a:t>
            </a:r>
            <a:r>
              <a:rPr lang="bg-BG" b="1" dirty="0"/>
              <a:t>браузъра</a:t>
            </a:r>
          </a:p>
          <a:p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title&gt;</a:t>
            </a:r>
          </a:p>
          <a:p>
            <a:pPr lvl="1"/>
            <a:r>
              <a:rPr lang="bg-BG" b="1" dirty="0"/>
              <a:t>Заглавието</a:t>
            </a:r>
            <a:r>
              <a:rPr lang="bg-BG" dirty="0"/>
              <a:t> на </a:t>
            </a:r>
            <a:r>
              <a:rPr lang="bg-BG" b="1" dirty="0"/>
              <a:t>документа</a:t>
            </a:r>
          </a:p>
          <a:p>
            <a:pPr lvl="1"/>
            <a:r>
              <a:rPr lang="bg-BG" dirty="0"/>
              <a:t>Поставя се в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r>
              <a:rPr lang="bg-BG" dirty="0"/>
              <a:t> </a:t>
            </a:r>
            <a:r>
              <a:rPr lang="bg-BG" b="1" dirty="0"/>
              <a:t>частта</a:t>
            </a:r>
            <a:r>
              <a:rPr lang="bg-BG" dirty="0"/>
              <a:t> на </a:t>
            </a:r>
            <a:r>
              <a:rPr lang="bg-BG" b="1" dirty="0"/>
              <a:t>документа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dirty="0"/>
              <a:t>Съдържа </a:t>
            </a:r>
            <a:r>
              <a:rPr lang="bg-BG" b="1" dirty="0"/>
              <a:t>цялото видимо съдържание</a:t>
            </a:r>
          </a:p>
          <a:p>
            <a:pPr lvl="1"/>
            <a:r>
              <a:rPr lang="bg-BG" b="1" dirty="0"/>
              <a:t>Всичко</a:t>
            </a:r>
            <a:r>
              <a:rPr lang="bg-BG" dirty="0"/>
              <a:t>, което </a:t>
            </a:r>
            <a:r>
              <a:rPr lang="bg-BG" b="1" dirty="0"/>
              <a:t>потребителят вижда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структурни тагове</a:t>
            </a:r>
            <a:r>
              <a:rPr lang="en-US" dirty="0"/>
              <a:t> (2)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83236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Съдържат </a:t>
            </a:r>
            <a:r>
              <a:rPr lang="bg-BG" sz="3600" b="1" dirty="0">
                <a:solidFill>
                  <a:schemeClr val="bg1"/>
                </a:solidFill>
              </a:rPr>
              <a:t>информация</a:t>
            </a:r>
            <a:r>
              <a:rPr lang="bg-BG" sz="3600" dirty="0"/>
              <a:t> за </a:t>
            </a:r>
            <a:r>
              <a:rPr lang="bg-BG" sz="3600" b="1" dirty="0"/>
              <a:t>уеб страницата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Не се визуализират </a:t>
            </a:r>
            <a:r>
              <a:rPr lang="bg-BG" sz="3600" b="1" dirty="0"/>
              <a:t>директно</a:t>
            </a:r>
            <a:r>
              <a:rPr lang="bg-BG" sz="3600" dirty="0"/>
              <a:t> в </a:t>
            </a:r>
            <a:r>
              <a:rPr lang="bg-BG" sz="3600" b="1" dirty="0"/>
              <a:t>браузъра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Мета тагове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579BC-49B9-7DC6-8AC5-463E079605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15005" y="2905798"/>
            <a:ext cx="4361990" cy="360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7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Задаване на кодиране</a:t>
            </a:r>
          </a:p>
          <a:p>
            <a:pPr lvl="1"/>
            <a:r>
              <a:rPr lang="bg-BG" dirty="0"/>
              <a:t>Определя </a:t>
            </a:r>
            <a:r>
              <a:rPr lang="bg-BG" b="1" dirty="0"/>
              <a:t>начина</a:t>
            </a:r>
            <a:r>
              <a:rPr lang="bg-BG" dirty="0"/>
              <a:t>, по който се </a:t>
            </a:r>
            <a:r>
              <a:rPr lang="bg-BG" b="1" dirty="0"/>
              <a:t>изобразяват символите</a:t>
            </a:r>
          </a:p>
          <a:p>
            <a:pPr lvl="1"/>
            <a:endParaRPr lang="bg-BG" dirty="0"/>
          </a:p>
          <a:p>
            <a:r>
              <a:rPr lang="bg-BG" b="1" dirty="0">
                <a:solidFill>
                  <a:schemeClr val="bg1"/>
                </a:solidFill>
              </a:rPr>
              <a:t>Описание на уеб страницата</a:t>
            </a:r>
          </a:p>
          <a:p>
            <a:pPr lvl="1"/>
            <a:r>
              <a:rPr lang="bg-BG" b="1" dirty="0"/>
              <a:t>Кратко описание </a:t>
            </a:r>
            <a:r>
              <a:rPr lang="bg-BG" dirty="0"/>
              <a:t>на </a:t>
            </a:r>
            <a:r>
              <a:rPr lang="bg-BG" b="1" dirty="0"/>
              <a:t>съдържанието</a:t>
            </a:r>
          </a:p>
          <a:p>
            <a:pPr lvl="1"/>
            <a:r>
              <a:rPr lang="bg-BG" dirty="0"/>
              <a:t>Използва се от </a:t>
            </a:r>
            <a:r>
              <a:rPr lang="bg-BG" b="1" dirty="0"/>
              <a:t>търсачките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мета тагове (1</a:t>
            </a:r>
            <a:r>
              <a:rPr lang="en-US" dirty="0"/>
              <a:t>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5F15E1-F47D-0A60-BBD9-FDFB0E17BAFE}"/>
              </a:ext>
            </a:extLst>
          </p:cNvPr>
          <p:cNvSpPr txBox="1">
            <a:spLocks/>
          </p:cNvSpPr>
          <p:nvPr/>
        </p:nvSpPr>
        <p:spPr>
          <a:xfrm>
            <a:off x="800555" y="2619000"/>
            <a:ext cx="4516383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&lt;meta charset="UTF-8"&gt;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FCC85D1-1C8E-7B93-3003-E5AEE96700A4}"/>
              </a:ext>
            </a:extLst>
          </p:cNvPr>
          <p:cNvSpPr txBox="1">
            <a:spLocks/>
          </p:cNvSpPr>
          <p:nvPr/>
        </p:nvSpPr>
        <p:spPr>
          <a:xfrm>
            <a:off x="724617" y="5319000"/>
            <a:ext cx="10861383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&lt;meta name="description" content="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Уеб сайт за училищен проект"&gt;</a:t>
            </a:r>
          </a:p>
        </p:txBody>
      </p:sp>
    </p:spTree>
    <p:extLst>
      <p:ext uri="{BB962C8B-B14F-4D97-AF65-F5344CB8AC3E}">
        <p14:creationId xmlns:p14="http://schemas.microsoft.com/office/powerpoint/2010/main" val="269487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Автор на уеб страницата</a:t>
            </a:r>
          </a:p>
          <a:p>
            <a:pPr lvl="1"/>
            <a:r>
              <a:rPr lang="bg-BG" dirty="0"/>
              <a:t>Показват </a:t>
            </a:r>
            <a:r>
              <a:rPr lang="bg-BG" b="1" dirty="0"/>
              <a:t>кой</a:t>
            </a:r>
            <a:r>
              <a:rPr lang="bg-BG" dirty="0"/>
              <a:t> е </a:t>
            </a:r>
            <a:r>
              <a:rPr lang="bg-BG" b="1" dirty="0"/>
              <a:t>създал</a:t>
            </a:r>
            <a:r>
              <a:rPr lang="bg-BG" dirty="0"/>
              <a:t> </a:t>
            </a:r>
            <a:r>
              <a:rPr lang="bg-BG" b="1" dirty="0"/>
              <a:t>уеб страницата</a:t>
            </a:r>
          </a:p>
          <a:p>
            <a:pPr lvl="1"/>
            <a:endParaRPr lang="bg-BG" dirty="0"/>
          </a:p>
          <a:p>
            <a:r>
              <a:rPr lang="bg-BG" b="1" dirty="0">
                <a:solidFill>
                  <a:schemeClr val="bg1"/>
                </a:solidFill>
              </a:rPr>
              <a:t>Настройка за мобилни устройства</a:t>
            </a:r>
          </a:p>
          <a:p>
            <a:pPr lvl="1"/>
            <a:r>
              <a:rPr lang="bg-BG" dirty="0"/>
              <a:t>Позволява </a:t>
            </a:r>
            <a:r>
              <a:rPr lang="bg-BG" b="1" dirty="0"/>
              <a:t>правилно визуализиране </a:t>
            </a:r>
            <a:r>
              <a:rPr lang="bg-BG" dirty="0"/>
              <a:t>на </a:t>
            </a:r>
            <a:r>
              <a:rPr lang="bg-BG" b="1" dirty="0"/>
              <a:t>уеб сайта </a:t>
            </a:r>
            <a:r>
              <a:rPr lang="bg-BG" dirty="0"/>
              <a:t>на </a:t>
            </a:r>
            <a:r>
              <a:rPr lang="bg-BG" b="1" dirty="0"/>
              <a:t>телефон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мета тагове (</a:t>
            </a:r>
            <a:r>
              <a:rPr lang="en-US" dirty="0"/>
              <a:t>2)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E5F15E1-F47D-0A60-BBD9-FDFB0E17BAFE}"/>
              </a:ext>
            </a:extLst>
          </p:cNvPr>
          <p:cNvSpPr txBox="1">
            <a:spLocks/>
          </p:cNvSpPr>
          <p:nvPr/>
        </p:nvSpPr>
        <p:spPr>
          <a:xfrm>
            <a:off x="741001" y="2619000"/>
            <a:ext cx="8775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&lt;meta name="author" content="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 на автора"&gt;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FCC85D1-1C8E-7B93-3003-E5AEE96700A4}"/>
              </a:ext>
            </a:extLst>
          </p:cNvPr>
          <p:cNvSpPr txBox="1">
            <a:spLocks/>
          </p:cNvSpPr>
          <p:nvPr/>
        </p:nvSpPr>
        <p:spPr>
          <a:xfrm>
            <a:off x="760148" y="4586565"/>
            <a:ext cx="10992882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&lt;meta name="viewport" content="width=device-width, initial-scale=1.0"&gt;</a:t>
            </a:r>
          </a:p>
        </p:txBody>
      </p:sp>
    </p:spTree>
    <p:extLst>
      <p:ext uri="{BB962C8B-B14F-4D97-AF65-F5344CB8AC3E}">
        <p14:creationId xmlns:p14="http://schemas.microsoft.com/office/powerpoint/2010/main" val="348769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23EC6-51FC-44D6-14D5-41857290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BECD96-2434-8FD0-C0AD-9824DDD5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Примерна структура на </a:t>
            </a:r>
            <a:r>
              <a:rPr lang="en-US" dirty="0"/>
              <a:t>HTML </a:t>
            </a:r>
            <a:r>
              <a:rPr lang="bg-BG" dirty="0"/>
              <a:t>документ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7C3C9-6320-A199-170B-A7CFB275E983}"/>
              </a:ext>
            </a:extLst>
          </p:cNvPr>
          <p:cNvSpPr txBox="1">
            <a:spLocks/>
          </p:cNvSpPr>
          <p:nvPr/>
        </p:nvSpPr>
        <p:spPr>
          <a:xfrm>
            <a:off x="567485" y="1162307"/>
            <a:ext cx="11057029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&lt;title&gt;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Моята страница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title&gt;</a:t>
            </a:r>
          </a:p>
          <a:p>
            <a:pPr algn="ctr"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&lt;meta name=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"description"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content=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Примерна уеб страница"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GB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endParaRPr lang="bg-BG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&lt;header&gt;</a:t>
            </a: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Добре дошли!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&lt;/header&gt;</a:t>
            </a: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&lt;main&gt;</a:t>
            </a: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&lt;p&gt;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примерна уеб страница.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&lt;/main&gt;</a:t>
            </a:r>
            <a:endParaRPr lang="en-GB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1379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000" dirty="0"/>
              <a:t>DOM (Document Object Model)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6000" dirty="0"/>
              <a:t>HTML </a:t>
            </a:r>
            <a:r>
              <a:rPr lang="bg-BG" sz="6000" dirty="0"/>
              <a:t>дърво</a:t>
            </a:r>
            <a:endParaRPr lang="en-US" sz="5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BC804-7075-77BC-21A1-A3B6938830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8843" y="1398469"/>
            <a:ext cx="2734314" cy="222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5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625598" cy="5528766"/>
          </a:xfrm>
        </p:spPr>
        <p:txBody>
          <a:bodyPr>
            <a:normAutofit/>
          </a:bodyPr>
          <a:lstStyle/>
          <a:p>
            <a:r>
              <a:rPr lang="bg-BG" b="1" dirty="0"/>
              <a:t>Елементите</a:t>
            </a:r>
            <a:r>
              <a:rPr lang="bg-BG" dirty="0"/>
              <a:t> на </a:t>
            </a:r>
            <a:r>
              <a:rPr lang="en-US" b="1" dirty="0">
                <a:solidFill>
                  <a:schemeClr val="bg1"/>
                </a:solidFill>
              </a:rPr>
              <a:t>HTML</a:t>
            </a:r>
            <a:r>
              <a:rPr lang="en-US" dirty="0"/>
              <a:t> </a:t>
            </a:r>
            <a:r>
              <a:rPr lang="bg-BG" dirty="0"/>
              <a:t>са </a:t>
            </a:r>
            <a:r>
              <a:rPr lang="bg-BG" b="1" dirty="0"/>
              <a:t>подредени</a:t>
            </a:r>
            <a:r>
              <a:rPr lang="bg-BG" dirty="0"/>
              <a:t> като </a:t>
            </a:r>
            <a:r>
              <a:rPr lang="bg-BG" b="1" dirty="0">
                <a:solidFill>
                  <a:schemeClr val="bg1"/>
                </a:solidFill>
              </a:rPr>
              <a:t>дърво</a:t>
            </a:r>
          </a:p>
          <a:p>
            <a:r>
              <a:rPr lang="en-US" b="1" dirty="0">
                <a:solidFill>
                  <a:schemeClr val="bg1"/>
                </a:solidFill>
              </a:rPr>
              <a:t>DOM</a:t>
            </a:r>
            <a:r>
              <a:rPr lang="en-US" dirty="0"/>
              <a:t> </a:t>
            </a:r>
            <a:r>
              <a:rPr lang="bg-BG" dirty="0"/>
              <a:t>– </a:t>
            </a:r>
            <a:r>
              <a:rPr lang="en-US" b="1" dirty="0"/>
              <a:t>Document Object Model</a:t>
            </a:r>
            <a:endParaRPr lang="bg-BG" b="1" dirty="0"/>
          </a:p>
          <a:p>
            <a:pPr lvl="1"/>
            <a:r>
              <a:rPr lang="bg-BG" dirty="0"/>
              <a:t>Позволява на </a:t>
            </a:r>
            <a:r>
              <a:rPr lang="en-US" b="1" dirty="0">
                <a:solidFill>
                  <a:schemeClr val="bg1"/>
                </a:solidFill>
              </a:rPr>
              <a:t>JavaScript</a:t>
            </a:r>
            <a:r>
              <a:rPr lang="en-US" dirty="0"/>
              <a:t> </a:t>
            </a:r>
            <a:r>
              <a:rPr lang="bg-BG" b="1" dirty="0"/>
              <a:t>динамично</a:t>
            </a:r>
            <a:r>
              <a:rPr lang="bg-BG" dirty="0"/>
              <a:t> да </a:t>
            </a:r>
            <a:r>
              <a:rPr lang="bg-BG" b="1" dirty="0">
                <a:solidFill>
                  <a:schemeClr val="bg1"/>
                </a:solidFill>
              </a:rPr>
              <a:t>манипулира</a:t>
            </a:r>
            <a:r>
              <a:rPr lang="bg-BG" b="1" dirty="0"/>
              <a:t> елементи </a:t>
            </a:r>
            <a:r>
              <a:rPr lang="bg-BG" dirty="0"/>
              <a:t>и </a:t>
            </a:r>
            <a:r>
              <a:rPr lang="bg-BG" b="1" dirty="0"/>
              <a:t>стилове</a:t>
            </a:r>
            <a:r>
              <a:rPr lang="bg-BG" dirty="0"/>
              <a:t> в </a:t>
            </a:r>
            <a:r>
              <a:rPr lang="bg-BG" b="1" dirty="0"/>
              <a:t>реално време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bg-BG" dirty="0"/>
              <a:t>дърво (</a:t>
            </a:r>
            <a:r>
              <a:rPr lang="en-US" dirty="0"/>
              <a:t>DOM)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98797-5987-25C8-5951-12D4604151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1" r="1753" b="3787"/>
          <a:stretch/>
        </p:blipFill>
        <p:spPr>
          <a:xfrm>
            <a:off x="6289588" y="1889010"/>
            <a:ext cx="5826001" cy="496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4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</a:rPr>
              <a:t>Йерархия</a:t>
            </a:r>
          </a:p>
          <a:p>
            <a:pPr lvl="1"/>
            <a:r>
              <a:rPr lang="bg-BG" b="1" dirty="0"/>
              <a:t>Родители</a:t>
            </a:r>
            <a:r>
              <a:rPr lang="bg-BG" dirty="0"/>
              <a:t> (</a:t>
            </a:r>
            <a:r>
              <a:rPr lang="en-US" dirty="0"/>
              <a:t>Parents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b="1" dirty="0"/>
              <a:t>Деца</a:t>
            </a:r>
            <a:r>
              <a:rPr lang="bg-BG" dirty="0"/>
              <a:t> </a:t>
            </a:r>
            <a:r>
              <a:rPr lang="en-US" dirty="0"/>
              <a:t>(Children)</a:t>
            </a:r>
          </a:p>
          <a:p>
            <a:pPr lvl="1"/>
            <a:r>
              <a:rPr lang="bg-BG" b="1" dirty="0"/>
              <a:t>Наследници</a:t>
            </a:r>
            <a:r>
              <a:rPr lang="bg-BG" dirty="0"/>
              <a:t> (</a:t>
            </a:r>
            <a:r>
              <a:rPr lang="en-US" dirty="0"/>
              <a:t>Descendants</a:t>
            </a:r>
            <a:r>
              <a:rPr lang="bg-BG" dirty="0"/>
              <a:t>)</a:t>
            </a:r>
            <a:endParaRPr lang="en-US" dirty="0"/>
          </a:p>
          <a:p>
            <a:r>
              <a:rPr lang="bg-BG" b="1" dirty="0">
                <a:solidFill>
                  <a:schemeClr val="bg1"/>
                </a:solidFill>
              </a:rPr>
              <a:t>Възли</a:t>
            </a:r>
            <a:r>
              <a:rPr lang="bg-BG" b="1" dirty="0"/>
              <a:t> (</a:t>
            </a:r>
            <a:r>
              <a:rPr lang="en-US" b="1" dirty="0"/>
              <a:t>Nodes</a:t>
            </a:r>
            <a:r>
              <a:rPr lang="bg-BG" b="1" dirty="0"/>
              <a:t>)</a:t>
            </a:r>
            <a:endParaRPr lang="en-US" b="1" dirty="0"/>
          </a:p>
          <a:p>
            <a:pPr lvl="1"/>
            <a:r>
              <a:rPr lang="bg-BG" b="1" dirty="0"/>
              <a:t>Всеки елемент </a:t>
            </a:r>
            <a:r>
              <a:rPr lang="bg-BG" dirty="0"/>
              <a:t>в </a:t>
            </a:r>
            <a:r>
              <a:rPr lang="en-US" b="1" dirty="0"/>
              <a:t>HTML</a:t>
            </a:r>
            <a:endParaRPr lang="bg-BG" b="1" dirty="0"/>
          </a:p>
          <a:p>
            <a:r>
              <a:rPr lang="bg-BG" b="1" dirty="0">
                <a:solidFill>
                  <a:schemeClr val="bg1"/>
                </a:solidFill>
              </a:rPr>
              <a:t>Корен</a:t>
            </a:r>
            <a:r>
              <a:rPr lang="bg-BG" b="1" dirty="0"/>
              <a:t> (</a:t>
            </a:r>
            <a:r>
              <a:rPr lang="en-US" b="1" dirty="0"/>
              <a:t>Root</a:t>
            </a:r>
            <a:r>
              <a:rPr lang="bg-BG" b="1" dirty="0"/>
              <a:t>)</a:t>
            </a:r>
            <a:endParaRPr lang="en-US" b="1" dirty="0"/>
          </a:p>
          <a:p>
            <a:pPr lvl="1"/>
            <a:r>
              <a:rPr lang="bg-BG" b="1" dirty="0"/>
              <a:t>Основата</a:t>
            </a:r>
            <a:r>
              <a:rPr lang="bg-BG" dirty="0"/>
              <a:t> е винаги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dirty="0"/>
              <a:t>който съдържа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body&gt;</a:t>
            </a:r>
          </a:p>
          <a:p>
            <a:pPr lvl="2"/>
            <a:endParaRPr lang="en-US" dirty="0"/>
          </a:p>
          <a:p>
            <a:pPr lvl="1"/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Основни характеристики на </a:t>
            </a:r>
            <a:r>
              <a:rPr lang="en-US" dirty="0"/>
              <a:t>HTML </a:t>
            </a:r>
            <a:r>
              <a:rPr lang="bg-BG" dirty="0"/>
              <a:t>дървото (</a:t>
            </a:r>
            <a:r>
              <a:rPr lang="en-US" dirty="0"/>
              <a:t>DOM)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94476-293E-2088-CA28-FB2B59BA5A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8030" y="1350508"/>
            <a:ext cx="4995000" cy="415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0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2"/>
            <a:endParaRPr lang="en-US" dirty="0"/>
          </a:p>
          <a:p>
            <a:pPr lvl="1"/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Пример за </a:t>
            </a:r>
            <a:r>
              <a:rPr lang="en-US" dirty="0"/>
              <a:t>HTML </a:t>
            </a:r>
            <a:r>
              <a:rPr lang="bg-BG" dirty="0"/>
              <a:t>дърво (</a:t>
            </a:r>
            <a:r>
              <a:rPr lang="en-US" dirty="0"/>
              <a:t>DOM)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8E84C-A7C3-A3C8-8EBD-735D69DC3903}"/>
              </a:ext>
            </a:extLst>
          </p:cNvPr>
          <p:cNvSpPr txBox="1">
            <a:spLocks/>
          </p:cNvSpPr>
          <p:nvPr/>
        </p:nvSpPr>
        <p:spPr>
          <a:xfrm>
            <a:off x="1972875" y="1171689"/>
            <a:ext cx="7976250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b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&lt;head&gt;</a:t>
            </a:r>
          </a:p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&lt;title&gt;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Пример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&lt;/title&gt;</a:t>
            </a:r>
          </a:p>
          <a:p>
            <a:pPr>
              <a:lnSpc>
                <a:spcPct val="100000"/>
              </a:lnSpc>
            </a:pP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&lt;/head&gt;</a:t>
            </a:r>
            <a:endParaRPr lang="en-GB" sz="36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&lt;body&gt;</a:t>
            </a: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</a:t>
            </a:r>
            <a:r>
              <a:rPr lang="en-US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header</a:t>
            </a: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&lt;h1&gt;</a:t>
            </a:r>
            <a:r>
              <a:rPr lang="bg-BG" sz="3600" b="1" noProof="1">
                <a:latin typeface="Consolas" panose="020B0609020204030204" pitchFamily="49" charset="0"/>
                <a:cs typeface="Consolas" panose="020B0609020204030204" pitchFamily="49" charset="0"/>
              </a:rPr>
              <a:t>Здравей</a:t>
            </a:r>
            <a:r>
              <a:rPr lang="bg-BG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&lt;/header&gt;</a:t>
            </a: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&lt;/body&gt;</a:t>
            </a:r>
          </a:p>
          <a:p>
            <a:pPr>
              <a:lnSpc>
                <a:spcPct val="100000"/>
              </a:lnSpc>
            </a:pPr>
            <a:r>
              <a:rPr lang="en-GB" sz="3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en-US" sz="32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D094A103-00ED-F945-B1A7-8C472600CCBF}"/>
              </a:ext>
            </a:extLst>
          </p:cNvPr>
          <p:cNvSpPr/>
          <p:nvPr/>
        </p:nvSpPr>
        <p:spPr bwMode="auto">
          <a:xfrm>
            <a:off x="5961000" y="2992552"/>
            <a:ext cx="2601717" cy="612671"/>
          </a:xfrm>
          <a:prstGeom prst="wedgeRoundRectCallout">
            <a:avLst>
              <a:gd name="adj1" fmla="val -64028"/>
              <a:gd name="adj2" fmla="val 15301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Дете</a:t>
            </a:r>
            <a:r>
              <a:rPr lang="bg-BG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body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6A321D3-EB7C-B3E0-BA74-2A8A78432A4B}"/>
              </a:ext>
            </a:extLst>
          </p:cNvPr>
          <p:cNvSpPr/>
          <p:nvPr/>
        </p:nvSpPr>
        <p:spPr bwMode="auto">
          <a:xfrm>
            <a:off x="8992443" y="4217415"/>
            <a:ext cx="2902395" cy="612671"/>
          </a:xfrm>
          <a:prstGeom prst="wedgeRoundRectCallout">
            <a:avLst>
              <a:gd name="adj1" fmla="val -80556"/>
              <a:gd name="adj2" fmla="val 467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Дете</a:t>
            </a:r>
            <a:r>
              <a:rPr lang="bg-BG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18801A7-BEFE-60FE-839C-E216E222D6C7}"/>
              </a:ext>
            </a:extLst>
          </p:cNvPr>
          <p:cNvSpPr/>
          <p:nvPr/>
        </p:nvSpPr>
        <p:spPr bwMode="auto">
          <a:xfrm>
            <a:off x="4746000" y="1171689"/>
            <a:ext cx="2143434" cy="612671"/>
          </a:xfrm>
          <a:prstGeom prst="wedgeRoundRectCallout">
            <a:avLst>
              <a:gd name="adj1" fmla="val -103012"/>
              <a:gd name="adj2" fmla="val 37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Корен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B71D2FB-FAF0-55FD-E2C1-629FB42865FE}"/>
              </a:ext>
            </a:extLst>
          </p:cNvPr>
          <p:cNvSpPr/>
          <p:nvPr/>
        </p:nvSpPr>
        <p:spPr bwMode="auto">
          <a:xfrm>
            <a:off x="8169707" y="5332208"/>
            <a:ext cx="3767030" cy="672669"/>
          </a:xfrm>
          <a:prstGeom prst="wedgeRoundRectCallout">
            <a:avLst>
              <a:gd name="adj1" fmla="val -51493"/>
              <a:gd name="adj2" fmla="val -1196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Наследник</a:t>
            </a:r>
            <a:r>
              <a:rPr lang="bg-BG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body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7A780CB-BB5A-0CB9-4D18-8DC56C50A1A0}"/>
              </a:ext>
            </a:extLst>
          </p:cNvPr>
          <p:cNvSpPr/>
          <p:nvPr/>
        </p:nvSpPr>
        <p:spPr bwMode="auto">
          <a:xfrm>
            <a:off x="-97516" y="3394364"/>
            <a:ext cx="2143434" cy="612671"/>
          </a:xfrm>
          <a:prstGeom prst="wedgeRoundRectCallout">
            <a:avLst>
              <a:gd name="adj1" fmla="val 66984"/>
              <a:gd name="adj2" fmla="val 128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Родител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378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Създаване на първа</a:t>
            </a:r>
            <a:r>
              <a:rPr lang="en-US" dirty="0"/>
              <a:t> HTML</a:t>
            </a:r>
            <a:r>
              <a:rPr lang="bg-BG" dirty="0"/>
              <a:t> уеб страница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13BD4-6750-6F09-7D09-9C79A444C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99" t="3215" r="9807" b="5145"/>
          <a:stretch/>
        </p:blipFill>
        <p:spPr>
          <a:xfrm>
            <a:off x="4948500" y="1269000"/>
            <a:ext cx="2295000" cy="25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Нека създадем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HTML </a:t>
            </a:r>
            <a:r>
              <a:rPr lang="bg-BG" sz="3200" b="1" dirty="0">
                <a:solidFill>
                  <a:schemeClr val="bg1"/>
                </a:solidFill>
              </a:rPr>
              <a:t>уеб страница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/>
              <a:t>с</a:t>
            </a:r>
            <a:r>
              <a:rPr lang="bg-BG" sz="3200" dirty="0"/>
              <a:t> </a:t>
            </a:r>
            <a:r>
              <a:rPr lang="bg-BG" sz="3200" b="1" dirty="0"/>
              <a:t>наученото</a:t>
            </a:r>
            <a:r>
              <a:rPr lang="bg-BG" sz="3200" dirty="0"/>
              <a:t> досега</a:t>
            </a:r>
          </a:p>
          <a:p>
            <a:r>
              <a:rPr lang="bg-BG" sz="3200" dirty="0"/>
              <a:t>Отваряме </a:t>
            </a:r>
            <a:r>
              <a:rPr lang="bg-BG" sz="3200" b="1" dirty="0">
                <a:solidFill>
                  <a:schemeClr val="bg1"/>
                </a:solidFill>
              </a:rPr>
              <a:t>текстов редактор </a:t>
            </a:r>
            <a:r>
              <a:rPr lang="bg-BG" sz="3200" dirty="0"/>
              <a:t>по избор, напр. </a:t>
            </a:r>
            <a:r>
              <a:rPr lang="en-US" sz="3200" b="1" dirty="0"/>
              <a:t>VS Code</a:t>
            </a:r>
            <a:endParaRPr lang="bg-BG" sz="3200" dirty="0"/>
          </a:p>
          <a:p>
            <a:r>
              <a:rPr lang="bg-BG" sz="3200" dirty="0"/>
              <a:t>Създаваме </a:t>
            </a:r>
            <a:r>
              <a:rPr lang="bg-BG" sz="3200" b="1" dirty="0"/>
              <a:t>нов файл</a:t>
            </a:r>
            <a:r>
              <a:rPr lang="en-US" sz="3200" b="1" dirty="0"/>
              <a:t> </a:t>
            </a:r>
            <a:r>
              <a:rPr lang="bg-BG" sz="3200" dirty="0"/>
              <a:t>с </a:t>
            </a:r>
            <a:r>
              <a:rPr lang="bg-BG" sz="3200" b="1" dirty="0"/>
              <a:t>разширение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US" sz="3200" dirty="0"/>
              <a:t>, </a:t>
            </a:r>
            <a:r>
              <a:rPr lang="bg-BG" sz="3200" dirty="0"/>
              <a:t>напр. "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bg-BG" sz="3200" dirty="0"/>
              <a:t>"</a:t>
            </a:r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първа </a:t>
            </a:r>
            <a:r>
              <a:rPr lang="en-US" dirty="0"/>
              <a:t>HTML </a:t>
            </a:r>
            <a:r>
              <a:rPr lang="bg-BG" dirty="0"/>
              <a:t>уеб страница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3D96D-A304-11E8-F476-990C3E12A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092" y="3429000"/>
            <a:ext cx="4638849" cy="31121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0B22F503-1B69-72D2-A4AE-EF92104D62A7}"/>
              </a:ext>
            </a:extLst>
          </p:cNvPr>
          <p:cNvSpPr/>
          <p:nvPr/>
        </p:nvSpPr>
        <p:spPr>
          <a:xfrm>
            <a:off x="5308114" y="4311591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31990-E023-5B80-107D-C17F6F547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000" y="3363022"/>
            <a:ext cx="4615361" cy="31121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694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bg-BG" sz="2800" dirty="0"/>
              <a:t>Разписваме основните </a:t>
            </a:r>
            <a:r>
              <a:rPr lang="bg-BG" sz="2800" b="1" dirty="0">
                <a:solidFill>
                  <a:schemeClr val="bg1"/>
                </a:solidFill>
              </a:rPr>
              <a:t>структурни тагове</a:t>
            </a:r>
          </a:p>
          <a:p>
            <a:r>
              <a:rPr lang="bg-BG" sz="2800" dirty="0"/>
              <a:t>Разписваме</a:t>
            </a:r>
            <a:r>
              <a:rPr lang="bg-BG" sz="2800" b="1" dirty="0">
                <a:solidFill>
                  <a:schemeClr val="bg1"/>
                </a:solidFill>
              </a:rPr>
              <a:t> семантични секции</a:t>
            </a:r>
          </a:p>
          <a:p>
            <a:r>
              <a:rPr lang="bg-BG" sz="2800" dirty="0"/>
              <a:t>Добавяме </a:t>
            </a:r>
            <a:r>
              <a:rPr lang="bg-BG" sz="2800" b="1" dirty="0">
                <a:solidFill>
                  <a:schemeClr val="bg1"/>
                </a:solidFill>
              </a:rPr>
              <a:t>заглавие</a:t>
            </a:r>
            <a:endParaRPr lang="en-BG" sz="28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основна структура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1340203" y="2864460"/>
            <a:ext cx="9511594" cy="39395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&lt;title&gt;</a:t>
            </a:r>
            <a:r>
              <a:rPr lang="bg-BG" sz="2500" b="1" noProof="1">
                <a:latin typeface="Consolas" panose="020B0609020204030204" pitchFamily="49" charset="0"/>
                <a:cs typeface="Consolas" panose="020B0609020204030204" pitchFamily="49" charset="0"/>
              </a:rPr>
              <a:t>Моята страница</a:t>
            </a:r>
            <a:r>
              <a:rPr lang="bg-BG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endParaRPr lang="bg-BG" sz="25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bg-BG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header&gt;&lt;/header&gt;</a:t>
            </a:r>
          </a:p>
          <a:p>
            <a:pPr>
              <a:lnSpc>
                <a:spcPct val="100000"/>
              </a:lnSpc>
            </a:pP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&lt;main&gt;&lt;/main&gt;</a:t>
            </a:r>
            <a:endParaRPr lang="en-GB" sz="25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8432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Добавяме </a:t>
            </a:r>
            <a:r>
              <a:rPr lang="bg-BG" sz="3600" b="1" dirty="0"/>
              <a:t>съдържане</a:t>
            </a:r>
            <a:r>
              <a:rPr lang="bg-BG" sz="3600" dirty="0"/>
              <a:t> в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600" dirty="0"/>
              <a:t>Запазваме </a:t>
            </a:r>
            <a:r>
              <a:rPr lang="bg-BG" sz="3600" b="1" dirty="0"/>
              <a:t>промените</a:t>
            </a:r>
            <a:r>
              <a:rPr lang="bg-BG" sz="3600" dirty="0"/>
              <a:t> във </a:t>
            </a:r>
            <a:r>
              <a:rPr lang="bg-BG" sz="3600" b="1" dirty="0"/>
              <a:t>файла</a:t>
            </a:r>
            <a:endParaRPr lang="en-BG" sz="36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съдържание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04438" y="2614887"/>
            <a:ext cx="11183124" cy="403187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>
              <a:lnSpc>
                <a:spcPct val="100000"/>
              </a:lnSpc>
            </a:pP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&lt;header&gt;</a:t>
            </a:r>
          </a:p>
          <a:p>
            <a:pPr>
              <a:lnSpc>
                <a:spcPct val="100000"/>
              </a:lnSpc>
            </a:pPr>
            <a:r>
              <a:rPr lang="en-GB" sz="32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3200" b="1" noProof="1">
                <a:latin typeface="Consolas" panose="020B0609020204030204" pitchFamily="49" charset="0"/>
                <a:cs typeface="Consolas" panose="020B0609020204030204" pitchFamily="49" charset="0"/>
              </a:rPr>
              <a:t>Здравей, свят!</a:t>
            </a:r>
            <a:r>
              <a:rPr lang="bg-BG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>
              <a:lnSpc>
                <a:spcPct val="100000"/>
              </a:lnSpc>
            </a:pP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&lt;/header&gt;</a:t>
            </a:r>
          </a:p>
          <a:p>
            <a:pPr>
              <a:lnSpc>
                <a:spcPct val="100000"/>
              </a:lnSpc>
            </a:pP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&lt;main&gt;</a:t>
            </a:r>
          </a:p>
          <a:p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32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моята първа уеб страница.</a:t>
            </a:r>
            <a:r>
              <a:rPr lang="bg-BG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32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&lt;/main&gt;</a:t>
            </a:r>
            <a:endParaRPr lang="en-GB" sz="32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199806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Отваряме </a:t>
            </a:r>
            <a:r>
              <a:rPr lang="bg-BG" sz="3600" b="1" dirty="0">
                <a:solidFill>
                  <a:schemeClr val="bg1"/>
                </a:solidFill>
              </a:rPr>
              <a:t>файла</a:t>
            </a:r>
            <a:r>
              <a:rPr lang="bg-BG" sz="3600" dirty="0"/>
              <a:t> в </a:t>
            </a:r>
            <a:r>
              <a:rPr lang="bg-BG" sz="3600" b="1" dirty="0"/>
              <a:t>уеб браузър</a:t>
            </a:r>
            <a:endParaRPr lang="en-BG" sz="3600" b="1" dirty="0">
              <a:highlight>
                <a:srgbClr val="FFFF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691AD-4963-9D9B-7CF2-AB3F17B12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885" y="3983955"/>
            <a:ext cx="6671245" cy="252324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9B6EE877-175F-02EF-495A-359CE62F9353}"/>
              </a:ext>
            </a:extLst>
          </p:cNvPr>
          <p:cNvSpPr/>
          <p:nvPr/>
        </p:nvSpPr>
        <p:spPr>
          <a:xfrm rot="1882093">
            <a:off x="3372884" y="3270094"/>
            <a:ext cx="1523437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B0903-280D-BD7F-18A6-8100344BE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000" y="1884240"/>
            <a:ext cx="6769100" cy="1168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4560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 </a:t>
            </a:r>
            <a:r>
              <a:rPr lang="bg-BG" sz="2800" dirty="0"/>
              <a:t>=</a:t>
            </a:r>
            <a:r>
              <a:rPr lang="en-US" sz="2800" dirty="0"/>
              <a:t>= </a:t>
            </a:r>
            <a:r>
              <a:rPr lang="bg-BG" sz="2800" b="1" dirty="0"/>
              <a:t>маркиращ език </a:t>
            </a:r>
            <a:r>
              <a:rPr lang="bg-BG" sz="2800" dirty="0"/>
              <a:t>за </a:t>
            </a:r>
            <a:r>
              <a:rPr lang="bg-BG" sz="2800" b="1" dirty="0"/>
              <a:t>създаване</a:t>
            </a:r>
            <a:r>
              <a:rPr lang="bg-BG" sz="2800" dirty="0"/>
              <a:t> на </a:t>
            </a:r>
            <a:r>
              <a:rPr lang="bg-BG" sz="2800" b="1" dirty="0"/>
              <a:t>уеб страници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Таг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>
                <a:solidFill>
                  <a:schemeClr val="bg2">
                    <a:lumMod val="95000"/>
                  </a:schemeClr>
                </a:solidFill>
              </a:rPr>
              <a:t>== </a:t>
            </a:r>
            <a:r>
              <a:rPr lang="bg-BG" sz="2800" b="1" dirty="0">
                <a:solidFill>
                  <a:schemeClr val="bg2">
                    <a:lumMod val="95000"/>
                  </a:schemeClr>
                </a:solidFill>
              </a:rPr>
              <a:t>маркиращи конструкции</a:t>
            </a:r>
            <a:r>
              <a:rPr lang="bg-BG" sz="2800" dirty="0">
                <a:solidFill>
                  <a:schemeClr val="bg2">
                    <a:lumMod val="95000"/>
                  </a:schemeClr>
                </a:solidFill>
              </a:rPr>
              <a:t>, които определят </a:t>
            </a:r>
            <a:r>
              <a:rPr lang="bg-BG" sz="2800" b="1" dirty="0">
                <a:solidFill>
                  <a:schemeClr val="bg2">
                    <a:lumMod val="95000"/>
                  </a:schemeClr>
                </a:solidFill>
              </a:rPr>
              <a:t>типа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Елемент </a:t>
            </a:r>
            <a:r>
              <a:rPr lang="en-US" sz="2800" dirty="0">
                <a:solidFill>
                  <a:schemeClr val="bg2"/>
                </a:solidFill>
              </a:rPr>
              <a:t>== </a:t>
            </a:r>
            <a:r>
              <a:rPr lang="bg-BG" sz="2800" b="1" dirty="0">
                <a:solidFill>
                  <a:schemeClr val="bg2"/>
                </a:solidFill>
              </a:rPr>
              <a:t>пълната конструкция </a:t>
            </a:r>
            <a:r>
              <a:rPr lang="bg-BG" sz="2800" dirty="0">
                <a:solidFill>
                  <a:schemeClr val="bg2"/>
                </a:solidFill>
              </a:rPr>
              <a:t>от </a:t>
            </a:r>
            <a:r>
              <a:rPr lang="bg-BG" sz="2800" b="1" dirty="0">
                <a:solidFill>
                  <a:schemeClr val="bg2"/>
                </a:solidFill>
              </a:rPr>
              <a:t>таг </a:t>
            </a:r>
            <a:r>
              <a:rPr lang="bg-BG" sz="2800" dirty="0">
                <a:solidFill>
                  <a:schemeClr val="bg2"/>
                </a:solidFill>
              </a:rPr>
              <a:t>и</a:t>
            </a:r>
            <a:r>
              <a:rPr lang="bg-BG" sz="2800" b="1" dirty="0">
                <a:solidFill>
                  <a:schemeClr val="bg2"/>
                </a:solidFill>
              </a:rPr>
              <a:t>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Атрибут </a:t>
            </a:r>
            <a:r>
              <a:rPr lang="bg-BG" sz="2800" dirty="0"/>
              <a:t>=</a:t>
            </a:r>
            <a:r>
              <a:rPr lang="en-US" sz="2800" dirty="0"/>
              <a:t>= </a:t>
            </a:r>
            <a:r>
              <a:rPr lang="bg-BG" sz="2800" b="1" dirty="0"/>
              <a:t>допълнителната информация </a:t>
            </a:r>
            <a:r>
              <a:rPr lang="bg-BG" sz="2800" dirty="0"/>
              <a:t>за </a:t>
            </a:r>
            <a:r>
              <a:rPr lang="bg-BG" sz="2800" b="1" dirty="0"/>
              <a:t>елементите</a:t>
            </a:r>
            <a:endParaRPr lang="bg-BG" sz="2800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Структурни тагове </a:t>
            </a:r>
            <a:r>
              <a:rPr lang="en-US" sz="2800" dirty="0"/>
              <a:t>== </a:t>
            </a:r>
            <a:r>
              <a:rPr lang="bg-BG" sz="2800" dirty="0"/>
              <a:t>изграждат </a:t>
            </a:r>
            <a:r>
              <a:rPr lang="bg-BG" sz="2800" b="1" dirty="0"/>
              <a:t>основната рамка </a:t>
            </a:r>
            <a:r>
              <a:rPr lang="bg-BG" sz="2800" dirty="0"/>
              <a:t>на </a:t>
            </a:r>
            <a:r>
              <a:rPr lang="en-US" sz="2800" b="1" dirty="0"/>
              <a:t>HTML</a:t>
            </a:r>
            <a:r>
              <a:rPr lang="en-US" sz="2800" dirty="0"/>
              <a:t> </a:t>
            </a:r>
            <a:r>
              <a:rPr lang="bg-BG" sz="2800" b="1" dirty="0"/>
              <a:t>документа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Мета тагове </a:t>
            </a:r>
            <a:r>
              <a:rPr lang="bg-BG" sz="2800" dirty="0">
                <a:solidFill>
                  <a:schemeClr val="bg2"/>
                </a:solidFill>
              </a:rPr>
              <a:t>=</a:t>
            </a:r>
            <a:r>
              <a:rPr lang="en-US" sz="2800" dirty="0">
                <a:solidFill>
                  <a:schemeClr val="bg2"/>
                </a:solidFill>
              </a:rPr>
              <a:t>=</a:t>
            </a:r>
            <a:r>
              <a:rPr lang="bg-BG" sz="2800" dirty="0">
                <a:solidFill>
                  <a:schemeClr val="bg2"/>
                </a:solidFill>
              </a:rPr>
              <a:t> съдържат</a:t>
            </a:r>
            <a:r>
              <a:rPr lang="bg-BG" sz="2800" b="1" dirty="0">
                <a:solidFill>
                  <a:schemeClr val="bg2"/>
                </a:solidFill>
              </a:rPr>
              <a:t> информация </a:t>
            </a:r>
            <a:r>
              <a:rPr lang="bg-BG" sz="2800" dirty="0">
                <a:solidFill>
                  <a:schemeClr val="bg2"/>
                </a:solidFill>
              </a:rPr>
              <a:t>за</a:t>
            </a:r>
            <a:r>
              <a:rPr lang="bg-BG" sz="2800" b="1" dirty="0">
                <a:solidFill>
                  <a:schemeClr val="bg2"/>
                </a:solidFill>
              </a:rPr>
              <a:t> уеб страницата</a:t>
            </a:r>
            <a:endParaRPr lang="en-US" sz="2800" b="1" dirty="0"/>
          </a:p>
          <a:p>
            <a:pPr marL="360363" indent="-360363" fontAlgn="base"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дърво </a:t>
            </a:r>
            <a:r>
              <a:rPr lang="bg-BG" sz="2800" b="1" dirty="0"/>
              <a:t>(D</a:t>
            </a:r>
            <a:r>
              <a:rPr lang="en-US" sz="2800" b="1" dirty="0"/>
              <a:t>OM)</a:t>
            </a:r>
            <a:r>
              <a:rPr lang="bg-BG" sz="2800" b="1" dirty="0"/>
              <a:t> </a:t>
            </a:r>
            <a:r>
              <a:rPr lang="bg-BG" sz="2800" dirty="0"/>
              <a:t>==</a:t>
            </a:r>
            <a:r>
              <a:rPr lang="en-US" sz="2800" b="1" dirty="0"/>
              <a:t> </a:t>
            </a:r>
            <a:r>
              <a:rPr lang="bg-BG" sz="2800" b="1" dirty="0"/>
              <a:t>структурата</a:t>
            </a:r>
            <a:r>
              <a:rPr lang="bg-BG" sz="2800" dirty="0"/>
              <a:t> на </a:t>
            </a:r>
            <a:r>
              <a:rPr lang="en-US" sz="2800" b="1" dirty="0"/>
              <a:t>HTML </a:t>
            </a:r>
            <a:r>
              <a:rPr lang="bg-BG" sz="2800" b="1" dirty="0"/>
              <a:t>страницата</a:t>
            </a:r>
            <a:endParaRPr lang="bg-BG" sz="2800" b="1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42246</TotalTime>
  <Words>1880</Words>
  <Application>Microsoft Macintosh PowerPoint</Application>
  <PresentationFormat>Widescreen</PresentationFormat>
  <Paragraphs>360</Paragraphs>
  <Slides>44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Consolas</vt:lpstr>
      <vt:lpstr>Wingdings</vt:lpstr>
      <vt:lpstr>SoftUni</vt:lpstr>
      <vt:lpstr>Основи на HTML</vt:lpstr>
      <vt:lpstr>Съдържание</vt:lpstr>
      <vt:lpstr>HTML</vt:lpstr>
      <vt:lpstr>HTML</vt:lpstr>
      <vt:lpstr>Роля на HTML</vt:lpstr>
      <vt:lpstr>Основни компоненти на HTML</vt:lpstr>
      <vt:lpstr>Тагове (1)</vt:lpstr>
      <vt:lpstr>Тагове (2)</vt:lpstr>
      <vt:lpstr>Отварящи и затварящи тагове</vt:lpstr>
      <vt:lpstr>Самозатварящи се тагове</vt:lpstr>
      <vt:lpstr>Елементи</vt:lpstr>
      <vt:lpstr>Атрибути</vt:lpstr>
      <vt:lpstr>Елементи, тагове и атрибути</vt:lpstr>
      <vt:lpstr>Контейнери и атрибути за групиране</vt:lpstr>
      <vt:lpstr>Контейнери</vt:lpstr>
      <vt:lpstr>Атрибути за групиране</vt:lpstr>
      <vt:lpstr>Семантичен HTML (1)</vt:lpstr>
      <vt:lpstr>Семантичен HTML (2)</vt:lpstr>
      <vt:lpstr>Семантичен HTML (3)</vt:lpstr>
      <vt:lpstr>Семантичен HTML – Структура на уеб страница</vt:lpstr>
      <vt:lpstr>Семантичен HTML – Примерна схема</vt:lpstr>
      <vt:lpstr>Семантичен HTML – Примерно решение (1)</vt:lpstr>
      <vt:lpstr>Семантичен HTML – Примерно решение (2)</vt:lpstr>
      <vt:lpstr>Семантичен HTML – Примерно решение (3)</vt:lpstr>
      <vt:lpstr>Структурни тагове</vt:lpstr>
      <vt:lpstr>Структурни тагове</vt:lpstr>
      <vt:lpstr>Основни структурни тагове (1)</vt:lpstr>
      <vt:lpstr>Основни структурни тагове (2)</vt:lpstr>
      <vt:lpstr>Мета тагове</vt:lpstr>
      <vt:lpstr>Основни видове мета тагове (1)</vt:lpstr>
      <vt:lpstr>Основни видове мета тагове (2)</vt:lpstr>
      <vt:lpstr>Примерна структура на HTML документ</vt:lpstr>
      <vt:lpstr>HTML дърво</vt:lpstr>
      <vt:lpstr>HTML дърво (DOM)</vt:lpstr>
      <vt:lpstr>Основни характеристики на HTML дървото (DOM)</vt:lpstr>
      <vt:lpstr>Пример за HTML дърво (DOM)</vt:lpstr>
      <vt:lpstr>Пример</vt:lpstr>
      <vt:lpstr>Създаване на първа HTML уеб страница</vt:lpstr>
      <vt:lpstr>Добавяне на основна структура</vt:lpstr>
      <vt:lpstr>Добавяне на съдържание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на HTML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438</cp:revision>
  <dcterms:created xsi:type="dcterms:W3CDTF">2018-05-23T13:08:44Z</dcterms:created>
  <dcterms:modified xsi:type="dcterms:W3CDTF">2026-09-04T11:46:13Z</dcterms:modified>
  <cp:category/>
</cp:coreProperties>
</file>