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2"/>
  </p:notesMasterIdLst>
  <p:handoutMasterIdLst>
    <p:handoutMasterId r:id="rId33"/>
  </p:handoutMasterIdLst>
  <p:sldIdLst>
    <p:sldId id="503" r:id="rId2"/>
    <p:sldId id="276" r:id="rId3"/>
    <p:sldId id="353" r:id="rId4"/>
    <p:sldId id="880" r:id="rId5"/>
    <p:sldId id="871" r:id="rId6"/>
    <p:sldId id="610" r:id="rId7"/>
    <p:sldId id="869" r:id="rId8"/>
    <p:sldId id="878" r:id="rId9"/>
    <p:sldId id="875" r:id="rId10"/>
    <p:sldId id="883" r:id="rId11"/>
    <p:sldId id="867" r:id="rId12"/>
    <p:sldId id="870" r:id="rId13"/>
    <p:sldId id="874" r:id="rId14"/>
    <p:sldId id="616" r:id="rId15"/>
    <p:sldId id="868" r:id="rId16"/>
    <p:sldId id="876" r:id="rId17"/>
    <p:sldId id="872" r:id="rId18"/>
    <p:sldId id="879" r:id="rId19"/>
    <p:sldId id="881" r:id="rId20"/>
    <p:sldId id="882" r:id="rId21"/>
    <p:sldId id="877" r:id="rId22"/>
    <p:sldId id="654" r:id="rId23"/>
    <p:sldId id="884" r:id="rId24"/>
    <p:sldId id="885" r:id="rId25"/>
    <p:sldId id="886" r:id="rId26"/>
    <p:sldId id="887" r:id="rId27"/>
    <p:sldId id="888" r:id="rId28"/>
    <p:sldId id="633" r:id="rId29"/>
    <p:sldId id="504" r:id="rId30"/>
    <p:sldId id="50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HTML" id="{66DCFE1F-60FD-44F2-BE82-706DDBC14898}">
          <p14:sldIdLst>
            <p14:sldId id="353"/>
            <p14:sldId id="880"/>
            <p14:sldId id="871"/>
          </p14:sldIdLst>
        </p14:section>
        <p14:section name="Основни части на HTML" id="{EB44CA50-B176-0C4C-B0D0-5459023C7783}">
          <p14:sldIdLst>
            <p14:sldId id="610"/>
            <p14:sldId id="869"/>
            <p14:sldId id="878"/>
            <p14:sldId id="875"/>
            <p14:sldId id="883"/>
            <p14:sldId id="867"/>
            <p14:sldId id="870"/>
            <p14:sldId id="874"/>
          </p14:sldIdLst>
        </p14:section>
        <p14:section name="Структурни тагове" id="{2B3E1915-4BA2-9447-BC07-AE658EE7EC35}">
          <p14:sldIdLst>
            <p14:sldId id="616"/>
            <p14:sldId id="868"/>
            <p14:sldId id="876"/>
            <p14:sldId id="872"/>
            <p14:sldId id="879"/>
            <p14:sldId id="881"/>
            <p14:sldId id="882"/>
            <p14:sldId id="877"/>
          </p14:sldIdLst>
        </p14:section>
        <p14:section name="Демо" id="{276EAB92-AF41-DD42-AFD3-D1ABB239E1A7}">
          <p14:sldIdLst>
            <p14:sldId id="654"/>
            <p14:sldId id="884"/>
            <p14:sldId id="885"/>
            <p14:sldId id="886"/>
            <p14:sldId id="887"/>
            <p14:sldId id="888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845" autoAdjust="0"/>
    <p:restoredTop sz="95427" autoAdjust="0"/>
  </p:normalViewPr>
  <p:slideViewPr>
    <p:cSldViewPr showGuides="1">
      <p:cViewPr varScale="1">
        <p:scale>
          <a:sx n="96" d="100"/>
          <a:sy n="96" d="100"/>
        </p:scale>
        <p:origin x="176" y="432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8/10/relationships/authors" Target="authors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10.02.26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4400" dirty="0"/>
              <a:t>Основни компоненти на </a:t>
            </a:r>
            <a:r>
              <a:rPr lang="en-US" sz="4400" dirty="0"/>
              <a:t>HTML</a:t>
            </a:r>
            <a:endParaRPr lang="bg-BG" sz="4400" dirty="0"/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6600" dirty="0"/>
              <a:t>Основи на </a:t>
            </a:r>
            <a:r>
              <a:rPr lang="en-US" sz="6600" dirty="0"/>
              <a:t>HTML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9E0636FF-9DFF-1E3C-B648-B7D58C2CC7D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90123" y="3400017"/>
            <a:ext cx="5248260" cy="2188983"/>
          </a:xfr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92500" lnSpcReduction="10000"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HTML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Въведение</a:t>
            </a:r>
            <a:r>
              <a:rPr lang="bg-BG" sz="3600" dirty="0"/>
              <a:t> и </a:t>
            </a:r>
            <a:r>
              <a:rPr lang="bg-BG" sz="3600" b="1" dirty="0"/>
              <a:t>роля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​​</a:t>
            </a:r>
            <a:r>
              <a:rPr lang="bg-BG" sz="3800" b="1" dirty="0">
                <a:solidFill>
                  <a:schemeClr val="bg1"/>
                </a:solidFill>
              </a:rPr>
              <a:t>Основни</a:t>
            </a:r>
            <a:r>
              <a:rPr lang="bg-BG" sz="3800" dirty="0">
                <a:solidFill>
                  <a:schemeClr val="bg1"/>
                </a:solidFill>
              </a:rPr>
              <a:t> </a:t>
            </a:r>
            <a:r>
              <a:rPr lang="bg-BG" sz="3800" b="1" dirty="0">
                <a:solidFill>
                  <a:schemeClr val="bg1"/>
                </a:solidFill>
              </a:rPr>
              <a:t>компоненти</a:t>
            </a:r>
            <a:r>
              <a:rPr lang="bg-BG" sz="3800" dirty="0">
                <a:solidFill>
                  <a:schemeClr val="bg1"/>
                </a:solidFill>
              </a:rPr>
              <a:t> </a:t>
            </a:r>
            <a:r>
              <a:rPr lang="bg-BG" sz="3800" dirty="0"/>
              <a:t>на</a:t>
            </a:r>
            <a:r>
              <a:rPr lang="en-US" sz="3800" dirty="0"/>
              <a:t> </a:t>
            </a:r>
            <a:r>
              <a:rPr lang="en-US" sz="3800" b="1" dirty="0">
                <a:solidFill>
                  <a:schemeClr val="bg1"/>
                </a:solidFill>
              </a:rPr>
              <a:t>HTML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Тагове</a:t>
            </a:r>
            <a:r>
              <a:rPr lang="bg-BG" sz="3600" dirty="0"/>
              <a:t>, </a:t>
            </a:r>
            <a:r>
              <a:rPr lang="bg-BG" sz="3600" b="1" dirty="0"/>
              <a:t>елементи</a:t>
            </a:r>
            <a:r>
              <a:rPr lang="bg-BG" sz="3600" dirty="0"/>
              <a:t>, </a:t>
            </a:r>
            <a:r>
              <a:rPr lang="bg-BG" sz="3600" b="1" dirty="0"/>
              <a:t>атрибути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Структурни тагове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структурни тагове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Примерна структура </a:t>
            </a:r>
            <a:r>
              <a:rPr lang="bg-BG" sz="3600" dirty="0"/>
              <a:t>на </a:t>
            </a:r>
            <a:r>
              <a:rPr lang="en-US" sz="3600" b="1" dirty="0"/>
              <a:t>HTML </a:t>
            </a:r>
            <a:r>
              <a:rPr lang="bg-BG" sz="3600" b="1" dirty="0"/>
              <a:t>страница</a:t>
            </a:r>
            <a:endParaRPr lang="en-US" sz="3600" b="1" dirty="0"/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en-US" sz="3800" dirty="0">
                <a:solidFill>
                  <a:schemeClr val="bg1"/>
                </a:solidFill>
              </a:rPr>
              <a:t>​</a:t>
            </a:r>
            <a:r>
              <a:rPr lang="bg-BG" sz="3800" dirty="0">
                <a:highlight>
                  <a:srgbClr val="FFFF00"/>
                </a:highlight>
              </a:rPr>
              <a:t>​​​</a:t>
            </a:r>
            <a:r>
              <a:rPr lang="bg-BG" sz="3800" b="1" dirty="0"/>
              <a:t>Пример: </a:t>
            </a:r>
            <a:r>
              <a:rPr lang="bg-BG" sz="3800" dirty="0"/>
              <a:t>Създаване на първа </a:t>
            </a:r>
            <a:r>
              <a:rPr lang="en-US" sz="3800" dirty="0"/>
              <a:t>HTML </a:t>
            </a:r>
            <a:r>
              <a:rPr lang="bg-BG" sz="3800" dirty="0"/>
              <a:t>уеб страница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Въведение и роля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US" sz="6000" dirty="0"/>
              <a:t>HTML</a:t>
            </a:r>
          </a:p>
        </p:txBody>
      </p:sp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GB" sz="3200" b="1" dirty="0">
                <a:solidFill>
                  <a:schemeClr val="bg1"/>
                </a:solidFill>
              </a:rPr>
              <a:t>HTML</a:t>
            </a:r>
            <a:r>
              <a:rPr lang="en-GB" sz="3200" b="1" dirty="0"/>
              <a:t> (</a:t>
            </a:r>
            <a:r>
              <a:rPr lang="en-GB" sz="3200" b="1" dirty="0">
                <a:solidFill>
                  <a:schemeClr val="bg1"/>
                </a:solidFill>
              </a:rPr>
              <a:t>H</a:t>
            </a:r>
            <a:r>
              <a:rPr lang="en-GB" sz="3200" b="1" dirty="0"/>
              <a:t>yper</a:t>
            </a:r>
            <a:r>
              <a:rPr lang="en-GB" sz="3200" b="1" dirty="0">
                <a:solidFill>
                  <a:schemeClr val="bg1"/>
                </a:solidFill>
              </a:rPr>
              <a:t>T</a:t>
            </a:r>
            <a:r>
              <a:rPr lang="en-GB" sz="3200" b="1" dirty="0"/>
              <a:t>ext </a:t>
            </a:r>
            <a:r>
              <a:rPr lang="en-GB" sz="3200" b="1" dirty="0">
                <a:solidFill>
                  <a:schemeClr val="bg1"/>
                </a:solidFill>
              </a:rPr>
              <a:t>M</a:t>
            </a:r>
            <a:r>
              <a:rPr lang="en-GB" sz="3200" b="1" dirty="0"/>
              <a:t>arkup </a:t>
            </a:r>
            <a:r>
              <a:rPr lang="en-GB" sz="3200" b="1" dirty="0">
                <a:solidFill>
                  <a:schemeClr val="bg1"/>
                </a:solidFill>
              </a:rPr>
              <a:t>L</a:t>
            </a:r>
            <a:r>
              <a:rPr lang="en-GB" sz="3200" b="1" dirty="0"/>
              <a:t>anguage) </a:t>
            </a:r>
            <a:r>
              <a:rPr lang="bg-BG" sz="3200" dirty="0"/>
              <a:t>е </a:t>
            </a:r>
            <a:r>
              <a:rPr lang="bg-BG" sz="3200" b="1" dirty="0">
                <a:solidFill>
                  <a:schemeClr val="bg1"/>
                </a:solidFill>
              </a:rPr>
              <a:t>маркиращ език </a:t>
            </a:r>
            <a:r>
              <a:rPr lang="bg-BG" sz="3200" dirty="0"/>
              <a:t>за </a:t>
            </a:r>
            <a:r>
              <a:rPr lang="bg-BG" sz="3200" b="1" dirty="0"/>
              <a:t>създаване</a:t>
            </a:r>
            <a:r>
              <a:rPr lang="bg-BG" sz="3200" dirty="0"/>
              <a:t> и </a:t>
            </a:r>
            <a:r>
              <a:rPr lang="bg-BG" sz="3200" b="1" dirty="0"/>
              <a:t>структуриране</a:t>
            </a:r>
            <a:r>
              <a:rPr lang="bg-BG" sz="3200" dirty="0"/>
              <a:t> на </a:t>
            </a:r>
            <a:r>
              <a:rPr lang="bg-BG" sz="3200" b="1" dirty="0"/>
              <a:t>уеб страници</a:t>
            </a:r>
          </a:p>
          <a:p>
            <a:r>
              <a:rPr lang="bg-BG" sz="3200" dirty="0"/>
              <a:t>Описва </a:t>
            </a:r>
            <a:r>
              <a:rPr lang="bg-BG" sz="3200" b="1" dirty="0"/>
              <a:t>съдържанието</a:t>
            </a:r>
            <a:r>
              <a:rPr lang="bg-BG" sz="3200" dirty="0"/>
              <a:t> чрез специални </a:t>
            </a:r>
            <a:r>
              <a:rPr lang="bg-BG" sz="3200" b="1" dirty="0">
                <a:solidFill>
                  <a:schemeClr val="bg1"/>
                </a:solidFill>
              </a:rPr>
              <a:t>тагове</a:t>
            </a:r>
            <a:r>
              <a:rPr lang="bg-BG" sz="3200" dirty="0"/>
              <a:t>, които </a:t>
            </a:r>
            <a:r>
              <a:rPr lang="bg-BG" sz="3200" b="1" dirty="0"/>
              <a:t>браузърът</a:t>
            </a:r>
            <a:r>
              <a:rPr lang="bg-BG" sz="3200" dirty="0"/>
              <a:t> </a:t>
            </a:r>
            <a:r>
              <a:rPr lang="bg-BG" sz="3200" b="1" dirty="0"/>
              <a:t>разпознава</a:t>
            </a:r>
            <a:r>
              <a:rPr lang="bg-BG" sz="3200" dirty="0"/>
              <a:t> и </a:t>
            </a:r>
            <a:r>
              <a:rPr lang="bg-BG" sz="3200" b="1" dirty="0"/>
              <a:t>визуализира</a:t>
            </a:r>
          </a:p>
          <a:p>
            <a:r>
              <a:rPr lang="en-US" sz="3200" b="1" i="1" u="sng" dirty="0">
                <a:solidFill>
                  <a:schemeClr val="bg1"/>
                </a:solidFill>
              </a:rPr>
              <a:t>HTML </a:t>
            </a:r>
            <a:r>
              <a:rPr lang="bg-BG" sz="3200" b="1" i="1" u="sng" dirty="0">
                <a:solidFill>
                  <a:schemeClr val="bg1"/>
                </a:solidFill>
              </a:rPr>
              <a:t>не е програмен език!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957606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4D2E3B-82C0-9F61-91B3-1B35300C9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CCC14D-B6E2-9F46-2064-E507E12B0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/>
              <a:t>Описва</a:t>
            </a:r>
            <a:r>
              <a:rPr lang="bg-BG" b="1" dirty="0">
                <a:solidFill>
                  <a:schemeClr val="bg1"/>
                </a:solidFill>
              </a:rPr>
              <a:t> съдържанието</a:t>
            </a:r>
            <a:r>
              <a:rPr lang="bg-BG" dirty="0">
                <a:solidFill>
                  <a:schemeClr val="bg1"/>
                </a:solidFill>
              </a:rPr>
              <a:t> </a:t>
            </a:r>
            <a:r>
              <a:rPr lang="bg-BG" dirty="0"/>
              <a:t>на </a:t>
            </a:r>
            <a:r>
              <a:rPr lang="bg-BG" b="1" dirty="0"/>
              <a:t>уеб страницата</a:t>
            </a:r>
          </a:p>
          <a:p>
            <a:r>
              <a:rPr lang="bg-BG" b="1" dirty="0"/>
              <a:t>Определя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логическата структура </a:t>
            </a:r>
            <a:r>
              <a:rPr lang="bg-BG" dirty="0"/>
              <a:t>на </a:t>
            </a:r>
            <a:r>
              <a:rPr lang="bg-BG" b="1" dirty="0"/>
              <a:t>документа</a:t>
            </a:r>
          </a:p>
          <a:p>
            <a:r>
              <a:rPr lang="bg-BG" b="1" dirty="0"/>
              <a:t>Служи</a:t>
            </a:r>
            <a:r>
              <a:rPr lang="bg-BG" dirty="0"/>
              <a:t> като </a:t>
            </a:r>
            <a:r>
              <a:rPr lang="bg-BG" b="1" dirty="0">
                <a:solidFill>
                  <a:schemeClr val="bg1"/>
                </a:solidFill>
              </a:rPr>
              <a:t>основа</a:t>
            </a:r>
            <a:r>
              <a:rPr lang="bg-BG" dirty="0"/>
              <a:t>, върху която </a:t>
            </a:r>
            <a:r>
              <a:rPr lang="en-US" b="1" dirty="0"/>
              <a:t>CSS </a:t>
            </a:r>
            <a:r>
              <a:rPr lang="bg-BG" b="1" dirty="0"/>
              <a:t>оформя дизайна</a:t>
            </a:r>
          </a:p>
          <a:p>
            <a:r>
              <a:rPr lang="bg-BG" b="1" dirty="0">
                <a:solidFill>
                  <a:schemeClr val="bg1"/>
                </a:solidFill>
              </a:rPr>
              <a:t>Работи</a:t>
            </a:r>
            <a:r>
              <a:rPr lang="bg-BG" dirty="0">
                <a:solidFill>
                  <a:schemeClr val="bg1"/>
                </a:solidFill>
              </a:rPr>
              <a:t> </a:t>
            </a:r>
            <a:r>
              <a:rPr lang="bg-BG" b="1" dirty="0">
                <a:solidFill>
                  <a:schemeClr val="bg1"/>
                </a:solidFill>
              </a:rPr>
              <a:t>съвместно </a:t>
            </a:r>
            <a:r>
              <a:rPr lang="bg-BG" dirty="0"/>
              <a:t>с</a:t>
            </a:r>
            <a:r>
              <a:rPr lang="bg-BG" b="1" dirty="0"/>
              <a:t> </a:t>
            </a:r>
            <a:r>
              <a:rPr lang="en-US" b="1" dirty="0"/>
              <a:t>JavaScript </a:t>
            </a:r>
            <a:r>
              <a:rPr lang="bg-BG" dirty="0"/>
              <a:t>за </a:t>
            </a:r>
            <a:r>
              <a:rPr lang="bg-BG" b="1" dirty="0"/>
              <a:t>добавяне</a:t>
            </a:r>
            <a:r>
              <a:rPr lang="bg-BG" dirty="0"/>
              <a:t> на </a:t>
            </a:r>
            <a:r>
              <a:rPr lang="bg-BG" b="1" dirty="0"/>
              <a:t>интерактивност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F48D2-3FC6-5313-D86E-F47B1ED4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Роля на </a:t>
            </a:r>
            <a:r>
              <a:rPr lang="en-US" dirty="0"/>
              <a:t>HTML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399119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Тагове, елементи, атрибути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4400" dirty="0"/>
              <a:t>Основни компоненти на</a:t>
            </a:r>
            <a:r>
              <a:rPr lang="en-US" sz="4400" dirty="0"/>
              <a:t> HTML</a:t>
            </a:r>
          </a:p>
        </p:txBody>
      </p:sp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Маркиращи конструкции</a:t>
            </a:r>
          </a:p>
          <a:p>
            <a:r>
              <a:rPr lang="bg-BG" b="1" dirty="0"/>
              <a:t>Етикети</a:t>
            </a:r>
            <a:r>
              <a:rPr lang="bg-BG" dirty="0"/>
              <a:t>, заградени в </a:t>
            </a:r>
            <a:r>
              <a:rPr lang="bg-BG" b="1" dirty="0"/>
              <a:t>ъглови скоби </a:t>
            </a:r>
            <a:r>
              <a:rPr lang="bg-BG" dirty="0"/>
              <a:t>(</a:t>
            </a:r>
            <a:r>
              <a:rPr lang="bg-BG" b="1" dirty="0"/>
              <a:t>&lt; </a:t>
            </a:r>
            <a:r>
              <a:rPr lang="en-US" b="1" dirty="0"/>
              <a:t>&gt;</a:t>
            </a:r>
            <a:r>
              <a:rPr lang="en-US" dirty="0"/>
              <a:t>)</a:t>
            </a:r>
            <a:endParaRPr lang="bg-BG" dirty="0"/>
          </a:p>
          <a:p>
            <a:r>
              <a:rPr lang="bg-BG" dirty="0"/>
              <a:t>Определят </a:t>
            </a:r>
            <a:r>
              <a:rPr lang="bg-BG" b="1" dirty="0">
                <a:solidFill>
                  <a:schemeClr val="bg1"/>
                </a:solidFill>
              </a:rPr>
              <a:t>типа</a:t>
            </a:r>
            <a:r>
              <a:rPr lang="bg-BG" dirty="0"/>
              <a:t> на </a:t>
            </a:r>
            <a:r>
              <a:rPr lang="bg-BG" b="1" dirty="0"/>
              <a:t>съдържанието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Тагове (1</a:t>
            </a:r>
            <a:r>
              <a:rPr lang="en-US" dirty="0"/>
              <a:t>)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410032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Повечето тагове имат </a:t>
            </a:r>
            <a:r>
              <a:rPr lang="bg-BG" b="1" dirty="0">
                <a:solidFill>
                  <a:schemeClr val="bg1"/>
                </a:solidFill>
              </a:rPr>
              <a:t>отварящ</a:t>
            </a:r>
            <a:r>
              <a:rPr lang="bg-BG" dirty="0"/>
              <a:t> и </a:t>
            </a:r>
            <a:r>
              <a:rPr lang="bg-BG" b="1" dirty="0">
                <a:solidFill>
                  <a:schemeClr val="bg1"/>
                </a:solidFill>
              </a:rPr>
              <a:t>затварящ таг</a:t>
            </a:r>
            <a:endParaRPr lang="bg-BG" dirty="0"/>
          </a:p>
          <a:p>
            <a:r>
              <a:rPr lang="bg-BG" dirty="0"/>
              <a:t>Таговете могат да се </a:t>
            </a:r>
            <a:r>
              <a:rPr lang="bg-BG" b="1" dirty="0">
                <a:solidFill>
                  <a:schemeClr val="bg1"/>
                </a:solidFill>
              </a:rPr>
              <a:t>влагат</a:t>
            </a:r>
            <a:r>
              <a:rPr lang="bg-BG" b="1" dirty="0"/>
              <a:t> един в друг</a:t>
            </a:r>
          </a:p>
          <a:p>
            <a:pPr lvl="1"/>
            <a:r>
              <a:rPr lang="bg-BG" b="1" dirty="0"/>
              <a:t>Първият</a:t>
            </a:r>
            <a:r>
              <a:rPr lang="bg-BG" dirty="0"/>
              <a:t> отворен таг се затваря </a:t>
            </a:r>
            <a:r>
              <a:rPr lang="bg-BG" b="1" dirty="0"/>
              <a:t>последен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Тагове</a:t>
            </a:r>
            <a:r>
              <a:rPr lang="en-US" dirty="0"/>
              <a:t> (2)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521549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062F29-2E20-4D41-AEF3-F3A620EC74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0A044-E0EF-CF65-9F1D-43850DAF71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Затварящ таг</a:t>
            </a:r>
          </a:p>
          <a:p>
            <a:pPr lvl="1"/>
            <a:r>
              <a:rPr lang="bg-BG" dirty="0"/>
              <a:t>Отбелязва </a:t>
            </a:r>
            <a:r>
              <a:rPr lang="bg-BG" b="1" dirty="0"/>
              <a:t>края</a:t>
            </a:r>
            <a:r>
              <a:rPr lang="bg-BG" dirty="0"/>
              <a:t> на </a:t>
            </a:r>
            <a:r>
              <a:rPr lang="bg-BG" b="1" dirty="0"/>
              <a:t>елемента</a:t>
            </a:r>
          </a:p>
          <a:p>
            <a:pPr lvl="1"/>
            <a:r>
              <a:rPr lang="bg-BG" dirty="0"/>
              <a:t>Показва </a:t>
            </a:r>
            <a:r>
              <a:rPr lang="bg-BG" b="1" dirty="0"/>
              <a:t>къде </a:t>
            </a:r>
            <a:r>
              <a:rPr lang="bg-BG" b="1" dirty="0">
                <a:solidFill>
                  <a:schemeClr val="bg1"/>
                </a:solidFill>
              </a:rPr>
              <a:t>приключва</a:t>
            </a:r>
            <a:r>
              <a:rPr lang="bg-BG" b="1" dirty="0"/>
              <a:t> действието</a:t>
            </a:r>
            <a:r>
              <a:rPr lang="bg-BG" dirty="0"/>
              <a:t> на </a:t>
            </a:r>
            <a:r>
              <a:rPr lang="bg-BG" b="1" dirty="0"/>
              <a:t>елемента</a:t>
            </a:r>
            <a:endParaRPr lang="en-BG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A71758-C923-809F-5633-E97F3F3C6C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Отварящ таг</a:t>
            </a:r>
          </a:p>
          <a:p>
            <a:pPr lvl="1"/>
            <a:r>
              <a:rPr lang="bg-BG" dirty="0"/>
              <a:t>Отбелязва </a:t>
            </a:r>
            <a:r>
              <a:rPr lang="bg-BG" b="1" dirty="0"/>
              <a:t>началото</a:t>
            </a:r>
            <a:r>
              <a:rPr lang="bg-BG" dirty="0"/>
              <a:t> на </a:t>
            </a:r>
            <a:r>
              <a:rPr lang="bg-BG" b="1" dirty="0"/>
              <a:t>елемента</a:t>
            </a:r>
          </a:p>
          <a:p>
            <a:pPr lvl="1"/>
            <a:r>
              <a:rPr lang="bg-BG" dirty="0"/>
              <a:t>Казва на браузъра </a:t>
            </a:r>
            <a:r>
              <a:rPr lang="bg-BG" b="1" dirty="0"/>
              <a:t>какъв тип съдържание</a:t>
            </a:r>
            <a:r>
              <a:rPr lang="bg-BG" dirty="0"/>
              <a:t> </a:t>
            </a:r>
            <a:r>
              <a:rPr lang="bg-BG" b="1" dirty="0">
                <a:solidFill>
                  <a:schemeClr val="bg1"/>
                </a:solidFill>
              </a:rPr>
              <a:t>започва</a:t>
            </a:r>
            <a:endParaRPr lang="en-US" b="1" dirty="0">
              <a:solidFill>
                <a:schemeClr val="bg1"/>
              </a:solidFill>
            </a:endParaRPr>
          </a:p>
          <a:p>
            <a:pPr lvl="1"/>
            <a:endParaRPr lang="en-BG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E108387-77C5-94D2-E51E-641019A2D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Отварящи и затварящи тагове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5420F305-62FA-E84C-D622-647F5EFF74E6}"/>
              </a:ext>
            </a:extLst>
          </p:cNvPr>
          <p:cNvSpPr txBox="1">
            <a:spLocks/>
          </p:cNvSpPr>
          <p:nvPr/>
        </p:nvSpPr>
        <p:spPr>
          <a:xfrm>
            <a:off x="443201" y="4477241"/>
            <a:ext cx="5040000" cy="5232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p&gt;</a:t>
            </a:r>
            <a:endParaRPr lang="en-US" sz="24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3E66C816-8B2F-B4D0-F44F-5A9C70D1BD7F}"/>
              </a:ext>
            </a:extLst>
          </p:cNvPr>
          <p:cNvSpPr txBox="1">
            <a:spLocks/>
          </p:cNvSpPr>
          <p:nvPr/>
        </p:nvSpPr>
        <p:spPr>
          <a:xfrm>
            <a:off x="6896737" y="4499833"/>
            <a:ext cx="5040000" cy="5232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/p&gt;</a:t>
            </a:r>
            <a:endParaRPr lang="en-US" sz="24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3381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0050E9-8316-4238-E1DD-70F855312D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6B9FF28-AB2E-2517-E828-316BB0E51E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Не всички</a:t>
            </a:r>
            <a:r>
              <a:rPr lang="bg-BG" dirty="0">
                <a:solidFill>
                  <a:schemeClr val="bg1"/>
                </a:solidFill>
              </a:rPr>
              <a:t> </a:t>
            </a:r>
            <a:r>
              <a:rPr lang="en-US" b="1" dirty="0"/>
              <a:t>HTML </a:t>
            </a:r>
            <a:r>
              <a:rPr lang="bg-BG" b="1" dirty="0"/>
              <a:t>тагове </a:t>
            </a:r>
            <a:r>
              <a:rPr lang="bg-BG" dirty="0"/>
              <a:t>имат </a:t>
            </a:r>
            <a:r>
              <a:rPr lang="bg-BG" b="1" dirty="0">
                <a:solidFill>
                  <a:schemeClr val="bg1"/>
                </a:solidFill>
              </a:rPr>
              <a:t>затварящ таг</a:t>
            </a:r>
          </a:p>
          <a:p>
            <a:r>
              <a:rPr lang="bg-BG" b="1" dirty="0"/>
              <a:t>Самостоятелните елементи </a:t>
            </a:r>
            <a:r>
              <a:rPr lang="bg-BG" dirty="0"/>
              <a:t>(</a:t>
            </a:r>
            <a:r>
              <a:rPr lang="en-US" dirty="0"/>
              <a:t>void) с</a:t>
            </a:r>
            <a:r>
              <a:rPr lang="bg-BG" dirty="0"/>
              <a:t>е изписват </a:t>
            </a:r>
            <a:r>
              <a:rPr lang="bg-BG" b="1" dirty="0">
                <a:solidFill>
                  <a:schemeClr val="bg1"/>
                </a:solidFill>
              </a:rPr>
              <a:t>само веднъж</a:t>
            </a:r>
          </a:p>
          <a:p>
            <a:r>
              <a:rPr lang="bg-BG" b="1" dirty="0"/>
              <a:t>Пример</a:t>
            </a:r>
            <a:r>
              <a:rPr lang="en-US" b="1" dirty="0"/>
              <a:t>:</a:t>
            </a:r>
          </a:p>
          <a:p>
            <a:endParaRPr lang="en-BG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5BEB0C2-4FD0-9B52-1A99-816F87B13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Самозатварящи се тагове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5D2904C-A16D-E1B7-5677-0E1F18489F55}"/>
              </a:ext>
            </a:extLst>
          </p:cNvPr>
          <p:cNvSpPr txBox="1">
            <a:spLocks/>
          </p:cNvSpPr>
          <p:nvPr/>
        </p:nvSpPr>
        <p:spPr>
          <a:xfrm>
            <a:off x="681805" y="3958616"/>
            <a:ext cx="1872799" cy="5232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br&gt;</a:t>
            </a:r>
            <a:endParaRPr lang="en-US" sz="24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C3901EB9-DA58-E288-E197-54A689303469}"/>
              </a:ext>
            </a:extLst>
          </p:cNvPr>
          <p:cNvSpPr txBox="1">
            <a:spLocks/>
          </p:cNvSpPr>
          <p:nvPr/>
        </p:nvSpPr>
        <p:spPr>
          <a:xfrm>
            <a:off x="4389303" y="3960508"/>
            <a:ext cx="1872799" cy="5232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hr&gt;</a:t>
            </a:r>
            <a:endParaRPr lang="en-US" sz="24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FFD5834-A842-A75D-D3F5-09CF9982174E}"/>
              </a:ext>
            </a:extLst>
          </p:cNvPr>
          <p:cNvSpPr txBox="1">
            <a:spLocks/>
          </p:cNvSpPr>
          <p:nvPr/>
        </p:nvSpPr>
        <p:spPr>
          <a:xfrm>
            <a:off x="8096801" y="3958616"/>
            <a:ext cx="1872799" cy="5232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meta&gt;</a:t>
            </a:r>
            <a:endParaRPr lang="en-US" sz="24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34BD0C7A-53C3-C2F4-9684-4E13F4F35AA7}"/>
              </a:ext>
            </a:extLst>
          </p:cNvPr>
          <p:cNvSpPr/>
          <p:nvPr/>
        </p:nvSpPr>
        <p:spPr bwMode="auto">
          <a:xfrm>
            <a:off x="681805" y="5499000"/>
            <a:ext cx="1530000" cy="612671"/>
          </a:xfrm>
          <a:prstGeom prst="wedgeRoundRectCallout">
            <a:avLst>
              <a:gd name="adj1" fmla="val 10654"/>
              <a:gd name="adj2" fmla="val -219123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Нов ред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" name="Rounded Rectangular Callout 11">
            <a:extLst>
              <a:ext uri="{FF2B5EF4-FFF2-40B4-BE49-F238E27FC236}">
                <a16:creationId xmlns:a16="http://schemas.microsoft.com/office/drawing/2014/main" id="{50FD9A1F-1282-A785-CD17-80D32B609BD1}"/>
              </a:ext>
            </a:extLst>
          </p:cNvPr>
          <p:cNvSpPr/>
          <p:nvPr/>
        </p:nvSpPr>
        <p:spPr bwMode="auto">
          <a:xfrm>
            <a:off x="7761000" y="5499000"/>
            <a:ext cx="3683475" cy="612671"/>
          </a:xfrm>
          <a:prstGeom prst="wedgeRoundRectCallout">
            <a:avLst>
              <a:gd name="adj1" fmla="val -15438"/>
              <a:gd name="adj2" fmla="val -223449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Служебна информация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3" name="Rounded Rectangular Callout 12">
            <a:extLst>
              <a:ext uri="{FF2B5EF4-FFF2-40B4-BE49-F238E27FC236}">
                <a16:creationId xmlns:a16="http://schemas.microsoft.com/office/drawing/2014/main" id="{4829A393-1D67-786A-7200-F3F7C945A7F8}"/>
              </a:ext>
            </a:extLst>
          </p:cNvPr>
          <p:cNvSpPr/>
          <p:nvPr/>
        </p:nvSpPr>
        <p:spPr bwMode="auto">
          <a:xfrm>
            <a:off x="3261000" y="5499000"/>
            <a:ext cx="3470151" cy="612671"/>
          </a:xfrm>
          <a:prstGeom prst="wedgeRoundRectCallout">
            <a:avLst>
              <a:gd name="adj1" fmla="val 10161"/>
              <a:gd name="adj2" fmla="val -210471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Хоризонтална линия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459803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Пълната конструкция </a:t>
            </a:r>
            <a:r>
              <a:rPr lang="bg-BG" dirty="0"/>
              <a:t>от </a:t>
            </a:r>
            <a:r>
              <a:rPr lang="bg-BG" b="1" dirty="0"/>
              <a:t>отварящ таг</a:t>
            </a:r>
            <a:r>
              <a:rPr lang="bg-BG" dirty="0"/>
              <a:t>, </a:t>
            </a:r>
            <a:r>
              <a:rPr lang="bg-BG" b="1" dirty="0"/>
              <a:t>съдържание</a:t>
            </a:r>
            <a:r>
              <a:rPr lang="bg-BG" dirty="0"/>
              <a:t> и </a:t>
            </a:r>
            <a:r>
              <a:rPr lang="bg-BG" b="1" dirty="0"/>
              <a:t>затварящ таг</a:t>
            </a:r>
          </a:p>
          <a:p>
            <a:r>
              <a:rPr lang="bg-BG" dirty="0"/>
              <a:t>Цялата </a:t>
            </a:r>
            <a:r>
              <a:rPr lang="en-US" b="1" dirty="0"/>
              <a:t>HTML </a:t>
            </a:r>
            <a:r>
              <a:rPr lang="bg-BG" b="1" dirty="0"/>
              <a:t>страница </a:t>
            </a:r>
            <a:r>
              <a:rPr lang="bg-BG" dirty="0"/>
              <a:t>е </a:t>
            </a:r>
            <a:r>
              <a:rPr lang="bg-BG" b="1" dirty="0">
                <a:solidFill>
                  <a:schemeClr val="bg1"/>
                </a:solidFill>
              </a:rPr>
              <a:t>изградена</a:t>
            </a:r>
            <a:r>
              <a:rPr lang="bg-BG" dirty="0"/>
              <a:t> от </a:t>
            </a:r>
            <a:r>
              <a:rPr lang="bg-BG" b="1" dirty="0">
                <a:solidFill>
                  <a:schemeClr val="bg1"/>
                </a:solidFill>
              </a:rPr>
              <a:t>елементи</a:t>
            </a:r>
          </a:p>
          <a:p>
            <a:r>
              <a:rPr lang="bg-BG" b="1" dirty="0"/>
              <a:t>Пример</a:t>
            </a:r>
            <a:r>
              <a:rPr lang="en-US" b="1" dirty="0"/>
              <a:t>:</a:t>
            </a:r>
            <a:r>
              <a:rPr lang="bg-BG" b="1" dirty="0"/>
              <a:t>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Елементи</a:t>
            </a:r>
            <a:endParaRPr lang="en-BG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A5424F-59C0-C226-0741-966B2A438C24}"/>
              </a:ext>
            </a:extLst>
          </p:cNvPr>
          <p:cNvSpPr txBox="1">
            <a:spLocks/>
          </p:cNvSpPr>
          <p:nvPr/>
        </p:nvSpPr>
        <p:spPr>
          <a:xfrm>
            <a:off x="3159750" y="4698794"/>
            <a:ext cx="5040000" cy="5232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p&gt;</a:t>
            </a: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Това е параграф.&lt;</a:t>
            </a:r>
            <a:r>
              <a:rPr lang="en-US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r>
              <a:rPr lang="en-US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endParaRPr lang="en-US" sz="2400" b="1" noProof="1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Rounded Rectangular Callout 7">
            <a:extLst>
              <a:ext uri="{FF2B5EF4-FFF2-40B4-BE49-F238E27FC236}">
                <a16:creationId xmlns:a16="http://schemas.microsoft.com/office/drawing/2014/main" id="{66128866-E8A6-24B6-B4C3-EE6345A4E3E0}"/>
              </a:ext>
            </a:extLst>
          </p:cNvPr>
          <p:cNvSpPr/>
          <p:nvPr/>
        </p:nvSpPr>
        <p:spPr bwMode="auto">
          <a:xfrm>
            <a:off x="3234587" y="5747506"/>
            <a:ext cx="5040000" cy="612671"/>
          </a:xfrm>
          <a:prstGeom prst="wedgeRoundRectCallout">
            <a:avLst>
              <a:gd name="adj1" fmla="val -18456"/>
              <a:gd name="adj2" fmla="val -126113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Целият ред е</a:t>
            </a:r>
            <a:r>
              <a:rPr lang="en-US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HTML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елемент</a:t>
            </a:r>
            <a:endParaRPr lang="en-BG" sz="2600" b="1" dirty="0">
              <a:solidFill>
                <a:schemeClr val="accent1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Rounded Rectangular Callout 8">
            <a:extLst>
              <a:ext uri="{FF2B5EF4-FFF2-40B4-BE49-F238E27FC236}">
                <a16:creationId xmlns:a16="http://schemas.microsoft.com/office/drawing/2014/main" id="{EC473D20-6423-8090-6A3E-0F978F0BE97D}"/>
              </a:ext>
            </a:extLst>
          </p:cNvPr>
          <p:cNvSpPr/>
          <p:nvPr/>
        </p:nvSpPr>
        <p:spPr bwMode="auto">
          <a:xfrm>
            <a:off x="3452251" y="3789000"/>
            <a:ext cx="1125000" cy="612671"/>
          </a:xfrm>
          <a:prstGeom prst="wedgeRoundRectCallout">
            <a:avLst>
              <a:gd name="adj1" fmla="val -25607"/>
              <a:gd name="adj2" fmla="val 11830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Таг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Rounded Rectangular Callout 9">
            <a:extLst>
              <a:ext uri="{FF2B5EF4-FFF2-40B4-BE49-F238E27FC236}">
                <a16:creationId xmlns:a16="http://schemas.microsoft.com/office/drawing/2014/main" id="{C1C027F6-4336-CA43-E429-25BB53DCEF78}"/>
              </a:ext>
            </a:extLst>
          </p:cNvPr>
          <p:cNvSpPr/>
          <p:nvPr/>
        </p:nvSpPr>
        <p:spPr bwMode="auto">
          <a:xfrm>
            <a:off x="4611000" y="3789000"/>
            <a:ext cx="2137500" cy="612671"/>
          </a:xfrm>
          <a:prstGeom prst="wedgeRoundRectCallout">
            <a:avLst>
              <a:gd name="adj1" fmla="val 7252"/>
              <a:gd name="adj2" fmla="val 118308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Съдържание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2" name="Rounded Rectangular Callout 11">
            <a:extLst>
              <a:ext uri="{FF2B5EF4-FFF2-40B4-BE49-F238E27FC236}">
                <a16:creationId xmlns:a16="http://schemas.microsoft.com/office/drawing/2014/main" id="{4C279B9D-8188-13AC-2AA8-10A36908C3C4}"/>
              </a:ext>
            </a:extLst>
          </p:cNvPr>
          <p:cNvSpPr/>
          <p:nvPr/>
        </p:nvSpPr>
        <p:spPr bwMode="auto">
          <a:xfrm>
            <a:off x="6782249" y="3788999"/>
            <a:ext cx="1125000" cy="612671"/>
          </a:xfrm>
          <a:prstGeom prst="wedgeRoundRectCallout">
            <a:avLst>
              <a:gd name="adj1" fmla="val -7937"/>
              <a:gd name="adj2" fmla="val 120470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Таг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842562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0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Дават </a:t>
            </a:r>
            <a:r>
              <a:rPr lang="bg-BG" b="1" dirty="0">
                <a:solidFill>
                  <a:schemeClr val="bg1"/>
                </a:solidFill>
              </a:rPr>
              <a:t>допълнителна информация </a:t>
            </a:r>
            <a:r>
              <a:rPr lang="bg-BG" dirty="0"/>
              <a:t>за </a:t>
            </a:r>
            <a:r>
              <a:rPr lang="bg-BG" b="1" dirty="0"/>
              <a:t>елементите</a:t>
            </a:r>
          </a:p>
          <a:p>
            <a:r>
              <a:rPr lang="bg-BG" dirty="0"/>
              <a:t>Записват се </a:t>
            </a:r>
            <a:r>
              <a:rPr lang="bg-BG" b="1" dirty="0"/>
              <a:t>в отварящия таг </a:t>
            </a:r>
            <a:r>
              <a:rPr lang="bg-BG" dirty="0"/>
              <a:t>като </a:t>
            </a:r>
            <a:r>
              <a:rPr lang="bg-BG" b="1" dirty="0">
                <a:solidFill>
                  <a:schemeClr val="bg1"/>
                </a:solidFill>
              </a:rPr>
              <a:t>атрибут=стойност</a:t>
            </a:r>
          </a:p>
          <a:p>
            <a:r>
              <a:rPr lang="bg-BG" dirty="0"/>
              <a:t>Определят </a:t>
            </a:r>
            <a:r>
              <a:rPr lang="bg-BG" b="1" dirty="0">
                <a:solidFill>
                  <a:schemeClr val="bg1"/>
                </a:solidFill>
              </a:rPr>
              <a:t>свойства</a:t>
            </a:r>
            <a:r>
              <a:rPr lang="bg-BG" b="1" dirty="0"/>
              <a:t> </a:t>
            </a:r>
            <a:r>
              <a:rPr lang="bg-BG" dirty="0"/>
              <a:t>на</a:t>
            </a:r>
            <a:r>
              <a:rPr lang="bg-BG" b="1" dirty="0"/>
              <a:t> елемента</a:t>
            </a:r>
          </a:p>
          <a:p>
            <a:r>
              <a:rPr lang="bg-BG" b="1" dirty="0"/>
              <a:t>Пример: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Атрибути</a:t>
            </a:r>
            <a:endParaRPr lang="en-BG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1CEDBA-B5B8-D559-887A-B7DDCC391D55}"/>
              </a:ext>
            </a:extLst>
          </p:cNvPr>
          <p:cNvSpPr txBox="1">
            <a:spLocks/>
          </p:cNvSpPr>
          <p:nvPr/>
        </p:nvSpPr>
        <p:spPr>
          <a:xfrm>
            <a:off x="3846000" y="4390554"/>
            <a:ext cx="3420000" cy="5232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&lt;html lang="bg"&gt;</a:t>
            </a:r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2C94DF49-79B6-709E-FD13-52DB4230320C}"/>
              </a:ext>
            </a:extLst>
          </p:cNvPr>
          <p:cNvSpPr/>
          <p:nvPr/>
        </p:nvSpPr>
        <p:spPr bwMode="auto">
          <a:xfrm>
            <a:off x="4881000" y="5491040"/>
            <a:ext cx="1890000" cy="612671"/>
          </a:xfrm>
          <a:prstGeom prst="wedgeRoundRectCallout">
            <a:avLst>
              <a:gd name="adj1" fmla="val 13939"/>
              <a:gd name="adj2" fmla="val -14341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Атрибут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B893470E-B45F-D9DC-3259-BAE2C5FF335F}"/>
              </a:ext>
            </a:extLst>
          </p:cNvPr>
          <p:cNvSpPr/>
          <p:nvPr/>
        </p:nvSpPr>
        <p:spPr bwMode="auto">
          <a:xfrm>
            <a:off x="5556000" y="3303231"/>
            <a:ext cx="4590000" cy="612671"/>
          </a:xfrm>
          <a:prstGeom prst="wedgeRoundRectCallout">
            <a:avLst>
              <a:gd name="adj1" fmla="val -42898"/>
              <a:gd name="adj2" fmla="val 150753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chemeClr val="tx1">
                <a:lumMod val="75000"/>
                <a:alpha val="80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Указва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езика</a:t>
            </a:r>
            <a:r>
              <a:rPr lang="bg-BG" sz="2600" b="1" dirty="0">
                <a:solidFill>
                  <a:schemeClr val="bg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на страницата</a:t>
            </a:r>
            <a:endParaRPr lang="en-BG" sz="2600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578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FB2169-C1A0-7A1F-1D93-D7D875F4E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8D7C9FC-31D8-F6BF-36E4-729C90B118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Елемент</a:t>
            </a:r>
            <a:r>
              <a:rPr lang="bg-BG" dirty="0"/>
              <a:t> – </a:t>
            </a:r>
            <a:r>
              <a:rPr lang="bg-BG" b="1" dirty="0"/>
              <a:t>таг</a:t>
            </a:r>
            <a:r>
              <a:rPr lang="bg-BG" dirty="0"/>
              <a:t> </a:t>
            </a:r>
            <a:r>
              <a:rPr lang="en-US" dirty="0"/>
              <a:t>+ </a:t>
            </a:r>
            <a:r>
              <a:rPr lang="bg-BG" b="1" dirty="0"/>
              <a:t>съдържание</a:t>
            </a:r>
            <a:r>
              <a:rPr lang="bg-BG" dirty="0"/>
              <a:t> + </a:t>
            </a:r>
            <a:r>
              <a:rPr lang="bg-BG" b="1" dirty="0"/>
              <a:t>атрибути</a:t>
            </a:r>
          </a:p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Таг</a:t>
            </a:r>
            <a:r>
              <a:rPr lang="bg-BG" dirty="0"/>
              <a:t> – указва </a:t>
            </a:r>
            <a:r>
              <a:rPr lang="bg-BG" b="1" dirty="0"/>
              <a:t>типа</a:t>
            </a:r>
            <a:r>
              <a:rPr lang="bg-BG" dirty="0"/>
              <a:t> на </a:t>
            </a:r>
            <a:r>
              <a:rPr lang="bg-BG" b="1" dirty="0"/>
              <a:t>съдържанието</a:t>
            </a:r>
          </a:p>
          <a:p>
            <a:pPr>
              <a:buClr>
                <a:schemeClr val="tx1"/>
              </a:buClr>
            </a:pPr>
            <a:r>
              <a:rPr lang="bg-BG" b="1" dirty="0">
                <a:solidFill>
                  <a:schemeClr val="bg1"/>
                </a:solidFill>
              </a:rPr>
              <a:t>Атрибут</a:t>
            </a:r>
            <a:r>
              <a:rPr lang="bg-BG" dirty="0"/>
              <a:t> – добавя </a:t>
            </a:r>
            <a:r>
              <a:rPr lang="bg-BG" b="1" dirty="0"/>
              <a:t>допълнителна информация</a:t>
            </a:r>
            <a:endParaRPr lang="en-BG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DA36B19-AACE-1F48-E998-BBC64547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Елементи, тагове и атрибути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410845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структурни тагове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Структурни тагове</a:t>
            </a:r>
            <a:endParaRPr lang="en-GB" sz="6000" dirty="0"/>
          </a:p>
        </p:txBody>
      </p:sp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2FBFF4-F184-C23E-2C1C-FD299E8D5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5F615-8B65-E46D-F026-4E98106D88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Изграждат </a:t>
            </a:r>
            <a:r>
              <a:rPr lang="bg-BG" b="1" dirty="0">
                <a:solidFill>
                  <a:schemeClr val="bg1"/>
                </a:solidFill>
              </a:rPr>
              <a:t>основната рамка </a:t>
            </a:r>
            <a:r>
              <a:rPr lang="bg-BG" dirty="0"/>
              <a:t>на </a:t>
            </a:r>
            <a:r>
              <a:rPr lang="en-US" b="1" dirty="0"/>
              <a:t>HTML </a:t>
            </a:r>
            <a:r>
              <a:rPr lang="bg-BG" b="1" dirty="0"/>
              <a:t>документа</a:t>
            </a:r>
          </a:p>
          <a:p>
            <a:r>
              <a:rPr lang="bg-BG" dirty="0"/>
              <a:t>Те </a:t>
            </a:r>
            <a:r>
              <a:rPr lang="bg-BG" b="1" dirty="0"/>
              <a:t>определят</a:t>
            </a:r>
            <a:r>
              <a:rPr lang="bg-BG" dirty="0"/>
              <a:t>:</a:t>
            </a:r>
          </a:p>
          <a:p>
            <a:pPr lvl="1"/>
            <a:r>
              <a:rPr lang="bg-BG" b="1" dirty="0">
                <a:solidFill>
                  <a:schemeClr val="bg1"/>
                </a:solidFill>
              </a:rPr>
              <a:t>Началото</a:t>
            </a:r>
            <a:r>
              <a:rPr lang="bg-BG" dirty="0"/>
              <a:t> и </a:t>
            </a:r>
            <a:r>
              <a:rPr lang="bg-BG" b="1" dirty="0">
                <a:solidFill>
                  <a:schemeClr val="bg1"/>
                </a:solidFill>
              </a:rPr>
              <a:t>края</a:t>
            </a:r>
            <a:r>
              <a:rPr lang="bg-BG" dirty="0"/>
              <a:t> на </a:t>
            </a:r>
            <a:r>
              <a:rPr lang="bg-BG" b="1" dirty="0"/>
              <a:t>документа</a:t>
            </a:r>
          </a:p>
          <a:p>
            <a:pPr lvl="1"/>
            <a:r>
              <a:rPr lang="bg-BG" b="1" dirty="0">
                <a:solidFill>
                  <a:schemeClr val="bg1"/>
                </a:solidFill>
              </a:rPr>
              <a:t>Служебната част</a:t>
            </a:r>
          </a:p>
          <a:p>
            <a:pPr lvl="1"/>
            <a:r>
              <a:rPr lang="bg-BG" b="1" dirty="0">
                <a:solidFill>
                  <a:schemeClr val="bg1"/>
                </a:solidFill>
              </a:rPr>
              <a:t>Видимото съдържание</a:t>
            </a:r>
            <a:endParaRPr lang="en-BG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7356EB-98F8-837B-FC55-3DEA39A28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Структурни тагове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634502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2FBFF4-F184-C23E-2C1C-FD299E8D5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5F615-8B65-E46D-F026-4E98106D88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&lt;!DOCTYPE</a:t>
            </a:r>
            <a:r>
              <a:rPr lang="en-US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html&gt;</a:t>
            </a:r>
            <a:endParaRPr lang="bg-BG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bg-BG" b="1" dirty="0"/>
              <a:t>Началният таг </a:t>
            </a:r>
            <a:r>
              <a:rPr lang="bg-BG" dirty="0"/>
              <a:t>на </a:t>
            </a:r>
            <a:r>
              <a:rPr lang="en-US" b="1" dirty="0"/>
              <a:t>HTML</a:t>
            </a:r>
            <a:r>
              <a:rPr lang="bg-BG" b="1" dirty="0"/>
              <a:t> документа</a:t>
            </a:r>
          </a:p>
          <a:p>
            <a:pPr lvl="1"/>
            <a:r>
              <a:rPr lang="bg-BG" dirty="0"/>
              <a:t>Определя </a:t>
            </a:r>
            <a:r>
              <a:rPr lang="bg-BG" b="1" dirty="0"/>
              <a:t>типа</a:t>
            </a:r>
            <a:r>
              <a:rPr lang="bg-BG" dirty="0"/>
              <a:t> на </a:t>
            </a:r>
            <a:r>
              <a:rPr lang="bg-BG" b="1" dirty="0"/>
              <a:t>документа</a:t>
            </a:r>
            <a:r>
              <a:rPr lang="bg-BG" dirty="0"/>
              <a:t> (</a:t>
            </a:r>
            <a:r>
              <a:rPr lang="en-US" b="1" dirty="0"/>
              <a:t>HTML5</a:t>
            </a:r>
            <a:r>
              <a:rPr lang="en-US" dirty="0"/>
              <a:t>)</a:t>
            </a:r>
            <a:endParaRPr lang="bg-BG" dirty="0"/>
          </a:p>
          <a:p>
            <a:r>
              <a:rPr lang="en-US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&lt;html&gt;</a:t>
            </a:r>
            <a:endParaRPr lang="bg-BG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bg-BG" b="1" dirty="0"/>
              <a:t>Основен елемент</a:t>
            </a:r>
          </a:p>
          <a:p>
            <a:pPr lvl="1"/>
            <a:r>
              <a:rPr lang="bg-BG" dirty="0"/>
              <a:t>Въвежда се </a:t>
            </a:r>
            <a:r>
              <a:rPr lang="bg-BG" b="1" dirty="0"/>
              <a:t>след тага </a:t>
            </a:r>
            <a:r>
              <a:rPr lang="en-US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&lt;!DOCTYPE</a:t>
            </a:r>
            <a:r>
              <a:rPr lang="en-US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html&gt;</a:t>
            </a:r>
            <a:endParaRPr lang="bg-BG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7356EB-98F8-837B-FC55-3DEA39A28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структурни тагове (1</a:t>
            </a:r>
            <a:r>
              <a:rPr lang="en-US" dirty="0"/>
              <a:t>)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737486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2FBFF4-F184-C23E-2C1C-FD299E8D5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5F615-8B65-E46D-F026-4E98106D88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bg-BG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head</a:t>
            </a:r>
            <a:r>
              <a:rPr lang="bg-BG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</a:p>
          <a:p>
            <a:pPr lvl="1"/>
            <a:r>
              <a:rPr lang="bg-BG" dirty="0"/>
              <a:t>Съдържа </a:t>
            </a:r>
            <a:r>
              <a:rPr lang="bg-BG" b="1" dirty="0"/>
              <a:t>служебна информация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bg-BG" b="1" dirty="0"/>
              <a:t>мета тагове</a:t>
            </a:r>
            <a:r>
              <a:rPr lang="en-US" dirty="0"/>
              <a:t>)</a:t>
            </a:r>
            <a:endParaRPr lang="bg-BG" dirty="0"/>
          </a:p>
          <a:p>
            <a:pPr lvl="1"/>
            <a:r>
              <a:rPr lang="bg-BG" b="1" dirty="0"/>
              <a:t>Не се визуализира </a:t>
            </a:r>
            <a:r>
              <a:rPr lang="bg-BG" dirty="0"/>
              <a:t>в </a:t>
            </a:r>
            <a:r>
              <a:rPr lang="bg-BG" b="1" dirty="0"/>
              <a:t>браузъра</a:t>
            </a:r>
          </a:p>
          <a:p>
            <a:r>
              <a:rPr lang="bg-BG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US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title&gt;</a:t>
            </a:r>
          </a:p>
          <a:p>
            <a:pPr lvl="1"/>
            <a:r>
              <a:rPr lang="bg-BG" b="1" dirty="0"/>
              <a:t>Заглавието</a:t>
            </a:r>
            <a:r>
              <a:rPr lang="bg-BG" dirty="0"/>
              <a:t> на </a:t>
            </a:r>
            <a:r>
              <a:rPr lang="bg-BG" b="1" dirty="0"/>
              <a:t>документа</a:t>
            </a:r>
          </a:p>
          <a:p>
            <a:pPr lvl="1"/>
            <a:r>
              <a:rPr lang="bg-BG" dirty="0"/>
              <a:t>Поставя се в </a:t>
            </a:r>
            <a:r>
              <a:rPr lang="en-US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&lt;head&gt;</a:t>
            </a:r>
            <a:r>
              <a:rPr lang="bg-BG" dirty="0"/>
              <a:t> </a:t>
            </a:r>
            <a:r>
              <a:rPr lang="bg-BG" b="1" dirty="0"/>
              <a:t>частта</a:t>
            </a:r>
            <a:r>
              <a:rPr lang="bg-BG" dirty="0"/>
              <a:t> на </a:t>
            </a:r>
            <a:r>
              <a:rPr lang="bg-BG" b="1" dirty="0"/>
              <a:t>документа</a:t>
            </a:r>
          </a:p>
          <a:p>
            <a:r>
              <a:rPr lang="en-US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&lt;body&gt;</a:t>
            </a:r>
            <a:endParaRPr lang="bg-BG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bg-BG" dirty="0"/>
              <a:t>Съдържа </a:t>
            </a:r>
            <a:r>
              <a:rPr lang="bg-BG" b="1" dirty="0"/>
              <a:t>цялото видимо съдържание</a:t>
            </a:r>
          </a:p>
          <a:p>
            <a:pPr lvl="1"/>
            <a:r>
              <a:rPr lang="bg-BG" b="1" dirty="0"/>
              <a:t>Всичко</a:t>
            </a:r>
            <a:r>
              <a:rPr lang="bg-BG" dirty="0"/>
              <a:t>, което </a:t>
            </a:r>
            <a:r>
              <a:rPr lang="bg-BG" b="1" dirty="0"/>
              <a:t>потребителят вижда</a:t>
            </a:r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7356EB-98F8-837B-FC55-3DEA39A28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структурни тагове</a:t>
            </a:r>
            <a:r>
              <a:rPr lang="en-US" dirty="0"/>
              <a:t> (2)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28323658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2FBFF4-F184-C23E-2C1C-FD299E8D5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5F615-8B65-E46D-F026-4E98106D88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dirty="0"/>
              <a:t>Съдържат </a:t>
            </a:r>
            <a:r>
              <a:rPr lang="bg-BG" b="1" dirty="0">
                <a:solidFill>
                  <a:schemeClr val="bg1"/>
                </a:solidFill>
              </a:rPr>
              <a:t>информация</a:t>
            </a:r>
            <a:r>
              <a:rPr lang="bg-BG" dirty="0"/>
              <a:t> за </a:t>
            </a:r>
            <a:r>
              <a:rPr lang="bg-BG" b="1" dirty="0"/>
              <a:t>уеб страницата</a:t>
            </a:r>
          </a:p>
          <a:p>
            <a:r>
              <a:rPr lang="bg-BG" b="1" dirty="0">
                <a:solidFill>
                  <a:schemeClr val="bg1"/>
                </a:solidFill>
              </a:rPr>
              <a:t>Не се визуализират </a:t>
            </a:r>
            <a:r>
              <a:rPr lang="bg-BG" b="1" dirty="0"/>
              <a:t>директно</a:t>
            </a:r>
            <a:r>
              <a:rPr lang="bg-BG" dirty="0"/>
              <a:t> в </a:t>
            </a:r>
            <a:r>
              <a:rPr lang="bg-BG" b="1" dirty="0"/>
              <a:t>браузъра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7356EB-98F8-837B-FC55-3DEA39A28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Мета тагове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26734756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2FBFF4-F184-C23E-2C1C-FD299E8D5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5F615-8B65-E46D-F026-4E98106D88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b="1" dirty="0">
                <a:solidFill>
                  <a:schemeClr val="bg1"/>
                </a:solidFill>
              </a:rPr>
              <a:t>Задаване на кодиране</a:t>
            </a:r>
          </a:p>
          <a:p>
            <a:pPr lvl="1"/>
            <a:r>
              <a:rPr lang="bg-BG" dirty="0"/>
              <a:t>Определя </a:t>
            </a:r>
            <a:r>
              <a:rPr lang="bg-BG" b="1" dirty="0"/>
              <a:t>начина</a:t>
            </a:r>
            <a:r>
              <a:rPr lang="bg-BG" dirty="0"/>
              <a:t>, по който се </a:t>
            </a:r>
            <a:r>
              <a:rPr lang="bg-BG" b="1" dirty="0"/>
              <a:t>изобразяват символите</a:t>
            </a:r>
          </a:p>
          <a:p>
            <a:pPr lvl="1"/>
            <a:endParaRPr lang="bg-BG" dirty="0"/>
          </a:p>
          <a:p>
            <a:r>
              <a:rPr lang="bg-BG" b="1" dirty="0">
                <a:solidFill>
                  <a:schemeClr val="bg1"/>
                </a:solidFill>
              </a:rPr>
              <a:t>Описание на уеб страницата</a:t>
            </a:r>
          </a:p>
          <a:p>
            <a:pPr lvl="1"/>
            <a:r>
              <a:rPr lang="bg-BG" b="1" dirty="0"/>
              <a:t>Кратко описание </a:t>
            </a:r>
            <a:r>
              <a:rPr lang="bg-BG" dirty="0"/>
              <a:t>на </a:t>
            </a:r>
            <a:r>
              <a:rPr lang="bg-BG" b="1" dirty="0"/>
              <a:t>съдържанието</a:t>
            </a:r>
          </a:p>
          <a:p>
            <a:pPr lvl="1"/>
            <a:r>
              <a:rPr lang="bg-BG" dirty="0"/>
              <a:t>Използва се от </a:t>
            </a:r>
            <a:r>
              <a:rPr lang="bg-BG" b="1" dirty="0"/>
              <a:t>търсачките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7356EB-98F8-837B-FC55-3DEA39A28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видове мета тагове (1</a:t>
            </a:r>
            <a:r>
              <a:rPr lang="en-US" dirty="0"/>
              <a:t>)</a:t>
            </a:r>
            <a:endParaRPr lang="en-BG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E5F15E1-F47D-0A60-BBD9-FDFB0E17BAFE}"/>
              </a:ext>
            </a:extLst>
          </p:cNvPr>
          <p:cNvSpPr txBox="1">
            <a:spLocks/>
          </p:cNvSpPr>
          <p:nvPr/>
        </p:nvSpPr>
        <p:spPr>
          <a:xfrm>
            <a:off x="800555" y="2619000"/>
            <a:ext cx="4516383" cy="5232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&lt;meta charset="UTF-8"&gt;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FCC85D1-1C8E-7B93-3003-E5AEE96700A4}"/>
              </a:ext>
            </a:extLst>
          </p:cNvPr>
          <p:cNvSpPr txBox="1">
            <a:spLocks/>
          </p:cNvSpPr>
          <p:nvPr/>
        </p:nvSpPr>
        <p:spPr>
          <a:xfrm>
            <a:off x="724617" y="5319000"/>
            <a:ext cx="10861383" cy="461665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2400" b="1" noProof="1">
                <a:latin typeface="Consolas" panose="020B0609020204030204" pitchFamily="49" charset="0"/>
                <a:cs typeface="Consolas" panose="020B0609020204030204" pitchFamily="49" charset="0"/>
              </a:rPr>
              <a:t>&lt;meta name="description" content="</a:t>
            </a:r>
            <a:r>
              <a:rPr lang="bg-BG" sz="2400" b="1" noProof="1">
                <a:latin typeface="Consolas" panose="020B0609020204030204" pitchFamily="49" charset="0"/>
                <a:cs typeface="Consolas" panose="020B0609020204030204" pitchFamily="49" charset="0"/>
              </a:rPr>
              <a:t>Уеб сайт за училищен проект"&gt;</a:t>
            </a:r>
          </a:p>
        </p:txBody>
      </p:sp>
    </p:spTree>
    <p:extLst>
      <p:ext uri="{BB962C8B-B14F-4D97-AF65-F5344CB8AC3E}">
        <p14:creationId xmlns:p14="http://schemas.microsoft.com/office/powerpoint/2010/main" val="26948718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2FBFF4-F184-C23E-2C1C-FD299E8D5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5F615-8B65-E46D-F026-4E98106D88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b="1" dirty="0">
                <a:solidFill>
                  <a:schemeClr val="bg1"/>
                </a:solidFill>
              </a:rPr>
              <a:t>Автор на уеб страницата</a:t>
            </a:r>
          </a:p>
          <a:p>
            <a:pPr lvl="1"/>
            <a:r>
              <a:rPr lang="bg-BG" dirty="0"/>
              <a:t>Показват </a:t>
            </a:r>
            <a:r>
              <a:rPr lang="bg-BG" b="1" dirty="0"/>
              <a:t>кой</a:t>
            </a:r>
            <a:r>
              <a:rPr lang="bg-BG" dirty="0"/>
              <a:t> е </a:t>
            </a:r>
            <a:r>
              <a:rPr lang="bg-BG" b="1" dirty="0"/>
              <a:t>създал</a:t>
            </a:r>
            <a:r>
              <a:rPr lang="bg-BG" dirty="0"/>
              <a:t> </a:t>
            </a:r>
            <a:r>
              <a:rPr lang="bg-BG" b="1" dirty="0"/>
              <a:t>уеб страницата</a:t>
            </a:r>
          </a:p>
          <a:p>
            <a:pPr lvl="1"/>
            <a:endParaRPr lang="bg-BG" dirty="0"/>
          </a:p>
          <a:p>
            <a:r>
              <a:rPr lang="bg-BG" b="1" dirty="0">
                <a:solidFill>
                  <a:schemeClr val="bg1"/>
                </a:solidFill>
              </a:rPr>
              <a:t>Настройка за мобилни устройства</a:t>
            </a:r>
          </a:p>
          <a:p>
            <a:pPr lvl="1"/>
            <a:r>
              <a:rPr lang="bg-BG" dirty="0"/>
              <a:t>Позволява </a:t>
            </a:r>
            <a:r>
              <a:rPr lang="bg-BG" b="1" dirty="0"/>
              <a:t>правилно визуализиране </a:t>
            </a:r>
            <a:r>
              <a:rPr lang="bg-BG" dirty="0"/>
              <a:t>на </a:t>
            </a:r>
            <a:r>
              <a:rPr lang="bg-BG" b="1" dirty="0"/>
              <a:t>уеб сайта </a:t>
            </a:r>
            <a:r>
              <a:rPr lang="bg-BG" dirty="0"/>
              <a:t>на </a:t>
            </a:r>
            <a:r>
              <a:rPr lang="bg-BG" b="1" dirty="0"/>
              <a:t>телефон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7356EB-98F8-837B-FC55-3DEA39A28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видове мета тагове (</a:t>
            </a:r>
            <a:r>
              <a:rPr lang="en-US" dirty="0"/>
              <a:t>2)</a:t>
            </a:r>
            <a:endParaRPr lang="en-BG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E5F15E1-F47D-0A60-BBD9-FDFB0E17BAFE}"/>
              </a:ext>
            </a:extLst>
          </p:cNvPr>
          <p:cNvSpPr txBox="1">
            <a:spLocks/>
          </p:cNvSpPr>
          <p:nvPr/>
        </p:nvSpPr>
        <p:spPr>
          <a:xfrm>
            <a:off x="741001" y="2619000"/>
            <a:ext cx="8775000" cy="5232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&lt;meta name="author" content="</a:t>
            </a: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Име на автора"&gt;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FCC85D1-1C8E-7B93-3003-E5AEE96700A4}"/>
              </a:ext>
            </a:extLst>
          </p:cNvPr>
          <p:cNvSpPr txBox="1">
            <a:spLocks/>
          </p:cNvSpPr>
          <p:nvPr/>
        </p:nvSpPr>
        <p:spPr>
          <a:xfrm>
            <a:off x="760148" y="4586565"/>
            <a:ext cx="10992882" cy="430887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2200" b="1" noProof="1">
                <a:latin typeface="Consolas" panose="020B0609020204030204" pitchFamily="49" charset="0"/>
                <a:cs typeface="Consolas" panose="020B0609020204030204" pitchFamily="49" charset="0"/>
              </a:rPr>
              <a:t>&lt;meta name="viewport" content="width=device-width, initial-scale=1.0"&gt;</a:t>
            </a:r>
          </a:p>
        </p:txBody>
      </p:sp>
    </p:spTree>
    <p:extLst>
      <p:ext uri="{BB962C8B-B14F-4D97-AF65-F5344CB8AC3E}">
        <p14:creationId xmlns:p14="http://schemas.microsoft.com/office/powerpoint/2010/main" val="34876948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0023EC6-51FC-44D6-14D5-418572901E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BECD96-2434-8FD0-C0AD-9824DDD52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Примерна структура на </a:t>
            </a:r>
            <a:r>
              <a:rPr lang="en-US" dirty="0"/>
              <a:t>HTML </a:t>
            </a:r>
            <a:r>
              <a:rPr lang="bg-BG" dirty="0"/>
              <a:t>документ</a:t>
            </a:r>
            <a:endParaRPr lang="en-BG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F7C3C9-6320-A199-170B-A7CFB275E983}"/>
              </a:ext>
            </a:extLst>
          </p:cNvPr>
          <p:cNvSpPr txBox="1">
            <a:spLocks/>
          </p:cNvSpPr>
          <p:nvPr/>
        </p:nvSpPr>
        <p:spPr>
          <a:xfrm>
            <a:off x="1340203" y="1674000"/>
            <a:ext cx="9511594" cy="4401205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&lt;!DOCTYPE html&gt;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&lt;html&gt;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&lt;head&gt;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    &lt;title&gt;</a:t>
            </a: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Моята страница&lt;/</a:t>
            </a: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title&gt;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&lt;/head&gt;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&lt;body&gt;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    &lt;h1&gt;</a:t>
            </a: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Добре дошли!&lt;/</a:t>
            </a: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h1&gt;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    &lt;p&gt;</a:t>
            </a: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Това е примерна уеб страница.&lt;/</a:t>
            </a: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p&gt;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&lt;/body&gt;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&lt;/html&gt;</a:t>
            </a:r>
          </a:p>
        </p:txBody>
      </p:sp>
    </p:spTree>
    <p:extLst>
      <p:ext uri="{BB962C8B-B14F-4D97-AF65-F5344CB8AC3E}">
        <p14:creationId xmlns:p14="http://schemas.microsoft.com/office/powerpoint/2010/main" val="3813792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dirty="0"/>
              <a:t>Създаване на първа</a:t>
            </a:r>
            <a:r>
              <a:rPr lang="en-US" dirty="0"/>
              <a:t> HTML</a:t>
            </a:r>
            <a:r>
              <a:rPr lang="bg-BG" dirty="0"/>
              <a:t> страница</a:t>
            </a:r>
            <a:endParaRPr lang="bg-BG" sz="40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2FBFF4-F184-C23E-2C1C-FD299E8D5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5F615-8B65-E46D-F026-4E98106D88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dirty="0"/>
              <a:t>Нека създадем</a:t>
            </a:r>
            <a:r>
              <a:rPr lang="en-US" dirty="0"/>
              <a:t> HTML </a:t>
            </a:r>
            <a:r>
              <a:rPr lang="bg-BG" dirty="0"/>
              <a:t>страница</a:t>
            </a:r>
          </a:p>
          <a:p>
            <a:endParaRPr lang="bg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7356EB-98F8-837B-FC55-3DEA39A28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Създаване на първа </a:t>
            </a:r>
            <a:r>
              <a:rPr lang="en-US" dirty="0"/>
              <a:t>HTML </a:t>
            </a:r>
            <a:r>
              <a:rPr lang="bg-BG" dirty="0"/>
              <a:t>страница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24069499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889410-50CE-39D2-150E-F0FE7D107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8FD179-FB7C-0792-0716-C21069808B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Отваряме </a:t>
            </a:r>
            <a:r>
              <a:rPr lang="en-US" dirty="0">
                <a:highlight>
                  <a:srgbClr val="FFFF00"/>
                </a:highlight>
              </a:rPr>
              <a:t>VS Code</a:t>
            </a:r>
          </a:p>
          <a:p>
            <a:r>
              <a:rPr lang="bg-BG" dirty="0">
                <a:highlight>
                  <a:srgbClr val="FFFF00"/>
                </a:highlight>
              </a:rPr>
              <a:t>Създаваме нов файл</a:t>
            </a:r>
          </a:p>
          <a:p>
            <a:r>
              <a:rPr lang="bg-BG" dirty="0">
                <a:highlight>
                  <a:srgbClr val="FFFF00"/>
                </a:highlight>
              </a:rPr>
              <a:t>Записваме файла като </a:t>
            </a:r>
            <a:r>
              <a:rPr lang="en-US" dirty="0" err="1">
                <a:highlight>
                  <a:srgbClr val="FFFF00"/>
                </a:highlight>
              </a:rPr>
              <a:t>index.html</a:t>
            </a:r>
            <a:endParaRPr lang="en-BG" dirty="0">
              <a:highlight>
                <a:srgbClr val="FFFF00"/>
              </a:highlight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B0E62F-F9BD-AAD7-B613-923DDDE3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HTML </a:t>
            </a:r>
            <a:r>
              <a:rPr lang="bg-BG" dirty="0"/>
              <a:t>файл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002218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45D1D9-9C82-E343-7B5B-E9A2A9CAB1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F3FD1-0EFB-1EFC-AFE1-9B8F9A806B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Разписваме основните </a:t>
            </a:r>
            <a:r>
              <a:rPr lang="bg-BG" b="1" dirty="0"/>
              <a:t>структурни тагове</a:t>
            </a:r>
          </a:p>
          <a:p>
            <a:r>
              <a:rPr lang="bg-BG" dirty="0"/>
              <a:t>Добавяме </a:t>
            </a:r>
            <a:r>
              <a:rPr lang="bg-BG" b="1" dirty="0"/>
              <a:t>заглавие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32B02F-F82F-BE40-5EB1-E23ED6F2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Добавяне на основна структура</a:t>
            </a:r>
            <a:endParaRPr lang="en-BG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0A609220-24EE-C88B-3336-0CF0FFB3A20C}"/>
              </a:ext>
            </a:extLst>
          </p:cNvPr>
          <p:cNvSpPr txBox="1">
            <a:spLocks/>
          </p:cNvSpPr>
          <p:nvPr/>
        </p:nvSpPr>
        <p:spPr>
          <a:xfrm>
            <a:off x="651000" y="2709000"/>
            <a:ext cx="9511594" cy="353943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&lt;!DOCTYPE html&gt;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&lt;html&gt;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&lt;head&gt;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    &lt;title&gt;</a:t>
            </a: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Моята страница&lt;/</a:t>
            </a: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title&gt;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&lt;/head&gt;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&lt;body&gt;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&lt;/body&gt;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&lt;/html&gt;</a:t>
            </a:r>
          </a:p>
        </p:txBody>
      </p:sp>
    </p:spTree>
    <p:extLst>
      <p:ext uri="{BB962C8B-B14F-4D97-AF65-F5344CB8AC3E}">
        <p14:creationId xmlns:p14="http://schemas.microsoft.com/office/powerpoint/2010/main" val="1284320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45D1D9-9C82-E343-7B5B-E9A2A9CAB1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F3FD1-0EFB-1EFC-AFE1-9B8F9A806B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Добавяме </a:t>
            </a:r>
            <a:r>
              <a:rPr lang="bg-BG" b="1" dirty="0"/>
              <a:t>съдържане</a:t>
            </a:r>
            <a:r>
              <a:rPr lang="bg-BG" dirty="0"/>
              <a:t> в </a:t>
            </a:r>
            <a:r>
              <a:rPr lang="en-US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&lt;body&gt;</a:t>
            </a:r>
            <a:endParaRPr lang="bg-BG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bg-BG" dirty="0"/>
              <a:t>Запазваме </a:t>
            </a:r>
            <a:r>
              <a:rPr lang="bg-BG" b="1" dirty="0"/>
              <a:t>промените</a:t>
            </a:r>
            <a:r>
              <a:rPr lang="bg-BG" dirty="0"/>
              <a:t> във </a:t>
            </a:r>
            <a:r>
              <a:rPr lang="bg-BG" b="1" dirty="0"/>
              <a:t>файла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32B02F-F82F-BE40-5EB1-E23ED6F2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Добавяне на съдържание</a:t>
            </a:r>
            <a:endParaRPr lang="en-BG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0A609220-24EE-C88B-3336-0CF0FFB3A20C}"/>
              </a:ext>
            </a:extLst>
          </p:cNvPr>
          <p:cNvSpPr txBox="1">
            <a:spLocks/>
          </p:cNvSpPr>
          <p:nvPr/>
        </p:nvSpPr>
        <p:spPr>
          <a:xfrm>
            <a:off x="569906" y="2664000"/>
            <a:ext cx="9511594" cy="1815882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&lt;body&gt;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   &lt;h1&gt;</a:t>
            </a: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Здравей, свят!&lt;/</a:t>
            </a: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h1&gt;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   &lt;p&gt;</a:t>
            </a:r>
            <a:r>
              <a:rPr lang="bg-BG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Това е моята първа уеб страница.&lt;/</a:t>
            </a: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p&gt;</a:t>
            </a:r>
          </a:p>
          <a:p>
            <a:pPr>
              <a:lnSpc>
                <a:spcPct val="100000"/>
              </a:lnSpc>
            </a:pPr>
            <a:r>
              <a:rPr lang="en-GB" sz="2800" b="1" noProof="1">
                <a:latin typeface="Consolas" panose="020B0609020204030204" pitchFamily="49" charset="0"/>
                <a:cs typeface="Consolas" panose="020B0609020204030204" pitchFamily="49" charset="0"/>
              </a:rPr>
              <a:t>&lt;/body&gt;</a:t>
            </a:r>
          </a:p>
        </p:txBody>
      </p:sp>
    </p:spTree>
    <p:extLst>
      <p:ext uri="{BB962C8B-B14F-4D97-AF65-F5344CB8AC3E}">
        <p14:creationId xmlns:p14="http://schemas.microsoft.com/office/powerpoint/2010/main" val="19980692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45D1D9-9C82-E343-7B5B-E9A2A9CAB1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F3FD1-0EFB-1EFC-AFE1-9B8F9A806B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Отваряме </a:t>
            </a:r>
            <a:r>
              <a:rPr lang="bg-BG" b="1" dirty="0"/>
              <a:t>файла</a:t>
            </a:r>
            <a:r>
              <a:rPr lang="bg-BG" dirty="0"/>
              <a:t> в </a:t>
            </a:r>
            <a:r>
              <a:rPr lang="bg-BG" b="1" dirty="0"/>
              <a:t>браузър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32B02F-F82F-BE40-5EB1-E23ED6F2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0691AD-4963-9D9B-7CF2-AB3F17B1236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79" b="13311"/>
          <a:stretch/>
        </p:blipFill>
        <p:spPr>
          <a:xfrm>
            <a:off x="2311400" y="2529070"/>
            <a:ext cx="7569200" cy="286287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5456091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HTML </a:t>
            </a:r>
            <a:r>
              <a:rPr lang="bg-BG" sz="2800" dirty="0"/>
              <a:t>=</a:t>
            </a:r>
            <a:r>
              <a:rPr lang="en-US" sz="2800" dirty="0"/>
              <a:t>= </a:t>
            </a:r>
            <a:r>
              <a:rPr lang="bg-BG" sz="2800" b="1" dirty="0"/>
              <a:t>маркиращ език </a:t>
            </a:r>
            <a:r>
              <a:rPr lang="bg-BG" sz="2800" dirty="0"/>
              <a:t>за </a:t>
            </a:r>
            <a:r>
              <a:rPr lang="bg-BG" sz="2800" b="1" dirty="0"/>
              <a:t>създаване</a:t>
            </a:r>
            <a:r>
              <a:rPr lang="bg-BG" sz="2800" dirty="0"/>
              <a:t> на </a:t>
            </a:r>
            <a:r>
              <a:rPr lang="bg-BG" sz="2800" b="1" dirty="0"/>
              <a:t>уеб страници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Таг</a:t>
            </a:r>
            <a:r>
              <a:rPr lang="en-US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800" dirty="0">
                <a:solidFill>
                  <a:schemeClr val="bg2">
                    <a:lumMod val="95000"/>
                  </a:schemeClr>
                </a:solidFill>
              </a:rPr>
              <a:t>== </a:t>
            </a:r>
            <a:r>
              <a:rPr lang="bg-BG" sz="2800" b="1" dirty="0">
                <a:solidFill>
                  <a:schemeClr val="bg2">
                    <a:lumMod val="95000"/>
                  </a:schemeClr>
                </a:solidFill>
              </a:rPr>
              <a:t>маркиращи конструкции</a:t>
            </a:r>
            <a:r>
              <a:rPr lang="bg-BG" sz="2800" dirty="0">
                <a:solidFill>
                  <a:schemeClr val="bg2">
                    <a:lumMod val="95000"/>
                  </a:schemeClr>
                </a:solidFill>
              </a:rPr>
              <a:t>, които определят </a:t>
            </a:r>
            <a:r>
              <a:rPr lang="bg-BG" sz="2800" b="1" dirty="0">
                <a:solidFill>
                  <a:schemeClr val="bg2">
                    <a:lumMod val="95000"/>
                  </a:schemeClr>
                </a:solidFill>
              </a:rPr>
              <a:t>типа съдържание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Елемент </a:t>
            </a:r>
            <a:r>
              <a:rPr lang="en-US" sz="2800" dirty="0">
                <a:solidFill>
                  <a:schemeClr val="bg2"/>
                </a:solidFill>
              </a:rPr>
              <a:t>== </a:t>
            </a:r>
            <a:r>
              <a:rPr lang="bg-BG" sz="2800" b="1" dirty="0">
                <a:solidFill>
                  <a:schemeClr val="bg2"/>
                </a:solidFill>
              </a:rPr>
              <a:t>пълната конструкция </a:t>
            </a:r>
            <a:r>
              <a:rPr lang="bg-BG" sz="2800" dirty="0">
                <a:solidFill>
                  <a:schemeClr val="bg2"/>
                </a:solidFill>
              </a:rPr>
              <a:t>от </a:t>
            </a:r>
            <a:r>
              <a:rPr lang="bg-BG" sz="2800" b="1" dirty="0">
                <a:solidFill>
                  <a:schemeClr val="bg2"/>
                </a:solidFill>
              </a:rPr>
              <a:t>таг </a:t>
            </a:r>
            <a:r>
              <a:rPr lang="bg-BG" sz="2800" dirty="0">
                <a:solidFill>
                  <a:schemeClr val="bg2"/>
                </a:solidFill>
              </a:rPr>
              <a:t>и</a:t>
            </a:r>
            <a:r>
              <a:rPr lang="bg-BG" sz="2800" b="1" dirty="0">
                <a:solidFill>
                  <a:schemeClr val="bg2"/>
                </a:solidFill>
              </a:rPr>
              <a:t> съдържание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Атрибут </a:t>
            </a:r>
            <a:r>
              <a:rPr lang="bg-BG" sz="2800" dirty="0"/>
              <a:t>=</a:t>
            </a:r>
            <a:r>
              <a:rPr lang="en-US" sz="2800" dirty="0"/>
              <a:t>= </a:t>
            </a:r>
            <a:r>
              <a:rPr lang="bg-BG" sz="2800" b="1" dirty="0"/>
              <a:t>допълнителната информация </a:t>
            </a:r>
            <a:r>
              <a:rPr lang="bg-BG" sz="2800" dirty="0"/>
              <a:t>за </a:t>
            </a:r>
            <a:r>
              <a:rPr lang="bg-BG" sz="2800" b="1" dirty="0"/>
              <a:t>елементите</a:t>
            </a:r>
            <a:endParaRPr lang="bg-BG" sz="2800" dirty="0"/>
          </a:p>
          <a:p>
            <a:pPr marL="360363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Структурни тагове </a:t>
            </a:r>
            <a:r>
              <a:rPr lang="en-US" sz="2800" dirty="0"/>
              <a:t>== </a:t>
            </a:r>
            <a:r>
              <a:rPr lang="bg-BG" sz="2800" dirty="0"/>
              <a:t>изграждат </a:t>
            </a:r>
            <a:r>
              <a:rPr lang="bg-BG" sz="2800" b="1" dirty="0"/>
              <a:t>основната рамка </a:t>
            </a:r>
            <a:r>
              <a:rPr lang="bg-BG" sz="2800" dirty="0"/>
              <a:t>на </a:t>
            </a:r>
            <a:r>
              <a:rPr lang="en-US" sz="2800" b="1" dirty="0"/>
              <a:t>HTML</a:t>
            </a:r>
            <a:r>
              <a:rPr lang="en-US" sz="2800" dirty="0"/>
              <a:t> </a:t>
            </a:r>
            <a:r>
              <a:rPr lang="bg-BG" sz="2800" b="1" dirty="0"/>
              <a:t>документа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Мета тагове </a:t>
            </a:r>
            <a:r>
              <a:rPr lang="bg-BG" sz="2800" dirty="0">
                <a:solidFill>
                  <a:schemeClr val="bg2"/>
                </a:solidFill>
              </a:rPr>
              <a:t>=</a:t>
            </a:r>
            <a:r>
              <a:rPr lang="en-US" sz="2800" dirty="0">
                <a:solidFill>
                  <a:schemeClr val="bg2"/>
                </a:solidFill>
              </a:rPr>
              <a:t>=</a:t>
            </a:r>
            <a:r>
              <a:rPr lang="bg-BG" sz="2800" dirty="0">
                <a:solidFill>
                  <a:schemeClr val="bg2"/>
                </a:solidFill>
              </a:rPr>
              <a:t> съдържат</a:t>
            </a:r>
            <a:r>
              <a:rPr lang="bg-BG" sz="2800" b="1" dirty="0">
                <a:solidFill>
                  <a:schemeClr val="bg2"/>
                </a:solidFill>
              </a:rPr>
              <a:t> информация </a:t>
            </a:r>
            <a:r>
              <a:rPr lang="bg-BG" sz="2800" dirty="0">
                <a:solidFill>
                  <a:schemeClr val="bg2"/>
                </a:solidFill>
              </a:rPr>
              <a:t>за</a:t>
            </a:r>
            <a:r>
              <a:rPr lang="bg-BG" sz="2800" b="1" dirty="0">
                <a:solidFill>
                  <a:schemeClr val="bg2"/>
                </a:solidFill>
              </a:rPr>
              <a:t> уеб страницата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32194</TotalTime>
  <Words>1093</Words>
  <Application>Microsoft Macintosh PowerPoint</Application>
  <PresentationFormat>Widescreen</PresentationFormat>
  <Paragraphs>215</Paragraphs>
  <Slides>30</Slides>
  <Notes>9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Consolas</vt:lpstr>
      <vt:lpstr>Wingdings</vt:lpstr>
      <vt:lpstr>SoftUni</vt:lpstr>
      <vt:lpstr>Основи на HTML</vt:lpstr>
      <vt:lpstr>Съдържание</vt:lpstr>
      <vt:lpstr>HTML</vt:lpstr>
      <vt:lpstr>HTML</vt:lpstr>
      <vt:lpstr>Роля на HTML</vt:lpstr>
      <vt:lpstr>Основни компоненти на HTML</vt:lpstr>
      <vt:lpstr>Тагове (1)</vt:lpstr>
      <vt:lpstr>Тагове (2)</vt:lpstr>
      <vt:lpstr>Отварящи и затварящи тагове</vt:lpstr>
      <vt:lpstr>Самозатварящи се тагове</vt:lpstr>
      <vt:lpstr>Елементи</vt:lpstr>
      <vt:lpstr>Атрибути</vt:lpstr>
      <vt:lpstr>Елементи, тагове и атрибути</vt:lpstr>
      <vt:lpstr>Структурни тагове</vt:lpstr>
      <vt:lpstr>Структурни тагове</vt:lpstr>
      <vt:lpstr>Основни структурни тагове (1)</vt:lpstr>
      <vt:lpstr>Основни структурни тагове (2)</vt:lpstr>
      <vt:lpstr>Мета тагове</vt:lpstr>
      <vt:lpstr>Основни видове мета тагове (1)</vt:lpstr>
      <vt:lpstr>Основни видове мета тагове (2)</vt:lpstr>
      <vt:lpstr>Примерна структура на HTML документ</vt:lpstr>
      <vt:lpstr>Пример</vt:lpstr>
      <vt:lpstr>Създаване на първа HTML страница</vt:lpstr>
      <vt:lpstr>Създаване на HTML файл</vt:lpstr>
      <vt:lpstr>Добавяне на основна структура</vt:lpstr>
      <vt:lpstr>Добавяне на съдържание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Основи на HTML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392</cp:revision>
  <dcterms:created xsi:type="dcterms:W3CDTF">2018-05-23T13:08:44Z</dcterms:created>
  <dcterms:modified xsi:type="dcterms:W3CDTF">2026-02-12T13:43:54Z</dcterms:modified>
  <cp:category/>
</cp:coreProperties>
</file>