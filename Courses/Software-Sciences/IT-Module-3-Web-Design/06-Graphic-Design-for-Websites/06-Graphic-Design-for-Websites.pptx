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29"/>
  </p:notesMasterIdLst>
  <p:handoutMasterIdLst>
    <p:handoutMasterId r:id="rId30"/>
  </p:handoutMasterIdLst>
  <p:sldIdLst>
    <p:sldId id="503" r:id="rId2"/>
    <p:sldId id="276" r:id="rId3"/>
    <p:sldId id="353" r:id="rId4"/>
    <p:sldId id="497" r:id="rId5"/>
    <p:sldId id="818" r:id="rId6"/>
    <p:sldId id="872" r:id="rId7"/>
    <p:sldId id="610" r:id="rId8"/>
    <p:sldId id="868" r:id="rId9"/>
    <p:sldId id="874" r:id="rId10"/>
    <p:sldId id="616" r:id="rId11"/>
    <p:sldId id="823" r:id="rId12"/>
    <p:sldId id="864" r:id="rId13"/>
    <p:sldId id="876" r:id="rId14"/>
    <p:sldId id="871" r:id="rId15"/>
    <p:sldId id="865" r:id="rId16"/>
    <p:sldId id="870" r:id="rId17"/>
    <p:sldId id="866" r:id="rId18"/>
    <p:sldId id="875" r:id="rId19"/>
    <p:sldId id="838" r:id="rId20"/>
    <p:sldId id="844" r:id="rId21"/>
    <p:sldId id="846" r:id="rId22"/>
    <p:sldId id="867" r:id="rId23"/>
    <p:sldId id="654" r:id="rId24"/>
    <p:sldId id="836" r:id="rId25"/>
    <p:sldId id="633" r:id="rId26"/>
    <p:sldId id="504" r:id="rId27"/>
    <p:sldId id="505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A0C7653D-1924-4F56-9E27-AA2B21F1DA92}">
          <p14:sldIdLst>
            <p14:sldId id="503"/>
            <p14:sldId id="276"/>
          </p14:sldIdLst>
        </p14:section>
        <p14:section name="Графичен модел (Mockup)" id="{66DCFE1F-60FD-44F2-BE82-706DDBC14898}">
          <p14:sldIdLst>
            <p14:sldId id="353"/>
            <p14:sldId id="497"/>
            <p14:sldId id="818"/>
            <p14:sldId id="872"/>
          </p14:sldIdLst>
        </p14:section>
        <p14:section name="Прототип (Prototype)" id="{EB44CA50-B176-0C4C-B0D0-5459023C7783}">
          <p14:sldIdLst>
            <p14:sldId id="610"/>
            <p14:sldId id="868"/>
            <p14:sldId id="874"/>
          </p14:sldIdLst>
        </p14:section>
        <p14:section name="Елементи на графичния дизайн" id="{2B3E1915-4BA2-9447-BC07-AE658EE7EC35}">
          <p14:sldIdLst>
            <p14:sldId id="616"/>
            <p14:sldId id="823"/>
            <p14:sldId id="864"/>
            <p14:sldId id="876"/>
            <p14:sldId id="871"/>
            <p14:sldId id="865"/>
            <p14:sldId id="870"/>
            <p14:sldId id="866"/>
            <p14:sldId id="875"/>
          </p14:sldIdLst>
        </p14:section>
        <p14:section name="Лого и бранд идентичност" id="{23E1C1D3-C190-EF49-BBD0-D54C17EFBBA7}">
          <p14:sldIdLst>
            <p14:sldId id="838"/>
            <p14:sldId id="844"/>
            <p14:sldId id="846"/>
            <p14:sldId id="867"/>
          </p14:sldIdLst>
        </p14:section>
        <p14:section name="Демо" id="{276EAB92-AF41-DD42-AFD3-D1ABB239E1A7}">
          <p14:sldIdLst>
            <p14:sldId id="654"/>
            <p14:sldId id="836"/>
          </p14:sldIdLst>
        </p14:section>
        <p14:section name="Заключение" id="{E19D07F1-86E2-47E9-B2AB-7ADC4F89DC12}">
          <p14:sldIdLst>
            <p14:sldId id="633"/>
            <p14:sldId id="504"/>
            <p14:sldId id="50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C" initials="P" lastIdx="8" clrIdx="0">
    <p:extLst>
      <p:ext uri="{19B8F6BF-5375-455C-9EA6-DF929625EA0E}">
        <p15:presenceInfo xmlns:p15="http://schemas.microsoft.com/office/powerpoint/2012/main" userId="PC" providerId="None"/>
      </p:ext>
    </p:extLst>
  </p:cmAuthor>
  <p:cmAuthor id="2" name="Mirela Damyanova" initials="MD" lastIdx="5" clrIdx="1">
    <p:extLst>
      <p:ext uri="{19B8F6BF-5375-455C-9EA6-DF929625EA0E}">
        <p15:presenceInfo xmlns:p15="http://schemas.microsoft.com/office/powerpoint/2012/main" userId="Mirela Damyanov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34465"/>
    <a:srgbClr val="ADB4C3"/>
    <a:srgbClr val="EA9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16D9F66E-5EB9-4882-86FB-DCBF35E3C3E4}" styleName="Medium Style 4 –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Medium Style 4 –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868" autoAdjust="0"/>
    <p:restoredTop sz="95427" autoAdjust="0"/>
  </p:normalViewPr>
  <p:slideViewPr>
    <p:cSldViewPr showGuides="1">
      <p:cViewPr varScale="1">
        <p:scale>
          <a:sx n="93" d="100"/>
          <a:sy n="93" d="100"/>
        </p:scale>
        <p:origin x="216" y="528"/>
      </p:cViewPr>
      <p:guideLst>
        <p:guide orient="horz" pos="2184"/>
        <p:guide pos="3840"/>
      </p:guideLst>
    </p:cSldViewPr>
  </p:slideViewPr>
  <p:outlineViewPr>
    <p:cViewPr>
      <p:scale>
        <a:sx n="33" d="100"/>
        <a:sy n="33" d="100"/>
      </p:scale>
      <p:origin x="0" y="-9989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6566"/>
    </p:cViewPr>
  </p:sorterViewPr>
  <p:notesViewPr>
    <p:cSldViewPr>
      <p:cViewPr varScale="1">
        <p:scale>
          <a:sx n="60" d="100"/>
          <a:sy n="60" d="100"/>
        </p:scale>
        <p:origin x="3187" y="48"/>
      </p:cViewPr>
      <p:guideLst/>
    </p:cSldViewPr>
  </p:notesViewPr>
  <p:gridSpacing cx="45000" cy="450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6F20103-83CC-4A54-8FDE-9D37FC2629C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A53962-26EF-44E4-9E69-61B1727AB1C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87215-0C8F-4762-A664-737A353EC9A4}" type="datetimeFigureOut">
              <a:rPr lang="bg-BG" smtClean="0"/>
              <a:t>20.11.25 г.</a:t>
            </a:fld>
            <a:endParaRPr lang="bg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A6967E-448F-4887-8FCB-34482EFBCC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-1" y="8892000"/>
            <a:ext cx="6443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bg-BG" sz="1100" dirty="0"/>
              <a:t>Работна група </a:t>
            </a:r>
            <a:r>
              <a:rPr lang="ru-RU" sz="1100" dirty="0"/>
              <a:t>"Образование по програмиране и ИТ</a:t>
            </a:r>
            <a:r>
              <a:rPr lang="bg-BG" sz="1100" dirty="0"/>
              <a:t>",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6554C2-DDBA-40E2-9536-53A07EC502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443999" y="8892000"/>
            <a:ext cx="412413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C318AE-53F9-47EA-B5FE-E9473933AF11}" type="slidenum">
              <a:rPr lang="bg-BG" smtClean="0"/>
              <a:t>‹#›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150602968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D84649-876A-46C9-8472-14CB09C070D8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488999" y="8892000"/>
            <a:ext cx="367414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F067CD-8E6B-4360-9AA8-C5DF2A48A6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C3A49B-3196-44DF-AC28-085C72EFBFF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53084769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78811095-27E9-49AB-972B-D4E20B396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E923224B-0CC3-475A-8628-8A90751AE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288A3F3-90B1-4930-8D00-5603BDABEF1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44894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>
            <a:extLst>
              <a:ext uri="{FF2B5EF4-FFF2-40B4-BE49-F238E27FC236}">
                <a16:creationId xmlns:a16="http://schemas.microsoft.com/office/drawing/2014/main" id="{A1F0B3C6-2E53-4CA3-86D1-53D46EC352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" name="Notes Placeholder 14">
            <a:extLst>
              <a:ext uri="{FF2B5EF4-FFF2-40B4-BE49-F238E27FC236}">
                <a16:creationId xmlns:a16="http://schemas.microsoft.com/office/drawing/2014/main" id="{149CC699-A079-49A5-A4D6-73B7F849A7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121F4233-7E9A-40D2-9066-2DB14E2FA5A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18F1DFF-B3E7-4ABF-97EE-0BBF3A961E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5307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10985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925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35634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68797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714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33324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31878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49477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5849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03406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499419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21565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65F1CA9-65DC-416B-8882-B3A5E415CE67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5" name="Footer Placeholder 7">
            <a:extLst>
              <a:ext uri="{FF2B5EF4-FFF2-40B4-BE49-F238E27FC236}">
                <a16:creationId xmlns:a16="http://schemas.microsoft.com/office/drawing/2014/main" id="{43FAF785-0C8D-730E-8E59-68198DC82CE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6893447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49B984-F964-47FF-8179-0A3007CE21C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059BE0-D868-413B-AAA1-1CC88D1F52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59037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27548A-4D3C-449B-81A5-FA4BE4628490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472CE7-61C1-4B7B-B0C8-5A45F017871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88444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licenses/by-nc-sa/4.0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Bottom">
            <a:extLst>
              <a:ext uri="{FF2B5EF4-FFF2-40B4-BE49-F238E27FC236}">
                <a16:creationId xmlns:a16="http://schemas.microsoft.com/office/drawing/2014/main" id="{6854D183-0374-4B3E-B2CE-32F308A81591}"/>
              </a:ext>
            </a:extLst>
          </p:cNvPr>
          <p:cNvSpPr/>
          <p:nvPr userDrawn="1"/>
        </p:nvSpPr>
        <p:spPr>
          <a:xfrm>
            <a:off x="0" y="6702676"/>
            <a:ext cx="12195176" cy="1553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3" name="Picture Placeholder Title Image">
            <a:extLst>
              <a:ext uri="{FF2B5EF4-FFF2-40B4-BE49-F238E27FC236}">
                <a16:creationId xmlns:a16="http://schemas.microsoft.com/office/drawing/2014/main" id="{A04D819A-89E2-4714-8C56-1838BF467EF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90123" y="3400017"/>
            <a:ext cx="5248260" cy="2188983"/>
          </a:xfrm>
        </p:spPr>
        <p:txBody>
          <a:bodyPr/>
          <a:lstStyle>
            <a:lvl1pPr marL="0" indent="0" algn="ctr" latinLnBrk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0" name="Company Web Site">
            <a:extLst>
              <a:ext uri="{FF2B5EF4-FFF2-40B4-BE49-F238E27FC236}">
                <a16:creationId xmlns:a16="http://schemas.microsoft.com/office/drawing/2014/main" id="{0B99B1EE-62FA-4AA4-920C-D444D6C0B77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90120" y="6086106"/>
            <a:ext cx="5248260" cy="341313"/>
          </a:xfrm>
        </p:spPr>
        <p:txBody>
          <a:bodyPr lIns="36000" rIns="36000" anchor="ctr" anchorCtr="0">
            <a:noAutofit/>
          </a:bodyPr>
          <a:lstStyle>
            <a:lvl1pPr marL="0" indent="0" algn="r">
              <a:buNone/>
              <a:defRPr sz="1800"/>
            </a:lvl1pPr>
          </a:lstStyle>
          <a:p>
            <a:pPr lvl="0"/>
            <a:r>
              <a:rPr lang="en-US" dirty="0"/>
              <a:t>https://softuni.foundation  </a:t>
            </a:r>
          </a:p>
        </p:txBody>
      </p:sp>
      <p:sp>
        <p:nvSpPr>
          <p:cNvPr id="6" name="Company Name">
            <a:extLst>
              <a:ext uri="{FF2B5EF4-FFF2-40B4-BE49-F238E27FC236}">
                <a16:creationId xmlns:a16="http://schemas.microsoft.com/office/drawing/2014/main" id="{2A76510A-0BAE-A827-E77C-BE88E38F52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90122" y="5698189"/>
            <a:ext cx="5248260" cy="374236"/>
          </a:xfrm>
        </p:spPr>
        <p:txBody>
          <a:bodyPr lIns="36000" rIns="36000" anchor="ctr" anchorCtr="0">
            <a:normAutofit/>
          </a:bodyPr>
          <a:lstStyle>
            <a:lvl1pPr marL="0" indent="0" algn="r">
              <a:buNone/>
              <a:defRPr sz="2000" b="1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SoftUni Foundation</a:t>
            </a:r>
          </a:p>
        </p:txBody>
      </p:sp>
      <p:sp>
        <p:nvSpPr>
          <p:cNvPr id="31" name="Author Position">
            <a:extLst>
              <a:ext uri="{FF2B5EF4-FFF2-40B4-BE49-F238E27FC236}">
                <a16:creationId xmlns:a16="http://schemas.microsoft.com/office/drawing/2014/main" id="{3E6B87B7-9D33-4EBB-BD4F-C0436BA3FD7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534045" y="6085863"/>
            <a:ext cx="4751953" cy="341556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1800" b="0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URL</a:t>
            </a:r>
          </a:p>
        </p:txBody>
      </p:sp>
      <p:sp>
        <p:nvSpPr>
          <p:cNvPr id="30" name="Author Name">
            <a:extLst>
              <a:ext uri="{FF2B5EF4-FFF2-40B4-BE49-F238E27FC236}">
                <a16:creationId xmlns:a16="http://schemas.microsoft.com/office/drawing/2014/main" id="{2EA92DCA-4DB5-4D03-ACD3-A6A296592D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534046" y="5251106"/>
            <a:ext cx="4751954" cy="724904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2000" b="1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Authors</a:t>
            </a:r>
          </a:p>
        </p:txBody>
      </p:sp>
      <p:sp>
        <p:nvSpPr>
          <p:cNvPr id="43" name="Presentation Subtitle">
            <a:extLst>
              <a:ext uri="{FF2B5EF4-FFF2-40B4-BE49-F238E27FC236}">
                <a16:creationId xmlns:a16="http://schemas.microsoft.com/office/drawing/2014/main" id="{37BDB812-1395-4B02-ABCF-6A331EEE23E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54746" y="1402942"/>
            <a:ext cx="11083636" cy="1306057"/>
          </a:xfrm>
        </p:spPr>
        <p:txBody>
          <a:bodyPr anchor="t" anchorCtr="0">
            <a:normAutofit/>
          </a:bodyPr>
          <a:lstStyle>
            <a:lvl1pPr marL="0" indent="0" algn="ctr" latinLnBrk="0">
              <a:buNone/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Presentation Subtitle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A4DF3AB8-E6E3-4FCE-8A4A-ECD147720A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746" y="321501"/>
            <a:ext cx="11083636" cy="971589"/>
          </a:xfrm>
        </p:spPr>
        <p:txBody>
          <a:bodyPr>
            <a:normAutofit/>
          </a:bodyPr>
          <a:lstStyle>
            <a:lvl1pPr algn="ctr" latinLnBrk="0">
              <a:defRPr sz="5400"/>
            </a:lvl1pPr>
          </a:lstStyle>
          <a:p>
            <a:r>
              <a:rPr lang="en-US" noProof="0" dirty="0"/>
              <a:t>Presentation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4D0DB3-F60A-469B-7831-209CB666CC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549" y="4325954"/>
            <a:ext cx="2538082" cy="633046"/>
          </a:xfrm>
          <a:prstGeom prst="rect">
            <a:avLst/>
          </a:prstGeom>
        </p:spPr>
      </p:pic>
      <p:pic>
        <p:nvPicPr>
          <p:cNvPr id="5" name="Picture 4" title="CC-BY-NC-SA License">
            <a:hlinkClick r:id="rId3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2D40731C-0303-A69D-63FD-E048A73CA59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402682" y="4321352"/>
            <a:ext cx="1809336" cy="633045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0654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4319736" y="86775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615109" y="5585916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615109" y="4704825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529216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">
            <a:extLst>
              <a:ext uri="{FF2B5EF4-FFF2-40B4-BE49-F238E27FC236}">
                <a16:creationId xmlns:a16="http://schemas.microsoft.com/office/drawing/2014/main" id="{C1780DB1-0AF0-4108-AFE1-9DA99F0DBC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Slide Body Text">
            <a:extLst>
              <a:ext uri="{FF2B5EF4-FFF2-40B4-BE49-F238E27FC236}">
                <a16:creationId xmlns:a16="http://schemas.microsoft.com/office/drawing/2014/main" id="{5A9D2960-6D42-439F-82E8-812822013A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6125"/>
            <a:ext cx="11818096" cy="5528766"/>
          </a:xfrm>
        </p:spPr>
        <p:txBody>
          <a:bodyPr/>
          <a:lstStyle>
            <a:lvl1pPr latinLnBrk="0">
              <a:buClr>
                <a:schemeClr val="tx1"/>
              </a:buClr>
              <a:defRPr/>
            </a:lvl1pPr>
            <a:lvl2pPr latinLnBrk="0">
              <a:buClr>
                <a:schemeClr val="tx1"/>
              </a:buClr>
              <a:defRPr/>
            </a:lvl2pPr>
            <a:lvl3pPr latinLnBrk="0">
              <a:buClr>
                <a:schemeClr val="tx1"/>
              </a:buClr>
              <a:defRPr/>
            </a:lvl3pPr>
            <a:lvl4pPr latinLnBrk="0">
              <a:buClr>
                <a:schemeClr val="tx1"/>
              </a:buClr>
              <a:defRPr/>
            </a:lvl4pPr>
            <a:lvl5pPr latinLnBrk="0">
              <a:buClr>
                <a:schemeClr val="tx1"/>
              </a:buClr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391AFA4E-7870-4561-A1B8-AC956B0C8931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19B5B676-7892-440F-8191-7109B2C598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9A1D0F-F579-6A3C-C698-4E2E7F1AB2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970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ortant Conce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0020EB61-2079-41A3-B356-B1D8D48D7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6" name="Rectangle Left"/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35205" y="1792355"/>
            <a:ext cx="1830304" cy="4062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CB4CB13C-66A1-466B-A6C1-B0BABF5CFE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66000" y="1121143"/>
            <a:ext cx="10129234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8" name="Slide Title">
            <a:extLst>
              <a:ext uri="{FF2B5EF4-FFF2-40B4-BE49-F238E27FC236}">
                <a16:creationId xmlns:a16="http://schemas.microsoft.com/office/drawing/2014/main" id="{E2DA9691-CDF5-499C-94BB-AAA61DAC1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8CA5371-2597-CF8F-1859-22639580743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530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portant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1865BF6B-7F07-4E9C-879F-80E36EEB34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520027" y="3314704"/>
            <a:ext cx="1260665" cy="279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Slide Body Text">
            <a:extLst>
              <a:ext uri="{FF2B5EF4-FFF2-40B4-BE49-F238E27FC236}">
                <a16:creationId xmlns:a16="http://schemas.microsoft.com/office/drawing/2014/main" id="{6157C8DE-E0AF-422B-BBB1-F0AF1264B5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73561" y="1121143"/>
            <a:ext cx="10321675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0D5CC956-5C4A-44BE-8F8B-327FAFA51E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37AF1B9-D67A-246A-86B6-E28F19C523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651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0B8C963-1813-4B69-AD27-6D02EBBBB5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 userDrawn="1"/>
        </p:nvSpPr>
        <p:spPr>
          <a:xfrm>
            <a:off x="0" y="0"/>
            <a:ext cx="429471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4" name="Picture Bulb" descr="Bulb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56000" y="5098868"/>
            <a:ext cx="779209" cy="1729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7296EDA7-D37D-4B31-A888-371F080412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5176" y="1121143"/>
            <a:ext cx="11410061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55A88B09-3557-48A3-BF27-42699C2692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177" y="100750"/>
            <a:ext cx="987582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2C375B-43BF-D1DD-F160-1500A111885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562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urce Code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">
            <a:extLst>
              <a:ext uri="{FF2B5EF4-FFF2-40B4-BE49-F238E27FC236}">
                <a16:creationId xmlns:a16="http://schemas.microsoft.com/office/drawing/2014/main" id="{509D954E-A844-4072-A556-DE584BEB93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9" name="Rectangle Top">
            <a:extLst>
              <a:ext uri="{FF2B5EF4-FFF2-40B4-BE49-F238E27FC236}">
                <a16:creationId xmlns:a16="http://schemas.microsoft.com/office/drawing/2014/main" id="{A15CE03A-0933-4E5D-9EA1-718D4F802FFC}"/>
              </a:ext>
            </a:extLst>
          </p:cNvPr>
          <p:cNvSpPr/>
          <p:nvPr userDrawn="1"/>
        </p:nvSpPr>
        <p:spPr>
          <a:xfrm>
            <a:off x="0" y="1311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2" name="Slide Body Text">
            <a:extLst>
              <a:ext uri="{FF2B5EF4-FFF2-40B4-BE49-F238E27FC236}">
                <a16:creationId xmlns:a16="http://schemas.microsoft.com/office/drawing/2014/main" id="{B608ED73-CE88-49E4-8BFC-DBD6E9AE6B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6" y="1206668"/>
            <a:ext cx="11804831" cy="5550582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This is a code example</a:t>
            </a:r>
          </a:p>
        </p:txBody>
      </p:sp>
      <p:sp>
        <p:nvSpPr>
          <p:cNvPr id="4" name="Code Box">
            <a:extLst>
              <a:ext uri="{FF2B5EF4-FFF2-40B4-BE49-F238E27FC236}">
                <a16:creationId xmlns:a16="http://schemas.microsoft.com/office/drawing/2014/main" id="{F4E021E9-D6DB-4272-8C9F-CEF4940FDC1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4683" y="2034000"/>
            <a:ext cx="10836275" cy="2237893"/>
          </a:xfrm>
          <a:solidFill>
            <a:schemeClr val="accent6">
              <a:lumMod val="75000"/>
              <a:alpha val="15000"/>
            </a:schemeClr>
          </a:solidFill>
          <a:ln w="12700">
            <a:solidFill>
              <a:schemeClr val="tx1">
                <a:lumMod val="50000"/>
              </a:schemeClr>
            </a:solidFill>
          </a:ln>
        </p:spPr>
        <p:txBody>
          <a:bodyPr vert="horz" wrap="square" lIns="144000" tIns="108000" rIns="144000" bIns="108000" rtlCol="0">
            <a:spAutoFit/>
          </a:bodyPr>
          <a:lstStyle>
            <a:lvl1pPr>
              <a:buNone/>
              <a:defRPr lang="en-US" sz="2800" b="1" smtClean="0">
                <a:latin typeface="Consolas" pitchFamily="49" charset="0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Source code box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</p:txBody>
      </p:sp>
      <p:sp>
        <p:nvSpPr>
          <p:cNvPr id="11" name="Slide Title">
            <a:extLst>
              <a:ext uri="{FF2B5EF4-FFF2-40B4-BE49-F238E27FC236}">
                <a16:creationId xmlns:a16="http://schemas.microsoft.com/office/drawing/2014/main" id="{47D60833-F0A9-4F29-8C06-A963A7C8BE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39658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69A4E8-9221-8F79-65B4-BF9AA7F87DD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829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831000" y="109147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5241000" y="3338387"/>
            <a:ext cx="6065892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5241000" y="1471047"/>
            <a:ext cx="6065892" cy="175433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423919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">
            <a:extLst>
              <a:ext uri="{FF2B5EF4-FFF2-40B4-BE49-F238E27FC236}">
                <a16:creationId xmlns:a16="http://schemas.microsoft.com/office/drawing/2014/main" id="{39DDE17E-5472-41F3-AF5F-54DFF10DC6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3" name="Slide Body Text">
            <a:extLst>
              <a:ext uri="{FF2B5EF4-FFF2-40B4-BE49-F238E27FC236}">
                <a16:creationId xmlns:a16="http://schemas.microsoft.com/office/drawing/2014/main" id="{889D93F4-ABFA-46BF-8E5D-FE6562ACB20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6766" y="1371604"/>
            <a:ext cx="11781606" cy="5207396"/>
          </a:xfrm>
        </p:spPr>
        <p:txBody>
          <a:bodyPr>
            <a:normAutofit/>
          </a:bodyPr>
          <a:lstStyle>
            <a:lvl1pPr marL="514042" indent="-514042" latinLnBrk="0">
              <a:buFont typeface="+mj-lt"/>
              <a:buAutoNum type="arabicPeriod"/>
              <a:defRPr sz="3600">
                <a:solidFill>
                  <a:schemeClr val="tx1"/>
                </a:solidFill>
              </a:defRPr>
            </a:lvl1pPr>
            <a:lvl2pPr>
              <a:defRPr sz="3400"/>
            </a:lvl2pPr>
          </a:lstStyle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</p:txBody>
      </p:sp>
      <p:sp>
        <p:nvSpPr>
          <p:cNvPr id="8" name="Rectangle Top">
            <a:extLst>
              <a:ext uri="{FF2B5EF4-FFF2-40B4-BE49-F238E27FC236}">
                <a16:creationId xmlns:a16="http://schemas.microsoft.com/office/drawing/2014/main" id="{930E0800-9260-4369-8330-8264DD33C5CE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57D7BE1-6358-42CC-94F3-7BCDD91DC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Table of Contents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D808AB-EC49-1578-0005-D58D2A365AA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724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Bottom"/>
          <p:cNvSpPr/>
          <p:nvPr/>
        </p:nvSpPr>
        <p:spPr>
          <a:xfrm>
            <a:off x="2" y="6264000"/>
            <a:ext cx="12192000" cy="594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856" tIns="60928" rIns="121856" bIns="6092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6750ECE4-94E0-469B-B8E4-562792823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62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bg2"/>
                </a:solidFill>
              </a:defRPr>
            </a:lvl1pPr>
          </a:lstStyle>
          <a:p>
            <a:fld id="{2BF067CD-8E6B-4360-9AA8-C5DF2A48A6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Oval Logo Holder"/>
          <p:cNvSpPr/>
          <p:nvPr/>
        </p:nvSpPr>
        <p:spPr>
          <a:xfrm>
            <a:off x="5161650" y="4824665"/>
            <a:ext cx="1868701" cy="1868701"/>
          </a:xfrm>
          <a:prstGeom prst="ellipse">
            <a:avLst/>
          </a:prstGeom>
          <a:solidFill>
            <a:schemeClr val="tx2"/>
          </a:solidFill>
          <a:ln w="635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Text Placeholder Right">
            <a:extLst>
              <a:ext uri="{FF2B5EF4-FFF2-40B4-BE49-F238E27FC236}">
                <a16:creationId xmlns:a16="http://schemas.microsoft.com/office/drawing/2014/main" id="{AF69A59F-C564-4A04-B1CC-31C26149999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56000" y="1195931"/>
            <a:ext cx="5545597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Text Placeholder Left">
            <a:extLst>
              <a:ext uri="{FF2B5EF4-FFF2-40B4-BE49-F238E27FC236}">
                <a16:creationId xmlns:a16="http://schemas.microsoft.com/office/drawing/2014/main" id="{C8A626D2-456B-41EF-9818-EA8DD7E314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5931"/>
            <a:ext cx="5545598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E03301DA-D0AF-46FD-8740-2F761250203A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5" name="Slide Title">
            <a:extLst>
              <a:ext uri="{FF2B5EF4-FFF2-40B4-BE49-F238E27FC236}">
                <a16:creationId xmlns:a16="http://schemas.microsoft.com/office/drawing/2014/main" id="{EA9A94D1-F9F6-4D7B-85E3-896A987B6A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70595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C9792D8-D354-4699-B7D6-B8CB7F7759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398753" y="5340443"/>
            <a:ext cx="1334859" cy="9828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351E19-25DA-EAD2-9FBE-358B6135D72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033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">
            <a:extLst>
              <a:ext uri="{FF2B5EF4-FFF2-40B4-BE49-F238E27FC236}">
                <a16:creationId xmlns:a16="http://schemas.microsoft.com/office/drawing/2014/main" id="{F888EE71-82B3-40F1-A63F-7417422FB4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44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A2ABE920-240F-4CF6-AD45-23ED489FAD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69002" y="1353866"/>
            <a:ext cx="7426234" cy="5219931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Picture Placeholder Left"/>
          <p:cNvSpPr>
            <a:spLocks noGrp="1"/>
          </p:cNvSpPr>
          <p:nvPr>
            <p:ph type="pic" idx="1" hasCustomPrompt="1"/>
          </p:nvPr>
        </p:nvSpPr>
        <p:spPr>
          <a:xfrm>
            <a:off x="190405" y="1355077"/>
            <a:ext cx="3889373" cy="536640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anchor="ctr"/>
          <a:lstStyle>
            <a:lvl1pPr marL="0" indent="0" algn="ctr" latinLnBrk="0">
              <a:buNone/>
              <a:defRPr sz="2131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  <a:lvl2pPr marL="609219" indent="0">
              <a:buNone/>
              <a:defRPr sz="3731"/>
            </a:lvl2pPr>
            <a:lvl3pPr marL="1218438" indent="0">
              <a:buNone/>
              <a:defRPr sz="3198"/>
            </a:lvl3pPr>
            <a:lvl4pPr marL="1827657" indent="0">
              <a:buNone/>
              <a:defRPr sz="2665"/>
            </a:lvl4pPr>
            <a:lvl5pPr marL="2436876" indent="0">
              <a:buNone/>
              <a:defRPr sz="2665"/>
            </a:lvl5pPr>
            <a:lvl6pPr marL="3046096" indent="0">
              <a:buNone/>
              <a:defRPr sz="2665"/>
            </a:lvl6pPr>
            <a:lvl7pPr marL="3655315" indent="0">
              <a:buNone/>
              <a:defRPr sz="2665"/>
            </a:lvl7pPr>
            <a:lvl8pPr marL="4264533" indent="0">
              <a:buNone/>
              <a:defRPr sz="2665"/>
            </a:lvl8pPr>
            <a:lvl9pPr marL="4873752" indent="0">
              <a:buNone/>
              <a:defRPr sz="2665"/>
            </a:lvl9pPr>
          </a:lstStyle>
          <a:p>
            <a:r>
              <a:rPr lang="en-US" altLang="ko-KR" noProof="0"/>
              <a:t>Your Picture Here</a:t>
            </a:r>
          </a:p>
        </p:txBody>
      </p:sp>
      <p:sp>
        <p:nvSpPr>
          <p:cNvPr id="3" name="Rectangle Left Second"/>
          <p:cNvSpPr/>
          <p:nvPr/>
        </p:nvSpPr>
        <p:spPr>
          <a:xfrm>
            <a:off x="4127777" y="1748999"/>
            <a:ext cx="240001" cy="3360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" name="Rectangle Left First"/>
          <p:cNvSpPr/>
          <p:nvPr/>
        </p:nvSpPr>
        <p:spPr>
          <a:xfrm>
            <a:off x="4079775" y="1355073"/>
            <a:ext cx="48001" cy="550292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Rectangle Down">
            <a:extLst>
              <a:ext uri="{FF2B5EF4-FFF2-40B4-BE49-F238E27FC236}">
                <a16:creationId xmlns:a16="http://schemas.microsoft.com/office/drawing/2014/main" id="{E9B994EC-35A8-4A11-98CB-25DC28852F94}"/>
              </a:ext>
            </a:extLst>
          </p:cNvPr>
          <p:cNvSpPr/>
          <p:nvPr/>
        </p:nvSpPr>
        <p:spPr>
          <a:xfrm>
            <a:off x="2" y="6721482"/>
            <a:ext cx="12192000" cy="1365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Rectangle Top">
            <a:extLst>
              <a:ext uri="{FF2B5EF4-FFF2-40B4-BE49-F238E27FC236}">
                <a16:creationId xmlns:a16="http://schemas.microsoft.com/office/drawing/2014/main" id="{274B8F05-DFCE-47BD-BAFD-DF93E1A63BDD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F218E34-55D7-4290-BFE4-80F31F9415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F3DB3E-BDAA-8201-9A01-2F52640A84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019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s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Bottom">
            <a:extLst>
              <a:ext uri="{FF2B5EF4-FFF2-40B4-BE49-F238E27FC236}">
                <a16:creationId xmlns:a16="http://schemas.microsoft.com/office/drawing/2014/main" id="{550A59F9-9A9D-4956-95B4-F78CC0DB1D59}"/>
              </a:ext>
            </a:extLst>
          </p:cNvPr>
          <p:cNvSpPr/>
          <p:nvPr userDrawn="1"/>
        </p:nvSpPr>
        <p:spPr>
          <a:xfrm>
            <a:off x="0" y="6371332"/>
            <a:ext cx="12195176" cy="48723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107753B-8639-4399-B782-EE5377184D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6988" y="1461842"/>
            <a:ext cx="10731663" cy="3047158"/>
          </a:xfrm>
        </p:spPr>
        <p:txBody>
          <a:bodyPr>
            <a:normAutofit/>
          </a:bodyPr>
          <a:lstStyle>
            <a:lvl1pPr algn="ctr">
              <a:defRPr sz="13800"/>
            </a:lvl1pPr>
          </a:lstStyle>
          <a:p>
            <a:r>
              <a:rPr lang="bg-BG" dirty="0"/>
              <a:t>Въпроси?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061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Body Text">
            <a:extLst>
              <a:ext uri="{FF2B5EF4-FFF2-40B4-BE49-F238E27FC236}">
                <a16:creationId xmlns:a16="http://schemas.microsoft.com/office/drawing/2014/main" id="{90CBFB32-9F46-4F2F-8A54-9EE8BED27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0404" y="1138844"/>
            <a:ext cx="11804830" cy="5530156"/>
          </a:xfrm>
          <a:prstGeom prst="rect">
            <a:avLst/>
          </a:prstGeom>
        </p:spPr>
        <p:txBody>
          <a:bodyPr vert="horz" lIns="108000" tIns="36000" rIns="108000" bIns="36000" rtlCol="0">
            <a:norm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10" name="Slide Title">
            <a:extLst>
              <a:ext uri="{FF2B5EF4-FFF2-40B4-BE49-F238E27FC236}">
                <a16:creationId xmlns:a16="http://schemas.microsoft.com/office/drawing/2014/main" id="{B770C392-3003-4C35-9625-BB041F825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5" y="100750"/>
            <a:ext cx="11804829" cy="882654"/>
          </a:xfrm>
          <a:prstGeom prst="rect">
            <a:avLst/>
          </a:prstGeom>
        </p:spPr>
        <p:txBody>
          <a:bodyPr vert="horz" lIns="108000" tIns="36000" rIns="108000" bIns="3600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6789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89" r:id="rId2"/>
    <p:sldLayoutId id="2147483681" r:id="rId3"/>
    <p:sldLayoutId id="2147483679" r:id="rId4"/>
    <p:sldLayoutId id="2147483680" r:id="rId5"/>
    <p:sldLayoutId id="2147483688" r:id="rId6"/>
    <p:sldLayoutId id="2147483684" r:id="rId7"/>
    <p:sldLayoutId id="2147483690" r:id="rId8"/>
    <p:sldLayoutId id="2147483677" r:id="rId9"/>
    <p:sldLayoutId id="2147483683" r:id="rId10"/>
    <p:sldLayoutId id="2147483685" r:id="rId11"/>
    <p:sldLayoutId id="2147483686" r:id="rId12"/>
  </p:sldLayoutIdLst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hf hdr="0" ftr="0" dt="0"/>
  <p:txStyles>
    <p:titleStyle>
      <a:lvl1pPr algn="l" defTabSz="1218438" rtl="0" eaLnBrk="1" latinLnBrk="0" hangingPunct="1">
        <a:spcBef>
          <a:spcPct val="0"/>
        </a:spcBef>
        <a:buNone/>
        <a:defRPr sz="3998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36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398" kern="1200">
          <a:solidFill>
            <a:schemeClr val="tx1"/>
          </a:solidFill>
          <a:latin typeface="+mn-lt"/>
          <a:ea typeface="+mn-ea"/>
          <a:cs typeface="+mn-cs"/>
        </a:defRPr>
      </a:lvl1pPr>
      <a:lvl2pPr marL="803275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198" kern="1200">
          <a:solidFill>
            <a:schemeClr val="tx1"/>
          </a:solidFill>
          <a:latin typeface="+mn-lt"/>
          <a:ea typeface="+mn-ea"/>
          <a:cs typeface="+mn-cs"/>
        </a:defRPr>
      </a:lvl2pPr>
      <a:lvl3pPr marL="125571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998" kern="1200">
          <a:solidFill>
            <a:schemeClr val="tx1"/>
          </a:solidFill>
          <a:latin typeface="+mn-lt"/>
          <a:ea typeface="+mn-ea"/>
          <a:cs typeface="+mn-cs"/>
        </a:defRPr>
      </a:lvl3pPr>
      <a:lvl4pPr marL="1700213" indent="-352425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798" kern="1200">
          <a:solidFill>
            <a:schemeClr val="tx1"/>
          </a:solidFill>
          <a:latin typeface="+mn-lt"/>
          <a:ea typeface="+mn-ea"/>
          <a:cs typeface="+mn-cs"/>
        </a:defRPr>
      </a:lvl4pPr>
      <a:lvl5pPr marL="2058988" indent="-266700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598" kern="1200">
          <a:solidFill>
            <a:schemeClr val="tx1"/>
          </a:solidFill>
          <a:latin typeface="+mn-lt"/>
          <a:ea typeface="+mn-ea"/>
          <a:cs typeface="+mn-cs"/>
        </a:defRPr>
      </a:lvl5pPr>
      <a:lvl6pPr marL="335070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6pPr>
      <a:lvl7pPr marL="395992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7pPr>
      <a:lvl8pPr marL="4569143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8pPr>
      <a:lvl9pPr marL="5178362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219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8438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7657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687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609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5315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4533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3752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184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9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.png"/><Relationship Id="rId5" Type="http://schemas.openxmlformats.org/officeDocument/2006/relationships/hyperlink" Target="http://creativecommons.org/licenses/by-nc-sa/4.0/" TargetMode="External"/><Relationship Id="rId4" Type="http://schemas.openxmlformats.org/officeDocument/2006/relationships/hyperlink" Target="https://github.com/BG-IT-Ed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hor Name">
            <a:extLst>
              <a:ext uri="{FF2B5EF4-FFF2-40B4-BE49-F238E27FC236}">
                <a16:creationId xmlns:a16="http://schemas.microsoft.com/office/drawing/2014/main" id="{FA396BB6-2053-4690-9672-BC528007D37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390120" y="6086106"/>
            <a:ext cx="5248260" cy="341313"/>
          </a:xfrm>
        </p:spPr>
        <p:txBody>
          <a:bodyPr>
            <a:normAutofit lnSpcReduction="10000"/>
          </a:bodyPr>
          <a:lstStyle/>
          <a:p>
            <a:r>
              <a:rPr lang="bg-BG" dirty="0"/>
              <a:t>Софтуерни и хардуерни науки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8DE66249-1FBD-414B-AF0D-550F7312AF7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390122" y="5698189"/>
            <a:ext cx="5248260" cy="374236"/>
          </a:xfrm>
        </p:spPr>
        <p:txBody>
          <a:bodyPr>
            <a:normAutofit lnSpcReduction="10000"/>
          </a:bodyPr>
          <a:lstStyle/>
          <a:p>
            <a:r>
              <a:rPr lang="bg-BG" dirty="0"/>
              <a:t>Курс </a:t>
            </a:r>
            <a:r>
              <a:rPr lang="en-US" dirty="0"/>
              <a:t>"</a:t>
            </a:r>
            <a:r>
              <a:rPr lang="bg-BG" dirty="0"/>
              <a:t>Информационни технологии"</a:t>
            </a:r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20F80DC-BAF0-05EE-2BC1-37C2321904F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34045" y="6085863"/>
            <a:ext cx="4751953" cy="341556"/>
          </a:xfrm>
        </p:spPr>
        <p:txBody>
          <a:bodyPr>
            <a:normAutofit lnSpcReduction="10000"/>
          </a:bodyPr>
          <a:lstStyle/>
          <a:p>
            <a:r>
              <a:rPr lang="en-US" dirty="0">
                <a:hlinkClick r:id="rId3"/>
              </a:rPr>
              <a:t>https://github.com/BG-IT-Edu</a:t>
            </a:r>
            <a:endParaRPr lang="en-US" dirty="0"/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E4D839B2-02D1-883A-3CE0-7CF25557FB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34046" y="5251106"/>
            <a:ext cx="4751954" cy="724904"/>
          </a:xfrm>
        </p:spPr>
        <p:txBody>
          <a:bodyPr>
            <a:normAutofit/>
          </a:bodyPr>
          <a:lstStyle/>
          <a:p>
            <a:r>
              <a:rPr lang="bg-BG" dirty="0"/>
              <a:t>Проект "Отворено учебно съдържание по програмиране и ИТ", СофтУни Фондация </a:t>
            </a:r>
          </a:p>
        </p:txBody>
      </p:sp>
      <p:sp>
        <p:nvSpPr>
          <p:cNvPr id="3" name="Presentation Subtitle">
            <a:extLst>
              <a:ext uri="{FF2B5EF4-FFF2-40B4-BE49-F238E27FC236}">
                <a16:creationId xmlns:a16="http://schemas.microsoft.com/office/drawing/2014/main" id="{A004DC04-DA2A-41C0-8578-4B8D2F08EA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4746" y="1402942"/>
            <a:ext cx="11083636" cy="971589"/>
          </a:xfrm>
        </p:spPr>
        <p:txBody>
          <a:bodyPr>
            <a:noAutofit/>
          </a:bodyPr>
          <a:lstStyle/>
          <a:p>
            <a:r>
              <a:rPr lang="bg-BG" sz="3400" dirty="0"/>
              <a:t>Графичен модел, прототип, лого и бранд идентичност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37F91798-9AD5-4209-8887-958029548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746" y="321501"/>
            <a:ext cx="11083636" cy="971589"/>
          </a:xfrm>
        </p:spPr>
        <p:txBody>
          <a:bodyPr>
            <a:noAutofit/>
          </a:bodyPr>
          <a:lstStyle/>
          <a:p>
            <a:r>
              <a:rPr lang="bg-BG" sz="6000" dirty="0"/>
              <a:t>Графичен дизайн на уеб сайт</a:t>
            </a:r>
            <a:endParaRPr lang="en-US" sz="6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C89CDB-9A69-7B24-74E6-10BF87DE1C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1007" y="3056137"/>
            <a:ext cx="1819960" cy="849053"/>
          </a:xfrm>
          <a:prstGeom prst="rect">
            <a:avLst/>
          </a:prstGeom>
        </p:spPr>
      </p:pic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9E0636FF-9DFF-1E3C-B648-B7D58C2CC7D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94" t="-495" r="-1094" b="49363"/>
          <a:stretch/>
        </p:blipFill>
        <p:spPr>
          <a:xfrm>
            <a:off x="6390123" y="3400017"/>
            <a:ext cx="5248260" cy="2188983"/>
          </a:xfr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666405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597"/>
    </mc:Choice>
    <mc:Fallback xmlns="">
      <p:transition spd="slow" advTm="2597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6A760D59-0056-4F39-B077-DBDBE3D2927E}"/>
              </a:ext>
            </a:extLst>
          </p:cNvPr>
          <p:cNvSpPr txBox="1">
            <a:spLocks/>
          </p:cNvSpPr>
          <p:nvPr/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BF067CD-8E6B-4360-9AA8-C5DF2A48A6D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44419" name="Slide Body"/>
          <p:cNvSpPr>
            <a:spLocks noGrp="1" noChangeArrowheads="1"/>
          </p:cNvSpPr>
          <p:nvPr>
            <p:ph type="body" sz="quarter" idx="13"/>
          </p:nvPr>
        </p:nvSpPr>
        <p:spPr>
          <a:xfrm>
            <a:off x="196766" y="1371604"/>
            <a:ext cx="11781606" cy="5207396"/>
          </a:xfrm>
        </p:spPr>
        <p:txBody>
          <a:bodyPr>
            <a:normAutofit fontScale="85000" lnSpcReduction="20000"/>
          </a:bodyPr>
          <a:lstStyle/>
          <a:p>
            <a:pPr>
              <a:buClr>
                <a:schemeClr val="tx1"/>
              </a:buClr>
            </a:pPr>
            <a:r>
              <a:rPr lang="bg-BG" sz="3800" dirty="0"/>
              <a:t>​</a:t>
            </a:r>
            <a:r>
              <a:rPr lang="bg-BG" sz="3800" b="1" dirty="0">
                <a:solidFill>
                  <a:schemeClr val="bg1"/>
                </a:solidFill>
              </a:rPr>
              <a:t>Графичен модел </a:t>
            </a:r>
            <a:r>
              <a:rPr lang="en-US" sz="3800" b="1" dirty="0"/>
              <a:t>(Mockup)</a:t>
            </a:r>
            <a:endParaRPr lang="bg-BG" sz="3800" b="1" dirty="0"/>
          </a:p>
          <a:p>
            <a:pPr lvl="1">
              <a:buClr>
                <a:schemeClr val="tx1"/>
              </a:buClr>
            </a:pPr>
            <a:r>
              <a:rPr lang="bg-BG" sz="3600" b="1" dirty="0"/>
              <a:t>Основни етапи</a:t>
            </a:r>
          </a:p>
          <a:p>
            <a:pPr>
              <a:buClr>
                <a:schemeClr val="tx1"/>
              </a:buClr>
            </a:pPr>
            <a:r>
              <a:rPr lang="bg-BG" sz="3800" dirty="0"/>
              <a:t>​​</a:t>
            </a:r>
            <a:r>
              <a:rPr lang="bg-BG" sz="3800" b="1" dirty="0">
                <a:solidFill>
                  <a:schemeClr val="bg1"/>
                </a:solidFill>
              </a:rPr>
              <a:t>Прототип </a:t>
            </a:r>
            <a:r>
              <a:rPr lang="en-US" sz="3800" b="1" dirty="0"/>
              <a:t>(Prototype</a:t>
            </a:r>
            <a:r>
              <a:rPr lang="bg-BG" sz="3800" b="1" dirty="0"/>
              <a:t>)</a:t>
            </a:r>
            <a:endParaRPr lang="en-US" sz="3800" b="1" dirty="0"/>
          </a:p>
          <a:p>
            <a:pPr>
              <a:buClr>
                <a:schemeClr val="tx1"/>
              </a:buClr>
            </a:pPr>
            <a:r>
              <a:rPr lang="bg-BG" sz="3800" dirty="0"/>
              <a:t>​</a:t>
            </a:r>
            <a:r>
              <a:rPr lang="bg-BG" sz="3800" b="1" dirty="0">
                <a:solidFill>
                  <a:schemeClr val="bg1"/>
                </a:solidFill>
              </a:rPr>
              <a:t>Елементи </a:t>
            </a:r>
            <a:r>
              <a:rPr lang="bg-BG" sz="3800" dirty="0"/>
              <a:t>на</a:t>
            </a:r>
            <a:r>
              <a:rPr lang="bg-BG" sz="3800" b="1" dirty="0">
                <a:solidFill>
                  <a:schemeClr val="bg1"/>
                </a:solidFill>
              </a:rPr>
              <a:t> графичния дизайн</a:t>
            </a:r>
          </a:p>
          <a:p>
            <a:pPr lvl="1">
              <a:buClr>
                <a:schemeClr val="tx1"/>
              </a:buClr>
            </a:pPr>
            <a:r>
              <a:rPr lang="bg-BG" b="1" dirty="0"/>
              <a:t>Цветова схема</a:t>
            </a:r>
          </a:p>
          <a:p>
            <a:pPr lvl="1">
              <a:buClr>
                <a:schemeClr val="tx1"/>
              </a:buClr>
            </a:pPr>
            <a:r>
              <a:rPr lang="bg-BG" b="1" dirty="0"/>
              <a:t>Шрифтове </a:t>
            </a:r>
            <a:r>
              <a:rPr lang="en-US" b="1" dirty="0"/>
              <a:t>(</a:t>
            </a:r>
            <a:r>
              <a:rPr lang="bg-BG" b="1" dirty="0"/>
              <a:t>Типография)</a:t>
            </a:r>
          </a:p>
          <a:p>
            <a:pPr lvl="1">
              <a:buClr>
                <a:schemeClr val="tx1"/>
              </a:buClr>
            </a:pPr>
            <a:r>
              <a:rPr lang="bg-BG" b="1" dirty="0"/>
              <a:t>Подредба </a:t>
            </a:r>
            <a:r>
              <a:rPr lang="bg-BG" dirty="0"/>
              <a:t>и</a:t>
            </a:r>
            <a:r>
              <a:rPr lang="bg-BG" b="1" dirty="0"/>
              <a:t> секции</a:t>
            </a:r>
          </a:p>
          <a:p>
            <a:pPr>
              <a:buClr>
                <a:schemeClr val="tx1"/>
              </a:buClr>
            </a:pPr>
            <a:r>
              <a:rPr lang="bg-BG" dirty="0">
                <a:solidFill>
                  <a:schemeClr val="bg1"/>
                </a:solidFill>
              </a:rPr>
              <a:t>​​​</a:t>
            </a:r>
            <a:r>
              <a:rPr lang="bg-BG" b="1" dirty="0">
                <a:solidFill>
                  <a:schemeClr val="bg1"/>
                </a:solidFill>
              </a:rPr>
              <a:t>Лого </a:t>
            </a:r>
            <a:r>
              <a:rPr lang="bg-BG" dirty="0"/>
              <a:t>и</a:t>
            </a:r>
            <a:r>
              <a:rPr lang="bg-BG" b="1" dirty="0">
                <a:solidFill>
                  <a:schemeClr val="bg1"/>
                </a:solidFill>
              </a:rPr>
              <a:t> бранд идентичност</a:t>
            </a:r>
          </a:p>
          <a:p>
            <a:pPr>
              <a:buClr>
                <a:schemeClr val="tx1"/>
              </a:buClr>
            </a:pPr>
            <a:r>
              <a:rPr lang="en-US" sz="3800" dirty="0">
                <a:solidFill>
                  <a:schemeClr val="bg1"/>
                </a:solidFill>
              </a:rPr>
              <a:t>​</a:t>
            </a:r>
            <a:r>
              <a:rPr lang="bg-BG" sz="3800" dirty="0">
                <a:highlight>
                  <a:srgbClr val="FFFF00"/>
                </a:highlight>
              </a:rPr>
              <a:t>​​​</a:t>
            </a:r>
            <a:r>
              <a:rPr lang="bg-BG" sz="3800" b="1" dirty="0"/>
              <a:t>Пример: </a:t>
            </a:r>
            <a:r>
              <a:rPr lang="bg-BG" sz="3800" dirty="0"/>
              <a:t>Графичен модел (m</a:t>
            </a:r>
            <a:r>
              <a:rPr lang="en-US" sz="3800" dirty="0"/>
              <a:t>ockup</a:t>
            </a:r>
            <a:r>
              <a:rPr lang="bg-BG" sz="3800" dirty="0"/>
              <a:t>)</a:t>
            </a:r>
            <a:r>
              <a:rPr lang="en-US" sz="3800" dirty="0"/>
              <a:t> </a:t>
            </a:r>
            <a:r>
              <a:rPr lang="bg-BG" sz="3800" dirty="0"/>
              <a:t>на уеб страница по избор</a:t>
            </a:r>
          </a:p>
        </p:txBody>
      </p:sp>
      <p:sp>
        <p:nvSpPr>
          <p:cNvPr id="444418" name="Slide Title"/>
          <p:cNvSpPr>
            <a:spLocks noGrp="1" noChangeArrowheads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/>
              <a:t>Съдържание</a:t>
            </a:r>
            <a:endParaRPr lang="bg-BG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6986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6605"/>
    </mc:Choice>
    <mc:Fallback xmlns="">
      <p:transition spd="slow" advClick="0" advTm="660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Основни етапи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​Графичен модел (</a:t>
            </a:r>
            <a:r>
              <a:rPr lang="en-GB" sz="6000" dirty="0"/>
              <a:t>Mockup)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882194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pPr>
              <a:buClr>
                <a:schemeClr val="tx1"/>
              </a:buClr>
            </a:pPr>
            <a:r>
              <a:rPr lang="bg-BG" sz="3400" b="1" dirty="0">
                <a:solidFill>
                  <a:schemeClr val="bg1"/>
                </a:solidFill>
              </a:rPr>
              <a:t>Статично</a:t>
            </a:r>
            <a:r>
              <a:rPr lang="bg-BG" sz="3400" dirty="0"/>
              <a:t> и </a:t>
            </a:r>
            <a:r>
              <a:rPr lang="bg-BG" sz="3400" b="1" dirty="0">
                <a:solidFill>
                  <a:schemeClr val="bg1"/>
                </a:solidFill>
              </a:rPr>
              <a:t>детайлно</a:t>
            </a:r>
            <a:r>
              <a:rPr lang="bg-BG" sz="3400" dirty="0"/>
              <a:t> </a:t>
            </a:r>
            <a:r>
              <a:rPr lang="bg-BG" sz="3400" b="1" dirty="0"/>
              <a:t>визуално представяне </a:t>
            </a:r>
            <a:r>
              <a:rPr lang="bg-BG" sz="3400" dirty="0"/>
              <a:t>на </a:t>
            </a:r>
            <a:r>
              <a:rPr lang="bg-BG" sz="3400" b="1" dirty="0"/>
              <a:t>уеб сайта</a:t>
            </a:r>
          </a:p>
          <a:p>
            <a:pPr>
              <a:buClr>
                <a:schemeClr val="tx1"/>
              </a:buClr>
            </a:pPr>
            <a:r>
              <a:rPr lang="bg-BG" sz="3400" dirty="0"/>
              <a:t>Показва </a:t>
            </a:r>
            <a:r>
              <a:rPr lang="bg-BG" sz="3400" b="1" dirty="0"/>
              <a:t>как ще изглежда крайният дизайн</a:t>
            </a:r>
          </a:p>
          <a:p>
            <a:pPr lvl="1"/>
            <a:endParaRPr lang="en-US" sz="3200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sz="4000" dirty="0"/>
              <a:t>​Графичен модел (</a:t>
            </a:r>
            <a:r>
              <a:rPr lang="en-GB" sz="4000" dirty="0"/>
              <a:t>Mockup)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6955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pPr>
              <a:buClr>
                <a:schemeClr val="tx1"/>
              </a:buClr>
            </a:pPr>
            <a:r>
              <a:rPr lang="bg-BG" sz="3200" b="1" dirty="0"/>
              <a:t>Избор на </a:t>
            </a:r>
            <a:r>
              <a:rPr lang="bg-BG" sz="3200" b="1" dirty="0">
                <a:solidFill>
                  <a:schemeClr val="bg1"/>
                </a:solidFill>
              </a:rPr>
              <a:t>цветова схема</a:t>
            </a:r>
          </a:p>
          <a:p>
            <a:pPr lvl="1"/>
            <a:r>
              <a:rPr lang="bg-BG" sz="3000" dirty="0"/>
              <a:t>Определяне на </a:t>
            </a:r>
            <a:r>
              <a:rPr lang="bg-BG" sz="3000" b="1" dirty="0"/>
              <a:t>основните цветове</a:t>
            </a:r>
            <a:r>
              <a:rPr lang="bg-BG" sz="3000" dirty="0"/>
              <a:t> за </a:t>
            </a:r>
            <a:r>
              <a:rPr lang="bg-BG" sz="3000" b="1" dirty="0"/>
              <a:t>уеб сайта</a:t>
            </a:r>
          </a:p>
          <a:p>
            <a:pPr lvl="1"/>
            <a:r>
              <a:rPr lang="bg-BG" sz="3000" b="1" dirty="0"/>
              <a:t>Цветовете</a:t>
            </a:r>
            <a:r>
              <a:rPr lang="bg-BG" sz="3000" dirty="0"/>
              <a:t> трябва да </a:t>
            </a:r>
            <a:r>
              <a:rPr lang="bg-BG" sz="3000" b="1" dirty="0">
                <a:solidFill>
                  <a:schemeClr val="bg1"/>
                </a:solidFill>
              </a:rPr>
              <a:t>отразяват</a:t>
            </a:r>
            <a:r>
              <a:rPr lang="bg-BG" sz="3000" b="1" dirty="0"/>
              <a:t> бранда</a:t>
            </a:r>
          </a:p>
          <a:p>
            <a:pPr>
              <a:buClr>
                <a:schemeClr val="tx1"/>
              </a:buClr>
            </a:pPr>
            <a:r>
              <a:rPr lang="bg-BG" sz="3200" b="1" dirty="0"/>
              <a:t>Избор на </a:t>
            </a:r>
            <a:r>
              <a:rPr lang="bg-BG" sz="3200" b="1" dirty="0">
                <a:solidFill>
                  <a:schemeClr val="bg1"/>
                </a:solidFill>
              </a:rPr>
              <a:t>шрифтове</a:t>
            </a:r>
            <a:r>
              <a:rPr lang="bg-BG" sz="3200" b="1" dirty="0"/>
              <a:t> </a:t>
            </a:r>
            <a:r>
              <a:rPr lang="en-US" sz="3200" b="1" dirty="0"/>
              <a:t>(</a:t>
            </a:r>
            <a:r>
              <a:rPr lang="bg-BG" sz="3200" b="1" dirty="0">
                <a:solidFill>
                  <a:schemeClr val="bg1"/>
                </a:solidFill>
              </a:rPr>
              <a:t>типография</a:t>
            </a:r>
            <a:r>
              <a:rPr lang="en-US" sz="3200" b="1" dirty="0"/>
              <a:t>)</a:t>
            </a:r>
            <a:endParaRPr lang="bg-BG" sz="3200" b="1" dirty="0"/>
          </a:p>
          <a:p>
            <a:pPr lvl="1"/>
            <a:r>
              <a:rPr lang="bg-BG" sz="3000" dirty="0"/>
              <a:t>Определяне на </a:t>
            </a:r>
            <a:r>
              <a:rPr lang="bg-BG" sz="3000" b="1" dirty="0"/>
              <a:t>основните шрифтове </a:t>
            </a:r>
            <a:r>
              <a:rPr lang="bg-BG" sz="3000" dirty="0"/>
              <a:t>за </a:t>
            </a:r>
            <a:r>
              <a:rPr lang="bg-BG" sz="3000" b="1" dirty="0"/>
              <a:t>текст</a:t>
            </a:r>
            <a:r>
              <a:rPr lang="bg-BG" sz="3000" dirty="0"/>
              <a:t> и </a:t>
            </a:r>
            <a:r>
              <a:rPr lang="bg-BG" sz="3000" b="1" dirty="0"/>
              <a:t>заглавия</a:t>
            </a:r>
          </a:p>
          <a:p>
            <a:pPr lvl="1"/>
            <a:r>
              <a:rPr lang="bg-BG" sz="3000" b="1" dirty="0"/>
              <a:t>Шрифтовете</a:t>
            </a:r>
            <a:r>
              <a:rPr lang="bg-BG" sz="3000" dirty="0"/>
              <a:t> трябва да са </a:t>
            </a:r>
            <a:r>
              <a:rPr lang="bg-BG" sz="3000" b="1" dirty="0">
                <a:solidFill>
                  <a:schemeClr val="bg1"/>
                </a:solidFill>
              </a:rPr>
              <a:t>четими</a:t>
            </a:r>
            <a:r>
              <a:rPr lang="bg-BG" sz="3000" dirty="0"/>
              <a:t> и </a:t>
            </a:r>
            <a:r>
              <a:rPr lang="bg-BG" sz="3000" b="1" dirty="0">
                <a:solidFill>
                  <a:schemeClr val="bg1"/>
                </a:solidFill>
              </a:rPr>
              <a:t>подходящи</a:t>
            </a:r>
            <a:r>
              <a:rPr lang="bg-BG" sz="3000" dirty="0"/>
              <a:t> за </a:t>
            </a:r>
            <a:r>
              <a:rPr lang="bg-BG" sz="3000" b="1" dirty="0"/>
              <a:t>уеб сайта</a:t>
            </a:r>
          </a:p>
          <a:p>
            <a:endParaRPr lang="bg-BG" sz="3000" b="1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sz="4000" dirty="0"/>
              <a:t>Етапи при създаване на графичен модел </a:t>
            </a:r>
            <a:r>
              <a:rPr lang="en-US" sz="4000" dirty="0"/>
              <a:t>(</a:t>
            </a:r>
            <a:r>
              <a:rPr lang="bg-BG" sz="4000" dirty="0"/>
              <a:t>1</a:t>
            </a:r>
            <a:r>
              <a:rPr lang="en-US" sz="40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8201419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pPr>
              <a:buClr>
                <a:schemeClr val="tx1"/>
              </a:buClr>
            </a:pPr>
            <a:r>
              <a:rPr lang="bg-BG" sz="3200" b="1" dirty="0"/>
              <a:t>Избор на </a:t>
            </a:r>
            <a:r>
              <a:rPr lang="bg-BG" sz="3200" b="1" dirty="0">
                <a:solidFill>
                  <a:schemeClr val="bg1"/>
                </a:solidFill>
              </a:rPr>
              <a:t>изображения</a:t>
            </a:r>
          </a:p>
          <a:p>
            <a:pPr lvl="1"/>
            <a:r>
              <a:rPr lang="bg-BG" sz="3000" dirty="0"/>
              <a:t>Подбиране на </a:t>
            </a:r>
            <a:r>
              <a:rPr lang="bg-BG" sz="3000" b="1" dirty="0"/>
              <a:t>снимки</a:t>
            </a:r>
            <a:r>
              <a:rPr lang="bg-BG" sz="3000" dirty="0"/>
              <a:t>, </a:t>
            </a:r>
            <a:r>
              <a:rPr lang="bg-BG" sz="3000" b="1" dirty="0"/>
              <a:t>икони</a:t>
            </a:r>
            <a:r>
              <a:rPr lang="bg-BG" sz="3000" dirty="0"/>
              <a:t> или </a:t>
            </a:r>
            <a:r>
              <a:rPr lang="bg-BG" sz="3000" b="1" dirty="0"/>
              <a:t>графики</a:t>
            </a:r>
          </a:p>
          <a:p>
            <a:pPr lvl="1"/>
            <a:r>
              <a:rPr lang="bg-BG" sz="2800" b="1" dirty="0"/>
              <a:t>Празните полета </a:t>
            </a:r>
            <a:r>
              <a:rPr lang="bg-BG" sz="2800" dirty="0"/>
              <a:t>за </a:t>
            </a:r>
            <a:r>
              <a:rPr lang="bg-BG" sz="2800" b="1" dirty="0"/>
              <a:t>изображения</a:t>
            </a:r>
            <a:r>
              <a:rPr lang="bg-BG" sz="2800" dirty="0"/>
              <a:t> от </a:t>
            </a:r>
            <a:r>
              <a:rPr lang="bg-BG" sz="2800" b="1" dirty="0"/>
              <a:t>схематичния дизайн </a:t>
            </a:r>
            <a:r>
              <a:rPr lang="en-US" sz="2800" dirty="0"/>
              <a:t>(</a:t>
            </a:r>
            <a:r>
              <a:rPr lang="en-US" sz="2800" b="1" dirty="0"/>
              <a:t>wireframe</a:t>
            </a:r>
            <a:r>
              <a:rPr lang="en-US" sz="2800" dirty="0"/>
              <a:t>) </a:t>
            </a:r>
            <a:r>
              <a:rPr lang="bg-BG" sz="2800" dirty="0"/>
              <a:t>се </a:t>
            </a:r>
            <a:r>
              <a:rPr lang="bg-BG" sz="2800" b="1" dirty="0">
                <a:solidFill>
                  <a:schemeClr val="bg1"/>
                </a:solidFill>
              </a:rPr>
              <a:t>заместват с реални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Финално оформление</a:t>
            </a:r>
          </a:p>
          <a:p>
            <a:pPr lvl="1"/>
            <a:r>
              <a:rPr lang="bg-BG" sz="2800" dirty="0"/>
              <a:t>Поставяне на </a:t>
            </a:r>
            <a:r>
              <a:rPr lang="bg-BG" sz="2800" b="1" dirty="0"/>
              <a:t>лого</a:t>
            </a:r>
          </a:p>
          <a:p>
            <a:pPr lvl="1"/>
            <a:r>
              <a:rPr lang="bg-BG" sz="2800" dirty="0"/>
              <a:t>Разпределяне на </a:t>
            </a:r>
            <a:r>
              <a:rPr lang="bg-BG" sz="2800" b="1" dirty="0"/>
              <a:t>компонентите</a:t>
            </a:r>
          </a:p>
          <a:p>
            <a:pPr lvl="1"/>
            <a:r>
              <a:rPr lang="bg-BG" sz="2800" dirty="0"/>
              <a:t>Дискусия с </a:t>
            </a:r>
            <a:r>
              <a:rPr lang="bg-BG" sz="2800" b="1" dirty="0"/>
              <a:t>екипа</a:t>
            </a:r>
            <a:r>
              <a:rPr lang="bg-BG" sz="2800" dirty="0"/>
              <a:t> и </a:t>
            </a:r>
            <a:r>
              <a:rPr lang="bg-BG" sz="2800" b="1" dirty="0"/>
              <a:t>клиента</a:t>
            </a:r>
            <a:r>
              <a:rPr lang="bg-BG" sz="2800" dirty="0"/>
              <a:t>, </a:t>
            </a:r>
            <a:r>
              <a:rPr lang="bg-BG" sz="2800" b="1" dirty="0">
                <a:solidFill>
                  <a:schemeClr val="bg1"/>
                </a:solidFill>
              </a:rPr>
              <a:t>преди започване на изработката</a:t>
            </a:r>
            <a:endParaRPr lang="en-US" sz="2800" b="1" dirty="0">
              <a:solidFill>
                <a:schemeClr val="bg1"/>
              </a:solidFill>
            </a:endParaRPr>
          </a:p>
          <a:p>
            <a:endParaRPr lang="bg-BG" sz="3000" b="1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sz="4000" dirty="0"/>
              <a:t>Етапи при създаване на графичен модел</a:t>
            </a:r>
            <a:r>
              <a:rPr lang="en-US" sz="4000" dirty="0"/>
              <a:t> (2)</a:t>
            </a:r>
          </a:p>
        </p:txBody>
      </p:sp>
    </p:spTree>
    <p:extLst>
      <p:ext uri="{BB962C8B-B14F-4D97-AF65-F5344CB8AC3E}">
        <p14:creationId xmlns:p14="http://schemas.microsoft.com/office/powerpoint/2010/main" val="407599087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5000"/>
    </mc:Choice>
    <mc:Fallback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000" dirty="0"/>
              <a:t>Тестване на потребителското преживяване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​​Прототип (</a:t>
            </a:r>
            <a:r>
              <a:rPr lang="en-GB" sz="6000" dirty="0"/>
              <a:t>Prototype)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625221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pPr>
              <a:buClr>
                <a:schemeClr val="tx1"/>
              </a:buClr>
            </a:pPr>
            <a:r>
              <a:rPr lang="bg-BG" sz="3400" b="1" dirty="0">
                <a:solidFill>
                  <a:schemeClr val="bg1"/>
                </a:solidFill>
              </a:rPr>
              <a:t>Интерактивен модел </a:t>
            </a:r>
            <a:r>
              <a:rPr lang="bg-BG" sz="3400" dirty="0"/>
              <a:t>на </a:t>
            </a:r>
            <a:r>
              <a:rPr lang="bg-BG" sz="3400" b="1" dirty="0"/>
              <a:t>уеб сайта</a:t>
            </a:r>
          </a:p>
          <a:p>
            <a:pPr>
              <a:buClr>
                <a:schemeClr val="tx1"/>
              </a:buClr>
            </a:pPr>
            <a:r>
              <a:rPr lang="bg-BG" sz="3400" b="1" dirty="0"/>
              <a:t>Симулация</a:t>
            </a:r>
            <a:r>
              <a:rPr lang="bg-BG" sz="3400" dirty="0"/>
              <a:t> на </a:t>
            </a:r>
            <a:r>
              <a:rPr lang="bg-BG" sz="3400" b="1" dirty="0"/>
              <a:t>реално поведение</a:t>
            </a:r>
          </a:p>
          <a:p>
            <a:pPr>
              <a:buClr>
                <a:schemeClr val="tx1"/>
              </a:buClr>
            </a:pPr>
            <a:r>
              <a:rPr lang="bg-BG" sz="3400" dirty="0"/>
              <a:t>Позволява </a:t>
            </a:r>
            <a:r>
              <a:rPr lang="bg-BG" sz="3400" b="1" dirty="0"/>
              <a:t>кликане</a:t>
            </a:r>
            <a:r>
              <a:rPr lang="bg-BG" sz="3400" dirty="0"/>
              <a:t> и </a:t>
            </a:r>
            <a:r>
              <a:rPr lang="bg-BG" sz="3400" b="1" dirty="0"/>
              <a:t>отваряне</a:t>
            </a:r>
            <a:r>
              <a:rPr lang="bg-BG" sz="3400" dirty="0"/>
              <a:t> на </a:t>
            </a:r>
            <a:r>
              <a:rPr lang="bg-BG" sz="3400" b="1" dirty="0"/>
              <a:t>менюта</a:t>
            </a:r>
          </a:p>
          <a:p>
            <a:pPr>
              <a:buClr>
                <a:schemeClr val="tx1"/>
              </a:buClr>
            </a:pPr>
            <a:r>
              <a:rPr lang="bg-BG" sz="3400" dirty="0"/>
              <a:t>Показва </a:t>
            </a:r>
            <a:r>
              <a:rPr lang="bg-BG" sz="3400" b="1" dirty="0"/>
              <a:t>как</a:t>
            </a:r>
            <a:r>
              <a:rPr lang="bg-BG" sz="3400" dirty="0"/>
              <a:t> ще </a:t>
            </a:r>
            <a:r>
              <a:rPr lang="bg-BG" sz="3400" b="1" dirty="0"/>
              <a:t>работи</a:t>
            </a:r>
            <a:r>
              <a:rPr lang="bg-BG" sz="3400" dirty="0"/>
              <a:t> </a:t>
            </a:r>
            <a:r>
              <a:rPr lang="bg-BG" sz="3400" b="1" dirty="0"/>
              <a:t>потребителският интерфейс</a:t>
            </a:r>
          </a:p>
          <a:p>
            <a:pPr lvl="1"/>
            <a:endParaRPr lang="en-US" sz="3200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sz="4000" dirty="0"/>
              <a:t>​​Прототип (</a:t>
            </a:r>
            <a:r>
              <a:rPr lang="en-GB" sz="4000" dirty="0"/>
              <a:t>Prototype)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57858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7D2C20E-59AD-FE6E-8B38-D093FA1AE2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BF067CD-8E6B-4360-9AA8-C5DF2A48A6D1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CA096B-C4AF-95AC-CF9C-440240ECE9D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>
              <a:buClr>
                <a:schemeClr val="tx1"/>
              </a:buClr>
            </a:pPr>
            <a:r>
              <a:rPr lang="bg-BG" b="1" dirty="0">
                <a:solidFill>
                  <a:schemeClr val="bg1"/>
                </a:solidFill>
              </a:rPr>
              <a:t>Прототип</a:t>
            </a:r>
            <a:r>
              <a:rPr lang="bg-BG" b="1" dirty="0"/>
              <a:t> (</a:t>
            </a:r>
            <a:r>
              <a:rPr lang="en-US" b="1" dirty="0"/>
              <a:t>Prototype)</a:t>
            </a:r>
            <a:endParaRPr lang="bg-BG" b="1" dirty="0"/>
          </a:p>
          <a:p>
            <a:pPr lvl="1"/>
            <a:r>
              <a:rPr lang="bg-BG" dirty="0"/>
              <a:t>Позволява </a:t>
            </a:r>
            <a:r>
              <a:rPr lang="bg-BG" b="1" dirty="0"/>
              <a:t>интеракция </a:t>
            </a:r>
            <a:r>
              <a:rPr lang="bg-BG" dirty="0"/>
              <a:t>с</a:t>
            </a:r>
            <a:r>
              <a:rPr lang="bg-BG" b="1" dirty="0"/>
              <a:t> уеб сайта</a:t>
            </a:r>
            <a:endParaRPr lang="en-BG" b="1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02D21C-85CD-257D-707E-D7A2804BD5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buClr>
                <a:schemeClr val="tx1"/>
              </a:buClr>
            </a:pPr>
            <a:r>
              <a:rPr lang="bg-BG" b="1" dirty="0">
                <a:solidFill>
                  <a:schemeClr val="bg1"/>
                </a:solidFill>
              </a:rPr>
              <a:t>Графичен модел </a:t>
            </a:r>
            <a:r>
              <a:rPr lang="bg-BG" b="1" dirty="0"/>
              <a:t>(</a:t>
            </a:r>
            <a:r>
              <a:rPr lang="en-US" b="1" dirty="0"/>
              <a:t>Mockup)</a:t>
            </a:r>
          </a:p>
          <a:p>
            <a:pPr lvl="1"/>
            <a:r>
              <a:rPr lang="bg-BG" dirty="0"/>
              <a:t>Показва </a:t>
            </a:r>
            <a:r>
              <a:rPr lang="bg-BG" b="1" dirty="0"/>
              <a:t>само външния вид</a:t>
            </a:r>
            <a:endParaRPr lang="en-BG" b="1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C7D450E-22C7-6EB7-80B8-B3E1B00D6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G" dirty="0"/>
              <a:t>Mockup vs. Prototype</a:t>
            </a:r>
          </a:p>
        </p:txBody>
      </p:sp>
    </p:spTree>
    <p:extLst>
      <p:ext uri="{BB962C8B-B14F-4D97-AF65-F5344CB8AC3E}">
        <p14:creationId xmlns:p14="http://schemas.microsoft.com/office/powerpoint/2010/main" val="33633309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000" dirty="0"/>
              <a:t>Цветова схема, шрифтове, подредба и секции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​Елементи на графичния дизайн</a:t>
            </a:r>
            <a:endParaRPr lang="en-GB" sz="6000" dirty="0"/>
          </a:p>
        </p:txBody>
      </p:sp>
    </p:spTree>
    <p:extLst>
      <p:ext uri="{BB962C8B-B14F-4D97-AF65-F5344CB8AC3E}">
        <p14:creationId xmlns:p14="http://schemas.microsoft.com/office/powerpoint/2010/main" val="1886258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Елементи на графичния дизайн</a:t>
            </a:r>
            <a:endParaRPr lang="en-GB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200" b="1" dirty="0">
                <a:solidFill>
                  <a:schemeClr val="bg1"/>
                </a:solidFill>
              </a:rPr>
              <a:t>Основните компоненти </a:t>
            </a:r>
            <a:r>
              <a:rPr lang="bg-BG" sz="3200" dirty="0"/>
              <a:t>оформящи </a:t>
            </a:r>
            <a:r>
              <a:rPr lang="bg-BG" sz="3200" b="1" dirty="0"/>
              <a:t>визуалния вид </a:t>
            </a:r>
            <a:r>
              <a:rPr lang="bg-BG" sz="3200" dirty="0"/>
              <a:t>на уеб сайта</a:t>
            </a:r>
          </a:p>
          <a:p>
            <a:pPr>
              <a:buClr>
                <a:schemeClr val="tx2"/>
              </a:buClr>
            </a:pPr>
            <a:r>
              <a:rPr lang="bg-BG" sz="3200" dirty="0"/>
              <a:t>Помагат за </a:t>
            </a:r>
            <a:r>
              <a:rPr lang="bg-BG" sz="3200" b="1" dirty="0">
                <a:solidFill>
                  <a:schemeClr val="bg1"/>
                </a:solidFill>
              </a:rPr>
              <a:t>създаване</a:t>
            </a:r>
            <a:r>
              <a:rPr lang="bg-BG" sz="3200" dirty="0"/>
              <a:t> на </a:t>
            </a:r>
            <a:r>
              <a:rPr lang="bg-BG" sz="3200" b="1" dirty="0"/>
              <a:t>подреден</a:t>
            </a:r>
            <a:r>
              <a:rPr lang="bg-BG" sz="3200" dirty="0"/>
              <a:t>, </a:t>
            </a:r>
            <a:r>
              <a:rPr lang="bg-BG" sz="3200" b="1" dirty="0"/>
              <a:t>четим</a:t>
            </a:r>
            <a:r>
              <a:rPr lang="bg-BG" sz="3200" dirty="0"/>
              <a:t> и </a:t>
            </a:r>
            <a:r>
              <a:rPr lang="bg-BG" sz="3200" b="1" dirty="0"/>
              <a:t>привлекателен</a:t>
            </a:r>
            <a:r>
              <a:rPr lang="bg-BG" sz="3200" dirty="0"/>
              <a:t> </a:t>
            </a:r>
            <a:r>
              <a:rPr lang="bg-BG" sz="3200" b="1" dirty="0"/>
              <a:t>вид</a:t>
            </a:r>
            <a:r>
              <a:rPr lang="bg-BG" sz="3200" dirty="0"/>
              <a:t> на </a:t>
            </a:r>
            <a:r>
              <a:rPr lang="bg-BG" sz="3200" b="1" dirty="0"/>
              <a:t>уеб страниците</a:t>
            </a:r>
          </a:p>
          <a:p>
            <a:pPr>
              <a:buClr>
                <a:schemeClr val="tx2"/>
              </a:buClr>
            </a:pPr>
            <a:r>
              <a:rPr lang="bg-BG" sz="3200" dirty="0"/>
              <a:t>Добрата им </a:t>
            </a:r>
            <a:r>
              <a:rPr lang="bg-BG" sz="3200" b="1" dirty="0">
                <a:solidFill>
                  <a:schemeClr val="bg1"/>
                </a:solidFill>
              </a:rPr>
              <a:t>комбинация</a:t>
            </a:r>
            <a:r>
              <a:rPr lang="bg-BG" sz="3200" dirty="0"/>
              <a:t> осигурява </a:t>
            </a:r>
            <a:r>
              <a:rPr lang="bg-BG" sz="3200" b="1" dirty="0"/>
              <a:t>професионален външен вид</a:t>
            </a:r>
            <a:r>
              <a:rPr lang="bg-BG" sz="3200" dirty="0"/>
              <a:t> и </a:t>
            </a:r>
            <a:r>
              <a:rPr lang="bg-BG" sz="3200" b="1" dirty="0"/>
              <a:t>приятно потребителско преживяване</a:t>
            </a:r>
          </a:p>
        </p:txBody>
      </p:sp>
    </p:spTree>
    <p:extLst>
      <p:ext uri="{BB962C8B-B14F-4D97-AF65-F5344CB8AC3E}">
        <p14:creationId xmlns:p14="http://schemas.microsoft.com/office/powerpoint/2010/main" val="2993784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24C023-A0FF-BAB1-FD66-F6A827797C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4CBEA7-0488-065D-8829-C6FAAA715C4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b="1" dirty="0">
                <a:solidFill>
                  <a:schemeClr val="bg1"/>
                </a:solidFill>
              </a:rPr>
              <a:t>Хармоничната комбинация </a:t>
            </a:r>
            <a:r>
              <a:rPr lang="bg-BG" dirty="0"/>
              <a:t>между </a:t>
            </a:r>
            <a:r>
              <a:rPr lang="bg-BG" b="1" dirty="0"/>
              <a:t>цветовете</a:t>
            </a:r>
          </a:p>
          <a:p>
            <a:r>
              <a:rPr lang="bg-BG" dirty="0"/>
              <a:t>Повечето дизайнери използват </a:t>
            </a:r>
            <a:r>
              <a:rPr lang="bg-BG" b="1" dirty="0"/>
              <a:t>не повече от 3-4 цвята</a:t>
            </a:r>
          </a:p>
          <a:p>
            <a:r>
              <a:rPr lang="bg-BG" b="1" dirty="0"/>
              <a:t>Видове цветове</a:t>
            </a:r>
            <a:r>
              <a:rPr lang="bg-BG" dirty="0"/>
              <a:t>:</a:t>
            </a:r>
          </a:p>
          <a:p>
            <a:pPr lvl="1"/>
            <a:r>
              <a:rPr lang="bg-BG" b="1" dirty="0">
                <a:solidFill>
                  <a:schemeClr val="bg1"/>
                </a:solidFill>
              </a:rPr>
              <a:t>Основен цвят </a:t>
            </a:r>
            <a:r>
              <a:rPr lang="bg-BG" dirty="0"/>
              <a:t>- </a:t>
            </a:r>
            <a:r>
              <a:rPr lang="bg-BG" b="1" dirty="0"/>
              <a:t>главният цвят </a:t>
            </a:r>
            <a:r>
              <a:rPr lang="bg-BG" dirty="0"/>
              <a:t>на </a:t>
            </a:r>
            <a:r>
              <a:rPr lang="bg-BG" b="1" dirty="0"/>
              <a:t>уеб сайта</a:t>
            </a:r>
          </a:p>
          <a:p>
            <a:pPr lvl="1"/>
            <a:r>
              <a:rPr lang="bg-BG" b="1" dirty="0">
                <a:solidFill>
                  <a:schemeClr val="bg1"/>
                </a:solidFill>
              </a:rPr>
              <a:t>Вторичен цвят </a:t>
            </a:r>
            <a:r>
              <a:rPr lang="bg-BG" dirty="0"/>
              <a:t>- </a:t>
            </a:r>
            <a:r>
              <a:rPr lang="bg-BG" b="1" dirty="0"/>
              <a:t>цветът</a:t>
            </a:r>
            <a:r>
              <a:rPr lang="bg-BG" dirty="0"/>
              <a:t> за </a:t>
            </a:r>
            <a:r>
              <a:rPr lang="bg-BG" b="1" dirty="0"/>
              <a:t>акценти</a:t>
            </a:r>
            <a:r>
              <a:rPr lang="bg-BG" dirty="0"/>
              <a:t>, </a:t>
            </a:r>
            <a:r>
              <a:rPr lang="bg-BG" b="1" dirty="0"/>
              <a:t>бутони</a:t>
            </a:r>
            <a:r>
              <a:rPr lang="bg-BG" dirty="0"/>
              <a:t> и </a:t>
            </a:r>
            <a:r>
              <a:rPr lang="bg-BG" b="1" dirty="0"/>
              <a:t>важни елементи</a:t>
            </a:r>
          </a:p>
          <a:p>
            <a:pPr lvl="1"/>
            <a:r>
              <a:rPr lang="bg-BG" b="1" dirty="0">
                <a:solidFill>
                  <a:schemeClr val="bg1"/>
                </a:solidFill>
              </a:rPr>
              <a:t>Неутрални цветове </a:t>
            </a:r>
            <a:r>
              <a:rPr lang="bg-BG" dirty="0"/>
              <a:t>- </a:t>
            </a:r>
            <a:r>
              <a:rPr lang="bg-BG" b="1" dirty="0"/>
              <a:t>цветовете</a:t>
            </a:r>
            <a:r>
              <a:rPr lang="bg-BG" dirty="0"/>
              <a:t> за </a:t>
            </a:r>
            <a:r>
              <a:rPr lang="bg-BG" b="1" dirty="0"/>
              <a:t>фон</a:t>
            </a:r>
            <a:r>
              <a:rPr lang="bg-BG" dirty="0"/>
              <a:t> и </a:t>
            </a:r>
            <a:r>
              <a:rPr lang="bg-BG" b="1" dirty="0"/>
              <a:t>текст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DF4EDFA-F723-F48A-D206-CDA6040ED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Цветова схема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36364563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24C023-A0FF-BAB1-FD66-F6A827797C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4CBEA7-0488-065D-8829-C6FAAA715C4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b="1" dirty="0">
                <a:solidFill>
                  <a:schemeClr val="bg1"/>
                </a:solidFill>
              </a:rPr>
              <a:t>Колелото на цветовете </a:t>
            </a:r>
            <a:r>
              <a:rPr lang="bg-BG" dirty="0"/>
              <a:t>помага при </a:t>
            </a:r>
            <a:r>
              <a:rPr lang="bg-BG" b="1" dirty="0"/>
              <a:t>избора</a:t>
            </a:r>
            <a:r>
              <a:rPr lang="bg-BG" dirty="0"/>
              <a:t> на </a:t>
            </a:r>
            <a:r>
              <a:rPr lang="bg-BG" b="1" dirty="0"/>
              <a:t>хармонични комбинации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DF4EDFA-F723-F48A-D206-CDA6040ED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Колелото на цветовете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66976771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5000"/>
    </mc:Choice>
    <mc:Fallback>
      <p:transition spd="slow" advClick="0" advTm="500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24C023-A0FF-BAB1-FD66-F6A827797C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14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4CBEA7-0488-065D-8829-C6FAAA715C4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b="1" dirty="0">
                <a:solidFill>
                  <a:schemeClr val="bg1"/>
                </a:solidFill>
              </a:rPr>
              <a:t>Аналогични</a:t>
            </a:r>
          </a:p>
          <a:p>
            <a:pPr lvl="1"/>
            <a:r>
              <a:rPr lang="bg-BG" dirty="0"/>
              <a:t>Цветовете </a:t>
            </a:r>
            <a:r>
              <a:rPr lang="bg-BG" b="1" dirty="0"/>
              <a:t>един до друг</a:t>
            </a:r>
          </a:p>
          <a:p>
            <a:r>
              <a:rPr lang="bg-BG" b="1" dirty="0">
                <a:solidFill>
                  <a:schemeClr val="bg1"/>
                </a:solidFill>
              </a:rPr>
              <a:t>Допълващи се </a:t>
            </a:r>
            <a:r>
              <a:rPr lang="bg-BG" b="1" dirty="0"/>
              <a:t>(контрастни</a:t>
            </a:r>
            <a:r>
              <a:rPr lang="en-US" b="1" dirty="0"/>
              <a:t>)</a:t>
            </a:r>
            <a:endParaRPr lang="bg-BG" b="1" dirty="0"/>
          </a:p>
          <a:p>
            <a:pPr lvl="1"/>
            <a:r>
              <a:rPr lang="bg-BG" dirty="0"/>
              <a:t>Цветовете </a:t>
            </a:r>
            <a:r>
              <a:rPr lang="bg-BG" b="1" dirty="0"/>
              <a:t>един срещу друг</a:t>
            </a:r>
          </a:p>
          <a:p>
            <a:r>
              <a:rPr lang="bg-BG" b="1" dirty="0">
                <a:solidFill>
                  <a:schemeClr val="bg1"/>
                </a:solidFill>
              </a:rPr>
              <a:t>Монохромни</a:t>
            </a:r>
          </a:p>
          <a:p>
            <a:pPr lvl="1"/>
            <a:r>
              <a:rPr lang="bg-BG" b="1" dirty="0"/>
              <a:t>Различни тонове </a:t>
            </a:r>
            <a:r>
              <a:rPr lang="bg-BG" dirty="0"/>
              <a:t>на </a:t>
            </a:r>
            <a:r>
              <a:rPr lang="bg-BG" b="1" dirty="0"/>
              <a:t>един и същ цвят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DF4EDFA-F723-F48A-D206-CDA6040ED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Видове цветови схеми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12957578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5000"/>
    </mc:Choice>
    <mc:Fallback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BE1D161-2813-559B-2B32-C37E59082F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15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AAE47B-DD70-A989-E62A-942F2D6D35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dirty="0"/>
              <a:t>Изборът от </a:t>
            </a:r>
            <a:r>
              <a:rPr lang="bg-BG" b="1" dirty="0"/>
              <a:t>подходящата комбинация</a:t>
            </a:r>
            <a:r>
              <a:rPr lang="bg-BG" dirty="0"/>
              <a:t> на </a:t>
            </a:r>
            <a:r>
              <a:rPr lang="bg-BG" b="1" dirty="0">
                <a:solidFill>
                  <a:schemeClr val="bg1"/>
                </a:solidFill>
              </a:rPr>
              <a:t>шрифтове</a:t>
            </a:r>
            <a:r>
              <a:rPr lang="bg-BG" dirty="0"/>
              <a:t> е от </a:t>
            </a:r>
            <a:r>
              <a:rPr lang="bg-BG" b="1" dirty="0"/>
              <a:t>важно значение</a:t>
            </a:r>
            <a:r>
              <a:rPr lang="bg-BG" dirty="0"/>
              <a:t> за </a:t>
            </a:r>
            <a:r>
              <a:rPr lang="bg-BG" b="1" dirty="0">
                <a:solidFill>
                  <a:schemeClr val="bg1"/>
                </a:solidFill>
              </a:rPr>
              <a:t>четимостта</a:t>
            </a:r>
            <a:r>
              <a:rPr lang="bg-BG" dirty="0"/>
              <a:t> и </a:t>
            </a:r>
            <a:r>
              <a:rPr lang="bg-BG" b="1" dirty="0">
                <a:solidFill>
                  <a:schemeClr val="bg1"/>
                </a:solidFill>
              </a:rPr>
              <a:t>облика</a:t>
            </a:r>
            <a:r>
              <a:rPr lang="bg-BG" dirty="0"/>
              <a:t> на </a:t>
            </a:r>
            <a:r>
              <a:rPr lang="bg-BG" b="1" dirty="0"/>
              <a:t>уеб сайта</a:t>
            </a:r>
          </a:p>
          <a:p>
            <a:r>
              <a:rPr lang="bg-BG" dirty="0"/>
              <a:t>Дизайнерите използват </a:t>
            </a:r>
            <a:r>
              <a:rPr lang="bg-BG" b="1" dirty="0"/>
              <a:t>не повече от 2-3 шрифта</a:t>
            </a:r>
            <a:endParaRPr lang="en-BG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EE53579-37C9-E9CD-2C40-51E88BBFC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Шрифтове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3333399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BE1D161-2813-559B-2B32-C37E59082F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16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AAE47B-DD70-A989-E62A-942F2D6D35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b="1" dirty="0">
                <a:solidFill>
                  <a:schemeClr val="bg1"/>
                </a:solidFill>
              </a:rPr>
              <a:t>Серифни </a:t>
            </a:r>
            <a:r>
              <a:rPr lang="en-US" b="1" dirty="0"/>
              <a:t>(Serif)</a:t>
            </a:r>
            <a:endParaRPr lang="bg-BG" b="1" dirty="0"/>
          </a:p>
          <a:p>
            <a:pPr lvl="1"/>
            <a:r>
              <a:rPr lang="bg-BG" b="1" dirty="0">
                <a:solidFill>
                  <a:schemeClr val="bg1"/>
                </a:solidFill>
              </a:rPr>
              <a:t>Съдържат</a:t>
            </a:r>
            <a:r>
              <a:rPr lang="bg-BG" dirty="0"/>
              <a:t> </a:t>
            </a:r>
            <a:r>
              <a:rPr lang="bg-BG" b="1" dirty="0"/>
              <a:t>допълнителни </a:t>
            </a:r>
            <a:r>
              <a:rPr lang="bg-BG" b="1" dirty="0">
                <a:solidFill>
                  <a:schemeClr val="bg1"/>
                </a:solidFill>
              </a:rPr>
              <a:t>графични елементи</a:t>
            </a:r>
          </a:p>
          <a:p>
            <a:pPr lvl="1"/>
            <a:r>
              <a:rPr lang="bg-BG" dirty="0"/>
              <a:t>Използват се за </a:t>
            </a:r>
            <a:r>
              <a:rPr lang="bg-BG" b="1" dirty="0"/>
              <a:t>основни текстове</a:t>
            </a:r>
          </a:p>
          <a:p>
            <a:r>
              <a:rPr lang="bg-BG" b="1" dirty="0">
                <a:solidFill>
                  <a:schemeClr val="bg1"/>
                </a:solidFill>
              </a:rPr>
              <a:t>Несерифни</a:t>
            </a:r>
            <a:r>
              <a:rPr lang="bg-BG" b="1" dirty="0"/>
              <a:t> </a:t>
            </a:r>
            <a:r>
              <a:rPr lang="en-US" b="1" dirty="0"/>
              <a:t>(Sans-Serif)</a:t>
            </a:r>
            <a:endParaRPr lang="bg-BG" b="1" dirty="0"/>
          </a:p>
          <a:p>
            <a:pPr lvl="1"/>
            <a:r>
              <a:rPr lang="bg-BG" b="1" dirty="0">
                <a:solidFill>
                  <a:schemeClr val="bg1"/>
                </a:solidFill>
              </a:rPr>
              <a:t>Не съдържат </a:t>
            </a:r>
            <a:r>
              <a:rPr lang="bg-BG" b="1" dirty="0"/>
              <a:t>допълнителни </a:t>
            </a:r>
            <a:r>
              <a:rPr lang="bg-BG" b="1" dirty="0">
                <a:solidFill>
                  <a:schemeClr val="bg1"/>
                </a:solidFill>
              </a:rPr>
              <a:t>графични елементи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EE53579-37C9-E9CD-2C40-51E88BBFC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Видове шрифтове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4015422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07C463C-8703-34CC-A92B-B67A5BD679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17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E3B7D5-DB8F-E323-ADD0-7B35105D1EE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b="1" dirty="0">
                <a:solidFill>
                  <a:schemeClr val="bg1"/>
                </a:solidFill>
              </a:rPr>
              <a:t>Секциите</a:t>
            </a:r>
            <a:r>
              <a:rPr lang="bg-BG" dirty="0"/>
              <a:t> са </a:t>
            </a:r>
            <a:r>
              <a:rPr lang="bg-BG" b="1" dirty="0"/>
              <a:t>отделни</a:t>
            </a:r>
            <a:r>
              <a:rPr lang="bg-BG" dirty="0"/>
              <a:t> </a:t>
            </a:r>
            <a:r>
              <a:rPr lang="bg-BG" b="1" dirty="0">
                <a:solidFill>
                  <a:schemeClr val="bg1"/>
                </a:solidFill>
              </a:rPr>
              <a:t>визуални блокове </a:t>
            </a:r>
            <a:r>
              <a:rPr lang="bg-BG" dirty="0"/>
              <a:t>в </a:t>
            </a:r>
            <a:r>
              <a:rPr lang="bg-BG" b="1" dirty="0"/>
              <a:t>уеб страницата</a:t>
            </a:r>
          </a:p>
          <a:p>
            <a:r>
              <a:rPr lang="bg-BG" b="1" dirty="0">
                <a:solidFill>
                  <a:schemeClr val="bg1"/>
                </a:solidFill>
              </a:rPr>
              <a:t>Подредбата</a:t>
            </a:r>
            <a:r>
              <a:rPr lang="bg-BG" dirty="0"/>
              <a:t> показва </a:t>
            </a:r>
            <a:r>
              <a:rPr lang="bg-BG" b="1" dirty="0">
                <a:solidFill>
                  <a:schemeClr val="bg1"/>
                </a:solidFill>
              </a:rPr>
              <a:t>по какъв начин </a:t>
            </a:r>
            <a:r>
              <a:rPr lang="bg-BG" dirty="0"/>
              <a:t>са </a:t>
            </a:r>
            <a:r>
              <a:rPr lang="bg-BG" b="1" dirty="0"/>
              <a:t>разположени</a:t>
            </a:r>
            <a:r>
              <a:rPr lang="bg-BG" dirty="0"/>
              <a:t> </a:t>
            </a:r>
            <a:r>
              <a:rPr lang="bg-BG" b="1" dirty="0"/>
              <a:t>секциите</a:t>
            </a:r>
          </a:p>
          <a:p>
            <a:r>
              <a:rPr lang="bg-BG" b="1" dirty="0"/>
              <a:t>Подредбата</a:t>
            </a:r>
            <a:r>
              <a:rPr lang="bg-BG" dirty="0"/>
              <a:t> е </a:t>
            </a:r>
            <a:r>
              <a:rPr lang="bg-BG" b="1" dirty="0"/>
              <a:t>композицията</a:t>
            </a:r>
            <a:r>
              <a:rPr lang="bg-BG" dirty="0"/>
              <a:t>, а </a:t>
            </a:r>
            <a:r>
              <a:rPr lang="bg-BG" b="1" dirty="0"/>
              <a:t>секциите</a:t>
            </a:r>
            <a:r>
              <a:rPr lang="bg-BG" dirty="0"/>
              <a:t> са </a:t>
            </a:r>
            <a:r>
              <a:rPr lang="bg-BG" b="1" dirty="0"/>
              <a:t>елементите</a:t>
            </a:r>
          </a:p>
          <a:p>
            <a:endParaRPr lang="en-BG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421CE4F-6627-B977-175E-373E03705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Подредба и секции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11931730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07C463C-8703-34CC-A92B-B67A5BD679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18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E3B7D5-DB8F-E323-ADD0-7B35105D1EE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5455598" cy="5528766"/>
          </a:xfrm>
        </p:spPr>
        <p:txBody>
          <a:bodyPr/>
          <a:lstStyle/>
          <a:p>
            <a:r>
              <a:rPr lang="bg-BG" b="1" dirty="0">
                <a:solidFill>
                  <a:schemeClr val="bg1"/>
                </a:solidFill>
              </a:rPr>
              <a:t>Секции</a:t>
            </a:r>
            <a:r>
              <a:rPr lang="bg-BG" b="1" dirty="0"/>
              <a:t>:</a:t>
            </a:r>
          </a:p>
          <a:p>
            <a:pPr lvl="1"/>
            <a:r>
              <a:rPr lang="bg-BG" b="1" dirty="0"/>
              <a:t>Хедър</a:t>
            </a:r>
          </a:p>
          <a:p>
            <a:pPr lvl="1"/>
            <a:r>
              <a:rPr lang="bg-BG" b="1" dirty="0"/>
              <a:t>Банер</a:t>
            </a:r>
          </a:p>
          <a:p>
            <a:pPr lvl="1"/>
            <a:r>
              <a:rPr lang="bg-BG" b="1" dirty="0"/>
              <a:t>Информация</a:t>
            </a:r>
          </a:p>
          <a:p>
            <a:pPr lvl="1"/>
            <a:r>
              <a:rPr lang="bg-BG" b="1" dirty="0"/>
              <a:t>Галерия</a:t>
            </a:r>
          </a:p>
          <a:p>
            <a:pPr lvl="1"/>
            <a:r>
              <a:rPr lang="bg-BG" b="1" dirty="0"/>
              <a:t>Футър</a:t>
            </a:r>
          </a:p>
          <a:p>
            <a:endParaRPr lang="en-BG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421CE4F-6627-B977-175E-373E03705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Пример за подредба и секции</a:t>
            </a:r>
            <a:endParaRPr lang="en-BG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DFA98E1E-45D2-169B-B283-2A551B1FBEB1}"/>
              </a:ext>
            </a:extLst>
          </p:cNvPr>
          <p:cNvSpPr txBox="1">
            <a:spLocks/>
          </p:cNvSpPr>
          <p:nvPr/>
        </p:nvSpPr>
        <p:spPr>
          <a:xfrm>
            <a:off x="4296000" y="1126734"/>
            <a:ext cx="7646628" cy="5528766"/>
          </a:xfrm>
          <a:prstGeom prst="rect">
            <a:avLst/>
          </a:prstGeom>
        </p:spPr>
        <p:txBody>
          <a:bodyPr vert="horz" lIns="108000" tIns="36000" rIns="108000" bIns="36000" rtlCol="0">
            <a:normAutofit/>
          </a:bodyPr>
          <a:lstStyle>
            <a:lvl1pPr marL="360363" indent="-360363" algn="l" defTabSz="1218438" rtl="0" eaLnBrk="1" latinLnBrk="0" hangingPunct="1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33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3275" indent="-360363" algn="l" defTabSz="1218438" rtl="0" eaLnBrk="1" latinLnBrk="0" hangingPunct="1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31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5713" indent="-360363" algn="l" defTabSz="1218438" rtl="0" eaLnBrk="1" latinLnBrk="0" hangingPunct="1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29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00213" indent="-352425" algn="l" defTabSz="1218438" rtl="0" eaLnBrk="1" latinLnBrk="0" hangingPunct="1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27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8988" indent="-266700" algn="l" defTabSz="1218438" rtl="0" eaLnBrk="1" latinLnBrk="0" hangingPunct="1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25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0704" indent="-304610" algn="l" defTabSz="1218438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6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59924" indent="-304610" algn="l" defTabSz="1218438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6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69143" indent="-304610" algn="l" defTabSz="1218438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6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78362" indent="-304610" algn="l" defTabSz="1218438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6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bg-BG" b="1" dirty="0">
                <a:solidFill>
                  <a:schemeClr val="bg1"/>
                </a:solidFill>
              </a:rPr>
              <a:t>Подредба</a:t>
            </a:r>
            <a:r>
              <a:rPr lang="bg-BG" b="1" dirty="0"/>
              <a:t>:</a:t>
            </a:r>
          </a:p>
          <a:p>
            <a:pPr lvl="1"/>
            <a:r>
              <a:rPr lang="bg-BG" b="1" dirty="0"/>
              <a:t>Хедърът</a:t>
            </a:r>
            <a:r>
              <a:rPr lang="bg-BG" dirty="0"/>
              <a:t> ще е </a:t>
            </a:r>
            <a:r>
              <a:rPr lang="bg-BG" b="1" dirty="0"/>
              <a:t>най-отгоре</a:t>
            </a:r>
          </a:p>
          <a:p>
            <a:pPr lvl="1"/>
            <a:r>
              <a:rPr lang="bg-BG" b="1" dirty="0"/>
              <a:t>Банерът</a:t>
            </a:r>
            <a:r>
              <a:rPr lang="bg-BG" dirty="0"/>
              <a:t> ще е </a:t>
            </a:r>
            <a:r>
              <a:rPr lang="bg-BG" b="1" dirty="0"/>
              <a:t>под хедъра</a:t>
            </a:r>
          </a:p>
          <a:p>
            <a:pPr lvl="1"/>
            <a:r>
              <a:rPr lang="bg-BG" b="1" dirty="0"/>
              <a:t>Информацията</a:t>
            </a:r>
            <a:r>
              <a:rPr lang="bg-BG" dirty="0"/>
              <a:t> ще е </a:t>
            </a:r>
            <a:r>
              <a:rPr lang="bg-BG" b="1" dirty="0"/>
              <a:t>в две колони</a:t>
            </a:r>
          </a:p>
          <a:p>
            <a:pPr lvl="1"/>
            <a:r>
              <a:rPr lang="bg-BG" b="1" dirty="0"/>
              <a:t>Галерията</a:t>
            </a:r>
            <a:r>
              <a:rPr lang="bg-BG" dirty="0"/>
              <a:t> ще е </a:t>
            </a:r>
            <a:r>
              <a:rPr lang="bg-BG" b="1" dirty="0"/>
              <a:t>в табличен вид</a:t>
            </a:r>
          </a:p>
          <a:p>
            <a:pPr lvl="1"/>
            <a:r>
              <a:rPr lang="bg-BG" b="1" dirty="0"/>
              <a:t>Футърът</a:t>
            </a:r>
            <a:r>
              <a:rPr lang="bg-BG" dirty="0"/>
              <a:t> ще е </a:t>
            </a:r>
            <a:r>
              <a:rPr lang="bg-BG" b="1" dirty="0"/>
              <a:t>най-отдолу</a:t>
            </a:r>
          </a:p>
          <a:p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14097373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5000"/>
    </mc:Choice>
    <mc:Fallback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Обликът пред света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Лого и бранд идентичност</a:t>
            </a:r>
          </a:p>
        </p:txBody>
      </p:sp>
    </p:spTree>
    <p:extLst>
      <p:ext uri="{BB962C8B-B14F-4D97-AF65-F5344CB8AC3E}">
        <p14:creationId xmlns:p14="http://schemas.microsoft.com/office/powerpoint/2010/main" val="39356295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Логото</a:t>
            </a:r>
            <a:r>
              <a:rPr lang="bg-BG" sz="3600" dirty="0"/>
              <a:t> и </a:t>
            </a:r>
            <a:r>
              <a:rPr lang="bg-BG" sz="3600" b="1" dirty="0">
                <a:solidFill>
                  <a:schemeClr val="bg1"/>
                </a:solidFill>
              </a:rPr>
              <a:t>бранд идентичността </a:t>
            </a:r>
            <a:r>
              <a:rPr lang="bg-BG" sz="3600" dirty="0"/>
              <a:t>помагат на дадена </a:t>
            </a:r>
            <a:r>
              <a:rPr lang="bg-BG" sz="3600" b="1" dirty="0"/>
              <a:t>марка</a:t>
            </a:r>
            <a:r>
              <a:rPr lang="bg-BG" sz="3600" dirty="0"/>
              <a:t> да бъде </a:t>
            </a:r>
            <a:r>
              <a:rPr lang="bg-BG" sz="3600" b="1" dirty="0"/>
              <a:t>разпознаваема</a:t>
            </a:r>
          </a:p>
          <a:p>
            <a:pPr>
              <a:buClr>
                <a:schemeClr val="tx2"/>
              </a:buClr>
            </a:pPr>
            <a:r>
              <a:rPr lang="bg-BG" sz="3600" dirty="0"/>
              <a:t>Осигуряват </a:t>
            </a:r>
            <a:r>
              <a:rPr lang="bg-BG" sz="3600" b="1" dirty="0"/>
              <a:t>консистентност</a:t>
            </a:r>
            <a:r>
              <a:rPr lang="bg-BG" sz="3600" dirty="0"/>
              <a:t> в </a:t>
            </a:r>
            <a:r>
              <a:rPr lang="bg-BG" sz="3600" b="1" dirty="0"/>
              <a:t>уеб сайта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sz="3800" dirty="0"/>
              <a:t>Лого и бранд идентичност</a:t>
            </a:r>
            <a:endParaRPr lang="en-US" sz="3800" dirty="0"/>
          </a:p>
        </p:txBody>
      </p:sp>
    </p:spTree>
    <p:extLst>
      <p:ext uri="{BB962C8B-B14F-4D97-AF65-F5344CB8AC3E}">
        <p14:creationId xmlns:p14="http://schemas.microsoft.com/office/powerpoint/2010/main" val="33762129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400" b="1" dirty="0">
                <a:solidFill>
                  <a:schemeClr val="bg1"/>
                </a:solidFill>
              </a:rPr>
              <a:t>Графичен знак </a:t>
            </a:r>
            <a:r>
              <a:rPr lang="bg-BG" sz="3400" dirty="0"/>
              <a:t>представящ </a:t>
            </a:r>
            <a:r>
              <a:rPr lang="bg-BG" sz="3400" b="1" dirty="0"/>
              <a:t>организацията</a:t>
            </a:r>
            <a:r>
              <a:rPr lang="bg-BG" sz="3400" dirty="0"/>
              <a:t>, </a:t>
            </a:r>
            <a:r>
              <a:rPr lang="bg-BG" sz="3400" b="1" dirty="0"/>
              <a:t>фирмата</a:t>
            </a:r>
            <a:r>
              <a:rPr lang="bg-BG" sz="3400" dirty="0"/>
              <a:t> или </a:t>
            </a:r>
            <a:r>
              <a:rPr lang="bg-BG" sz="3400" b="1" dirty="0"/>
              <a:t>проекта</a:t>
            </a:r>
          </a:p>
          <a:p>
            <a:pPr>
              <a:buClr>
                <a:schemeClr val="tx2"/>
              </a:buClr>
            </a:pPr>
            <a:r>
              <a:rPr lang="bg-BG" sz="3400" dirty="0"/>
              <a:t>Може да е </a:t>
            </a:r>
            <a:r>
              <a:rPr lang="bg-BG" sz="3400" b="1" dirty="0">
                <a:solidFill>
                  <a:schemeClr val="bg1"/>
                </a:solidFill>
              </a:rPr>
              <a:t>текстово</a:t>
            </a:r>
            <a:r>
              <a:rPr lang="bg-BG" sz="3400" dirty="0"/>
              <a:t>, </a:t>
            </a:r>
            <a:r>
              <a:rPr lang="bg-BG" sz="3400" b="1" dirty="0">
                <a:solidFill>
                  <a:schemeClr val="bg1"/>
                </a:solidFill>
              </a:rPr>
              <a:t>символно</a:t>
            </a:r>
            <a:r>
              <a:rPr lang="bg-BG" sz="3400" dirty="0"/>
              <a:t> или </a:t>
            </a:r>
            <a:r>
              <a:rPr lang="bg-BG" sz="3400" b="1" dirty="0">
                <a:solidFill>
                  <a:schemeClr val="bg1"/>
                </a:solidFill>
              </a:rPr>
              <a:t>комбинация</a:t>
            </a:r>
            <a:r>
              <a:rPr lang="bg-BG" sz="3400" b="1" dirty="0"/>
              <a:t> </a:t>
            </a:r>
            <a:r>
              <a:rPr lang="bg-BG" sz="3400" b="1" dirty="0">
                <a:solidFill>
                  <a:schemeClr val="bg1"/>
                </a:solidFill>
              </a:rPr>
              <a:t>от двете</a:t>
            </a:r>
          </a:p>
          <a:p>
            <a:pPr>
              <a:buClr>
                <a:schemeClr val="tx2"/>
              </a:buClr>
            </a:pPr>
            <a:r>
              <a:rPr lang="bg-BG" sz="3400" dirty="0"/>
              <a:t>Позволява </a:t>
            </a:r>
            <a:r>
              <a:rPr lang="bg-BG" sz="3400" b="1" dirty="0"/>
              <a:t>бързо разпознаване</a:t>
            </a:r>
            <a:r>
              <a:rPr lang="bg-BG" sz="3400" dirty="0"/>
              <a:t>, </a:t>
            </a:r>
            <a:r>
              <a:rPr lang="bg-BG" sz="3400" b="1" dirty="0"/>
              <a:t>професионален вид </a:t>
            </a:r>
            <a:r>
              <a:rPr lang="bg-BG" sz="3400" dirty="0"/>
              <a:t>и </a:t>
            </a:r>
            <a:r>
              <a:rPr lang="bg-BG" sz="3400" b="1" dirty="0"/>
              <a:t>свързване</a:t>
            </a:r>
            <a:r>
              <a:rPr lang="bg-BG" sz="3400" dirty="0"/>
              <a:t> на </a:t>
            </a:r>
            <a:r>
              <a:rPr lang="bg-BG" sz="3400" b="1" dirty="0"/>
              <a:t>дизайна</a:t>
            </a:r>
            <a:r>
              <a:rPr lang="bg-BG" sz="3400" dirty="0"/>
              <a:t> с </a:t>
            </a:r>
            <a:r>
              <a:rPr lang="bg-BG" sz="3400" b="1" dirty="0"/>
              <a:t>бранда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sz="4000" dirty="0"/>
              <a:t>Лого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45543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B7E724C-E85C-633D-D564-3FEFDA705A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22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D78B88-CCD0-702B-55EB-285902544D0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sz="3200" b="1" dirty="0">
                <a:solidFill>
                  <a:schemeClr val="bg1"/>
                </a:solidFill>
              </a:rPr>
              <a:t>Цялостния визуален стил </a:t>
            </a:r>
            <a:r>
              <a:rPr lang="bg-BG" sz="3200" dirty="0"/>
              <a:t>на </a:t>
            </a:r>
            <a:r>
              <a:rPr lang="bg-BG" sz="3200" b="1" dirty="0"/>
              <a:t>марката</a:t>
            </a:r>
          </a:p>
          <a:p>
            <a:r>
              <a:rPr lang="bg-BG" sz="3200" b="1" dirty="0"/>
              <a:t>Бранд идентичността </a:t>
            </a:r>
            <a:r>
              <a:rPr lang="bg-BG" sz="3200" dirty="0"/>
              <a:t>включва:</a:t>
            </a:r>
          </a:p>
          <a:p>
            <a:pPr lvl="1"/>
            <a:r>
              <a:rPr lang="bg-BG" sz="3000" b="1" dirty="0"/>
              <a:t>Цветова палитра</a:t>
            </a:r>
          </a:p>
          <a:p>
            <a:pPr lvl="1"/>
            <a:r>
              <a:rPr lang="bg-BG" sz="3000" b="1" dirty="0"/>
              <a:t>Шрифтове</a:t>
            </a:r>
            <a:r>
              <a:rPr lang="bg-BG" sz="3000" dirty="0"/>
              <a:t> и </a:t>
            </a:r>
            <a:r>
              <a:rPr lang="bg-BG" sz="3000" b="1" dirty="0"/>
              <a:t>топография</a:t>
            </a:r>
          </a:p>
          <a:p>
            <a:pPr lvl="1"/>
            <a:r>
              <a:rPr lang="bg-BG" sz="3000" b="1" dirty="0"/>
              <a:t>Лого</a:t>
            </a:r>
            <a:r>
              <a:rPr lang="bg-BG" sz="3000" dirty="0"/>
              <a:t> и </a:t>
            </a:r>
            <a:r>
              <a:rPr lang="bg-BG" sz="3000" b="1" dirty="0"/>
              <a:t>вариации на логото</a:t>
            </a:r>
          </a:p>
          <a:p>
            <a:pPr lvl="1"/>
            <a:r>
              <a:rPr lang="bg-BG" sz="3000" b="1" dirty="0"/>
              <a:t>Икони</a:t>
            </a:r>
            <a:r>
              <a:rPr lang="bg-BG" sz="3000" dirty="0"/>
              <a:t> и </a:t>
            </a:r>
            <a:r>
              <a:rPr lang="bg-BG" sz="3000" b="1" dirty="0"/>
              <a:t>графични елементи</a:t>
            </a:r>
          </a:p>
          <a:p>
            <a:pPr lvl="1"/>
            <a:r>
              <a:rPr lang="bg-BG" sz="3000" b="1" dirty="0"/>
              <a:t>Стил</a:t>
            </a:r>
            <a:r>
              <a:rPr lang="bg-BG" sz="3000" dirty="0"/>
              <a:t> на </a:t>
            </a:r>
            <a:r>
              <a:rPr lang="bg-BG" sz="3000" b="1" dirty="0"/>
              <a:t>изображенията</a:t>
            </a:r>
          </a:p>
          <a:p>
            <a:pPr lvl="1"/>
            <a:r>
              <a:rPr lang="bg-BG" sz="3000" b="1" dirty="0"/>
              <a:t>Тонове</a:t>
            </a:r>
            <a:r>
              <a:rPr lang="bg-BG" sz="3000" dirty="0"/>
              <a:t> и </a:t>
            </a:r>
            <a:r>
              <a:rPr lang="bg-BG" sz="3000" b="1" dirty="0"/>
              <a:t>визуална атмосфера </a:t>
            </a:r>
            <a:r>
              <a:rPr lang="bg-BG" sz="3000" dirty="0"/>
              <a:t>(класически, весел, модерен и т.н.)</a:t>
            </a:r>
          </a:p>
          <a:p>
            <a:endParaRPr lang="en-BG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0AB8E8F-7E99-E591-2158-00E3B4334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Бранд идентичност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2015748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3800" dirty="0"/>
              <a:t>Графичен модел (m</a:t>
            </a:r>
            <a:r>
              <a:rPr lang="en-US" sz="3800" dirty="0"/>
              <a:t>ockup</a:t>
            </a:r>
            <a:r>
              <a:rPr lang="bg-BG" sz="3800" dirty="0"/>
              <a:t>)</a:t>
            </a:r>
            <a:r>
              <a:rPr lang="en-US" sz="3800" dirty="0"/>
              <a:t> </a:t>
            </a:r>
            <a:r>
              <a:rPr lang="bg-BG" sz="3800" dirty="0"/>
              <a:t>на уеб страница по избор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Пример</a:t>
            </a:r>
            <a:endParaRPr lang="en-US" sz="5200" dirty="0"/>
          </a:p>
        </p:txBody>
      </p:sp>
    </p:spTree>
    <p:extLst>
      <p:ext uri="{BB962C8B-B14F-4D97-AF65-F5344CB8AC3E}">
        <p14:creationId xmlns:p14="http://schemas.microsoft.com/office/powerpoint/2010/main" val="302085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Резултат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36027689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Summary Box Group">
            <a:extLst>
              <a:ext uri="{FF2B5EF4-FFF2-40B4-BE49-F238E27FC236}">
                <a16:creationId xmlns:a16="http://schemas.microsoft.com/office/drawing/2014/main" id="{EBAFE522-EB7D-4931-A015-9A7E8A98517D}"/>
              </a:ext>
            </a:extLst>
          </p:cNvPr>
          <p:cNvGrpSpPr/>
          <p:nvPr/>
        </p:nvGrpSpPr>
        <p:grpSpPr>
          <a:xfrm>
            <a:off x="190406" y="1360993"/>
            <a:ext cx="11562624" cy="5394328"/>
            <a:chOff x="472011" y="1508786"/>
            <a:chExt cx="3799787" cy="4865561"/>
          </a:xfrm>
        </p:grpSpPr>
        <p:sp>
          <p:nvSpPr>
            <p:cNvPr id="10" name="Rounded Rectangle Blue">
              <a:extLst>
                <a:ext uri="{FF2B5EF4-FFF2-40B4-BE49-F238E27FC236}">
                  <a16:creationId xmlns:a16="http://schemas.microsoft.com/office/drawing/2014/main" id="{18F78F23-3D09-4B63-8DF9-D49CFBB145EE}"/>
                </a:ext>
              </a:extLst>
            </p:cNvPr>
            <p:cNvSpPr/>
            <p:nvPr/>
          </p:nvSpPr>
          <p:spPr>
            <a:xfrm>
              <a:off x="472011" y="1508786"/>
              <a:ext cx="3799787" cy="4865561"/>
            </a:xfrm>
            <a:prstGeom prst="roundRect">
              <a:avLst>
                <a:gd name="adj" fmla="val 3968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/>
            </a:p>
          </p:txBody>
        </p:sp>
        <p:sp>
          <p:nvSpPr>
            <p:cNvPr id="11" name="Rounded Rectangle Left">
              <a:extLst>
                <a:ext uri="{FF2B5EF4-FFF2-40B4-BE49-F238E27FC236}">
                  <a16:creationId xmlns:a16="http://schemas.microsoft.com/office/drawing/2014/main" id="{F12C06CE-2BBE-46C2-B718-813794C58DF9}"/>
                </a:ext>
              </a:extLst>
            </p:cNvPr>
            <p:cNvSpPr/>
            <p:nvPr/>
          </p:nvSpPr>
          <p:spPr>
            <a:xfrm>
              <a:off x="546866" y="1696737"/>
              <a:ext cx="81601" cy="4489658"/>
            </a:xfrm>
            <a:prstGeom prst="roundRect">
              <a:avLst>
                <a:gd name="adj" fmla="val 50000"/>
              </a:avLst>
            </a:prstGeom>
            <a:solidFill>
              <a:schemeClr val="bg2">
                <a:alpha val="4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bg1"/>
                </a:solidFill>
              </a:endParaRPr>
            </a:p>
          </p:txBody>
        </p:sp>
        <p:sp>
          <p:nvSpPr>
            <p:cNvPr id="12" name="Half Frame Top Right">
              <a:extLst>
                <a:ext uri="{FF2B5EF4-FFF2-40B4-BE49-F238E27FC236}">
                  <a16:creationId xmlns:a16="http://schemas.microsoft.com/office/drawing/2014/main" id="{66CDBB1E-AF3C-43FC-9F34-2DD691F81726}"/>
                </a:ext>
              </a:extLst>
            </p:cNvPr>
            <p:cNvSpPr/>
            <p:nvPr/>
          </p:nvSpPr>
          <p:spPr>
            <a:xfrm rot="5400000">
              <a:off x="3742559" y="1912372"/>
              <a:ext cx="669775" cy="238503"/>
            </a:xfrm>
            <a:prstGeom prst="halfFrame">
              <a:avLst>
                <a:gd name="adj1" fmla="val 23728"/>
                <a:gd name="adj2" fmla="val 24642"/>
              </a:avLst>
            </a:prstGeom>
            <a:solidFill>
              <a:schemeClr val="bg2">
                <a:alpha val="2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0E49D336-45B6-44D3-97C4-E28F8DEA202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7877" y="1676785"/>
            <a:ext cx="10826625" cy="4977574"/>
          </a:xfrm>
        </p:spPr>
        <p:txBody>
          <a:bodyPr>
            <a:noAutofit/>
          </a:bodyPr>
          <a:lstStyle>
            <a:lvl1pPr marL="514350" indent="-514350">
              <a:buFont typeface="Wingdings" panose="05000000000000000000" pitchFamily="2" charset="2"/>
              <a:buChar char="§"/>
              <a:defRPr>
                <a:solidFill>
                  <a:schemeClr val="bg2"/>
                </a:solidFill>
              </a:defRPr>
            </a:lvl1pPr>
            <a:lvl2pPr marL="112393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2pPr>
            <a:lvl3pPr marL="1733520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3pPr>
            <a:lvl4pPr marL="234310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4pPr>
            <a:lvl5pPr marL="2952689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5pPr>
          </a:lstStyle>
          <a:p>
            <a:pPr marL="360363" indent="-360363" fontAlgn="base">
              <a:buClr>
                <a:schemeClr val="bg2"/>
              </a:buClr>
            </a:pP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Графичен модел (</a:t>
            </a:r>
            <a:r>
              <a:rPr lang="en-US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Mockup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) </a:t>
            </a:r>
            <a:r>
              <a:rPr lang="bg-BG" sz="2600" dirty="0"/>
              <a:t>=</a:t>
            </a:r>
            <a:r>
              <a:rPr lang="en-US" sz="2600" dirty="0"/>
              <a:t>= </a:t>
            </a:r>
            <a:r>
              <a:rPr lang="bg-BG" sz="2600" b="1" dirty="0"/>
              <a:t>статично</a:t>
            </a:r>
            <a:r>
              <a:rPr lang="bg-BG" sz="2600" dirty="0"/>
              <a:t> и </a:t>
            </a:r>
            <a:r>
              <a:rPr lang="bg-BG" sz="2600" b="1" dirty="0"/>
              <a:t>детайлно</a:t>
            </a:r>
            <a:r>
              <a:rPr lang="bg-BG" sz="2600" dirty="0"/>
              <a:t> </a:t>
            </a:r>
            <a:r>
              <a:rPr lang="bg-BG" sz="2600" b="1" dirty="0"/>
              <a:t>визуално представяне</a:t>
            </a:r>
            <a:r>
              <a:rPr lang="bg-BG" sz="2600" dirty="0"/>
              <a:t> на </a:t>
            </a:r>
            <a:r>
              <a:rPr lang="bg-BG" sz="2600" b="1" dirty="0"/>
              <a:t>уеб сайта</a:t>
            </a:r>
            <a:endParaRPr lang="en-US" sz="2600" b="1" dirty="0"/>
          </a:p>
          <a:p>
            <a:pPr marL="360363" indent="-360363" fontAlgn="base">
              <a:buClr>
                <a:schemeClr val="bg2"/>
              </a:buClr>
            </a:pP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Прототип (</a:t>
            </a:r>
            <a:r>
              <a:rPr lang="en-US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Prototype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) </a:t>
            </a:r>
            <a:r>
              <a:rPr lang="en-US" sz="2600" dirty="0"/>
              <a:t>== </a:t>
            </a:r>
            <a:r>
              <a:rPr lang="bg-BG" sz="2600" b="1" dirty="0"/>
              <a:t>интерактивен модел </a:t>
            </a:r>
            <a:r>
              <a:rPr lang="bg-BG" sz="2600" dirty="0"/>
              <a:t>на </a:t>
            </a:r>
            <a:r>
              <a:rPr lang="bg-BG" sz="2600" b="1" dirty="0"/>
              <a:t>уеб сайта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2600" b="1" dirty="0"/>
              <a:t>Елементи на графичния дизайн</a:t>
            </a:r>
          </a:p>
          <a:p>
            <a:pPr marL="969948" lvl="1" indent="-360363" fontAlgn="base">
              <a:buClr>
                <a:schemeClr val="bg2"/>
              </a:buClr>
            </a:pPr>
            <a:r>
              <a:rPr lang="bg-BG" sz="2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Цветова схема</a:t>
            </a:r>
            <a:r>
              <a:rPr lang="en-US" sz="2400" dirty="0">
                <a:solidFill>
                  <a:schemeClr val="bg2"/>
                </a:solidFill>
              </a:rPr>
              <a:t> == </a:t>
            </a:r>
            <a:r>
              <a:rPr lang="bg-BG" sz="2400" b="1" dirty="0">
                <a:solidFill>
                  <a:schemeClr val="bg2"/>
                </a:solidFill>
              </a:rPr>
              <a:t>хармоничната комбинация </a:t>
            </a:r>
            <a:r>
              <a:rPr lang="bg-BG" sz="2400" dirty="0">
                <a:solidFill>
                  <a:schemeClr val="bg2"/>
                </a:solidFill>
              </a:rPr>
              <a:t>между</a:t>
            </a:r>
            <a:r>
              <a:rPr lang="bg-BG" sz="2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bg-BG" sz="2400" b="1" dirty="0">
                <a:solidFill>
                  <a:schemeClr val="bg2"/>
                </a:solidFill>
              </a:rPr>
              <a:t>цветовете</a:t>
            </a:r>
          </a:p>
          <a:p>
            <a:pPr marL="969948" lvl="1" indent="-360363" fontAlgn="base">
              <a:buClr>
                <a:schemeClr val="bg2"/>
              </a:buClr>
            </a:pPr>
            <a:r>
              <a:rPr lang="bg-BG" sz="2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Шрифтове (Типография) </a:t>
            </a:r>
            <a:r>
              <a:rPr lang="en-US" sz="2400" dirty="0">
                <a:solidFill>
                  <a:schemeClr val="bg2"/>
                </a:solidFill>
              </a:rPr>
              <a:t>== </a:t>
            </a:r>
            <a:r>
              <a:rPr lang="bg-BG" sz="2400" dirty="0">
                <a:solidFill>
                  <a:schemeClr val="bg2"/>
                </a:solidFill>
              </a:rPr>
              <a:t>определят </a:t>
            </a:r>
            <a:r>
              <a:rPr lang="bg-BG" sz="2400" b="1" dirty="0">
                <a:solidFill>
                  <a:schemeClr val="bg2"/>
                </a:solidFill>
              </a:rPr>
              <a:t>вида</a:t>
            </a:r>
            <a:r>
              <a:rPr lang="bg-BG" sz="2400" dirty="0">
                <a:solidFill>
                  <a:schemeClr val="bg2"/>
                </a:solidFill>
              </a:rPr>
              <a:t> и </a:t>
            </a:r>
            <a:r>
              <a:rPr lang="bg-BG" sz="2400" b="1" dirty="0">
                <a:solidFill>
                  <a:schemeClr val="bg2"/>
                </a:solidFill>
              </a:rPr>
              <a:t>подредбата</a:t>
            </a:r>
            <a:r>
              <a:rPr lang="bg-BG" sz="2400" dirty="0">
                <a:solidFill>
                  <a:schemeClr val="bg2"/>
                </a:solidFill>
              </a:rPr>
              <a:t> на </a:t>
            </a:r>
            <a:r>
              <a:rPr lang="bg-BG" sz="2400" b="1" dirty="0">
                <a:solidFill>
                  <a:schemeClr val="bg2"/>
                </a:solidFill>
              </a:rPr>
              <a:t>текстовете</a:t>
            </a:r>
          </a:p>
          <a:p>
            <a:pPr marL="969948" lvl="1" indent="-360363" fontAlgn="base">
              <a:buClr>
                <a:schemeClr val="bg2"/>
              </a:buClr>
            </a:pPr>
            <a:r>
              <a:rPr lang="bg-BG" sz="2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Подредба и секции</a:t>
            </a:r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dirty="0">
                <a:solidFill>
                  <a:schemeClr val="bg2"/>
                </a:solidFill>
              </a:rPr>
              <a:t>==</a:t>
            </a:r>
            <a:r>
              <a:rPr lang="bg-BG" sz="2400" dirty="0">
                <a:solidFill>
                  <a:schemeClr val="bg2"/>
                </a:solidFill>
              </a:rPr>
              <a:t> </a:t>
            </a:r>
            <a:r>
              <a:rPr lang="bg-BG" sz="2400" b="1" dirty="0">
                <a:solidFill>
                  <a:schemeClr val="bg2"/>
                </a:solidFill>
              </a:rPr>
              <a:t>начинът</a:t>
            </a:r>
            <a:r>
              <a:rPr lang="bg-BG" sz="2400" dirty="0">
                <a:solidFill>
                  <a:schemeClr val="bg2"/>
                </a:solidFill>
              </a:rPr>
              <a:t>, по който са </a:t>
            </a:r>
            <a:r>
              <a:rPr lang="bg-BG" sz="2400" b="1" dirty="0">
                <a:solidFill>
                  <a:schemeClr val="bg2"/>
                </a:solidFill>
              </a:rPr>
              <a:t>разпределени елементите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Лого</a:t>
            </a:r>
            <a:r>
              <a:rPr lang="en-US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600" dirty="0"/>
              <a:t>==</a:t>
            </a:r>
            <a:r>
              <a:rPr lang="bg-BG" sz="2600" b="1" dirty="0"/>
              <a:t> графичен знак </a:t>
            </a:r>
            <a:r>
              <a:rPr lang="bg-BG" sz="2600" dirty="0"/>
              <a:t>представящ марката</a:t>
            </a:r>
            <a:endParaRPr lang="en-US" sz="2600" dirty="0"/>
          </a:p>
          <a:p>
            <a:pPr marL="360363" indent="-360363" fontAlgn="base">
              <a:buClr>
                <a:schemeClr val="bg2"/>
              </a:buClr>
            </a:pP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Бранд идентичност </a:t>
            </a:r>
            <a:r>
              <a:rPr lang="en-US" sz="2600" dirty="0"/>
              <a:t>==</a:t>
            </a:r>
            <a:r>
              <a:rPr lang="bg-BG" sz="2600" dirty="0"/>
              <a:t> </a:t>
            </a:r>
            <a:r>
              <a:rPr lang="bg-BG" sz="2600" b="1" dirty="0"/>
              <a:t>цялостният визуален стил </a:t>
            </a:r>
            <a:r>
              <a:rPr lang="bg-BG" sz="2600" dirty="0"/>
              <a:t>на марката</a:t>
            </a:r>
            <a:endParaRPr lang="en-US" sz="2600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Обобщение</a:t>
            </a:r>
            <a:endParaRPr lang="en-US" dirty="0"/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E369AAE7-BDDC-FE11-A61E-E20F7F6632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25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23049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Title">
            <a:extLst>
              <a:ext uri="{FF2B5EF4-FFF2-40B4-BE49-F238E27FC236}">
                <a16:creationId xmlns:a16="http://schemas.microsoft.com/office/drawing/2014/main" id="{FA0703FC-0F8F-4C80-A615-E4B381EC0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Въпроси</a:t>
            </a:r>
            <a:r>
              <a:rPr lang="en-US" dirty="0"/>
              <a:t>?</a:t>
            </a:r>
          </a:p>
        </p:txBody>
      </p:sp>
      <p:sp>
        <p:nvSpPr>
          <p:cNvPr id="2" name="Rectangle Bottom Copyright">
            <a:extLst>
              <a:ext uri="{FF2B5EF4-FFF2-40B4-BE49-F238E27FC236}">
                <a16:creationId xmlns:a16="http://schemas.microsoft.com/office/drawing/2014/main" id="{664812A4-2991-44D1-BFE9-32E55AADF8A5}"/>
              </a:ext>
            </a:extLst>
          </p:cNvPr>
          <p:cNvSpPr/>
          <p:nvPr/>
        </p:nvSpPr>
        <p:spPr>
          <a:xfrm>
            <a:off x="111000" y="6454758"/>
            <a:ext cx="11970000" cy="30424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Проект "</a:t>
            </a:r>
            <a:r>
              <a:rPr lang="bg-BG" sz="1600" dirty="0">
                <a:solidFill>
                  <a:schemeClr val="bg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Отворено учебно съдържание по програмиране и ИТ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", СофтУни Фондация (лиценз </a:t>
            </a:r>
            <a:r>
              <a:rPr lang="en-US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CC-BY-NC-SA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)</a:t>
            </a:r>
            <a:endParaRPr lang="bg-BG" sz="2400" dirty="0">
              <a:solidFill>
                <a:schemeClr val="bg2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2534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48C3C93-90A1-4D31-BEA6-B54D1106CE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2" name="Slide Body">
            <a:extLst>
              <a:ext uri="{FF2B5EF4-FFF2-40B4-BE49-F238E27FC236}">
                <a16:creationId xmlns:a16="http://schemas.microsoft.com/office/drawing/2014/main" id="{980F49B1-E4BE-4389-A747-7AB9B71AD9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269001"/>
            <a:ext cx="9865598" cy="247499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bg-BG" sz="3200" dirty="0"/>
              <a:t>Този курс</a:t>
            </a:r>
            <a:r>
              <a:rPr lang="en-US" sz="3200" dirty="0"/>
              <a:t> (</a:t>
            </a:r>
            <a:r>
              <a:rPr lang="bg-BG" sz="3200" dirty="0"/>
              <a:t>презентации, примери, демонстрационен код, упражнения, домашни, видео и други активи</a:t>
            </a:r>
            <a:r>
              <a:rPr lang="en-US" sz="3200" dirty="0"/>
              <a:t>) </a:t>
            </a:r>
            <a:r>
              <a:rPr lang="bg-BG" sz="3200" dirty="0"/>
              <a:t>представлява</a:t>
            </a:r>
            <a:r>
              <a:rPr lang="en-US" sz="3200" dirty="0"/>
              <a:t> </a:t>
            </a:r>
            <a:r>
              <a:rPr lang="bg-BG" sz="3200" b="1" dirty="0"/>
              <a:t>свободно учебно съдържание </a:t>
            </a:r>
            <a:r>
              <a:rPr lang="bg-BG" sz="3200" dirty="0"/>
              <a:t>и се разпространява под свободен лиценз </a:t>
            </a:r>
            <a:r>
              <a:rPr lang="en-US" sz="3200" b="1" dirty="0"/>
              <a:t>CC-BY-NC-SA</a:t>
            </a:r>
            <a:endParaRPr lang="bg-BG" sz="3200" dirty="0"/>
          </a:p>
        </p:txBody>
      </p:sp>
      <p:pic>
        <p:nvPicPr>
          <p:cNvPr id="6" name="Picture License" descr="License">
            <a:extLst>
              <a:ext uri="{FF2B5EF4-FFF2-40B4-BE49-F238E27FC236}">
                <a16:creationId xmlns:a16="http://schemas.microsoft.com/office/drawing/2014/main" id="{82BA520F-A037-4E01-AA18-27D9F1E930A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226175" y="1440120"/>
            <a:ext cx="1198986" cy="1268880"/>
          </a:xfrm>
          <a:prstGeom prst="rect">
            <a:avLst/>
          </a:prstGeom>
        </p:spPr>
      </p:pic>
      <p:sp>
        <p:nvSpPr>
          <p:cNvPr id="3" name="Slide Title">
            <a:extLst>
              <a:ext uri="{FF2B5EF4-FFF2-40B4-BE49-F238E27FC236}">
                <a16:creationId xmlns:a16="http://schemas.microsoft.com/office/drawing/2014/main" id="{E5F1FB41-80C3-4816-BC47-CCC50632E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Лиценз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18DF19-B750-4C88-975B-661A6BF61F5E}"/>
              </a:ext>
            </a:extLst>
          </p:cNvPr>
          <p:cNvSpPr txBox="1"/>
          <p:nvPr/>
        </p:nvSpPr>
        <p:spPr>
          <a:xfrm>
            <a:off x="190401" y="3927519"/>
            <a:ext cx="11710599" cy="1979644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pPr marL="360363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lang="bg-BG" sz="3200" dirty="0"/>
              <a:t>Проект "</a:t>
            </a:r>
            <a:r>
              <a:rPr lang="bg-BG" sz="3200" b="1" dirty="0"/>
              <a:t>Отворено учебно съдържание по програмиране и ИТ</a:t>
            </a:r>
            <a:r>
              <a:rPr lang="bg-BG" sz="3200" dirty="0"/>
              <a:t>" към Фондация "Софтуерен университет"</a:t>
            </a:r>
            <a:r>
              <a:rPr lang="en-US" sz="3200" dirty="0"/>
              <a:t>:</a:t>
            </a:r>
            <a:endParaRPr lang="bg-BG" sz="3200" dirty="0"/>
          </a:p>
          <a:p>
            <a:pPr marL="817563" lvl="1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234465"/>
                </a:solidFill>
                <a:effectLst/>
                <a:uLnTx/>
                <a:uFillTx/>
                <a:latin typeface="Calibri"/>
                <a:ea typeface="+mn-ea"/>
                <a:cs typeface="+mn-cs"/>
                <a:hlinkClick r:id="rId4"/>
              </a:rPr>
              <a:t>https://github.com/BG-IT-Edu</a:t>
            </a:r>
            <a:endParaRPr kumimoji="0" lang="bg-BG" sz="3200" b="0" i="0" u="none" strike="noStrike" kern="1200" cap="none" spc="0" normalizeH="0" baseline="0" noProof="0" dirty="0">
              <a:ln>
                <a:noFill/>
              </a:ln>
              <a:solidFill>
                <a:srgbClr val="234465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 title="CC-BY-NC-SA License">
            <a:hlinkClick r:id="rId5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F6C77C47-F7D8-A176-5C69-7FDE5C7E80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831000" y="2908593"/>
            <a:ext cx="1989336" cy="696022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79276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8|0.4|0.3|0.5|0.3|0.3|0.4|0.4"/>
</p:tagLst>
</file>

<file path=ppt/theme/theme1.xml><?xml version="1.0" encoding="utf-8"?>
<a:theme xmlns:a="http://schemas.openxmlformats.org/drawingml/2006/main" name="SoftUni">
  <a:themeElements>
    <a:clrScheme name="Custom 2">
      <a:dk1>
        <a:srgbClr val="234465"/>
      </a:dk1>
      <a:lt1>
        <a:srgbClr val="BF7800"/>
      </a:lt1>
      <a:dk2>
        <a:srgbClr val="234465"/>
      </a:dk2>
      <a:lt2>
        <a:srgbClr val="FFFFFF"/>
      </a:lt2>
      <a:accent1>
        <a:srgbClr val="FFA000"/>
      </a:accent1>
      <a:accent2>
        <a:srgbClr val="00B050"/>
      </a:accent2>
      <a:accent3>
        <a:srgbClr val="44A9F8"/>
      </a:accent3>
      <a:accent4>
        <a:srgbClr val="7030A0"/>
      </a:accent4>
      <a:accent5>
        <a:srgbClr val="67748E"/>
      </a:accent5>
      <a:accent6>
        <a:srgbClr val="F4F5F7"/>
      </a:accent6>
      <a:hlink>
        <a:srgbClr val="BF7800"/>
      </a:hlink>
      <a:folHlink>
        <a:srgbClr val="EF9511"/>
      </a:folHlink>
    </a:clrScheme>
    <a:fontScheme name="SoftUni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dk2">
            <a:alpha val="80000"/>
          </a:schemeClr>
        </a:solidFill>
        <a:ln w="19050">
          <a:solidFill>
            <a:schemeClr val="tx1">
              <a:lumMod val="75000"/>
              <a:alpha val="80000"/>
            </a:schemeClr>
          </a:solidFill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2800" b="1" dirty="0">
            <a:solidFill>
              <a:srgbClr val="FFFFFF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defRPr>
        </a:defPPr>
      </a:lstStyle>
      <a:style>
        <a:lnRef idx="2">
          <a:schemeClr val="accent1">
            <a:shade val="50000"/>
          </a:schemeClr>
        </a:lnRef>
        <a:fillRef idx="1001">
          <a:schemeClr val="dk2"/>
        </a:fillRef>
        <a:effectRef idx="0">
          <a:schemeClr val="accent1"/>
        </a:effectRef>
        <a:fontRef idx="minor">
          <a:schemeClr val="lt1"/>
        </a:fontRef>
      </a:style>
    </a:spDef>
    <a:txDef>
      <a:spPr>
        <a:solidFill>
          <a:schemeClr val="accent6">
            <a:lumMod val="75000"/>
            <a:alpha val="15000"/>
          </a:schemeClr>
        </a:solidFill>
        <a:ln w="12700">
          <a:solidFill>
            <a:schemeClr val="tx1">
              <a:lumMod val="75000"/>
            </a:schemeClr>
          </a:solidFill>
        </a:ln>
      </a:spPr>
      <a:bodyPr vert="horz" wrap="square" lIns="144000" tIns="108000" rIns="144000" bIns="108000" rtlCol="0">
        <a:spAutoFit/>
      </a:bodyPr>
      <a:lstStyle>
        <a:defPPr algn="l" eaLnBrk="0" hangingPunct="0">
          <a:lnSpc>
            <a:spcPct val="110000"/>
          </a:lnSpc>
          <a:buClr>
            <a:schemeClr val="accent5">
              <a:lumMod val="40000"/>
              <a:lumOff val="60000"/>
            </a:schemeClr>
          </a:buClr>
          <a:buSzPct val="70000"/>
          <a:defRPr sz="24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SoftUni" id="{D61FAD9B-6E74-4E03-BFE4-B363D484F1DA}" vid="{7089C1A3-635B-4B03-A017-DAF10A3A39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26045</TotalTime>
  <Words>1149</Words>
  <Application>Microsoft Macintosh PowerPoint</Application>
  <PresentationFormat>Widescreen</PresentationFormat>
  <Paragraphs>186</Paragraphs>
  <Slides>27</Slides>
  <Notes>17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Arial</vt:lpstr>
      <vt:lpstr>Calibri</vt:lpstr>
      <vt:lpstr>Consolas</vt:lpstr>
      <vt:lpstr>Wingdings</vt:lpstr>
      <vt:lpstr>SoftUni</vt:lpstr>
      <vt:lpstr>Графичен дизайн на уеб сайт</vt:lpstr>
      <vt:lpstr>Съдържание</vt:lpstr>
      <vt:lpstr>​Графичен модел (Mockup)</vt:lpstr>
      <vt:lpstr>​Графичен модел (Mockup)</vt:lpstr>
      <vt:lpstr>Етапи при създаване на графичен модел (1)</vt:lpstr>
      <vt:lpstr>Етапи при създаване на графичен модел (2)</vt:lpstr>
      <vt:lpstr>​​Прототип (Prototype)</vt:lpstr>
      <vt:lpstr>​​Прототип (Prototype)</vt:lpstr>
      <vt:lpstr>Mockup vs. Prototype</vt:lpstr>
      <vt:lpstr>​Елементи на графичния дизайн</vt:lpstr>
      <vt:lpstr>Елементи на графичния дизайн</vt:lpstr>
      <vt:lpstr>Цветова схема</vt:lpstr>
      <vt:lpstr>Колелото на цветовете</vt:lpstr>
      <vt:lpstr>Видове цветови схеми</vt:lpstr>
      <vt:lpstr>Шрифтове</vt:lpstr>
      <vt:lpstr>Видове шрифтове</vt:lpstr>
      <vt:lpstr>Подредба и секции</vt:lpstr>
      <vt:lpstr>Пример за подредба и секции</vt:lpstr>
      <vt:lpstr>Лого и бранд идентичност</vt:lpstr>
      <vt:lpstr>Лого и бранд идентичност</vt:lpstr>
      <vt:lpstr>Лого</vt:lpstr>
      <vt:lpstr>Бранд идентичност</vt:lpstr>
      <vt:lpstr>Пример</vt:lpstr>
      <vt:lpstr>Резултат</vt:lpstr>
      <vt:lpstr>Обобщение</vt:lpstr>
      <vt:lpstr>Въпроси?</vt:lpstr>
      <vt:lpstr>Лиценз</vt:lpstr>
    </vt:vector>
  </TitlesOfParts>
  <Manager/>
  <Company>BG-IT-Edu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Графичен дизайн на уеб сайт</dc:title>
  <dc:subject>Модул 3: Информационни технологии</dc:subject>
  <dc:creator>BG-IT-Edu</dc:creator>
  <cp:keywords>programming; training; course</cp:keywords>
  <dc:description>Open Programming and IT Courseware for IT Teachers (BG-IT-Edu): https://github.com/BG-IT-Edu
With the kind support of SoftUni: https://softuni.bg</dc:description>
  <cp:lastModifiedBy>Mirela Damyanova</cp:lastModifiedBy>
  <cp:revision>351</cp:revision>
  <dcterms:created xsi:type="dcterms:W3CDTF">2018-05-23T13:08:44Z</dcterms:created>
  <dcterms:modified xsi:type="dcterms:W3CDTF">2025-11-20T16:55:05Z</dcterms:modified>
  <cp:category/>
</cp:coreProperties>
</file>