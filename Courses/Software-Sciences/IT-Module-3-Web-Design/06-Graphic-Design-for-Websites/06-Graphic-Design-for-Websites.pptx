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49"/>
  </p:notesMasterIdLst>
  <p:handoutMasterIdLst>
    <p:handoutMasterId r:id="rId50"/>
  </p:handoutMasterIdLst>
  <p:sldIdLst>
    <p:sldId id="503" r:id="rId2"/>
    <p:sldId id="276" r:id="rId3"/>
    <p:sldId id="353" r:id="rId4"/>
    <p:sldId id="497" r:id="rId5"/>
    <p:sldId id="818" r:id="rId6"/>
    <p:sldId id="872" r:id="rId7"/>
    <p:sldId id="610" r:id="rId8"/>
    <p:sldId id="868" r:id="rId9"/>
    <p:sldId id="874" r:id="rId10"/>
    <p:sldId id="616" r:id="rId11"/>
    <p:sldId id="823" r:id="rId12"/>
    <p:sldId id="864" r:id="rId13"/>
    <p:sldId id="876" r:id="rId14"/>
    <p:sldId id="871" r:id="rId15"/>
    <p:sldId id="877" r:id="rId16"/>
    <p:sldId id="878" r:id="rId17"/>
    <p:sldId id="887" r:id="rId18"/>
    <p:sldId id="888" r:id="rId19"/>
    <p:sldId id="889" r:id="rId20"/>
    <p:sldId id="865" r:id="rId21"/>
    <p:sldId id="870" r:id="rId22"/>
    <p:sldId id="866" r:id="rId23"/>
    <p:sldId id="883" r:id="rId24"/>
    <p:sldId id="890" r:id="rId25"/>
    <p:sldId id="891" r:id="rId26"/>
    <p:sldId id="892" r:id="rId27"/>
    <p:sldId id="838" r:id="rId28"/>
    <p:sldId id="844" r:id="rId29"/>
    <p:sldId id="846" r:id="rId30"/>
    <p:sldId id="879" r:id="rId31"/>
    <p:sldId id="867" r:id="rId32"/>
    <p:sldId id="884" r:id="rId33"/>
    <p:sldId id="885" r:id="rId34"/>
    <p:sldId id="886" r:id="rId35"/>
    <p:sldId id="654" r:id="rId36"/>
    <p:sldId id="817" r:id="rId37"/>
    <p:sldId id="855" r:id="rId38"/>
    <p:sldId id="894" r:id="rId39"/>
    <p:sldId id="896" r:id="rId40"/>
    <p:sldId id="897" r:id="rId41"/>
    <p:sldId id="899" r:id="rId42"/>
    <p:sldId id="900" r:id="rId43"/>
    <p:sldId id="893" r:id="rId44"/>
    <p:sldId id="860" r:id="rId45"/>
    <p:sldId id="633" r:id="rId46"/>
    <p:sldId id="504" r:id="rId47"/>
    <p:sldId id="505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A0C7653D-1924-4F56-9E27-AA2B21F1DA92}">
          <p14:sldIdLst>
            <p14:sldId id="503"/>
            <p14:sldId id="276"/>
          </p14:sldIdLst>
        </p14:section>
        <p14:section name="Графичен модел (Mockup)" id="{66DCFE1F-60FD-44F2-BE82-706DDBC14898}">
          <p14:sldIdLst>
            <p14:sldId id="353"/>
            <p14:sldId id="497"/>
            <p14:sldId id="818"/>
            <p14:sldId id="872"/>
          </p14:sldIdLst>
        </p14:section>
        <p14:section name="Прототип (Prototype)" id="{EB44CA50-B176-0C4C-B0D0-5459023C7783}">
          <p14:sldIdLst>
            <p14:sldId id="610"/>
            <p14:sldId id="868"/>
            <p14:sldId id="874"/>
          </p14:sldIdLst>
        </p14:section>
        <p14:section name="Елементи на графичния дизайн" id="{2B3E1915-4BA2-9447-BC07-AE658EE7EC35}">
          <p14:sldIdLst>
            <p14:sldId id="616"/>
            <p14:sldId id="823"/>
            <p14:sldId id="864"/>
            <p14:sldId id="876"/>
            <p14:sldId id="871"/>
            <p14:sldId id="877"/>
            <p14:sldId id="878"/>
            <p14:sldId id="887"/>
            <p14:sldId id="888"/>
            <p14:sldId id="889"/>
            <p14:sldId id="865"/>
            <p14:sldId id="870"/>
            <p14:sldId id="866"/>
            <p14:sldId id="883"/>
            <p14:sldId id="890"/>
            <p14:sldId id="891"/>
            <p14:sldId id="892"/>
          </p14:sldIdLst>
        </p14:section>
        <p14:section name="Лого и бранд идентичност" id="{23E1C1D3-C190-EF49-BBD0-D54C17EFBBA7}">
          <p14:sldIdLst>
            <p14:sldId id="838"/>
            <p14:sldId id="844"/>
            <p14:sldId id="846"/>
            <p14:sldId id="879"/>
            <p14:sldId id="867"/>
            <p14:sldId id="884"/>
            <p14:sldId id="885"/>
            <p14:sldId id="886"/>
          </p14:sldIdLst>
        </p14:section>
        <p14:section name="Демо" id="{276EAB92-AF41-DD42-AFD3-D1ABB239E1A7}">
          <p14:sldIdLst>
            <p14:sldId id="654"/>
            <p14:sldId id="817"/>
            <p14:sldId id="855"/>
            <p14:sldId id="894"/>
            <p14:sldId id="896"/>
            <p14:sldId id="897"/>
            <p14:sldId id="899"/>
            <p14:sldId id="900"/>
            <p14:sldId id="893"/>
            <p14:sldId id="860"/>
          </p14:sldIdLst>
        </p14:section>
        <p14:section name="Заключение" id="{E19D07F1-86E2-47E9-B2AB-7ADC4F89DC12}">
          <p14:sldIdLst>
            <p14:sldId id="633"/>
            <p14:sldId id="504"/>
            <p14:sldId id="5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B4BF2F8-D32F-9387-A6CE-368ED6EFDCF0}" name="Zaraliev" initials="KZ" userId="S::Zaraliev@students.softuni.bg::e1c6524a-140e-4108-9ad5-21636343196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C" initials="P" lastIdx="8" clrIdx="0">
    <p:extLst>
      <p:ext uri="{19B8F6BF-5375-455C-9EA6-DF929625EA0E}">
        <p15:presenceInfo xmlns:p15="http://schemas.microsoft.com/office/powerpoint/2012/main" userId="PC" providerId="None"/>
      </p:ext>
    </p:extLst>
  </p:cmAuthor>
  <p:cmAuthor id="2" name="Mirela Damyanova" initials="MD" lastIdx="5" clrIdx="1">
    <p:extLst>
      <p:ext uri="{19B8F6BF-5375-455C-9EA6-DF929625EA0E}">
        <p15:presenceInfo xmlns:p15="http://schemas.microsoft.com/office/powerpoint/2012/main" userId="Mirela Damyanov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465"/>
    <a:srgbClr val="ADB4C3"/>
    <a:srgbClr val="EA9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6D9F66E-5EB9-4882-86FB-DCBF35E3C3E4}" styleName="Medium Style 4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Medium Style 4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07" autoAdjust="0"/>
    <p:restoredTop sz="95503" autoAdjust="0"/>
  </p:normalViewPr>
  <p:slideViewPr>
    <p:cSldViewPr showGuides="1">
      <p:cViewPr varScale="1">
        <p:scale>
          <a:sx n="108" d="100"/>
          <a:sy n="108" d="100"/>
        </p:scale>
        <p:origin x="464" y="192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0" d="100"/>
          <a:sy n="60" d="100"/>
        </p:scale>
        <p:origin x="3187" y="48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8/10/relationships/authors" Target="authors.xml"/><Relationship Id="rId8" Type="http://schemas.openxmlformats.org/officeDocument/2006/relationships/slide" Target="slides/slide7.xml"/><Relationship Id="rId51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4.09.26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92000"/>
            <a:ext cx="6443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bg-BG" sz="1100" dirty="0"/>
              <a:t>Работна група </a:t>
            </a:r>
            <a:r>
              <a:rPr lang="ru-RU" sz="1100" dirty="0"/>
              <a:t>"Образование по програмиране и ИТ</a:t>
            </a:r>
            <a:r>
              <a:rPr lang="bg-BG" sz="1100" dirty="0"/>
              <a:t>",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92000"/>
            <a:ext cx="412413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9/4/26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92000"/>
            <a:ext cx="367414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78811095-27E9-49AB-972B-D4E20B396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E923224B-0CC3-475A-8628-8A90751A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88A3F3-90B1-4930-8D00-5603BDABEF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489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3">
            <a:extLst>
              <a:ext uri="{FF2B5EF4-FFF2-40B4-BE49-F238E27FC236}">
                <a16:creationId xmlns:a16="http://schemas.microsoft.com/office/drawing/2014/main" id="{A1F0B3C6-2E53-4CA3-86D1-53D46EC35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" name="Notes Placeholder 14">
            <a:extLst>
              <a:ext uri="{FF2B5EF4-FFF2-40B4-BE49-F238E27FC236}">
                <a16:creationId xmlns:a16="http://schemas.microsoft.com/office/drawing/2014/main" id="{149CC699-A079-49A5-A4D6-73B7F849A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121F4233-7E9A-40D2-9066-2DB14E2FA5A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8F1DFF-B3E7-4ABF-97EE-0BBF3A961E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530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098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925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5634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8797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714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3324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1878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6292058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486592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9477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849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3406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9941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014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7052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5253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5684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5645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0353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38838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8550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222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65F1CA9-65DC-416B-8882-B3A5E415CE67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43FAF785-0C8D-730E-8E59-68198DC82CE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893447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59BE0-D868-413B-AAA1-1CC88D1F52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59037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72CE7-61C1-4B7B-B0C8-5A45F01787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84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 userDrawn="1"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90123" y="3400017"/>
            <a:ext cx="5248260" cy="218898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Company Web Site">
            <a:extLst>
              <a:ext uri="{FF2B5EF4-FFF2-40B4-BE49-F238E27FC236}">
                <a16:creationId xmlns:a16="http://schemas.microsoft.com/office/drawing/2014/main" id="{0B99B1EE-62FA-4AA4-920C-D444D6C0B7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0120" y="6086106"/>
            <a:ext cx="5248260" cy="341313"/>
          </a:xfrm>
        </p:spPr>
        <p:txBody>
          <a:bodyPr lIns="36000" rIns="36000" anchor="ctr" anchorCtr="0">
            <a:no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/>
              <a:t>https://softuni.foundation  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2A76510A-0BAE-A827-E77C-BE88E38F52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0122" y="5698189"/>
            <a:ext cx="5248260" cy="374236"/>
          </a:xfrm>
        </p:spPr>
        <p:txBody>
          <a:bodyPr lIns="36000" rIns="36000" anchor="ctr" anchorCtr="0">
            <a:normAutofit/>
          </a:bodyPr>
          <a:lstStyle>
            <a:lvl1pPr marL="0" indent="0" algn="r">
              <a:buNone/>
              <a:defRPr sz="2000" b="1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SoftUni Foundation</a:t>
            </a:r>
          </a:p>
        </p:txBody>
      </p:sp>
      <p:sp>
        <p:nvSpPr>
          <p:cNvPr id="31" name="Author Position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34045" y="6085863"/>
            <a:ext cx="4751953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800" b="0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URL</a:t>
            </a:r>
          </a:p>
        </p:txBody>
      </p:sp>
      <p:sp>
        <p:nvSpPr>
          <p:cNvPr id="30" name="Author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34046" y="5251106"/>
            <a:ext cx="4751954" cy="724904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Authors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746" y="1402942"/>
            <a:ext cx="11083636" cy="1306057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746" y="321501"/>
            <a:ext cx="11083636" cy="971589"/>
          </a:xfrm>
        </p:spPr>
        <p:txBody>
          <a:bodyPr>
            <a:normAutofit/>
          </a:bodyPr>
          <a:lstStyle>
            <a:lvl1pPr algn="ctr" latinLnBrk="0">
              <a:defRPr sz="5400"/>
            </a:lvl1pPr>
          </a:lstStyle>
          <a:p>
            <a:r>
              <a:rPr lang="en-US" noProof="0" dirty="0"/>
              <a:t>Presentation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4D0DB3-F60A-469B-7831-209CB666CC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549" y="4325954"/>
            <a:ext cx="2538082" cy="633046"/>
          </a:xfrm>
          <a:prstGeom prst="rect">
            <a:avLst/>
          </a:prstGeom>
        </p:spPr>
      </p:pic>
      <p:pic>
        <p:nvPicPr>
          <p:cNvPr id="5" name="Picture 4" title="CC-BY-NC-SA License">
            <a:hlinkClick r:id="rId3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2D40731C-0303-A69D-63FD-E048A73CA5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02682" y="4321352"/>
            <a:ext cx="1809336" cy="63304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65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buClr>
                <a:schemeClr val="tx1"/>
              </a:buClr>
              <a:defRPr/>
            </a:lvl1pPr>
            <a:lvl2pPr latinLnBrk="0">
              <a:buClr>
                <a:schemeClr val="tx1"/>
              </a:buClr>
              <a:defRPr/>
            </a:lvl2pPr>
            <a:lvl3pPr latinLnBrk="0">
              <a:buClr>
                <a:schemeClr val="tx1"/>
              </a:buClr>
              <a:defRPr/>
            </a:lvl3pPr>
            <a:lvl4pPr latinLnBrk="0">
              <a:buClr>
                <a:schemeClr val="tx1"/>
              </a:buClr>
              <a:defRPr/>
            </a:lvl4pPr>
            <a:lvl5pPr latinLnBrk="0">
              <a:buClr>
                <a:schemeClr val="tx1"/>
              </a:buClr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A1D0F-F579-6A3C-C698-4E2E7F1AB2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35205" y="1792355"/>
            <a:ext cx="1830304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CA5371-2597-CF8F-1859-2263958074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20027" y="3314704"/>
            <a:ext cx="1260665" cy="279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7AF1B9-D67A-246A-86B6-E28F19C523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4" name="Picture Bulb" descr="Bulb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56000" y="5098868"/>
            <a:ext cx="779209" cy="172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7" y="100750"/>
            <a:ext cx="987582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2C375B-43BF-D1DD-F160-1500A1118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1311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Slide Body Text">
            <a:extLst>
              <a:ext uri="{FF2B5EF4-FFF2-40B4-BE49-F238E27FC236}">
                <a16:creationId xmlns:a16="http://schemas.microsoft.com/office/drawing/2014/main" id="{B608ED73-CE88-49E4-8BFC-DBD6E9AE6B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6" y="1206668"/>
            <a:ext cx="11804831" cy="5550582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This is a code example</a:t>
            </a:r>
          </a:p>
        </p:txBody>
      </p:sp>
      <p:sp>
        <p:nvSpPr>
          <p:cNvPr id="4" name="Code Box">
            <a:extLst>
              <a:ext uri="{FF2B5EF4-FFF2-40B4-BE49-F238E27FC236}">
                <a16:creationId xmlns:a16="http://schemas.microsoft.com/office/drawing/2014/main" id="{F4E021E9-D6DB-4272-8C9F-CEF4940FDC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3" y="2034000"/>
            <a:ext cx="10836275" cy="2237893"/>
          </a:xfr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>
              <a:buNone/>
              <a:defRPr lang="en-US" sz="2800" b="1" smtClean="0">
                <a:latin typeface="Consolas" pitchFamily="49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Source code box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39658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69A4E8-9221-8F79-65B4-BF9AA7F87D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831000" y="109147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5241000" y="3338387"/>
            <a:ext cx="6065892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5241000" y="1471047"/>
            <a:ext cx="6065892" cy="17543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42391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11781606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808AB-EC49-1578-0005-D58D2A365A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70595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9792D8-D354-4699-B7D6-B8CB7F7759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98753" y="5340443"/>
            <a:ext cx="1334859" cy="9828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351E19-25DA-EAD2-9FBE-358B6135D7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3DB3E-BDAA-8201-9A01-2F52640A84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07753B-8639-4399-B782-EE5377184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6988" y="1461842"/>
            <a:ext cx="10731663" cy="3047158"/>
          </a:xfrm>
        </p:spPr>
        <p:txBody>
          <a:bodyPr>
            <a:normAutofit/>
          </a:bodyPr>
          <a:lstStyle>
            <a:lvl1pPr algn="ctr">
              <a:defRPr sz="13800"/>
            </a:lvl1pPr>
          </a:lstStyle>
          <a:p>
            <a:r>
              <a:rPr lang="bg-BG" dirty="0"/>
              <a:t>Въпроси?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1" r:id="rId3"/>
    <p:sldLayoutId id="2147483679" r:id="rId4"/>
    <p:sldLayoutId id="2147483680" r:id="rId5"/>
    <p:sldLayoutId id="2147483688" r:id="rId6"/>
    <p:sldLayoutId id="2147483684" r:id="rId7"/>
    <p:sldLayoutId id="2147483690" r:id="rId8"/>
    <p:sldLayoutId id="2147483677" r:id="rId9"/>
    <p:sldLayoutId id="2147483683" r:id="rId10"/>
    <p:sldLayoutId id="2147483685" r:id="rId11"/>
    <p:sldLayoutId id="2147483686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mycolor.space/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hyperlink" Target="https://fontjoy.com/" TargetMode="Externa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relayto.com/explore/coca-cola-brand-book-tzeq20td3g4ta" TargetMode="External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excalidraw.com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6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s://github.com/BG-IT-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hor Name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90120" y="6086106"/>
            <a:ext cx="5248260" cy="341313"/>
          </a:xfrm>
        </p:spPr>
        <p:txBody>
          <a:bodyPr>
            <a:normAutofit lnSpcReduction="10000"/>
          </a:bodyPr>
          <a:lstStyle/>
          <a:p>
            <a:r>
              <a:rPr lang="bg-BG" dirty="0"/>
              <a:t>Софтуерни и хардуерни науки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DE66249-1FBD-414B-AF0D-550F7312AF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90122" y="5698189"/>
            <a:ext cx="5248260" cy="374236"/>
          </a:xfrm>
        </p:spPr>
        <p:txBody>
          <a:bodyPr>
            <a:normAutofit lnSpcReduction="10000"/>
          </a:bodyPr>
          <a:lstStyle/>
          <a:p>
            <a:r>
              <a:rPr lang="bg-BG" dirty="0"/>
              <a:t>Курс </a:t>
            </a:r>
            <a:r>
              <a:rPr lang="en-US" dirty="0"/>
              <a:t>"</a:t>
            </a:r>
            <a:r>
              <a:rPr lang="bg-BG" dirty="0"/>
              <a:t>Информационни технологии"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20F80DC-BAF0-05EE-2BC1-37C2321904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4045" y="6085863"/>
            <a:ext cx="4751953" cy="341556"/>
          </a:xfrm>
        </p:spPr>
        <p:txBody>
          <a:bodyPr>
            <a:normAutofit lnSpcReduction="10000"/>
          </a:bodyPr>
          <a:lstStyle/>
          <a:p>
            <a:r>
              <a:rPr lang="en-US" dirty="0">
                <a:hlinkClick r:id="rId3"/>
              </a:rPr>
              <a:t>https://github.com/BG-IT-Edu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4D839B2-02D1-883A-3CE0-7CF25557FB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4046" y="5251106"/>
            <a:ext cx="4751954" cy="724904"/>
          </a:xfrm>
        </p:spPr>
        <p:txBody>
          <a:bodyPr>
            <a:normAutofit/>
          </a:bodyPr>
          <a:lstStyle/>
          <a:p>
            <a:r>
              <a:rPr lang="bg-BG" dirty="0"/>
              <a:t>Проект "Отворено учебно съдържание по програмиране и ИТ", СофтУни Фондация </a:t>
            </a:r>
          </a:p>
        </p:txBody>
      </p:sp>
      <p:sp>
        <p:nvSpPr>
          <p:cNvPr id="3" name="Presentation Subtitle">
            <a:extLst>
              <a:ext uri="{FF2B5EF4-FFF2-40B4-BE49-F238E27FC236}">
                <a16:creationId xmlns:a16="http://schemas.microsoft.com/office/drawing/2014/main" id="{A004DC04-DA2A-41C0-8578-4B8D2F08E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46" y="1402942"/>
            <a:ext cx="11083636" cy="971589"/>
          </a:xfrm>
        </p:spPr>
        <p:txBody>
          <a:bodyPr>
            <a:noAutofit/>
          </a:bodyPr>
          <a:lstStyle/>
          <a:p>
            <a:r>
              <a:rPr lang="bg-BG" sz="3400" dirty="0"/>
              <a:t>Графичен модел, прототип, лого и бранд идентичност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46" y="321501"/>
            <a:ext cx="11083636" cy="971589"/>
          </a:xfrm>
        </p:spPr>
        <p:txBody>
          <a:bodyPr>
            <a:noAutofit/>
          </a:bodyPr>
          <a:lstStyle/>
          <a:p>
            <a:r>
              <a:rPr lang="bg-BG" sz="6000" dirty="0"/>
              <a:t>Графичен дизайн на уеб сайт</a:t>
            </a:r>
            <a:endParaRPr lang="en-US" sz="6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C89CDB-9A69-7B24-74E6-10BF87DE1C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1007" y="3073413"/>
            <a:ext cx="1819960" cy="814500"/>
          </a:xfrm>
          <a:prstGeom prst="rect">
            <a:avLst/>
          </a:prstGeom>
        </p:spPr>
      </p:pic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9E0636FF-9DFF-1E3C-B648-B7D58C2CC7D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90123" y="3429000"/>
            <a:ext cx="5190870" cy="2160000"/>
          </a:xfr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6640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97"/>
    </mc:Choice>
    <mc:Fallback xmlns="">
      <p:transition spd="slow" advTm="259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6A760D59-0056-4F39-B077-DBDBE3D2927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44419" name="Slide Body"/>
          <p:cNvSpPr>
            <a:spLocks noGrp="1" noChangeArrowheads="1"/>
          </p:cNvSpPr>
          <p:nvPr>
            <p:ph type="body" sz="quarter" idx="13"/>
          </p:nvPr>
        </p:nvSpPr>
        <p:spPr>
          <a:xfrm>
            <a:off x="196766" y="1371604"/>
            <a:ext cx="11781606" cy="5207396"/>
          </a:xfrm>
        </p:spPr>
        <p:txBody>
          <a:bodyPr>
            <a:normAutofit fontScale="70000" lnSpcReduction="20000"/>
          </a:bodyPr>
          <a:lstStyle/>
          <a:p>
            <a:pPr>
              <a:buClr>
                <a:schemeClr val="tx1"/>
              </a:buClr>
            </a:pPr>
            <a:r>
              <a:rPr lang="bg-BG" sz="3800" dirty="0"/>
              <a:t>​</a:t>
            </a:r>
            <a:r>
              <a:rPr lang="bg-BG" sz="3800" b="1" dirty="0">
                <a:solidFill>
                  <a:schemeClr val="bg1"/>
                </a:solidFill>
              </a:rPr>
              <a:t>Графичен модел </a:t>
            </a:r>
            <a:r>
              <a:rPr lang="en-US" sz="3800" b="1" dirty="0"/>
              <a:t>(Mockup)</a:t>
            </a:r>
            <a:endParaRPr lang="bg-BG" sz="3800" b="1" dirty="0"/>
          </a:p>
          <a:p>
            <a:pPr lvl="1">
              <a:buClr>
                <a:schemeClr val="tx1"/>
              </a:buClr>
            </a:pPr>
            <a:r>
              <a:rPr lang="bg-BG" sz="3600" b="1" dirty="0"/>
              <a:t>Основни етапи</a:t>
            </a:r>
          </a:p>
          <a:p>
            <a:pPr>
              <a:buClr>
                <a:schemeClr val="tx1"/>
              </a:buClr>
            </a:pPr>
            <a:r>
              <a:rPr lang="bg-BG" sz="3800" dirty="0"/>
              <a:t>​​</a:t>
            </a:r>
            <a:r>
              <a:rPr lang="bg-BG" sz="3800" b="1" dirty="0">
                <a:solidFill>
                  <a:schemeClr val="bg1"/>
                </a:solidFill>
              </a:rPr>
              <a:t>Прототип </a:t>
            </a:r>
            <a:r>
              <a:rPr lang="en-US" sz="3800" b="1" dirty="0"/>
              <a:t>(Prototype</a:t>
            </a:r>
            <a:r>
              <a:rPr lang="bg-BG" sz="3800" b="1" dirty="0"/>
              <a:t>)</a:t>
            </a:r>
            <a:endParaRPr lang="en-US" sz="3800" b="1" dirty="0"/>
          </a:p>
          <a:p>
            <a:pPr>
              <a:buClr>
                <a:schemeClr val="tx1"/>
              </a:buClr>
            </a:pPr>
            <a:r>
              <a:rPr lang="bg-BG" sz="3800" dirty="0"/>
              <a:t>​</a:t>
            </a:r>
            <a:r>
              <a:rPr lang="bg-BG" sz="3800" b="1" dirty="0">
                <a:solidFill>
                  <a:schemeClr val="bg1"/>
                </a:solidFill>
              </a:rPr>
              <a:t>Елементи </a:t>
            </a:r>
            <a:r>
              <a:rPr lang="bg-BG" sz="3800" dirty="0"/>
              <a:t>на</a:t>
            </a:r>
            <a:r>
              <a:rPr lang="bg-BG" sz="3800" b="1" dirty="0">
                <a:solidFill>
                  <a:schemeClr val="bg1"/>
                </a:solidFill>
              </a:rPr>
              <a:t> графичния дизайн</a:t>
            </a:r>
          </a:p>
          <a:p>
            <a:pPr lvl="1">
              <a:buClr>
                <a:schemeClr val="tx1"/>
              </a:buClr>
            </a:pPr>
            <a:r>
              <a:rPr lang="bg-BG" b="1" dirty="0"/>
              <a:t>Цветова схема</a:t>
            </a:r>
            <a:endParaRPr lang="en-US" b="1" dirty="0"/>
          </a:p>
          <a:p>
            <a:pPr lvl="2">
              <a:buClr>
                <a:schemeClr val="tx1"/>
              </a:buClr>
            </a:pPr>
            <a:r>
              <a:rPr lang="bg-BG" b="1" dirty="0"/>
              <a:t>Пример</a:t>
            </a:r>
            <a:r>
              <a:rPr lang="en-US" b="1" dirty="0"/>
              <a:t>: </a:t>
            </a:r>
            <a:r>
              <a:rPr lang="bg-BG" dirty="0"/>
              <a:t>Създаване на цветова схема</a:t>
            </a:r>
          </a:p>
          <a:p>
            <a:pPr lvl="1">
              <a:buClr>
                <a:schemeClr val="tx1"/>
              </a:buClr>
            </a:pPr>
            <a:r>
              <a:rPr lang="bg-BG" b="1" dirty="0"/>
              <a:t>Шрифтове </a:t>
            </a:r>
            <a:r>
              <a:rPr lang="en-US" b="1" dirty="0"/>
              <a:t>(</a:t>
            </a:r>
            <a:r>
              <a:rPr lang="bg-BG" b="1" dirty="0"/>
              <a:t>Типография)</a:t>
            </a:r>
          </a:p>
          <a:p>
            <a:pPr lvl="2">
              <a:buClr>
                <a:schemeClr val="tx1"/>
              </a:buClr>
            </a:pPr>
            <a:r>
              <a:rPr lang="bg-BG" b="1" dirty="0"/>
              <a:t>Пример: </a:t>
            </a:r>
            <a:r>
              <a:rPr lang="bg-BG" dirty="0"/>
              <a:t>Комбиниране на шрифтове</a:t>
            </a:r>
          </a:p>
          <a:p>
            <a:pPr lvl="1">
              <a:buClr>
                <a:schemeClr val="tx1"/>
              </a:buClr>
            </a:pPr>
            <a:r>
              <a:rPr lang="bg-BG" b="1" dirty="0"/>
              <a:t>Подредба </a:t>
            </a:r>
            <a:r>
              <a:rPr lang="bg-BG" dirty="0"/>
              <a:t>и</a:t>
            </a:r>
            <a:r>
              <a:rPr lang="bg-BG" b="1" dirty="0"/>
              <a:t> секции</a:t>
            </a:r>
          </a:p>
          <a:p>
            <a:pPr>
              <a:buClr>
                <a:schemeClr val="tx1"/>
              </a:buClr>
            </a:pPr>
            <a:r>
              <a:rPr lang="bg-BG" dirty="0">
                <a:solidFill>
                  <a:schemeClr val="bg1"/>
                </a:solidFill>
              </a:rPr>
              <a:t>​​​</a:t>
            </a:r>
            <a:r>
              <a:rPr lang="bg-BG" b="1" dirty="0">
                <a:solidFill>
                  <a:schemeClr val="bg1"/>
                </a:solidFill>
              </a:rPr>
              <a:t>Лого </a:t>
            </a:r>
            <a:r>
              <a:rPr lang="bg-BG" dirty="0"/>
              <a:t>и</a:t>
            </a:r>
            <a:r>
              <a:rPr lang="bg-BG" b="1" dirty="0">
                <a:solidFill>
                  <a:schemeClr val="bg1"/>
                </a:solidFill>
              </a:rPr>
              <a:t> бранд идентичност</a:t>
            </a:r>
          </a:p>
          <a:p>
            <a:pPr>
              <a:buClr>
                <a:schemeClr val="tx1"/>
              </a:buClr>
            </a:pPr>
            <a:r>
              <a:rPr lang="en-US" sz="3800" dirty="0">
                <a:solidFill>
                  <a:schemeClr val="bg1"/>
                </a:solidFill>
              </a:rPr>
              <a:t>​</a:t>
            </a:r>
            <a:r>
              <a:rPr lang="bg-BG" sz="3800" dirty="0">
                <a:highlight>
                  <a:srgbClr val="FFFF00"/>
                </a:highlight>
              </a:rPr>
              <a:t>​​​</a:t>
            </a:r>
            <a:r>
              <a:rPr lang="bg-BG" sz="3800" b="1" dirty="0"/>
              <a:t>Пример: </a:t>
            </a:r>
            <a:r>
              <a:rPr lang="bg-BG" sz="3800" dirty="0"/>
              <a:t>Графичен модел (m</a:t>
            </a:r>
            <a:r>
              <a:rPr lang="en-US" sz="3800" dirty="0"/>
              <a:t>ockup</a:t>
            </a:r>
            <a:r>
              <a:rPr lang="bg-BG" sz="3800" dirty="0"/>
              <a:t>)</a:t>
            </a:r>
            <a:r>
              <a:rPr lang="en-US" sz="3800" dirty="0"/>
              <a:t> </a:t>
            </a:r>
            <a:r>
              <a:rPr lang="bg-BG" sz="3800" dirty="0"/>
              <a:t>на уеб страница по избор</a:t>
            </a:r>
          </a:p>
        </p:txBody>
      </p:sp>
      <p:sp>
        <p:nvSpPr>
          <p:cNvPr id="444418" name="Slide Title"/>
          <p:cNvSpPr>
            <a:spLocks noGrp="1" noChangeArrowheads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/>
              <a:t>Съдържание</a:t>
            </a:r>
            <a:endParaRPr lang="bg-B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605"/>
    </mc:Choice>
    <mc:Fallback xmlns="">
      <p:transition spd="slow" advClick="0" advTm="66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800" dirty="0"/>
              <a:t>Основни етапи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6000" dirty="0"/>
              <a:t>​Графичен модел (</a:t>
            </a:r>
            <a:r>
              <a:rPr lang="en-GB" sz="6000" dirty="0"/>
              <a:t>Mockup)</a:t>
            </a:r>
            <a:endParaRPr lang="en-US" sz="6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7A5C08-AB33-3D62-C607-FC2BD36A367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81366" y="1539000"/>
            <a:ext cx="3029268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194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bg-BG" sz="3400" b="1" dirty="0">
                <a:solidFill>
                  <a:schemeClr val="bg1"/>
                </a:solidFill>
              </a:rPr>
              <a:t>Статично</a:t>
            </a:r>
            <a:r>
              <a:rPr lang="bg-BG" sz="3400" dirty="0"/>
              <a:t> и </a:t>
            </a:r>
            <a:r>
              <a:rPr lang="bg-BG" sz="3400" b="1" dirty="0">
                <a:solidFill>
                  <a:schemeClr val="bg1"/>
                </a:solidFill>
              </a:rPr>
              <a:t>детайлно</a:t>
            </a:r>
            <a:r>
              <a:rPr lang="bg-BG" sz="3400" dirty="0"/>
              <a:t> </a:t>
            </a:r>
            <a:r>
              <a:rPr lang="bg-BG" sz="3400" b="1" dirty="0"/>
              <a:t>визуално представяне </a:t>
            </a:r>
            <a:r>
              <a:rPr lang="bg-BG" sz="3400" dirty="0"/>
              <a:t>на </a:t>
            </a:r>
            <a:r>
              <a:rPr lang="bg-BG" sz="3400" b="1" dirty="0"/>
              <a:t>уеб сайта</a:t>
            </a:r>
          </a:p>
          <a:p>
            <a:pPr>
              <a:buClr>
                <a:schemeClr val="tx1"/>
              </a:buClr>
            </a:pPr>
            <a:r>
              <a:rPr lang="bg-BG" sz="3400" dirty="0"/>
              <a:t>Показва </a:t>
            </a:r>
            <a:r>
              <a:rPr lang="bg-BG" sz="3400" b="1" dirty="0"/>
              <a:t>как ще изглежда крайният дизайн</a:t>
            </a:r>
          </a:p>
          <a:p>
            <a:pPr lvl="1"/>
            <a:endParaRPr lang="en-US" sz="3200" dirty="0"/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sz="4000" dirty="0"/>
              <a:t>​Графичен модел (</a:t>
            </a:r>
            <a:r>
              <a:rPr lang="en-GB" sz="4000" dirty="0"/>
              <a:t>Mockup)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1860AA-30B3-8A33-D7F8-785372EEFB8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32781" y="2626690"/>
            <a:ext cx="6126438" cy="4084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955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6625598" cy="5528766"/>
          </a:xfrm>
        </p:spPr>
        <p:txBody>
          <a:bodyPr>
            <a:normAutofit lnSpcReduction="10000"/>
          </a:bodyPr>
          <a:lstStyle/>
          <a:p>
            <a:pPr>
              <a:buClr>
                <a:schemeClr val="tx1"/>
              </a:buClr>
            </a:pPr>
            <a:r>
              <a:rPr lang="bg-BG" sz="3200" b="1" dirty="0"/>
              <a:t>Избор на </a:t>
            </a:r>
            <a:r>
              <a:rPr lang="bg-BG" sz="3200" b="1" dirty="0">
                <a:solidFill>
                  <a:schemeClr val="bg1"/>
                </a:solidFill>
              </a:rPr>
              <a:t>цветова схема</a:t>
            </a:r>
          </a:p>
          <a:p>
            <a:pPr lvl="1"/>
            <a:r>
              <a:rPr lang="bg-BG" sz="3000" dirty="0"/>
              <a:t>Определяне на </a:t>
            </a:r>
            <a:r>
              <a:rPr lang="bg-BG" sz="3000" b="1" dirty="0"/>
              <a:t>основните цветове</a:t>
            </a:r>
            <a:r>
              <a:rPr lang="bg-BG" sz="3000" dirty="0"/>
              <a:t> за </a:t>
            </a:r>
            <a:r>
              <a:rPr lang="bg-BG" sz="3000" b="1" dirty="0"/>
              <a:t>уеб сайта</a:t>
            </a:r>
          </a:p>
          <a:p>
            <a:pPr lvl="1"/>
            <a:r>
              <a:rPr lang="bg-BG" sz="3000" b="1" dirty="0"/>
              <a:t>Цветовете</a:t>
            </a:r>
            <a:r>
              <a:rPr lang="bg-BG" sz="3000" dirty="0"/>
              <a:t> трябва да </a:t>
            </a:r>
            <a:r>
              <a:rPr lang="bg-BG" sz="3000" b="1" dirty="0">
                <a:solidFill>
                  <a:schemeClr val="bg1"/>
                </a:solidFill>
              </a:rPr>
              <a:t>отразяват</a:t>
            </a:r>
            <a:r>
              <a:rPr lang="bg-BG" sz="3000" b="1" dirty="0"/>
              <a:t> бранда</a:t>
            </a:r>
          </a:p>
          <a:p>
            <a:pPr>
              <a:buClr>
                <a:schemeClr val="tx1"/>
              </a:buClr>
            </a:pPr>
            <a:r>
              <a:rPr lang="bg-BG" sz="3200" b="1" dirty="0"/>
              <a:t>Избор на </a:t>
            </a:r>
            <a:r>
              <a:rPr lang="bg-BG" sz="3200" b="1" dirty="0">
                <a:solidFill>
                  <a:schemeClr val="bg1"/>
                </a:solidFill>
              </a:rPr>
              <a:t>шрифтове</a:t>
            </a:r>
            <a:r>
              <a:rPr lang="bg-BG" sz="3200" b="1" dirty="0"/>
              <a:t> </a:t>
            </a:r>
            <a:r>
              <a:rPr lang="en-US" sz="3200" b="1" dirty="0"/>
              <a:t>(</a:t>
            </a:r>
            <a:r>
              <a:rPr lang="bg-BG" sz="3200" b="1" dirty="0">
                <a:solidFill>
                  <a:schemeClr val="bg1"/>
                </a:solidFill>
              </a:rPr>
              <a:t>типография</a:t>
            </a:r>
            <a:r>
              <a:rPr lang="en-US" sz="3200" b="1" dirty="0"/>
              <a:t>)</a:t>
            </a:r>
            <a:endParaRPr lang="bg-BG" sz="3200" b="1" dirty="0"/>
          </a:p>
          <a:p>
            <a:pPr lvl="1"/>
            <a:r>
              <a:rPr lang="bg-BG" sz="3000" dirty="0"/>
              <a:t>Определяне на </a:t>
            </a:r>
            <a:r>
              <a:rPr lang="bg-BG" sz="3000" b="1" dirty="0"/>
              <a:t>основните шрифтове </a:t>
            </a:r>
            <a:r>
              <a:rPr lang="bg-BG" sz="3000" dirty="0"/>
              <a:t>за </a:t>
            </a:r>
            <a:r>
              <a:rPr lang="bg-BG" sz="3000" b="1" dirty="0"/>
              <a:t>текст</a:t>
            </a:r>
            <a:r>
              <a:rPr lang="bg-BG" sz="3000" dirty="0"/>
              <a:t> и </a:t>
            </a:r>
            <a:r>
              <a:rPr lang="bg-BG" sz="3000" b="1" dirty="0"/>
              <a:t>заглавия</a:t>
            </a:r>
          </a:p>
          <a:p>
            <a:pPr lvl="1"/>
            <a:r>
              <a:rPr lang="bg-BG" sz="3000" b="1" dirty="0"/>
              <a:t>Шрифтовете</a:t>
            </a:r>
            <a:r>
              <a:rPr lang="bg-BG" sz="3000" dirty="0"/>
              <a:t> трябва да са </a:t>
            </a:r>
            <a:r>
              <a:rPr lang="bg-BG" sz="3000" b="1" dirty="0">
                <a:solidFill>
                  <a:schemeClr val="bg1"/>
                </a:solidFill>
              </a:rPr>
              <a:t>четими</a:t>
            </a:r>
            <a:r>
              <a:rPr lang="bg-BG" sz="3000" dirty="0"/>
              <a:t> и </a:t>
            </a:r>
            <a:r>
              <a:rPr lang="bg-BG" sz="3000" b="1" dirty="0">
                <a:solidFill>
                  <a:schemeClr val="bg1"/>
                </a:solidFill>
              </a:rPr>
              <a:t>подходящи</a:t>
            </a:r>
            <a:r>
              <a:rPr lang="bg-BG" sz="3000" dirty="0"/>
              <a:t> за </a:t>
            </a:r>
            <a:r>
              <a:rPr lang="bg-BG" sz="3000" b="1" dirty="0"/>
              <a:t>уеб сайта</a:t>
            </a:r>
          </a:p>
          <a:p>
            <a:endParaRPr lang="bg-BG" sz="3000" b="1" dirty="0"/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>
            <a:normAutofit/>
          </a:bodyPr>
          <a:lstStyle/>
          <a:p>
            <a:r>
              <a:rPr lang="bg-BG" sz="4000" dirty="0"/>
              <a:t>Етапи при създаване на графичен модел </a:t>
            </a:r>
            <a:r>
              <a:rPr lang="en-US" sz="4000" dirty="0"/>
              <a:t>(</a:t>
            </a:r>
            <a:r>
              <a:rPr lang="bg-BG" sz="4000" dirty="0"/>
              <a:t>1</a:t>
            </a:r>
            <a:r>
              <a:rPr lang="en-US" sz="4000" dirty="0"/>
              <a:t>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BE24D6D-1A7E-8F26-A3DF-D2127DFBEE8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87618" y="1196125"/>
            <a:ext cx="3015000" cy="273669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3EF3392-4627-DD94-E1AD-A87310BC8EC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40015" y="3835891"/>
            <a:ext cx="2889000" cy="2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141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7345598" cy="5528766"/>
          </a:xfrm>
        </p:spPr>
        <p:txBody>
          <a:bodyPr>
            <a:normAutofit fontScale="92500"/>
          </a:bodyPr>
          <a:lstStyle/>
          <a:p>
            <a:pPr>
              <a:buClr>
                <a:schemeClr val="tx1"/>
              </a:buClr>
            </a:pPr>
            <a:r>
              <a:rPr lang="bg-BG" sz="3200" b="1" dirty="0"/>
              <a:t>Избор на </a:t>
            </a:r>
            <a:r>
              <a:rPr lang="bg-BG" sz="3200" b="1" dirty="0">
                <a:solidFill>
                  <a:schemeClr val="bg1"/>
                </a:solidFill>
              </a:rPr>
              <a:t>изображения</a:t>
            </a:r>
          </a:p>
          <a:p>
            <a:pPr lvl="1"/>
            <a:r>
              <a:rPr lang="bg-BG" sz="2800" dirty="0"/>
              <a:t>Подбиране на </a:t>
            </a:r>
            <a:r>
              <a:rPr lang="bg-BG" sz="2800" b="1" dirty="0"/>
              <a:t>снимки</a:t>
            </a:r>
            <a:r>
              <a:rPr lang="bg-BG" sz="2800" dirty="0"/>
              <a:t>, </a:t>
            </a:r>
            <a:r>
              <a:rPr lang="bg-BG" sz="2800" b="1" dirty="0"/>
              <a:t>икони</a:t>
            </a:r>
            <a:r>
              <a:rPr lang="bg-BG" sz="2800" dirty="0"/>
              <a:t> или </a:t>
            </a:r>
            <a:r>
              <a:rPr lang="bg-BG" sz="2800" b="1" dirty="0"/>
              <a:t>графики</a:t>
            </a:r>
          </a:p>
          <a:p>
            <a:pPr lvl="1"/>
            <a:r>
              <a:rPr lang="bg-BG" sz="2800" b="1" dirty="0"/>
              <a:t>Празните полета </a:t>
            </a:r>
            <a:r>
              <a:rPr lang="bg-BG" sz="2800" dirty="0"/>
              <a:t>за </a:t>
            </a:r>
            <a:r>
              <a:rPr lang="bg-BG" sz="2800" b="1" dirty="0"/>
              <a:t>изображения</a:t>
            </a:r>
            <a:r>
              <a:rPr lang="bg-BG" sz="2800" dirty="0"/>
              <a:t> от </a:t>
            </a:r>
            <a:r>
              <a:rPr lang="bg-BG" sz="2800" b="1" dirty="0"/>
              <a:t>схематичния дизайн </a:t>
            </a:r>
            <a:r>
              <a:rPr lang="en-US" sz="2800" dirty="0"/>
              <a:t>(</a:t>
            </a:r>
            <a:r>
              <a:rPr lang="en-US" sz="2800" b="1" dirty="0"/>
              <a:t>wireframe</a:t>
            </a:r>
            <a:r>
              <a:rPr lang="en-US" sz="2800" dirty="0"/>
              <a:t>) </a:t>
            </a:r>
            <a:r>
              <a:rPr lang="bg-BG" sz="2800" dirty="0"/>
              <a:t>се </a:t>
            </a:r>
            <a:r>
              <a:rPr lang="bg-BG" sz="2800" b="1" dirty="0">
                <a:solidFill>
                  <a:schemeClr val="bg1"/>
                </a:solidFill>
              </a:rPr>
              <a:t>заместват с реални</a:t>
            </a:r>
          </a:p>
          <a:p>
            <a:r>
              <a:rPr lang="bg-BG" sz="3200" b="1" dirty="0">
                <a:solidFill>
                  <a:schemeClr val="bg1"/>
                </a:solidFill>
              </a:rPr>
              <a:t>Финално оформление</a:t>
            </a:r>
          </a:p>
          <a:p>
            <a:pPr lvl="1"/>
            <a:r>
              <a:rPr lang="bg-BG" sz="2800" dirty="0"/>
              <a:t>Поставяне на </a:t>
            </a:r>
            <a:r>
              <a:rPr lang="bg-BG" sz="2800" b="1" dirty="0"/>
              <a:t>лого</a:t>
            </a:r>
          </a:p>
          <a:p>
            <a:pPr lvl="1"/>
            <a:r>
              <a:rPr lang="bg-BG" sz="2800" dirty="0"/>
              <a:t>Разпределяне на </a:t>
            </a:r>
            <a:r>
              <a:rPr lang="bg-BG" sz="2800" b="1" dirty="0"/>
              <a:t>компонентите</a:t>
            </a:r>
          </a:p>
          <a:p>
            <a:pPr lvl="1"/>
            <a:r>
              <a:rPr lang="bg-BG" sz="2800" dirty="0"/>
              <a:t>Дискусия с </a:t>
            </a:r>
            <a:r>
              <a:rPr lang="bg-BG" sz="2800" b="1" dirty="0"/>
              <a:t>екипа</a:t>
            </a:r>
            <a:r>
              <a:rPr lang="bg-BG" sz="2800" dirty="0"/>
              <a:t> и </a:t>
            </a:r>
            <a:r>
              <a:rPr lang="bg-BG" sz="2800" b="1" dirty="0"/>
              <a:t>клиента</a:t>
            </a:r>
            <a:r>
              <a:rPr lang="bg-BG" sz="2800" dirty="0"/>
              <a:t>, </a:t>
            </a:r>
            <a:r>
              <a:rPr lang="bg-BG" sz="2800" b="1" dirty="0">
                <a:solidFill>
                  <a:schemeClr val="bg1"/>
                </a:solidFill>
              </a:rPr>
              <a:t>преди започване на изработката</a:t>
            </a:r>
            <a:endParaRPr lang="en-US" sz="2800" b="1" dirty="0">
              <a:solidFill>
                <a:schemeClr val="bg1"/>
              </a:solidFill>
            </a:endParaRPr>
          </a:p>
          <a:p>
            <a:endParaRPr lang="bg-BG" sz="3000" b="1" dirty="0"/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>
            <a:normAutofit/>
          </a:bodyPr>
          <a:lstStyle/>
          <a:p>
            <a:r>
              <a:rPr lang="bg-BG" sz="4000" dirty="0"/>
              <a:t>Етапи при създаване на графичен модел</a:t>
            </a:r>
            <a:r>
              <a:rPr lang="en-US" sz="4000" dirty="0"/>
              <a:t> (2)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76956F-017D-8AF5-86B9-2FF4D09FB7D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33000" y="1297678"/>
            <a:ext cx="3159000" cy="2385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E472AD-39DC-84F8-6F2A-655658C034F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30000" y="3810958"/>
            <a:ext cx="4365000" cy="2696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990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000" dirty="0"/>
              <a:t>Тестване на потребителското преживяване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6000" dirty="0"/>
              <a:t>​​Прототип (</a:t>
            </a:r>
            <a:r>
              <a:rPr lang="en-GB" sz="6000" dirty="0"/>
              <a:t>Prototype)</a:t>
            </a:r>
            <a:endParaRPr lang="en-US" sz="6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7DF12C-F9AC-D27C-1EA9-B082520B0C0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56000" y="1674000"/>
            <a:ext cx="2880000" cy="175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221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88794C-D437-3079-2FE2-9EB3707A161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84796" y="1947776"/>
            <a:ext cx="5635648" cy="4025463"/>
          </a:xfrm>
          <a:prstGeom prst="rect">
            <a:avLst/>
          </a:prstGeom>
        </p:spPr>
      </p:pic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7030598" cy="5528766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bg-BG" sz="3400" b="1" dirty="0">
                <a:solidFill>
                  <a:schemeClr val="bg1"/>
                </a:solidFill>
              </a:rPr>
              <a:t>Интерактивен модел </a:t>
            </a:r>
            <a:r>
              <a:rPr lang="bg-BG" sz="3400" dirty="0"/>
              <a:t>на </a:t>
            </a:r>
            <a:r>
              <a:rPr lang="bg-BG" sz="3400" b="1" dirty="0"/>
              <a:t>уеб сайта</a:t>
            </a:r>
          </a:p>
          <a:p>
            <a:pPr>
              <a:buClr>
                <a:schemeClr val="tx1"/>
              </a:buClr>
            </a:pPr>
            <a:r>
              <a:rPr lang="bg-BG" sz="3400" b="1" dirty="0"/>
              <a:t>Симулация</a:t>
            </a:r>
            <a:r>
              <a:rPr lang="bg-BG" sz="3400" dirty="0"/>
              <a:t> на </a:t>
            </a:r>
            <a:r>
              <a:rPr lang="bg-BG" sz="3400" b="1" dirty="0"/>
              <a:t>реално поведение</a:t>
            </a:r>
          </a:p>
          <a:p>
            <a:pPr>
              <a:buClr>
                <a:schemeClr val="tx1"/>
              </a:buClr>
            </a:pPr>
            <a:r>
              <a:rPr lang="bg-BG" sz="3400" dirty="0"/>
              <a:t>Позволява </a:t>
            </a:r>
            <a:r>
              <a:rPr lang="bg-BG" sz="3400" b="1" dirty="0"/>
              <a:t>кликане</a:t>
            </a:r>
            <a:r>
              <a:rPr lang="bg-BG" sz="3400" dirty="0"/>
              <a:t> и </a:t>
            </a:r>
            <a:r>
              <a:rPr lang="bg-BG" sz="3400" b="1" dirty="0"/>
              <a:t>отваряне</a:t>
            </a:r>
            <a:r>
              <a:rPr lang="bg-BG" sz="3400" dirty="0"/>
              <a:t> на </a:t>
            </a:r>
            <a:r>
              <a:rPr lang="bg-BG" sz="3400" b="1" dirty="0"/>
              <a:t>менюта</a:t>
            </a:r>
          </a:p>
          <a:p>
            <a:pPr>
              <a:buClr>
                <a:schemeClr val="tx1"/>
              </a:buClr>
            </a:pPr>
            <a:r>
              <a:rPr lang="bg-BG" sz="3400" dirty="0"/>
              <a:t>Показва </a:t>
            </a:r>
            <a:r>
              <a:rPr lang="bg-BG" sz="3400" b="1" dirty="0"/>
              <a:t>как</a:t>
            </a:r>
            <a:r>
              <a:rPr lang="bg-BG" sz="3400" dirty="0"/>
              <a:t> ще </a:t>
            </a:r>
            <a:r>
              <a:rPr lang="bg-BG" sz="3400" b="1" dirty="0"/>
              <a:t>работи</a:t>
            </a:r>
            <a:r>
              <a:rPr lang="bg-BG" sz="3400" dirty="0"/>
              <a:t> </a:t>
            </a:r>
            <a:r>
              <a:rPr lang="bg-BG" sz="3400" b="1" dirty="0"/>
              <a:t>потребителският интерфейс</a:t>
            </a:r>
          </a:p>
          <a:p>
            <a:pPr lvl="1"/>
            <a:endParaRPr lang="en-US" sz="3200" dirty="0"/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sz="4000" dirty="0"/>
              <a:t>​​Прототип (</a:t>
            </a:r>
            <a:r>
              <a:rPr lang="en-GB" sz="4000" dirty="0"/>
              <a:t>Prototype)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785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D2C20E-59AD-FE6E-8B38-D093FA1AE2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CA096B-C4AF-95AC-CF9C-440240ECE9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bg-BG" b="1" dirty="0">
                <a:solidFill>
                  <a:schemeClr val="bg1"/>
                </a:solidFill>
              </a:rPr>
              <a:t>Прототип</a:t>
            </a:r>
            <a:r>
              <a:rPr lang="bg-BG" b="1" dirty="0"/>
              <a:t> (</a:t>
            </a:r>
            <a:r>
              <a:rPr lang="en-US" b="1" dirty="0"/>
              <a:t>Prototype)</a:t>
            </a:r>
            <a:endParaRPr lang="bg-BG" b="1" dirty="0"/>
          </a:p>
          <a:p>
            <a:pPr lvl="1"/>
            <a:r>
              <a:rPr lang="bg-BG" dirty="0"/>
              <a:t>Позволява </a:t>
            </a:r>
            <a:r>
              <a:rPr lang="bg-BG" b="1" dirty="0"/>
              <a:t>интеракция </a:t>
            </a:r>
            <a:r>
              <a:rPr lang="bg-BG" dirty="0"/>
              <a:t>с</a:t>
            </a:r>
            <a:r>
              <a:rPr lang="bg-BG" b="1" dirty="0"/>
              <a:t> уеб сайта</a:t>
            </a:r>
            <a:endParaRPr lang="en-BG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02D21C-85CD-257D-707E-D7A2804BD5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bg-BG" b="1" dirty="0">
                <a:solidFill>
                  <a:schemeClr val="bg1"/>
                </a:solidFill>
              </a:rPr>
              <a:t>Графичен модел </a:t>
            </a:r>
            <a:r>
              <a:rPr lang="bg-BG" b="1" dirty="0"/>
              <a:t>(</a:t>
            </a:r>
            <a:r>
              <a:rPr lang="en-US" b="1" dirty="0"/>
              <a:t>Mockup)</a:t>
            </a:r>
          </a:p>
          <a:p>
            <a:pPr lvl="1"/>
            <a:r>
              <a:rPr lang="bg-BG" dirty="0"/>
              <a:t>Показва </a:t>
            </a:r>
            <a:r>
              <a:rPr lang="bg-BG" b="1" dirty="0"/>
              <a:t>само външния вид</a:t>
            </a:r>
            <a:endParaRPr lang="en-BG" b="1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C7D450E-22C7-6EB7-80B8-B3E1B00D6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G" dirty="0"/>
              <a:t>Mockup vs. Prototype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5F131C-8FB9-C6F8-5EF9-09C21A2B930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55701" y="3069000"/>
            <a:ext cx="3015000" cy="29619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D46CB8-C632-592D-41A5-047983B5548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21000" y="3002811"/>
            <a:ext cx="3155608" cy="309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330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000" dirty="0"/>
              <a:t>Цветова схема, шрифтове, подредба и секции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6000" dirty="0"/>
              <a:t>​Елементи на графичния дизайн</a:t>
            </a:r>
            <a:endParaRPr lang="en-GB" sz="6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0E3DA7-A776-35CE-F9F8-86B0B923A31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94000" y="1089000"/>
            <a:ext cx="3204000" cy="32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258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ABC86-82E0-F099-701A-D4347B605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B6A643-676D-3506-B008-B24B36AA3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Елементи на графичния дизайн</a:t>
            </a:r>
            <a:endParaRPr lang="en-GB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CA50BB8-C95B-C726-A00E-EFF2B734CC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6580598" cy="5528766"/>
          </a:xfrm>
        </p:spPr>
        <p:txBody>
          <a:bodyPr>
            <a:normAutofit lnSpcReduction="10000"/>
          </a:bodyPr>
          <a:lstStyle/>
          <a:p>
            <a:pPr>
              <a:buClr>
                <a:schemeClr val="tx2"/>
              </a:buClr>
            </a:pPr>
            <a:r>
              <a:rPr lang="bg-BG" sz="3200" b="1" dirty="0">
                <a:solidFill>
                  <a:schemeClr val="bg1"/>
                </a:solidFill>
              </a:rPr>
              <a:t>Основните компоненти </a:t>
            </a:r>
            <a:r>
              <a:rPr lang="bg-BG" sz="3200" dirty="0"/>
              <a:t>оформящи </a:t>
            </a:r>
            <a:r>
              <a:rPr lang="bg-BG" sz="3200" b="1" dirty="0"/>
              <a:t>визуалния вид </a:t>
            </a:r>
            <a:r>
              <a:rPr lang="bg-BG" sz="3200" dirty="0"/>
              <a:t>на уеб сайта</a:t>
            </a:r>
          </a:p>
          <a:p>
            <a:pPr>
              <a:buClr>
                <a:schemeClr val="tx2"/>
              </a:buClr>
            </a:pPr>
            <a:r>
              <a:rPr lang="bg-BG" sz="3200" dirty="0"/>
              <a:t>Помагат за </a:t>
            </a:r>
            <a:r>
              <a:rPr lang="bg-BG" sz="3200" b="1" dirty="0">
                <a:solidFill>
                  <a:schemeClr val="bg1"/>
                </a:solidFill>
              </a:rPr>
              <a:t>създаване</a:t>
            </a:r>
            <a:r>
              <a:rPr lang="bg-BG" sz="3200" dirty="0"/>
              <a:t> на </a:t>
            </a:r>
            <a:r>
              <a:rPr lang="bg-BG" sz="3200" b="1" dirty="0"/>
              <a:t>подреден</a:t>
            </a:r>
            <a:r>
              <a:rPr lang="bg-BG" sz="3200" dirty="0"/>
              <a:t>, </a:t>
            </a:r>
            <a:r>
              <a:rPr lang="bg-BG" sz="3200" b="1" dirty="0"/>
              <a:t>четим</a:t>
            </a:r>
            <a:r>
              <a:rPr lang="bg-BG" sz="3200" dirty="0"/>
              <a:t> и </a:t>
            </a:r>
            <a:r>
              <a:rPr lang="bg-BG" sz="3200" b="1" dirty="0"/>
              <a:t>привлекателен</a:t>
            </a:r>
            <a:r>
              <a:rPr lang="bg-BG" sz="3200" dirty="0"/>
              <a:t> </a:t>
            </a:r>
            <a:r>
              <a:rPr lang="bg-BG" sz="3200" b="1" dirty="0"/>
              <a:t>вид</a:t>
            </a:r>
            <a:r>
              <a:rPr lang="bg-BG" sz="3200" dirty="0"/>
              <a:t> на </a:t>
            </a:r>
            <a:r>
              <a:rPr lang="bg-BG" sz="3200" b="1" dirty="0"/>
              <a:t>уеб страниците</a:t>
            </a:r>
          </a:p>
          <a:p>
            <a:pPr>
              <a:buClr>
                <a:schemeClr val="tx2"/>
              </a:buClr>
            </a:pPr>
            <a:r>
              <a:rPr lang="bg-BG" sz="3200" dirty="0"/>
              <a:t>Добрата им </a:t>
            </a:r>
            <a:r>
              <a:rPr lang="bg-BG" sz="3200" b="1" dirty="0">
                <a:solidFill>
                  <a:schemeClr val="bg1"/>
                </a:solidFill>
              </a:rPr>
              <a:t>комбинация</a:t>
            </a:r>
            <a:r>
              <a:rPr lang="bg-BG" sz="3200" dirty="0"/>
              <a:t> осигурява </a:t>
            </a:r>
            <a:r>
              <a:rPr lang="bg-BG" sz="3200" b="1" dirty="0"/>
              <a:t>професионален външен вид</a:t>
            </a:r>
            <a:r>
              <a:rPr lang="bg-BG" sz="3200" dirty="0"/>
              <a:t> и </a:t>
            </a:r>
            <a:r>
              <a:rPr lang="bg-BG" sz="3200" b="1" dirty="0"/>
              <a:t>приятно потребителско преживяване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9DF908-D22C-5748-5177-A7962EE9A11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83030" y="2017161"/>
            <a:ext cx="5670000" cy="3886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784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24C023-A0FF-BAB1-FD66-F6A827797C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CBEA7-0488-065D-8829-C6FAAA715C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7525598" cy="5528766"/>
          </a:xfrm>
        </p:spPr>
        <p:txBody>
          <a:bodyPr>
            <a:normAutofit fontScale="85000" lnSpcReduction="20000"/>
          </a:bodyPr>
          <a:lstStyle/>
          <a:p>
            <a:r>
              <a:rPr lang="bg-BG" b="1" dirty="0">
                <a:solidFill>
                  <a:schemeClr val="bg1"/>
                </a:solidFill>
              </a:rPr>
              <a:t>Хармоничната комбинация </a:t>
            </a:r>
            <a:r>
              <a:rPr lang="bg-BG" dirty="0"/>
              <a:t>между </a:t>
            </a:r>
            <a:r>
              <a:rPr lang="bg-BG" b="1" dirty="0"/>
              <a:t>цветовете</a:t>
            </a:r>
          </a:p>
          <a:p>
            <a:r>
              <a:rPr lang="bg-BG" dirty="0"/>
              <a:t>Повечето дизайнери използват </a:t>
            </a:r>
            <a:r>
              <a:rPr lang="bg-BG" b="1" dirty="0"/>
              <a:t>не повече от 3-4 цвята</a:t>
            </a:r>
          </a:p>
          <a:p>
            <a:r>
              <a:rPr lang="bg-BG" b="1" dirty="0"/>
              <a:t>Видове цветове</a:t>
            </a:r>
            <a:r>
              <a:rPr lang="bg-BG" dirty="0"/>
              <a:t>:</a:t>
            </a:r>
          </a:p>
          <a:p>
            <a:pPr lvl="1"/>
            <a:r>
              <a:rPr lang="bg-BG" b="1" dirty="0">
                <a:solidFill>
                  <a:schemeClr val="bg1"/>
                </a:solidFill>
              </a:rPr>
              <a:t>Основен цвят </a:t>
            </a:r>
            <a:r>
              <a:rPr lang="bg-BG" dirty="0"/>
              <a:t>- </a:t>
            </a:r>
            <a:r>
              <a:rPr lang="bg-BG" b="1" dirty="0"/>
              <a:t>главният цвят </a:t>
            </a:r>
            <a:r>
              <a:rPr lang="bg-BG" dirty="0"/>
              <a:t>на </a:t>
            </a:r>
            <a:r>
              <a:rPr lang="bg-BG" b="1" dirty="0"/>
              <a:t>уеб сайта</a:t>
            </a:r>
          </a:p>
          <a:p>
            <a:pPr lvl="1"/>
            <a:r>
              <a:rPr lang="bg-BG" b="1" dirty="0">
                <a:solidFill>
                  <a:schemeClr val="bg1"/>
                </a:solidFill>
              </a:rPr>
              <a:t>Вторичен цвят </a:t>
            </a:r>
            <a:r>
              <a:rPr lang="bg-BG" dirty="0"/>
              <a:t>- </a:t>
            </a:r>
            <a:r>
              <a:rPr lang="bg-BG" b="1" dirty="0"/>
              <a:t>цветът</a:t>
            </a:r>
            <a:r>
              <a:rPr lang="bg-BG" dirty="0"/>
              <a:t> за </a:t>
            </a:r>
            <a:r>
              <a:rPr lang="bg-BG" b="1" dirty="0"/>
              <a:t>акценти</a:t>
            </a:r>
            <a:r>
              <a:rPr lang="bg-BG" dirty="0"/>
              <a:t>, </a:t>
            </a:r>
            <a:r>
              <a:rPr lang="bg-BG" b="1" dirty="0"/>
              <a:t>бутони</a:t>
            </a:r>
            <a:r>
              <a:rPr lang="bg-BG" dirty="0"/>
              <a:t> и </a:t>
            </a:r>
            <a:r>
              <a:rPr lang="bg-BG" b="1" dirty="0"/>
              <a:t>важни елементи</a:t>
            </a:r>
            <a:endParaRPr lang="en-US" b="1" dirty="0"/>
          </a:p>
          <a:p>
            <a:pPr lvl="1"/>
            <a:r>
              <a:rPr lang="bg-BG" b="1" dirty="0">
                <a:solidFill>
                  <a:schemeClr val="bg1"/>
                </a:solidFill>
              </a:rPr>
              <a:t>Третичен цвят </a:t>
            </a:r>
            <a:r>
              <a:rPr lang="bg-BG" dirty="0"/>
              <a:t>- </a:t>
            </a:r>
            <a:r>
              <a:rPr lang="bg-BG" b="1" dirty="0"/>
              <a:t>допълва</a:t>
            </a:r>
            <a:r>
              <a:rPr lang="bg-BG" dirty="0"/>
              <a:t> </a:t>
            </a:r>
            <a:r>
              <a:rPr lang="bg-BG" b="1" dirty="0"/>
              <a:t>основния</a:t>
            </a:r>
            <a:r>
              <a:rPr lang="bg-BG" dirty="0"/>
              <a:t> и </a:t>
            </a:r>
            <a:r>
              <a:rPr lang="bg-BG" b="1" dirty="0"/>
              <a:t>вторичния цвят</a:t>
            </a:r>
          </a:p>
          <a:p>
            <a:pPr lvl="1"/>
            <a:r>
              <a:rPr lang="bg-BG" b="1" dirty="0">
                <a:solidFill>
                  <a:schemeClr val="bg1"/>
                </a:solidFill>
              </a:rPr>
              <a:t>Неутрални цветове </a:t>
            </a:r>
            <a:r>
              <a:rPr lang="bg-BG" dirty="0"/>
              <a:t>- </a:t>
            </a:r>
            <a:r>
              <a:rPr lang="bg-BG" b="1" dirty="0"/>
              <a:t>цветовете</a:t>
            </a:r>
            <a:r>
              <a:rPr lang="bg-BG" dirty="0"/>
              <a:t> за </a:t>
            </a:r>
            <a:r>
              <a:rPr lang="bg-BG" b="1" dirty="0"/>
              <a:t>фон</a:t>
            </a:r>
            <a:r>
              <a:rPr lang="bg-BG" dirty="0"/>
              <a:t> и </a:t>
            </a:r>
            <a:r>
              <a:rPr lang="bg-BG" b="1" dirty="0"/>
              <a:t>текст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F4EDFA-F723-F48A-D206-CDA6040ED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Цветова схема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AF803B-E008-AC99-B587-54E82F77870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35912" y="1408848"/>
            <a:ext cx="1901970" cy="18762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DD10C2-1983-A2EC-9740-8201527C91D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42676" y="3019791"/>
            <a:ext cx="1901691" cy="18762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B771A0-A223-478B-8B97-ABD6DC7BDE3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73041" y="4630734"/>
            <a:ext cx="1901971" cy="187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456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24C023-A0FF-BAB1-FD66-F6A827797C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CBEA7-0488-065D-8829-C6FAAA715C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b="1" dirty="0">
                <a:solidFill>
                  <a:schemeClr val="bg1"/>
                </a:solidFill>
              </a:rPr>
              <a:t>Колелото на цветовете </a:t>
            </a:r>
            <a:r>
              <a:rPr lang="bg-BG" dirty="0"/>
              <a:t>помага при </a:t>
            </a:r>
            <a:r>
              <a:rPr lang="bg-BG" b="1" dirty="0"/>
              <a:t>избора</a:t>
            </a:r>
            <a:r>
              <a:rPr lang="bg-BG" dirty="0"/>
              <a:t> на </a:t>
            </a:r>
            <a:r>
              <a:rPr lang="bg-BG" b="1" dirty="0"/>
              <a:t>хармонични комбинации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F4EDFA-F723-F48A-D206-CDA6040ED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Колелото на цветовете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A7E37A-3396-7A08-B465-A30E85A1F0E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91000" y="2245500"/>
            <a:ext cx="4410000" cy="44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767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DB85EA8-271F-AF03-3722-490900C49BE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94750" y="2321311"/>
            <a:ext cx="5602500" cy="433418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24C023-A0FF-BAB1-FD66-F6A827797C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CBEA7-0488-065D-8829-C6FAAA715C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b="1" dirty="0">
                <a:solidFill>
                  <a:schemeClr val="bg1"/>
                </a:solidFill>
              </a:rPr>
              <a:t>Аналогични</a:t>
            </a:r>
          </a:p>
          <a:p>
            <a:pPr lvl="1"/>
            <a:r>
              <a:rPr lang="bg-BG" dirty="0"/>
              <a:t>Цветовете </a:t>
            </a:r>
            <a:r>
              <a:rPr lang="bg-BG" b="1" dirty="0"/>
              <a:t>един до друг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F4EDFA-F723-F48A-D206-CDA6040ED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Основни видове цветови схеми (1)</a:t>
            </a:r>
            <a:endParaRPr lang="en-BG" dirty="0"/>
          </a:p>
        </p:txBody>
      </p:sp>
    </p:spTree>
    <p:extLst>
      <p:ext uri="{BB962C8B-B14F-4D97-AF65-F5344CB8AC3E}">
        <p14:creationId xmlns:p14="http://schemas.microsoft.com/office/powerpoint/2010/main" val="1295757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CDE3EB2-4306-2BC2-9411-A5E44F80921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30062" y="2317755"/>
            <a:ext cx="5731875" cy="433774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24C023-A0FF-BAB1-FD66-F6A827797C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CBEA7-0488-065D-8829-C6FAAA715C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b="1" dirty="0">
                <a:solidFill>
                  <a:schemeClr val="bg1"/>
                </a:solidFill>
              </a:rPr>
              <a:t>Допълващи се </a:t>
            </a:r>
            <a:r>
              <a:rPr lang="bg-BG" b="1" dirty="0"/>
              <a:t>(контрастни</a:t>
            </a:r>
            <a:r>
              <a:rPr lang="en-US" b="1" dirty="0"/>
              <a:t>)</a:t>
            </a:r>
            <a:endParaRPr lang="bg-BG" b="1" dirty="0"/>
          </a:p>
          <a:p>
            <a:pPr lvl="1"/>
            <a:r>
              <a:rPr lang="bg-BG" dirty="0"/>
              <a:t>Цветовете </a:t>
            </a:r>
            <a:r>
              <a:rPr lang="bg-BG" b="1" dirty="0"/>
              <a:t>един срещу друг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F4EDFA-F723-F48A-D206-CDA6040ED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Основни видове цветови схеми </a:t>
            </a:r>
            <a:r>
              <a:rPr lang="en-US" dirty="0"/>
              <a:t>(2)</a:t>
            </a:r>
            <a:endParaRPr lang="en-BG" dirty="0"/>
          </a:p>
        </p:txBody>
      </p:sp>
    </p:spTree>
    <p:extLst>
      <p:ext uri="{BB962C8B-B14F-4D97-AF65-F5344CB8AC3E}">
        <p14:creationId xmlns:p14="http://schemas.microsoft.com/office/powerpoint/2010/main" val="576091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CDE3EB2-4306-2BC2-9411-A5E44F80921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16458" y="2342921"/>
            <a:ext cx="6159083" cy="431257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24C023-A0FF-BAB1-FD66-F6A827797C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CBEA7-0488-065D-8829-C6FAAA715C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b="1" dirty="0">
                <a:solidFill>
                  <a:schemeClr val="bg1"/>
                </a:solidFill>
              </a:rPr>
              <a:t>Монохромни</a:t>
            </a:r>
          </a:p>
          <a:p>
            <a:pPr lvl="1"/>
            <a:r>
              <a:rPr lang="bg-BG" b="1" dirty="0"/>
              <a:t>Различни тонове </a:t>
            </a:r>
            <a:r>
              <a:rPr lang="bg-BG" dirty="0"/>
              <a:t>на </a:t>
            </a:r>
            <a:r>
              <a:rPr lang="bg-BG" b="1" dirty="0"/>
              <a:t>един и същ цвят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F4EDFA-F723-F48A-D206-CDA6040ED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Основни видове цветови схеми</a:t>
            </a:r>
            <a:r>
              <a:rPr lang="en-US" dirty="0"/>
              <a:t> (3)</a:t>
            </a:r>
            <a:endParaRPr lang="en-BG" dirty="0"/>
          </a:p>
        </p:txBody>
      </p:sp>
    </p:spTree>
    <p:extLst>
      <p:ext uri="{BB962C8B-B14F-4D97-AF65-F5344CB8AC3E}">
        <p14:creationId xmlns:p14="http://schemas.microsoft.com/office/powerpoint/2010/main" val="1903293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49F27EF8-696D-9D4C-9236-14BEA5B812F2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dirty="0"/>
              <a:t>Създаване на цветова схема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39DA57-1678-C27D-4375-3D7EB3223CCF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dirty="0"/>
              <a:t>Пример</a:t>
            </a:r>
            <a:endParaRPr lang="en-B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7371C5-8533-9A13-9D01-C385FA629AE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34870" y="1584000"/>
            <a:ext cx="2322259" cy="207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198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24C023-A0FF-BAB1-FD66-F6A827797C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CBEA7-0488-065D-8829-C6FAAA715C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Нека </a:t>
            </a:r>
            <a:r>
              <a:rPr lang="bg-BG" b="1" dirty="0"/>
              <a:t>създадем</a:t>
            </a:r>
            <a:r>
              <a:rPr lang="bg-BG" dirty="0"/>
              <a:t> </a:t>
            </a:r>
            <a:r>
              <a:rPr lang="bg-BG" b="1" dirty="0">
                <a:solidFill>
                  <a:schemeClr val="bg1"/>
                </a:solidFill>
              </a:rPr>
              <a:t>цветова схема </a:t>
            </a:r>
            <a:r>
              <a:rPr lang="bg-BG" dirty="0"/>
              <a:t>(</a:t>
            </a:r>
            <a:r>
              <a:rPr lang="bg-BG" b="1" dirty="0"/>
              <a:t>палитра</a:t>
            </a:r>
            <a:r>
              <a:rPr lang="en-US" dirty="0"/>
              <a:t>)</a:t>
            </a:r>
            <a:r>
              <a:rPr lang="bg-BG" dirty="0"/>
              <a:t> със </a:t>
            </a:r>
            <a:r>
              <a:rPr lang="bg-BG" b="1" dirty="0"/>
              <a:t>зададен цвят</a:t>
            </a:r>
          </a:p>
          <a:p>
            <a:r>
              <a:rPr lang="bg-BG" dirty="0"/>
              <a:t>Влизаме в </a:t>
            </a:r>
            <a:r>
              <a:rPr lang="bg-BG" b="1" dirty="0"/>
              <a:t>сайта</a:t>
            </a:r>
            <a:r>
              <a:rPr lang="bg-BG" dirty="0"/>
              <a:t> </a:t>
            </a:r>
            <a:r>
              <a:rPr lang="en-GB" dirty="0">
                <a:hlinkClick r:id="rId2"/>
              </a:rPr>
              <a:t>mycolor.space</a:t>
            </a:r>
            <a:endParaRPr lang="bg-BG" dirty="0"/>
          </a:p>
          <a:p>
            <a:r>
              <a:rPr lang="bg-BG" dirty="0"/>
              <a:t>Кликаме върху </a:t>
            </a:r>
            <a:r>
              <a:rPr lang="bg-BG" b="1" dirty="0"/>
              <a:t>цвета</a:t>
            </a:r>
            <a:r>
              <a:rPr lang="bg-BG" dirty="0"/>
              <a:t> и </a:t>
            </a:r>
            <a:r>
              <a:rPr lang="bg-BG" b="1" dirty="0"/>
              <a:t>избираме цвят </a:t>
            </a:r>
            <a:r>
              <a:rPr lang="bg-BG" dirty="0"/>
              <a:t>по </a:t>
            </a:r>
            <a:r>
              <a:rPr lang="bg-BG" b="1" dirty="0"/>
              <a:t>наше желание</a:t>
            </a:r>
          </a:p>
          <a:p>
            <a:r>
              <a:rPr lang="bg-BG" dirty="0"/>
              <a:t>Кликаме върху </a:t>
            </a:r>
            <a:r>
              <a:rPr lang="en-US" b="1" dirty="0"/>
              <a:t>[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Generate</a:t>
            </a:r>
            <a:r>
              <a:rPr lang="en-US" b="1" dirty="0"/>
              <a:t>]</a:t>
            </a:r>
          </a:p>
          <a:p>
            <a:endParaRPr lang="bg-B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F4EDFA-F723-F48A-D206-CDA6040ED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Създаване на цветова схема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A3BDB0-05AB-4055-7A37-9CBE686EA75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436000" y="4318836"/>
            <a:ext cx="2929722" cy="19800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10D9FF-DF08-A53E-BCA9-6FE97D11C50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86680" y="4376050"/>
            <a:ext cx="2983298" cy="19800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2F6195-DB61-BFAC-36A8-2B3A1166919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9567" y="4318836"/>
            <a:ext cx="2941091" cy="19800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12" name="Arrow: Right 6">
            <a:extLst>
              <a:ext uri="{FF2B5EF4-FFF2-40B4-BE49-F238E27FC236}">
                <a16:creationId xmlns:a16="http://schemas.microsoft.com/office/drawing/2014/main" id="{D2509431-918D-BCAC-4230-E070A802525F}"/>
              </a:ext>
            </a:extLst>
          </p:cNvPr>
          <p:cNvSpPr/>
          <p:nvPr/>
        </p:nvSpPr>
        <p:spPr bwMode="auto">
          <a:xfrm>
            <a:off x="3375396" y="4897744"/>
            <a:ext cx="956545" cy="822183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Arrow: Right 6">
            <a:extLst>
              <a:ext uri="{FF2B5EF4-FFF2-40B4-BE49-F238E27FC236}">
                <a16:creationId xmlns:a16="http://schemas.microsoft.com/office/drawing/2014/main" id="{1CD7E115-21A4-C12A-EDB5-95B2CC4CEFE6}"/>
              </a:ext>
            </a:extLst>
          </p:cNvPr>
          <p:cNvSpPr/>
          <p:nvPr/>
        </p:nvSpPr>
        <p:spPr bwMode="auto">
          <a:xfrm>
            <a:off x="7424716" y="4897744"/>
            <a:ext cx="956545" cy="822183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69755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88B547-B4FB-70B2-8275-3358681CEA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19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3284CA-37C3-3C08-7BE8-A37DB2675E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Създадоха се различни </a:t>
            </a:r>
            <a:r>
              <a:rPr lang="bg-BG" b="1" dirty="0"/>
              <a:t>видове схеми </a:t>
            </a:r>
            <a:r>
              <a:rPr lang="bg-BG" dirty="0"/>
              <a:t>спрямо </a:t>
            </a:r>
            <a:r>
              <a:rPr lang="bg-BG" b="1" dirty="0"/>
              <a:t>избрания цвят</a:t>
            </a:r>
            <a:endParaRPr lang="en-BG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D4773D8-C07D-A7D1-7FD2-516B0ADA1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Резултат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354931-FFF5-A6AF-30A1-9914EAE892C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16875" y="1826502"/>
            <a:ext cx="6558249" cy="4898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954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E1D161-2813-559B-2B32-C37E59082F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20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AE47B-DD70-A989-E62A-942F2D6D35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Изборът от </a:t>
            </a:r>
            <a:r>
              <a:rPr lang="bg-BG" b="1" dirty="0"/>
              <a:t>подходящата комбинация</a:t>
            </a:r>
            <a:r>
              <a:rPr lang="bg-BG" dirty="0"/>
              <a:t> на </a:t>
            </a:r>
            <a:r>
              <a:rPr lang="bg-BG" b="1" dirty="0">
                <a:solidFill>
                  <a:schemeClr val="bg1"/>
                </a:solidFill>
              </a:rPr>
              <a:t>шрифтове</a:t>
            </a:r>
            <a:r>
              <a:rPr lang="bg-BG" dirty="0"/>
              <a:t> е от </a:t>
            </a:r>
            <a:r>
              <a:rPr lang="bg-BG" b="1" dirty="0"/>
              <a:t>важно значение</a:t>
            </a:r>
            <a:r>
              <a:rPr lang="bg-BG" dirty="0"/>
              <a:t> за </a:t>
            </a:r>
            <a:r>
              <a:rPr lang="bg-BG" b="1" dirty="0">
                <a:solidFill>
                  <a:schemeClr val="bg1"/>
                </a:solidFill>
              </a:rPr>
              <a:t>четимостта</a:t>
            </a:r>
            <a:r>
              <a:rPr lang="bg-BG" dirty="0"/>
              <a:t> и </a:t>
            </a:r>
            <a:r>
              <a:rPr lang="bg-BG" b="1" dirty="0">
                <a:solidFill>
                  <a:schemeClr val="bg1"/>
                </a:solidFill>
              </a:rPr>
              <a:t>облика</a:t>
            </a:r>
            <a:r>
              <a:rPr lang="bg-BG" dirty="0"/>
              <a:t> на </a:t>
            </a:r>
            <a:r>
              <a:rPr lang="bg-BG" b="1" dirty="0"/>
              <a:t>уеб сайта</a:t>
            </a:r>
          </a:p>
          <a:p>
            <a:r>
              <a:rPr lang="bg-BG" dirty="0"/>
              <a:t>Дизайнерите използват </a:t>
            </a:r>
            <a:r>
              <a:rPr lang="bg-BG" b="1" dirty="0"/>
              <a:t>не повече от 2-3 шрифта</a:t>
            </a:r>
            <a:endParaRPr lang="en-BG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EE53579-37C9-E9CD-2C40-51E88BBFC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Шрифтове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A2ADE8-FEF3-5F13-354A-9CE8615124B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0188" y="3046875"/>
            <a:ext cx="5511624" cy="367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399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E1D161-2813-559B-2B32-C37E59082F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21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AE47B-DD70-A989-E62A-942F2D6D35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b="1" dirty="0">
                <a:solidFill>
                  <a:schemeClr val="bg1"/>
                </a:solidFill>
              </a:rPr>
              <a:t>Серифни </a:t>
            </a:r>
            <a:r>
              <a:rPr lang="en-US" b="1" dirty="0"/>
              <a:t>(Serif)</a:t>
            </a:r>
            <a:endParaRPr lang="bg-BG" b="1" dirty="0"/>
          </a:p>
          <a:p>
            <a:pPr lvl="1"/>
            <a:r>
              <a:rPr lang="bg-BG" b="1" dirty="0">
                <a:solidFill>
                  <a:schemeClr val="bg1"/>
                </a:solidFill>
              </a:rPr>
              <a:t>Съдържат</a:t>
            </a:r>
            <a:r>
              <a:rPr lang="bg-BG" dirty="0"/>
              <a:t> </a:t>
            </a:r>
            <a:r>
              <a:rPr lang="bg-BG" b="1" dirty="0"/>
              <a:t>допълнителни </a:t>
            </a:r>
            <a:r>
              <a:rPr lang="bg-BG" b="1" dirty="0">
                <a:solidFill>
                  <a:schemeClr val="bg1"/>
                </a:solidFill>
              </a:rPr>
              <a:t>графични елементи</a:t>
            </a:r>
          </a:p>
          <a:p>
            <a:pPr lvl="1"/>
            <a:r>
              <a:rPr lang="bg-BG" dirty="0"/>
              <a:t>Използват се за </a:t>
            </a:r>
            <a:r>
              <a:rPr lang="bg-BG" b="1" dirty="0"/>
              <a:t>основни текстове</a:t>
            </a:r>
          </a:p>
          <a:p>
            <a:r>
              <a:rPr lang="bg-BG" b="1" dirty="0">
                <a:solidFill>
                  <a:schemeClr val="bg1"/>
                </a:solidFill>
              </a:rPr>
              <a:t>Несерифни</a:t>
            </a:r>
            <a:r>
              <a:rPr lang="bg-BG" b="1" dirty="0"/>
              <a:t> </a:t>
            </a:r>
            <a:r>
              <a:rPr lang="en-US" b="1" dirty="0"/>
              <a:t>(Sans-Serif)</a:t>
            </a:r>
            <a:endParaRPr lang="bg-BG" b="1" dirty="0"/>
          </a:p>
          <a:p>
            <a:pPr lvl="1"/>
            <a:r>
              <a:rPr lang="bg-BG" b="1" dirty="0">
                <a:solidFill>
                  <a:schemeClr val="bg1"/>
                </a:solidFill>
              </a:rPr>
              <a:t>Не съдържат </a:t>
            </a:r>
            <a:r>
              <a:rPr lang="bg-BG" b="1" dirty="0"/>
              <a:t>допълнителни </a:t>
            </a:r>
            <a:r>
              <a:rPr lang="bg-BG" b="1" dirty="0">
                <a:solidFill>
                  <a:schemeClr val="bg1"/>
                </a:solidFill>
              </a:rPr>
              <a:t>графични елементи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EE53579-37C9-E9CD-2C40-51E88BBFC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Видове шрифтове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4306F6-74A8-33A9-0BFA-C802E6CA000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69451" y="4546799"/>
            <a:ext cx="6004530" cy="2188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422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C463C-8703-34CC-A92B-B67A5BD679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22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E3B7D5-DB8F-E323-ADD0-7B35105D1E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5590598" cy="5528766"/>
          </a:xfrm>
        </p:spPr>
        <p:txBody>
          <a:bodyPr/>
          <a:lstStyle/>
          <a:p>
            <a:r>
              <a:rPr lang="bg-BG" b="1" dirty="0">
                <a:solidFill>
                  <a:schemeClr val="bg1"/>
                </a:solidFill>
              </a:rPr>
              <a:t>Секциите</a:t>
            </a:r>
            <a:r>
              <a:rPr lang="bg-BG" dirty="0"/>
              <a:t> са </a:t>
            </a:r>
            <a:r>
              <a:rPr lang="bg-BG" b="1" dirty="0"/>
              <a:t>отделни</a:t>
            </a:r>
            <a:r>
              <a:rPr lang="bg-BG" dirty="0"/>
              <a:t> </a:t>
            </a:r>
            <a:r>
              <a:rPr lang="bg-BG" b="1" dirty="0">
                <a:solidFill>
                  <a:schemeClr val="bg1"/>
                </a:solidFill>
              </a:rPr>
              <a:t>визуални блокове </a:t>
            </a:r>
            <a:r>
              <a:rPr lang="bg-BG" dirty="0"/>
              <a:t>в </a:t>
            </a:r>
            <a:r>
              <a:rPr lang="bg-BG" b="1" dirty="0"/>
              <a:t>уеб страницата</a:t>
            </a:r>
          </a:p>
          <a:p>
            <a:r>
              <a:rPr lang="bg-BG" b="1" dirty="0">
                <a:solidFill>
                  <a:schemeClr val="bg1"/>
                </a:solidFill>
              </a:rPr>
              <a:t>Подредбата</a:t>
            </a:r>
            <a:r>
              <a:rPr lang="bg-BG" dirty="0"/>
              <a:t> показва </a:t>
            </a:r>
            <a:r>
              <a:rPr lang="bg-BG" b="1" dirty="0">
                <a:solidFill>
                  <a:schemeClr val="bg1"/>
                </a:solidFill>
              </a:rPr>
              <a:t>по какъв начин </a:t>
            </a:r>
            <a:r>
              <a:rPr lang="bg-BG" dirty="0"/>
              <a:t>са </a:t>
            </a:r>
            <a:r>
              <a:rPr lang="bg-BG" b="1" dirty="0"/>
              <a:t>разположени</a:t>
            </a:r>
            <a:r>
              <a:rPr lang="bg-BG" dirty="0"/>
              <a:t> </a:t>
            </a:r>
            <a:r>
              <a:rPr lang="bg-BG" b="1" dirty="0"/>
              <a:t>секциите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21CE4F-6627-B977-175E-373E03705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Подредба и секции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BEF7CC-29F9-560D-F7C4-761A15B5EA9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160" b="5160"/>
          <a:stretch/>
        </p:blipFill>
        <p:spPr>
          <a:xfrm>
            <a:off x="5325703" y="1196125"/>
            <a:ext cx="6745076" cy="5528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173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15F131C-8FB9-C6F8-5EF9-09C21A2B930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36000" y="2803621"/>
            <a:ext cx="3621687" cy="336606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D2C20E-59AD-FE6E-8B38-D093FA1AE2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CA096B-C4AF-95AC-CF9C-440240ECE9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bg-BG" b="1" dirty="0">
                <a:solidFill>
                  <a:schemeClr val="bg1"/>
                </a:solidFill>
              </a:rPr>
              <a:t>Секции</a:t>
            </a:r>
            <a:endParaRPr lang="bg-BG" b="1" dirty="0"/>
          </a:p>
          <a:p>
            <a:pPr lvl="1"/>
            <a:r>
              <a:rPr lang="bg-BG" b="1" dirty="0"/>
              <a:t>Елементите</a:t>
            </a:r>
            <a:r>
              <a:rPr lang="bg-BG" dirty="0"/>
              <a:t> на </a:t>
            </a:r>
            <a:r>
              <a:rPr lang="bg-BG" b="1" dirty="0"/>
              <a:t>уеб страницата</a:t>
            </a:r>
            <a:endParaRPr lang="en-BG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02D21C-85CD-257D-707E-D7A2804BD5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bg-BG" b="1" dirty="0">
                <a:solidFill>
                  <a:schemeClr val="bg1"/>
                </a:solidFill>
              </a:rPr>
              <a:t>Подредба</a:t>
            </a:r>
          </a:p>
          <a:p>
            <a:pPr lvl="1">
              <a:buClr>
                <a:schemeClr val="tx1"/>
              </a:buClr>
            </a:pPr>
            <a:r>
              <a:rPr lang="bg-BG" b="1" dirty="0"/>
              <a:t>Композицията</a:t>
            </a:r>
            <a:r>
              <a:rPr lang="bg-BG" dirty="0"/>
              <a:t> на </a:t>
            </a:r>
            <a:r>
              <a:rPr lang="bg-BG" b="1" dirty="0"/>
              <a:t>уеб страницата</a:t>
            </a:r>
            <a:endParaRPr lang="en-BG" b="1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C7D450E-22C7-6EB7-80B8-B3E1B00D6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Подредба</a:t>
            </a:r>
            <a:r>
              <a:rPr lang="en-BG" dirty="0"/>
              <a:t> vs. </a:t>
            </a:r>
            <a:r>
              <a:rPr lang="bg-BG" dirty="0"/>
              <a:t>Секции</a:t>
            </a:r>
            <a:endParaRPr lang="en-BG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D46CB8-C632-592D-41A5-047983B5548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36298" y="2892583"/>
            <a:ext cx="4184999" cy="3188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5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49F27EF8-696D-9D4C-9236-14BEA5B812F2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dirty="0"/>
              <a:t>Комбиниране на шрифтове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39DA57-1678-C27D-4375-3D7EB3223CCF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dirty="0"/>
              <a:t>Пример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2652F1-AB94-2977-58A7-CE74250567E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24000" y="1902084"/>
            <a:ext cx="3744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426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24C023-A0FF-BAB1-FD66-F6A827797C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25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CBEA7-0488-065D-8829-C6FAAA715C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sz="3000" dirty="0"/>
              <a:t>Интернет предлага </a:t>
            </a:r>
            <a:r>
              <a:rPr lang="bg-BG" sz="3000" b="1" dirty="0"/>
              <a:t>много сайтове </a:t>
            </a:r>
            <a:r>
              <a:rPr lang="bg-BG" sz="3000" dirty="0"/>
              <a:t>за </a:t>
            </a:r>
            <a:r>
              <a:rPr lang="bg-BG" sz="3000" b="1" dirty="0">
                <a:solidFill>
                  <a:schemeClr val="bg1"/>
                </a:solidFill>
              </a:rPr>
              <a:t>комбиниране на шрифтове</a:t>
            </a:r>
          </a:p>
          <a:p>
            <a:r>
              <a:rPr lang="bg-BG" sz="3000" dirty="0"/>
              <a:t>Нека изберем </a:t>
            </a:r>
            <a:r>
              <a:rPr lang="bg-BG" sz="3000" b="1" dirty="0"/>
              <a:t>сайта</a:t>
            </a:r>
            <a:r>
              <a:rPr lang="bg-BG" sz="3000" dirty="0"/>
              <a:t> </a:t>
            </a:r>
            <a:r>
              <a:rPr lang="en-GB" sz="3000" dirty="0">
                <a:hlinkClick r:id="rId2"/>
              </a:rPr>
              <a:t>fontjoy.com</a:t>
            </a:r>
            <a:endParaRPr lang="bg-BG" sz="3000" dirty="0"/>
          </a:p>
          <a:p>
            <a:r>
              <a:rPr lang="bg-BG" sz="3000" dirty="0"/>
              <a:t>Кликаме върху бутона</a:t>
            </a:r>
            <a:r>
              <a:rPr lang="bg-BG" sz="3000" b="1" dirty="0"/>
              <a:t> </a:t>
            </a:r>
            <a:r>
              <a:rPr lang="en-US" sz="3000" b="1" dirty="0"/>
              <a:t>[</a:t>
            </a:r>
            <a:r>
              <a:rPr lang="en-US" sz="3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Generate</a:t>
            </a:r>
            <a:r>
              <a:rPr lang="en-US" sz="3000" b="1" dirty="0"/>
              <a:t>]</a:t>
            </a:r>
            <a:endParaRPr lang="bg-BG" sz="3000" b="1" dirty="0"/>
          </a:p>
          <a:p>
            <a:r>
              <a:rPr lang="bg-BG" sz="3000" dirty="0"/>
              <a:t>Избираме подходяща комбинация</a:t>
            </a:r>
            <a:endParaRPr lang="bg-B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F4EDFA-F723-F48A-D206-CDA6040ED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Комбиниране на шрифтове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4F508E-412A-3256-998B-9838CF8137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93500" y="3685357"/>
            <a:ext cx="5804999" cy="2970143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53727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88B547-B4FB-70B2-8275-3358681CEA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26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D4773D8-C07D-A7D1-7FD2-516B0ADA1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Резултат</a:t>
            </a:r>
            <a:endParaRPr lang="en-BG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737566-B241-7186-4A0D-7B0ED5DD35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500" y="1289780"/>
            <a:ext cx="9945000" cy="521722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0574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800" dirty="0"/>
              <a:t>Обликът пред света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6000" dirty="0"/>
              <a:t>Лого и бранд идентичност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F3F7B7-C002-E11C-D703-3E17512C5EF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99468" y="1385091"/>
            <a:ext cx="2993063" cy="271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62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/>
          </a:bodyPr>
          <a:lstStyle/>
          <a:p>
            <a:pPr>
              <a:buClr>
                <a:schemeClr val="tx2"/>
              </a:buClr>
            </a:pPr>
            <a:r>
              <a:rPr lang="bg-BG" sz="3600" b="1" dirty="0">
                <a:solidFill>
                  <a:schemeClr val="bg1"/>
                </a:solidFill>
              </a:rPr>
              <a:t>Логото</a:t>
            </a:r>
            <a:r>
              <a:rPr lang="bg-BG" sz="3600" dirty="0"/>
              <a:t> и </a:t>
            </a:r>
            <a:r>
              <a:rPr lang="bg-BG" sz="3600" b="1" dirty="0">
                <a:solidFill>
                  <a:schemeClr val="bg1"/>
                </a:solidFill>
              </a:rPr>
              <a:t>бранд идентичността </a:t>
            </a:r>
            <a:r>
              <a:rPr lang="bg-BG" sz="3600" dirty="0"/>
              <a:t>помагат на дадена </a:t>
            </a:r>
            <a:r>
              <a:rPr lang="bg-BG" sz="3600" b="1" dirty="0"/>
              <a:t>марка</a:t>
            </a:r>
            <a:r>
              <a:rPr lang="bg-BG" sz="3600" dirty="0"/>
              <a:t> да бъде </a:t>
            </a:r>
            <a:r>
              <a:rPr lang="bg-BG" sz="3600" b="1" dirty="0"/>
              <a:t>разпознаваема</a:t>
            </a:r>
          </a:p>
          <a:p>
            <a:pPr>
              <a:buClr>
                <a:schemeClr val="tx2"/>
              </a:buClr>
            </a:pPr>
            <a:r>
              <a:rPr lang="bg-BG" sz="3600" dirty="0"/>
              <a:t>Осигуряват </a:t>
            </a:r>
            <a:r>
              <a:rPr lang="bg-BG" sz="3600" b="1" dirty="0"/>
              <a:t>консистентност</a:t>
            </a:r>
            <a:r>
              <a:rPr lang="bg-BG" sz="3600" dirty="0"/>
              <a:t> в </a:t>
            </a:r>
            <a:r>
              <a:rPr lang="bg-BG" sz="3600" b="1" dirty="0"/>
              <a:t>уеб сайта</a:t>
            </a: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>
            <a:normAutofit/>
          </a:bodyPr>
          <a:lstStyle/>
          <a:p>
            <a:r>
              <a:rPr lang="bg-BG" sz="3800" dirty="0"/>
              <a:t>Лого и бранд идентичност</a:t>
            </a:r>
            <a:endParaRPr lang="en-US" sz="3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335C49-84C8-BC2B-B9B1-9C175B128C9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04642" y="3204968"/>
            <a:ext cx="4582716" cy="3615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212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6895598" cy="5528766"/>
          </a:xfrm>
        </p:spPr>
        <p:txBody>
          <a:bodyPr>
            <a:normAutofit/>
          </a:bodyPr>
          <a:lstStyle/>
          <a:p>
            <a:pPr>
              <a:buClr>
                <a:schemeClr val="tx2"/>
              </a:buClr>
            </a:pPr>
            <a:r>
              <a:rPr lang="bg-BG" sz="3400" b="1" dirty="0">
                <a:solidFill>
                  <a:schemeClr val="bg1"/>
                </a:solidFill>
              </a:rPr>
              <a:t>Графичен знак </a:t>
            </a:r>
            <a:r>
              <a:rPr lang="bg-BG" sz="3400" dirty="0"/>
              <a:t>представящ </a:t>
            </a:r>
            <a:r>
              <a:rPr lang="bg-BG" sz="3400" b="1" dirty="0"/>
              <a:t>организацията</a:t>
            </a:r>
            <a:r>
              <a:rPr lang="bg-BG" sz="3400" dirty="0"/>
              <a:t>, </a:t>
            </a:r>
            <a:r>
              <a:rPr lang="bg-BG" sz="3400" b="1" dirty="0"/>
              <a:t>фирмата</a:t>
            </a:r>
            <a:r>
              <a:rPr lang="bg-BG" sz="3400" dirty="0"/>
              <a:t> или </a:t>
            </a:r>
            <a:r>
              <a:rPr lang="bg-BG" sz="3400" b="1" dirty="0"/>
              <a:t>проекта</a:t>
            </a:r>
          </a:p>
          <a:p>
            <a:pPr>
              <a:buClr>
                <a:schemeClr val="tx2"/>
              </a:buClr>
            </a:pPr>
            <a:r>
              <a:rPr lang="bg-BG" sz="3400" dirty="0"/>
              <a:t>Може да е </a:t>
            </a:r>
            <a:r>
              <a:rPr lang="bg-BG" sz="3400" b="1" dirty="0">
                <a:solidFill>
                  <a:schemeClr val="bg1"/>
                </a:solidFill>
              </a:rPr>
              <a:t>текстово</a:t>
            </a:r>
            <a:r>
              <a:rPr lang="bg-BG" sz="3400" dirty="0"/>
              <a:t>, </a:t>
            </a:r>
            <a:r>
              <a:rPr lang="bg-BG" sz="3400" b="1" dirty="0">
                <a:solidFill>
                  <a:schemeClr val="bg1"/>
                </a:solidFill>
              </a:rPr>
              <a:t>символно</a:t>
            </a:r>
            <a:r>
              <a:rPr lang="bg-BG" sz="3400" dirty="0"/>
              <a:t> или </a:t>
            </a:r>
            <a:r>
              <a:rPr lang="bg-BG" sz="3400" b="1" dirty="0">
                <a:solidFill>
                  <a:schemeClr val="bg1"/>
                </a:solidFill>
              </a:rPr>
              <a:t>комбинация</a:t>
            </a:r>
            <a:r>
              <a:rPr lang="bg-BG" sz="3400" b="1" dirty="0"/>
              <a:t> </a:t>
            </a:r>
            <a:r>
              <a:rPr lang="bg-BG" sz="3400" b="1" dirty="0">
                <a:solidFill>
                  <a:schemeClr val="bg1"/>
                </a:solidFill>
              </a:rPr>
              <a:t>от двете</a:t>
            </a:r>
          </a:p>
          <a:p>
            <a:pPr>
              <a:buClr>
                <a:schemeClr val="tx2"/>
              </a:buClr>
            </a:pPr>
            <a:r>
              <a:rPr lang="bg-BG" sz="3400" dirty="0"/>
              <a:t>Позволява </a:t>
            </a:r>
            <a:r>
              <a:rPr lang="bg-BG" sz="3400" b="1" dirty="0"/>
              <a:t>бързо разпознаване</a:t>
            </a:r>
            <a:r>
              <a:rPr lang="bg-BG" sz="3400" dirty="0"/>
              <a:t>, </a:t>
            </a:r>
            <a:r>
              <a:rPr lang="bg-BG" sz="3400" b="1" dirty="0"/>
              <a:t>професионален вид </a:t>
            </a:r>
            <a:r>
              <a:rPr lang="bg-BG" sz="3400" dirty="0"/>
              <a:t>и </a:t>
            </a:r>
            <a:r>
              <a:rPr lang="bg-BG" sz="3400" b="1" dirty="0"/>
              <a:t>свързване</a:t>
            </a:r>
            <a:r>
              <a:rPr lang="bg-BG" sz="3400" dirty="0"/>
              <a:t> на </a:t>
            </a:r>
            <a:r>
              <a:rPr lang="bg-BG" sz="3400" b="1" dirty="0"/>
              <a:t>дизайна</a:t>
            </a:r>
            <a:r>
              <a:rPr lang="bg-BG" sz="3400" dirty="0"/>
              <a:t> с </a:t>
            </a:r>
            <a:r>
              <a:rPr lang="bg-BG" sz="3400" b="1" dirty="0"/>
              <a:t>бранда</a:t>
            </a: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>
            <a:normAutofit/>
          </a:bodyPr>
          <a:lstStyle/>
          <a:p>
            <a:r>
              <a:rPr lang="bg-BG" sz="4000" dirty="0"/>
              <a:t>Лого</a:t>
            </a:r>
            <a:r>
              <a:rPr lang="en-US" sz="4000" dirty="0"/>
              <a:t> (1)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3E3F48-58F6-B563-E289-4288A0B8153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16000" y="1089000"/>
            <a:ext cx="4802031" cy="5297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554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834ABF-7ECB-330A-C0D3-6E30D39C68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30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754ABB-9A39-7013-0870-8564D51D18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400" b="1" dirty="0"/>
              <a:t>Кои</a:t>
            </a:r>
            <a:r>
              <a:rPr lang="bg-BG" sz="3400" dirty="0"/>
              <a:t> са следните </a:t>
            </a:r>
            <a:r>
              <a:rPr lang="bg-BG" sz="3400" b="1" dirty="0">
                <a:solidFill>
                  <a:schemeClr val="bg1"/>
                </a:solidFill>
              </a:rPr>
              <a:t>компании</a:t>
            </a:r>
            <a:r>
              <a:rPr lang="bg-BG" sz="3400" dirty="0"/>
              <a:t>?</a:t>
            </a:r>
          </a:p>
          <a:p>
            <a:endParaRPr lang="bg-BG" sz="5400" dirty="0">
              <a:highlight>
                <a:srgbClr val="FFFF00"/>
              </a:highlight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72E9A04-A090-3FC7-67E5-7863BBEFC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Лого </a:t>
            </a:r>
            <a:r>
              <a:rPr lang="en-US" dirty="0"/>
              <a:t>(</a:t>
            </a:r>
            <a:r>
              <a:rPr lang="bg-BG" dirty="0"/>
              <a:t>2</a:t>
            </a:r>
            <a:r>
              <a:rPr lang="en-US" dirty="0"/>
              <a:t>)</a:t>
            </a:r>
            <a:endParaRPr lang="en-GB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E4BA317-D32A-5BFE-08F9-3FEBD5A403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97730" y="2214000"/>
            <a:ext cx="1928733" cy="157098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004E012-032D-A4CE-22D6-5201BB6D75E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90289" y="4186584"/>
            <a:ext cx="2155028" cy="224101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6F94396-6D3B-A8B3-F3FF-D5DB8ADB79F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05744" y="4261519"/>
            <a:ext cx="2087006" cy="209114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3A8A180-F503-3E57-49AF-04BA621B673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97731" y="4335768"/>
            <a:ext cx="1928733" cy="192873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179D4629-37A1-DEF9-ED94-73E9ABE5B4E4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19885" y="2312455"/>
            <a:ext cx="1458723" cy="147252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B17EBB57-65FF-4A2A-3FC0-9A11816D7097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82631" y="2312455"/>
            <a:ext cx="1770343" cy="147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524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A82440C-7D4E-B25E-8470-BFA0B7C566E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51651" y="1862381"/>
            <a:ext cx="5149946" cy="419625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7E724C-E85C-633D-D564-3FEFDA705A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31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78B88-CCD0-702B-55EB-285902544D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3" y="1196125"/>
            <a:ext cx="8155598" cy="5528766"/>
          </a:xfrm>
        </p:spPr>
        <p:txBody>
          <a:bodyPr>
            <a:normAutofit/>
          </a:bodyPr>
          <a:lstStyle/>
          <a:p>
            <a:r>
              <a:rPr lang="bg-BG" sz="3200" b="1" dirty="0">
                <a:solidFill>
                  <a:schemeClr val="bg1"/>
                </a:solidFill>
              </a:rPr>
              <a:t>Цялостният визуален стил </a:t>
            </a:r>
            <a:r>
              <a:rPr lang="bg-BG" sz="3200" dirty="0"/>
              <a:t>на </a:t>
            </a:r>
            <a:r>
              <a:rPr lang="bg-BG" sz="3200" b="1" dirty="0"/>
              <a:t>марката</a:t>
            </a:r>
          </a:p>
          <a:p>
            <a:r>
              <a:rPr lang="bg-BG" sz="3200" b="1" dirty="0">
                <a:solidFill>
                  <a:schemeClr val="bg1"/>
                </a:solidFill>
              </a:rPr>
              <a:t>Бранд бук </a:t>
            </a:r>
            <a:r>
              <a:rPr lang="bg-BG" sz="3200" b="1" dirty="0"/>
              <a:t>(</a:t>
            </a:r>
            <a:r>
              <a:rPr lang="en-US" sz="3200" b="1" dirty="0"/>
              <a:t>Brand Book</a:t>
            </a:r>
            <a:r>
              <a:rPr lang="bg-BG" sz="3200" b="1" dirty="0"/>
              <a:t>)</a:t>
            </a:r>
          </a:p>
          <a:p>
            <a:pPr lvl="1"/>
            <a:r>
              <a:rPr lang="bg-BG" sz="3000" b="1" dirty="0"/>
              <a:t>Описва </a:t>
            </a:r>
            <a:r>
              <a:rPr lang="bg-BG" sz="3000" b="1" dirty="0">
                <a:solidFill>
                  <a:schemeClr val="bg1"/>
                </a:solidFill>
              </a:rPr>
              <a:t>компонентите</a:t>
            </a:r>
            <a:r>
              <a:rPr lang="bg-BG" sz="3000" b="1" dirty="0"/>
              <a:t> </a:t>
            </a:r>
            <a:r>
              <a:rPr lang="bg-BG" sz="3000" dirty="0"/>
              <a:t>на</a:t>
            </a:r>
            <a:r>
              <a:rPr lang="bg-BG" sz="3000" b="1" dirty="0"/>
              <a:t> марката</a:t>
            </a:r>
          </a:p>
          <a:p>
            <a:pPr lvl="1"/>
            <a:r>
              <a:rPr lang="bg-BG" sz="3000" b="1" dirty="0"/>
              <a:t>Набор</a:t>
            </a:r>
            <a:r>
              <a:rPr lang="bg-BG" sz="3000" dirty="0"/>
              <a:t> от </a:t>
            </a:r>
            <a:r>
              <a:rPr lang="bg-BG" sz="3000" b="1" dirty="0">
                <a:solidFill>
                  <a:schemeClr val="bg1"/>
                </a:solidFill>
              </a:rPr>
              <a:t>инструменти</a:t>
            </a:r>
            <a:r>
              <a:rPr lang="bg-BG" sz="3000" dirty="0"/>
              <a:t> и </a:t>
            </a:r>
            <a:r>
              <a:rPr lang="bg-BG" sz="3000" b="1" dirty="0">
                <a:solidFill>
                  <a:schemeClr val="bg1"/>
                </a:solidFill>
              </a:rPr>
              <a:t>правила</a:t>
            </a:r>
            <a:r>
              <a:rPr lang="bg-BG" sz="3000" dirty="0"/>
              <a:t> </a:t>
            </a:r>
          </a:p>
          <a:p>
            <a:pPr marL="442912" lvl="1" indent="0">
              <a:buNone/>
            </a:pPr>
            <a:r>
              <a:rPr lang="bg-BG" sz="3000" b="1" dirty="0"/>
              <a:t>    как да се използват </a:t>
            </a:r>
            <a:r>
              <a:rPr lang="bg-BG" sz="3000" b="1" dirty="0">
                <a:solidFill>
                  <a:schemeClr val="bg1"/>
                </a:solidFill>
              </a:rPr>
              <a:t>компонентите</a:t>
            </a:r>
            <a:endParaRPr lang="bg-BG" sz="3000" dirty="0">
              <a:solidFill>
                <a:schemeClr val="bg1"/>
              </a:solidFill>
            </a:endParaRPr>
          </a:p>
          <a:p>
            <a:pPr marL="442912" lvl="1" indent="0">
              <a:buNone/>
            </a:pPr>
            <a:r>
              <a:rPr lang="bg-BG" sz="3000" dirty="0"/>
              <a:t>    на </a:t>
            </a:r>
            <a:r>
              <a:rPr lang="bg-BG" sz="3000" b="1" dirty="0"/>
              <a:t>марката</a:t>
            </a:r>
          </a:p>
          <a:p>
            <a:pPr lvl="1"/>
            <a:r>
              <a:rPr lang="bg-BG" sz="3000" b="1" dirty="0"/>
              <a:t>Пример: </a:t>
            </a:r>
            <a:r>
              <a:rPr lang="en-GB" sz="3000" dirty="0">
                <a:hlinkClick r:id="rId3"/>
              </a:rPr>
              <a:t>relayto.com/explore/coca-cola-brand-book-tzeq20td3g4ta</a:t>
            </a:r>
            <a:r>
              <a:rPr lang="bg-BG" sz="3000" dirty="0"/>
              <a:t> </a:t>
            </a:r>
            <a:endParaRPr lang="bg-BG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0AB8E8F-7E99-E591-2158-00E3B4334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Бранд идентичност </a:t>
            </a:r>
            <a:r>
              <a:rPr lang="en-US" dirty="0"/>
              <a:t>(1)</a:t>
            </a:r>
            <a:endParaRPr lang="en-BG" dirty="0"/>
          </a:p>
        </p:txBody>
      </p:sp>
    </p:spTree>
    <p:extLst>
      <p:ext uri="{BB962C8B-B14F-4D97-AF65-F5344CB8AC3E}">
        <p14:creationId xmlns:p14="http://schemas.microsoft.com/office/powerpoint/2010/main" val="201574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B26A0B3-D236-AD5D-6B33-EEBAE370BB6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0794" y="2275531"/>
            <a:ext cx="5670412" cy="437996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7E724C-E85C-633D-D564-3FEFDA705A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32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78B88-CCD0-702B-55EB-285902544D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6" y="1196125"/>
            <a:ext cx="11562624" cy="5528766"/>
          </a:xfrm>
        </p:spPr>
        <p:txBody>
          <a:bodyPr>
            <a:normAutofit/>
          </a:bodyPr>
          <a:lstStyle/>
          <a:p>
            <a:r>
              <a:rPr lang="bg-BG" sz="3200" b="1" dirty="0">
                <a:solidFill>
                  <a:schemeClr val="bg1"/>
                </a:solidFill>
              </a:rPr>
              <a:t>Бранд идентичността </a:t>
            </a:r>
            <a:r>
              <a:rPr lang="bg-BG" sz="3200" dirty="0"/>
              <a:t>включва:</a:t>
            </a:r>
          </a:p>
          <a:p>
            <a:pPr lvl="1"/>
            <a:r>
              <a:rPr lang="bg-BG" sz="3000" b="1" dirty="0"/>
              <a:t>Цветова палитра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0AB8E8F-7E99-E591-2158-00E3B4334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Бранд идентичност</a:t>
            </a:r>
            <a:r>
              <a:rPr lang="en-US" dirty="0"/>
              <a:t> (2)</a:t>
            </a:r>
            <a:endParaRPr lang="en-BG" dirty="0"/>
          </a:p>
        </p:txBody>
      </p:sp>
    </p:spTree>
    <p:extLst>
      <p:ext uri="{BB962C8B-B14F-4D97-AF65-F5344CB8AC3E}">
        <p14:creationId xmlns:p14="http://schemas.microsoft.com/office/powerpoint/2010/main" val="399511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7E724C-E85C-633D-D564-3FEFDA705A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33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78B88-CCD0-702B-55EB-285902544D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562628" cy="5528766"/>
          </a:xfrm>
        </p:spPr>
        <p:txBody>
          <a:bodyPr>
            <a:normAutofit/>
          </a:bodyPr>
          <a:lstStyle/>
          <a:p>
            <a:pPr lvl="1"/>
            <a:r>
              <a:rPr lang="bg-BG" sz="3000" b="1" dirty="0"/>
              <a:t>Шрифтове</a:t>
            </a:r>
            <a:r>
              <a:rPr lang="bg-BG" sz="3000" dirty="0"/>
              <a:t> и </a:t>
            </a:r>
            <a:r>
              <a:rPr lang="bg-BG" sz="3000" b="1" dirty="0"/>
              <a:t>топография</a:t>
            </a:r>
          </a:p>
          <a:p>
            <a:pPr lvl="1"/>
            <a:r>
              <a:rPr lang="bg-BG" sz="3000" b="1" dirty="0"/>
              <a:t>Лого</a:t>
            </a:r>
            <a:r>
              <a:rPr lang="bg-BG" sz="3000" dirty="0"/>
              <a:t> и </a:t>
            </a:r>
            <a:r>
              <a:rPr lang="bg-BG" sz="3000" b="1" dirty="0"/>
              <a:t>вариации на логото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0AB8E8F-7E99-E591-2158-00E3B4334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Бранд идентичност</a:t>
            </a:r>
            <a:r>
              <a:rPr lang="en-US" dirty="0"/>
              <a:t> (3)</a:t>
            </a:r>
            <a:endParaRPr lang="en-BG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E361B73-363E-C0DE-2CD7-17A87B1A092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20291" y="1759595"/>
            <a:ext cx="4821193" cy="49553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F8F04DC-937C-2E10-1AC0-4A6A62E3D37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461" y="2799000"/>
            <a:ext cx="5659944" cy="3463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129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7E724C-E85C-633D-D564-3FEFDA705A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34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78B88-CCD0-702B-55EB-285902544D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562628" cy="5528766"/>
          </a:xfrm>
        </p:spPr>
        <p:txBody>
          <a:bodyPr>
            <a:normAutofit/>
          </a:bodyPr>
          <a:lstStyle/>
          <a:p>
            <a:pPr lvl="1"/>
            <a:r>
              <a:rPr lang="bg-BG" sz="3000" b="1" dirty="0"/>
              <a:t>Икони</a:t>
            </a:r>
            <a:r>
              <a:rPr lang="bg-BG" sz="3000" dirty="0"/>
              <a:t> и </a:t>
            </a:r>
            <a:r>
              <a:rPr lang="bg-BG" sz="3000" b="1" dirty="0"/>
              <a:t>графични елементи</a:t>
            </a:r>
          </a:p>
          <a:p>
            <a:pPr lvl="1"/>
            <a:r>
              <a:rPr lang="bg-BG" sz="3000" b="1" dirty="0"/>
              <a:t>Стил</a:t>
            </a:r>
            <a:r>
              <a:rPr lang="bg-BG" sz="3000" dirty="0"/>
              <a:t> на </a:t>
            </a:r>
            <a:r>
              <a:rPr lang="bg-BG" sz="3000" b="1" dirty="0"/>
              <a:t>изображенията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0AB8E8F-7E99-E591-2158-00E3B4334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Бранд идентичност</a:t>
            </a:r>
            <a:r>
              <a:rPr lang="en-US" dirty="0"/>
              <a:t> (4)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AE6309-1FC0-352D-D8A1-BD06F0B5123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8625" y="3546875"/>
            <a:ext cx="5361279" cy="2115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C1C6CA-4E12-BB3B-F012-0D1758ED69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09037" y="2709000"/>
            <a:ext cx="5727700" cy="334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904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3800" dirty="0"/>
              <a:t>Графичен модел (m</a:t>
            </a:r>
            <a:r>
              <a:rPr lang="en-US" sz="3800" dirty="0"/>
              <a:t>ockup</a:t>
            </a:r>
            <a:r>
              <a:rPr lang="bg-BG" sz="3800" dirty="0"/>
              <a:t>)</a:t>
            </a:r>
            <a:r>
              <a:rPr lang="en-US" sz="3800" dirty="0"/>
              <a:t> </a:t>
            </a:r>
            <a:r>
              <a:rPr lang="bg-BG" sz="3800" dirty="0"/>
              <a:t>на уеб страница по избор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6000" dirty="0"/>
              <a:t>Пример</a:t>
            </a:r>
            <a:endParaRPr lang="en-US" sz="5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B5B584-885E-0AA6-DD9F-704ADB54C49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01041" y="1385091"/>
            <a:ext cx="1789918" cy="2534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851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D4D3A2C-88C6-0657-2093-B55CEB7BCF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7255598" cy="5528766"/>
          </a:xfrm>
        </p:spPr>
        <p:txBody>
          <a:bodyPr>
            <a:normAutofit/>
          </a:bodyPr>
          <a:lstStyle/>
          <a:p>
            <a:r>
              <a:rPr lang="bg-BG" sz="3600" dirty="0"/>
              <a:t>Нека </a:t>
            </a:r>
            <a:r>
              <a:rPr lang="bg-BG" sz="3600" b="1" dirty="0"/>
              <a:t>създадем </a:t>
            </a:r>
            <a:r>
              <a:rPr lang="bg-BG" sz="3600" b="1" dirty="0">
                <a:solidFill>
                  <a:schemeClr val="bg1"/>
                </a:solidFill>
              </a:rPr>
              <a:t>графичен модел</a:t>
            </a:r>
            <a:r>
              <a:rPr lang="bg-BG" sz="3600" dirty="0">
                <a:solidFill>
                  <a:schemeClr val="bg1"/>
                </a:solidFill>
              </a:rPr>
              <a:t> </a:t>
            </a:r>
            <a:r>
              <a:rPr lang="en-US" sz="3600" dirty="0"/>
              <a:t>(</a:t>
            </a:r>
            <a:r>
              <a:rPr lang="en-US" sz="3600" b="1" dirty="0"/>
              <a:t>mockup</a:t>
            </a:r>
            <a:r>
              <a:rPr lang="en-US" sz="3600" dirty="0"/>
              <a:t>)</a:t>
            </a:r>
            <a:r>
              <a:rPr lang="bg-BG" sz="3600" dirty="0"/>
              <a:t> на </a:t>
            </a:r>
            <a:r>
              <a:rPr lang="bg-BG" sz="3600" b="1" dirty="0"/>
              <a:t>уеб страница</a:t>
            </a:r>
            <a:r>
              <a:rPr lang="bg-BG" sz="3600" dirty="0"/>
              <a:t> </a:t>
            </a:r>
            <a:r>
              <a:rPr lang="bg-BG" sz="3600" b="1" dirty="0"/>
              <a:t>по избор</a:t>
            </a:r>
            <a:endParaRPr lang="en-US" sz="3600" b="1" dirty="0"/>
          </a:p>
          <a:p>
            <a:r>
              <a:rPr lang="bg-BG" sz="3600" dirty="0"/>
              <a:t>За примера ще използваме </a:t>
            </a:r>
            <a:r>
              <a:rPr lang="bg-BG" sz="3600" b="1" dirty="0">
                <a:solidFill>
                  <a:schemeClr val="bg1"/>
                </a:solidFill>
              </a:rPr>
              <a:t>схематичния дизайн </a:t>
            </a:r>
            <a:r>
              <a:rPr lang="bg-BG" sz="3600" dirty="0"/>
              <a:t>на </a:t>
            </a:r>
            <a:r>
              <a:rPr lang="bg-BG" sz="3600" b="1" dirty="0"/>
              <a:t>началната страница</a:t>
            </a:r>
            <a:r>
              <a:rPr lang="bg-BG" sz="3600" dirty="0"/>
              <a:t> от </a:t>
            </a:r>
            <a:r>
              <a:rPr lang="bg-BG" sz="3600" b="1" dirty="0"/>
              <a:t>миналия урок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F6C5A2A5-9D43-35F8-B488-A60AEEC40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Графичен модел на уеб страница</a:t>
            </a:r>
            <a:endParaRPr lang="en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D71F9F-C2D9-B88B-0B0D-D5075B474A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21000" y="1764000"/>
            <a:ext cx="4667030" cy="424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539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D4D3A2C-88C6-0657-2093-B55CEB7BCF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7660598" cy="5528766"/>
          </a:xfrm>
        </p:spPr>
        <p:txBody>
          <a:bodyPr>
            <a:normAutofit/>
          </a:bodyPr>
          <a:lstStyle/>
          <a:p>
            <a:r>
              <a:rPr lang="bg-BG" sz="3200" dirty="0"/>
              <a:t>Влизаме в </a:t>
            </a:r>
            <a:r>
              <a:rPr lang="bg-BG" sz="3200" b="1" dirty="0"/>
              <a:t>сайта</a:t>
            </a:r>
            <a:r>
              <a:rPr lang="bg-BG" sz="3200" dirty="0"/>
              <a:t> </a:t>
            </a:r>
            <a:r>
              <a:rPr lang="en-GB" sz="3200" dirty="0">
                <a:hlinkClick r:id="rId3"/>
              </a:rPr>
              <a:t>excalidraw.com</a:t>
            </a:r>
            <a:endParaRPr lang="en-GB" sz="3200" dirty="0"/>
          </a:p>
          <a:p>
            <a:r>
              <a:rPr lang="bg-BG" sz="3200" dirty="0"/>
              <a:t>Започваме с </a:t>
            </a:r>
            <a:r>
              <a:rPr lang="bg-BG" sz="3200" b="1" dirty="0"/>
              <a:t>хедъра</a:t>
            </a:r>
          </a:p>
          <a:p>
            <a:pPr lvl="1"/>
            <a:r>
              <a:rPr lang="bg-BG" sz="3000" dirty="0"/>
              <a:t>Избираме </a:t>
            </a:r>
            <a:r>
              <a:rPr lang="bg-BG" sz="3000" b="1" dirty="0"/>
              <a:t>инструмента</a:t>
            </a:r>
            <a:r>
              <a:rPr lang="bg-BG" sz="3000" dirty="0"/>
              <a:t> за </a:t>
            </a:r>
            <a:r>
              <a:rPr lang="bg-BG" sz="3000" b="1" dirty="0">
                <a:solidFill>
                  <a:schemeClr val="bg1"/>
                </a:solidFill>
              </a:rPr>
              <a:t>изображение</a:t>
            </a:r>
          </a:p>
          <a:p>
            <a:pPr lvl="1"/>
            <a:r>
              <a:rPr lang="bg-BG" sz="3000" dirty="0"/>
              <a:t>Добавяме </a:t>
            </a:r>
            <a:r>
              <a:rPr lang="bg-BG" sz="3000" b="1" dirty="0"/>
              <a:t>изображение</a:t>
            </a:r>
            <a:r>
              <a:rPr lang="bg-BG" sz="3000" dirty="0"/>
              <a:t> вместо </a:t>
            </a:r>
            <a:r>
              <a:rPr lang="en-US" sz="3000" b="1" dirty="0"/>
              <a:t>placeholder</a:t>
            </a:r>
            <a:r>
              <a:rPr lang="bg-BG" sz="3000" dirty="0"/>
              <a:t> за </a:t>
            </a:r>
            <a:r>
              <a:rPr lang="bg-BG" sz="3000" b="1" dirty="0">
                <a:solidFill>
                  <a:schemeClr val="bg1"/>
                </a:solidFill>
              </a:rPr>
              <a:t>лого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F6C5A2A5-9D43-35F8-B488-A60AEEC40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Хедър (1)</a:t>
            </a:r>
            <a:endParaRPr lang="en-BG" dirty="0"/>
          </a:p>
        </p:txBody>
      </p:sp>
      <p:sp>
        <p:nvSpPr>
          <p:cNvPr id="4" name="Arrow: Right 6">
            <a:extLst>
              <a:ext uri="{FF2B5EF4-FFF2-40B4-BE49-F238E27FC236}">
                <a16:creationId xmlns:a16="http://schemas.microsoft.com/office/drawing/2014/main" id="{15B72F5C-348A-84BE-3D50-1C09F1E8D9B7}"/>
              </a:ext>
            </a:extLst>
          </p:cNvPr>
          <p:cNvSpPr/>
          <p:nvPr/>
        </p:nvSpPr>
        <p:spPr bwMode="auto">
          <a:xfrm rot="5400000">
            <a:off x="8912650" y="2204422"/>
            <a:ext cx="956545" cy="822183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6771B29-4E57-FE07-B748-354AD3175B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29001" y="3287028"/>
            <a:ext cx="2131999" cy="5850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14" name="Arrow: Right 6">
            <a:extLst>
              <a:ext uri="{FF2B5EF4-FFF2-40B4-BE49-F238E27FC236}">
                <a16:creationId xmlns:a16="http://schemas.microsoft.com/office/drawing/2014/main" id="{4296028A-D4B8-29A7-B2DD-AF670D1DAA88}"/>
              </a:ext>
            </a:extLst>
          </p:cNvPr>
          <p:cNvSpPr/>
          <p:nvPr/>
        </p:nvSpPr>
        <p:spPr bwMode="auto">
          <a:xfrm rot="5400000">
            <a:off x="8912650" y="4132451"/>
            <a:ext cx="956545" cy="822183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0DC33DE-B2A7-C9BC-739C-3B476BE1E4E4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18968" y="5219511"/>
            <a:ext cx="5529444" cy="5239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080FAC-E058-8585-1DE9-F348862BC9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24629" y="1408183"/>
            <a:ext cx="5332586" cy="539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930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D4D3A2C-88C6-0657-2093-B55CEB7BCF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4420598" cy="5528766"/>
          </a:xfrm>
        </p:spPr>
        <p:txBody>
          <a:bodyPr>
            <a:normAutofit/>
          </a:bodyPr>
          <a:lstStyle/>
          <a:p>
            <a:pPr lvl="1"/>
            <a:r>
              <a:rPr lang="bg-BG" sz="2800" dirty="0"/>
              <a:t>Разписваме </a:t>
            </a:r>
            <a:r>
              <a:rPr lang="bg-BG" sz="2800" b="1" dirty="0"/>
              <a:t>опциите</a:t>
            </a:r>
            <a:r>
              <a:rPr lang="bg-BG" sz="2800" dirty="0"/>
              <a:t> на </a:t>
            </a:r>
            <a:r>
              <a:rPr lang="bg-BG" sz="2800" b="1" dirty="0"/>
              <a:t>менюто</a:t>
            </a:r>
            <a:r>
              <a:rPr lang="bg-BG" sz="2800" dirty="0"/>
              <a:t>, напр. "</a:t>
            </a:r>
            <a:r>
              <a:rPr lang="bg-BG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Начало</a:t>
            </a:r>
            <a:r>
              <a:rPr lang="bg-BG" sz="2800" dirty="0"/>
              <a:t>, </a:t>
            </a:r>
            <a:r>
              <a:rPr lang="bg-BG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Маршрути</a:t>
            </a:r>
            <a:r>
              <a:rPr lang="bg-BG" sz="2800" dirty="0"/>
              <a:t>, </a:t>
            </a:r>
            <a:r>
              <a:rPr lang="bg-BG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За</a:t>
            </a:r>
            <a:r>
              <a:rPr lang="bg-BG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нас</a:t>
            </a:r>
            <a:r>
              <a:rPr lang="bg-BG" sz="2800" dirty="0"/>
              <a:t>, </a:t>
            </a:r>
            <a:r>
              <a:rPr lang="bg-BG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Контакти</a:t>
            </a:r>
            <a:r>
              <a:rPr lang="bg-BG" sz="2800" dirty="0"/>
              <a:t>"</a:t>
            </a:r>
          </a:p>
          <a:p>
            <a:pPr lvl="1"/>
            <a:r>
              <a:rPr lang="bg-BG" sz="2800" dirty="0"/>
              <a:t>Избираме </a:t>
            </a:r>
            <a:r>
              <a:rPr lang="bg-BG" sz="2800" b="1" dirty="0"/>
              <a:t>текста</a:t>
            </a:r>
            <a:r>
              <a:rPr lang="bg-BG" sz="2800" dirty="0"/>
              <a:t> и променяме </a:t>
            </a:r>
            <a:r>
              <a:rPr lang="bg-BG" sz="2800" b="1" dirty="0">
                <a:solidFill>
                  <a:schemeClr val="bg1"/>
                </a:solidFill>
              </a:rPr>
              <a:t>шрифта</a:t>
            </a:r>
            <a:r>
              <a:rPr lang="bg-BG" sz="2800" dirty="0"/>
              <a:t> с </a:t>
            </a:r>
            <a:r>
              <a:rPr lang="bg-BG" sz="2800" b="1" dirty="0"/>
              <a:t>подходящ</a:t>
            </a:r>
            <a:r>
              <a:rPr lang="bg-BG" sz="2800" dirty="0"/>
              <a:t> за </a:t>
            </a:r>
            <a:r>
              <a:rPr lang="bg-BG" sz="2800" b="1" dirty="0"/>
              <a:t>уеб сайт</a:t>
            </a:r>
          </a:p>
          <a:p>
            <a:pPr lvl="1"/>
            <a:r>
              <a:rPr lang="bg-BG" sz="2800" dirty="0"/>
              <a:t>Избираме </a:t>
            </a:r>
            <a:r>
              <a:rPr lang="bg-BG" sz="2800" b="1" dirty="0"/>
              <a:t>хедъра</a:t>
            </a:r>
            <a:r>
              <a:rPr lang="bg-BG" sz="2800" dirty="0"/>
              <a:t> и променяме </a:t>
            </a:r>
            <a:r>
              <a:rPr lang="bg-BG" sz="2800" b="1" dirty="0">
                <a:solidFill>
                  <a:schemeClr val="bg1"/>
                </a:solidFill>
              </a:rPr>
              <a:t>цвета на фона </a:t>
            </a:r>
            <a:r>
              <a:rPr lang="bg-BG" sz="2800" dirty="0"/>
              <a:t>от </a:t>
            </a:r>
            <a:r>
              <a:rPr lang="bg-BG" sz="2800" b="1" dirty="0"/>
              <a:t>менюто отляво</a:t>
            </a:r>
            <a:endParaRPr lang="en-GB" sz="2800" b="1" dirty="0"/>
          </a:p>
          <a:p>
            <a:pPr marL="442912" lvl="1" indent="0">
              <a:buNone/>
            </a:pPr>
            <a:endParaRPr lang="en-GB" sz="300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F6C5A2A5-9D43-35F8-B488-A60AEEC40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Хедър (2)</a:t>
            </a:r>
            <a:endParaRPr lang="en-BG" dirty="0"/>
          </a:p>
        </p:txBody>
      </p:sp>
      <p:sp>
        <p:nvSpPr>
          <p:cNvPr id="4" name="Arrow: Right 6">
            <a:extLst>
              <a:ext uri="{FF2B5EF4-FFF2-40B4-BE49-F238E27FC236}">
                <a16:creationId xmlns:a16="http://schemas.microsoft.com/office/drawing/2014/main" id="{15B72F5C-348A-84BE-3D50-1C09F1E8D9B7}"/>
              </a:ext>
            </a:extLst>
          </p:cNvPr>
          <p:cNvSpPr/>
          <p:nvPr/>
        </p:nvSpPr>
        <p:spPr bwMode="auto">
          <a:xfrm rot="5400000">
            <a:off x="7513821" y="2191181"/>
            <a:ext cx="956545" cy="822183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0F6174-A144-A099-61C7-EB80AB4276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31037" y="1256479"/>
            <a:ext cx="7505700" cy="711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BFD1CAE-3A7C-3BF9-0100-28CE0B4BD8D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75946" y="3165413"/>
            <a:ext cx="7014444" cy="964343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11" name="Arrow: Right 6">
            <a:extLst>
              <a:ext uri="{FF2B5EF4-FFF2-40B4-BE49-F238E27FC236}">
                <a16:creationId xmlns:a16="http://schemas.microsoft.com/office/drawing/2014/main" id="{C911A952-AACF-07CA-2EAB-E8A3489E504E}"/>
              </a:ext>
            </a:extLst>
          </p:cNvPr>
          <p:cNvSpPr/>
          <p:nvPr/>
        </p:nvSpPr>
        <p:spPr bwMode="auto">
          <a:xfrm rot="5400000">
            <a:off x="7475091" y="4528441"/>
            <a:ext cx="956545" cy="822183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BACA20E-1495-48CB-032E-71EBB156F5B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2248" y="5661875"/>
            <a:ext cx="7969350" cy="7112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73431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D4D3A2C-88C6-0657-2093-B55CEB7BCF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562628" cy="5528766"/>
          </a:xfrm>
        </p:spPr>
        <p:txBody>
          <a:bodyPr>
            <a:normAutofit/>
          </a:bodyPr>
          <a:lstStyle/>
          <a:p>
            <a:r>
              <a:rPr lang="bg-BG" sz="3200" dirty="0"/>
              <a:t>Продължаваме с </a:t>
            </a:r>
            <a:r>
              <a:rPr lang="en-US" sz="3200" b="1" dirty="0"/>
              <a:t>hero </a:t>
            </a:r>
            <a:r>
              <a:rPr lang="bg-BG" sz="3200" b="1" dirty="0"/>
              <a:t>секцията</a:t>
            </a:r>
          </a:p>
          <a:p>
            <a:pPr lvl="1"/>
            <a:r>
              <a:rPr lang="bg-BG" sz="3000" dirty="0"/>
              <a:t>По </a:t>
            </a:r>
            <a:r>
              <a:rPr lang="bg-BG" sz="3000" b="1" dirty="0"/>
              <a:t>аналогичен начин </a:t>
            </a:r>
            <a:r>
              <a:rPr lang="bg-BG" sz="3000" dirty="0"/>
              <a:t>сменяме </a:t>
            </a:r>
            <a:r>
              <a:rPr lang="bg-BG" sz="3000" b="1" dirty="0"/>
              <a:t>изображението</a:t>
            </a:r>
            <a:r>
              <a:rPr lang="bg-BG" sz="3000" dirty="0"/>
              <a:t> с </a:t>
            </a:r>
            <a:r>
              <a:rPr lang="bg-BG" sz="3000" b="1" dirty="0">
                <a:solidFill>
                  <a:schemeClr val="bg1"/>
                </a:solidFill>
              </a:rPr>
              <a:t>истинско</a:t>
            </a:r>
          </a:p>
          <a:p>
            <a:pPr lvl="1"/>
            <a:r>
              <a:rPr lang="bg-BG" sz="3000" dirty="0"/>
              <a:t>Рисуваме </a:t>
            </a:r>
            <a:r>
              <a:rPr lang="bg-BG" sz="3000" b="1" dirty="0">
                <a:solidFill>
                  <a:schemeClr val="bg1"/>
                </a:solidFill>
              </a:rPr>
              <a:t>бутон</a:t>
            </a:r>
            <a:r>
              <a:rPr lang="bg-BG" sz="3000" dirty="0"/>
              <a:t> с </a:t>
            </a:r>
            <a:r>
              <a:rPr lang="bg-BG" sz="3000" b="1" dirty="0"/>
              <a:t>надпис</a:t>
            </a:r>
            <a:r>
              <a:rPr lang="bg-BG" sz="3000" dirty="0"/>
              <a:t>, напр. "</a:t>
            </a:r>
            <a:r>
              <a:rPr lang="bg-BG" sz="3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Научи</a:t>
            </a:r>
            <a:r>
              <a:rPr lang="bg-BG" sz="3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3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повече</a:t>
            </a:r>
            <a:r>
              <a:rPr lang="bg-BG" sz="3000" dirty="0"/>
              <a:t>"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F6C5A2A5-9D43-35F8-B488-A60AEEC40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en-US" dirty="0"/>
              <a:t>Hero </a:t>
            </a:r>
            <a:r>
              <a:rPr lang="bg-BG" dirty="0"/>
              <a:t>секция</a:t>
            </a:r>
            <a:endParaRPr lang="en-BG" dirty="0"/>
          </a:p>
        </p:txBody>
      </p:sp>
      <p:sp>
        <p:nvSpPr>
          <p:cNvPr id="4" name="Arrow: Right 6">
            <a:extLst>
              <a:ext uri="{FF2B5EF4-FFF2-40B4-BE49-F238E27FC236}">
                <a16:creationId xmlns:a16="http://schemas.microsoft.com/office/drawing/2014/main" id="{15B72F5C-348A-84BE-3D50-1C09F1E8D9B7}"/>
              </a:ext>
            </a:extLst>
          </p:cNvPr>
          <p:cNvSpPr/>
          <p:nvPr/>
        </p:nvSpPr>
        <p:spPr bwMode="auto">
          <a:xfrm>
            <a:off x="5325703" y="4286945"/>
            <a:ext cx="956545" cy="822183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89DEF1-A6D1-D08A-7717-5953C115D5C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46415" y="3960508"/>
            <a:ext cx="5206615" cy="14750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A45943-FB79-A779-F7A1-6E7E05038F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0508" y="4103847"/>
            <a:ext cx="4636348" cy="118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314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D4D3A2C-88C6-0657-2093-B55CEB7BCF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6445598" cy="5528766"/>
          </a:xfrm>
        </p:spPr>
        <p:txBody>
          <a:bodyPr>
            <a:normAutofit/>
          </a:bodyPr>
          <a:lstStyle/>
          <a:p>
            <a:r>
              <a:rPr lang="bg-BG" sz="3200" dirty="0"/>
              <a:t>Продължаваме с </a:t>
            </a:r>
            <a:r>
              <a:rPr lang="bg-BG" sz="3200" b="1" dirty="0"/>
              <a:t>основното съдържание</a:t>
            </a:r>
          </a:p>
          <a:p>
            <a:pPr lvl="1"/>
            <a:r>
              <a:rPr lang="bg-BG" sz="3000" dirty="0"/>
              <a:t>На всяка </a:t>
            </a:r>
            <a:r>
              <a:rPr lang="bg-BG" sz="3000" b="1" dirty="0">
                <a:solidFill>
                  <a:schemeClr val="bg1"/>
                </a:solidFill>
              </a:rPr>
              <a:t>картичка</a:t>
            </a:r>
            <a:r>
              <a:rPr lang="bg-BG" sz="3000" dirty="0"/>
              <a:t> сменяме </a:t>
            </a:r>
            <a:r>
              <a:rPr lang="bg-BG" sz="3000" b="1" dirty="0"/>
              <a:t>изображението</a:t>
            </a:r>
            <a:r>
              <a:rPr lang="bg-BG" sz="3000" dirty="0"/>
              <a:t> с </a:t>
            </a:r>
            <a:r>
              <a:rPr lang="bg-BG" sz="3000" b="1" dirty="0">
                <a:solidFill>
                  <a:schemeClr val="bg1"/>
                </a:solidFill>
              </a:rPr>
              <a:t>истинско</a:t>
            </a:r>
          </a:p>
          <a:p>
            <a:pPr lvl="1"/>
            <a:r>
              <a:rPr lang="bg-BG" sz="3000" dirty="0"/>
              <a:t>Разписваме </a:t>
            </a:r>
            <a:r>
              <a:rPr lang="bg-BG" sz="3000" b="1" dirty="0">
                <a:solidFill>
                  <a:schemeClr val="bg1"/>
                </a:solidFill>
              </a:rPr>
              <a:t>примерно заглавие </a:t>
            </a:r>
            <a:r>
              <a:rPr lang="bg-BG" sz="3000" dirty="0"/>
              <a:t>на </a:t>
            </a:r>
            <a:r>
              <a:rPr lang="bg-BG" sz="3000" b="1" dirty="0"/>
              <a:t>маршрут </a:t>
            </a:r>
            <a:r>
              <a:rPr lang="bg-BG" sz="3000" dirty="0"/>
              <a:t>и сменяме </a:t>
            </a:r>
            <a:r>
              <a:rPr lang="bg-BG" sz="3000" b="1" dirty="0">
                <a:solidFill>
                  <a:schemeClr val="bg1"/>
                </a:solidFill>
              </a:rPr>
              <a:t>шрифта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F6C5A2A5-9D43-35F8-B488-A60AEEC40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Основно съдържание (1)</a:t>
            </a:r>
            <a:endParaRPr lang="en-BG" dirty="0"/>
          </a:p>
        </p:txBody>
      </p:sp>
      <p:sp>
        <p:nvSpPr>
          <p:cNvPr id="4" name="Arrow: Right 6">
            <a:extLst>
              <a:ext uri="{FF2B5EF4-FFF2-40B4-BE49-F238E27FC236}">
                <a16:creationId xmlns:a16="http://schemas.microsoft.com/office/drawing/2014/main" id="{15B72F5C-348A-84BE-3D50-1C09F1E8D9B7}"/>
              </a:ext>
            </a:extLst>
          </p:cNvPr>
          <p:cNvSpPr/>
          <p:nvPr/>
        </p:nvSpPr>
        <p:spPr bwMode="auto">
          <a:xfrm rot="5400000">
            <a:off x="8577301" y="3218120"/>
            <a:ext cx="956545" cy="822183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Arrow: Right 6">
            <a:extLst>
              <a:ext uri="{FF2B5EF4-FFF2-40B4-BE49-F238E27FC236}">
                <a16:creationId xmlns:a16="http://schemas.microsoft.com/office/drawing/2014/main" id="{06530646-E918-E99A-7607-C02F6181B681}"/>
              </a:ext>
            </a:extLst>
          </p:cNvPr>
          <p:cNvSpPr/>
          <p:nvPr/>
        </p:nvSpPr>
        <p:spPr bwMode="auto">
          <a:xfrm rot="5400000">
            <a:off x="8537426" y="5304876"/>
            <a:ext cx="956545" cy="822183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AAC2A1D-8EC8-1AF7-7CFB-D0F0747F394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65999" y="4137929"/>
            <a:ext cx="5379155" cy="24401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6F5C5C-2611-043A-3E40-F260700390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80229" y="1202485"/>
            <a:ext cx="4150691" cy="1918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776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D4D3A2C-88C6-0657-2093-B55CEB7BCF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/>
          </a:bodyPr>
          <a:lstStyle/>
          <a:p>
            <a:pPr lvl="1"/>
            <a:r>
              <a:rPr lang="bg-BG" sz="3000" dirty="0"/>
              <a:t>Избираме </a:t>
            </a:r>
            <a:r>
              <a:rPr lang="bg-BG" sz="3000" b="1" dirty="0"/>
              <a:t>цялата секция </a:t>
            </a:r>
            <a:r>
              <a:rPr lang="bg-BG" sz="3000" dirty="0"/>
              <a:t>и променяме </a:t>
            </a:r>
            <a:r>
              <a:rPr lang="bg-BG" sz="3000" b="1" dirty="0">
                <a:solidFill>
                  <a:schemeClr val="bg1"/>
                </a:solidFill>
              </a:rPr>
              <a:t>цвета на фона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F6C5A2A5-9D43-35F8-B488-A60AEEC40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Основно съдържание (2)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B2F9EC-FEC4-691A-5717-6419FE71A8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30450" y="2439000"/>
            <a:ext cx="7531100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810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D4D3A2C-88C6-0657-2093-B55CEB7BCF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/>
          </a:bodyPr>
          <a:lstStyle/>
          <a:p>
            <a:r>
              <a:rPr lang="bg-BG" sz="3200" dirty="0"/>
              <a:t>Завършваме с </a:t>
            </a:r>
            <a:r>
              <a:rPr lang="bg-BG" sz="3200" b="1" dirty="0"/>
              <a:t>футъра</a:t>
            </a:r>
          </a:p>
          <a:p>
            <a:pPr lvl="1"/>
            <a:r>
              <a:rPr lang="bg-BG" sz="3000" dirty="0"/>
              <a:t>Сменяме </a:t>
            </a:r>
            <a:r>
              <a:rPr lang="bg-BG" sz="3000" b="1" dirty="0">
                <a:solidFill>
                  <a:schemeClr val="bg1"/>
                </a:solidFill>
              </a:rPr>
              <a:t>шрифта</a:t>
            </a:r>
          </a:p>
          <a:p>
            <a:pPr lvl="1"/>
            <a:r>
              <a:rPr lang="bg-BG" sz="3000" dirty="0"/>
              <a:t>Избираме подходящ</a:t>
            </a:r>
            <a:r>
              <a:rPr lang="bg-BG" sz="3000" b="1" dirty="0">
                <a:solidFill>
                  <a:schemeClr val="bg1"/>
                </a:solidFill>
              </a:rPr>
              <a:t> </a:t>
            </a:r>
            <a:r>
              <a:rPr lang="bg-BG" sz="3000" b="1" dirty="0"/>
              <a:t>цвят</a:t>
            </a:r>
            <a:r>
              <a:rPr lang="bg-BG" sz="3000" b="1" dirty="0">
                <a:solidFill>
                  <a:schemeClr val="bg1"/>
                </a:solidFill>
              </a:rPr>
              <a:t> </a:t>
            </a:r>
            <a:r>
              <a:rPr lang="bg-BG" sz="3000" dirty="0"/>
              <a:t>за</a:t>
            </a:r>
            <a:r>
              <a:rPr lang="bg-BG" sz="3000" b="1" dirty="0">
                <a:solidFill>
                  <a:schemeClr val="bg1"/>
                </a:solidFill>
              </a:rPr>
              <a:t> фон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F6C5A2A5-9D43-35F8-B488-A60AEEC40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Футър</a:t>
            </a:r>
            <a:endParaRPr lang="en-BG" dirty="0"/>
          </a:p>
        </p:txBody>
      </p:sp>
      <p:sp>
        <p:nvSpPr>
          <p:cNvPr id="4" name="Arrow: Right 6">
            <a:extLst>
              <a:ext uri="{FF2B5EF4-FFF2-40B4-BE49-F238E27FC236}">
                <a16:creationId xmlns:a16="http://schemas.microsoft.com/office/drawing/2014/main" id="{15B72F5C-348A-84BE-3D50-1C09F1E8D9B7}"/>
              </a:ext>
            </a:extLst>
          </p:cNvPr>
          <p:cNvSpPr/>
          <p:nvPr/>
        </p:nvSpPr>
        <p:spPr bwMode="auto">
          <a:xfrm>
            <a:off x="5404733" y="4448815"/>
            <a:ext cx="956545" cy="822183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0F9002-4DB1-9D77-FDA3-AA338467645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15319" y="4596113"/>
            <a:ext cx="5214332" cy="5275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7EFBC7-86F5-39BF-AE2D-26B97CE89B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6361" y="4637696"/>
            <a:ext cx="5214331" cy="489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303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F6C5A2A5-9D43-35F8-B488-A60AEEC40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Резултат</a:t>
            </a:r>
            <a:endParaRPr lang="en-BG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E2C9899-590C-1E44-94E7-2C894A8623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/>
          </a:bodyPr>
          <a:lstStyle/>
          <a:p>
            <a:r>
              <a:rPr lang="bg-BG" sz="2500" dirty="0"/>
              <a:t>Може да продължим да </a:t>
            </a:r>
            <a:r>
              <a:rPr lang="bg-BG" sz="2500" b="1" dirty="0"/>
              <a:t>разработваме</a:t>
            </a:r>
            <a:r>
              <a:rPr lang="bg-BG" sz="2500" dirty="0"/>
              <a:t> </a:t>
            </a:r>
            <a:r>
              <a:rPr lang="bg-BG" sz="2500" b="1" dirty="0"/>
              <a:t>дизайна</a:t>
            </a:r>
            <a:r>
              <a:rPr lang="bg-BG" sz="2500" dirty="0"/>
              <a:t>, докато ни </a:t>
            </a:r>
            <a:r>
              <a:rPr lang="bg-BG" sz="2500" b="1" dirty="0"/>
              <a:t>хареса резултата</a:t>
            </a:r>
            <a:endParaRPr lang="bg-BG" sz="2500" b="1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734FAA-E3D2-3117-7833-D0744049006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1790219"/>
            <a:ext cx="5601287" cy="4865281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BABCC4-987A-841F-E3F4-A5A270480C1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0614" y="1755933"/>
            <a:ext cx="5428800" cy="4888667"/>
          </a:xfrm>
          <a:prstGeom prst="rect">
            <a:avLst/>
          </a:prstGeom>
          <a:ln>
            <a:noFill/>
          </a:ln>
        </p:spPr>
      </p:pic>
      <p:sp>
        <p:nvSpPr>
          <p:cNvPr id="8" name="Arrow: Right 6">
            <a:extLst>
              <a:ext uri="{FF2B5EF4-FFF2-40B4-BE49-F238E27FC236}">
                <a16:creationId xmlns:a16="http://schemas.microsoft.com/office/drawing/2014/main" id="{F2928BA1-328C-AB0F-2AF9-FDC9780DE2C9}"/>
              </a:ext>
            </a:extLst>
          </p:cNvPr>
          <p:cNvSpPr/>
          <p:nvPr/>
        </p:nvSpPr>
        <p:spPr bwMode="auto">
          <a:xfrm>
            <a:off x="5491737" y="3683216"/>
            <a:ext cx="686565" cy="554584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66661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D4D3A2C-88C6-0657-2093-B55CEB7BCF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/>
          </a:bodyPr>
          <a:lstStyle/>
          <a:p>
            <a:r>
              <a:rPr lang="bg-BG" sz="3600" dirty="0"/>
              <a:t>Запазваме </a:t>
            </a:r>
            <a:r>
              <a:rPr lang="bg-BG" sz="3600" b="1" dirty="0"/>
              <a:t>графичния дизайн </a:t>
            </a:r>
            <a:r>
              <a:rPr lang="bg-BG" sz="3600" dirty="0"/>
              <a:t>от </a:t>
            </a:r>
            <a:r>
              <a:rPr lang="bg-BG" sz="3600" b="1" dirty="0"/>
              <a:t>лявото меню </a:t>
            </a:r>
            <a:r>
              <a:rPr lang="bg-BG" sz="3600" dirty="0"/>
              <a:t>→ </a:t>
            </a:r>
          </a:p>
          <a:p>
            <a:pPr marL="0" indent="0">
              <a:buNone/>
            </a:pPr>
            <a:r>
              <a:rPr lang="bg-BG" sz="3600" b="1" dirty="0"/>
              <a:t>    [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Export image...</a:t>
            </a:r>
            <a:r>
              <a:rPr lang="en-US" sz="3600" b="1" dirty="0"/>
              <a:t>]</a:t>
            </a:r>
            <a:endParaRPr lang="bg-BG" sz="3600" b="1" dirty="0"/>
          </a:p>
          <a:p>
            <a:r>
              <a:rPr lang="bg-BG" sz="3600" dirty="0"/>
              <a:t>Кликаме върху </a:t>
            </a:r>
            <a:r>
              <a:rPr lang="bg-BG" sz="3600" b="1" dirty="0"/>
              <a:t>[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PNG</a:t>
            </a:r>
            <a:r>
              <a:rPr lang="en-US" sz="3600" b="1" dirty="0"/>
              <a:t>] </a:t>
            </a:r>
            <a:r>
              <a:rPr lang="bg-BG" sz="3600" dirty="0"/>
              <a:t>и </a:t>
            </a:r>
            <a:r>
              <a:rPr lang="bg-BG" sz="3600" b="1" dirty="0"/>
              <a:t>запазваме файла </a:t>
            </a:r>
            <a:r>
              <a:rPr lang="bg-BG" sz="3600" dirty="0"/>
              <a:t>в </a:t>
            </a:r>
            <a:r>
              <a:rPr lang="bg-BG" sz="3600" b="1" dirty="0"/>
              <a:t>компютъра</a:t>
            </a:r>
            <a:endParaRPr lang="en-US" sz="3600" dirty="0"/>
          </a:p>
          <a:p>
            <a:endParaRPr lang="bg-BG" sz="360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F6C5A2A5-9D43-35F8-B488-A60AEEC40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Запазване на</a:t>
            </a:r>
            <a:r>
              <a:rPr lang="en-US" dirty="0"/>
              <a:t> Mockup</a:t>
            </a:r>
            <a:endParaRPr lang="en-B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B4605E-C88F-75E8-1C32-8FC1D4D0BE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012" y="3586262"/>
            <a:ext cx="3217413" cy="2617557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DF720A-D7EE-DF8B-82CE-F2A5CFD5F06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41387" y="4168907"/>
            <a:ext cx="5311643" cy="145226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8" name="Arrow: Right 6">
            <a:extLst>
              <a:ext uri="{FF2B5EF4-FFF2-40B4-BE49-F238E27FC236}">
                <a16:creationId xmlns:a16="http://schemas.microsoft.com/office/drawing/2014/main" id="{3F647365-A1A4-49B1-E08D-61B9E28F0219}"/>
              </a:ext>
            </a:extLst>
          </p:cNvPr>
          <p:cNvSpPr/>
          <p:nvPr/>
        </p:nvSpPr>
        <p:spPr bwMode="auto">
          <a:xfrm>
            <a:off x="4546883" y="4340572"/>
            <a:ext cx="1306281" cy="1108936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46930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Summary Box Group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0406" y="1360993"/>
            <a:ext cx="11562624" cy="5394328"/>
            <a:chOff x="472011" y="1508786"/>
            <a:chExt cx="3799787" cy="4865561"/>
          </a:xfrm>
        </p:grpSpPr>
        <p:sp>
          <p:nvSpPr>
            <p:cNvPr id="10" name="Rounded Rectangle Blue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  <p:sp>
          <p:nvSpPr>
            <p:cNvPr id="11" name="Rounded Rectangle Left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/>
          </p:nvSpPr>
          <p:spPr>
            <a:xfrm>
              <a:off x="546866" y="1696737"/>
              <a:ext cx="81601" cy="4489658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12" name="Half Frame Top Right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/>
          </p:nvSpPr>
          <p:spPr>
            <a:xfrm rot="5400000">
              <a:off x="374255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7877" y="1676785"/>
            <a:ext cx="10826625" cy="4977574"/>
          </a:xfrm>
        </p:spPr>
        <p:txBody>
          <a:bodyPr>
            <a:noAutofit/>
          </a:bodyPr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marL="360363" indent="-360363" fontAlgn="base">
              <a:buClr>
                <a:schemeClr val="bg2"/>
              </a:buClr>
            </a:pP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Графичен модел (</a:t>
            </a:r>
            <a:r>
              <a:rPr lang="en-US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Mockup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 </a:t>
            </a:r>
            <a:r>
              <a:rPr lang="bg-BG" sz="2600" dirty="0"/>
              <a:t>=</a:t>
            </a:r>
            <a:r>
              <a:rPr lang="en-US" sz="2600" dirty="0"/>
              <a:t>= </a:t>
            </a:r>
            <a:r>
              <a:rPr lang="bg-BG" sz="2600" b="1" dirty="0"/>
              <a:t>статично</a:t>
            </a:r>
            <a:r>
              <a:rPr lang="bg-BG" sz="2600" dirty="0"/>
              <a:t> и </a:t>
            </a:r>
            <a:r>
              <a:rPr lang="bg-BG" sz="2600" b="1" dirty="0"/>
              <a:t>детайлно</a:t>
            </a:r>
            <a:r>
              <a:rPr lang="bg-BG" sz="2600" dirty="0"/>
              <a:t> </a:t>
            </a:r>
            <a:r>
              <a:rPr lang="bg-BG" sz="2600" b="1" dirty="0"/>
              <a:t>визуално представяне</a:t>
            </a:r>
            <a:r>
              <a:rPr lang="bg-BG" sz="2600" dirty="0"/>
              <a:t> на </a:t>
            </a:r>
            <a:r>
              <a:rPr lang="bg-BG" sz="2600" b="1" dirty="0"/>
              <a:t>уеб сайта</a:t>
            </a:r>
            <a:endParaRPr lang="en-US" sz="2600" b="1" dirty="0"/>
          </a:p>
          <a:p>
            <a:pPr marL="360363" indent="-360363" fontAlgn="base">
              <a:buClr>
                <a:schemeClr val="bg2"/>
              </a:buClr>
            </a:pP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Прототип (</a:t>
            </a:r>
            <a:r>
              <a:rPr lang="en-US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Prototype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 </a:t>
            </a:r>
            <a:r>
              <a:rPr lang="en-US" sz="2600" dirty="0"/>
              <a:t>== </a:t>
            </a:r>
            <a:r>
              <a:rPr lang="bg-BG" sz="2600" b="1" dirty="0"/>
              <a:t>интерактивен модел </a:t>
            </a:r>
            <a:r>
              <a:rPr lang="bg-BG" sz="2600" dirty="0"/>
              <a:t>на </a:t>
            </a:r>
            <a:r>
              <a:rPr lang="bg-BG" sz="2600" b="1" dirty="0"/>
              <a:t>уеб сайта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bg-BG" sz="2600" b="1" dirty="0"/>
              <a:t>Елементи на графичния дизайн</a:t>
            </a:r>
          </a:p>
          <a:p>
            <a:pPr marL="969948" lvl="1" indent="-360363" fontAlgn="base">
              <a:buClr>
                <a:schemeClr val="bg2"/>
              </a:buClr>
            </a:pPr>
            <a:r>
              <a:rPr lang="bg-BG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Цветова схема</a:t>
            </a:r>
            <a:r>
              <a:rPr lang="en-US" sz="2400" dirty="0">
                <a:solidFill>
                  <a:schemeClr val="bg2"/>
                </a:solidFill>
              </a:rPr>
              <a:t> == </a:t>
            </a:r>
            <a:r>
              <a:rPr lang="bg-BG" sz="2400" b="1" dirty="0">
                <a:solidFill>
                  <a:schemeClr val="bg2"/>
                </a:solidFill>
              </a:rPr>
              <a:t>хармоничната комбинация </a:t>
            </a:r>
            <a:r>
              <a:rPr lang="bg-BG" sz="2400" dirty="0">
                <a:solidFill>
                  <a:schemeClr val="bg2"/>
                </a:solidFill>
              </a:rPr>
              <a:t>между</a:t>
            </a:r>
            <a:r>
              <a:rPr lang="bg-BG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bg-BG" sz="2400" b="1" dirty="0">
                <a:solidFill>
                  <a:schemeClr val="bg2"/>
                </a:solidFill>
              </a:rPr>
              <a:t>цветовете</a:t>
            </a:r>
          </a:p>
          <a:p>
            <a:pPr marL="969948" lvl="1" indent="-360363" fontAlgn="base">
              <a:buClr>
                <a:schemeClr val="bg2"/>
              </a:buClr>
            </a:pPr>
            <a:r>
              <a:rPr lang="bg-BG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Шрифтове (Типография) </a:t>
            </a:r>
            <a:r>
              <a:rPr lang="en-US" sz="2400" dirty="0">
                <a:solidFill>
                  <a:schemeClr val="bg2"/>
                </a:solidFill>
              </a:rPr>
              <a:t>== </a:t>
            </a:r>
            <a:r>
              <a:rPr lang="bg-BG" sz="2400" dirty="0">
                <a:solidFill>
                  <a:schemeClr val="bg2"/>
                </a:solidFill>
              </a:rPr>
              <a:t>определят </a:t>
            </a:r>
            <a:r>
              <a:rPr lang="bg-BG" sz="2400" b="1" dirty="0">
                <a:solidFill>
                  <a:schemeClr val="bg2"/>
                </a:solidFill>
              </a:rPr>
              <a:t>вида</a:t>
            </a:r>
            <a:r>
              <a:rPr lang="bg-BG" sz="2400" dirty="0">
                <a:solidFill>
                  <a:schemeClr val="bg2"/>
                </a:solidFill>
              </a:rPr>
              <a:t> и </a:t>
            </a:r>
            <a:r>
              <a:rPr lang="bg-BG" sz="2400" b="1" dirty="0">
                <a:solidFill>
                  <a:schemeClr val="bg2"/>
                </a:solidFill>
              </a:rPr>
              <a:t>подредбата</a:t>
            </a:r>
            <a:r>
              <a:rPr lang="bg-BG" sz="2400" dirty="0">
                <a:solidFill>
                  <a:schemeClr val="bg2"/>
                </a:solidFill>
              </a:rPr>
              <a:t> на </a:t>
            </a:r>
            <a:r>
              <a:rPr lang="bg-BG" sz="2400" b="1" dirty="0">
                <a:solidFill>
                  <a:schemeClr val="bg2"/>
                </a:solidFill>
              </a:rPr>
              <a:t>текстовете</a:t>
            </a:r>
          </a:p>
          <a:p>
            <a:pPr marL="969948" lvl="1" indent="-360363" fontAlgn="base">
              <a:buClr>
                <a:schemeClr val="bg2"/>
              </a:buClr>
            </a:pPr>
            <a:r>
              <a:rPr lang="bg-BG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Подредба и секции</a:t>
            </a: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>
                <a:solidFill>
                  <a:schemeClr val="bg2"/>
                </a:solidFill>
              </a:rPr>
              <a:t>==</a:t>
            </a:r>
            <a:r>
              <a:rPr lang="bg-BG" sz="2400" dirty="0">
                <a:solidFill>
                  <a:schemeClr val="bg2"/>
                </a:solidFill>
              </a:rPr>
              <a:t> </a:t>
            </a:r>
            <a:r>
              <a:rPr lang="bg-BG" sz="2400" b="1" dirty="0">
                <a:solidFill>
                  <a:schemeClr val="bg2"/>
                </a:solidFill>
              </a:rPr>
              <a:t>начинът</a:t>
            </a:r>
            <a:r>
              <a:rPr lang="bg-BG" sz="2400" dirty="0">
                <a:solidFill>
                  <a:schemeClr val="bg2"/>
                </a:solidFill>
              </a:rPr>
              <a:t>, по който са </a:t>
            </a:r>
            <a:r>
              <a:rPr lang="bg-BG" sz="2400" b="1" dirty="0">
                <a:solidFill>
                  <a:schemeClr val="bg2"/>
                </a:solidFill>
              </a:rPr>
              <a:t>разпределени елементите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Лого</a:t>
            </a:r>
            <a:r>
              <a:rPr lang="en-US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600" dirty="0"/>
              <a:t>==</a:t>
            </a:r>
            <a:r>
              <a:rPr lang="bg-BG" sz="2600" b="1" dirty="0"/>
              <a:t> графичен знак </a:t>
            </a:r>
            <a:r>
              <a:rPr lang="bg-BG" sz="2600" dirty="0"/>
              <a:t>представящ марката</a:t>
            </a:r>
            <a:endParaRPr lang="en-US" sz="2600" dirty="0"/>
          </a:p>
          <a:p>
            <a:pPr marL="360363" indent="-360363" fontAlgn="base">
              <a:buClr>
                <a:schemeClr val="bg2"/>
              </a:buClr>
            </a:pP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Бранд идентичност </a:t>
            </a:r>
            <a:r>
              <a:rPr lang="en-US" sz="2600" dirty="0"/>
              <a:t>==</a:t>
            </a:r>
            <a:r>
              <a:rPr lang="bg-BG" sz="2600" dirty="0"/>
              <a:t> </a:t>
            </a:r>
            <a:r>
              <a:rPr lang="bg-BG" sz="2600" b="1" dirty="0"/>
              <a:t>цялостният визуален стил </a:t>
            </a:r>
            <a:r>
              <a:rPr lang="bg-BG" sz="2600" dirty="0"/>
              <a:t>на марката</a:t>
            </a:r>
            <a:endParaRPr lang="en-US" sz="2600" dirty="0"/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Обобщение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E369AAE7-BDDC-FE11-A61E-E20F7F6632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45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23049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Въпроси</a:t>
            </a:r>
            <a:r>
              <a:rPr lang="en-US" dirty="0"/>
              <a:t>?</a:t>
            </a:r>
          </a:p>
        </p:txBody>
      </p:sp>
      <p:sp>
        <p:nvSpPr>
          <p:cNvPr id="2" name="Rectangle Bottom Copyright">
            <a:extLst>
              <a:ext uri="{FF2B5EF4-FFF2-40B4-BE49-F238E27FC236}">
                <a16:creationId xmlns:a16="http://schemas.microsoft.com/office/drawing/2014/main" id="{664812A4-2991-44D1-BFE9-32E55AADF8A5}"/>
              </a:ext>
            </a:extLst>
          </p:cNvPr>
          <p:cNvSpPr/>
          <p:nvPr/>
        </p:nvSpPr>
        <p:spPr>
          <a:xfrm>
            <a:off x="111000" y="6454758"/>
            <a:ext cx="11970000" cy="3042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Проект "</a:t>
            </a:r>
            <a:r>
              <a:rPr lang="bg-BG" sz="1600" dirty="0">
                <a:solidFill>
                  <a:schemeClr val="bg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Отворено учебно съдържание по програмиране и ИТ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", СофтУни Фондация (лиценз </a:t>
            </a:r>
            <a:r>
              <a:rPr lang="en-US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CC-BY-NC-SA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bg-BG" sz="24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3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48C3C93-90A1-4D31-BEA6-B54D1106C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9865598" cy="247499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bg-BG" sz="3200" dirty="0"/>
              <a:t>Този курс</a:t>
            </a:r>
            <a:r>
              <a:rPr lang="en-US" sz="3200" dirty="0"/>
              <a:t> (</a:t>
            </a:r>
            <a:r>
              <a:rPr lang="bg-BG" sz="3200" dirty="0"/>
              <a:t>презентации, примери, демонстрационен код, упражнения, домашни, видео и други активи</a:t>
            </a:r>
            <a:r>
              <a:rPr lang="en-US" sz="3200" dirty="0"/>
              <a:t>) </a:t>
            </a:r>
            <a:r>
              <a:rPr lang="bg-BG" sz="3200" dirty="0"/>
              <a:t>представлява</a:t>
            </a:r>
            <a:r>
              <a:rPr lang="en-US" sz="3200" dirty="0"/>
              <a:t> </a:t>
            </a:r>
            <a:r>
              <a:rPr lang="bg-BG" sz="3200" b="1" dirty="0"/>
              <a:t>свободно учебно съдържание </a:t>
            </a:r>
            <a:r>
              <a:rPr lang="bg-BG" sz="3200" dirty="0"/>
              <a:t>и се разпространява под свободен лиценз </a:t>
            </a:r>
            <a:r>
              <a:rPr lang="en-US" sz="3200" b="1" dirty="0"/>
              <a:t>CC-BY-NC-SA</a:t>
            </a:r>
            <a:endParaRPr lang="bg-BG" sz="3200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82BA520F-A037-4E01-AA18-27D9F1E930A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26175" y="1440120"/>
            <a:ext cx="1198986" cy="1268880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Лиценз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8DF19-B750-4C88-975B-661A6BF61F5E}"/>
              </a:ext>
            </a:extLst>
          </p:cNvPr>
          <p:cNvSpPr txBox="1"/>
          <p:nvPr/>
        </p:nvSpPr>
        <p:spPr>
          <a:xfrm>
            <a:off x="190401" y="3927519"/>
            <a:ext cx="11710599" cy="197964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360363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bg-BG" sz="3200" dirty="0"/>
              <a:t>Проект "</a:t>
            </a:r>
            <a:r>
              <a:rPr lang="bg-BG" sz="3200" b="1" dirty="0"/>
              <a:t>Отворено учебно съдържание по програмиране и ИТ</a:t>
            </a:r>
            <a:r>
              <a:rPr lang="bg-BG" sz="3200" dirty="0"/>
              <a:t>" към Фондация "Софтуерен университет"</a:t>
            </a:r>
            <a:r>
              <a:rPr lang="en-US" sz="3200" dirty="0"/>
              <a:t>:</a:t>
            </a:r>
            <a:endParaRPr lang="bg-BG" sz="3200" dirty="0"/>
          </a:p>
          <a:p>
            <a:pPr marL="817563" lvl="1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/>
              </a:rPr>
              <a:t>https://github.com/BG-IT-Edu</a:t>
            </a:r>
            <a:endParaRPr kumimoji="0" lang="bg-BG" sz="3200" b="0" i="0" u="none" strike="noStrike" kern="1200" cap="none" spc="0" normalizeH="0" baseline="0" noProof="0" dirty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title="CC-BY-NC-SA License">
            <a:hlinkClick r:id="rId5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F6C77C47-F7D8-A176-5C69-7FDE5C7E8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31000" y="2908593"/>
            <a:ext cx="1989336" cy="696022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927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|0.4|0.3|0.5|0.3|0.3|0.4|0.4"/>
</p:tagLst>
</file>

<file path=ppt/theme/theme1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31057</TotalTime>
  <Words>1695</Words>
  <Application>Microsoft Macintosh PowerPoint</Application>
  <PresentationFormat>Widescreen</PresentationFormat>
  <Paragraphs>278</Paragraphs>
  <Slides>47</Slides>
  <Notes>27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Arial</vt:lpstr>
      <vt:lpstr>Calibri</vt:lpstr>
      <vt:lpstr>Consolas</vt:lpstr>
      <vt:lpstr>Wingdings</vt:lpstr>
      <vt:lpstr>SoftUni</vt:lpstr>
      <vt:lpstr>Графичен дизайн на уеб сайт</vt:lpstr>
      <vt:lpstr>Съдържание</vt:lpstr>
      <vt:lpstr>​Графичен модел (Mockup)</vt:lpstr>
      <vt:lpstr>​Графичен модел (Mockup)</vt:lpstr>
      <vt:lpstr>Етапи при създаване на графичен модел (1)</vt:lpstr>
      <vt:lpstr>Етапи при създаване на графичен модел (2)</vt:lpstr>
      <vt:lpstr>​​Прототип (Prototype)</vt:lpstr>
      <vt:lpstr>​​Прототип (Prototype)</vt:lpstr>
      <vt:lpstr>Mockup vs. Prototype</vt:lpstr>
      <vt:lpstr>​Елементи на графичния дизайн</vt:lpstr>
      <vt:lpstr>Елементи на графичния дизайн</vt:lpstr>
      <vt:lpstr>Цветова схема</vt:lpstr>
      <vt:lpstr>Колелото на цветовете</vt:lpstr>
      <vt:lpstr>Основни видове цветови схеми (1)</vt:lpstr>
      <vt:lpstr>Основни видове цветови схеми (2)</vt:lpstr>
      <vt:lpstr>Основни видове цветови схеми (3)</vt:lpstr>
      <vt:lpstr>Пример</vt:lpstr>
      <vt:lpstr>Създаване на цветова схема</vt:lpstr>
      <vt:lpstr>Резултат</vt:lpstr>
      <vt:lpstr>Шрифтове</vt:lpstr>
      <vt:lpstr>Видове шрифтове</vt:lpstr>
      <vt:lpstr>Подредба и секции</vt:lpstr>
      <vt:lpstr>Подредба vs. Секции</vt:lpstr>
      <vt:lpstr>Пример</vt:lpstr>
      <vt:lpstr>Комбиниране на шрифтове</vt:lpstr>
      <vt:lpstr>Резултат</vt:lpstr>
      <vt:lpstr>Лого и бранд идентичност</vt:lpstr>
      <vt:lpstr>Лого и бранд идентичност</vt:lpstr>
      <vt:lpstr>Лого (1)</vt:lpstr>
      <vt:lpstr>Лого (2)</vt:lpstr>
      <vt:lpstr>Бранд идентичност (1)</vt:lpstr>
      <vt:lpstr>Бранд идентичност (2)</vt:lpstr>
      <vt:lpstr>Бранд идентичност (3)</vt:lpstr>
      <vt:lpstr>Бранд идентичност (4)</vt:lpstr>
      <vt:lpstr>Пример</vt:lpstr>
      <vt:lpstr>Графичен модел на уеб страница</vt:lpstr>
      <vt:lpstr>Хедър (1)</vt:lpstr>
      <vt:lpstr>Хедър (2)</vt:lpstr>
      <vt:lpstr>Hero секция</vt:lpstr>
      <vt:lpstr>Основно съдържание (1)</vt:lpstr>
      <vt:lpstr>Основно съдържание (2)</vt:lpstr>
      <vt:lpstr>Футър</vt:lpstr>
      <vt:lpstr>Резултат</vt:lpstr>
      <vt:lpstr>Запазване на Mockup</vt:lpstr>
      <vt:lpstr>Обобщение</vt:lpstr>
      <vt:lpstr>Въпроси?</vt:lpstr>
      <vt:lpstr>Лиценз</vt:lpstr>
    </vt:vector>
  </TitlesOfParts>
  <Manager/>
  <Company>BG-IT-Edu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Графичен дизайн на уеб сайт</dc:title>
  <dc:subject>Модул 3: Информационни технологии</dc:subject>
  <dc:creator>BG-IT-Edu</dc:creator>
  <cp:keywords>programming; training; course</cp:keywords>
  <dc:description>Open Programming and IT Courseware for IT Teachers (BG-IT-Edu): https://github.com/BG-IT-Edu
With the kind support of SoftUni: https://softuni.bg</dc:description>
  <cp:lastModifiedBy>Mirela Damyanova</cp:lastModifiedBy>
  <cp:revision>387</cp:revision>
  <dcterms:created xsi:type="dcterms:W3CDTF">2018-05-23T13:08:44Z</dcterms:created>
  <dcterms:modified xsi:type="dcterms:W3CDTF">2026-09-04T11:12:08Z</dcterms:modified>
  <cp:category/>
</cp:coreProperties>
</file>