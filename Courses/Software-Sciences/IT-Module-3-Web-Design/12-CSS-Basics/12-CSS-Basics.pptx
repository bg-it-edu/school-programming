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5"/>
  </p:notesMasterIdLst>
  <p:handoutMasterIdLst>
    <p:handoutMasterId r:id="rId36"/>
  </p:handoutMasterIdLst>
  <p:sldIdLst>
    <p:sldId id="503" r:id="rId2"/>
    <p:sldId id="276" r:id="rId3"/>
    <p:sldId id="353" r:id="rId4"/>
    <p:sldId id="880" r:id="rId5"/>
    <p:sldId id="871" r:id="rId6"/>
    <p:sldId id="610" r:id="rId7"/>
    <p:sldId id="869" r:id="rId8"/>
    <p:sldId id="907" r:id="rId9"/>
    <p:sldId id="883" r:id="rId10"/>
    <p:sldId id="908" r:id="rId11"/>
    <p:sldId id="923" r:id="rId12"/>
    <p:sldId id="924" r:id="rId13"/>
    <p:sldId id="922" r:id="rId14"/>
    <p:sldId id="910" r:id="rId15"/>
    <p:sldId id="616" r:id="rId16"/>
    <p:sldId id="904" r:id="rId17"/>
    <p:sldId id="905" r:id="rId18"/>
    <p:sldId id="906" r:id="rId19"/>
    <p:sldId id="868" r:id="rId20"/>
    <p:sldId id="654" r:id="rId21"/>
    <p:sldId id="911" r:id="rId22"/>
    <p:sldId id="912" r:id="rId23"/>
    <p:sldId id="913" r:id="rId24"/>
    <p:sldId id="914" r:id="rId25"/>
    <p:sldId id="915" r:id="rId26"/>
    <p:sldId id="916" r:id="rId27"/>
    <p:sldId id="917" r:id="rId28"/>
    <p:sldId id="918" r:id="rId29"/>
    <p:sldId id="919" r:id="rId30"/>
    <p:sldId id="920" r:id="rId31"/>
    <p:sldId id="633" r:id="rId32"/>
    <p:sldId id="504" r:id="rId33"/>
    <p:sldId id="50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CSS" id="{66DCFE1F-60FD-44F2-BE82-706DDBC14898}">
          <p14:sldIdLst>
            <p14:sldId id="353"/>
            <p14:sldId id="880"/>
            <p14:sldId id="871"/>
          </p14:sldIdLst>
        </p14:section>
        <p14:section name="Основни компоненти на CSS" id="{EB44CA50-B176-0C4C-B0D0-5459023C7783}">
          <p14:sldIdLst>
            <p14:sldId id="610"/>
            <p14:sldId id="869"/>
            <p14:sldId id="907"/>
            <p14:sldId id="883"/>
            <p14:sldId id="908"/>
            <p14:sldId id="923"/>
            <p14:sldId id="924"/>
            <p14:sldId id="922"/>
            <p14:sldId id="910"/>
          </p14:sldIdLst>
        </p14:section>
        <p14:section name="Добри практики при работа със CSS" id="{2B3E1915-4BA2-9447-BC07-AE658EE7EC35}">
          <p14:sldIdLst>
            <p14:sldId id="616"/>
            <p14:sldId id="904"/>
            <p14:sldId id="905"/>
            <p14:sldId id="906"/>
            <p14:sldId id="868"/>
          </p14:sldIdLst>
        </p14:section>
        <p14:section name="Демо" id="{276EAB92-AF41-DD42-AFD3-D1ABB239E1A7}">
          <p14:sldIdLst>
            <p14:sldId id="654"/>
            <p14:sldId id="911"/>
            <p14:sldId id="912"/>
            <p14:sldId id="913"/>
            <p14:sldId id="914"/>
            <p14:sldId id="915"/>
            <p14:sldId id="916"/>
            <p14:sldId id="917"/>
            <p14:sldId id="918"/>
            <p14:sldId id="919"/>
            <p14:sldId id="920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EA9100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6" autoAdjust="0"/>
    <p:restoredTop sz="95579" autoAdjust="0"/>
  </p:normalViewPr>
  <p:slideViewPr>
    <p:cSldViewPr showGuides="1">
      <p:cViewPr varScale="1">
        <p:scale>
          <a:sx n="108" d="100"/>
          <a:sy n="108" d="100"/>
        </p:scale>
        <p:origin x="512" y="1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62955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Основни компоненти на </a:t>
            </a:r>
            <a:r>
              <a:rPr lang="en-US" sz="4400" dirty="0"/>
              <a:t>CSS</a:t>
            </a:r>
            <a:endParaRPr lang="bg-BG" sz="4400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600" dirty="0"/>
              <a:t>Основи на </a:t>
            </a:r>
            <a:r>
              <a:rPr lang="en-US" sz="6600" dirty="0"/>
              <a:t>CSS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BAA6EA9-85C7-F391-FBB0-1D18CAE0FC1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CSS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Въведение</a:t>
            </a:r>
            <a:r>
              <a:rPr lang="bg-BG" sz="3600" dirty="0"/>
              <a:t> и </a:t>
            </a:r>
            <a:r>
              <a:rPr lang="bg-BG" sz="3600" b="1" dirty="0"/>
              <a:t>роля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Основни</a:t>
            </a:r>
            <a:r>
              <a:rPr lang="bg-BG" sz="3800" dirty="0">
                <a:solidFill>
                  <a:schemeClr val="bg1"/>
                </a:solidFill>
              </a:rPr>
              <a:t> </a:t>
            </a:r>
            <a:r>
              <a:rPr lang="bg-BG" sz="3800" b="1" dirty="0">
                <a:solidFill>
                  <a:schemeClr val="bg1"/>
                </a:solidFill>
              </a:rPr>
              <a:t>компоненти</a:t>
            </a:r>
            <a:r>
              <a:rPr lang="bg-BG" sz="3800" dirty="0">
                <a:solidFill>
                  <a:schemeClr val="bg1"/>
                </a:solidFill>
              </a:rPr>
              <a:t> </a:t>
            </a:r>
            <a:r>
              <a:rPr lang="bg-BG" sz="3800" dirty="0"/>
              <a:t>на</a:t>
            </a:r>
            <a:r>
              <a:rPr lang="en-US" sz="3800" dirty="0"/>
              <a:t> </a:t>
            </a:r>
            <a:r>
              <a:rPr lang="en-US" sz="3800" b="1" dirty="0">
                <a:solidFill>
                  <a:schemeClr val="bg1"/>
                </a:solidFill>
              </a:rPr>
              <a:t>CSS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Селектори</a:t>
            </a:r>
            <a:r>
              <a:rPr lang="bg-BG" sz="3600" dirty="0"/>
              <a:t>, </a:t>
            </a:r>
            <a:r>
              <a:rPr lang="bg-BG" sz="3600" b="1" dirty="0"/>
              <a:t>свойства</a:t>
            </a:r>
            <a:r>
              <a:rPr lang="bg-BG" sz="3600" dirty="0"/>
              <a:t>, </a:t>
            </a:r>
            <a:r>
              <a:rPr lang="bg-BG" sz="3600" b="1" dirty="0"/>
              <a:t>коментари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Добри практики </a:t>
            </a:r>
            <a:r>
              <a:rPr lang="bg-BG" sz="3800" dirty="0"/>
              <a:t>при </a:t>
            </a:r>
            <a:r>
              <a:rPr lang="bg-BG" sz="3800" b="1" dirty="0"/>
              <a:t>работа</a:t>
            </a:r>
            <a:r>
              <a:rPr lang="bg-BG" sz="3800" dirty="0"/>
              <a:t> със </a:t>
            </a:r>
            <a:r>
              <a:rPr lang="en-US" sz="3800" b="1" dirty="0">
                <a:solidFill>
                  <a:schemeClr val="bg1"/>
                </a:solidFill>
              </a:rPr>
              <a:t>CSS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Начини</a:t>
            </a:r>
            <a:r>
              <a:rPr lang="bg-BG" sz="3600" dirty="0"/>
              <a:t> за </a:t>
            </a:r>
            <a:r>
              <a:rPr lang="bg-BG" sz="3600" b="1" dirty="0"/>
              <a:t>добавяне</a:t>
            </a:r>
            <a:r>
              <a:rPr lang="bg-BG" sz="3600" dirty="0"/>
              <a:t> на </a:t>
            </a:r>
            <a:r>
              <a:rPr lang="en-US" sz="3600" b="1" dirty="0"/>
              <a:t>CSS</a:t>
            </a:r>
            <a:endParaRPr lang="bg-BG" sz="3600" b="1" dirty="0"/>
          </a:p>
          <a:p>
            <a:pPr>
              <a:buClr>
                <a:schemeClr val="tx1"/>
              </a:buClr>
            </a:pPr>
            <a:r>
              <a:rPr lang="en-US" sz="3800" dirty="0"/>
              <a:t>​</a:t>
            </a: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Стилизиране на уеб страница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Въведение и роля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6000" dirty="0"/>
              <a:t>CSS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914F2-E8F7-ADBE-D0B2-15093AE28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000" y="1494000"/>
            <a:ext cx="243000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CSS</a:t>
            </a:r>
            <a:r>
              <a:rPr lang="en-GB" sz="3200" b="1" dirty="0"/>
              <a:t> (</a:t>
            </a:r>
            <a:r>
              <a:rPr lang="en-GB" sz="3200" b="1" dirty="0">
                <a:solidFill>
                  <a:schemeClr val="bg1"/>
                </a:solidFill>
              </a:rPr>
              <a:t>C</a:t>
            </a:r>
            <a:r>
              <a:rPr lang="en-GB" sz="3200" b="1" dirty="0"/>
              <a:t>ascading </a:t>
            </a:r>
            <a:r>
              <a:rPr lang="en-GB" sz="3200" b="1" dirty="0">
                <a:solidFill>
                  <a:schemeClr val="bg1"/>
                </a:solidFill>
              </a:rPr>
              <a:t>S</a:t>
            </a:r>
            <a:r>
              <a:rPr lang="en-GB" sz="3200" b="1" dirty="0"/>
              <a:t>tyle </a:t>
            </a:r>
            <a:r>
              <a:rPr lang="en-GB" sz="3200" b="1" dirty="0">
                <a:solidFill>
                  <a:schemeClr val="bg1"/>
                </a:solidFill>
              </a:rPr>
              <a:t>S</a:t>
            </a:r>
            <a:r>
              <a:rPr lang="en-GB" sz="3200" b="1" dirty="0"/>
              <a:t>heets) </a:t>
            </a:r>
            <a:r>
              <a:rPr lang="bg-BG" sz="3200" dirty="0"/>
              <a:t>е </a:t>
            </a:r>
            <a:r>
              <a:rPr lang="bg-BG" sz="3200" b="1" dirty="0">
                <a:solidFill>
                  <a:schemeClr val="bg1"/>
                </a:solidFill>
              </a:rPr>
              <a:t>език </a:t>
            </a:r>
            <a:r>
              <a:rPr lang="bg-BG" sz="3200" dirty="0"/>
              <a:t>за </a:t>
            </a:r>
            <a:r>
              <a:rPr lang="bg-BG" sz="3200" b="1" dirty="0"/>
              <a:t>стилове</a:t>
            </a:r>
            <a:r>
              <a:rPr lang="bg-BG" sz="3200" dirty="0"/>
              <a:t> </a:t>
            </a:r>
          </a:p>
          <a:p>
            <a:r>
              <a:rPr lang="bg-BG" sz="3200" dirty="0"/>
              <a:t>Използва се за </a:t>
            </a:r>
            <a:r>
              <a:rPr lang="bg-BG" sz="3200" b="1" dirty="0">
                <a:solidFill>
                  <a:schemeClr val="bg1"/>
                </a:solidFill>
              </a:rPr>
              <a:t>оформление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дизайн</a:t>
            </a:r>
            <a:r>
              <a:rPr lang="bg-BG" sz="3200" dirty="0"/>
              <a:t> на </a:t>
            </a:r>
            <a:r>
              <a:rPr lang="bg-BG" sz="3200" b="1" dirty="0"/>
              <a:t>уеб страници</a:t>
            </a:r>
          </a:p>
          <a:p>
            <a:r>
              <a:rPr lang="bg-BG" sz="3200" dirty="0"/>
              <a:t>Определя </a:t>
            </a:r>
            <a:r>
              <a:rPr lang="bg-BG" sz="3200" b="1" dirty="0"/>
              <a:t>цветове</a:t>
            </a:r>
            <a:r>
              <a:rPr lang="bg-BG" sz="3200" dirty="0"/>
              <a:t>, </a:t>
            </a:r>
            <a:r>
              <a:rPr lang="bg-BG" sz="3200" b="1" dirty="0"/>
              <a:t>шрифтове</a:t>
            </a:r>
            <a:r>
              <a:rPr lang="bg-BG" sz="3200" dirty="0"/>
              <a:t>, </a:t>
            </a:r>
            <a:r>
              <a:rPr lang="bg-BG" sz="3200" b="1" dirty="0"/>
              <a:t>разположение</a:t>
            </a:r>
            <a:r>
              <a:rPr lang="bg-BG" sz="3200" dirty="0"/>
              <a:t> и </a:t>
            </a:r>
            <a:r>
              <a:rPr lang="bg-BG" sz="3200" b="1" dirty="0"/>
              <a:t>външен вид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DA4C8-C207-CA97-B18F-3CA9799BEF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26000" y="3345316"/>
            <a:ext cx="3648405" cy="341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4D2E3B-82C0-9F61-91B3-1B35300C9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CC14D-B6E2-9F46-2064-E507E12B0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Оформя </a:t>
            </a:r>
            <a:r>
              <a:rPr lang="bg-BG" sz="3000" b="1" dirty="0">
                <a:solidFill>
                  <a:schemeClr val="bg1"/>
                </a:solidFill>
              </a:rPr>
              <a:t>визуално</a:t>
            </a:r>
            <a:r>
              <a:rPr lang="bg-BG" sz="3000" b="1" dirty="0"/>
              <a:t> </a:t>
            </a:r>
            <a:r>
              <a:rPr lang="en-US" sz="3000" b="1" dirty="0"/>
              <a:t>HTML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b="1" dirty="0"/>
              <a:t>съдържанието</a:t>
            </a:r>
          </a:p>
          <a:p>
            <a:r>
              <a:rPr lang="bg-BG" sz="3000" b="1" dirty="0"/>
              <a:t>Разделя </a:t>
            </a:r>
            <a:r>
              <a:rPr lang="bg-BG" sz="3000" b="1" dirty="0">
                <a:solidFill>
                  <a:schemeClr val="bg1"/>
                </a:solidFill>
              </a:rPr>
              <a:t>съдържание</a:t>
            </a:r>
            <a:r>
              <a:rPr lang="bg-BG" sz="3000" dirty="0"/>
              <a:t> от </a:t>
            </a:r>
            <a:r>
              <a:rPr lang="bg-BG" sz="3000" b="1" dirty="0">
                <a:solidFill>
                  <a:schemeClr val="bg1"/>
                </a:solidFill>
              </a:rPr>
              <a:t>дизайн</a:t>
            </a:r>
          </a:p>
          <a:p>
            <a:r>
              <a:rPr lang="bg-BG" sz="3000" b="1" dirty="0"/>
              <a:t>Позволява </a:t>
            </a:r>
            <a:r>
              <a:rPr lang="bg-BG" sz="3000" dirty="0"/>
              <a:t>създаване на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красиви</a:t>
            </a:r>
            <a:r>
              <a:rPr lang="bg-BG" sz="3000" b="1" dirty="0"/>
              <a:t>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подредени</a:t>
            </a:r>
            <a:r>
              <a:rPr lang="bg-BG" sz="3000" b="1" dirty="0"/>
              <a:t> уеб страници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Работи</a:t>
            </a:r>
            <a:r>
              <a:rPr lang="bg-BG" sz="3000" dirty="0">
                <a:solidFill>
                  <a:schemeClr val="bg1"/>
                </a:solidFill>
              </a:rPr>
              <a:t> </a:t>
            </a:r>
            <a:r>
              <a:rPr lang="bg-BG" sz="3000" b="1" dirty="0">
                <a:solidFill>
                  <a:schemeClr val="bg1"/>
                </a:solidFill>
              </a:rPr>
              <a:t>съвместно </a:t>
            </a:r>
            <a:r>
              <a:rPr lang="bg-BG" sz="3000" dirty="0"/>
              <a:t>с</a:t>
            </a:r>
            <a:r>
              <a:rPr lang="bg-BG" sz="3000" b="1" dirty="0"/>
              <a:t> </a:t>
            </a:r>
            <a:r>
              <a:rPr lang="en-US" sz="3000" b="1" dirty="0"/>
              <a:t>HTML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en-US" sz="3000" b="1" dirty="0"/>
              <a:t>JavaScript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F48D2-3FC6-5313-D86E-F47B1ED4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Роля на </a:t>
            </a:r>
            <a:r>
              <a:rPr lang="en-US" dirty="0"/>
              <a:t>CSS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12696-9935-39F9-8127-F37A55DE6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7334" y="3592952"/>
            <a:ext cx="3837332" cy="31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1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Селектори, свойства, коментари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Основни компоненти на</a:t>
            </a:r>
            <a:r>
              <a:rPr lang="en-US" sz="4400" dirty="0"/>
              <a:t> CSS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612BF-2EA6-4D52-518C-2C820273D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t="5381" r="7349" b="6036"/>
          <a:stretch/>
        </p:blipFill>
        <p:spPr>
          <a:xfrm>
            <a:off x="4666000" y="1085916"/>
            <a:ext cx="2860000" cy="29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Използват се</a:t>
            </a:r>
            <a:r>
              <a:rPr lang="en-US" sz="3600" dirty="0"/>
              <a:t> </a:t>
            </a:r>
            <a:r>
              <a:rPr lang="bg-BG" sz="3600" dirty="0"/>
              <a:t>за </a:t>
            </a:r>
            <a:r>
              <a:rPr lang="bg-BG" sz="3600" b="1" dirty="0"/>
              <a:t>избиране</a:t>
            </a:r>
            <a:r>
              <a:rPr lang="bg-BG" sz="3600" dirty="0"/>
              <a:t> на </a:t>
            </a:r>
            <a:r>
              <a:rPr lang="en-US" sz="3600" b="1" dirty="0">
                <a:solidFill>
                  <a:schemeClr val="bg1"/>
                </a:solidFill>
              </a:rPr>
              <a:t>HTML </a:t>
            </a:r>
            <a:r>
              <a:rPr lang="bg-BG" sz="3600" b="1" dirty="0">
                <a:solidFill>
                  <a:schemeClr val="bg1"/>
                </a:solidFill>
              </a:rPr>
              <a:t>елементи</a:t>
            </a:r>
          </a:p>
          <a:p>
            <a:r>
              <a:rPr lang="bg-BG" sz="3600" dirty="0"/>
              <a:t>Указват </a:t>
            </a:r>
            <a:r>
              <a:rPr lang="bg-BG" sz="3600" b="1" dirty="0">
                <a:solidFill>
                  <a:schemeClr val="bg1"/>
                </a:solidFill>
              </a:rPr>
              <a:t>на кои елементи </a:t>
            </a:r>
            <a:r>
              <a:rPr lang="bg-BG" sz="3600" dirty="0"/>
              <a:t>ще се приложи </a:t>
            </a:r>
            <a:r>
              <a:rPr lang="bg-BG" sz="3600" b="1" dirty="0"/>
              <a:t>стилът</a:t>
            </a:r>
          </a:p>
          <a:p>
            <a:r>
              <a:rPr lang="bg-BG" sz="3600" dirty="0"/>
              <a:t>Един </a:t>
            </a:r>
            <a:r>
              <a:rPr lang="en-US" sz="3600" b="1" dirty="0"/>
              <a:t>CSS </a:t>
            </a:r>
            <a:r>
              <a:rPr lang="bg-BG" sz="3600" b="1" dirty="0"/>
              <a:t>файл </a:t>
            </a:r>
            <a:r>
              <a:rPr lang="bg-BG" sz="3600" dirty="0"/>
              <a:t>може да съдържа </a:t>
            </a:r>
            <a:r>
              <a:rPr lang="bg-BG" sz="3600" b="1" dirty="0">
                <a:solidFill>
                  <a:schemeClr val="bg1"/>
                </a:solidFill>
              </a:rPr>
              <a:t>много селектори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Селектори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652E6-A909-A359-C8BE-8845FD965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384" y="3463618"/>
            <a:ext cx="4491232" cy="31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По елемент</a:t>
            </a:r>
          </a:p>
          <a:p>
            <a:pPr lvl="1"/>
            <a:r>
              <a:rPr lang="bg-BG" sz="3000" dirty="0"/>
              <a:t>Избира </a:t>
            </a:r>
            <a:r>
              <a:rPr lang="bg-BG" sz="3000" b="1" dirty="0"/>
              <a:t>всички елементи </a:t>
            </a:r>
            <a:r>
              <a:rPr lang="bg-BG" sz="3000" dirty="0"/>
              <a:t>от </a:t>
            </a:r>
            <a:r>
              <a:rPr lang="bg-BG" sz="3000" b="1" dirty="0"/>
              <a:t>даден</a:t>
            </a:r>
            <a:r>
              <a:rPr lang="bg-BG" sz="3000" dirty="0"/>
              <a:t> </a:t>
            </a:r>
            <a:r>
              <a:rPr lang="bg-BG" sz="3000" b="1" dirty="0"/>
              <a:t>тип</a:t>
            </a:r>
          </a:p>
          <a:p>
            <a:pPr lvl="1"/>
            <a:endParaRPr lang="bg-BG" sz="2000" dirty="0"/>
          </a:p>
          <a:p>
            <a:r>
              <a:rPr lang="bg-BG" sz="3200" b="1" dirty="0">
                <a:solidFill>
                  <a:schemeClr val="bg1"/>
                </a:solidFill>
              </a:rPr>
              <a:t>По клас</a:t>
            </a:r>
          </a:p>
          <a:p>
            <a:pPr lvl="1"/>
            <a:r>
              <a:rPr lang="bg-BG" sz="3000" dirty="0"/>
              <a:t>Избира </a:t>
            </a:r>
            <a:r>
              <a:rPr lang="bg-BG" sz="3000" b="1" dirty="0"/>
              <a:t>елементи</a:t>
            </a:r>
            <a:r>
              <a:rPr lang="bg-BG" sz="3000" dirty="0"/>
              <a:t> с </a:t>
            </a:r>
            <a:r>
              <a:rPr lang="bg-BG" sz="3000" b="1" dirty="0"/>
              <a:t>даден клас</a:t>
            </a:r>
          </a:p>
          <a:p>
            <a:pPr lvl="1"/>
            <a:endParaRPr lang="bg-BG" sz="2000" dirty="0"/>
          </a:p>
          <a:p>
            <a:r>
              <a:rPr lang="bg-BG" sz="3200" b="1" dirty="0">
                <a:solidFill>
                  <a:schemeClr val="bg1"/>
                </a:solidFill>
              </a:rPr>
              <a:t>По id</a:t>
            </a:r>
          </a:p>
          <a:p>
            <a:pPr lvl="1"/>
            <a:r>
              <a:rPr lang="bg-BG" sz="3000" dirty="0"/>
              <a:t>Избира </a:t>
            </a:r>
            <a:r>
              <a:rPr lang="bg-BG" sz="3000" b="1" dirty="0"/>
              <a:t>един уникален елемент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селектори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D60F9E-2591-65C3-44B2-883FC707A606}"/>
              </a:ext>
            </a:extLst>
          </p:cNvPr>
          <p:cNvSpPr txBox="1">
            <a:spLocks/>
          </p:cNvSpPr>
          <p:nvPr/>
        </p:nvSpPr>
        <p:spPr>
          <a:xfrm>
            <a:off x="693810" y="5987209"/>
            <a:ext cx="50400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#title 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{ color: red; }</a:t>
            </a:r>
            <a:endParaRPr lang="en-US" sz="26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292641B-96F2-513F-B75B-F277724AA460}"/>
              </a:ext>
            </a:extLst>
          </p:cNvPr>
          <p:cNvSpPr txBox="1">
            <a:spLocks/>
          </p:cNvSpPr>
          <p:nvPr/>
        </p:nvSpPr>
        <p:spPr>
          <a:xfrm>
            <a:off x="683337" y="4194000"/>
            <a:ext cx="50400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.text 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{ color: green; }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B749D44-958F-D256-5EAC-3E4CF5097C83}"/>
              </a:ext>
            </a:extLst>
          </p:cNvPr>
          <p:cNvSpPr txBox="1">
            <a:spLocks/>
          </p:cNvSpPr>
          <p:nvPr/>
        </p:nvSpPr>
        <p:spPr>
          <a:xfrm>
            <a:off x="691792" y="2400791"/>
            <a:ext cx="50400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{ color: blue; }</a:t>
            </a:r>
            <a:endParaRPr lang="en-US" sz="26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1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050E9-8316-4238-E1DD-70F855312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B9FF28-AB2E-2517-E828-316BB0E51E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/>
              <a:t>Определят </a:t>
            </a:r>
            <a:r>
              <a:rPr lang="bg-BG" sz="2800" b="1" dirty="0">
                <a:solidFill>
                  <a:schemeClr val="bg1"/>
                </a:solidFill>
              </a:rPr>
              <a:t>как ще изглежда </a:t>
            </a:r>
            <a:r>
              <a:rPr lang="bg-BG" sz="2800" b="1" dirty="0"/>
              <a:t>елементът</a:t>
            </a:r>
          </a:p>
          <a:p>
            <a:r>
              <a:rPr lang="bg-BG" sz="2800" dirty="0"/>
              <a:t>Описват </a:t>
            </a:r>
            <a:r>
              <a:rPr lang="bg-BG" sz="2800" b="1" dirty="0">
                <a:solidFill>
                  <a:schemeClr val="bg1"/>
                </a:solidFill>
              </a:rPr>
              <a:t>визуалните характеристики </a:t>
            </a:r>
            <a:r>
              <a:rPr lang="en-US" sz="2800" dirty="0"/>
              <a:t>(</a:t>
            </a:r>
            <a:r>
              <a:rPr lang="bg-BG" sz="2800" b="1" dirty="0"/>
              <a:t>цвят</a:t>
            </a:r>
            <a:r>
              <a:rPr lang="bg-BG" sz="2800" dirty="0"/>
              <a:t>, </a:t>
            </a:r>
            <a:r>
              <a:rPr lang="bg-BG" sz="2800" b="1" dirty="0"/>
              <a:t>размер</a:t>
            </a:r>
            <a:r>
              <a:rPr lang="bg-BG" sz="2800" dirty="0"/>
              <a:t>, </a:t>
            </a:r>
            <a:r>
              <a:rPr lang="bg-BG" sz="2800" b="1" dirty="0"/>
              <a:t>отстояние</a:t>
            </a:r>
            <a:r>
              <a:rPr lang="bg-BG" sz="2800" dirty="0"/>
              <a:t> и др.</a:t>
            </a:r>
            <a:r>
              <a:rPr lang="en-US" sz="2800" dirty="0"/>
              <a:t>)</a:t>
            </a:r>
            <a:endParaRPr lang="bg-BG" sz="2800" dirty="0"/>
          </a:p>
          <a:p>
            <a:r>
              <a:rPr lang="bg-BG" sz="2800" dirty="0"/>
              <a:t>Всяко </a:t>
            </a:r>
            <a:r>
              <a:rPr lang="bg-BG" sz="2800" b="1" dirty="0">
                <a:solidFill>
                  <a:schemeClr val="bg1"/>
                </a:solidFill>
              </a:rPr>
              <a:t>свойство</a:t>
            </a:r>
            <a:r>
              <a:rPr lang="bg-BG" sz="2800" dirty="0"/>
              <a:t> има </a:t>
            </a:r>
            <a:r>
              <a:rPr lang="bg-BG" sz="2800" b="1" dirty="0">
                <a:solidFill>
                  <a:schemeClr val="bg1"/>
                </a:solidFill>
              </a:rPr>
              <a:t>стойност</a:t>
            </a:r>
          </a:p>
          <a:p>
            <a:r>
              <a:rPr lang="bg-BG" sz="2800" dirty="0"/>
              <a:t>Един</a:t>
            </a:r>
            <a:r>
              <a:rPr lang="bg-BG" sz="2800" b="1" dirty="0"/>
              <a:t> елемент </a:t>
            </a:r>
            <a:r>
              <a:rPr lang="bg-BG" sz="2800" dirty="0"/>
              <a:t>може да има </a:t>
            </a:r>
            <a:r>
              <a:rPr lang="bg-BG" sz="2800" b="1" dirty="0">
                <a:solidFill>
                  <a:schemeClr val="bg1"/>
                </a:solidFill>
              </a:rPr>
              <a:t>много свойства</a:t>
            </a:r>
          </a:p>
          <a:p>
            <a:endParaRPr lang="en-BG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BEB0C2-4FD0-9B52-1A99-816F87B1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Свойства</a:t>
            </a:r>
            <a:r>
              <a:rPr lang="en-US" dirty="0"/>
              <a:t> (1)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1E6FC-4410-E72A-4981-AB80FFEA3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164"/>
          <a:stretch/>
        </p:blipFill>
        <p:spPr>
          <a:xfrm>
            <a:off x="4036716" y="3465162"/>
            <a:ext cx="3870000" cy="31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0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050E9-8316-4238-E1DD-70F855312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BEB0C2-4FD0-9B52-1A99-816F87B1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Свойства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5D2904C-A16D-E1B7-5677-0E1F18489F55}"/>
              </a:ext>
            </a:extLst>
          </p:cNvPr>
          <p:cNvSpPr txBox="1">
            <a:spLocks/>
          </p:cNvSpPr>
          <p:nvPr/>
        </p:nvSpPr>
        <p:spPr>
          <a:xfrm>
            <a:off x="3651805" y="2532992"/>
            <a:ext cx="6404195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color: 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red;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background-color: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 yellow;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font-size: 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20px;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margin: 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10px;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padding: 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5px;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4BD0C7A-53C3-C2F4-9684-4E13F4F35AA7}"/>
              </a:ext>
            </a:extLst>
          </p:cNvPr>
          <p:cNvSpPr/>
          <p:nvPr/>
        </p:nvSpPr>
        <p:spPr bwMode="auto">
          <a:xfrm>
            <a:off x="876000" y="1785209"/>
            <a:ext cx="2357013" cy="509907"/>
          </a:xfrm>
          <a:prstGeom prst="wedgeRoundRectCallout">
            <a:avLst>
              <a:gd name="adj1" fmla="val 68361"/>
              <a:gd name="adj2" fmla="val 1425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Цвят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текст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67FCD839-4539-EEDA-98BD-B48DC19BD342}"/>
              </a:ext>
            </a:extLst>
          </p:cNvPr>
          <p:cNvSpPr/>
          <p:nvPr/>
        </p:nvSpPr>
        <p:spPr bwMode="auto">
          <a:xfrm>
            <a:off x="7581000" y="2023085"/>
            <a:ext cx="2357013" cy="509907"/>
          </a:xfrm>
          <a:prstGeom prst="wedgeRoundRectCallout">
            <a:avLst>
              <a:gd name="adj1" fmla="val -68689"/>
              <a:gd name="adj2" fmla="val 15515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Цвят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фон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E3E5F277-6362-A958-745D-06EF0BCA9D31}"/>
              </a:ext>
            </a:extLst>
          </p:cNvPr>
          <p:cNvSpPr/>
          <p:nvPr/>
        </p:nvSpPr>
        <p:spPr bwMode="auto">
          <a:xfrm>
            <a:off x="786000" y="3987623"/>
            <a:ext cx="2738209" cy="521376"/>
          </a:xfrm>
          <a:prstGeom prst="wedgeRoundRectCallout">
            <a:avLst>
              <a:gd name="adj1" fmla="val 55496"/>
              <a:gd name="adj2" fmla="val -10400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Размер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текст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D0874E78-EC2E-69A4-AA61-86180111D204}"/>
              </a:ext>
            </a:extLst>
          </p:cNvPr>
          <p:cNvSpPr/>
          <p:nvPr/>
        </p:nvSpPr>
        <p:spPr bwMode="auto">
          <a:xfrm>
            <a:off x="6934251" y="3987622"/>
            <a:ext cx="3249345" cy="521377"/>
          </a:xfrm>
          <a:prstGeom prst="wedgeRoundRectCallout">
            <a:avLst>
              <a:gd name="adj1" fmla="val -69249"/>
              <a:gd name="adj2" fmla="val -273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Външно отстояние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ABF7268-B1A6-F4E3-8DB6-76D6CE5F460E}"/>
              </a:ext>
            </a:extLst>
          </p:cNvPr>
          <p:cNvSpPr/>
          <p:nvPr/>
        </p:nvSpPr>
        <p:spPr bwMode="auto">
          <a:xfrm>
            <a:off x="3226512" y="5581566"/>
            <a:ext cx="3499487" cy="539680"/>
          </a:xfrm>
          <a:prstGeom prst="wedgeRoundRectCallout">
            <a:avLst>
              <a:gd name="adj1" fmla="val -16604"/>
              <a:gd name="adj2" fmla="val -2041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Вътрешно отстояние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117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4" grpId="0" animBg="1"/>
      <p:bldP spid="5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DB93FB-5CAC-1A8E-48D5-476938B6D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64" y="2505984"/>
            <a:ext cx="4658986" cy="3229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5EFA6-8A72-147E-A368-DA24E81E5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6BAB6-5757-671D-12AB-0C4228B13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Създават </a:t>
            </a:r>
            <a:r>
              <a:rPr lang="bg-BG" sz="3200" b="1" dirty="0">
                <a:solidFill>
                  <a:schemeClr val="bg1"/>
                </a:solidFill>
              </a:rPr>
              <a:t>пространство</a:t>
            </a:r>
            <a:r>
              <a:rPr lang="bg-BG" sz="3200" dirty="0"/>
              <a:t> между </a:t>
            </a:r>
            <a:r>
              <a:rPr lang="bg-BG" sz="3200" b="1" dirty="0"/>
              <a:t>елементите</a:t>
            </a:r>
            <a:r>
              <a:rPr lang="bg-BG" sz="3200" dirty="0"/>
              <a:t> и </a:t>
            </a:r>
            <a:r>
              <a:rPr lang="bg-BG" sz="3200" b="1" dirty="0"/>
              <a:t>съдържанието</a:t>
            </a:r>
            <a:endParaRPr lang="en-BG" sz="32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C1A03B-0D34-CF26-C95C-C09253ECA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400" y="2505600"/>
            <a:ext cx="4658986" cy="3229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30C25DE-B5C3-E508-A25E-C009FF92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Разстояния в </a:t>
            </a:r>
            <a:r>
              <a:rPr lang="en-GB" dirty="0"/>
              <a:t>CSS</a:t>
            </a:r>
            <a:endParaRPr lang="en-B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039599-696B-BCEE-E870-D7293D5F0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400" y="2505600"/>
            <a:ext cx="4658986" cy="3229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9066E0-B7F2-2DCE-DC60-1227141187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400" y="2505600"/>
            <a:ext cx="4658986" cy="3229000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D29CC503-7F62-3385-767C-880699F3330B}"/>
              </a:ext>
            </a:extLst>
          </p:cNvPr>
          <p:cNvSpPr/>
          <p:nvPr/>
        </p:nvSpPr>
        <p:spPr bwMode="auto">
          <a:xfrm>
            <a:off x="1416000" y="4342173"/>
            <a:ext cx="2272904" cy="585561"/>
          </a:xfrm>
          <a:prstGeom prst="wedgeRoundRectCallout">
            <a:avLst>
              <a:gd name="adj1" fmla="val 116080"/>
              <a:gd name="adj2" fmla="val -603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Съдържание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047CB9D-623B-A27D-E4C0-6215A4703D26}"/>
              </a:ext>
            </a:extLst>
          </p:cNvPr>
          <p:cNvSpPr/>
          <p:nvPr/>
        </p:nvSpPr>
        <p:spPr bwMode="auto">
          <a:xfrm>
            <a:off x="8873526" y="3627449"/>
            <a:ext cx="2982474" cy="971551"/>
          </a:xfrm>
          <a:prstGeom prst="wedgeRoundRectCallout">
            <a:avLst>
              <a:gd name="adj1" fmla="val -101285"/>
              <a:gd name="adj2" fmla="val -247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Отстояние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около съдържанието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3D1E0EB5-1C06-CFF3-9FCE-0750B03236E7}"/>
              </a:ext>
            </a:extLst>
          </p:cNvPr>
          <p:cNvSpPr/>
          <p:nvPr/>
        </p:nvSpPr>
        <p:spPr bwMode="auto">
          <a:xfrm>
            <a:off x="336000" y="2844000"/>
            <a:ext cx="3055109" cy="900000"/>
          </a:xfrm>
          <a:prstGeom prst="wedgeRoundRectCallout">
            <a:avLst>
              <a:gd name="adj1" fmla="val 66828"/>
              <a:gd name="adj2" fmla="val -246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Отстояние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извън елемента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558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A37B9-6F58-431E-9EE8-2B653F3D2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44B79-FEF0-84A4-9277-A0BBFA5C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Разстояния в </a:t>
            </a:r>
            <a:r>
              <a:rPr lang="en-GB" dirty="0"/>
              <a:t>CSS</a:t>
            </a:r>
            <a:r>
              <a:rPr lang="bg-BG" dirty="0"/>
              <a:t> </a:t>
            </a:r>
            <a:r>
              <a:rPr lang="bg-BG" sz="4000" dirty="0"/>
              <a:t>– Визуален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DD55C-330F-05E0-79BD-1E0AB2D0C7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3" t="7336" r="9472" b="22319"/>
          <a:stretch/>
        </p:blipFill>
        <p:spPr>
          <a:xfrm>
            <a:off x="1392736" y="1269000"/>
            <a:ext cx="9406527" cy="54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4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06417F-9E63-C6E9-9873-E0B3356CA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046775-4557-F9D8-685B-549378B25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/* */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bg-BG" dirty="0"/>
              <a:t>Използват се за добавяне на </a:t>
            </a:r>
            <a:r>
              <a:rPr lang="bg-BG" b="1" dirty="0">
                <a:solidFill>
                  <a:schemeClr val="bg1"/>
                </a:solidFill>
              </a:rPr>
              <a:t>бележки</a:t>
            </a:r>
            <a:r>
              <a:rPr lang="bg-BG" dirty="0"/>
              <a:t> в </a:t>
            </a:r>
            <a:r>
              <a:rPr lang="bg-BG" b="1" dirty="0"/>
              <a:t>кода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Не се изпълняват </a:t>
            </a:r>
            <a:r>
              <a:rPr lang="bg-BG" dirty="0"/>
              <a:t>от </a:t>
            </a:r>
            <a:r>
              <a:rPr lang="bg-BG" b="1" dirty="0"/>
              <a:t>браузъра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BE60D0-BB53-4244-D24B-B85813E0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Коментари</a:t>
            </a:r>
            <a:endParaRPr lang="en-BG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E567C7-1600-FA36-B6F6-0433799AF894}"/>
              </a:ext>
            </a:extLst>
          </p:cNvPr>
          <p:cNvSpPr txBox="1">
            <a:spLocks/>
          </p:cNvSpPr>
          <p:nvPr/>
        </p:nvSpPr>
        <p:spPr>
          <a:xfrm>
            <a:off x="2893902" y="3947317"/>
            <a:ext cx="6404195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noProof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Това е коментар */</a:t>
            </a:r>
          </a:p>
        </p:txBody>
      </p:sp>
    </p:spTree>
    <p:extLst>
      <p:ext uri="{BB962C8B-B14F-4D97-AF65-F5344CB8AC3E}">
        <p14:creationId xmlns:p14="http://schemas.microsoft.com/office/powerpoint/2010/main" val="45137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5D0B33-D528-4E95-DC37-24869C83B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6369-8452-564D-05B6-EB7A5D348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1210" y="1108911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Селекторът</a:t>
            </a:r>
            <a:r>
              <a:rPr lang="bg-BG" dirty="0"/>
              <a:t> </a:t>
            </a:r>
            <a:r>
              <a:rPr lang="bg-BG" b="1" dirty="0"/>
              <a:t>избира</a:t>
            </a:r>
            <a:r>
              <a:rPr lang="bg-BG" dirty="0"/>
              <a:t> </a:t>
            </a:r>
            <a:r>
              <a:rPr lang="bg-BG" b="1" dirty="0"/>
              <a:t>елемента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Свойството</a:t>
            </a:r>
            <a:r>
              <a:rPr lang="bg-BG" dirty="0"/>
              <a:t> казва </a:t>
            </a:r>
            <a:r>
              <a:rPr lang="bg-BG" b="1" dirty="0"/>
              <a:t>какво да се промени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Стойността</a:t>
            </a:r>
            <a:r>
              <a:rPr lang="bg-BG" dirty="0"/>
              <a:t> показва </a:t>
            </a:r>
            <a:r>
              <a:rPr lang="bg-BG" b="1" dirty="0"/>
              <a:t>как</a:t>
            </a:r>
            <a:r>
              <a:rPr lang="bg-BG" dirty="0"/>
              <a:t> точно </a:t>
            </a:r>
            <a:r>
              <a:rPr lang="bg-BG" b="1" dirty="0"/>
              <a:t>да изглежда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E4248F-83BD-26FB-D3D5-1DC4FC6A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Селектори, свойства</a:t>
            </a:r>
            <a:r>
              <a:rPr lang="en-US" dirty="0"/>
              <a:t> </a:t>
            </a:r>
            <a:r>
              <a:rPr lang="bg-BG" noProof="0" dirty="0"/>
              <a:t>и</a:t>
            </a:r>
            <a:r>
              <a:rPr lang="bg-BG" dirty="0"/>
              <a:t> стойности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D2C16-A292-0A40-3F25-46998200B434}"/>
              </a:ext>
            </a:extLst>
          </p:cNvPr>
          <p:cNvSpPr txBox="1">
            <a:spLocks/>
          </p:cNvSpPr>
          <p:nvPr/>
        </p:nvSpPr>
        <p:spPr>
          <a:xfrm>
            <a:off x="4566000" y="3621634"/>
            <a:ext cx="6404195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noProof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Това е коментар */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657E5F42-9B11-99D4-E018-2902481F762E}"/>
              </a:ext>
            </a:extLst>
          </p:cNvPr>
          <p:cNvSpPr/>
          <p:nvPr/>
        </p:nvSpPr>
        <p:spPr bwMode="auto">
          <a:xfrm>
            <a:off x="2098098" y="4088459"/>
            <a:ext cx="1770561" cy="441116"/>
          </a:xfrm>
          <a:prstGeom prst="wedgeRoundRectCallout">
            <a:avLst>
              <a:gd name="adj1" fmla="val 90031"/>
              <a:gd name="adj2" fmla="val 1120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Селектор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DF8BF9A9-BACD-6F49-5FEF-8CFA0C48CC18}"/>
              </a:ext>
            </a:extLst>
          </p:cNvPr>
          <p:cNvSpPr/>
          <p:nvPr/>
        </p:nvSpPr>
        <p:spPr bwMode="auto">
          <a:xfrm>
            <a:off x="5068098" y="5764986"/>
            <a:ext cx="1770561" cy="441116"/>
          </a:xfrm>
          <a:prstGeom prst="wedgeRoundRectCallout">
            <a:avLst>
              <a:gd name="adj1" fmla="val 9695"/>
              <a:gd name="adj2" fmla="val -22200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3211CF84-EB6D-CB61-8495-A80F3C5DD935}"/>
              </a:ext>
            </a:extLst>
          </p:cNvPr>
          <p:cNvSpPr/>
          <p:nvPr/>
        </p:nvSpPr>
        <p:spPr bwMode="auto">
          <a:xfrm>
            <a:off x="7363098" y="5764986"/>
            <a:ext cx="1770561" cy="441116"/>
          </a:xfrm>
          <a:prstGeom prst="wedgeRoundRectCallout">
            <a:avLst>
              <a:gd name="adj1" fmla="val -54861"/>
              <a:gd name="adj2" fmla="val -23639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Стойност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612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Начини за добавяне на </a:t>
            </a:r>
            <a:r>
              <a:rPr lang="en-US" sz="4800" dirty="0"/>
              <a:t>CSS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Добри практики при работа със </a:t>
            </a:r>
            <a:r>
              <a:rPr lang="en-US" sz="5400" dirty="0"/>
              <a:t>CSS</a:t>
            </a:r>
            <a:endParaRPr lang="en-GB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77A24-0AD5-AD49-C63A-DF6CBD361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7515" y="864000"/>
            <a:ext cx="3616970" cy="36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b="1" dirty="0">
                <a:solidFill>
                  <a:schemeClr val="bg1"/>
                </a:solidFill>
              </a:rPr>
              <a:t>Вграден стил </a:t>
            </a:r>
            <a:r>
              <a:rPr lang="en-US" sz="3200" b="1" dirty="0">
                <a:solidFill>
                  <a:schemeClr val="bg1"/>
                </a:solidFill>
              </a:rPr>
              <a:t>(Inline CSS)</a:t>
            </a:r>
          </a:p>
          <a:p>
            <a:pPr lvl="1"/>
            <a:r>
              <a:rPr lang="bg-BG" sz="3000" dirty="0"/>
              <a:t>Добавя се </a:t>
            </a:r>
            <a:r>
              <a:rPr lang="bg-BG" sz="3000" b="1" dirty="0">
                <a:solidFill>
                  <a:schemeClr val="bg1"/>
                </a:solidFill>
              </a:rPr>
              <a:t>директно</a:t>
            </a:r>
            <a:r>
              <a:rPr lang="bg-BG" sz="3000" dirty="0"/>
              <a:t> в </a:t>
            </a:r>
            <a:r>
              <a:rPr lang="en-US" sz="3000" b="1" dirty="0"/>
              <a:t>HTML </a:t>
            </a:r>
            <a:r>
              <a:rPr lang="bg-BG" sz="3000" b="1" dirty="0"/>
              <a:t>елемента</a:t>
            </a:r>
            <a:endParaRPr lang="en-US" sz="3000" b="1" dirty="0"/>
          </a:p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bg-BG" sz="3200" b="1" dirty="0">
                <a:solidFill>
                  <a:schemeClr val="bg1"/>
                </a:solidFill>
              </a:rPr>
              <a:t>Вътрешен стил </a:t>
            </a:r>
            <a:r>
              <a:rPr lang="en-US" sz="3200" b="1" dirty="0">
                <a:solidFill>
                  <a:schemeClr val="bg1"/>
                </a:solidFill>
              </a:rPr>
              <a:t>(Internal CSS)</a:t>
            </a:r>
          </a:p>
          <a:p>
            <a:pPr lvl="1"/>
            <a:r>
              <a:rPr lang="bg-BG" sz="3000" dirty="0"/>
              <a:t>Добавя се в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style&gt;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таг в </a:t>
            </a:r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 lvl="1"/>
            <a:r>
              <a:rPr lang="bg-BG" sz="3000" dirty="0"/>
              <a:t>Използва се за </a:t>
            </a:r>
            <a:r>
              <a:rPr lang="bg-BG" sz="3000" b="1" dirty="0"/>
              <a:t>малки проекти</a:t>
            </a:r>
            <a:endParaRPr lang="en-US" sz="3000" b="1" dirty="0"/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Начини за добавяне на </a:t>
            </a:r>
            <a:r>
              <a:rPr lang="en-US" dirty="0"/>
              <a:t>CSS (1)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721C7-26ED-EA28-B968-ABEC7D1E1D18}"/>
              </a:ext>
            </a:extLst>
          </p:cNvPr>
          <p:cNvSpPr txBox="1">
            <a:spLocks/>
          </p:cNvSpPr>
          <p:nvPr/>
        </p:nvSpPr>
        <p:spPr>
          <a:xfrm>
            <a:off x="741000" y="2499360"/>
            <a:ext cx="6842564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&lt;p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color: red;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Текст&lt;/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57D3EC8-6729-8016-73D4-EE66962147B1}"/>
              </a:ext>
            </a:extLst>
          </p:cNvPr>
          <p:cNvSpPr txBox="1">
            <a:spLocks/>
          </p:cNvSpPr>
          <p:nvPr/>
        </p:nvSpPr>
        <p:spPr>
          <a:xfrm>
            <a:off x="741000" y="5122005"/>
            <a:ext cx="6842564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&lt;style&gt;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p {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color: red;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&lt;/style&gt;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8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665598" cy="5528766"/>
          </a:xfrm>
        </p:spPr>
        <p:txBody>
          <a:bodyPr/>
          <a:lstStyle/>
          <a:p>
            <a:r>
              <a:rPr lang="bg-BG" sz="3200" b="1" dirty="0">
                <a:solidFill>
                  <a:schemeClr val="bg1"/>
                </a:solidFill>
              </a:rPr>
              <a:t>Външен стил </a:t>
            </a:r>
            <a:r>
              <a:rPr lang="en-US" sz="3200" b="1" dirty="0">
                <a:solidFill>
                  <a:schemeClr val="bg1"/>
                </a:solidFill>
              </a:rPr>
              <a:t>(External CSS)</a:t>
            </a:r>
          </a:p>
          <a:p>
            <a:pPr lvl="1"/>
            <a:r>
              <a:rPr lang="en-US" sz="3000" b="1" dirty="0"/>
              <a:t>CSS</a:t>
            </a:r>
            <a:r>
              <a:rPr lang="en-US" sz="3000" dirty="0"/>
              <a:t> </a:t>
            </a:r>
            <a:r>
              <a:rPr lang="bg-BG" sz="3000" dirty="0"/>
              <a:t>е в </a:t>
            </a:r>
            <a:r>
              <a:rPr lang="bg-BG" sz="3000" b="1" dirty="0">
                <a:solidFill>
                  <a:schemeClr val="bg1"/>
                </a:solidFill>
              </a:rPr>
              <a:t>отделен файл</a:t>
            </a:r>
            <a:r>
              <a:rPr lang="en-GB" sz="3000" b="1" dirty="0">
                <a:solidFill>
                  <a:schemeClr val="bg1"/>
                </a:solidFill>
              </a:rPr>
              <a:t> </a:t>
            </a:r>
            <a:r>
              <a:rPr lang="bg-BG" sz="3000" b="1" dirty="0"/>
              <a:t>с разширение "</a:t>
            </a:r>
            <a:r>
              <a:rPr lang="bg-BG" sz="3000" b="1" dirty="0">
                <a:solidFill>
                  <a:schemeClr val="bg1"/>
                </a:solidFill>
              </a:rPr>
              <a:t>.</a:t>
            </a:r>
            <a:r>
              <a:rPr lang="en-US" sz="3000" b="1" noProof="0" dirty="0">
                <a:solidFill>
                  <a:schemeClr val="bg1"/>
                </a:solidFill>
              </a:rPr>
              <a:t>css</a:t>
            </a:r>
            <a:r>
              <a:rPr lang="bg-BG" sz="3000" b="1" dirty="0"/>
              <a:t>"</a:t>
            </a:r>
          </a:p>
          <a:p>
            <a:pPr lvl="1"/>
            <a:r>
              <a:rPr lang="bg-BG" sz="3000" dirty="0"/>
              <a:t>Свързва се с </a:t>
            </a:r>
            <a:r>
              <a:rPr lang="en-US" sz="3000" b="1" dirty="0"/>
              <a:t>HTML</a:t>
            </a:r>
            <a:r>
              <a:rPr lang="en-US" sz="3000" dirty="0"/>
              <a:t> </a:t>
            </a:r>
            <a:r>
              <a:rPr lang="bg-BG" sz="3000" dirty="0"/>
              <a:t>чрез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&lt;link&gt;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Добавя се в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head&gt;</a:t>
            </a:r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частта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Начини за добавяне на </a:t>
            </a:r>
            <a:r>
              <a:rPr lang="en-US" dirty="0"/>
              <a:t>CSS (2)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DEDA2-4704-143B-C42B-7A91B4F54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600" y="2674970"/>
            <a:ext cx="5027030" cy="25710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721C7-26ED-EA28-B968-ABEC7D1E1D18}"/>
              </a:ext>
            </a:extLst>
          </p:cNvPr>
          <p:cNvSpPr txBox="1">
            <a:spLocks/>
          </p:cNvSpPr>
          <p:nvPr/>
        </p:nvSpPr>
        <p:spPr>
          <a:xfrm>
            <a:off x="2139301" y="5557879"/>
            <a:ext cx="7767799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 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rel="stylesheet" href="</a:t>
            </a:r>
            <a:r>
              <a:rPr lang="en-GB" sz="2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style.css</a:t>
            </a:r>
            <a:r>
              <a:rPr lang="en-GB" sz="2600" b="1" dirty="0"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endParaRPr lang="en-US" sz="26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4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b="1" dirty="0"/>
              <a:t>Добра практика </a:t>
            </a:r>
            <a:r>
              <a:rPr lang="bg-BG" sz="3200" dirty="0"/>
              <a:t>е използването на </a:t>
            </a:r>
            <a:r>
              <a:rPr lang="bg-BG" sz="3200" b="1" dirty="0">
                <a:solidFill>
                  <a:schemeClr val="bg1"/>
                </a:solidFill>
              </a:rPr>
              <a:t>външен </a:t>
            </a:r>
            <a:r>
              <a:rPr lang="en-GB" sz="3200" b="1" dirty="0">
                <a:solidFill>
                  <a:schemeClr val="bg1"/>
                </a:solidFill>
              </a:rPr>
              <a:t>CSS </a:t>
            </a:r>
            <a:r>
              <a:rPr lang="en-GB" sz="3200" dirty="0"/>
              <a:t>(</a:t>
            </a:r>
            <a:r>
              <a:rPr lang="en-US" sz="3200" b="1" dirty="0"/>
              <a:t>external </a:t>
            </a:r>
            <a:r>
              <a:rPr lang="en-GB" sz="3200" b="1" dirty="0"/>
              <a:t>CSS</a:t>
            </a:r>
            <a:r>
              <a:rPr lang="en-GB" sz="3200" dirty="0"/>
              <a:t>)</a:t>
            </a:r>
          </a:p>
          <a:p>
            <a:pPr lvl="1"/>
            <a:r>
              <a:rPr lang="bg-BG" sz="3000" b="1" dirty="0"/>
              <a:t>Кодът</a:t>
            </a:r>
            <a:r>
              <a:rPr lang="bg-BG" sz="3000" dirty="0"/>
              <a:t> е </a:t>
            </a:r>
            <a:r>
              <a:rPr lang="bg-BG" sz="3000" b="1" dirty="0">
                <a:solidFill>
                  <a:schemeClr val="bg1"/>
                </a:solidFill>
              </a:rPr>
              <a:t>по-подреден </a:t>
            </a:r>
          </a:p>
          <a:p>
            <a:pPr lvl="1"/>
            <a:r>
              <a:rPr lang="bg-BG" sz="3000" b="1" dirty="0"/>
              <a:t>Лесно</a:t>
            </a:r>
            <a:r>
              <a:rPr lang="bg-BG" sz="3000" dirty="0"/>
              <a:t> се </a:t>
            </a:r>
            <a:r>
              <a:rPr lang="bg-BG" sz="3000" b="1" dirty="0">
                <a:solidFill>
                  <a:schemeClr val="bg1"/>
                </a:solidFill>
              </a:rPr>
              <a:t>поддържа </a:t>
            </a:r>
          </a:p>
          <a:p>
            <a:pPr lvl="1"/>
            <a:r>
              <a:rPr lang="bg-BG" sz="3000" dirty="0"/>
              <a:t>Използва се за </a:t>
            </a:r>
            <a:r>
              <a:rPr lang="bg-BG" sz="3000" b="1" dirty="0">
                <a:solidFill>
                  <a:schemeClr val="bg1"/>
                </a:solidFill>
              </a:rPr>
              <a:t>много страници </a:t>
            </a:r>
          </a:p>
          <a:p>
            <a:pPr lvl="1"/>
            <a:r>
              <a:rPr lang="bg-BG" sz="3000" dirty="0"/>
              <a:t>Разделя </a:t>
            </a:r>
            <a:r>
              <a:rPr lang="bg-BG" sz="3000" b="1" dirty="0">
                <a:solidFill>
                  <a:schemeClr val="bg1"/>
                </a:solidFill>
              </a:rPr>
              <a:t>структура</a:t>
            </a:r>
            <a:r>
              <a:rPr lang="bg-BG" sz="3000" dirty="0"/>
              <a:t> (</a:t>
            </a:r>
            <a:r>
              <a:rPr lang="en-GB" sz="3000" b="1" dirty="0"/>
              <a:t>HTML</a:t>
            </a:r>
            <a:r>
              <a:rPr lang="en-GB" sz="3000" dirty="0"/>
              <a:t>) </a:t>
            </a:r>
            <a:r>
              <a:rPr lang="bg-BG" sz="3000" dirty="0"/>
              <a:t>от </a:t>
            </a:r>
            <a:r>
              <a:rPr lang="bg-BG" sz="3000" b="1" dirty="0">
                <a:solidFill>
                  <a:schemeClr val="bg1"/>
                </a:solidFill>
              </a:rPr>
              <a:t>дизайн</a:t>
            </a:r>
            <a:r>
              <a:rPr lang="bg-BG" sz="3000" dirty="0"/>
              <a:t> (</a:t>
            </a:r>
            <a:r>
              <a:rPr lang="en-GB" sz="3000" b="1" dirty="0"/>
              <a:t>CSS</a:t>
            </a:r>
            <a:r>
              <a:rPr lang="en-GB" sz="3000" dirty="0"/>
              <a:t>)</a:t>
            </a: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US" sz="3600" b="1" dirty="0">
              <a:solidFill>
                <a:schemeClr val="bg1"/>
              </a:solidFill>
            </a:endParaRPr>
          </a:p>
          <a:p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Добри практики при добавяне на </a:t>
            </a:r>
            <a:r>
              <a:rPr lang="en-US" dirty="0"/>
              <a:t>CSS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8641DF-81C5-400B-7FC3-EDA06F77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6000" y="2652593"/>
            <a:ext cx="4652498" cy="377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1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695598" cy="5528766"/>
          </a:xfrm>
        </p:spPr>
        <p:txBody>
          <a:bodyPr>
            <a:normAutofit/>
          </a:bodyPr>
          <a:lstStyle/>
          <a:p>
            <a:r>
              <a:rPr lang="bg-BG" sz="3100" dirty="0"/>
              <a:t>Използвайте </a:t>
            </a:r>
            <a:r>
              <a:rPr lang="bg-BG" sz="3100" b="1" dirty="0">
                <a:solidFill>
                  <a:schemeClr val="bg1"/>
                </a:solidFill>
              </a:rPr>
              <a:t>външен </a:t>
            </a:r>
            <a:r>
              <a:rPr lang="en-GB" sz="3100" b="1" dirty="0">
                <a:solidFill>
                  <a:schemeClr val="bg1"/>
                </a:solidFill>
              </a:rPr>
              <a:t>CSS </a:t>
            </a:r>
            <a:r>
              <a:rPr lang="bg-BG" sz="3100" b="1" dirty="0">
                <a:solidFill>
                  <a:schemeClr val="bg1"/>
                </a:solidFill>
              </a:rPr>
              <a:t>файл </a:t>
            </a:r>
            <a:r>
              <a:rPr lang="bg-BG" sz="3100" dirty="0"/>
              <a:t>(</a:t>
            </a:r>
            <a:r>
              <a:rPr lang="en-GB" sz="3100" b="1" dirty="0"/>
              <a:t>external CSS</a:t>
            </a:r>
            <a:r>
              <a:rPr lang="en-GB" sz="3100" dirty="0"/>
              <a:t>) </a:t>
            </a:r>
          </a:p>
          <a:p>
            <a:r>
              <a:rPr lang="bg-BG" sz="3100" dirty="0"/>
              <a:t>Пишете </a:t>
            </a:r>
            <a:r>
              <a:rPr lang="bg-BG" sz="3100" b="1" dirty="0">
                <a:solidFill>
                  <a:schemeClr val="bg1"/>
                </a:solidFill>
              </a:rPr>
              <a:t>четим</a:t>
            </a:r>
            <a:r>
              <a:rPr lang="bg-BG" sz="3100" dirty="0"/>
              <a:t> и </a:t>
            </a:r>
            <a:r>
              <a:rPr lang="bg-BG" sz="3100" b="1" dirty="0">
                <a:solidFill>
                  <a:schemeClr val="bg1"/>
                </a:solidFill>
              </a:rPr>
              <a:t>подреден</a:t>
            </a:r>
            <a:r>
              <a:rPr lang="bg-BG" sz="3100" dirty="0"/>
              <a:t> </a:t>
            </a:r>
            <a:r>
              <a:rPr lang="bg-BG" sz="3100" b="1" dirty="0"/>
              <a:t>код</a:t>
            </a:r>
            <a:r>
              <a:rPr lang="bg-BG" sz="3100" dirty="0"/>
              <a:t> </a:t>
            </a:r>
            <a:endParaRPr lang="en-US" sz="3100" dirty="0"/>
          </a:p>
          <a:p>
            <a:r>
              <a:rPr lang="bg-BG" sz="3100" dirty="0"/>
              <a:t>Използвайте </a:t>
            </a:r>
            <a:r>
              <a:rPr lang="bg-BG" sz="3100" b="1" dirty="0">
                <a:solidFill>
                  <a:schemeClr val="bg1"/>
                </a:solidFill>
              </a:rPr>
              <a:t>класове</a:t>
            </a:r>
            <a:r>
              <a:rPr lang="bg-BG" sz="3100" dirty="0"/>
              <a:t> вместо </a:t>
            </a:r>
            <a:r>
              <a:rPr lang="en-GB" sz="3100" b="1" dirty="0"/>
              <a:t>id</a:t>
            </a:r>
            <a:r>
              <a:rPr lang="en-GB" sz="3100" dirty="0"/>
              <a:t> </a:t>
            </a:r>
            <a:r>
              <a:rPr lang="bg-BG" sz="3100" dirty="0"/>
              <a:t>за </a:t>
            </a:r>
            <a:r>
              <a:rPr lang="bg-BG" sz="3100" b="1" dirty="0"/>
              <a:t>стилизиране</a:t>
            </a:r>
            <a:endParaRPr lang="en-US" sz="3100" b="1" dirty="0"/>
          </a:p>
          <a:p>
            <a:r>
              <a:rPr lang="bg-BG" sz="3100" b="1" dirty="0">
                <a:solidFill>
                  <a:schemeClr val="bg1"/>
                </a:solidFill>
              </a:rPr>
              <a:t>Групирайте</a:t>
            </a:r>
            <a:r>
              <a:rPr lang="bg-BG" sz="3100" dirty="0"/>
              <a:t> свързани </a:t>
            </a:r>
            <a:r>
              <a:rPr lang="bg-BG" sz="3100" b="1" dirty="0"/>
              <a:t>стилове </a:t>
            </a:r>
            <a:endParaRPr lang="en-US" sz="3100" b="1" dirty="0"/>
          </a:p>
          <a:p>
            <a:r>
              <a:rPr lang="bg-BG" sz="3100" b="1" dirty="0">
                <a:solidFill>
                  <a:schemeClr val="bg1"/>
                </a:solidFill>
              </a:rPr>
              <a:t>Избягвайте</a:t>
            </a:r>
            <a:r>
              <a:rPr lang="bg-BG" sz="3100" dirty="0"/>
              <a:t> </a:t>
            </a:r>
            <a:r>
              <a:rPr lang="bg-BG" sz="3100" b="1" dirty="0"/>
              <a:t>дублиране</a:t>
            </a:r>
            <a:r>
              <a:rPr lang="bg-BG" sz="3100" dirty="0"/>
              <a:t> на </a:t>
            </a:r>
            <a:r>
              <a:rPr lang="bg-BG" sz="3100" b="1" dirty="0"/>
              <a:t>код</a:t>
            </a:r>
            <a:r>
              <a:rPr lang="bg-BG" sz="3100" dirty="0"/>
              <a:t> </a:t>
            </a:r>
            <a:endParaRPr lang="en-US" sz="3100" dirty="0"/>
          </a:p>
          <a:p>
            <a:r>
              <a:rPr lang="bg-BG" sz="3100" dirty="0"/>
              <a:t>Използвайте </a:t>
            </a:r>
            <a:r>
              <a:rPr lang="bg-BG" sz="3100" b="1" dirty="0">
                <a:solidFill>
                  <a:schemeClr val="bg1"/>
                </a:solidFill>
              </a:rPr>
              <a:t>смислени имена </a:t>
            </a:r>
            <a:r>
              <a:rPr lang="bg-BG" sz="3100" dirty="0"/>
              <a:t>на </a:t>
            </a:r>
            <a:r>
              <a:rPr lang="bg-BG" sz="3100" b="1" dirty="0"/>
              <a:t>класове</a:t>
            </a:r>
            <a:r>
              <a:rPr lang="bg-BG" sz="3100" dirty="0"/>
              <a:t> (напр. </a:t>
            </a:r>
            <a:r>
              <a:rPr lang="bg-BG" sz="31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3100" b="1" dirty="0">
                <a:latin typeface="Consolas" panose="020B0609020204030204" pitchFamily="49" charset="0"/>
                <a:cs typeface="Consolas" panose="020B0609020204030204" pitchFamily="49" charset="0"/>
              </a:rPr>
              <a:t>header</a:t>
            </a:r>
            <a:r>
              <a:rPr lang="en-GB" sz="3100" dirty="0"/>
              <a:t>, </a:t>
            </a:r>
            <a:r>
              <a:rPr lang="en-GB" sz="3100" b="1" dirty="0">
                <a:latin typeface="Consolas" panose="020B0609020204030204" pitchFamily="49" charset="0"/>
                <a:cs typeface="Consolas" panose="020B0609020204030204" pitchFamily="49" charset="0"/>
              </a:rPr>
              <a:t>.card</a:t>
            </a:r>
            <a:r>
              <a:rPr lang="en-GB" sz="3100" dirty="0"/>
              <a:t>)</a:t>
            </a:r>
            <a:endParaRPr lang="en-BG" sz="31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Добри практики при работа със </a:t>
            </a:r>
            <a:r>
              <a:rPr lang="en-US" dirty="0"/>
              <a:t>CSS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805DB-D8D2-D418-E61A-0ECD91FAD3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3125" y="1212224"/>
            <a:ext cx="657875" cy="657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B0418-15EC-8488-C3C8-A7DF88122C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1164" y="1870099"/>
            <a:ext cx="657875" cy="657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0F5814-DA9D-2754-5165-FC4E315472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2144" y="2527974"/>
            <a:ext cx="657875" cy="657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5DF02E-8E4F-3D36-17F7-83636BC6D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3125" y="3198322"/>
            <a:ext cx="657875" cy="657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CF0B53-4C90-A356-CC76-6D2F6D0889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00184" y="3868670"/>
            <a:ext cx="657875" cy="65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07355A-9804-AFCE-F263-40DB69A96D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9203" y="4519370"/>
            <a:ext cx="657875" cy="6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0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Стилизиране на уеб страница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C14888-B4DB-C4A1-583E-8AF48A04E3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3500" y="699825"/>
            <a:ext cx="4005000" cy="40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Нека</a:t>
            </a:r>
            <a:r>
              <a:rPr lang="bg-BG" sz="2900" b="1" dirty="0">
                <a:solidFill>
                  <a:schemeClr val="bg1"/>
                </a:solidFill>
              </a:rPr>
              <a:t> стилизираме </a:t>
            </a:r>
            <a:r>
              <a:rPr lang="bg-BG" sz="2900" b="1" dirty="0"/>
              <a:t>уеб страница по избор</a:t>
            </a:r>
          </a:p>
          <a:p>
            <a:r>
              <a:rPr lang="bg-BG" sz="2900" dirty="0"/>
              <a:t>За примера ще използваме </a:t>
            </a:r>
            <a:r>
              <a:rPr lang="bg-BG" sz="2900" b="1" dirty="0"/>
              <a:t>уеб страницата </a:t>
            </a:r>
            <a:r>
              <a:rPr lang="bg-BG" sz="2900" dirty="0"/>
              <a:t>от </a:t>
            </a:r>
            <a:r>
              <a:rPr lang="bg-BG" sz="2900" b="1" dirty="0">
                <a:solidFill>
                  <a:schemeClr val="bg1"/>
                </a:solidFill>
              </a:rPr>
              <a:t>упражнението </a:t>
            </a:r>
            <a:r>
              <a:rPr lang="bg-BG" sz="2900" dirty="0"/>
              <a:t>от </a:t>
            </a:r>
            <a:r>
              <a:rPr lang="bg-BG" sz="2900" b="1" dirty="0">
                <a:solidFill>
                  <a:schemeClr val="bg1"/>
                </a:solidFill>
              </a:rPr>
              <a:t>9 урок</a:t>
            </a:r>
            <a:endParaRPr lang="en-BG" sz="29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уеб страница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DD3725-2151-11EB-027B-FEEDFD128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1000" y="2799000"/>
            <a:ext cx="7650000" cy="32245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0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>
                <a:solidFill>
                  <a:schemeClr val="bg1"/>
                </a:solidFill>
              </a:rPr>
              <a:t>текстов редактор </a:t>
            </a:r>
            <a:r>
              <a:rPr lang="bg-BG" sz="3000" dirty="0"/>
              <a:t>по избор, напр. </a:t>
            </a:r>
            <a:r>
              <a:rPr lang="en-US" sz="3000" b="1" dirty="0"/>
              <a:t>VS Code</a:t>
            </a:r>
            <a:endParaRPr lang="bg-BG" sz="3000" dirty="0"/>
          </a:p>
          <a:p>
            <a:r>
              <a:rPr lang="bg-BG" sz="3000" dirty="0"/>
              <a:t>Създаваме в </a:t>
            </a:r>
            <a:r>
              <a:rPr lang="bg-BG" sz="3000" b="1" dirty="0">
                <a:solidFill>
                  <a:schemeClr val="bg1"/>
                </a:solidFill>
              </a:rPr>
              <a:t>директорията</a:t>
            </a:r>
            <a:r>
              <a:rPr lang="bg-BG" sz="3000" dirty="0"/>
              <a:t> на </a:t>
            </a:r>
            <a:r>
              <a:rPr lang="bg-BG" sz="3000" b="1" dirty="0"/>
              <a:t>уеб страницата </a:t>
            </a:r>
            <a:r>
              <a:rPr lang="bg-BG" sz="3000" b="1" dirty="0">
                <a:solidFill>
                  <a:schemeClr val="bg1"/>
                </a:solidFill>
              </a:rPr>
              <a:t>нов файл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с </a:t>
            </a:r>
            <a:r>
              <a:rPr lang="bg-BG" sz="3000" b="1" dirty="0"/>
              <a:t>разширение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US" sz="3000" dirty="0"/>
              <a:t>, </a:t>
            </a:r>
            <a:r>
              <a:rPr lang="bg-BG" sz="3000" dirty="0"/>
              <a:t>напр. 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style.css</a:t>
            </a:r>
            <a:r>
              <a:rPr lang="bg-BG" sz="3000" dirty="0"/>
              <a:t>"</a:t>
            </a:r>
          </a:p>
          <a:p>
            <a:r>
              <a:rPr lang="bg-BG" sz="3000" dirty="0"/>
              <a:t>Отваряме също и </a:t>
            </a:r>
            <a:r>
              <a:rPr lang="en-US" sz="3000" b="1" dirty="0"/>
              <a:t>HTML </a:t>
            </a:r>
            <a:r>
              <a:rPr lang="bg-BG" sz="3000" b="1" dirty="0"/>
              <a:t>файла </a:t>
            </a:r>
            <a:r>
              <a:rPr lang="bg-BG" sz="3000" dirty="0"/>
              <a:t>и добавяме </a:t>
            </a:r>
            <a:r>
              <a:rPr lang="bg-BG" sz="3000" b="1" dirty="0"/>
              <a:t>външния стил </a:t>
            </a:r>
            <a:r>
              <a:rPr lang="bg-BG" sz="3000" dirty="0"/>
              <a:t>в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CSS </a:t>
            </a:r>
            <a:r>
              <a:rPr lang="bg-BG" dirty="0"/>
              <a:t>файл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FD45F-E096-2939-754F-4B835B592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8223" y="4239000"/>
            <a:ext cx="7975554" cy="17737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830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Започваме да добавяме </a:t>
            </a:r>
            <a:r>
              <a:rPr lang="bg-BG" sz="3600" b="1" dirty="0"/>
              <a:t>стиловете</a:t>
            </a:r>
          </a:p>
          <a:p>
            <a:r>
              <a:rPr lang="bg-BG" sz="3600" dirty="0"/>
              <a:t>Стилизираме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body&gt;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body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ED299-C6E1-4C9A-FB0A-054AA183075D}"/>
              </a:ext>
            </a:extLst>
          </p:cNvPr>
          <p:cNvSpPr txBox="1">
            <a:spLocks/>
          </p:cNvSpPr>
          <p:nvPr/>
        </p:nvSpPr>
        <p:spPr>
          <a:xfrm>
            <a:off x="1888500" y="3016081"/>
            <a:ext cx="84150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Основни стилове за страницата */</a:t>
            </a:r>
            <a:b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 {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font-family: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Arial, sans-serif;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20px;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background-color: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#f5f5f5;</a:t>
            </a: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BF5BD06-A421-6B5A-200C-4B66B712993B}"/>
              </a:ext>
            </a:extLst>
          </p:cNvPr>
          <p:cNvSpPr/>
          <p:nvPr/>
        </p:nvSpPr>
        <p:spPr bwMode="auto">
          <a:xfrm>
            <a:off x="696000" y="3913793"/>
            <a:ext cx="1770561" cy="441116"/>
          </a:xfrm>
          <a:prstGeom prst="wedgeRoundRectCallout">
            <a:avLst>
              <a:gd name="adj1" fmla="val 70391"/>
              <a:gd name="adj2" fmla="val 24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Шрифт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B2889D6-A025-3632-AE78-264214F22086}"/>
              </a:ext>
            </a:extLst>
          </p:cNvPr>
          <p:cNvSpPr/>
          <p:nvPr/>
        </p:nvSpPr>
        <p:spPr bwMode="auto">
          <a:xfrm>
            <a:off x="6816000" y="4304931"/>
            <a:ext cx="4937030" cy="441116"/>
          </a:xfrm>
          <a:prstGeom prst="wedgeRoundRectCallout">
            <a:avLst>
              <a:gd name="adj1" fmla="val -76363"/>
              <a:gd name="adj2" fmla="val 501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Отстояние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около страницата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5A5A435-C990-95CD-4285-3FB2399B9725}"/>
              </a:ext>
            </a:extLst>
          </p:cNvPr>
          <p:cNvSpPr/>
          <p:nvPr/>
        </p:nvSpPr>
        <p:spPr bwMode="auto">
          <a:xfrm>
            <a:off x="4266813" y="5901629"/>
            <a:ext cx="2117779" cy="441116"/>
          </a:xfrm>
          <a:prstGeom prst="wedgeRoundRectCallout">
            <a:avLst>
              <a:gd name="adj1" fmla="val 7981"/>
              <a:gd name="adj2" fmla="val -19609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Цвят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фон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31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>
                <a:solidFill>
                  <a:schemeClr val="bg1"/>
                </a:solidFill>
              </a:rPr>
              <a:t>Обновяваме</a:t>
            </a:r>
            <a:r>
              <a:rPr lang="bg-BG" sz="2800" dirty="0"/>
              <a:t> </a:t>
            </a:r>
            <a:r>
              <a:rPr lang="en-US" sz="2800" b="1" dirty="0"/>
              <a:t>HTML </a:t>
            </a:r>
            <a:r>
              <a:rPr lang="bg-BG" sz="2800" b="1" dirty="0"/>
              <a:t>уеб страницата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body</a:t>
            </a:r>
            <a:r>
              <a:rPr lang="bg-BG" dirty="0"/>
              <a:t> </a:t>
            </a:r>
            <a:r>
              <a:rPr lang="bg-BG" sz="4000" dirty="0"/>
              <a:t>–</a:t>
            </a:r>
            <a:r>
              <a:rPr lang="bg-BG" dirty="0"/>
              <a:t> Резултат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2B5108-F314-F836-7F17-654C4763E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1113" y="1936288"/>
            <a:ext cx="5109774" cy="20637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C21B0A-0BA8-DCD7-52DE-B1CB95DE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714" y="4629987"/>
            <a:ext cx="5352571" cy="20637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F4C7678E-B63A-A12E-A9F8-F191E2F1D70C}"/>
              </a:ext>
            </a:extLst>
          </p:cNvPr>
          <p:cNvSpPr/>
          <p:nvPr/>
        </p:nvSpPr>
        <p:spPr>
          <a:xfrm rot="5400000">
            <a:off x="5538023" y="3808775"/>
            <a:ext cx="1115952" cy="10125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41669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Стилизираме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header&gt;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header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ED299-C6E1-4C9A-FB0A-054AA183075D}"/>
              </a:ext>
            </a:extLst>
          </p:cNvPr>
          <p:cNvSpPr txBox="1">
            <a:spLocks/>
          </p:cNvSpPr>
          <p:nvPr/>
        </p:nvSpPr>
        <p:spPr>
          <a:xfrm>
            <a:off x="2361000" y="2406235"/>
            <a:ext cx="8415000" cy="31085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Горна част на страницата */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header {</a:t>
            </a: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background-color: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#4CAF50;</a:t>
            </a: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white;</a:t>
            </a: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20px;</a:t>
            </a:r>
          </a:p>
          <a:p>
            <a:pPr>
              <a:lnSpc>
                <a:spcPct val="100000"/>
              </a:lnSpc>
            </a:pP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text-align: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center;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589CCFA1-8525-DEA3-C9C3-FFBB4AEB3A82}"/>
              </a:ext>
            </a:extLst>
          </p:cNvPr>
          <p:cNvSpPr/>
          <p:nvPr/>
        </p:nvSpPr>
        <p:spPr bwMode="auto">
          <a:xfrm>
            <a:off x="7342249" y="3739948"/>
            <a:ext cx="2700000" cy="441116"/>
          </a:xfrm>
          <a:prstGeom prst="wedgeRoundRectCallout">
            <a:avLst>
              <a:gd name="adj1" fmla="val -103257"/>
              <a:gd name="adj2" fmla="val 1137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Цвят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текста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5439DFCD-80C1-119A-F9DA-D861D7D464BB}"/>
              </a:ext>
            </a:extLst>
          </p:cNvPr>
          <p:cNvSpPr/>
          <p:nvPr/>
        </p:nvSpPr>
        <p:spPr bwMode="auto">
          <a:xfrm>
            <a:off x="190402" y="3960506"/>
            <a:ext cx="2700000" cy="774230"/>
          </a:xfrm>
          <a:prstGeom prst="wedgeRoundRectCallout">
            <a:avLst>
              <a:gd name="adj1" fmla="val 64054"/>
              <a:gd name="adj2" fmla="val 828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Вътрешно отстояние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FE430D61-CE60-DB6C-53AA-0280AE6FDBF4}"/>
              </a:ext>
            </a:extLst>
          </p:cNvPr>
          <p:cNvSpPr/>
          <p:nvPr/>
        </p:nvSpPr>
        <p:spPr bwMode="auto">
          <a:xfrm>
            <a:off x="4412051" y="5858202"/>
            <a:ext cx="4261249" cy="464782"/>
          </a:xfrm>
          <a:prstGeom prst="wedgeRoundRectCallout">
            <a:avLst>
              <a:gd name="adj1" fmla="val -40035"/>
              <a:gd name="adj2" fmla="val -22662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Подравняване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текста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49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</a:t>
            </a:r>
            <a:r>
              <a:rPr lang="en-US" dirty="0"/>
              <a:t>header </a:t>
            </a:r>
            <a:r>
              <a:rPr lang="bg-BG" sz="4000" dirty="0"/>
              <a:t>–</a:t>
            </a:r>
            <a:r>
              <a:rPr lang="en-US" dirty="0"/>
              <a:t> </a:t>
            </a:r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CD064-1031-C91B-E9C7-53E5EC62B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924" y="1292922"/>
            <a:ext cx="4441076" cy="23148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B8143F-A35E-E41C-29CA-C986223D4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037" y="4407675"/>
            <a:ext cx="5142850" cy="23148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5CA614E0-81B0-ED7D-AC7A-23E01D85FA83}"/>
              </a:ext>
            </a:extLst>
          </p:cNvPr>
          <p:cNvSpPr/>
          <p:nvPr/>
        </p:nvSpPr>
        <p:spPr>
          <a:xfrm rot="5400000">
            <a:off x="5237350" y="3496179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39561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Стилизираме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main&gt;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ma</a:t>
            </a:r>
            <a:r>
              <a:rPr lang="en-US" dirty="0"/>
              <a:t>in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ED299-C6E1-4C9A-FB0A-054AA183075D}"/>
              </a:ext>
            </a:extLst>
          </p:cNvPr>
          <p:cNvSpPr txBox="1">
            <a:spLocks/>
          </p:cNvSpPr>
          <p:nvPr/>
        </p:nvSpPr>
        <p:spPr>
          <a:xfrm>
            <a:off x="1888500" y="2406236"/>
            <a:ext cx="8415000" cy="31085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Основно съдържание */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 {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background-color: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white;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20px;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margin-top: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20px;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border-radius: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10px;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E9FDF47-0F6F-7405-1A82-AD2C417C6C2D}"/>
              </a:ext>
            </a:extLst>
          </p:cNvPr>
          <p:cNvSpPr/>
          <p:nvPr/>
        </p:nvSpPr>
        <p:spPr bwMode="auto">
          <a:xfrm>
            <a:off x="6816000" y="3789000"/>
            <a:ext cx="2700000" cy="774230"/>
          </a:xfrm>
          <a:prstGeom prst="wedgeRoundRectCallout">
            <a:avLst>
              <a:gd name="adj1" fmla="val -70907"/>
              <a:gd name="adj2" fmla="val 259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Отстояние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 елемента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F7025B3-774A-C288-250F-5AD2B10CDB0B}"/>
              </a:ext>
            </a:extLst>
          </p:cNvPr>
          <p:cNvSpPr/>
          <p:nvPr/>
        </p:nvSpPr>
        <p:spPr bwMode="auto">
          <a:xfrm>
            <a:off x="4071000" y="5727500"/>
            <a:ext cx="3362973" cy="466974"/>
          </a:xfrm>
          <a:prstGeom prst="wedgeRoundRectCallout">
            <a:avLst>
              <a:gd name="adj1" fmla="val -29107"/>
              <a:gd name="adj2" fmla="val -2020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Заобляне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ъглите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72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ma</a:t>
            </a:r>
            <a:r>
              <a:rPr lang="en-US" dirty="0"/>
              <a:t>in </a:t>
            </a:r>
            <a:r>
              <a:rPr lang="bg-BG" sz="4000" dirty="0"/>
              <a:t>–</a:t>
            </a:r>
            <a:r>
              <a:rPr lang="en-US" dirty="0"/>
              <a:t> </a:t>
            </a:r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93BDAB-F8BD-A7DF-EBBB-F65B8D04F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908" y="4144750"/>
            <a:ext cx="4651993" cy="25107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F990C7-47DB-8E68-4FAE-ABC3170E7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6000" y="1288470"/>
            <a:ext cx="3789811" cy="212229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70532D2F-0E41-386A-23AD-73725B3BC1D5}"/>
              </a:ext>
            </a:extLst>
          </p:cNvPr>
          <p:cNvSpPr/>
          <p:nvPr/>
        </p:nvSpPr>
        <p:spPr>
          <a:xfrm rot="5400000">
            <a:off x="5077792" y="3304612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73894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Стилизираме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600" dirty="0"/>
              <a:t>и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текст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ED299-C6E1-4C9A-FB0A-054AA183075D}"/>
              </a:ext>
            </a:extLst>
          </p:cNvPr>
          <p:cNvSpPr txBox="1">
            <a:spLocks/>
          </p:cNvSpPr>
          <p:nvPr/>
        </p:nvSpPr>
        <p:spPr>
          <a:xfrm>
            <a:off x="3562101" y="2104195"/>
            <a:ext cx="5067797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Заглавие */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 {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margin: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</a:pPr>
            <a:b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bg-BG" sz="28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Параграф */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{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font-size: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18px;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line-height: 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1.5;</a:t>
            </a:r>
          </a:p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6F61E673-B503-24E0-BBD3-D62320BFABF8}"/>
              </a:ext>
            </a:extLst>
          </p:cNvPr>
          <p:cNvSpPr/>
          <p:nvPr/>
        </p:nvSpPr>
        <p:spPr bwMode="auto">
          <a:xfrm>
            <a:off x="6892101" y="2563265"/>
            <a:ext cx="3568899" cy="860308"/>
          </a:xfrm>
          <a:prstGeom prst="wedgeRoundRectCallout">
            <a:avLst>
              <a:gd name="adj1" fmla="val -58938"/>
              <a:gd name="adj2" fmla="val 225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Премахва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външното отстояние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9CF55D5-C773-1BB2-BF3F-C7EDC4110CE3}"/>
              </a:ext>
            </a:extLst>
          </p:cNvPr>
          <p:cNvSpPr/>
          <p:nvPr/>
        </p:nvSpPr>
        <p:spPr bwMode="auto">
          <a:xfrm>
            <a:off x="921000" y="5333860"/>
            <a:ext cx="2758900" cy="540000"/>
          </a:xfrm>
          <a:prstGeom prst="wedgeRoundRectCallout">
            <a:avLst>
              <a:gd name="adj1" fmla="val 81056"/>
              <a:gd name="adj2" fmla="val -380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Размер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текста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AF5DB37-718B-8BE3-4E95-38C91019E201}"/>
              </a:ext>
            </a:extLst>
          </p:cNvPr>
          <p:cNvSpPr/>
          <p:nvPr/>
        </p:nvSpPr>
        <p:spPr bwMode="auto">
          <a:xfrm>
            <a:off x="8301000" y="5173706"/>
            <a:ext cx="3269365" cy="860308"/>
          </a:xfrm>
          <a:prstGeom prst="wedgeRoundRectCallout">
            <a:avLst>
              <a:gd name="adj1" fmla="val -62695"/>
              <a:gd name="adj2" fmla="val 2414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Отстояние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между редовете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250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Стилизиране на текст </a:t>
            </a:r>
            <a:r>
              <a:rPr lang="bg-BG" sz="4000" dirty="0"/>
              <a:t>–</a:t>
            </a:r>
            <a:r>
              <a:rPr lang="bg-BG" dirty="0"/>
              <a:t> 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54A7D-7597-6CB7-E9CA-45B9797EA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406" y="2169000"/>
            <a:ext cx="3517702" cy="3619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79DF67-0826-FC6E-6232-00CA1E37A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6437" y="2391250"/>
            <a:ext cx="6210300" cy="317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3" name="Arrow: Right 10">
            <a:extLst>
              <a:ext uri="{FF2B5EF4-FFF2-40B4-BE49-F238E27FC236}">
                <a16:creationId xmlns:a16="http://schemas.microsoft.com/office/drawing/2014/main" id="{3FB3039B-87F6-C211-C426-542ED8330022}"/>
              </a:ext>
            </a:extLst>
          </p:cNvPr>
          <p:cNvSpPr/>
          <p:nvPr/>
        </p:nvSpPr>
        <p:spPr>
          <a:xfrm>
            <a:off x="4054160" y="3371250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82762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SS </a:t>
            </a:r>
            <a:r>
              <a:rPr lang="en-US" sz="2800" dirty="0"/>
              <a:t>==</a:t>
            </a:r>
            <a:r>
              <a:rPr lang="en-US" sz="2800" b="1" dirty="0"/>
              <a:t> </a:t>
            </a:r>
            <a:r>
              <a:rPr lang="bg-BG" sz="2800" b="1" dirty="0"/>
              <a:t>език </a:t>
            </a:r>
            <a:r>
              <a:rPr lang="bg-BG" sz="2800" dirty="0"/>
              <a:t>за</a:t>
            </a:r>
            <a:r>
              <a:rPr lang="bg-BG" sz="2800" b="1" dirty="0"/>
              <a:t> оформление </a:t>
            </a:r>
            <a:r>
              <a:rPr lang="bg-BG" sz="2800" dirty="0"/>
              <a:t>и</a:t>
            </a:r>
            <a:r>
              <a:rPr lang="bg-BG" sz="2800" b="1" dirty="0"/>
              <a:t> дизайн</a:t>
            </a:r>
            <a:r>
              <a:rPr lang="bg-BG" sz="2800" dirty="0"/>
              <a:t> на </a:t>
            </a:r>
            <a:r>
              <a:rPr lang="bg-BG" sz="2800" b="1" dirty="0"/>
              <a:t>уеб страници</a:t>
            </a:r>
            <a:endParaRPr lang="en-US" sz="2800" b="1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Селектор</a:t>
            </a:r>
            <a:r>
              <a:rPr lang="en-US" sz="2800" b="1" dirty="0"/>
              <a:t> </a:t>
            </a:r>
            <a:r>
              <a:rPr lang="bg-BG" sz="2800" dirty="0"/>
              <a:t>–</a:t>
            </a:r>
            <a:r>
              <a:rPr lang="en-US" sz="2800" dirty="0"/>
              <a:t> </a:t>
            </a:r>
            <a:r>
              <a:rPr lang="bg-BG" sz="2800" dirty="0"/>
              <a:t>избира </a:t>
            </a:r>
            <a:r>
              <a:rPr lang="bg-BG" sz="2800" b="1" dirty="0"/>
              <a:t>елемент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Свойство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/>
              <a:t>–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казва </a:t>
            </a:r>
            <a:r>
              <a:rPr lang="bg-BG" sz="2800" b="1" dirty="0">
                <a:solidFill>
                  <a:schemeClr val="bg2"/>
                </a:solidFill>
              </a:rPr>
              <a:t>какво да се промени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Стойност</a:t>
            </a:r>
            <a:r>
              <a:rPr lang="bg-BG" sz="2800" b="1" dirty="0"/>
              <a:t> </a:t>
            </a:r>
            <a:r>
              <a:rPr lang="bg-BG" sz="2800" dirty="0"/>
              <a:t>–</a:t>
            </a:r>
            <a:r>
              <a:rPr lang="bg-BG" sz="2800" b="1" dirty="0"/>
              <a:t> </a:t>
            </a:r>
            <a:r>
              <a:rPr lang="bg-BG" sz="2800" dirty="0"/>
              <a:t>определя </a:t>
            </a:r>
            <a:r>
              <a:rPr lang="bg-BG" sz="2800" b="1" dirty="0"/>
              <a:t>как </a:t>
            </a:r>
            <a:r>
              <a:rPr lang="bg-BG" sz="2800" dirty="0"/>
              <a:t>ще </a:t>
            </a:r>
            <a:r>
              <a:rPr lang="bg-BG" sz="2800" b="1" dirty="0"/>
              <a:t>изглежда елементът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Margin </a:t>
            </a:r>
            <a:r>
              <a:rPr lang="en-US" sz="2800" dirty="0"/>
              <a:t>==</a:t>
            </a:r>
            <a:r>
              <a:rPr lang="en-US" sz="2800" b="1" dirty="0"/>
              <a:t> </a:t>
            </a:r>
            <a:r>
              <a:rPr lang="bg-BG" sz="2800" b="1" dirty="0"/>
              <a:t>външно отстояние</a:t>
            </a:r>
            <a:endParaRPr lang="en-US" sz="2800" b="1" dirty="0"/>
          </a:p>
          <a:p>
            <a:pPr marL="360363" indent="-360363" fontAlgn="base"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Padding </a:t>
            </a:r>
            <a:r>
              <a:rPr lang="en-US" sz="2800" dirty="0"/>
              <a:t>==</a:t>
            </a:r>
            <a:r>
              <a:rPr lang="en-US" sz="2800" b="1" dirty="0"/>
              <a:t> </a:t>
            </a:r>
            <a:r>
              <a:rPr lang="bg-BG" sz="2800" b="1" dirty="0"/>
              <a:t>вътрешно отстояние</a:t>
            </a:r>
            <a:endParaRPr lang="en-US" sz="2800" b="1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Добра практика </a:t>
            </a:r>
            <a:r>
              <a:rPr lang="bg-BG" sz="2800" dirty="0"/>
              <a:t>е да се използва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външен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файл</a:t>
            </a:r>
          </a:p>
          <a:p>
            <a:pPr marL="360363" indent="-360363" fontAlgn="base">
              <a:buClr>
                <a:schemeClr val="bg2"/>
              </a:buClr>
            </a:pPr>
            <a:endParaRPr lang="bg-BG" sz="2800" b="1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45938</TotalTime>
  <Words>1196</Words>
  <Application>Microsoft Macintosh PowerPoint</Application>
  <PresentationFormat>Widescreen</PresentationFormat>
  <Paragraphs>237</Paragraphs>
  <Slides>33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Wingdings</vt:lpstr>
      <vt:lpstr>SoftUni</vt:lpstr>
      <vt:lpstr>Основи на CSS</vt:lpstr>
      <vt:lpstr>Съдържание</vt:lpstr>
      <vt:lpstr>CSS</vt:lpstr>
      <vt:lpstr>CSS</vt:lpstr>
      <vt:lpstr>Роля на CSS</vt:lpstr>
      <vt:lpstr>Основни компоненти на CSS</vt:lpstr>
      <vt:lpstr>Селектори</vt:lpstr>
      <vt:lpstr>Основни видове селектори</vt:lpstr>
      <vt:lpstr>Свойства (1)</vt:lpstr>
      <vt:lpstr>Свойства (2)</vt:lpstr>
      <vt:lpstr>Разстояния в CSS</vt:lpstr>
      <vt:lpstr>Разстояния в CSS – Визуален пример</vt:lpstr>
      <vt:lpstr>Коментари</vt:lpstr>
      <vt:lpstr>Селектори, свойства и стойности</vt:lpstr>
      <vt:lpstr>Добри практики при работа със CSS</vt:lpstr>
      <vt:lpstr>Начини за добавяне на CSS (1)</vt:lpstr>
      <vt:lpstr>Начини за добавяне на CSS (2)</vt:lpstr>
      <vt:lpstr>Добри практики при добавяне на CSS</vt:lpstr>
      <vt:lpstr>Добри практики при работа със CSS</vt:lpstr>
      <vt:lpstr>Пример</vt:lpstr>
      <vt:lpstr>Стилизиране на уеб страница</vt:lpstr>
      <vt:lpstr>Създаване на CSS файл</vt:lpstr>
      <vt:lpstr>Стилизиране на body</vt:lpstr>
      <vt:lpstr>Стилизиране на body – Резултат</vt:lpstr>
      <vt:lpstr>Стилизиране на header</vt:lpstr>
      <vt:lpstr>Стилизиране на header – Резултат</vt:lpstr>
      <vt:lpstr>Стилизиране на main</vt:lpstr>
      <vt:lpstr>Стилизиране на main – Резултат</vt:lpstr>
      <vt:lpstr>Стилизиране на текст</vt:lpstr>
      <vt:lpstr>Стилизиране на текст – 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на CSS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482</cp:revision>
  <dcterms:created xsi:type="dcterms:W3CDTF">2018-05-23T13:08:44Z</dcterms:created>
  <dcterms:modified xsi:type="dcterms:W3CDTF">2026-09-04T12:01:36Z</dcterms:modified>
  <cp:category/>
</cp:coreProperties>
</file>