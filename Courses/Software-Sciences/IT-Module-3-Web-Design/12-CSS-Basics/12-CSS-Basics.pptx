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6"/>
  </p:notesMasterIdLst>
  <p:handoutMasterIdLst>
    <p:handoutMasterId r:id="rId27"/>
  </p:handoutMasterIdLst>
  <p:sldIdLst>
    <p:sldId id="503" r:id="rId2"/>
    <p:sldId id="276" r:id="rId3"/>
    <p:sldId id="353" r:id="rId4"/>
    <p:sldId id="880" r:id="rId5"/>
    <p:sldId id="871" r:id="rId6"/>
    <p:sldId id="903" r:id="rId7"/>
    <p:sldId id="610" r:id="rId8"/>
    <p:sldId id="869" r:id="rId9"/>
    <p:sldId id="907" r:id="rId10"/>
    <p:sldId id="883" r:id="rId11"/>
    <p:sldId id="908" r:id="rId12"/>
    <p:sldId id="910" r:id="rId13"/>
    <p:sldId id="909" r:id="rId14"/>
    <p:sldId id="895" r:id="rId15"/>
    <p:sldId id="894" r:id="rId16"/>
    <p:sldId id="616" r:id="rId17"/>
    <p:sldId id="868" r:id="rId18"/>
    <p:sldId id="904" r:id="rId19"/>
    <p:sldId id="905" r:id="rId20"/>
    <p:sldId id="906" r:id="rId21"/>
    <p:sldId id="654" r:id="rId22"/>
    <p:sldId id="633" r:id="rId23"/>
    <p:sldId id="504" r:id="rId24"/>
    <p:sldId id="50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CSS" id="{66DCFE1F-60FD-44F2-BE82-706DDBC14898}">
          <p14:sldIdLst>
            <p14:sldId id="353"/>
            <p14:sldId id="880"/>
            <p14:sldId id="871"/>
            <p14:sldId id="903"/>
          </p14:sldIdLst>
        </p14:section>
        <p14:section name="Основни компоненти на CSS" id="{EB44CA50-B176-0C4C-B0D0-5459023C7783}">
          <p14:sldIdLst>
            <p14:sldId id="610"/>
            <p14:sldId id="869"/>
            <p14:sldId id="907"/>
            <p14:sldId id="883"/>
            <p14:sldId id="908"/>
            <p14:sldId id="910"/>
            <p14:sldId id="909"/>
          </p14:sldIdLst>
        </p14:section>
        <p14:section name="Грид система" id="{30FD680E-FD68-D941-B3C3-76A3AFC25B7E}">
          <p14:sldIdLst>
            <p14:sldId id="895"/>
            <p14:sldId id="894"/>
          </p14:sldIdLst>
        </p14:section>
        <p14:section name="Добри практики при работа със CSS" id="{2B3E1915-4BA2-9447-BC07-AE658EE7EC35}">
          <p14:sldIdLst>
            <p14:sldId id="616"/>
            <p14:sldId id="868"/>
            <p14:sldId id="904"/>
            <p14:sldId id="905"/>
            <p14:sldId id="906"/>
          </p14:sldIdLst>
        </p14:section>
        <p14:section name="Демо" id="{276EAB92-AF41-DD42-AFD3-D1ABB239E1A7}">
          <p14:sldIdLst>
            <p14:sldId id="654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10" autoAdjust="0"/>
    <p:restoredTop sz="95579" autoAdjust="0"/>
  </p:normalViewPr>
  <p:slideViewPr>
    <p:cSldViewPr showGuides="1">
      <p:cViewPr varScale="1">
        <p:scale>
          <a:sx n="93" d="100"/>
          <a:sy n="93" d="100"/>
        </p:scale>
        <p:origin x="216" y="528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7.05.26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4204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4400" dirty="0"/>
              <a:t>Основни компоненти на </a:t>
            </a:r>
            <a:r>
              <a:rPr lang="en-US" sz="4400" dirty="0"/>
              <a:t>CSS</a:t>
            </a:r>
            <a:endParaRPr lang="bg-BG" sz="4400" dirty="0"/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6600" dirty="0"/>
              <a:t>Основи на </a:t>
            </a:r>
            <a:r>
              <a:rPr lang="en-US" sz="6600" dirty="0"/>
              <a:t>CSS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3B88FF5-DD9C-94B6-BCA0-1C02CDB89B3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92500" lnSpcReduction="10000"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CSS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Въведение</a:t>
            </a:r>
            <a:r>
              <a:rPr lang="bg-BG" sz="3600" dirty="0"/>
              <a:t> и </a:t>
            </a:r>
            <a:r>
              <a:rPr lang="bg-BG" sz="3600" b="1" dirty="0"/>
              <a:t>роля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​​</a:t>
            </a:r>
            <a:r>
              <a:rPr lang="bg-BG" sz="3800" b="1" dirty="0">
                <a:solidFill>
                  <a:schemeClr val="bg1"/>
                </a:solidFill>
              </a:rPr>
              <a:t>Основни</a:t>
            </a:r>
            <a:r>
              <a:rPr lang="bg-BG" sz="3800" dirty="0">
                <a:solidFill>
                  <a:schemeClr val="bg1"/>
                </a:solidFill>
              </a:rPr>
              <a:t> </a:t>
            </a:r>
            <a:r>
              <a:rPr lang="bg-BG" sz="3800" b="1" dirty="0">
                <a:solidFill>
                  <a:schemeClr val="bg1"/>
                </a:solidFill>
              </a:rPr>
              <a:t>компоненти</a:t>
            </a:r>
            <a:r>
              <a:rPr lang="bg-BG" sz="3800" dirty="0">
                <a:solidFill>
                  <a:schemeClr val="bg1"/>
                </a:solidFill>
              </a:rPr>
              <a:t> </a:t>
            </a:r>
            <a:r>
              <a:rPr lang="bg-BG" sz="3800" dirty="0"/>
              <a:t>на</a:t>
            </a:r>
            <a:r>
              <a:rPr lang="en-US" sz="3800" dirty="0"/>
              <a:t> </a:t>
            </a:r>
            <a:r>
              <a:rPr lang="en-US" sz="3800" b="1" dirty="0">
                <a:solidFill>
                  <a:schemeClr val="bg1"/>
                </a:solidFill>
              </a:rPr>
              <a:t>CSS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Селектори</a:t>
            </a:r>
            <a:r>
              <a:rPr lang="bg-BG" sz="3600" dirty="0"/>
              <a:t>, </a:t>
            </a:r>
            <a:r>
              <a:rPr lang="bg-BG" sz="3600" b="1" dirty="0"/>
              <a:t>свойства</a:t>
            </a:r>
            <a:r>
              <a:rPr lang="bg-BG" sz="3600" dirty="0"/>
              <a:t>, </a:t>
            </a:r>
            <a:r>
              <a:rPr lang="bg-BG" sz="3600" b="1" dirty="0"/>
              <a:t>коментари</a:t>
            </a:r>
            <a:endParaRPr lang="en-US" sz="3600" b="1" dirty="0"/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Грид система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​​</a:t>
            </a:r>
            <a:r>
              <a:rPr lang="bg-BG" sz="3800" b="1" dirty="0">
                <a:solidFill>
                  <a:schemeClr val="bg1"/>
                </a:solidFill>
              </a:rPr>
              <a:t>Добри практики </a:t>
            </a:r>
            <a:r>
              <a:rPr lang="bg-BG" sz="3800" dirty="0"/>
              <a:t>при </a:t>
            </a:r>
            <a:r>
              <a:rPr lang="bg-BG" sz="3800" b="1" dirty="0"/>
              <a:t>работа</a:t>
            </a:r>
            <a:r>
              <a:rPr lang="bg-BG" sz="3800" dirty="0"/>
              <a:t> със </a:t>
            </a:r>
            <a:r>
              <a:rPr lang="en-US" sz="3800" b="1" dirty="0">
                <a:solidFill>
                  <a:schemeClr val="bg1"/>
                </a:solidFill>
              </a:rPr>
              <a:t>CSS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Начини</a:t>
            </a:r>
            <a:r>
              <a:rPr lang="bg-BG" sz="3600" dirty="0"/>
              <a:t> за </a:t>
            </a:r>
            <a:r>
              <a:rPr lang="bg-BG" sz="3600" b="1" dirty="0"/>
              <a:t>добавяне</a:t>
            </a:r>
            <a:r>
              <a:rPr lang="bg-BG" sz="3600" dirty="0"/>
              <a:t> на </a:t>
            </a:r>
            <a:r>
              <a:rPr lang="en-US" sz="3600" b="1" dirty="0"/>
              <a:t>CSS</a:t>
            </a:r>
            <a:endParaRPr lang="bg-BG" sz="3600" b="1" dirty="0"/>
          </a:p>
          <a:p>
            <a:pPr>
              <a:buClr>
                <a:schemeClr val="tx1"/>
              </a:buClr>
            </a:pPr>
            <a:r>
              <a:rPr lang="en-US" sz="3800" dirty="0"/>
              <a:t>​</a:t>
            </a:r>
            <a:r>
              <a:rPr lang="bg-BG" sz="3800" dirty="0"/>
              <a:t>​</a:t>
            </a:r>
            <a:r>
              <a:rPr lang="en-US" sz="3800" dirty="0">
                <a:solidFill>
                  <a:schemeClr val="bg1"/>
                </a:solidFill>
              </a:rPr>
              <a:t>​</a:t>
            </a:r>
            <a:r>
              <a:rPr lang="bg-BG" sz="3800" dirty="0">
                <a:highlight>
                  <a:srgbClr val="FFFF00"/>
                </a:highlight>
              </a:rPr>
              <a:t>​​​</a:t>
            </a:r>
            <a:r>
              <a:rPr lang="bg-BG" sz="3800" b="1" dirty="0"/>
              <a:t>Пример: </a:t>
            </a:r>
            <a:r>
              <a:rPr lang="bg-BG" sz="3800" dirty="0"/>
              <a:t>Стилизиране на уеб страница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Въведение и роля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US" sz="6000" dirty="0"/>
              <a:t>CSS</a:t>
            </a:r>
          </a:p>
        </p:txBody>
      </p:sp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CSS</a:t>
            </a:r>
            <a:r>
              <a:rPr lang="en-GB" sz="3200" b="1" dirty="0"/>
              <a:t> (</a:t>
            </a:r>
            <a:r>
              <a:rPr lang="en-GB" sz="3200" b="1" dirty="0">
                <a:solidFill>
                  <a:schemeClr val="bg1"/>
                </a:solidFill>
              </a:rPr>
              <a:t>C</a:t>
            </a:r>
            <a:r>
              <a:rPr lang="en-GB" sz="3200" b="1" dirty="0"/>
              <a:t>ascading </a:t>
            </a:r>
            <a:r>
              <a:rPr lang="en-GB" sz="3200" b="1" dirty="0">
                <a:solidFill>
                  <a:schemeClr val="bg1"/>
                </a:solidFill>
              </a:rPr>
              <a:t>S</a:t>
            </a:r>
            <a:r>
              <a:rPr lang="en-GB" sz="3200" b="1" dirty="0"/>
              <a:t>tyle </a:t>
            </a:r>
            <a:r>
              <a:rPr lang="en-GB" sz="3200" b="1" dirty="0">
                <a:solidFill>
                  <a:schemeClr val="bg1"/>
                </a:solidFill>
              </a:rPr>
              <a:t>S</a:t>
            </a:r>
            <a:r>
              <a:rPr lang="en-GB" sz="3200" b="1" dirty="0"/>
              <a:t>heets) </a:t>
            </a:r>
            <a:r>
              <a:rPr lang="bg-BG" sz="3200" dirty="0"/>
              <a:t>е </a:t>
            </a:r>
            <a:r>
              <a:rPr lang="bg-BG" sz="3200" b="1" dirty="0">
                <a:solidFill>
                  <a:schemeClr val="bg1"/>
                </a:solidFill>
              </a:rPr>
              <a:t>език </a:t>
            </a:r>
            <a:r>
              <a:rPr lang="bg-BG" sz="3200" dirty="0"/>
              <a:t>за </a:t>
            </a:r>
            <a:r>
              <a:rPr lang="bg-BG" sz="3200" b="1" dirty="0"/>
              <a:t>стилове</a:t>
            </a:r>
            <a:r>
              <a:rPr lang="bg-BG" sz="3200" dirty="0"/>
              <a:t> </a:t>
            </a:r>
          </a:p>
          <a:p>
            <a:r>
              <a:rPr lang="bg-BG" sz="3200" dirty="0"/>
              <a:t>Използва се за </a:t>
            </a:r>
            <a:r>
              <a:rPr lang="bg-BG" sz="3200" b="1" dirty="0">
                <a:solidFill>
                  <a:schemeClr val="bg1"/>
                </a:solidFill>
              </a:rPr>
              <a:t>оформление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дизайн</a:t>
            </a:r>
            <a:r>
              <a:rPr lang="bg-BG" sz="3200" dirty="0"/>
              <a:t> на </a:t>
            </a:r>
            <a:r>
              <a:rPr lang="bg-BG" sz="3200" b="1" dirty="0"/>
              <a:t>уеб страници</a:t>
            </a:r>
          </a:p>
          <a:p>
            <a:r>
              <a:rPr lang="bg-BG" sz="3200" dirty="0"/>
              <a:t>Определя </a:t>
            </a:r>
            <a:r>
              <a:rPr lang="bg-BG" sz="3200" b="1" dirty="0"/>
              <a:t>цветове</a:t>
            </a:r>
            <a:r>
              <a:rPr lang="bg-BG" sz="3200" dirty="0"/>
              <a:t>, </a:t>
            </a:r>
            <a:r>
              <a:rPr lang="bg-BG" sz="3200" b="1" dirty="0"/>
              <a:t>шрифтове</a:t>
            </a:r>
            <a:r>
              <a:rPr lang="bg-BG" sz="3200" dirty="0"/>
              <a:t>, </a:t>
            </a:r>
            <a:r>
              <a:rPr lang="bg-BG" sz="3200" b="1" dirty="0"/>
              <a:t>разположение</a:t>
            </a:r>
            <a:r>
              <a:rPr lang="bg-BG" sz="3200" dirty="0"/>
              <a:t> и </a:t>
            </a:r>
            <a:r>
              <a:rPr lang="bg-BG" sz="3200" b="1" dirty="0"/>
              <a:t>външен вид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95760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4D2E3B-82C0-9F61-91B3-1B35300C9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CCC14D-B6E2-9F46-2064-E507E12B0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b="1" dirty="0"/>
              <a:t>Оформя </a:t>
            </a:r>
            <a:r>
              <a:rPr lang="bg-BG" sz="3200" b="1" dirty="0">
                <a:solidFill>
                  <a:schemeClr val="bg1"/>
                </a:solidFill>
              </a:rPr>
              <a:t>визуално</a:t>
            </a:r>
            <a:r>
              <a:rPr lang="bg-BG" sz="3200" b="1" dirty="0"/>
              <a:t> </a:t>
            </a:r>
            <a:r>
              <a:rPr lang="en-US" sz="3200" b="1" dirty="0"/>
              <a:t>HTML</a:t>
            </a:r>
            <a:r>
              <a:rPr lang="bg-BG" sz="3200" b="1" dirty="0">
                <a:solidFill>
                  <a:schemeClr val="bg1"/>
                </a:solidFill>
              </a:rPr>
              <a:t> </a:t>
            </a:r>
            <a:r>
              <a:rPr lang="bg-BG" sz="3200" b="1" dirty="0"/>
              <a:t>съдържанието</a:t>
            </a:r>
          </a:p>
          <a:p>
            <a:r>
              <a:rPr lang="bg-BG" sz="3200" b="1" dirty="0"/>
              <a:t>Разделя </a:t>
            </a:r>
            <a:r>
              <a:rPr lang="bg-BG" sz="3200" b="1" dirty="0">
                <a:solidFill>
                  <a:schemeClr val="bg1"/>
                </a:solidFill>
              </a:rPr>
              <a:t>съдържание</a:t>
            </a:r>
            <a:r>
              <a:rPr lang="bg-BG" sz="3200" dirty="0"/>
              <a:t> от </a:t>
            </a:r>
            <a:r>
              <a:rPr lang="bg-BG" sz="3200" b="1" dirty="0">
                <a:solidFill>
                  <a:schemeClr val="bg1"/>
                </a:solidFill>
              </a:rPr>
              <a:t>дизайн</a:t>
            </a:r>
          </a:p>
          <a:p>
            <a:r>
              <a:rPr lang="bg-BG" sz="3200" b="1" dirty="0"/>
              <a:t>Позволява </a:t>
            </a:r>
            <a:r>
              <a:rPr lang="bg-BG" sz="3200" dirty="0"/>
              <a:t>създаване на</a:t>
            </a:r>
            <a:r>
              <a:rPr lang="bg-BG" sz="3200" b="1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красиви</a:t>
            </a:r>
            <a:r>
              <a:rPr lang="bg-BG" sz="3200" b="1" dirty="0"/>
              <a:t> </a:t>
            </a:r>
            <a:r>
              <a:rPr lang="bg-BG" sz="3200" dirty="0"/>
              <a:t>и </a:t>
            </a:r>
            <a:r>
              <a:rPr lang="bg-BG" sz="3200" b="1" dirty="0">
                <a:solidFill>
                  <a:schemeClr val="bg1"/>
                </a:solidFill>
              </a:rPr>
              <a:t>подредени</a:t>
            </a:r>
            <a:r>
              <a:rPr lang="bg-BG" sz="3200" b="1" dirty="0"/>
              <a:t> уеб страници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Работи</a:t>
            </a:r>
            <a:r>
              <a:rPr lang="bg-BG" sz="3200" dirty="0">
                <a:solidFill>
                  <a:schemeClr val="bg1"/>
                </a:solidFill>
              </a:rPr>
              <a:t> </a:t>
            </a:r>
            <a:r>
              <a:rPr lang="bg-BG" sz="3200" b="1" dirty="0">
                <a:solidFill>
                  <a:schemeClr val="bg1"/>
                </a:solidFill>
              </a:rPr>
              <a:t>съвместно </a:t>
            </a:r>
            <a:r>
              <a:rPr lang="bg-BG" sz="3200" dirty="0"/>
              <a:t>с</a:t>
            </a:r>
            <a:r>
              <a:rPr lang="bg-BG" sz="3200" b="1" dirty="0"/>
              <a:t> </a:t>
            </a:r>
            <a:r>
              <a:rPr lang="en-US" sz="3200" b="1" dirty="0"/>
              <a:t>HTML</a:t>
            </a:r>
            <a:r>
              <a:rPr lang="bg-BG" sz="3200" b="1" dirty="0"/>
              <a:t> </a:t>
            </a:r>
            <a:r>
              <a:rPr lang="bg-BG" sz="3200" dirty="0"/>
              <a:t>и</a:t>
            </a:r>
            <a:r>
              <a:rPr lang="bg-BG" sz="3200" b="1" dirty="0"/>
              <a:t> </a:t>
            </a:r>
            <a:r>
              <a:rPr lang="en-US" sz="3200" b="1" dirty="0"/>
              <a:t>JavaScript</a:t>
            </a:r>
            <a:endParaRPr lang="en-BG" sz="32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F48D2-3FC6-5313-D86E-F47B1ED4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Роля на </a:t>
            </a:r>
            <a:r>
              <a:rPr lang="en-US" dirty="0"/>
              <a:t>CSS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399119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51C037-785A-ED57-9B86-2C6953B25F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E253FA-928C-BE3D-0AF5-70F52CB3BE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HTML</a:t>
            </a:r>
            <a:r>
              <a:rPr lang="en-GB" dirty="0"/>
              <a:t> → </a:t>
            </a:r>
            <a:r>
              <a:rPr lang="bg-BG" b="1" dirty="0"/>
              <a:t>структура</a:t>
            </a:r>
            <a:r>
              <a:rPr lang="bg-BG" dirty="0"/>
              <a:t> </a:t>
            </a:r>
          </a:p>
          <a:p>
            <a:r>
              <a:rPr lang="en-GB" b="1" dirty="0">
                <a:solidFill>
                  <a:schemeClr val="bg1"/>
                </a:solidFill>
              </a:rPr>
              <a:t>CSS</a:t>
            </a:r>
            <a:r>
              <a:rPr lang="en-GB" dirty="0"/>
              <a:t> → </a:t>
            </a:r>
            <a:r>
              <a:rPr lang="bg-BG" b="1" dirty="0"/>
              <a:t>дизайн</a:t>
            </a:r>
            <a:r>
              <a:rPr lang="bg-BG" dirty="0"/>
              <a:t> </a:t>
            </a:r>
          </a:p>
          <a:p>
            <a:r>
              <a:rPr lang="en-GB" b="1" dirty="0">
                <a:solidFill>
                  <a:schemeClr val="bg1"/>
                </a:solidFill>
              </a:rPr>
              <a:t>JavaScript</a:t>
            </a:r>
            <a:r>
              <a:rPr lang="en-GB" dirty="0"/>
              <a:t> → </a:t>
            </a:r>
            <a:r>
              <a:rPr lang="bg-BG" b="1" dirty="0"/>
              <a:t>интерактивност</a:t>
            </a:r>
            <a:r>
              <a:rPr lang="bg-BG" dirty="0"/>
              <a:t> </a:t>
            </a:r>
          </a:p>
          <a:p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A8DF02-EF8B-9EBC-86C7-4960B0CB8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Връзка между </a:t>
            </a:r>
            <a:r>
              <a:rPr lang="en-US" dirty="0"/>
              <a:t>HTML </a:t>
            </a:r>
            <a:r>
              <a:rPr lang="bg-BG" dirty="0"/>
              <a:t>и </a:t>
            </a:r>
            <a:r>
              <a:rPr lang="en-US" dirty="0"/>
              <a:t>CSS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2510939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Селектори, свойства, коментари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4400" dirty="0"/>
              <a:t>Основни компоненти на</a:t>
            </a:r>
            <a:r>
              <a:rPr lang="en-US" sz="4400" dirty="0"/>
              <a:t> CSS</a:t>
            </a:r>
          </a:p>
        </p:txBody>
      </p:sp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600" dirty="0"/>
              <a:t>Използват се</a:t>
            </a:r>
            <a:r>
              <a:rPr lang="en-US" sz="3600" dirty="0"/>
              <a:t> </a:t>
            </a:r>
            <a:r>
              <a:rPr lang="bg-BG" sz="3600" dirty="0"/>
              <a:t>за </a:t>
            </a:r>
            <a:r>
              <a:rPr lang="bg-BG" sz="3600" b="1" dirty="0"/>
              <a:t>избиране</a:t>
            </a:r>
            <a:r>
              <a:rPr lang="bg-BG" sz="3600" dirty="0"/>
              <a:t> на </a:t>
            </a:r>
            <a:r>
              <a:rPr lang="en-US" sz="3600" b="1" dirty="0">
                <a:solidFill>
                  <a:schemeClr val="bg1"/>
                </a:solidFill>
              </a:rPr>
              <a:t>HTML </a:t>
            </a:r>
            <a:r>
              <a:rPr lang="bg-BG" sz="3600" b="1" dirty="0">
                <a:solidFill>
                  <a:schemeClr val="bg1"/>
                </a:solidFill>
              </a:rPr>
              <a:t>елементи</a:t>
            </a:r>
          </a:p>
          <a:p>
            <a:r>
              <a:rPr lang="bg-BG" sz="3600" dirty="0"/>
              <a:t>Указват </a:t>
            </a:r>
            <a:r>
              <a:rPr lang="bg-BG" sz="3600" b="1" dirty="0">
                <a:solidFill>
                  <a:schemeClr val="bg1"/>
                </a:solidFill>
              </a:rPr>
              <a:t>на кои елементи </a:t>
            </a:r>
            <a:r>
              <a:rPr lang="bg-BG" sz="3600" dirty="0"/>
              <a:t>ще се приложи </a:t>
            </a:r>
            <a:r>
              <a:rPr lang="bg-BG" sz="3600" b="1" dirty="0"/>
              <a:t>стилът</a:t>
            </a:r>
          </a:p>
          <a:p>
            <a:r>
              <a:rPr lang="bg-BG" sz="3600" dirty="0"/>
              <a:t>Един </a:t>
            </a:r>
            <a:r>
              <a:rPr lang="en-US" sz="3600" b="1" dirty="0"/>
              <a:t>CSS </a:t>
            </a:r>
            <a:r>
              <a:rPr lang="bg-BG" sz="3600" b="1" dirty="0"/>
              <a:t>файл </a:t>
            </a:r>
            <a:r>
              <a:rPr lang="bg-BG" sz="3600" dirty="0"/>
              <a:t>може да съдържа </a:t>
            </a:r>
            <a:r>
              <a:rPr lang="bg-BG" sz="3600" b="1" dirty="0">
                <a:solidFill>
                  <a:schemeClr val="bg1"/>
                </a:solidFill>
              </a:rPr>
              <a:t>много селектори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Селектори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410032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b="1" dirty="0">
                <a:solidFill>
                  <a:schemeClr val="bg1"/>
                </a:solidFill>
              </a:rPr>
              <a:t>По елемент</a:t>
            </a:r>
          </a:p>
          <a:p>
            <a:pPr lvl="1"/>
            <a:r>
              <a:rPr lang="bg-BG" sz="3000" dirty="0"/>
              <a:t>Избира </a:t>
            </a:r>
            <a:r>
              <a:rPr lang="bg-BG" sz="3000" b="1" dirty="0"/>
              <a:t>всички елементи </a:t>
            </a:r>
            <a:r>
              <a:rPr lang="bg-BG" sz="3000" dirty="0"/>
              <a:t>от </a:t>
            </a:r>
            <a:r>
              <a:rPr lang="bg-BG" sz="3000" b="1" dirty="0"/>
              <a:t>даден</a:t>
            </a:r>
            <a:r>
              <a:rPr lang="bg-BG" sz="3000" dirty="0"/>
              <a:t> </a:t>
            </a:r>
            <a:r>
              <a:rPr lang="bg-BG" sz="3000" b="1" dirty="0"/>
              <a:t>тип</a:t>
            </a:r>
          </a:p>
          <a:p>
            <a:pPr lvl="1"/>
            <a:endParaRPr lang="bg-BG" sz="2000" dirty="0"/>
          </a:p>
          <a:p>
            <a:r>
              <a:rPr lang="bg-BG" sz="3200" b="1" dirty="0">
                <a:solidFill>
                  <a:schemeClr val="bg1"/>
                </a:solidFill>
              </a:rPr>
              <a:t>По клас</a:t>
            </a:r>
          </a:p>
          <a:p>
            <a:pPr lvl="1"/>
            <a:r>
              <a:rPr lang="bg-BG" sz="3000" dirty="0"/>
              <a:t>Избира </a:t>
            </a:r>
            <a:r>
              <a:rPr lang="bg-BG" sz="3000" b="1" dirty="0"/>
              <a:t>елементи</a:t>
            </a:r>
            <a:r>
              <a:rPr lang="bg-BG" sz="3000" dirty="0"/>
              <a:t> с </a:t>
            </a:r>
            <a:r>
              <a:rPr lang="bg-BG" sz="3000" b="1" dirty="0"/>
              <a:t>даден клас</a:t>
            </a:r>
          </a:p>
          <a:p>
            <a:pPr lvl="1"/>
            <a:endParaRPr lang="bg-BG" sz="2000" dirty="0"/>
          </a:p>
          <a:p>
            <a:r>
              <a:rPr lang="bg-BG" sz="3200" b="1" dirty="0">
                <a:solidFill>
                  <a:schemeClr val="bg1"/>
                </a:solidFill>
              </a:rPr>
              <a:t>По id</a:t>
            </a:r>
          </a:p>
          <a:p>
            <a:pPr lvl="1"/>
            <a:r>
              <a:rPr lang="bg-BG" sz="3000" dirty="0"/>
              <a:t>Избира </a:t>
            </a:r>
            <a:r>
              <a:rPr lang="bg-BG" sz="3000" b="1" dirty="0"/>
              <a:t>един уникален елемент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видове селектори</a:t>
            </a:r>
            <a:endParaRPr lang="en-BG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D60F9E-2591-65C3-44B2-883FC707A606}"/>
              </a:ext>
            </a:extLst>
          </p:cNvPr>
          <p:cNvSpPr txBox="1">
            <a:spLocks/>
          </p:cNvSpPr>
          <p:nvPr/>
        </p:nvSpPr>
        <p:spPr>
          <a:xfrm>
            <a:off x="693810" y="5987209"/>
            <a:ext cx="5040000" cy="492443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600" b="1" noProof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#title </a:t>
            </a:r>
            <a:r>
              <a:rPr lang="en-GB" sz="2600" b="1" noProof="1">
                <a:latin typeface="Consolas" panose="020B0609020204030204" pitchFamily="49" charset="0"/>
                <a:cs typeface="Consolas" panose="020B0609020204030204" pitchFamily="49" charset="0"/>
              </a:rPr>
              <a:t>{ color: red; }</a:t>
            </a:r>
            <a:endParaRPr lang="en-US" sz="2600" b="1" noProof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5292641B-96F2-513F-B75B-F277724AA460}"/>
              </a:ext>
            </a:extLst>
          </p:cNvPr>
          <p:cNvSpPr txBox="1">
            <a:spLocks/>
          </p:cNvSpPr>
          <p:nvPr/>
        </p:nvSpPr>
        <p:spPr>
          <a:xfrm>
            <a:off x="683337" y="4194000"/>
            <a:ext cx="5040000" cy="492443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sz="2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.text </a:t>
            </a:r>
            <a:r>
              <a:rPr lang="en-GB" sz="2600" b="1" dirty="0">
                <a:latin typeface="Consolas" panose="020B0609020204030204" pitchFamily="49" charset="0"/>
                <a:cs typeface="Consolas" panose="020B0609020204030204" pitchFamily="49" charset="0"/>
              </a:rPr>
              <a:t>{ color: green; }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B749D44-958F-D256-5EAC-3E4CF5097C83}"/>
              </a:ext>
            </a:extLst>
          </p:cNvPr>
          <p:cNvSpPr txBox="1">
            <a:spLocks/>
          </p:cNvSpPr>
          <p:nvPr/>
        </p:nvSpPr>
        <p:spPr>
          <a:xfrm>
            <a:off x="691792" y="2400791"/>
            <a:ext cx="5040000" cy="492443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600" b="1" noProof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 </a:t>
            </a:r>
            <a:r>
              <a:rPr lang="en-GB" sz="2600" b="1" noProof="1">
                <a:latin typeface="Consolas" panose="020B0609020204030204" pitchFamily="49" charset="0"/>
                <a:cs typeface="Consolas" panose="020B0609020204030204" pitchFamily="49" charset="0"/>
              </a:rPr>
              <a:t>{ color: blue; }</a:t>
            </a:r>
            <a:endParaRPr lang="en-US" sz="2600" b="1" noProof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81669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0050E9-8316-4238-E1DD-70F855312D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6B9FF28-AB2E-2517-E828-316BB0E51E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sz="3200" dirty="0"/>
              <a:t>Определят </a:t>
            </a:r>
            <a:r>
              <a:rPr lang="bg-BG" sz="3200" b="1" dirty="0">
                <a:solidFill>
                  <a:schemeClr val="bg1"/>
                </a:solidFill>
              </a:rPr>
              <a:t>как ще изглежда </a:t>
            </a:r>
            <a:r>
              <a:rPr lang="bg-BG" sz="3200" b="1" dirty="0"/>
              <a:t>елементът</a:t>
            </a:r>
          </a:p>
          <a:p>
            <a:r>
              <a:rPr lang="bg-BG" sz="3200" dirty="0"/>
              <a:t>Описват </a:t>
            </a:r>
            <a:r>
              <a:rPr lang="bg-BG" sz="3200" b="1" dirty="0">
                <a:solidFill>
                  <a:schemeClr val="bg1"/>
                </a:solidFill>
              </a:rPr>
              <a:t>визуалните характеристики </a:t>
            </a:r>
            <a:r>
              <a:rPr lang="en-US" sz="3200" dirty="0"/>
              <a:t>(</a:t>
            </a:r>
            <a:r>
              <a:rPr lang="bg-BG" sz="3200" b="1" dirty="0"/>
              <a:t>цвят</a:t>
            </a:r>
            <a:r>
              <a:rPr lang="bg-BG" sz="3200" dirty="0"/>
              <a:t>, </a:t>
            </a:r>
            <a:r>
              <a:rPr lang="bg-BG" sz="3200" b="1" dirty="0"/>
              <a:t>размер</a:t>
            </a:r>
            <a:r>
              <a:rPr lang="bg-BG" sz="3200" dirty="0"/>
              <a:t>, </a:t>
            </a:r>
            <a:r>
              <a:rPr lang="bg-BG" sz="3200" b="1" dirty="0"/>
              <a:t>разстояние</a:t>
            </a:r>
            <a:r>
              <a:rPr lang="bg-BG" sz="3200" dirty="0"/>
              <a:t> и др.</a:t>
            </a:r>
            <a:r>
              <a:rPr lang="en-US" sz="3200" dirty="0"/>
              <a:t>)</a:t>
            </a:r>
            <a:endParaRPr lang="bg-BG" sz="3200" dirty="0"/>
          </a:p>
          <a:p>
            <a:r>
              <a:rPr lang="bg-BG" sz="3200" dirty="0"/>
              <a:t>Всяко </a:t>
            </a:r>
            <a:r>
              <a:rPr lang="bg-BG" sz="3200" b="1" dirty="0">
                <a:solidFill>
                  <a:schemeClr val="bg1"/>
                </a:solidFill>
              </a:rPr>
              <a:t>свойство</a:t>
            </a:r>
            <a:r>
              <a:rPr lang="bg-BG" sz="3200" dirty="0"/>
              <a:t> има </a:t>
            </a:r>
            <a:r>
              <a:rPr lang="bg-BG" sz="3200" b="1" dirty="0">
                <a:solidFill>
                  <a:schemeClr val="bg1"/>
                </a:solidFill>
              </a:rPr>
              <a:t>стойност</a:t>
            </a:r>
          </a:p>
          <a:p>
            <a:r>
              <a:rPr lang="bg-BG" sz="3200" dirty="0"/>
              <a:t>Един</a:t>
            </a:r>
            <a:r>
              <a:rPr lang="bg-BG" sz="3200" b="1" dirty="0"/>
              <a:t> елемент </a:t>
            </a:r>
            <a:r>
              <a:rPr lang="bg-BG" sz="3200" dirty="0"/>
              <a:t>може да има </a:t>
            </a:r>
            <a:r>
              <a:rPr lang="bg-BG" sz="3200" b="1" dirty="0">
                <a:solidFill>
                  <a:schemeClr val="bg1"/>
                </a:solidFill>
              </a:rPr>
              <a:t>много свойства</a:t>
            </a:r>
          </a:p>
          <a:p>
            <a:endParaRPr lang="en-BG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5BEB0C2-4FD0-9B52-1A99-816F87B13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Свойства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459803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0050E9-8316-4238-E1DD-70F855312D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6B9FF28-AB2E-2517-E828-316BB0E51E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...</a:t>
            </a:r>
          </a:p>
          <a:p>
            <a:r>
              <a:rPr lang="en-GB" dirty="0"/>
              <a:t>color → </a:t>
            </a:r>
            <a:r>
              <a:rPr lang="bg-BG" dirty="0"/>
              <a:t>цвят на текст </a:t>
            </a:r>
            <a:r>
              <a:rPr lang="en-GB" dirty="0"/>
              <a:t>background-color → </a:t>
            </a:r>
            <a:r>
              <a:rPr lang="bg-BG" dirty="0"/>
              <a:t>фон </a:t>
            </a:r>
            <a:r>
              <a:rPr lang="en-GB" dirty="0"/>
              <a:t>font-size → </a:t>
            </a:r>
            <a:r>
              <a:rPr lang="bg-BG" dirty="0"/>
              <a:t>размер </a:t>
            </a:r>
            <a:r>
              <a:rPr lang="en-GB" dirty="0"/>
              <a:t>margin → </a:t>
            </a:r>
            <a:r>
              <a:rPr lang="bg-BG" dirty="0"/>
              <a:t>външно разстояние </a:t>
            </a:r>
            <a:r>
              <a:rPr lang="en-GB" dirty="0"/>
              <a:t>padding → </a:t>
            </a:r>
            <a:r>
              <a:rPr lang="bg-BG" dirty="0"/>
              <a:t>вътрешно разстояние</a:t>
            </a:r>
            <a:endParaRPr lang="bg-BG" b="1" dirty="0">
              <a:solidFill>
                <a:schemeClr val="bg1"/>
              </a:solidFill>
            </a:endParaRPr>
          </a:p>
          <a:p>
            <a:endParaRPr lang="en-BG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5BEB0C2-4FD0-9B52-1A99-816F87B13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Свойства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65D2904C-A16D-E1B7-5677-0E1F18489F55}"/>
              </a:ext>
            </a:extLst>
          </p:cNvPr>
          <p:cNvSpPr txBox="1">
            <a:spLocks/>
          </p:cNvSpPr>
          <p:nvPr/>
        </p:nvSpPr>
        <p:spPr>
          <a:xfrm>
            <a:off x="2893902" y="3449794"/>
            <a:ext cx="6404195" cy="2246769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800" b="1" noProof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color: </a:t>
            </a: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red;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background-color:</a:t>
            </a: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 yellow;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font-size: </a:t>
            </a: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20px;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margin: </a:t>
            </a: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10px;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padding: </a:t>
            </a: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5px;</a:t>
            </a:r>
            <a:endParaRPr lang="en-US" sz="2400" b="1" noProof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Rounded Rectangular Callout 10">
            <a:extLst>
              <a:ext uri="{FF2B5EF4-FFF2-40B4-BE49-F238E27FC236}">
                <a16:creationId xmlns:a16="http://schemas.microsoft.com/office/drawing/2014/main" id="{34BD0C7A-53C3-C2F4-9684-4E13F4F35AA7}"/>
              </a:ext>
            </a:extLst>
          </p:cNvPr>
          <p:cNvSpPr/>
          <p:nvPr/>
        </p:nvSpPr>
        <p:spPr bwMode="auto">
          <a:xfrm>
            <a:off x="2541000" y="5049204"/>
            <a:ext cx="2025000" cy="647359"/>
          </a:xfrm>
          <a:prstGeom prst="wedgeRoundRectCallout">
            <a:avLst>
              <a:gd name="adj1" fmla="val 10654"/>
              <a:gd name="adj2" fmla="val -219123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Цвят на текст</a:t>
            </a:r>
            <a:endParaRPr lang="en-BG" sz="26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211747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5D0B33-D528-4E95-DC37-24869C83B6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A26369-8452-564D-05B6-EB7A5D348F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91210" y="1108911"/>
            <a:ext cx="10129234" cy="5546589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Селекторът</a:t>
            </a:r>
            <a:r>
              <a:rPr lang="bg-BG" dirty="0"/>
              <a:t> </a:t>
            </a:r>
            <a:r>
              <a:rPr lang="bg-BG" b="1" dirty="0"/>
              <a:t>избира</a:t>
            </a:r>
            <a:r>
              <a:rPr lang="bg-BG" dirty="0"/>
              <a:t> </a:t>
            </a:r>
            <a:r>
              <a:rPr lang="bg-BG" b="1" dirty="0"/>
              <a:t>елемента</a:t>
            </a:r>
          </a:p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Свойството</a:t>
            </a:r>
            <a:r>
              <a:rPr lang="bg-BG" dirty="0"/>
              <a:t> казва </a:t>
            </a:r>
            <a:r>
              <a:rPr lang="bg-BG" b="1" dirty="0"/>
              <a:t>какво да се промени</a:t>
            </a:r>
          </a:p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Стойността</a:t>
            </a:r>
            <a:r>
              <a:rPr lang="bg-BG" dirty="0"/>
              <a:t> показва </a:t>
            </a:r>
            <a:r>
              <a:rPr lang="bg-BG" b="1" dirty="0"/>
              <a:t>как</a:t>
            </a:r>
            <a:r>
              <a:rPr lang="bg-BG" dirty="0"/>
              <a:t> точно </a:t>
            </a:r>
            <a:r>
              <a:rPr lang="bg-BG" b="1" dirty="0"/>
              <a:t>да изглежда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6E4248F-83BD-26FB-D3D5-1DC4FC6A7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Селектори, свойства и стойности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16612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0050E9-8316-4238-E1DD-70F855312D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6B9FF28-AB2E-2517-E828-316BB0E51E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p → </a:t>
            </a:r>
            <a:r>
              <a:rPr lang="bg-BG" b="1" dirty="0"/>
              <a:t>селектор</a:t>
            </a:r>
            <a:r>
              <a:rPr lang="bg-BG" dirty="0"/>
              <a:t> (избира елемент) </a:t>
            </a:r>
          </a:p>
          <a:p>
            <a:r>
              <a:rPr lang="en-GB" dirty="0"/>
              <a:t>color → </a:t>
            </a:r>
            <a:r>
              <a:rPr lang="bg-BG" b="1" dirty="0"/>
              <a:t>свойство</a:t>
            </a:r>
            <a:r>
              <a:rPr lang="bg-BG" dirty="0"/>
              <a:t> (какво променяме) </a:t>
            </a:r>
          </a:p>
          <a:p>
            <a:r>
              <a:rPr lang="en-GB" dirty="0"/>
              <a:t>red → </a:t>
            </a:r>
            <a:r>
              <a:rPr lang="bg-BG" b="1" dirty="0"/>
              <a:t>стойност</a:t>
            </a:r>
            <a:r>
              <a:rPr lang="bg-BG" dirty="0"/>
              <a:t> </a:t>
            </a:r>
          </a:p>
          <a:p>
            <a:r>
              <a:rPr lang="bg-BG" dirty="0"/>
              <a:t>/* ... */ → </a:t>
            </a:r>
            <a:r>
              <a:rPr lang="bg-BG" b="1" dirty="0"/>
              <a:t>коментар</a:t>
            </a:r>
            <a:r>
              <a:rPr lang="bg-BG" dirty="0"/>
              <a:t> (не се изпълнява)</a:t>
            </a:r>
            <a:endParaRPr lang="en-BG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5BEB0C2-4FD0-9B52-1A99-816F87B13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компоненти на </a:t>
            </a:r>
            <a:r>
              <a:rPr lang="en-US" dirty="0"/>
              <a:t>CSS</a:t>
            </a:r>
            <a:r>
              <a:rPr lang="bg-BG" dirty="0"/>
              <a:t> - Пример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65D2904C-A16D-E1B7-5677-0E1F18489F55}"/>
              </a:ext>
            </a:extLst>
          </p:cNvPr>
          <p:cNvSpPr txBox="1">
            <a:spLocks/>
          </p:cNvSpPr>
          <p:nvPr/>
        </p:nvSpPr>
        <p:spPr>
          <a:xfrm>
            <a:off x="2684217" y="3989453"/>
            <a:ext cx="6404195" cy="1815882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bg-BG" sz="2800" b="1" noProof="1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/* Това е коментар */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2800" b="1" noProof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color</a:t>
            </a: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800" b="1" noProof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red</a:t>
            </a: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2400" b="1" noProof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Rounded Rectangular Callout 10">
            <a:extLst>
              <a:ext uri="{FF2B5EF4-FFF2-40B4-BE49-F238E27FC236}">
                <a16:creationId xmlns:a16="http://schemas.microsoft.com/office/drawing/2014/main" id="{34BD0C7A-53C3-C2F4-9684-4E13F4F35AA7}"/>
              </a:ext>
            </a:extLst>
          </p:cNvPr>
          <p:cNvSpPr/>
          <p:nvPr/>
        </p:nvSpPr>
        <p:spPr bwMode="auto">
          <a:xfrm>
            <a:off x="1622608" y="5882853"/>
            <a:ext cx="2123217" cy="612671"/>
          </a:xfrm>
          <a:prstGeom prst="wedgeRoundRectCallout">
            <a:avLst>
              <a:gd name="adj1" fmla="val 10654"/>
              <a:gd name="adj2" fmla="val -219123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Селектор</a:t>
            </a:r>
            <a:endParaRPr lang="en-BG" sz="26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834977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endParaRPr lang="bg-BG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200" dirty="0"/>
              <a:t>Грид система</a:t>
            </a:r>
            <a:endParaRPr lang="en-US" sz="5200" dirty="0"/>
          </a:p>
        </p:txBody>
      </p:sp>
    </p:spTree>
    <p:extLst>
      <p:ext uri="{BB962C8B-B14F-4D97-AF65-F5344CB8AC3E}">
        <p14:creationId xmlns:p14="http://schemas.microsoft.com/office/powerpoint/2010/main" val="690940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60034A-D1BB-D74F-513F-438462E1DE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8C3FC5-0EA9-EF02-A0DD-B8B3E1E1B7B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Грид системата </a:t>
            </a:r>
            <a:r>
              <a:rPr lang="bg-BG" b="1" dirty="0"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CSS Grid) </a:t>
            </a:r>
            <a:r>
              <a:rPr lang="bg-BG" dirty="0">
                <a:latin typeface="Calibri" panose="020F0502020204030204" pitchFamily="34" charset="0"/>
                <a:cs typeface="Calibri" panose="020F0502020204030204" pitchFamily="34" charset="0"/>
              </a:rPr>
              <a:t>се използва за </a:t>
            </a:r>
            <a:r>
              <a:rPr lang="bg-BG" b="1" dirty="0">
                <a:latin typeface="Calibri" panose="020F0502020204030204" pitchFamily="34" charset="0"/>
                <a:cs typeface="Calibri" panose="020F0502020204030204" pitchFamily="34" charset="0"/>
              </a:rPr>
              <a:t>подредба</a:t>
            </a:r>
            <a:r>
              <a:rPr lang="bg-BG" dirty="0">
                <a:latin typeface="Calibri" panose="020F0502020204030204" pitchFamily="34" charset="0"/>
                <a:cs typeface="Calibri" panose="020F0502020204030204" pitchFamily="34" charset="0"/>
              </a:rPr>
              <a:t> на </a:t>
            </a:r>
            <a:r>
              <a:rPr lang="bg-BG" b="1" dirty="0">
                <a:latin typeface="Calibri" panose="020F0502020204030204" pitchFamily="34" charset="0"/>
                <a:cs typeface="Calibri" panose="020F0502020204030204" pitchFamily="34" charset="0"/>
              </a:rPr>
              <a:t>елементи</a:t>
            </a:r>
          </a:p>
          <a:p>
            <a:r>
              <a:rPr lang="bg-BG" dirty="0">
                <a:latin typeface="Calibri" panose="020F0502020204030204" pitchFamily="34" charset="0"/>
                <a:cs typeface="Calibri" panose="020F0502020204030204" pitchFamily="34" charset="0"/>
              </a:rPr>
              <a:t>Позволява </a:t>
            </a:r>
            <a:r>
              <a:rPr lang="bg-BG" b="1" dirty="0">
                <a:latin typeface="Calibri" panose="020F0502020204030204" pitchFamily="34" charset="0"/>
                <a:cs typeface="Calibri" panose="020F0502020204030204" pitchFamily="34" charset="0"/>
              </a:rPr>
              <a:t>създаване</a:t>
            </a:r>
            <a:r>
              <a:rPr lang="bg-BG" dirty="0">
                <a:latin typeface="Calibri" panose="020F0502020204030204" pitchFamily="34" charset="0"/>
                <a:cs typeface="Calibri" panose="020F0502020204030204" pitchFamily="34" charset="0"/>
              </a:rPr>
              <a:t> на </a:t>
            </a:r>
            <a:r>
              <a:rPr lang="bg-BG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редове</a:t>
            </a:r>
            <a:r>
              <a:rPr lang="bg-BG" dirty="0">
                <a:latin typeface="Calibri" panose="020F0502020204030204" pitchFamily="34" charset="0"/>
                <a:cs typeface="Calibri" panose="020F0502020204030204" pitchFamily="34" charset="0"/>
              </a:rPr>
              <a:t> и </a:t>
            </a:r>
            <a:r>
              <a:rPr lang="bg-BG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колони</a:t>
            </a:r>
            <a:endParaRPr lang="en-US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dirty="0"/>
              <a:t>1fr → </a:t>
            </a:r>
            <a:r>
              <a:rPr lang="bg-BG" dirty="0"/>
              <a:t>една част от пространството </a:t>
            </a:r>
            <a:r>
              <a:rPr lang="en-GB" dirty="0"/>
              <a:t>gap → </a:t>
            </a:r>
            <a:r>
              <a:rPr lang="bg-BG" dirty="0"/>
              <a:t>разстояние между елементите</a:t>
            </a:r>
            <a:endParaRPr lang="bg-B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4B08C65-8AA0-9891-E1E5-3D1E06676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Грид система</a:t>
            </a:r>
            <a:endParaRPr lang="en-BG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EA0866-3F42-9CD7-3819-EF3686BAB91F}"/>
              </a:ext>
            </a:extLst>
          </p:cNvPr>
          <p:cNvSpPr txBox="1">
            <a:spLocks/>
          </p:cNvSpPr>
          <p:nvPr/>
        </p:nvSpPr>
        <p:spPr>
          <a:xfrm>
            <a:off x="1107485" y="4408731"/>
            <a:ext cx="9977030" cy="2246769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8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.container {</a:t>
            </a:r>
          </a:p>
          <a:p>
            <a:pPr>
              <a:lnSpc>
                <a:spcPct val="100000"/>
              </a:lnSpc>
            </a:pPr>
            <a:r>
              <a:rPr lang="en-GB" sz="28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display: grid;</a:t>
            </a:r>
          </a:p>
          <a:p>
            <a:pPr>
              <a:lnSpc>
                <a:spcPct val="100000"/>
              </a:lnSpc>
            </a:pPr>
            <a:r>
              <a:rPr lang="en-GB" sz="28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grid-template-columns: 1fr 1fr 1fr;</a:t>
            </a:r>
          </a:p>
          <a:p>
            <a:pPr>
              <a:lnSpc>
                <a:spcPct val="100000"/>
              </a:lnSpc>
            </a:pPr>
            <a:r>
              <a:rPr lang="en-GB" sz="28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gap: 20px;</a:t>
            </a:r>
          </a:p>
          <a:p>
            <a:pPr>
              <a:lnSpc>
                <a:spcPct val="100000"/>
              </a:lnSpc>
            </a:pPr>
            <a:r>
              <a:rPr lang="en-GB" sz="28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2400" b="1" noProof="1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5837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Начини за добавяне на </a:t>
            </a:r>
            <a:r>
              <a:rPr lang="en-US" sz="4800" dirty="0"/>
              <a:t>CSS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400" dirty="0"/>
              <a:t>Добри практики при работа със </a:t>
            </a:r>
            <a:r>
              <a:rPr lang="en-US" sz="5400" dirty="0"/>
              <a:t>CSS</a:t>
            </a:r>
            <a:endParaRPr lang="en-GB" sz="5400" dirty="0"/>
          </a:p>
        </p:txBody>
      </p:sp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2FBFF4-F184-C23E-2C1C-FD299E8D5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5F615-8B65-E46D-F026-4E98106D88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sz="3600" dirty="0"/>
              <a:t>Използвайте външен </a:t>
            </a:r>
            <a:r>
              <a:rPr lang="en-GB" sz="3600" dirty="0"/>
              <a:t>CSS </a:t>
            </a:r>
            <a:r>
              <a:rPr lang="bg-BG" sz="3600" dirty="0"/>
              <a:t>файл (</a:t>
            </a:r>
            <a:r>
              <a:rPr lang="en-GB" sz="3600" dirty="0"/>
              <a:t>external CSS) </a:t>
            </a:r>
          </a:p>
          <a:p>
            <a:r>
              <a:rPr lang="bg-BG" sz="3600" dirty="0"/>
              <a:t>Пишете четим и подреден код </a:t>
            </a:r>
            <a:endParaRPr lang="en-US" sz="3600" dirty="0"/>
          </a:p>
          <a:p>
            <a:r>
              <a:rPr lang="bg-BG" sz="3600" dirty="0"/>
              <a:t>Използвайте класове вместо </a:t>
            </a:r>
            <a:r>
              <a:rPr lang="en-GB" sz="3600" dirty="0"/>
              <a:t>id </a:t>
            </a:r>
            <a:r>
              <a:rPr lang="bg-BG" sz="3600" dirty="0"/>
              <a:t>за стилизиране</a:t>
            </a:r>
            <a:endParaRPr lang="en-US" sz="3600" dirty="0"/>
          </a:p>
          <a:p>
            <a:r>
              <a:rPr lang="bg-BG" sz="3600" dirty="0"/>
              <a:t>Групирайте свързани стилове </a:t>
            </a:r>
            <a:endParaRPr lang="en-US" sz="3600" dirty="0"/>
          </a:p>
          <a:p>
            <a:r>
              <a:rPr lang="bg-BG" sz="3600" dirty="0"/>
              <a:t>Избягвайте дублиране на код </a:t>
            </a:r>
            <a:endParaRPr lang="en-US" sz="3600" dirty="0"/>
          </a:p>
          <a:p>
            <a:r>
              <a:rPr lang="bg-BG" sz="3600" dirty="0"/>
              <a:t>Използвайте смислени имена на класове (напр. .</a:t>
            </a:r>
            <a:r>
              <a:rPr lang="en-GB" sz="3600" dirty="0"/>
              <a:t>header, .card)</a:t>
            </a:r>
            <a:endParaRPr lang="en-BG" sz="34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7356EB-98F8-837B-FC55-3DEA39A28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Добри практики при работа със </a:t>
            </a:r>
            <a:r>
              <a:rPr lang="en-US" dirty="0"/>
              <a:t>CSS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634502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2FBFF4-F184-C23E-2C1C-FD299E8D5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5F615-8B65-E46D-F026-4E98106D88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sz="3600" b="1" dirty="0">
                <a:solidFill>
                  <a:schemeClr val="bg1"/>
                </a:solidFill>
              </a:rPr>
              <a:t>Вграден стил </a:t>
            </a:r>
            <a:r>
              <a:rPr lang="en-US" sz="3600" b="1" dirty="0">
                <a:solidFill>
                  <a:schemeClr val="bg1"/>
                </a:solidFill>
              </a:rPr>
              <a:t>(Inline CSS)</a:t>
            </a:r>
          </a:p>
          <a:p>
            <a:pPr lvl="1"/>
            <a:r>
              <a:rPr lang="bg-BG" sz="3400" dirty="0"/>
              <a:t>Добавя се директно в </a:t>
            </a:r>
            <a:r>
              <a:rPr lang="en-US" sz="3400" dirty="0"/>
              <a:t>HTML </a:t>
            </a:r>
            <a:r>
              <a:rPr lang="bg-BG" sz="3400" dirty="0"/>
              <a:t>елемента</a:t>
            </a:r>
            <a:endParaRPr lang="en-US" sz="3400" dirty="0"/>
          </a:p>
          <a:p>
            <a:endParaRPr lang="en-US" sz="3600" b="1" dirty="0">
              <a:solidFill>
                <a:schemeClr val="bg1"/>
              </a:solidFill>
            </a:endParaRPr>
          </a:p>
          <a:p>
            <a:r>
              <a:rPr lang="bg-BG" sz="3600" b="1" dirty="0">
                <a:solidFill>
                  <a:schemeClr val="bg1"/>
                </a:solidFill>
              </a:rPr>
              <a:t>Вътрешен стил </a:t>
            </a:r>
            <a:r>
              <a:rPr lang="en-US" sz="3600" b="1" dirty="0">
                <a:solidFill>
                  <a:schemeClr val="bg1"/>
                </a:solidFill>
              </a:rPr>
              <a:t>(Internal CSS)</a:t>
            </a:r>
          </a:p>
          <a:p>
            <a:pPr lvl="1"/>
            <a:r>
              <a:rPr lang="bg-BG" sz="3400" dirty="0"/>
              <a:t>Добавя се в &lt;</a:t>
            </a:r>
            <a:r>
              <a:rPr lang="en-US" sz="3400" dirty="0"/>
              <a:t>style&gt; </a:t>
            </a:r>
            <a:r>
              <a:rPr lang="bg-BG" sz="3400" dirty="0"/>
              <a:t>таг в </a:t>
            </a:r>
            <a:r>
              <a:rPr lang="en-US" sz="3400" dirty="0"/>
              <a:t>&lt;head&gt;</a:t>
            </a:r>
          </a:p>
          <a:p>
            <a:pPr lvl="1"/>
            <a:r>
              <a:rPr lang="bg-BG" sz="3400" dirty="0"/>
              <a:t>Използва се за малки проекти</a:t>
            </a:r>
            <a:endParaRPr lang="en-US" sz="3400" dirty="0"/>
          </a:p>
          <a:p>
            <a:endParaRPr lang="en-US" sz="3600" b="1" dirty="0">
              <a:solidFill>
                <a:schemeClr val="bg1"/>
              </a:solidFill>
            </a:endParaRPr>
          </a:p>
          <a:p>
            <a:endParaRPr lang="en-US" sz="3600" b="1" dirty="0">
              <a:solidFill>
                <a:schemeClr val="bg1"/>
              </a:solidFill>
            </a:endParaRPr>
          </a:p>
          <a:p>
            <a:endParaRPr lang="en-BG" sz="34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7356EB-98F8-837B-FC55-3DEA39A28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Начини за добавяне на </a:t>
            </a:r>
            <a:r>
              <a:rPr lang="en-US" dirty="0"/>
              <a:t>CSS (1)</a:t>
            </a:r>
            <a:endParaRPr lang="en-BG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2721C7-26ED-EA28-B968-ABEC7D1E1D18}"/>
              </a:ext>
            </a:extLst>
          </p:cNvPr>
          <p:cNvSpPr txBox="1">
            <a:spLocks/>
          </p:cNvSpPr>
          <p:nvPr/>
        </p:nvSpPr>
        <p:spPr>
          <a:xfrm>
            <a:off x="741000" y="2666277"/>
            <a:ext cx="6842564" cy="52322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&lt;p style="color: red;"&gt;</a:t>
            </a:r>
            <a:r>
              <a:rPr lang="bg-BG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Текст&lt;/</a:t>
            </a:r>
            <a:r>
              <a:rPr lang="en-GB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p&gt;</a:t>
            </a:r>
            <a:endParaRPr lang="en-US" sz="2400" b="1" noProof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F57D3EC8-6729-8016-73D4-EE66962147B1}"/>
              </a:ext>
            </a:extLst>
          </p:cNvPr>
          <p:cNvSpPr txBox="1">
            <a:spLocks/>
          </p:cNvSpPr>
          <p:nvPr/>
        </p:nvSpPr>
        <p:spPr>
          <a:xfrm>
            <a:off x="741000" y="5372255"/>
            <a:ext cx="6842564" cy="1384995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&lt;style&gt;</a:t>
            </a:r>
          </a:p>
          <a:p>
            <a:pPr>
              <a:lnSpc>
                <a:spcPct val="100000"/>
              </a:lnSpc>
            </a:pPr>
            <a:r>
              <a:rPr lang="en-GB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p { color: red; }</a:t>
            </a:r>
          </a:p>
          <a:p>
            <a:pPr>
              <a:lnSpc>
                <a:spcPct val="100000"/>
              </a:lnSpc>
            </a:pPr>
            <a:r>
              <a:rPr lang="en-GB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&lt;/style&gt;</a:t>
            </a:r>
            <a:endParaRPr lang="en-US" sz="2400" b="1" noProof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4586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2FBFF4-F184-C23E-2C1C-FD299E8D5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5F615-8B65-E46D-F026-4E98106D88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sz="3600" b="1" dirty="0">
                <a:solidFill>
                  <a:schemeClr val="bg1"/>
                </a:solidFill>
              </a:rPr>
              <a:t>Външен стил </a:t>
            </a:r>
            <a:r>
              <a:rPr lang="en-US" sz="3600" b="1" dirty="0">
                <a:solidFill>
                  <a:schemeClr val="bg1"/>
                </a:solidFill>
              </a:rPr>
              <a:t>(External CSS)</a:t>
            </a:r>
          </a:p>
          <a:p>
            <a:pPr lvl="1"/>
            <a:r>
              <a:rPr lang="en-US" sz="3400" dirty="0"/>
              <a:t>CSS </a:t>
            </a:r>
            <a:r>
              <a:rPr lang="bg-BG" sz="3400" dirty="0"/>
              <a:t>е в отделен файл</a:t>
            </a:r>
          </a:p>
          <a:p>
            <a:pPr lvl="1"/>
            <a:r>
              <a:rPr lang="bg-BG" sz="3400" dirty="0"/>
              <a:t>Свързва се с </a:t>
            </a:r>
            <a:r>
              <a:rPr lang="en-US" sz="3400" dirty="0"/>
              <a:t>HTML </a:t>
            </a:r>
            <a:r>
              <a:rPr lang="bg-BG" sz="3400" dirty="0"/>
              <a:t>чрез </a:t>
            </a:r>
            <a:r>
              <a:rPr lang="en-US" sz="3400" dirty="0"/>
              <a:t>&lt;link&gt;</a:t>
            </a:r>
          </a:p>
          <a:p>
            <a:endParaRPr lang="en-US" sz="3600" b="1" dirty="0">
              <a:solidFill>
                <a:schemeClr val="bg1"/>
              </a:solidFill>
            </a:endParaRPr>
          </a:p>
          <a:p>
            <a:endParaRPr lang="en-US" sz="3600" b="1" dirty="0">
              <a:solidFill>
                <a:schemeClr val="bg1"/>
              </a:solidFill>
            </a:endParaRPr>
          </a:p>
          <a:p>
            <a:endParaRPr lang="en-US" sz="3600" b="1" dirty="0">
              <a:solidFill>
                <a:schemeClr val="bg1"/>
              </a:solidFill>
            </a:endParaRPr>
          </a:p>
          <a:p>
            <a:endParaRPr lang="en-BG" sz="34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7356EB-98F8-837B-FC55-3DEA39A28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Начини за добавяне на </a:t>
            </a:r>
            <a:r>
              <a:rPr lang="en-US" dirty="0"/>
              <a:t>CSS (2)</a:t>
            </a:r>
            <a:endParaRPr lang="en-BG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2721C7-26ED-EA28-B968-ABEC7D1E1D18}"/>
              </a:ext>
            </a:extLst>
          </p:cNvPr>
          <p:cNvSpPr txBox="1">
            <a:spLocks/>
          </p:cNvSpPr>
          <p:nvPr/>
        </p:nvSpPr>
        <p:spPr>
          <a:xfrm>
            <a:off x="696000" y="3437288"/>
            <a:ext cx="10440000" cy="52322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&lt;link </a:t>
            </a:r>
            <a:r>
              <a:rPr lang="en-GB" sz="2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rel</a:t>
            </a:r>
            <a:r>
              <a:rPr lang="en-GB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="stylesheet" href="</a:t>
            </a:r>
            <a:r>
              <a:rPr lang="en-GB" sz="2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style.css</a:t>
            </a:r>
            <a:r>
              <a:rPr lang="en-GB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"&gt;</a:t>
            </a:r>
            <a:endParaRPr lang="en-US" sz="2400" b="1" noProof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7940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2FBFF4-F184-C23E-2C1C-FD299E8D5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5F615-8B65-E46D-F026-4E98106D88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sz="3600" dirty="0"/>
              <a:t>Добра практика е използването на външен </a:t>
            </a:r>
            <a:r>
              <a:rPr lang="en-GB" sz="3600" dirty="0"/>
              <a:t>CSS (</a:t>
            </a:r>
            <a:r>
              <a:rPr lang="en-US" sz="3600" dirty="0"/>
              <a:t>External </a:t>
            </a:r>
            <a:r>
              <a:rPr lang="en-GB" sz="3600" dirty="0"/>
              <a:t>CSS)</a:t>
            </a:r>
          </a:p>
          <a:p>
            <a:pPr lvl="1"/>
            <a:r>
              <a:rPr lang="bg-BG" sz="3400" dirty="0"/>
              <a:t>Кодът е по-подреден </a:t>
            </a:r>
          </a:p>
          <a:p>
            <a:pPr lvl="1"/>
            <a:r>
              <a:rPr lang="bg-BG" sz="3400" dirty="0"/>
              <a:t>Лесно се поддържа </a:t>
            </a:r>
          </a:p>
          <a:p>
            <a:pPr lvl="1"/>
            <a:r>
              <a:rPr lang="bg-BG" sz="3400" dirty="0"/>
              <a:t>Използва се за много страници </a:t>
            </a:r>
          </a:p>
          <a:p>
            <a:pPr lvl="1"/>
            <a:r>
              <a:rPr lang="bg-BG" sz="3400" dirty="0"/>
              <a:t>Разделя структура (</a:t>
            </a:r>
            <a:r>
              <a:rPr lang="en-GB" sz="3400" dirty="0"/>
              <a:t>HTML) </a:t>
            </a:r>
            <a:r>
              <a:rPr lang="bg-BG" sz="3400" dirty="0"/>
              <a:t>от дизайн (</a:t>
            </a:r>
            <a:r>
              <a:rPr lang="en-GB" sz="3400" dirty="0"/>
              <a:t>CSS)</a:t>
            </a:r>
          </a:p>
          <a:p>
            <a:endParaRPr lang="en-US" sz="3600" b="1" dirty="0">
              <a:solidFill>
                <a:schemeClr val="bg1"/>
              </a:solidFill>
            </a:endParaRPr>
          </a:p>
          <a:p>
            <a:endParaRPr lang="en-US" sz="3600" b="1" dirty="0">
              <a:solidFill>
                <a:schemeClr val="bg1"/>
              </a:solidFill>
            </a:endParaRPr>
          </a:p>
          <a:p>
            <a:endParaRPr lang="en-US" sz="3600" b="1" dirty="0">
              <a:solidFill>
                <a:schemeClr val="bg1"/>
              </a:solidFill>
            </a:endParaRPr>
          </a:p>
          <a:p>
            <a:endParaRPr lang="en-BG" sz="34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7356EB-98F8-837B-FC55-3DEA39A28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Добри практики при добавяне на </a:t>
            </a:r>
            <a:r>
              <a:rPr lang="en-US" dirty="0"/>
              <a:t>CSS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1165104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Стилизиране на уеб страница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endParaRPr lang="bg-BG" sz="2800" b="1" dirty="0">
              <a:solidFill>
                <a:schemeClr val="bg2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22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42443</TotalTime>
  <Words>920</Words>
  <Application>Microsoft Macintosh PowerPoint</Application>
  <PresentationFormat>Widescreen</PresentationFormat>
  <Paragraphs>168</Paragraphs>
  <Slides>24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Consolas</vt:lpstr>
      <vt:lpstr>Wingdings</vt:lpstr>
      <vt:lpstr>SoftUni</vt:lpstr>
      <vt:lpstr>Основи на CSS</vt:lpstr>
      <vt:lpstr>Съдържание</vt:lpstr>
      <vt:lpstr>CSS</vt:lpstr>
      <vt:lpstr>CSS</vt:lpstr>
      <vt:lpstr>Роля на CSS</vt:lpstr>
      <vt:lpstr>Връзка между HTML и CSS</vt:lpstr>
      <vt:lpstr>Основни компоненти на CSS</vt:lpstr>
      <vt:lpstr>Селектори</vt:lpstr>
      <vt:lpstr>Основни видове селектори</vt:lpstr>
      <vt:lpstr>Свойства</vt:lpstr>
      <vt:lpstr>Свойства</vt:lpstr>
      <vt:lpstr>Селектори, свойства и стойности</vt:lpstr>
      <vt:lpstr>Основни компоненти на CSS - Пример</vt:lpstr>
      <vt:lpstr>Грид система</vt:lpstr>
      <vt:lpstr>Грид система</vt:lpstr>
      <vt:lpstr>Добри практики при работа със CSS</vt:lpstr>
      <vt:lpstr>Добри практики при работа със CSS</vt:lpstr>
      <vt:lpstr>Начини за добавяне на CSS (1)</vt:lpstr>
      <vt:lpstr>Начини за добавяне на CSS (2)</vt:lpstr>
      <vt:lpstr>Добри практики при добавяне на CSS</vt:lpstr>
      <vt:lpstr>Пример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Основи на CSS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439</cp:revision>
  <dcterms:created xsi:type="dcterms:W3CDTF">2018-05-23T13:08:44Z</dcterms:created>
  <dcterms:modified xsi:type="dcterms:W3CDTF">2026-05-08T08:29:05Z</dcterms:modified>
  <cp:category/>
</cp:coreProperties>
</file>