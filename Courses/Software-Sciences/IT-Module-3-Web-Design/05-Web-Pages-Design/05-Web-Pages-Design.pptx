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tags/tag1.xml" ContentType="application/vnd.openxmlformats-officedocument.presentationml.tags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5" r:id="rId1"/>
  </p:sldMasterIdLst>
  <p:notesMasterIdLst>
    <p:notesMasterId r:id="rId41"/>
  </p:notesMasterIdLst>
  <p:handoutMasterIdLst>
    <p:handoutMasterId r:id="rId42"/>
  </p:handoutMasterIdLst>
  <p:sldIdLst>
    <p:sldId id="503" r:id="rId2"/>
    <p:sldId id="276" r:id="rId3"/>
    <p:sldId id="353" r:id="rId4"/>
    <p:sldId id="497" r:id="rId5"/>
    <p:sldId id="849" r:id="rId6"/>
    <p:sldId id="818" r:id="rId7"/>
    <p:sldId id="610" r:id="rId8"/>
    <p:sldId id="812" r:id="rId9"/>
    <p:sldId id="819" r:id="rId10"/>
    <p:sldId id="616" r:id="rId11"/>
    <p:sldId id="823" r:id="rId12"/>
    <p:sldId id="852" r:id="rId13"/>
    <p:sldId id="830" r:id="rId14"/>
    <p:sldId id="850" r:id="rId15"/>
    <p:sldId id="827" r:id="rId16"/>
    <p:sldId id="838" r:id="rId17"/>
    <p:sldId id="844" r:id="rId18"/>
    <p:sldId id="846" r:id="rId19"/>
    <p:sldId id="847" r:id="rId20"/>
    <p:sldId id="848" r:id="rId21"/>
    <p:sldId id="853" r:id="rId22"/>
    <p:sldId id="854" r:id="rId23"/>
    <p:sldId id="865" r:id="rId24"/>
    <p:sldId id="654" r:id="rId25"/>
    <p:sldId id="817" r:id="rId26"/>
    <p:sldId id="855" r:id="rId27"/>
    <p:sldId id="856" r:id="rId28"/>
    <p:sldId id="857" r:id="rId29"/>
    <p:sldId id="858" r:id="rId30"/>
    <p:sldId id="861" r:id="rId31"/>
    <p:sldId id="866" r:id="rId32"/>
    <p:sldId id="868" r:id="rId33"/>
    <p:sldId id="863" r:id="rId34"/>
    <p:sldId id="867" r:id="rId35"/>
    <p:sldId id="860" r:id="rId36"/>
    <p:sldId id="836" r:id="rId37"/>
    <p:sldId id="633" r:id="rId38"/>
    <p:sldId id="504" r:id="rId39"/>
    <p:sldId id="505" r:id="rId4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Въведение" id="{A0C7653D-1924-4F56-9E27-AA2B21F1DA92}">
          <p14:sldIdLst>
            <p14:sldId id="503"/>
            <p14:sldId id="276"/>
          </p14:sldIdLst>
        </p14:section>
        <p14:section name="Проектиране на уеб страници" id="{66DCFE1F-60FD-44F2-BE82-706DDBC14898}">
          <p14:sldIdLst>
            <p14:sldId id="353"/>
            <p14:sldId id="497"/>
            <p14:sldId id="849"/>
            <p14:sldId id="818"/>
          </p14:sldIdLst>
        </p14:section>
        <p14:section name="Графичен интерфейс (GUI)" id="{EB44CA50-B176-0C4C-B0D0-5459023C7783}">
          <p14:sldIdLst>
            <p14:sldId id="610"/>
            <p14:sldId id="812"/>
            <p14:sldId id="819"/>
          </p14:sldIdLst>
        </p14:section>
        <p14:section name="Схематичен дизайн (Wireframe)" id="{2B3E1915-4BA2-9447-BC07-AE658EE7EC35}">
          <p14:sldIdLst>
            <p14:sldId id="616"/>
            <p14:sldId id="823"/>
            <p14:sldId id="852"/>
            <p14:sldId id="830"/>
            <p14:sldId id="850"/>
            <p14:sldId id="827"/>
          </p14:sldIdLst>
        </p14:section>
        <p14:section name="Достъпност на уеб страници (Web Accessibility)" id="{23E1C1D3-C190-EF49-BBD0-D54C17EFBBA7}">
          <p14:sldIdLst>
            <p14:sldId id="838"/>
            <p14:sldId id="844"/>
            <p14:sldId id="846"/>
          </p14:sldIdLst>
        </p14:section>
        <p14:section name="Типове уеб страници" id="{F8DDCD39-427B-4448-9C94-04E6CF3809F1}">
          <p14:sldIdLst>
            <p14:sldId id="847"/>
            <p14:sldId id="848"/>
            <p14:sldId id="853"/>
            <p14:sldId id="854"/>
            <p14:sldId id="865"/>
          </p14:sldIdLst>
        </p14:section>
        <p14:section name="Демо" id="{276EAB92-AF41-DD42-AFD3-D1ABB239E1A7}">
          <p14:sldIdLst>
            <p14:sldId id="654"/>
            <p14:sldId id="817"/>
            <p14:sldId id="855"/>
            <p14:sldId id="856"/>
            <p14:sldId id="857"/>
            <p14:sldId id="858"/>
            <p14:sldId id="861"/>
            <p14:sldId id="866"/>
            <p14:sldId id="868"/>
            <p14:sldId id="863"/>
            <p14:sldId id="867"/>
            <p14:sldId id="860"/>
            <p14:sldId id="836"/>
          </p14:sldIdLst>
        </p14:section>
        <p14:section name="Заключение" id="{E19D07F1-86E2-47E9-B2AB-7ADC4F89DC12}">
          <p14:sldIdLst>
            <p14:sldId id="633"/>
            <p14:sldId id="504"/>
            <p14:sldId id="505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84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CB4BF2F8-D32F-9387-A6CE-368ED6EFDCF0}" name="Zaraliev" initials="KZ" userId="S::Zaraliev@students.softuni.bg::e1c6524a-140e-4108-9ad5-216363431969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PC" initials="P" lastIdx="8" clrIdx="0">
    <p:extLst>
      <p:ext uri="{19B8F6BF-5375-455C-9EA6-DF929625EA0E}">
        <p15:presenceInfo xmlns:p15="http://schemas.microsoft.com/office/powerpoint/2012/main" userId="PC" providerId="None"/>
      </p:ext>
    </p:extLst>
  </p:cmAuthor>
  <p:cmAuthor id="2" name="Mirela Damyanova" initials="MD" lastIdx="5" clrIdx="1">
    <p:extLst>
      <p:ext uri="{19B8F6BF-5375-455C-9EA6-DF929625EA0E}">
        <p15:presenceInfo xmlns:p15="http://schemas.microsoft.com/office/powerpoint/2012/main" userId="Mirela Damyanova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34465"/>
    <a:srgbClr val="ADB4C3"/>
    <a:srgbClr val="EA91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–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505E3EF-67EA-436B-97B2-0124C06EBD24}" styleName="Medium Style 4 –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16D9F66E-5EB9-4882-86FB-DCBF35E3C3E4}" styleName="Medium Style 4 –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  <a:tblStyle styleId="{22838BEF-8BB2-4498-84A7-C5851F593DF1}" styleName="Medium Style 4 –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6481" autoAdjust="0"/>
    <p:restoredTop sz="95427" autoAdjust="0"/>
  </p:normalViewPr>
  <p:slideViewPr>
    <p:cSldViewPr showGuides="1">
      <p:cViewPr varScale="1">
        <p:scale>
          <a:sx n="105" d="100"/>
          <a:sy n="105" d="100"/>
        </p:scale>
        <p:origin x="216" y="256"/>
      </p:cViewPr>
      <p:guideLst>
        <p:guide orient="horz" pos="2184"/>
        <p:guide pos="3840"/>
      </p:guideLst>
    </p:cSldViewPr>
  </p:slideViewPr>
  <p:outlineViewPr>
    <p:cViewPr>
      <p:scale>
        <a:sx n="33" d="100"/>
        <a:sy n="33" d="100"/>
      </p:scale>
      <p:origin x="0" y="-9989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-6566"/>
    </p:cViewPr>
  </p:sorterViewPr>
  <p:notesViewPr>
    <p:cSldViewPr>
      <p:cViewPr varScale="1">
        <p:scale>
          <a:sx n="60" d="100"/>
          <a:sy n="60" d="100"/>
        </p:scale>
        <p:origin x="3187" y="48"/>
      </p:cViewPr>
      <p:guideLst/>
    </p:cSldViewPr>
  </p:notesViewPr>
  <p:gridSpacing cx="45000" cy="450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handoutMaster" Target="handoutMasters/handoutMaster1.xml"/><Relationship Id="rId47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commentAuthors" Target="commentAuthors.xml"/><Relationship Id="rId48" Type="http://schemas.microsoft.com/office/2018/10/relationships/authors" Target="author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2" Type="http://schemas.openxmlformats.org/officeDocument/2006/relationships/hyperlink" Target="https://softuni.org/" TargetMode="External"/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56F20103-83CC-4A54-8FDE-9D37FC2629C0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bg-BG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7A53962-26EF-44E4-9E69-61B1727AB1C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E087215-0C8F-4762-A664-737A353EC9A4}" type="datetimeFigureOut">
              <a:rPr lang="bg-BG" smtClean="0"/>
              <a:t>14.01.26 г.</a:t>
            </a:fld>
            <a:endParaRPr lang="bg-BG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8A6967E-448F-4887-8FCB-34482EFBCC7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-1" y="8892000"/>
            <a:ext cx="6443999" cy="252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bg-BG" sz="1100" dirty="0"/>
              <a:t>Работна група </a:t>
            </a:r>
            <a:r>
              <a:rPr lang="ru-RU" sz="1100" dirty="0"/>
              <a:t>"Образование по програмиране и ИТ</a:t>
            </a:r>
            <a:r>
              <a:rPr lang="bg-BG" sz="1100" dirty="0"/>
              <a:t>", с подкрепата на </a:t>
            </a:r>
            <a:r>
              <a:rPr lang="en-US" sz="1100" dirty="0">
                <a:hlinkClick r:id="rId2"/>
              </a:rPr>
              <a:t>SoftUni</a:t>
            </a:r>
            <a:endParaRPr lang="en-US" sz="11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B6554C2-DDBA-40E2-9536-53A07EC5027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6443999" y="8892000"/>
            <a:ext cx="412413" cy="252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AC318AE-53F9-47EA-B5FE-E9473933AF11}" type="slidenum">
              <a:rPr lang="bg-BG" smtClean="0"/>
              <a:t>‹#›</a:t>
            </a:fld>
            <a:endParaRPr lang="bg-BG" dirty="0"/>
          </a:p>
        </p:txBody>
      </p:sp>
    </p:spTree>
    <p:extLst>
      <p:ext uri="{BB962C8B-B14F-4D97-AF65-F5344CB8AC3E}">
        <p14:creationId xmlns:p14="http://schemas.microsoft.com/office/powerpoint/2010/main" val="4150602968"/>
      </p:ext>
    </p:extLst>
  </p:cSld>
  <p:clrMap bg1="lt1" tx1="dk1" bg2="lt2" tx2="dk2" accent1="accent1" accent2="accent2" accent3="accent3" accent4="accent4" accent5="accent5" accent6="accent6" hlink="hlink" folHlink="folHlink"/>
  <p:hf hdr="0" dt="0"/>
</p:handoutMaster>
</file>

<file path=ppt/notesMasters/_rels/notesMaster1.xml.rels><?xml version="1.0" encoding="UTF-8" standalone="yes"?>
<Relationships xmlns="http://schemas.openxmlformats.org/package/2006/relationships"><Relationship Id="rId2" Type="http://schemas.openxmlformats.org/officeDocument/2006/relationships/hyperlink" Target="https://softuni.org/" TargetMode="External"/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2D84649-876A-46C9-8472-14CB09C070D8}" type="datetimeFigureOut">
              <a:rPr lang="en-US" smtClean="0"/>
              <a:t>1/14/26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6488999" y="8892000"/>
            <a:ext cx="367414" cy="252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F067CD-8E6B-4360-9AA8-C5DF2A48A6D1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AC3A49B-3196-44DF-AC28-085C72EFBFF0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-1" y="8892000"/>
            <a:ext cx="6488999" cy="252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/>
            </a:lvl1pPr>
          </a:lstStyle>
          <a:p>
            <a:r>
              <a:rPr lang="bg-BG" sz="1100" dirty="0"/>
              <a:t>Работна група </a:t>
            </a:r>
            <a:r>
              <a:rPr lang="bg-BG" dirty="0"/>
              <a:t>"Образование по програмиране и ИТ"</a:t>
            </a:r>
            <a:r>
              <a:rPr lang="bg-BG" sz="1100" dirty="0"/>
              <a:t>, с подкрепата на </a:t>
            </a:r>
            <a:r>
              <a:rPr lang="en-US" sz="1100" dirty="0">
                <a:hlinkClick r:id="rId2"/>
              </a:rPr>
              <a:t>SoftUni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1530847692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3EBA5BD7-F043-4D1B-AA17-CD412FC534DE}" type="slidenum">
              <a:rPr lang="en-US" smtClean="0"/>
              <a:pPr/>
              <a:t>1</a:t>
            </a:fld>
            <a:endParaRPr lang="en-US" dirty="0"/>
          </a:p>
        </p:txBody>
      </p:sp>
      <p:sp>
        <p:nvSpPr>
          <p:cNvPr id="8" name="Slide Image Placeholder 7">
            <a:extLst>
              <a:ext uri="{FF2B5EF4-FFF2-40B4-BE49-F238E27FC236}">
                <a16:creationId xmlns:a16="http://schemas.microsoft.com/office/drawing/2014/main" id="{78811095-27E9-49AB-972B-D4E20B3963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9" name="Notes Placeholder 8">
            <a:extLst>
              <a:ext uri="{FF2B5EF4-FFF2-40B4-BE49-F238E27FC236}">
                <a16:creationId xmlns:a16="http://schemas.microsoft.com/office/drawing/2014/main" id="{E923224B-0CC3-475A-8628-8A90751AE6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3288A3F3-90B1-4930-8D00-5603BDABEF10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9448943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 Image Placeholder 13">
            <a:extLst>
              <a:ext uri="{FF2B5EF4-FFF2-40B4-BE49-F238E27FC236}">
                <a16:creationId xmlns:a16="http://schemas.microsoft.com/office/drawing/2014/main" id="{A1F0B3C6-2E53-4CA3-86D1-53D46EC352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15" name="Notes Placeholder 14">
            <a:extLst>
              <a:ext uri="{FF2B5EF4-FFF2-40B4-BE49-F238E27FC236}">
                <a16:creationId xmlns:a16="http://schemas.microsoft.com/office/drawing/2014/main" id="{149CC699-A079-49A5-A4D6-73B7F849A7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9" name="Slide Number Placeholder 5">
            <a:extLst>
              <a:ext uri="{FF2B5EF4-FFF2-40B4-BE49-F238E27FC236}">
                <a16:creationId xmlns:a16="http://schemas.microsoft.com/office/drawing/2014/main" id="{121F4233-7E9A-40D2-9066-2DB14E2FA5AD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D18F1DFF-B3E7-4ABF-97EE-0BBF3A961EC5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2853074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BD88B0D8-949C-482D-990A-2DAB14AD4AD1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474633-D38D-4432-867B-70F325FA7016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2109856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3EF363-177A-44DE-80E9-FC9248B7DCA2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E613EE-6697-4964-A067-C2136C00C83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79252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3EF363-177A-44DE-80E9-FC9248B7DCA2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E613EE-6697-4964-A067-C2136C00C83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83626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3EF363-177A-44DE-80E9-FC9248B7DCA2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E613EE-6697-4964-A067-C2136C00C83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9356349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BD88B0D8-949C-482D-990A-2DAB14AD4AD1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474633-D38D-4432-867B-70F325FA7016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77143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BD88B0D8-949C-482D-990A-2DAB14AD4AD1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474633-D38D-4432-867B-70F325FA7016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2318781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3EF363-177A-44DE-80E9-FC9248B7DCA2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15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E613EE-6697-4964-A067-C2136C00C83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7033894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BD88B0D8-949C-482D-990A-2DAB14AD4AD1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16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474633-D38D-4432-867B-70F325FA7016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5494776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3EF363-177A-44DE-80E9-FC9248B7DCA2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17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E613EE-6697-4964-A067-C2136C00C83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658497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3EF363-177A-44DE-80E9-FC9248B7DCA2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18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E613EE-6697-4964-A067-C2136C00C83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9034062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BD88B0D8-949C-482D-990A-2DAB14AD4AD1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19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474633-D38D-4432-867B-70F325FA7016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4577012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3EF363-177A-44DE-80E9-FC9248B7DCA2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20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E613EE-6697-4964-A067-C2136C00C83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2389551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3EF363-177A-44DE-80E9-FC9248B7DCA2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21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E613EE-6697-4964-A067-C2136C00C83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121718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3EF363-177A-44DE-80E9-FC9248B7DCA2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22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E613EE-6697-4964-A067-C2136C00C83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7684370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BD88B0D8-949C-482D-990A-2DAB14AD4AD1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24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474633-D38D-4432-867B-70F325FA7016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7499419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3EF363-177A-44DE-80E9-FC9248B7DCA2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25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E613EE-6697-4964-A067-C2136C00C83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7080147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3EF363-177A-44DE-80E9-FC9248B7DCA2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E613EE-6697-4964-A067-C2136C00C83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9070525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3EF363-177A-44DE-80E9-FC9248B7DCA2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27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E613EE-6697-4964-A067-C2136C00C83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095336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3EF363-177A-44DE-80E9-FC9248B7DCA2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28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E613EE-6697-4964-A067-C2136C00C83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53899454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3EF363-177A-44DE-80E9-FC9248B7DCA2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29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E613EE-6697-4964-A067-C2136C00C83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6173440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3EF363-177A-44DE-80E9-FC9248B7DCA2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30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E613EE-6697-4964-A067-C2136C00C83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24579937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3EF363-177A-44DE-80E9-FC9248B7DCA2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31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E613EE-6697-4964-A067-C2136C00C83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521725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3EF363-177A-44DE-80E9-FC9248B7DCA2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32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E613EE-6697-4964-A067-C2136C00C83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4911837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3EF363-177A-44DE-80E9-FC9248B7DCA2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33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E613EE-6697-4964-A067-C2136C00C83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22621242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3EF363-177A-44DE-80E9-FC9248B7DCA2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34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E613EE-6697-4964-A067-C2136C00C83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85134743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3EF363-177A-44DE-80E9-FC9248B7DCA2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35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E613EE-6697-4964-A067-C2136C00C83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4922222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3EF363-177A-44DE-80E9-FC9248B7DCA2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36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E613EE-6697-4964-A067-C2136C00C83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2156503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E65F1CA9-65DC-416B-8882-B3A5E415CE67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37</a:t>
            </a:fld>
            <a:endParaRPr lang="en-US" dirty="0"/>
          </a:p>
        </p:txBody>
      </p:sp>
      <p:sp>
        <p:nvSpPr>
          <p:cNvPr id="5" name="Footer Placeholder 7">
            <a:extLst>
              <a:ext uri="{FF2B5EF4-FFF2-40B4-BE49-F238E27FC236}">
                <a16:creationId xmlns:a16="http://schemas.microsoft.com/office/drawing/2014/main" id="{43FAF785-0C8D-730E-8E59-68198DC82CE0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-1" y="8892000"/>
            <a:ext cx="6488999" cy="252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/>
            </a:lvl1pPr>
          </a:lstStyle>
          <a:p>
            <a:r>
              <a:rPr lang="bg-BG" sz="1100" dirty="0"/>
              <a:t>Работна група </a:t>
            </a:r>
            <a:r>
              <a:rPr lang="bg-BG" dirty="0"/>
              <a:t>"Образование по програмиране и ИТ"</a:t>
            </a:r>
            <a:r>
              <a:rPr lang="bg-BG" sz="1100" dirty="0"/>
              <a:t>, с подкрепата на </a:t>
            </a:r>
            <a:r>
              <a:rPr lang="en-US" sz="1100" dirty="0">
                <a:hlinkClick r:id="rId3"/>
              </a:rPr>
              <a:t>SoftUni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268934473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5049B984-F964-47FF-8179-0A3007CE21CD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38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059BE0-D868-413B-AAA1-1CC88D1F52C5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6590374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27548A-4D3C-449B-81A5-FA4BE4628490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39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2472CE7-61C1-4B7B-B0C8-5A45F0178717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488444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hyperlink" Target="http://creativecommons.org/licenses/by-nc-sa/4.0/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sentation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Bottom">
            <a:extLst>
              <a:ext uri="{FF2B5EF4-FFF2-40B4-BE49-F238E27FC236}">
                <a16:creationId xmlns:a16="http://schemas.microsoft.com/office/drawing/2014/main" id="{6854D183-0374-4B3E-B2CE-32F308A81591}"/>
              </a:ext>
            </a:extLst>
          </p:cNvPr>
          <p:cNvSpPr/>
          <p:nvPr userDrawn="1"/>
        </p:nvSpPr>
        <p:spPr>
          <a:xfrm>
            <a:off x="0" y="6702676"/>
            <a:ext cx="12195176" cy="155324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33" name="Picture Placeholder Title Image">
            <a:extLst>
              <a:ext uri="{FF2B5EF4-FFF2-40B4-BE49-F238E27FC236}">
                <a16:creationId xmlns:a16="http://schemas.microsoft.com/office/drawing/2014/main" id="{A04D819A-89E2-4714-8C56-1838BF467EF7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390123" y="3400017"/>
            <a:ext cx="5248260" cy="2188983"/>
          </a:xfrm>
        </p:spPr>
        <p:txBody>
          <a:bodyPr/>
          <a:lstStyle>
            <a:lvl1pPr marL="0" indent="0" algn="ctr" latinLnBrk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 dirty="0"/>
              <a:t>Click icon to add picture</a:t>
            </a:r>
          </a:p>
        </p:txBody>
      </p:sp>
      <p:sp>
        <p:nvSpPr>
          <p:cNvPr id="10" name="Company Web Site">
            <a:extLst>
              <a:ext uri="{FF2B5EF4-FFF2-40B4-BE49-F238E27FC236}">
                <a16:creationId xmlns:a16="http://schemas.microsoft.com/office/drawing/2014/main" id="{0B99B1EE-62FA-4AA4-920C-D444D6C0B778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390120" y="6086106"/>
            <a:ext cx="5248260" cy="341313"/>
          </a:xfrm>
        </p:spPr>
        <p:txBody>
          <a:bodyPr lIns="36000" rIns="36000" anchor="ctr" anchorCtr="0">
            <a:noAutofit/>
          </a:bodyPr>
          <a:lstStyle>
            <a:lvl1pPr marL="0" indent="0" algn="r">
              <a:buNone/>
              <a:defRPr sz="1800"/>
            </a:lvl1pPr>
          </a:lstStyle>
          <a:p>
            <a:pPr lvl="0"/>
            <a:r>
              <a:rPr lang="en-US" dirty="0"/>
              <a:t>https://softuni.foundation  </a:t>
            </a:r>
          </a:p>
        </p:txBody>
      </p:sp>
      <p:sp>
        <p:nvSpPr>
          <p:cNvPr id="6" name="Company Name">
            <a:extLst>
              <a:ext uri="{FF2B5EF4-FFF2-40B4-BE49-F238E27FC236}">
                <a16:creationId xmlns:a16="http://schemas.microsoft.com/office/drawing/2014/main" id="{2A76510A-0BAE-A827-E77C-BE88E38F52A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390122" y="5698189"/>
            <a:ext cx="5248260" cy="374236"/>
          </a:xfrm>
        </p:spPr>
        <p:txBody>
          <a:bodyPr lIns="36000" rIns="36000" anchor="ctr" anchorCtr="0">
            <a:normAutofit/>
          </a:bodyPr>
          <a:lstStyle>
            <a:lvl1pPr marL="0" indent="0" algn="r">
              <a:buNone/>
              <a:defRPr sz="2000" b="1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pPr lvl="0"/>
            <a:r>
              <a:rPr lang="en-US" dirty="0"/>
              <a:t>SoftUni Foundation</a:t>
            </a:r>
          </a:p>
        </p:txBody>
      </p:sp>
      <p:sp>
        <p:nvSpPr>
          <p:cNvPr id="31" name="Author Position">
            <a:extLst>
              <a:ext uri="{FF2B5EF4-FFF2-40B4-BE49-F238E27FC236}">
                <a16:creationId xmlns:a16="http://schemas.microsoft.com/office/drawing/2014/main" id="{3E6B87B7-9D33-4EBB-BD4F-C0436BA3FD7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 bwMode="auto">
          <a:xfrm>
            <a:off x="534045" y="6085863"/>
            <a:ext cx="4751953" cy="341556"/>
          </a:xfrm>
          <a:prstGeom prst="rect">
            <a:avLst/>
          </a:prstGeom>
          <a:noFill/>
          <a:effectLst/>
        </p:spPr>
        <p:txBody>
          <a:bodyPr wrap="square" lIns="36000" tIns="36000" rIns="36000" bIns="36000" rtlCol="0" anchor="ctr" anchorCtr="0">
            <a:noAutofit/>
          </a:bodyPr>
          <a:lstStyle>
            <a:lvl1pPr marL="0" indent="0" algn="l" rtl="0" fontAlgn="base" latinLnBrk="0">
              <a:spcBef>
                <a:spcPct val="0"/>
              </a:spcBef>
              <a:spcAft>
                <a:spcPct val="0"/>
              </a:spcAft>
              <a:buNone/>
              <a:defRPr lang="en-US" sz="1800" b="0" kern="1200" dirty="0" smtClean="0">
                <a:solidFill>
                  <a:schemeClr val="tx1">
                    <a:lumMod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 dirty="0"/>
              <a:t>URL</a:t>
            </a:r>
          </a:p>
        </p:txBody>
      </p:sp>
      <p:sp>
        <p:nvSpPr>
          <p:cNvPr id="30" name="Author Name">
            <a:extLst>
              <a:ext uri="{FF2B5EF4-FFF2-40B4-BE49-F238E27FC236}">
                <a16:creationId xmlns:a16="http://schemas.microsoft.com/office/drawing/2014/main" id="{2EA92DCA-4DB5-4D03-ACD3-A6A296592D0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 bwMode="auto">
          <a:xfrm>
            <a:off x="534046" y="5251106"/>
            <a:ext cx="4751954" cy="724904"/>
          </a:xfrm>
          <a:prstGeom prst="rect">
            <a:avLst/>
          </a:prstGeom>
          <a:noFill/>
          <a:effectLst/>
        </p:spPr>
        <p:txBody>
          <a:bodyPr wrap="square" lIns="36000" tIns="36000" rIns="36000" bIns="36000" rtlCol="0" anchor="ctr" anchorCtr="0">
            <a:noAutofit/>
          </a:bodyPr>
          <a:lstStyle>
            <a:lvl1pPr marL="0" indent="0" algn="l" rtl="0" fontAlgn="base" latinLnBrk="0">
              <a:spcBef>
                <a:spcPct val="0"/>
              </a:spcBef>
              <a:spcAft>
                <a:spcPct val="0"/>
              </a:spcAft>
              <a:buNone/>
              <a:defRPr lang="en-US" sz="2000" b="1" kern="1200" dirty="0" smtClean="0">
                <a:solidFill>
                  <a:schemeClr val="tx1">
                    <a:lumMod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 dirty="0"/>
              <a:t>Authors</a:t>
            </a:r>
          </a:p>
        </p:txBody>
      </p:sp>
      <p:sp>
        <p:nvSpPr>
          <p:cNvPr id="43" name="Presentation Subtitle">
            <a:extLst>
              <a:ext uri="{FF2B5EF4-FFF2-40B4-BE49-F238E27FC236}">
                <a16:creationId xmlns:a16="http://schemas.microsoft.com/office/drawing/2014/main" id="{37BDB812-1395-4B02-ABCF-6A331EEE23E5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54746" y="1402942"/>
            <a:ext cx="11083636" cy="1306057"/>
          </a:xfrm>
        </p:spPr>
        <p:txBody>
          <a:bodyPr anchor="t" anchorCtr="0">
            <a:normAutofit/>
          </a:bodyPr>
          <a:lstStyle>
            <a:lvl1pPr marL="0" indent="0" algn="ctr" latinLnBrk="0">
              <a:buNone/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US" noProof="0" dirty="0"/>
              <a:t>Presentation Subtitle</a:t>
            </a:r>
          </a:p>
        </p:txBody>
      </p:sp>
      <p:sp>
        <p:nvSpPr>
          <p:cNvPr id="2" name="Presentation Title">
            <a:extLst>
              <a:ext uri="{FF2B5EF4-FFF2-40B4-BE49-F238E27FC236}">
                <a16:creationId xmlns:a16="http://schemas.microsoft.com/office/drawing/2014/main" id="{A4DF3AB8-E6E3-4FCE-8A4A-ECD147720A5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4746" y="321501"/>
            <a:ext cx="11083636" cy="971589"/>
          </a:xfrm>
        </p:spPr>
        <p:txBody>
          <a:bodyPr>
            <a:normAutofit/>
          </a:bodyPr>
          <a:lstStyle>
            <a:lvl1pPr algn="ctr" latinLnBrk="0">
              <a:defRPr sz="5400"/>
            </a:lvl1pPr>
          </a:lstStyle>
          <a:p>
            <a:r>
              <a:rPr lang="en-US" noProof="0" dirty="0"/>
              <a:t>Presentation Title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24D0DB3-F60A-469B-7831-209CB666CCE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6549" y="4325954"/>
            <a:ext cx="2538082" cy="633046"/>
          </a:xfrm>
          <a:prstGeom prst="rect">
            <a:avLst/>
          </a:prstGeom>
        </p:spPr>
      </p:pic>
      <p:pic>
        <p:nvPicPr>
          <p:cNvPr id="5" name="Picture 4" title="CC-BY-NC-SA License">
            <a:hlinkClick r:id="rId3" tooltip="This work is licensed under the &quot;Creative Commons Attribution-NonCommercial-ShareAlike 4.0 International&quot; license"/>
            <a:extLst>
              <a:ext uri="{FF2B5EF4-FFF2-40B4-BE49-F238E27FC236}">
                <a16:creationId xmlns:a16="http://schemas.microsoft.com/office/drawing/2014/main" id="{2D40731C-0303-A69D-63FD-E048A73CA59F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402682" y="4321352"/>
            <a:ext cx="1809336" cy="633045"/>
          </a:xfrm>
          <a:prstGeom prst="roundRect">
            <a:avLst>
              <a:gd name="adj" fmla="val 3940"/>
            </a:avLst>
          </a:prstGeom>
          <a:solidFill>
            <a:srgbClr val="231F20">
              <a:alpha val="50000"/>
            </a:srgbClr>
          </a:solidFill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706541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Center Icon"/>
          <p:cNvSpPr>
            <a:spLocks noChangeAspect="1"/>
          </p:cNvSpPr>
          <p:nvPr/>
        </p:nvSpPr>
        <p:spPr>
          <a:xfrm>
            <a:off x="4319736" y="867751"/>
            <a:ext cx="3552529" cy="3552529"/>
          </a:xfrm>
          <a:prstGeom prst="ellips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1" name="Slide Subtitle"/>
          <p:cNvSpPr>
            <a:spLocks noGrp="1"/>
          </p:cNvSpPr>
          <p:nvPr>
            <p:ph type="subTitle" sz="quarter" idx="11" hasCustomPrompt="1"/>
          </p:nvPr>
        </p:nvSpPr>
        <p:spPr>
          <a:xfrm>
            <a:off x="615109" y="5585916"/>
            <a:ext cx="10961783" cy="768084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 latinLnBrk="0">
              <a:buNone/>
              <a:defRPr sz="3998" b="0" baseline="0">
                <a:solidFill>
                  <a:schemeClr val="tx1"/>
                </a:solidFill>
                <a:latin typeface="+mn-lt"/>
                <a:cs typeface="Arial" pitchFamily="34" charset="0"/>
              </a:defRPr>
            </a:lvl1pPr>
          </a:lstStyle>
          <a:p>
            <a:pPr lvl="0"/>
            <a:r>
              <a:rPr lang="en-US" noProof="0" dirty="0"/>
              <a:t>Click to Edit Section Subtitle</a:t>
            </a:r>
          </a:p>
        </p:txBody>
      </p:sp>
      <p:sp>
        <p:nvSpPr>
          <p:cNvPr id="10" name="Slide Title"/>
          <p:cNvSpPr>
            <a:spLocks noGrp="1"/>
          </p:cNvSpPr>
          <p:nvPr>
            <p:ph type="title" sz="quarter" idx="10" hasCustomPrompt="1"/>
          </p:nvPr>
        </p:nvSpPr>
        <p:spPr>
          <a:xfrm>
            <a:off x="615109" y="4704825"/>
            <a:ext cx="10961783" cy="768084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 latinLnBrk="0">
              <a:buNone/>
              <a:defRPr sz="5396" b="1" baseline="0">
                <a:solidFill>
                  <a:schemeClr val="tx1"/>
                </a:solidFill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noProof="0" dirty="0"/>
              <a:t>Click to Edit Section Title</a:t>
            </a:r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5292164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">
            <a:extLst>
              <a:ext uri="{FF2B5EF4-FFF2-40B4-BE49-F238E27FC236}">
                <a16:creationId xmlns:a16="http://schemas.microsoft.com/office/drawing/2014/main" id="{C1780DB1-0AF0-4108-AFE1-9DA99F0DBCB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3" name="Slide Body Text">
            <a:extLst>
              <a:ext uri="{FF2B5EF4-FFF2-40B4-BE49-F238E27FC236}">
                <a16:creationId xmlns:a16="http://schemas.microsoft.com/office/drawing/2014/main" id="{5A9D2960-6D42-439F-82E8-812822013A1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0402" y="1196125"/>
            <a:ext cx="11818096" cy="5528766"/>
          </a:xfrm>
        </p:spPr>
        <p:txBody>
          <a:bodyPr/>
          <a:lstStyle>
            <a:lvl1pPr latinLnBrk="0">
              <a:buClr>
                <a:schemeClr val="tx1"/>
              </a:buClr>
              <a:defRPr/>
            </a:lvl1pPr>
            <a:lvl2pPr latinLnBrk="0">
              <a:buClr>
                <a:schemeClr val="tx1"/>
              </a:buClr>
              <a:defRPr/>
            </a:lvl2pPr>
            <a:lvl3pPr latinLnBrk="0">
              <a:buClr>
                <a:schemeClr val="tx1"/>
              </a:buClr>
              <a:defRPr/>
            </a:lvl3pPr>
            <a:lvl4pPr latinLnBrk="0">
              <a:buClr>
                <a:schemeClr val="tx1"/>
              </a:buClr>
              <a:defRPr/>
            </a:lvl4pPr>
            <a:lvl5pPr latinLnBrk="0">
              <a:buClr>
                <a:schemeClr val="tx1"/>
              </a:buClr>
              <a:defRPr/>
            </a:lvl5pPr>
          </a:lstStyle>
          <a:p>
            <a:pPr lvl="0"/>
            <a:r>
              <a:rPr lang="en-US" noProof="0" dirty="0"/>
              <a:t>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13" name="Rectangle Top">
            <a:extLst>
              <a:ext uri="{FF2B5EF4-FFF2-40B4-BE49-F238E27FC236}">
                <a16:creationId xmlns:a16="http://schemas.microsoft.com/office/drawing/2014/main" id="{391AFA4E-7870-4561-A1B8-AC956B0C8931}"/>
              </a:ext>
            </a:extLst>
          </p:cNvPr>
          <p:cNvSpPr/>
          <p:nvPr userDrawn="1"/>
        </p:nvSpPr>
        <p:spPr>
          <a:xfrm>
            <a:off x="0" y="0"/>
            <a:ext cx="12196800" cy="109537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6" name="Slide Title">
            <a:extLst>
              <a:ext uri="{FF2B5EF4-FFF2-40B4-BE49-F238E27FC236}">
                <a16:creationId xmlns:a16="http://schemas.microsoft.com/office/drawing/2014/main" id="{19B5B676-7892-440F-8191-7109B2C5988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0406" y="100750"/>
            <a:ext cx="10270594" cy="882654"/>
          </a:xfrm>
        </p:spPr>
        <p:txBody>
          <a:bodyPr/>
          <a:lstStyle>
            <a:lvl1pPr latinLnBrk="0">
              <a:defRPr>
                <a:solidFill>
                  <a:schemeClr val="bg2"/>
                </a:solidFill>
              </a:defRPr>
            </a:lvl1pPr>
          </a:lstStyle>
          <a:p>
            <a:r>
              <a:rPr lang="en-US" noProof="0" dirty="0"/>
              <a:t>Slide Title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B9A1D0F-F579-6A3C-C698-4E2E7F1AB26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53573" y="368999"/>
            <a:ext cx="1443361" cy="360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29707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portant Concep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0020EB61-2079-41A3-B356-B1D8D48D78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6" name="Rectangle Left"/>
          <p:cNvSpPr/>
          <p:nvPr/>
        </p:nvSpPr>
        <p:spPr>
          <a:xfrm>
            <a:off x="0" y="0"/>
            <a:ext cx="115383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 dirty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pic>
        <p:nvPicPr>
          <p:cNvPr id="3074" name="Picture Bulb" descr="Bulb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235205" y="1792355"/>
            <a:ext cx="1830304" cy="40622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Slide Body Text">
            <a:extLst>
              <a:ext uri="{FF2B5EF4-FFF2-40B4-BE49-F238E27FC236}">
                <a16:creationId xmlns:a16="http://schemas.microsoft.com/office/drawing/2014/main" id="{CB4CB13C-66A1-466B-A6C1-B0BABF5CFEC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866000" y="1121143"/>
            <a:ext cx="10129234" cy="5546589"/>
          </a:xfrm>
        </p:spPr>
        <p:txBody>
          <a:bodyPr/>
          <a:lstStyle>
            <a:lvl1pPr latinLnBrk="0">
              <a:defRPr>
                <a:solidFill>
                  <a:schemeClr val="tx1"/>
                </a:solidFill>
              </a:defRPr>
            </a:lvl1pPr>
            <a:lvl2pPr latinLnBrk="0">
              <a:defRPr>
                <a:solidFill>
                  <a:schemeClr val="tx1"/>
                </a:solidFill>
              </a:defRPr>
            </a:lvl2pPr>
            <a:lvl3pPr latinLnBrk="0">
              <a:defRPr>
                <a:solidFill>
                  <a:schemeClr val="tx1"/>
                </a:solidFill>
              </a:defRPr>
            </a:lvl3pPr>
            <a:lvl4pPr latinLnBrk="0">
              <a:defRPr>
                <a:solidFill>
                  <a:schemeClr val="tx1"/>
                </a:solidFill>
              </a:defRPr>
            </a:lvl4pPr>
            <a:lvl5pPr latinLnBrk="0"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 dirty="0"/>
              <a:t>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8" name="Slide Title">
            <a:extLst>
              <a:ext uri="{FF2B5EF4-FFF2-40B4-BE49-F238E27FC236}">
                <a16:creationId xmlns:a16="http://schemas.microsoft.com/office/drawing/2014/main" id="{E2DA9691-CDF5-499C-94BB-AAA61DAC1BF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96956" y="100750"/>
            <a:ext cx="9164044" cy="882654"/>
          </a:xfrm>
        </p:spPr>
        <p:txBody>
          <a:bodyPr/>
          <a:lstStyle>
            <a:lvl1pPr latinLnBrk="0">
              <a:defRPr/>
            </a:lvl1pPr>
          </a:lstStyle>
          <a:p>
            <a:r>
              <a:rPr lang="en-US" noProof="0" dirty="0"/>
              <a:t>Slide Title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8CA5371-2597-CF8F-1859-226395807433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51877" y="362077"/>
            <a:ext cx="1443357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25307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portant Exam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1865BF6B-7F07-4E9C-879F-80E36EEB340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12" name="Rectangle Left">
            <a:extLst>
              <a:ext uri="{FF2B5EF4-FFF2-40B4-BE49-F238E27FC236}">
                <a16:creationId xmlns:a16="http://schemas.microsoft.com/office/drawing/2014/main" id="{345FB1C8-7F66-4D5C-ACCE-AE919936BCFD}"/>
              </a:ext>
            </a:extLst>
          </p:cNvPr>
          <p:cNvSpPr/>
          <p:nvPr/>
        </p:nvSpPr>
        <p:spPr>
          <a:xfrm>
            <a:off x="0" y="0"/>
            <a:ext cx="115383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 dirty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pic>
        <p:nvPicPr>
          <p:cNvPr id="3074" name="Picture Bulb" descr="Bulb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520027" y="3314704"/>
            <a:ext cx="1260665" cy="27979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Slide Body Text">
            <a:extLst>
              <a:ext uri="{FF2B5EF4-FFF2-40B4-BE49-F238E27FC236}">
                <a16:creationId xmlns:a16="http://schemas.microsoft.com/office/drawing/2014/main" id="{6157C8DE-E0AF-422B-BBB1-F0AF1264B5E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673561" y="1121143"/>
            <a:ext cx="10321675" cy="5546589"/>
          </a:xfrm>
        </p:spPr>
        <p:txBody>
          <a:bodyPr/>
          <a:lstStyle>
            <a:lvl1pPr latinLnBrk="0">
              <a:defRPr>
                <a:solidFill>
                  <a:schemeClr val="tx1"/>
                </a:solidFill>
              </a:defRPr>
            </a:lvl1pPr>
            <a:lvl2pPr latinLnBrk="0">
              <a:defRPr>
                <a:solidFill>
                  <a:schemeClr val="tx1"/>
                </a:solidFill>
              </a:defRPr>
            </a:lvl2pPr>
            <a:lvl3pPr latinLnBrk="0">
              <a:defRPr>
                <a:solidFill>
                  <a:schemeClr val="tx1"/>
                </a:solidFill>
              </a:defRPr>
            </a:lvl3pPr>
            <a:lvl4pPr latinLnBrk="0">
              <a:defRPr>
                <a:solidFill>
                  <a:schemeClr val="tx1"/>
                </a:solidFill>
              </a:defRPr>
            </a:lvl4pPr>
            <a:lvl5pPr latinLnBrk="0"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 dirty="0"/>
              <a:t>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13" name="Slide Title">
            <a:extLst>
              <a:ext uri="{FF2B5EF4-FFF2-40B4-BE49-F238E27FC236}">
                <a16:creationId xmlns:a16="http://schemas.microsoft.com/office/drawing/2014/main" id="{0D5CC956-5C4A-44BE-8F8B-327FAFA51E9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96956" y="100750"/>
            <a:ext cx="9164044" cy="882654"/>
          </a:xfrm>
        </p:spPr>
        <p:txBody>
          <a:bodyPr/>
          <a:lstStyle>
            <a:lvl1pPr latinLnBrk="0">
              <a:defRPr/>
            </a:lvl1pPr>
          </a:lstStyle>
          <a:p>
            <a:r>
              <a:rPr lang="en-US" noProof="0" dirty="0"/>
              <a:t>Slide Title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A37AF1B9-D67A-246A-86B6-E28F19C52390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51877" y="362077"/>
            <a:ext cx="1443357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96517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">
            <a:extLst>
              <a:ext uri="{FF2B5EF4-FFF2-40B4-BE49-F238E27FC236}">
                <a16:creationId xmlns:a16="http://schemas.microsoft.com/office/drawing/2014/main" id="{F0B8C963-1813-4B69-AD27-6D02EBBBB56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3" name="Rectangle Left">
            <a:extLst>
              <a:ext uri="{FF2B5EF4-FFF2-40B4-BE49-F238E27FC236}">
                <a16:creationId xmlns:a16="http://schemas.microsoft.com/office/drawing/2014/main" id="{345FB1C8-7F66-4D5C-ACCE-AE919936BCFD}"/>
              </a:ext>
            </a:extLst>
          </p:cNvPr>
          <p:cNvSpPr/>
          <p:nvPr userDrawn="1"/>
        </p:nvSpPr>
        <p:spPr>
          <a:xfrm>
            <a:off x="0" y="0"/>
            <a:ext cx="429471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 dirty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pic>
        <p:nvPicPr>
          <p:cNvPr id="4" name="Picture Bulb" descr="Bulb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156000" y="5098868"/>
            <a:ext cx="779209" cy="17293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Slide Body Text">
            <a:extLst>
              <a:ext uri="{FF2B5EF4-FFF2-40B4-BE49-F238E27FC236}">
                <a16:creationId xmlns:a16="http://schemas.microsoft.com/office/drawing/2014/main" id="{7296EDA7-D37D-4B31-A888-371F0804124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85176" y="1121143"/>
            <a:ext cx="11410061" cy="5546589"/>
          </a:xfrm>
        </p:spPr>
        <p:txBody>
          <a:bodyPr/>
          <a:lstStyle>
            <a:lvl1pPr latinLnBrk="0">
              <a:defRPr>
                <a:solidFill>
                  <a:schemeClr val="tx1"/>
                </a:solidFill>
              </a:defRPr>
            </a:lvl1pPr>
            <a:lvl2pPr latinLnBrk="0">
              <a:defRPr>
                <a:solidFill>
                  <a:schemeClr val="tx1"/>
                </a:solidFill>
              </a:defRPr>
            </a:lvl2pPr>
            <a:lvl3pPr latinLnBrk="0">
              <a:defRPr>
                <a:solidFill>
                  <a:schemeClr val="tx1"/>
                </a:solidFill>
              </a:defRPr>
            </a:lvl3pPr>
            <a:lvl4pPr latinLnBrk="0">
              <a:defRPr>
                <a:solidFill>
                  <a:schemeClr val="tx1"/>
                </a:solidFill>
              </a:defRPr>
            </a:lvl4pPr>
            <a:lvl5pPr latinLnBrk="0"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 dirty="0"/>
              <a:t>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6" name="Slide Title">
            <a:extLst>
              <a:ext uri="{FF2B5EF4-FFF2-40B4-BE49-F238E27FC236}">
                <a16:creationId xmlns:a16="http://schemas.microsoft.com/office/drawing/2014/main" id="{55A88B09-3557-48A3-BF27-42699C26921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5177" y="100750"/>
            <a:ext cx="9875824" cy="882654"/>
          </a:xfrm>
        </p:spPr>
        <p:txBody>
          <a:bodyPr/>
          <a:lstStyle>
            <a:lvl1pPr latinLnBrk="0">
              <a:defRPr/>
            </a:lvl1pPr>
          </a:lstStyle>
          <a:p>
            <a:r>
              <a:rPr lang="en-US" noProof="0" dirty="0"/>
              <a:t>Slide Title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C2C375B-43BF-D1DD-F160-1500A111885C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51877" y="362077"/>
            <a:ext cx="1443357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45625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urce Code Exam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">
            <a:extLst>
              <a:ext uri="{FF2B5EF4-FFF2-40B4-BE49-F238E27FC236}">
                <a16:creationId xmlns:a16="http://schemas.microsoft.com/office/drawing/2014/main" id="{509D954E-A844-4072-A556-DE584BEB932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9" name="Rectangle Top">
            <a:extLst>
              <a:ext uri="{FF2B5EF4-FFF2-40B4-BE49-F238E27FC236}">
                <a16:creationId xmlns:a16="http://schemas.microsoft.com/office/drawing/2014/main" id="{A15CE03A-0933-4E5D-9EA1-718D4F802FFC}"/>
              </a:ext>
            </a:extLst>
          </p:cNvPr>
          <p:cNvSpPr/>
          <p:nvPr userDrawn="1"/>
        </p:nvSpPr>
        <p:spPr>
          <a:xfrm>
            <a:off x="0" y="1311"/>
            <a:ext cx="12196800" cy="109537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 dirty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2" name="Slide Body Text">
            <a:extLst>
              <a:ext uri="{FF2B5EF4-FFF2-40B4-BE49-F238E27FC236}">
                <a16:creationId xmlns:a16="http://schemas.microsoft.com/office/drawing/2014/main" id="{B608ED73-CE88-49E4-8BFC-DBD6E9AE6B1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0406" y="1206668"/>
            <a:ext cx="11804831" cy="5550582"/>
          </a:xfrm>
        </p:spPr>
        <p:txBody>
          <a:bodyPr/>
          <a:lstStyle>
            <a:lvl1pPr latinLnBrk="0">
              <a:defRPr>
                <a:solidFill>
                  <a:schemeClr val="tx1"/>
                </a:solidFill>
              </a:defRPr>
            </a:lvl1pPr>
            <a:lvl2pPr latinLnBrk="0">
              <a:defRPr>
                <a:solidFill>
                  <a:schemeClr val="tx1"/>
                </a:solidFill>
              </a:defRPr>
            </a:lvl2pPr>
            <a:lvl3pPr latinLnBrk="0">
              <a:defRPr>
                <a:solidFill>
                  <a:schemeClr val="tx1"/>
                </a:solidFill>
              </a:defRPr>
            </a:lvl3pPr>
            <a:lvl4pPr latinLnBrk="0">
              <a:defRPr>
                <a:solidFill>
                  <a:schemeClr val="tx1"/>
                </a:solidFill>
              </a:defRPr>
            </a:lvl4pPr>
            <a:lvl5pPr latinLnBrk="0"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 dirty="0"/>
              <a:t>This is a code example</a:t>
            </a:r>
          </a:p>
        </p:txBody>
      </p:sp>
      <p:sp>
        <p:nvSpPr>
          <p:cNvPr id="4" name="Code Box">
            <a:extLst>
              <a:ext uri="{FF2B5EF4-FFF2-40B4-BE49-F238E27FC236}">
                <a16:creationId xmlns:a16="http://schemas.microsoft.com/office/drawing/2014/main" id="{F4E021E9-D6DB-4272-8C9F-CEF4940FDC1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74683" y="2034000"/>
            <a:ext cx="10836275" cy="2237893"/>
          </a:xfrm>
          <a:solidFill>
            <a:schemeClr val="accent6">
              <a:lumMod val="75000"/>
              <a:alpha val="15000"/>
            </a:schemeClr>
          </a:solidFill>
          <a:ln w="12700">
            <a:solidFill>
              <a:schemeClr val="tx1">
                <a:lumMod val="50000"/>
              </a:schemeClr>
            </a:solidFill>
          </a:ln>
        </p:spPr>
        <p:txBody>
          <a:bodyPr vert="horz" wrap="square" lIns="144000" tIns="108000" rIns="144000" bIns="108000" rtlCol="0">
            <a:spAutoFit/>
          </a:bodyPr>
          <a:lstStyle>
            <a:lvl1pPr>
              <a:buNone/>
              <a:defRPr lang="en-US" sz="2800" b="1" smtClean="0">
                <a:latin typeface="Consolas" pitchFamily="49" charset="0"/>
              </a:defRPr>
            </a:lvl1pPr>
            <a:lvl2pPr>
              <a:defRPr lang="en-US" smtClean="0"/>
            </a:lvl2pPr>
            <a:lvl3pPr>
              <a:defRPr lang="en-US" smtClean="0"/>
            </a:lvl3pPr>
            <a:lvl4pPr>
              <a:defRPr lang="en-US" smtClean="0"/>
            </a:lvl4pPr>
            <a:lvl5pPr>
              <a:defRPr lang="en-US"/>
            </a:lvl5pPr>
          </a:lstStyle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en-US" noProof="1"/>
              <a:t>Source code box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en-US" noProof="1"/>
              <a:t>…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en-US" noProof="1"/>
              <a:t>…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en-US" noProof="1"/>
              <a:t>…</a:t>
            </a:r>
          </a:p>
        </p:txBody>
      </p:sp>
      <p:sp>
        <p:nvSpPr>
          <p:cNvPr id="11" name="Slide Title">
            <a:extLst>
              <a:ext uri="{FF2B5EF4-FFF2-40B4-BE49-F238E27FC236}">
                <a16:creationId xmlns:a16="http://schemas.microsoft.com/office/drawing/2014/main" id="{47D60833-F0A9-4F29-8C06-A963A7C8BE9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0405" y="100750"/>
            <a:ext cx="10239658" cy="882654"/>
          </a:xfrm>
        </p:spPr>
        <p:txBody>
          <a:bodyPr/>
          <a:lstStyle>
            <a:lvl1pPr latinLnBrk="0">
              <a:defRPr>
                <a:solidFill>
                  <a:schemeClr val="bg2"/>
                </a:solidFill>
              </a:defRPr>
            </a:lvl1pPr>
          </a:lstStyle>
          <a:p>
            <a:r>
              <a:rPr lang="en-US" noProof="0" dirty="0"/>
              <a:t>Slide Title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B69A4E8-9221-8F79-65B4-BF9AA7F87DD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53573" y="368999"/>
            <a:ext cx="1443361" cy="360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08298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mo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Center Icon"/>
          <p:cNvSpPr>
            <a:spLocks noChangeAspect="1"/>
          </p:cNvSpPr>
          <p:nvPr/>
        </p:nvSpPr>
        <p:spPr>
          <a:xfrm>
            <a:off x="831000" y="1091471"/>
            <a:ext cx="3552529" cy="3552529"/>
          </a:xfrm>
          <a:prstGeom prst="ellips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1" name="Slide Subtitle"/>
          <p:cNvSpPr>
            <a:spLocks noGrp="1"/>
          </p:cNvSpPr>
          <p:nvPr>
            <p:ph type="subTitle" sz="quarter" idx="11" hasCustomPrompt="1"/>
          </p:nvPr>
        </p:nvSpPr>
        <p:spPr>
          <a:xfrm>
            <a:off x="5241000" y="3338387"/>
            <a:ext cx="6065892" cy="768084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 latinLnBrk="0">
              <a:buNone/>
              <a:defRPr sz="3998" b="0" baseline="0">
                <a:solidFill>
                  <a:schemeClr val="tx1"/>
                </a:solidFill>
                <a:latin typeface="+mn-lt"/>
                <a:cs typeface="Arial" pitchFamily="34" charset="0"/>
              </a:defRPr>
            </a:lvl1pPr>
          </a:lstStyle>
          <a:p>
            <a:pPr lvl="0"/>
            <a:r>
              <a:rPr lang="en-US" noProof="0" dirty="0"/>
              <a:t>Click to Edit Section Subtitle</a:t>
            </a:r>
          </a:p>
        </p:txBody>
      </p:sp>
      <p:sp>
        <p:nvSpPr>
          <p:cNvPr id="10" name="Slide Title"/>
          <p:cNvSpPr>
            <a:spLocks noGrp="1"/>
          </p:cNvSpPr>
          <p:nvPr>
            <p:ph type="title" sz="quarter" idx="10" hasCustomPrompt="1"/>
          </p:nvPr>
        </p:nvSpPr>
        <p:spPr>
          <a:xfrm>
            <a:off x="5241000" y="1471047"/>
            <a:ext cx="6065892" cy="1754333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 latinLnBrk="0">
              <a:buNone/>
              <a:defRPr sz="5396" b="1" baseline="0">
                <a:solidFill>
                  <a:schemeClr val="tx1"/>
                </a:solidFill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noProof="0" dirty="0"/>
              <a:t>Click to Edit Section Title</a:t>
            </a:r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24239197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lide Number">
            <a:extLst>
              <a:ext uri="{FF2B5EF4-FFF2-40B4-BE49-F238E27FC236}">
                <a16:creationId xmlns:a16="http://schemas.microsoft.com/office/drawing/2014/main" id="{39DDE17E-5472-41F3-AF5F-54DFF10DC6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23" name="Slide Body Text">
            <a:extLst>
              <a:ext uri="{FF2B5EF4-FFF2-40B4-BE49-F238E27FC236}">
                <a16:creationId xmlns:a16="http://schemas.microsoft.com/office/drawing/2014/main" id="{889D93F4-ABFA-46BF-8E5D-FE6562ACB20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96766" y="1371604"/>
            <a:ext cx="11781606" cy="5207396"/>
          </a:xfrm>
        </p:spPr>
        <p:txBody>
          <a:bodyPr>
            <a:normAutofit/>
          </a:bodyPr>
          <a:lstStyle>
            <a:lvl1pPr marL="514042" indent="-514042" latinLnBrk="0">
              <a:buFont typeface="+mj-lt"/>
              <a:buAutoNum type="arabicPeriod"/>
              <a:defRPr sz="3600">
                <a:solidFill>
                  <a:schemeClr val="tx1"/>
                </a:solidFill>
              </a:defRPr>
            </a:lvl1pPr>
            <a:lvl2pPr>
              <a:defRPr sz="3400"/>
            </a:lvl2pPr>
          </a:lstStyle>
          <a:p>
            <a:pPr lvl="0"/>
            <a:r>
              <a:rPr lang="en-US" noProof="0" dirty="0"/>
              <a:t>…</a:t>
            </a:r>
          </a:p>
          <a:p>
            <a:pPr lvl="1"/>
            <a:r>
              <a:rPr lang="en-US" noProof="0" dirty="0"/>
              <a:t>…</a:t>
            </a:r>
          </a:p>
          <a:p>
            <a:pPr lvl="1"/>
            <a:r>
              <a:rPr lang="en-US" noProof="0" dirty="0"/>
              <a:t>…</a:t>
            </a:r>
          </a:p>
          <a:p>
            <a:pPr lvl="0"/>
            <a:r>
              <a:rPr lang="en-US" noProof="0" dirty="0"/>
              <a:t>…</a:t>
            </a:r>
          </a:p>
          <a:p>
            <a:pPr lvl="1"/>
            <a:r>
              <a:rPr lang="en-US" noProof="0" dirty="0"/>
              <a:t>…</a:t>
            </a:r>
          </a:p>
          <a:p>
            <a:pPr lvl="1"/>
            <a:r>
              <a:rPr lang="en-US" noProof="0" dirty="0"/>
              <a:t>…</a:t>
            </a:r>
          </a:p>
          <a:p>
            <a:pPr lvl="0"/>
            <a:r>
              <a:rPr lang="en-US" noProof="0" dirty="0"/>
              <a:t>…</a:t>
            </a:r>
          </a:p>
        </p:txBody>
      </p:sp>
      <p:sp>
        <p:nvSpPr>
          <p:cNvPr id="8" name="Rectangle Top">
            <a:extLst>
              <a:ext uri="{FF2B5EF4-FFF2-40B4-BE49-F238E27FC236}">
                <a16:creationId xmlns:a16="http://schemas.microsoft.com/office/drawing/2014/main" id="{930E0800-9260-4369-8330-8264DD33C5CE}"/>
              </a:ext>
            </a:extLst>
          </p:cNvPr>
          <p:cNvSpPr/>
          <p:nvPr userDrawn="1"/>
        </p:nvSpPr>
        <p:spPr>
          <a:xfrm>
            <a:off x="0" y="0"/>
            <a:ext cx="12196800" cy="109537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3" name="Slide Title">
            <a:extLst>
              <a:ext uri="{FF2B5EF4-FFF2-40B4-BE49-F238E27FC236}">
                <a16:creationId xmlns:a16="http://schemas.microsoft.com/office/drawing/2014/main" id="{357D7BE1-6358-42CC-94F3-7BCDD91DCB6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0406" y="100750"/>
            <a:ext cx="10270594" cy="882654"/>
          </a:xfrm>
        </p:spPr>
        <p:txBody>
          <a:bodyPr/>
          <a:lstStyle>
            <a:lvl1pPr latinLnBrk="0">
              <a:defRPr>
                <a:solidFill>
                  <a:schemeClr val="bg2"/>
                </a:solidFill>
              </a:defRPr>
            </a:lvl1pPr>
          </a:lstStyle>
          <a:p>
            <a:r>
              <a:rPr lang="en-US" noProof="0" dirty="0"/>
              <a:t>Table of Contents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FD808AB-EC49-1578-0005-D58D2A365AA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53573" y="368999"/>
            <a:ext cx="1443361" cy="360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87244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Bottom"/>
          <p:cNvSpPr/>
          <p:nvPr/>
        </p:nvSpPr>
        <p:spPr>
          <a:xfrm>
            <a:off x="2" y="6264000"/>
            <a:ext cx="12192000" cy="594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856" tIns="60928" rIns="121856" bIns="60928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1" name="Slide Number">
            <a:extLst>
              <a:ext uri="{FF2B5EF4-FFF2-40B4-BE49-F238E27FC236}">
                <a16:creationId xmlns:a16="http://schemas.microsoft.com/office/drawing/2014/main" id="{6750ECE4-94E0-469B-B8E4-562792823B0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53030" y="6462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>
                <a:solidFill>
                  <a:schemeClr val="bg2"/>
                </a:solidFill>
              </a:defRPr>
            </a:lvl1pPr>
          </a:lstStyle>
          <a:p>
            <a:fld id="{2BF067CD-8E6B-4360-9AA8-C5DF2A48A6D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Oval Logo Holder"/>
          <p:cNvSpPr/>
          <p:nvPr/>
        </p:nvSpPr>
        <p:spPr>
          <a:xfrm>
            <a:off x="5161650" y="4824665"/>
            <a:ext cx="1868701" cy="1868701"/>
          </a:xfrm>
          <a:prstGeom prst="ellipse">
            <a:avLst/>
          </a:prstGeom>
          <a:solidFill>
            <a:schemeClr val="tx2"/>
          </a:solidFill>
          <a:ln w="635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0" name="Text Placeholder Right">
            <a:extLst>
              <a:ext uri="{FF2B5EF4-FFF2-40B4-BE49-F238E27FC236}">
                <a16:creationId xmlns:a16="http://schemas.microsoft.com/office/drawing/2014/main" id="{AF69A59F-C564-4A04-B1CC-31C26149999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456000" y="1195931"/>
            <a:ext cx="5545597" cy="4957073"/>
          </a:xfrm>
        </p:spPr>
        <p:txBody>
          <a:bodyPr/>
          <a:lstStyle>
            <a:lvl1pPr latinLnBrk="0">
              <a:defRPr/>
            </a:lvl1pPr>
            <a:lvl2pPr latinLnBrk="0">
              <a:defRPr/>
            </a:lvl2pPr>
            <a:lvl3pPr latinLnBrk="0">
              <a:defRPr/>
            </a:lvl3pPr>
            <a:lvl4pPr latinLnBrk="0">
              <a:defRPr/>
            </a:lvl4pPr>
            <a:lvl5pPr latinLnBrk="0">
              <a:defRPr/>
            </a:lvl5pPr>
          </a:lstStyle>
          <a:p>
            <a:pPr lvl="0"/>
            <a:r>
              <a:rPr lang="en-US" noProof="0" dirty="0"/>
              <a:t>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9" name="Text Placeholder Left">
            <a:extLst>
              <a:ext uri="{FF2B5EF4-FFF2-40B4-BE49-F238E27FC236}">
                <a16:creationId xmlns:a16="http://schemas.microsoft.com/office/drawing/2014/main" id="{C8A626D2-456B-41EF-9818-EA8DD7E314D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0402" y="1195931"/>
            <a:ext cx="5545598" cy="4957073"/>
          </a:xfrm>
        </p:spPr>
        <p:txBody>
          <a:bodyPr/>
          <a:lstStyle>
            <a:lvl1pPr latinLnBrk="0">
              <a:defRPr/>
            </a:lvl1pPr>
            <a:lvl2pPr latinLnBrk="0">
              <a:defRPr/>
            </a:lvl2pPr>
            <a:lvl3pPr latinLnBrk="0">
              <a:defRPr/>
            </a:lvl3pPr>
            <a:lvl4pPr latinLnBrk="0">
              <a:defRPr/>
            </a:lvl4pPr>
            <a:lvl5pPr latinLnBrk="0">
              <a:defRPr/>
            </a:lvl5pPr>
          </a:lstStyle>
          <a:p>
            <a:pPr lvl="0"/>
            <a:r>
              <a:rPr lang="en-US" noProof="0" dirty="0"/>
              <a:t>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13" name="Rectangle Top">
            <a:extLst>
              <a:ext uri="{FF2B5EF4-FFF2-40B4-BE49-F238E27FC236}">
                <a16:creationId xmlns:a16="http://schemas.microsoft.com/office/drawing/2014/main" id="{E03301DA-D0AF-46FD-8740-2F761250203A}"/>
              </a:ext>
            </a:extLst>
          </p:cNvPr>
          <p:cNvSpPr/>
          <p:nvPr userDrawn="1"/>
        </p:nvSpPr>
        <p:spPr>
          <a:xfrm>
            <a:off x="0" y="0"/>
            <a:ext cx="12196800" cy="109537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5" name="Slide Title">
            <a:extLst>
              <a:ext uri="{FF2B5EF4-FFF2-40B4-BE49-F238E27FC236}">
                <a16:creationId xmlns:a16="http://schemas.microsoft.com/office/drawing/2014/main" id="{EA9A94D1-F9F6-4D7B-85E3-896A987B6A4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0405" y="100750"/>
            <a:ext cx="10270595" cy="882654"/>
          </a:xfrm>
        </p:spPr>
        <p:txBody>
          <a:bodyPr/>
          <a:lstStyle>
            <a:lvl1pPr latinLnBrk="0">
              <a:defRPr>
                <a:solidFill>
                  <a:schemeClr val="bg2"/>
                </a:solidFill>
              </a:defRPr>
            </a:lvl1pPr>
          </a:lstStyle>
          <a:p>
            <a:r>
              <a:rPr lang="en-US" noProof="0" dirty="0"/>
              <a:t>Slide Title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C9792D8-D354-4699-B7D6-B8CB7F77594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398753" y="5340443"/>
            <a:ext cx="1334859" cy="982867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B6351E19-25DA-EAD2-9FBE-358B6135D728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53573" y="368999"/>
            <a:ext cx="1443361" cy="360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40334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lide Number">
            <a:extLst>
              <a:ext uri="{FF2B5EF4-FFF2-40B4-BE49-F238E27FC236}">
                <a16:creationId xmlns:a16="http://schemas.microsoft.com/office/drawing/2014/main" id="{F888EE71-82B3-40F1-A63F-7417422FB4A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53030" y="6444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14" name="Text Placeholder Body">
            <a:extLst>
              <a:ext uri="{FF2B5EF4-FFF2-40B4-BE49-F238E27FC236}">
                <a16:creationId xmlns:a16="http://schemas.microsoft.com/office/drawing/2014/main" id="{A2ABE920-240F-4CF6-AD45-23ED489FAD6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69002" y="1353866"/>
            <a:ext cx="7426234" cy="5219931"/>
          </a:xfrm>
        </p:spPr>
        <p:txBody>
          <a:bodyPr/>
          <a:lstStyle>
            <a:lvl1pPr latinLnBrk="0">
              <a:defRPr/>
            </a:lvl1pPr>
            <a:lvl2pPr latinLnBrk="0">
              <a:defRPr/>
            </a:lvl2pPr>
            <a:lvl3pPr latinLnBrk="0">
              <a:defRPr/>
            </a:lvl3pPr>
            <a:lvl4pPr latinLnBrk="0">
              <a:defRPr/>
            </a:lvl4pPr>
            <a:lvl5pPr latinLnBrk="0">
              <a:defRPr/>
            </a:lvl5pPr>
          </a:lstStyle>
          <a:p>
            <a:pPr lvl="0"/>
            <a:r>
              <a:rPr lang="en-US" noProof="0"/>
              <a:t>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5" name="Picture Placeholder Left"/>
          <p:cNvSpPr>
            <a:spLocks noGrp="1"/>
          </p:cNvSpPr>
          <p:nvPr>
            <p:ph type="pic" idx="1" hasCustomPrompt="1"/>
          </p:nvPr>
        </p:nvSpPr>
        <p:spPr>
          <a:xfrm>
            <a:off x="190405" y="1355077"/>
            <a:ext cx="3889373" cy="5366405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anchor="ctr"/>
          <a:lstStyle>
            <a:lvl1pPr marL="0" indent="0" algn="ctr" latinLnBrk="0">
              <a:buNone/>
              <a:defRPr sz="2131" baseline="0">
                <a:solidFill>
                  <a:schemeClr val="tx1"/>
                </a:solidFill>
                <a:latin typeface="+mn-lt"/>
                <a:cs typeface="Arial" pitchFamily="34" charset="0"/>
              </a:defRPr>
            </a:lvl1pPr>
            <a:lvl2pPr marL="609219" indent="0">
              <a:buNone/>
              <a:defRPr sz="3731"/>
            </a:lvl2pPr>
            <a:lvl3pPr marL="1218438" indent="0">
              <a:buNone/>
              <a:defRPr sz="3198"/>
            </a:lvl3pPr>
            <a:lvl4pPr marL="1827657" indent="0">
              <a:buNone/>
              <a:defRPr sz="2665"/>
            </a:lvl4pPr>
            <a:lvl5pPr marL="2436876" indent="0">
              <a:buNone/>
              <a:defRPr sz="2665"/>
            </a:lvl5pPr>
            <a:lvl6pPr marL="3046096" indent="0">
              <a:buNone/>
              <a:defRPr sz="2665"/>
            </a:lvl6pPr>
            <a:lvl7pPr marL="3655315" indent="0">
              <a:buNone/>
              <a:defRPr sz="2665"/>
            </a:lvl7pPr>
            <a:lvl8pPr marL="4264533" indent="0">
              <a:buNone/>
              <a:defRPr sz="2665"/>
            </a:lvl8pPr>
            <a:lvl9pPr marL="4873752" indent="0">
              <a:buNone/>
              <a:defRPr sz="2665"/>
            </a:lvl9pPr>
          </a:lstStyle>
          <a:p>
            <a:r>
              <a:rPr lang="en-US" altLang="ko-KR" noProof="0"/>
              <a:t>Your Picture Here</a:t>
            </a:r>
          </a:p>
        </p:txBody>
      </p:sp>
      <p:sp>
        <p:nvSpPr>
          <p:cNvPr id="3" name="Rectangle Left Second"/>
          <p:cNvSpPr/>
          <p:nvPr/>
        </p:nvSpPr>
        <p:spPr>
          <a:xfrm>
            <a:off x="4127777" y="1748999"/>
            <a:ext cx="240001" cy="3360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2" name="Rectangle Left First"/>
          <p:cNvSpPr/>
          <p:nvPr/>
        </p:nvSpPr>
        <p:spPr>
          <a:xfrm>
            <a:off x="4079775" y="1355073"/>
            <a:ext cx="48001" cy="550292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0" name="Rectangle Down">
            <a:extLst>
              <a:ext uri="{FF2B5EF4-FFF2-40B4-BE49-F238E27FC236}">
                <a16:creationId xmlns:a16="http://schemas.microsoft.com/office/drawing/2014/main" id="{E9B994EC-35A8-4A11-98CB-25DC28852F94}"/>
              </a:ext>
            </a:extLst>
          </p:cNvPr>
          <p:cNvSpPr/>
          <p:nvPr/>
        </p:nvSpPr>
        <p:spPr>
          <a:xfrm>
            <a:off x="2" y="6721482"/>
            <a:ext cx="12192000" cy="13651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1" name="Rectangle Top">
            <a:extLst>
              <a:ext uri="{FF2B5EF4-FFF2-40B4-BE49-F238E27FC236}">
                <a16:creationId xmlns:a16="http://schemas.microsoft.com/office/drawing/2014/main" id="{274B8F05-DFCE-47BD-BAFD-DF93E1A63BDD}"/>
              </a:ext>
            </a:extLst>
          </p:cNvPr>
          <p:cNvSpPr/>
          <p:nvPr userDrawn="1"/>
        </p:nvSpPr>
        <p:spPr>
          <a:xfrm>
            <a:off x="0" y="0"/>
            <a:ext cx="12196800" cy="109537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3" name="Slide Title">
            <a:extLst>
              <a:ext uri="{FF2B5EF4-FFF2-40B4-BE49-F238E27FC236}">
                <a16:creationId xmlns:a16="http://schemas.microsoft.com/office/drawing/2014/main" id="{3F218E34-55D7-4290-BFE4-80F31F94155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0406" y="100750"/>
            <a:ext cx="10270594" cy="882654"/>
          </a:xfrm>
        </p:spPr>
        <p:txBody>
          <a:bodyPr/>
          <a:lstStyle>
            <a:lvl1pPr latinLnBrk="0">
              <a:defRPr>
                <a:solidFill>
                  <a:schemeClr val="bg2"/>
                </a:solidFill>
              </a:defRPr>
            </a:lvl1pPr>
          </a:lstStyle>
          <a:p>
            <a:r>
              <a:rPr lang="en-US" noProof="0" dirty="0"/>
              <a:t>Slide Title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2F3DB3E-BDAA-8201-9A01-2F52640A84C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53573" y="368999"/>
            <a:ext cx="1443361" cy="360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40194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estions Slid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Rectangle Bottom">
            <a:extLst>
              <a:ext uri="{FF2B5EF4-FFF2-40B4-BE49-F238E27FC236}">
                <a16:creationId xmlns:a16="http://schemas.microsoft.com/office/drawing/2014/main" id="{550A59F9-9A9D-4956-95B4-F78CC0DB1D59}"/>
              </a:ext>
            </a:extLst>
          </p:cNvPr>
          <p:cNvSpPr/>
          <p:nvPr userDrawn="1"/>
        </p:nvSpPr>
        <p:spPr>
          <a:xfrm>
            <a:off x="0" y="6371332"/>
            <a:ext cx="12195176" cy="48723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107753B-8639-4399-B782-EE5377184D2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6988" y="1461842"/>
            <a:ext cx="10731663" cy="3047158"/>
          </a:xfrm>
        </p:spPr>
        <p:txBody>
          <a:bodyPr>
            <a:normAutofit/>
          </a:bodyPr>
          <a:lstStyle>
            <a:lvl1pPr algn="ctr">
              <a:defRPr sz="13800"/>
            </a:lvl1pPr>
          </a:lstStyle>
          <a:p>
            <a:r>
              <a:rPr lang="bg-BG" dirty="0"/>
              <a:t>Въпроси?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920612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 bwMode="gray"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 Body Text">
            <a:extLst>
              <a:ext uri="{FF2B5EF4-FFF2-40B4-BE49-F238E27FC236}">
                <a16:creationId xmlns:a16="http://schemas.microsoft.com/office/drawing/2014/main" id="{90CBFB32-9F46-4F2F-8A54-9EE8BED278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90404" y="1138844"/>
            <a:ext cx="11804830" cy="5530156"/>
          </a:xfrm>
          <a:prstGeom prst="rect">
            <a:avLst/>
          </a:prstGeom>
        </p:spPr>
        <p:txBody>
          <a:bodyPr vert="horz" lIns="108000" tIns="36000" rIns="108000" bIns="36000" rtlCol="0">
            <a:normAutofit/>
          </a:bodyPr>
          <a:lstStyle/>
          <a:p>
            <a:pPr lvl="0"/>
            <a:r>
              <a:rPr lang="en-US" dirty="0"/>
              <a:t>First Level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dirty="0"/>
          </a:p>
        </p:txBody>
      </p:sp>
      <p:sp>
        <p:nvSpPr>
          <p:cNvPr id="10" name="Slide Title">
            <a:extLst>
              <a:ext uri="{FF2B5EF4-FFF2-40B4-BE49-F238E27FC236}">
                <a16:creationId xmlns:a16="http://schemas.microsoft.com/office/drawing/2014/main" id="{B770C392-3003-4C35-9625-BB041F8257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0405" y="100750"/>
            <a:ext cx="11804829" cy="882654"/>
          </a:xfrm>
          <a:prstGeom prst="rect">
            <a:avLst/>
          </a:prstGeom>
        </p:spPr>
        <p:txBody>
          <a:bodyPr vert="horz" lIns="108000" tIns="36000" rIns="108000" bIns="36000" rtlCol="0" anchor="ctr" anchorCtr="0">
            <a:normAutofit/>
          </a:bodyPr>
          <a:lstStyle/>
          <a:p>
            <a:r>
              <a:rPr lang="en-US" dirty="0"/>
              <a:t>Click to Edit Master Title Style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567891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1" r:id="rId1"/>
    <p:sldLayoutId id="2147483689" r:id="rId2"/>
    <p:sldLayoutId id="2147483681" r:id="rId3"/>
    <p:sldLayoutId id="2147483679" r:id="rId4"/>
    <p:sldLayoutId id="2147483680" r:id="rId5"/>
    <p:sldLayoutId id="2147483688" r:id="rId6"/>
    <p:sldLayoutId id="2147483684" r:id="rId7"/>
    <p:sldLayoutId id="2147483690" r:id="rId8"/>
    <p:sldLayoutId id="2147483677" r:id="rId9"/>
    <p:sldLayoutId id="2147483683" r:id="rId10"/>
    <p:sldLayoutId id="2147483685" r:id="rId11"/>
    <p:sldLayoutId id="2147483686" r:id="rId12"/>
  </p:sldLayoutIdLst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hf hdr="0" ftr="0" dt="0"/>
  <p:txStyles>
    <p:titleStyle>
      <a:lvl1pPr algn="l" defTabSz="1218438" rtl="0" eaLnBrk="1" latinLnBrk="0" hangingPunct="1">
        <a:spcBef>
          <a:spcPct val="0"/>
        </a:spcBef>
        <a:buNone/>
        <a:defRPr sz="3998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60363" indent="-360363" algn="l" defTabSz="1218438" rtl="0" eaLnBrk="1" latinLnBrk="0" hangingPunct="1">
        <a:lnSpc>
          <a:spcPct val="105000"/>
        </a:lnSpc>
        <a:spcBef>
          <a:spcPts val="600"/>
        </a:spcBef>
        <a:spcAft>
          <a:spcPts val="600"/>
        </a:spcAft>
        <a:buFont typeface="Wingdings" panose="05000000000000000000" pitchFamily="2" charset="2"/>
        <a:buChar char="§"/>
        <a:defRPr sz="3398" kern="1200">
          <a:solidFill>
            <a:schemeClr val="tx1"/>
          </a:solidFill>
          <a:latin typeface="+mn-lt"/>
          <a:ea typeface="+mn-ea"/>
          <a:cs typeface="+mn-cs"/>
        </a:defRPr>
      </a:lvl1pPr>
      <a:lvl2pPr marL="803275" indent="-360363" algn="l" defTabSz="1218438" rtl="0" eaLnBrk="1" latinLnBrk="0" hangingPunct="1">
        <a:lnSpc>
          <a:spcPct val="105000"/>
        </a:lnSpc>
        <a:spcBef>
          <a:spcPts val="600"/>
        </a:spcBef>
        <a:spcAft>
          <a:spcPts val="600"/>
        </a:spcAft>
        <a:buFont typeface="Wingdings" panose="05000000000000000000" pitchFamily="2" charset="2"/>
        <a:buChar char="§"/>
        <a:defRPr sz="3198" kern="1200">
          <a:solidFill>
            <a:schemeClr val="tx1"/>
          </a:solidFill>
          <a:latin typeface="+mn-lt"/>
          <a:ea typeface="+mn-ea"/>
          <a:cs typeface="+mn-cs"/>
        </a:defRPr>
      </a:lvl2pPr>
      <a:lvl3pPr marL="1255713" indent="-360363" algn="l" defTabSz="1218438" rtl="0" eaLnBrk="1" latinLnBrk="0" hangingPunct="1">
        <a:lnSpc>
          <a:spcPct val="105000"/>
        </a:lnSpc>
        <a:spcBef>
          <a:spcPts val="600"/>
        </a:spcBef>
        <a:spcAft>
          <a:spcPts val="600"/>
        </a:spcAft>
        <a:buFont typeface="Wingdings" panose="05000000000000000000" pitchFamily="2" charset="2"/>
        <a:buChar char="§"/>
        <a:defRPr sz="2998" kern="1200">
          <a:solidFill>
            <a:schemeClr val="tx1"/>
          </a:solidFill>
          <a:latin typeface="+mn-lt"/>
          <a:ea typeface="+mn-ea"/>
          <a:cs typeface="+mn-cs"/>
        </a:defRPr>
      </a:lvl3pPr>
      <a:lvl4pPr marL="1700213" indent="-352425" algn="l" defTabSz="1218438" rtl="0" eaLnBrk="1" latinLnBrk="0" hangingPunct="1">
        <a:lnSpc>
          <a:spcPct val="105000"/>
        </a:lnSpc>
        <a:spcBef>
          <a:spcPts val="600"/>
        </a:spcBef>
        <a:spcAft>
          <a:spcPts val="600"/>
        </a:spcAft>
        <a:buFont typeface="Wingdings" panose="05000000000000000000" pitchFamily="2" charset="2"/>
        <a:buChar char="§"/>
        <a:defRPr sz="2798" kern="1200">
          <a:solidFill>
            <a:schemeClr val="tx1"/>
          </a:solidFill>
          <a:latin typeface="+mn-lt"/>
          <a:ea typeface="+mn-ea"/>
          <a:cs typeface="+mn-cs"/>
        </a:defRPr>
      </a:lvl4pPr>
      <a:lvl5pPr marL="2058988" indent="-266700" algn="l" defTabSz="1218438" rtl="0" eaLnBrk="1" latinLnBrk="0" hangingPunct="1">
        <a:lnSpc>
          <a:spcPct val="105000"/>
        </a:lnSpc>
        <a:spcBef>
          <a:spcPts val="600"/>
        </a:spcBef>
        <a:spcAft>
          <a:spcPts val="600"/>
        </a:spcAft>
        <a:buFont typeface="Wingdings" panose="05000000000000000000" pitchFamily="2" charset="2"/>
        <a:buChar char="§"/>
        <a:defRPr sz="2598" kern="1200">
          <a:solidFill>
            <a:schemeClr val="tx1"/>
          </a:solidFill>
          <a:latin typeface="+mn-lt"/>
          <a:ea typeface="+mn-ea"/>
          <a:cs typeface="+mn-cs"/>
        </a:defRPr>
      </a:lvl5pPr>
      <a:lvl6pPr marL="3350704" indent="-304610" algn="l" defTabSz="1218438" rtl="0" eaLnBrk="1" latinLnBrk="1" hangingPunct="1">
        <a:spcBef>
          <a:spcPct val="20000"/>
        </a:spcBef>
        <a:buFont typeface="Arial" pitchFamily="34" charset="0"/>
        <a:buChar char="•"/>
        <a:defRPr sz="2665" kern="1200">
          <a:solidFill>
            <a:schemeClr val="tx1"/>
          </a:solidFill>
          <a:latin typeface="+mn-lt"/>
          <a:ea typeface="+mn-ea"/>
          <a:cs typeface="+mn-cs"/>
        </a:defRPr>
      </a:lvl6pPr>
      <a:lvl7pPr marL="3959924" indent="-304610" algn="l" defTabSz="1218438" rtl="0" eaLnBrk="1" latinLnBrk="1" hangingPunct="1">
        <a:spcBef>
          <a:spcPct val="20000"/>
        </a:spcBef>
        <a:buFont typeface="Arial" pitchFamily="34" charset="0"/>
        <a:buChar char="•"/>
        <a:defRPr sz="2665" kern="1200">
          <a:solidFill>
            <a:schemeClr val="tx1"/>
          </a:solidFill>
          <a:latin typeface="+mn-lt"/>
          <a:ea typeface="+mn-ea"/>
          <a:cs typeface="+mn-cs"/>
        </a:defRPr>
      </a:lvl7pPr>
      <a:lvl8pPr marL="4569143" indent="-304610" algn="l" defTabSz="1218438" rtl="0" eaLnBrk="1" latinLnBrk="1" hangingPunct="1">
        <a:spcBef>
          <a:spcPct val="20000"/>
        </a:spcBef>
        <a:buFont typeface="Arial" pitchFamily="34" charset="0"/>
        <a:buChar char="•"/>
        <a:defRPr sz="2665" kern="1200">
          <a:solidFill>
            <a:schemeClr val="tx1"/>
          </a:solidFill>
          <a:latin typeface="+mn-lt"/>
          <a:ea typeface="+mn-ea"/>
          <a:cs typeface="+mn-cs"/>
        </a:defRPr>
      </a:lvl8pPr>
      <a:lvl9pPr marL="5178362" indent="-304610" algn="l" defTabSz="1218438" rtl="0" eaLnBrk="1" latinLnBrk="1" hangingPunct="1">
        <a:spcBef>
          <a:spcPct val="20000"/>
        </a:spcBef>
        <a:buFont typeface="Arial" pitchFamily="34" charset="0"/>
        <a:buChar char="•"/>
        <a:defRPr sz="266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1pPr>
      <a:lvl2pPr marL="609219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2pPr>
      <a:lvl3pPr marL="1218438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3pPr>
      <a:lvl4pPr marL="1827657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4pPr>
      <a:lvl5pPr marL="2436876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5pPr>
      <a:lvl6pPr marL="3046096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6pPr>
      <a:lvl7pPr marL="3655315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7pPr>
      <a:lvl8pPr marL="4264533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8pPr>
      <a:lvl9pPr marL="4873752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1843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BG-IT-Edu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jpg"/><Relationship Id="rId4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9.xml"/><Relationship Id="rId1" Type="http://schemas.openxmlformats.org/officeDocument/2006/relationships/tags" Target="../tags/tag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5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7.png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excalidraw.com/" TargetMode="Externa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9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4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BG-IT-Edu" TargetMode="External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.png"/><Relationship Id="rId5" Type="http://schemas.openxmlformats.org/officeDocument/2006/relationships/hyperlink" Target="http://creativecommons.org/licenses/by-nc-sa/4.0/" TargetMode="External"/><Relationship Id="rId4" Type="http://schemas.openxmlformats.org/officeDocument/2006/relationships/hyperlink" Target="https://github.com/BG-IT-Edu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Author Name">
            <a:extLst>
              <a:ext uri="{FF2B5EF4-FFF2-40B4-BE49-F238E27FC236}">
                <a16:creationId xmlns:a16="http://schemas.microsoft.com/office/drawing/2014/main" id="{FA396BB6-2053-4690-9672-BC528007D370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390120" y="6086106"/>
            <a:ext cx="5248260" cy="341313"/>
          </a:xfrm>
        </p:spPr>
        <p:txBody>
          <a:bodyPr>
            <a:normAutofit lnSpcReduction="10000"/>
          </a:bodyPr>
          <a:lstStyle/>
          <a:p>
            <a:r>
              <a:rPr lang="bg-BG" dirty="0"/>
              <a:t>Софтуерни и хардуерни науки</a:t>
            </a:r>
          </a:p>
        </p:txBody>
      </p:sp>
      <p:sp>
        <p:nvSpPr>
          <p:cNvPr id="52" name="Text Placeholder 51">
            <a:extLst>
              <a:ext uri="{FF2B5EF4-FFF2-40B4-BE49-F238E27FC236}">
                <a16:creationId xmlns:a16="http://schemas.microsoft.com/office/drawing/2014/main" id="{8DE66249-1FBD-414B-AF0D-550F7312AF7D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390122" y="5698189"/>
            <a:ext cx="5248260" cy="374236"/>
          </a:xfrm>
        </p:spPr>
        <p:txBody>
          <a:bodyPr>
            <a:normAutofit lnSpcReduction="10000"/>
          </a:bodyPr>
          <a:lstStyle/>
          <a:p>
            <a:r>
              <a:rPr lang="bg-BG" dirty="0"/>
              <a:t>Курс </a:t>
            </a:r>
            <a:r>
              <a:rPr lang="en-US" dirty="0"/>
              <a:t>"</a:t>
            </a:r>
            <a:r>
              <a:rPr lang="bg-BG" dirty="0"/>
              <a:t>Информационни технологии"</a:t>
            </a:r>
            <a:endParaRPr lang="en-US" dirty="0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520F80DC-BAF0-05EE-2BC1-37C2321904F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34045" y="6085863"/>
            <a:ext cx="4751953" cy="341556"/>
          </a:xfrm>
        </p:spPr>
        <p:txBody>
          <a:bodyPr>
            <a:normAutofit lnSpcReduction="10000"/>
          </a:bodyPr>
          <a:lstStyle/>
          <a:p>
            <a:r>
              <a:rPr lang="en-US" dirty="0">
                <a:hlinkClick r:id="rId3"/>
              </a:rPr>
              <a:t>https://github.com/BG-IT-Edu</a:t>
            </a:r>
            <a:endParaRPr lang="en-US" dirty="0"/>
          </a:p>
        </p:txBody>
      </p:sp>
      <p:sp>
        <p:nvSpPr>
          <p:cNvPr id="40" name="Text Placeholder 39">
            <a:extLst>
              <a:ext uri="{FF2B5EF4-FFF2-40B4-BE49-F238E27FC236}">
                <a16:creationId xmlns:a16="http://schemas.microsoft.com/office/drawing/2014/main" id="{E4D839B2-02D1-883A-3CE0-7CF25557FBA4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34046" y="5251106"/>
            <a:ext cx="4751954" cy="724904"/>
          </a:xfrm>
        </p:spPr>
        <p:txBody>
          <a:bodyPr>
            <a:normAutofit/>
          </a:bodyPr>
          <a:lstStyle/>
          <a:p>
            <a:r>
              <a:rPr lang="bg-BG" dirty="0"/>
              <a:t>Проект "Отворено учебно съдържание по програмиране и ИТ", СофтУни Фондация </a:t>
            </a:r>
          </a:p>
        </p:txBody>
      </p:sp>
      <p:sp>
        <p:nvSpPr>
          <p:cNvPr id="3" name="Presentation Subtitle">
            <a:extLst>
              <a:ext uri="{FF2B5EF4-FFF2-40B4-BE49-F238E27FC236}">
                <a16:creationId xmlns:a16="http://schemas.microsoft.com/office/drawing/2014/main" id="{A004DC04-DA2A-41C0-8578-4B8D2F08EA7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54746" y="1402942"/>
            <a:ext cx="11083636" cy="971589"/>
          </a:xfrm>
        </p:spPr>
        <p:txBody>
          <a:bodyPr>
            <a:noAutofit/>
          </a:bodyPr>
          <a:lstStyle/>
          <a:p>
            <a:r>
              <a:rPr lang="bg-BG" sz="3400" dirty="0"/>
              <a:t>Графичен интерфейс, схематичен дизайн, достъпност, типове уеб страници</a:t>
            </a:r>
          </a:p>
        </p:txBody>
      </p:sp>
      <p:sp>
        <p:nvSpPr>
          <p:cNvPr id="2" name="Presentation Title">
            <a:extLst>
              <a:ext uri="{FF2B5EF4-FFF2-40B4-BE49-F238E27FC236}">
                <a16:creationId xmlns:a16="http://schemas.microsoft.com/office/drawing/2014/main" id="{37F91798-9AD5-4209-8887-9580295484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4746" y="321501"/>
            <a:ext cx="11083636" cy="971589"/>
          </a:xfrm>
        </p:spPr>
        <p:txBody>
          <a:bodyPr>
            <a:noAutofit/>
          </a:bodyPr>
          <a:lstStyle/>
          <a:p>
            <a:r>
              <a:rPr lang="bg-BG" sz="6000" dirty="0"/>
              <a:t>Проектиране на уеб страници</a:t>
            </a:r>
            <a:endParaRPr lang="en-US" sz="60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9C89CDB-9A69-7B24-74E6-10BF87DE1C2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11007" y="3056137"/>
            <a:ext cx="1819960" cy="849053"/>
          </a:xfrm>
          <a:prstGeom prst="rect">
            <a:avLst/>
          </a:prstGeom>
        </p:spPr>
      </p:pic>
      <p:pic>
        <p:nvPicPr>
          <p:cNvPr id="8" name="Picture Placeholder 7">
            <a:extLst>
              <a:ext uri="{FF2B5EF4-FFF2-40B4-BE49-F238E27FC236}">
                <a16:creationId xmlns:a16="http://schemas.microsoft.com/office/drawing/2014/main" id="{9E0636FF-9DFF-1E3C-B648-B7D58C2CC7D0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0373" t="30129" r="-15" b="26231"/>
          <a:stretch/>
        </p:blipFill>
        <p:spPr>
          <a:xfrm>
            <a:off x="6390123" y="3400017"/>
            <a:ext cx="5248260" cy="2188983"/>
          </a:xfrm>
          <a:ln>
            <a:solidFill>
              <a:schemeClr val="bg2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36664053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597"/>
    </mc:Choice>
    <mc:Fallback xmlns="">
      <p:transition spd="slow" advTm="2597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">
            <a:extLst>
              <a:ext uri="{FF2B5EF4-FFF2-40B4-BE49-F238E27FC236}">
                <a16:creationId xmlns:a16="http://schemas.microsoft.com/office/drawing/2014/main" id="{6A760D59-0056-4F39-B077-DBDBE3D2927E}"/>
              </a:ext>
            </a:extLst>
          </p:cNvPr>
          <p:cNvSpPr txBox="1">
            <a:spLocks/>
          </p:cNvSpPr>
          <p:nvPr/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2BF067CD-8E6B-4360-9AA8-C5DF2A48A6D1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444419" name="Slide Body"/>
          <p:cNvSpPr>
            <a:spLocks noGrp="1" noChangeArrowheads="1"/>
          </p:cNvSpPr>
          <p:nvPr>
            <p:ph type="body" sz="quarter" idx="13"/>
          </p:nvPr>
        </p:nvSpPr>
        <p:spPr>
          <a:xfrm>
            <a:off x="196766" y="1371604"/>
            <a:ext cx="11781606" cy="5207396"/>
          </a:xfrm>
        </p:spPr>
        <p:txBody>
          <a:bodyPr>
            <a:normAutofit fontScale="92500" lnSpcReduction="10000"/>
          </a:bodyPr>
          <a:lstStyle/>
          <a:p>
            <a:pPr>
              <a:buClr>
                <a:schemeClr val="tx1"/>
              </a:buClr>
            </a:pPr>
            <a:r>
              <a:rPr lang="bg-BG" sz="3800" dirty="0"/>
              <a:t>​</a:t>
            </a:r>
            <a:r>
              <a:rPr lang="bg-BG" sz="3800" b="1" dirty="0">
                <a:solidFill>
                  <a:schemeClr val="bg1"/>
                </a:solidFill>
              </a:rPr>
              <a:t>Проектиране на уеб страници</a:t>
            </a:r>
          </a:p>
          <a:p>
            <a:pPr lvl="1">
              <a:buClr>
                <a:schemeClr val="tx1"/>
              </a:buClr>
            </a:pPr>
            <a:r>
              <a:rPr lang="bg-BG" sz="3600" b="1" dirty="0"/>
              <a:t>Цел </a:t>
            </a:r>
            <a:r>
              <a:rPr lang="bg-BG" sz="3600" dirty="0"/>
              <a:t>и</a:t>
            </a:r>
            <a:r>
              <a:rPr lang="bg-BG" sz="3600" b="1" dirty="0"/>
              <a:t> основни етапи</a:t>
            </a:r>
          </a:p>
          <a:p>
            <a:pPr>
              <a:buClr>
                <a:schemeClr val="tx1"/>
              </a:buClr>
            </a:pPr>
            <a:r>
              <a:rPr lang="bg-BG" sz="3800" dirty="0"/>
              <a:t>​​</a:t>
            </a:r>
            <a:r>
              <a:rPr lang="bg-BG" sz="3800" b="1" dirty="0">
                <a:solidFill>
                  <a:schemeClr val="bg1"/>
                </a:solidFill>
              </a:rPr>
              <a:t>Графичен интерфейс</a:t>
            </a:r>
            <a:endParaRPr lang="en-US" sz="3800" b="1" dirty="0">
              <a:solidFill>
                <a:schemeClr val="bg1"/>
              </a:solidFill>
            </a:endParaRPr>
          </a:p>
          <a:p>
            <a:pPr>
              <a:buClr>
                <a:schemeClr val="tx1"/>
              </a:buClr>
            </a:pPr>
            <a:r>
              <a:rPr lang="bg-BG" sz="3800" dirty="0"/>
              <a:t>​</a:t>
            </a:r>
            <a:r>
              <a:rPr lang="bg-BG" sz="3800" b="1" dirty="0">
                <a:solidFill>
                  <a:schemeClr val="bg1"/>
                </a:solidFill>
              </a:rPr>
              <a:t>Схематичен дизайн </a:t>
            </a:r>
            <a:r>
              <a:rPr lang="bg-BG" sz="3800" b="1" dirty="0"/>
              <a:t>(</a:t>
            </a:r>
            <a:r>
              <a:rPr lang="en-US" sz="3800" b="1" dirty="0"/>
              <a:t>Wireframe</a:t>
            </a:r>
            <a:r>
              <a:rPr lang="bg-BG" sz="3800" b="1" dirty="0"/>
              <a:t>)</a:t>
            </a:r>
          </a:p>
          <a:p>
            <a:pPr lvl="1">
              <a:buClr>
                <a:schemeClr val="tx1"/>
              </a:buClr>
            </a:pPr>
            <a:r>
              <a:rPr lang="bg-BG" sz="3600" b="1" dirty="0"/>
              <a:t>Основни елементи</a:t>
            </a:r>
          </a:p>
          <a:p>
            <a:pPr>
              <a:buClr>
                <a:schemeClr val="tx1"/>
              </a:buClr>
            </a:pPr>
            <a:r>
              <a:rPr lang="en-US" sz="3800" dirty="0">
                <a:solidFill>
                  <a:schemeClr val="bg1"/>
                </a:solidFill>
              </a:rPr>
              <a:t>​</a:t>
            </a:r>
            <a:r>
              <a:rPr lang="bg-BG" sz="3800" b="1" dirty="0">
                <a:solidFill>
                  <a:schemeClr val="bg1"/>
                </a:solidFill>
              </a:rPr>
              <a:t>Достъпност на уеб страници </a:t>
            </a:r>
            <a:r>
              <a:rPr lang="en-GB" sz="3800" b="1" dirty="0"/>
              <a:t>(Web Accessibility)</a:t>
            </a:r>
            <a:endParaRPr lang="bg-BG" sz="3800" b="1" dirty="0"/>
          </a:p>
          <a:p>
            <a:pPr>
              <a:buClr>
                <a:schemeClr val="tx1"/>
              </a:buClr>
            </a:pPr>
            <a:r>
              <a:rPr lang="en-US" sz="3800" dirty="0">
                <a:solidFill>
                  <a:schemeClr val="bg1"/>
                </a:solidFill>
              </a:rPr>
              <a:t>​</a:t>
            </a:r>
            <a:r>
              <a:rPr lang="bg-BG" sz="3800" b="1" dirty="0">
                <a:solidFill>
                  <a:schemeClr val="bg1"/>
                </a:solidFill>
              </a:rPr>
              <a:t>Типове уеб страници</a:t>
            </a:r>
            <a:endParaRPr lang="en-US" sz="3800" b="1" dirty="0">
              <a:solidFill>
                <a:schemeClr val="bg1"/>
              </a:solidFill>
            </a:endParaRPr>
          </a:p>
          <a:p>
            <a:r>
              <a:rPr lang="bg-BG" sz="3800" dirty="0">
                <a:highlight>
                  <a:srgbClr val="FFFF00"/>
                </a:highlight>
              </a:rPr>
              <a:t>​​​</a:t>
            </a:r>
            <a:r>
              <a:rPr lang="bg-BG" sz="3800" b="1" dirty="0"/>
              <a:t>Пример: </a:t>
            </a:r>
            <a:r>
              <a:rPr lang="bg-BG" sz="3800" dirty="0"/>
              <a:t>Схематичен дизайн на уеб страница по избор</a:t>
            </a:r>
          </a:p>
        </p:txBody>
      </p:sp>
      <p:sp>
        <p:nvSpPr>
          <p:cNvPr id="444418" name="Slide Title"/>
          <p:cNvSpPr>
            <a:spLocks noGrp="1" noChangeArrowheads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/>
          <a:lstStyle/>
          <a:p>
            <a:r>
              <a:rPr lang="bg-BG"/>
              <a:t>Съдържание</a:t>
            </a:r>
            <a:endParaRPr lang="bg-BG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6469869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6605"/>
    </mc:Choice>
    <mc:Fallback xmlns="">
      <p:transition spd="slow" advClick="0" advTm="6605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Subtitle">
            <a:extLst>
              <a:ext uri="{FF2B5EF4-FFF2-40B4-BE49-F238E27FC236}">
                <a16:creationId xmlns:a16="http://schemas.microsoft.com/office/drawing/2014/main" id="{BEB5BB41-09D4-4E9F-8C80-EE8709171CB3}"/>
              </a:ext>
            </a:extLst>
          </p:cNvPr>
          <p:cNvSpPr>
            <a:spLocks noGrp="1"/>
          </p:cNvSpPr>
          <p:nvPr>
            <p:ph type="subTitle" sz="quarter" idx="11"/>
          </p:nvPr>
        </p:nvSpPr>
        <p:spPr/>
        <p:txBody>
          <a:bodyPr/>
          <a:lstStyle/>
          <a:p>
            <a:r>
              <a:rPr lang="bg-BG" sz="4800" dirty="0"/>
              <a:t>Основни етапи</a:t>
            </a:r>
          </a:p>
        </p:txBody>
      </p:sp>
      <p:sp>
        <p:nvSpPr>
          <p:cNvPr id="6" name="Slide Title">
            <a:extLst>
              <a:ext uri="{FF2B5EF4-FFF2-40B4-BE49-F238E27FC236}">
                <a16:creationId xmlns:a16="http://schemas.microsoft.com/office/drawing/2014/main" id="{028D9EA3-B5E0-4F17-9467-4BE3C280DA68}"/>
              </a:ext>
            </a:extLst>
          </p:cNvPr>
          <p:cNvSpPr>
            <a:spLocks noGrp="1"/>
          </p:cNvSpPr>
          <p:nvPr>
            <p:ph type="title" sz="quarter" idx="10"/>
          </p:nvPr>
        </p:nvSpPr>
        <p:spPr/>
        <p:txBody>
          <a:bodyPr/>
          <a:lstStyle/>
          <a:p>
            <a:r>
              <a:rPr lang="bg-BG" sz="6000" dirty="0"/>
              <a:t>Проектиране на уеб страници</a:t>
            </a:r>
            <a:endParaRPr lang="en-US" sz="60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409E973-22BF-D34F-C59B-CDA47310EEB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71673" y="1385091"/>
            <a:ext cx="2648653" cy="25824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21944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8891F045-A272-4231-985A-53063F832A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7" name="Slide Body Text">
            <a:extLst>
              <a:ext uri="{FF2B5EF4-FFF2-40B4-BE49-F238E27FC236}">
                <a16:creationId xmlns:a16="http://schemas.microsoft.com/office/drawing/2014/main" id="{320B2856-CE5E-4934-BD1C-1D81E68E529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11818096" cy="5528766"/>
          </a:xfrm>
        </p:spPr>
        <p:txBody>
          <a:bodyPr>
            <a:normAutofit/>
          </a:bodyPr>
          <a:lstStyle/>
          <a:p>
            <a:pPr>
              <a:buClr>
                <a:schemeClr val="tx1"/>
              </a:buClr>
            </a:pPr>
            <a:r>
              <a:rPr lang="bg-BG" sz="3600" dirty="0"/>
              <a:t>Част от </a:t>
            </a:r>
            <a:r>
              <a:rPr lang="bg-BG" sz="3600" b="1" dirty="0"/>
              <a:t>процесът</a:t>
            </a:r>
            <a:r>
              <a:rPr lang="bg-BG" sz="3600" dirty="0"/>
              <a:t> на </a:t>
            </a:r>
            <a:r>
              <a:rPr lang="bg-BG" sz="3600" b="1" dirty="0"/>
              <a:t>проектиране</a:t>
            </a:r>
            <a:r>
              <a:rPr lang="bg-BG" sz="3600" dirty="0"/>
              <a:t> на </a:t>
            </a:r>
            <a:r>
              <a:rPr lang="bg-BG" sz="3600" b="1" dirty="0"/>
              <a:t>уеб сайт</a:t>
            </a:r>
          </a:p>
          <a:p>
            <a:pPr>
              <a:buClr>
                <a:schemeClr val="tx1"/>
              </a:buClr>
            </a:pPr>
            <a:r>
              <a:rPr lang="bg-BG" sz="3600" dirty="0"/>
              <a:t>Определя </a:t>
            </a:r>
            <a:r>
              <a:rPr lang="bg-BG" sz="3600" b="1" dirty="0">
                <a:solidFill>
                  <a:schemeClr val="bg1"/>
                </a:solidFill>
              </a:rPr>
              <a:t>структурата</a:t>
            </a:r>
            <a:r>
              <a:rPr lang="bg-BG" sz="3600" dirty="0"/>
              <a:t>, </a:t>
            </a:r>
            <a:r>
              <a:rPr lang="bg-BG" sz="3600" b="1" dirty="0">
                <a:solidFill>
                  <a:schemeClr val="bg1"/>
                </a:solidFill>
              </a:rPr>
              <a:t>съдържанието</a:t>
            </a:r>
            <a:r>
              <a:rPr lang="bg-BG" sz="3600" dirty="0"/>
              <a:t>, </a:t>
            </a:r>
            <a:r>
              <a:rPr lang="bg-BG" sz="3600" b="1" dirty="0">
                <a:solidFill>
                  <a:schemeClr val="bg1"/>
                </a:solidFill>
              </a:rPr>
              <a:t>визията</a:t>
            </a:r>
            <a:r>
              <a:rPr lang="bg-BG" sz="3600" dirty="0"/>
              <a:t> и </a:t>
            </a:r>
            <a:r>
              <a:rPr lang="bg-BG" sz="3600" b="1" dirty="0">
                <a:solidFill>
                  <a:schemeClr val="bg1"/>
                </a:solidFill>
              </a:rPr>
              <a:t>функционалността</a:t>
            </a:r>
            <a:r>
              <a:rPr lang="bg-BG" sz="3600" dirty="0"/>
              <a:t> на </a:t>
            </a:r>
            <a:r>
              <a:rPr lang="bg-BG" sz="3600" b="1" dirty="0"/>
              <a:t>уеб страниците</a:t>
            </a:r>
          </a:p>
          <a:p>
            <a:pPr>
              <a:buClr>
                <a:schemeClr val="tx1"/>
              </a:buClr>
            </a:pPr>
            <a:endParaRPr lang="en-US" sz="3400" dirty="0"/>
          </a:p>
        </p:txBody>
      </p:sp>
      <p:sp>
        <p:nvSpPr>
          <p:cNvPr id="4" name="Slide Title"/>
          <p:cNvSpPr>
            <a:spLocks noGrp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/>
          <a:lstStyle/>
          <a:p>
            <a:r>
              <a:rPr lang="bg-BG" dirty="0"/>
              <a:t>Проектиране на </a:t>
            </a:r>
            <a:r>
              <a:rPr lang="bg-BG" sz="4000" dirty="0"/>
              <a:t>уеб страници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B9B7F24-3FD1-EE04-44AC-FEE9994F22A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48500" y="3264328"/>
            <a:ext cx="4095000" cy="33911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69551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8891F045-A272-4231-985A-53063F832A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7" name="Slide Body Text">
            <a:extLst>
              <a:ext uri="{FF2B5EF4-FFF2-40B4-BE49-F238E27FC236}">
                <a16:creationId xmlns:a16="http://schemas.microsoft.com/office/drawing/2014/main" id="{320B2856-CE5E-4934-BD1C-1D81E68E529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8515598" cy="5528766"/>
          </a:xfrm>
        </p:spPr>
        <p:txBody>
          <a:bodyPr>
            <a:normAutofit/>
          </a:bodyPr>
          <a:lstStyle/>
          <a:p>
            <a:pPr>
              <a:buClr>
                <a:schemeClr val="tx1"/>
              </a:buClr>
            </a:pPr>
            <a:r>
              <a:rPr lang="bg-BG" sz="3600" b="1" dirty="0"/>
              <a:t>Целта</a:t>
            </a:r>
            <a:r>
              <a:rPr lang="bg-BG" sz="3600" dirty="0"/>
              <a:t> е да се създаде </a:t>
            </a:r>
            <a:r>
              <a:rPr lang="bg-BG" sz="3600" b="1" dirty="0">
                <a:solidFill>
                  <a:schemeClr val="bg1"/>
                </a:solidFill>
              </a:rPr>
              <a:t>ясна</a:t>
            </a:r>
            <a:r>
              <a:rPr lang="bg-BG" sz="3600" dirty="0"/>
              <a:t> и </a:t>
            </a:r>
            <a:r>
              <a:rPr lang="bg-BG" sz="3600" b="1" dirty="0">
                <a:solidFill>
                  <a:schemeClr val="bg1"/>
                </a:solidFill>
              </a:rPr>
              <a:t>логична концепция</a:t>
            </a:r>
            <a:r>
              <a:rPr lang="bg-BG" sz="3600" dirty="0"/>
              <a:t>, за да може </a:t>
            </a:r>
            <a:r>
              <a:rPr lang="bg-BG" sz="3600" b="1" dirty="0"/>
              <a:t>уеб страниците</a:t>
            </a:r>
            <a:r>
              <a:rPr lang="bg-BG" sz="3600" dirty="0"/>
              <a:t> да бъдат</a:t>
            </a:r>
            <a:r>
              <a:rPr lang="en-US" sz="3600" dirty="0"/>
              <a:t>:</a:t>
            </a:r>
          </a:p>
          <a:p>
            <a:pPr lvl="1"/>
            <a:r>
              <a:rPr lang="bg-BG" sz="3400" b="1" dirty="0">
                <a:solidFill>
                  <a:schemeClr val="bg1"/>
                </a:solidFill>
              </a:rPr>
              <a:t>Удобни</a:t>
            </a:r>
            <a:r>
              <a:rPr lang="bg-BG" sz="3400" dirty="0"/>
              <a:t> за </a:t>
            </a:r>
            <a:r>
              <a:rPr lang="bg-BG" sz="3400" b="1" dirty="0"/>
              <a:t>потребителите</a:t>
            </a:r>
          </a:p>
          <a:p>
            <a:pPr lvl="1"/>
            <a:r>
              <a:rPr lang="bg-BG" sz="3400" b="1" dirty="0"/>
              <a:t>Визуално </a:t>
            </a:r>
            <a:r>
              <a:rPr lang="bg-BG" sz="3400" b="1" dirty="0">
                <a:solidFill>
                  <a:schemeClr val="bg1"/>
                </a:solidFill>
              </a:rPr>
              <a:t>привлекателни</a:t>
            </a:r>
          </a:p>
          <a:p>
            <a:pPr lvl="1"/>
            <a:r>
              <a:rPr lang="bg-BG" sz="3400" b="1" dirty="0">
                <a:solidFill>
                  <a:schemeClr val="bg1"/>
                </a:solidFill>
              </a:rPr>
              <a:t>Съвместими</a:t>
            </a:r>
            <a:r>
              <a:rPr lang="bg-BG" sz="3400" dirty="0"/>
              <a:t> с </a:t>
            </a:r>
            <a:r>
              <a:rPr lang="bg-BG" sz="3400" b="1" dirty="0"/>
              <a:t>различни устройства </a:t>
            </a:r>
            <a:r>
              <a:rPr lang="bg-BG" sz="3400" dirty="0"/>
              <a:t>и </a:t>
            </a:r>
            <a:r>
              <a:rPr lang="bg-BG" sz="3400" b="1" dirty="0"/>
              <a:t>потребности</a:t>
            </a:r>
          </a:p>
        </p:txBody>
      </p:sp>
      <p:sp>
        <p:nvSpPr>
          <p:cNvPr id="4" name="Slide Title"/>
          <p:cNvSpPr>
            <a:spLocks noGrp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/>
          <a:lstStyle/>
          <a:p>
            <a:r>
              <a:rPr lang="bg-BG" dirty="0"/>
              <a:t>Цел на проектирането на </a:t>
            </a:r>
            <a:r>
              <a:rPr lang="bg-BG" sz="4000" dirty="0"/>
              <a:t>уеб страници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4B9C649-FF4F-3C19-3586-0B60827575E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12875" y="2124000"/>
            <a:ext cx="2953125" cy="37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78923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8891F045-A272-4231-985A-53063F832A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7" name="Slide Body Text">
            <a:extLst>
              <a:ext uri="{FF2B5EF4-FFF2-40B4-BE49-F238E27FC236}">
                <a16:creationId xmlns:a16="http://schemas.microsoft.com/office/drawing/2014/main" id="{320B2856-CE5E-4934-BD1C-1D81E68E529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8695598" cy="5528766"/>
          </a:xfrm>
        </p:spPr>
        <p:txBody>
          <a:bodyPr>
            <a:normAutofit/>
          </a:bodyPr>
          <a:lstStyle/>
          <a:p>
            <a:r>
              <a:rPr lang="bg-BG" sz="3200" b="1" dirty="0">
                <a:solidFill>
                  <a:schemeClr val="bg1"/>
                </a:solidFill>
              </a:rPr>
              <a:t>Събиране и анализ на информация</a:t>
            </a:r>
          </a:p>
          <a:p>
            <a:pPr lvl="1"/>
            <a:r>
              <a:rPr lang="bg-BG" sz="3000" dirty="0"/>
              <a:t>Изясняване </a:t>
            </a:r>
            <a:r>
              <a:rPr lang="bg-BG" sz="3000" b="1" dirty="0"/>
              <a:t>какво</a:t>
            </a:r>
            <a:r>
              <a:rPr lang="bg-BG" sz="3000" dirty="0"/>
              <a:t> </a:t>
            </a:r>
            <a:r>
              <a:rPr lang="bg-BG" sz="3000" b="1" dirty="0"/>
              <a:t>ще съдържа уеб страницата</a:t>
            </a:r>
          </a:p>
          <a:p>
            <a:r>
              <a:rPr lang="bg-BG" sz="3200" b="1" dirty="0">
                <a:solidFill>
                  <a:schemeClr val="bg1"/>
                </a:solidFill>
              </a:rPr>
              <a:t>Изготвяне на схематичен дизайн </a:t>
            </a:r>
            <a:r>
              <a:rPr lang="bg-BG" sz="3200" b="1" dirty="0"/>
              <a:t>(</a:t>
            </a:r>
            <a:r>
              <a:rPr lang="en-US" sz="3200" b="1" dirty="0"/>
              <a:t>wireframe</a:t>
            </a:r>
            <a:r>
              <a:rPr lang="bg-BG" sz="3200" b="1" dirty="0"/>
              <a:t>)</a:t>
            </a:r>
            <a:endParaRPr lang="en-US" sz="3200" b="1" dirty="0"/>
          </a:p>
          <a:p>
            <a:pPr lvl="1"/>
            <a:r>
              <a:rPr lang="bg-BG" sz="3000" dirty="0"/>
              <a:t>Изготвяне на </a:t>
            </a:r>
            <a:r>
              <a:rPr lang="bg-BG" sz="3000" b="1" dirty="0"/>
              <a:t>схема</a:t>
            </a:r>
            <a:r>
              <a:rPr lang="bg-BG" sz="3000" dirty="0"/>
              <a:t> за </a:t>
            </a:r>
            <a:r>
              <a:rPr lang="bg-BG" sz="3000" b="1" dirty="0"/>
              <a:t>визуализиране</a:t>
            </a:r>
            <a:r>
              <a:rPr lang="bg-BG" sz="3000" dirty="0"/>
              <a:t> на </a:t>
            </a:r>
            <a:r>
              <a:rPr lang="bg-BG" sz="3000" b="1" dirty="0"/>
              <a:t>елементите</a:t>
            </a:r>
            <a:r>
              <a:rPr lang="bg-BG" sz="3000" dirty="0"/>
              <a:t> в</a:t>
            </a:r>
            <a:r>
              <a:rPr lang="bg-BG" sz="3000" b="1" dirty="0"/>
              <a:t> уеб страницата</a:t>
            </a:r>
          </a:p>
          <a:p>
            <a:r>
              <a:rPr lang="bg-BG" sz="3200" b="1" dirty="0">
                <a:solidFill>
                  <a:schemeClr val="bg1"/>
                </a:solidFill>
              </a:rPr>
              <a:t>Изготвяне на графичен модел</a:t>
            </a:r>
          </a:p>
          <a:p>
            <a:pPr lvl="1"/>
            <a:r>
              <a:rPr lang="bg-BG" sz="3000" dirty="0"/>
              <a:t>Създаване на </a:t>
            </a:r>
            <a:r>
              <a:rPr lang="bg-BG" sz="3000" b="1" dirty="0"/>
              <a:t>детайлен визуален дизайн </a:t>
            </a:r>
            <a:r>
              <a:rPr lang="bg-BG" sz="3000" dirty="0"/>
              <a:t>на </a:t>
            </a:r>
            <a:r>
              <a:rPr lang="bg-BG" sz="3000" b="1" dirty="0"/>
              <a:t>уеб страницата</a:t>
            </a:r>
          </a:p>
        </p:txBody>
      </p:sp>
      <p:sp>
        <p:nvSpPr>
          <p:cNvPr id="4" name="Slide Title"/>
          <p:cNvSpPr>
            <a:spLocks noGrp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>
            <a:normAutofit/>
          </a:bodyPr>
          <a:lstStyle/>
          <a:p>
            <a:r>
              <a:rPr lang="bg-BG" sz="3600" dirty="0"/>
              <a:t>Основни етапи в проектирането на уеб страници</a:t>
            </a:r>
            <a:endParaRPr lang="en-US" sz="36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C88CEB5-6D8A-D301-721B-A11A5CA28B6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75978" y="1883287"/>
            <a:ext cx="2577052" cy="41544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01419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Subtitle">
            <a:extLst>
              <a:ext uri="{FF2B5EF4-FFF2-40B4-BE49-F238E27FC236}">
                <a16:creationId xmlns:a16="http://schemas.microsoft.com/office/drawing/2014/main" id="{BEB5BB41-09D4-4E9F-8C80-EE8709171CB3}"/>
              </a:ext>
            </a:extLst>
          </p:cNvPr>
          <p:cNvSpPr>
            <a:spLocks noGrp="1"/>
          </p:cNvSpPr>
          <p:nvPr>
            <p:ph type="subTitle" sz="quarter" idx="11"/>
          </p:nvPr>
        </p:nvSpPr>
        <p:spPr/>
        <p:txBody>
          <a:bodyPr/>
          <a:lstStyle/>
          <a:p>
            <a:r>
              <a:rPr lang="bg-BG" sz="4000" dirty="0"/>
              <a:t>Външен вид и взаимодействие с потребителя</a:t>
            </a:r>
          </a:p>
        </p:txBody>
      </p:sp>
      <p:sp>
        <p:nvSpPr>
          <p:cNvPr id="6" name="Slide Title">
            <a:extLst>
              <a:ext uri="{FF2B5EF4-FFF2-40B4-BE49-F238E27FC236}">
                <a16:creationId xmlns:a16="http://schemas.microsoft.com/office/drawing/2014/main" id="{028D9EA3-B5E0-4F17-9467-4BE3C280DA68}"/>
              </a:ext>
            </a:extLst>
          </p:cNvPr>
          <p:cNvSpPr>
            <a:spLocks noGrp="1"/>
          </p:cNvSpPr>
          <p:nvPr>
            <p:ph type="title" sz="quarter" idx="10"/>
          </p:nvPr>
        </p:nvSpPr>
        <p:spPr/>
        <p:txBody>
          <a:bodyPr/>
          <a:lstStyle/>
          <a:p>
            <a:r>
              <a:rPr lang="bg-BG" sz="6000" dirty="0"/>
              <a:t>Графичен интерфейс</a:t>
            </a:r>
            <a:endParaRPr lang="en-US" sz="60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1D18732-9E80-D1D4-B1B3-10282032343D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69" t="31963" r="21558" b="32028"/>
          <a:stretch/>
        </p:blipFill>
        <p:spPr>
          <a:xfrm>
            <a:off x="4812774" y="1855837"/>
            <a:ext cx="2566452" cy="1623674"/>
          </a:xfrm>
          <a:prstGeom prst="rect">
            <a:avLst/>
          </a:prstGeom>
          <a:solidFill>
            <a:schemeClr val="bg2"/>
          </a:solidFill>
        </p:spPr>
      </p:pic>
    </p:spTree>
    <p:extLst>
      <p:ext uri="{BB962C8B-B14F-4D97-AF65-F5344CB8AC3E}">
        <p14:creationId xmlns:p14="http://schemas.microsoft.com/office/powerpoint/2010/main" val="16252214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CAABC86-82E0-F099-701A-D4347B60538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8</a:t>
            </a:fld>
            <a:endParaRPr lang="en-US" noProof="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7B6A643-676D-3506-B008-B24B36AA34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bg-BG" sz="4000" dirty="0"/>
              <a:t>Графичен интерфейс</a:t>
            </a:r>
            <a:endParaRPr lang="en-BG" dirty="0"/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9CA50BB8-C95B-C726-A00E-EFF2B734CC7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11818096" cy="5528766"/>
          </a:xfrm>
        </p:spPr>
        <p:txBody>
          <a:bodyPr>
            <a:normAutofit/>
          </a:bodyPr>
          <a:lstStyle/>
          <a:p>
            <a:r>
              <a:rPr lang="bg-BG" sz="3600" b="1" dirty="0">
                <a:solidFill>
                  <a:schemeClr val="bg1"/>
                </a:solidFill>
              </a:rPr>
              <a:t>Визуалната част </a:t>
            </a:r>
            <a:r>
              <a:rPr lang="bg-BG" sz="3600" dirty="0"/>
              <a:t>на </a:t>
            </a:r>
            <a:r>
              <a:rPr lang="bg-BG" sz="3600" b="1" dirty="0"/>
              <a:t>уеб страницата</a:t>
            </a:r>
            <a:r>
              <a:rPr lang="bg-BG" sz="3600" dirty="0"/>
              <a:t>, с която </a:t>
            </a:r>
            <a:r>
              <a:rPr lang="bg-BG" sz="3600" b="1" dirty="0"/>
              <a:t>потребителят</a:t>
            </a:r>
            <a:r>
              <a:rPr lang="bg-BG" sz="3600" dirty="0"/>
              <a:t> </a:t>
            </a:r>
            <a:r>
              <a:rPr lang="bg-BG" sz="3600" b="1" dirty="0">
                <a:solidFill>
                  <a:schemeClr val="bg1"/>
                </a:solidFill>
              </a:rPr>
              <a:t>взаимодейства</a:t>
            </a:r>
            <a:r>
              <a:rPr lang="bg-BG" sz="3600" dirty="0"/>
              <a:t> със </a:t>
            </a:r>
            <a:r>
              <a:rPr lang="bg-BG" sz="3600" b="1" dirty="0">
                <a:solidFill>
                  <a:schemeClr val="bg1"/>
                </a:solidFill>
              </a:rPr>
              <a:t>съдържанието</a:t>
            </a:r>
          </a:p>
          <a:p>
            <a:r>
              <a:rPr lang="bg-BG" sz="3600" dirty="0"/>
              <a:t>Включва </a:t>
            </a:r>
            <a:r>
              <a:rPr lang="bg-BG" sz="3600" b="1" dirty="0">
                <a:solidFill>
                  <a:schemeClr val="bg1"/>
                </a:solidFill>
              </a:rPr>
              <a:t>подредбата</a:t>
            </a:r>
            <a:r>
              <a:rPr lang="bg-BG" sz="3600" dirty="0"/>
              <a:t> на </a:t>
            </a:r>
            <a:r>
              <a:rPr lang="bg-BG" sz="3600" b="1" dirty="0"/>
              <a:t>всички елементи </a:t>
            </a:r>
            <a:r>
              <a:rPr lang="bg-BG" sz="3600" dirty="0"/>
              <a:t>на </a:t>
            </a:r>
            <a:r>
              <a:rPr lang="bg-BG" sz="3600" b="1" dirty="0"/>
              <a:t>уеб страницата</a:t>
            </a:r>
            <a:r>
              <a:rPr lang="bg-BG" sz="3600" dirty="0"/>
              <a:t> (меню, текст, изображения и т.н.</a:t>
            </a:r>
            <a:r>
              <a:rPr lang="en-US" sz="3600" dirty="0"/>
              <a:t>)</a:t>
            </a:r>
            <a:endParaRPr lang="bg-BG" sz="3600" dirty="0"/>
          </a:p>
          <a:p>
            <a:endParaRPr lang="bg-BG" sz="3600" dirty="0"/>
          </a:p>
          <a:p>
            <a:endParaRPr lang="en-BG" sz="36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6B9435C-0522-6B7C-78C0-0DD062817A4F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076" t="19150" r="13774" b="19847"/>
          <a:stretch/>
        </p:blipFill>
        <p:spPr>
          <a:xfrm>
            <a:off x="3909820" y="3882910"/>
            <a:ext cx="4372360" cy="2841981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5456547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CAABC86-82E0-F099-701A-D4347B60538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9</a:t>
            </a:fld>
            <a:endParaRPr lang="en-US" noProof="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7B6A643-676D-3506-B008-B24B36AA34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bg-BG" dirty="0"/>
              <a:t>Графичен дизайн</a:t>
            </a:r>
            <a:endParaRPr lang="en-BG" dirty="0"/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9CA50BB8-C95B-C726-A00E-EFF2B734CC7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11818096" cy="5528766"/>
          </a:xfrm>
        </p:spPr>
        <p:txBody>
          <a:bodyPr>
            <a:normAutofit/>
          </a:bodyPr>
          <a:lstStyle/>
          <a:p>
            <a:r>
              <a:rPr lang="bg-BG" sz="4000" b="1" dirty="0"/>
              <a:t>Процесът</a:t>
            </a:r>
            <a:r>
              <a:rPr lang="bg-BG" sz="4000" dirty="0"/>
              <a:t> на </a:t>
            </a:r>
            <a:r>
              <a:rPr lang="bg-BG" sz="4000" b="1" dirty="0"/>
              <a:t>оформянето</a:t>
            </a:r>
            <a:r>
              <a:rPr lang="bg-BG" sz="4000" dirty="0"/>
              <a:t> на </a:t>
            </a:r>
            <a:r>
              <a:rPr lang="bg-BG" sz="4000" b="1" dirty="0">
                <a:solidFill>
                  <a:schemeClr val="bg1"/>
                </a:solidFill>
              </a:rPr>
              <a:t>външния вид </a:t>
            </a:r>
            <a:r>
              <a:rPr lang="bg-BG" sz="4000" dirty="0"/>
              <a:t>на </a:t>
            </a:r>
            <a:r>
              <a:rPr lang="bg-BG" sz="4000" b="1" dirty="0"/>
              <a:t>уеб страницата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3661608-4580-762E-52C1-894564012600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722" t="4784" r="14403" b="7985"/>
          <a:stretch/>
        </p:blipFill>
        <p:spPr>
          <a:xfrm>
            <a:off x="3532011" y="2655000"/>
            <a:ext cx="5127978" cy="4149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85479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Subtitle">
            <a:extLst>
              <a:ext uri="{FF2B5EF4-FFF2-40B4-BE49-F238E27FC236}">
                <a16:creationId xmlns:a16="http://schemas.microsoft.com/office/drawing/2014/main" id="{BEB5BB41-09D4-4E9F-8C80-EE8709171CB3}"/>
              </a:ext>
            </a:extLst>
          </p:cNvPr>
          <p:cNvSpPr>
            <a:spLocks noGrp="1"/>
          </p:cNvSpPr>
          <p:nvPr>
            <p:ph type="subTitle" sz="quarter" idx="11"/>
          </p:nvPr>
        </p:nvSpPr>
        <p:spPr/>
        <p:txBody>
          <a:bodyPr/>
          <a:lstStyle/>
          <a:p>
            <a:r>
              <a:rPr lang="bg-BG" sz="4800" dirty="0"/>
              <a:t>Основни елементи</a:t>
            </a:r>
          </a:p>
        </p:txBody>
      </p:sp>
      <p:sp>
        <p:nvSpPr>
          <p:cNvPr id="6" name="Slide Title">
            <a:extLst>
              <a:ext uri="{FF2B5EF4-FFF2-40B4-BE49-F238E27FC236}">
                <a16:creationId xmlns:a16="http://schemas.microsoft.com/office/drawing/2014/main" id="{028D9EA3-B5E0-4F17-9467-4BE3C280DA68}"/>
              </a:ext>
            </a:extLst>
          </p:cNvPr>
          <p:cNvSpPr>
            <a:spLocks noGrp="1"/>
          </p:cNvSpPr>
          <p:nvPr>
            <p:ph type="title" sz="quarter" idx="10"/>
          </p:nvPr>
        </p:nvSpPr>
        <p:spPr/>
        <p:txBody>
          <a:bodyPr/>
          <a:lstStyle/>
          <a:p>
            <a:r>
              <a:rPr lang="bg-BG" sz="6000" dirty="0"/>
              <a:t>Схематичен дизайн (</a:t>
            </a:r>
            <a:r>
              <a:rPr lang="en-GB" sz="6000" dirty="0"/>
              <a:t>Wireframe)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3A5F211-CCC2-4BA9-DC0B-DE56D57DD21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707" t="14721" r="18764" b="17110"/>
          <a:stretch/>
        </p:blipFill>
        <p:spPr>
          <a:xfrm>
            <a:off x="4579975" y="1385091"/>
            <a:ext cx="3032049" cy="23139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62580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CAABC86-82E0-F099-701A-D4347B60538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11</a:t>
            </a:fld>
            <a:endParaRPr lang="en-US" noProof="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7B6A643-676D-3506-B008-B24B36AA34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bg-BG" dirty="0"/>
              <a:t>Схематичен дизайн (</a:t>
            </a:r>
            <a:r>
              <a:rPr lang="en-GB" dirty="0"/>
              <a:t>Wireframe)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9CA50BB8-C95B-C726-A00E-EFF2B734CC7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11562628" cy="5528766"/>
          </a:xfrm>
        </p:spPr>
        <p:txBody>
          <a:bodyPr>
            <a:normAutofit/>
          </a:bodyPr>
          <a:lstStyle/>
          <a:p>
            <a:pPr>
              <a:buClr>
                <a:schemeClr val="tx2"/>
              </a:buClr>
            </a:pPr>
            <a:r>
              <a:rPr lang="bg-BG" sz="3600" b="1" dirty="0">
                <a:solidFill>
                  <a:schemeClr val="bg1"/>
                </a:solidFill>
              </a:rPr>
              <a:t>Структурен план </a:t>
            </a:r>
            <a:r>
              <a:rPr lang="bg-BG" sz="3600" dirty="0"/>
              <a:t>(</a:t>
            </a:r>
            <a:r>
              <a:rPr lang="bg-BG" sz="3600" b="1" dirty="0"/>
              <a:t>схема</a:t>
            </a:r>
            <a:r>
              <a:rPr lang="bg-BG" sz="3600" dirty="0"/>
              <a:t>, </a:t>
            </a:r>
            <a:r>
              <a:rPr lang="bg-BG" sz="3600" b="1" dirty="0"/>
              <a:t>макет</a:t>
            </a:r>
            <a:r>
              <a:rPr lang="en-US" sz="3600" dirty="0"/>
              <a:t>)</a:t>
            </a:r>
            <a:r>
              <a:rPr lang="bg-BG" sz="3600" dirty="0"/>
              <a:t> на </a:t>
            </a:r>
            <a:r>
              <a:rPr lang="bg-BG" sz="3600" b="1" dirty="0"/>
              <a:t>уеб страница</a:t>
            </a:r>
          </a:p>
          <a:p>
            <a:pPr>
              <a:buClr>
                <a:schemeClr val="tx2"/>
              </a:buClr>
            </a:pPr>
            <a:r>
              <a:rPr lang="bg-BG" sz="3600" b="1" dirty="0"/>
              <a:t>Основата</a:t>
            </a:r>
            <a:r>
              <a:rPr lang="bg-BG" sz="3600" dirty="0"/>
              <a:t>, върху която се </a:t>
            </a:r>
            <a:r>
              <a:rPr lang="bg-BG" sz="3600" b="1" dirty="0"/>
              <a:t>изгражда</a:t>
            </a:r>
            <a:r>
              <a:rPr lang="bg-BG" sz="3600" dirty="0"/>
              <a:t> </a:t>
            </a:r>
            <a:r>
              <a:rPr lang="bg-BG" sz="3600" b="1" dirty="0">
                <a:solidFill>
                  <a:schemeClr val="bg1"/>
                </a:solidFill>
              </a:rPr>
              <a:t>графичният модел</a:t>
            </a:r>
            <a:endParaRPr lang="en-US" sz="3600" b="1" dirty="0">
              <a:solidFill>
                <a:schemeClr val="bg1"/>
              </a:solidFill>
            </a:endParaRPr>
          </a:p>
          <a:p>
            <a:pPr>
              <a:buClr>
                <a:schemeClr val="tx2"/>
              </a:buClr>
            </a:pPr>
            <a:r>
              <a:rPr lang="bg-BG" sz="3600" b="1" dirty="0"/>
              <a:t>Може</a:t>
            </a:r>
            <a:r>
              <a:rPr lang="bg-BG" sz="3600" dirty="0"/>
              <a:t> да се </a:t>
            </a:r>
            <a:r>
              <a:rPr lang="bg-BG" sz="3600" b="1" dirty="0"/>
              <a:t>изготви</a:t>
            </a:r>
            <a:r>
              <a:rPr lang="bg-BG" sz="3600" dirty="0"/>
              <a:t> със </a:t>
            </a:r>
            <a:r>
              <a:rPr lang="bg-BG" sz="3600" b="1" dirty="0">
                <a:solidFill>
                  <a:schemeClr val="bg1"/>
                </a:solidFill>
              </a:rPr>
              <a:t>софтуер</a:t>
            </a:r>
            <a:r>
              <a:rPr lang="bg-BG" sz="3600" dirty="0"/>
              <a:t> или на </a:t>
            </a:r>
            <a:r>
              <a:rPr lang="bg-BG" sz="3600" b="1" dirty="0">
                <a:solidFill>
                  <a:schemeClr val="bg1"/>
                </a:solidFill>
              </a:rPr>
              <a:t>хартия</a:t>
            </a:r>
            <a:endParaRPr lang="bg-BG" sz="3200" b="1" dirty="0">
              <a:solidFill>
                <a:schemeClr val="bg1"/>
              </a:solidFill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44F108D-21A3-39FB-E051-B88FAFE871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375454" y="3246861"/>
            <a:ext cx="5441091" cy="36273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37844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CAABC86-82E0-F099-701A-D4347B60538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12</a:t>
            </a:fld>
            <a:endParaRPr lang="en-US" noProof="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7B6A643-676D-3506-B008-B24B36AA34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bg-BG" dirty="0"/>
              <a:t>Цел на схематичния дизайн</a:t>
            </a:r>
            <a:endParaRPr lang="en-GB" dirty="0"/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9CA50BB8-C95B-C726-A00E-EFF2B734CC7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7165598" cy="5528766"/>
          </a:xfrm>
        </p:spPr>
        <p:txBody>
          <a:bodyPr>
            <a:normAutofit/>
          </a:bodyPr>
          <a:lstStyle/>
          <a:p>
            <a:pPr>
              <a:buClr>
                <a:schemeClr val="tx2"/>
              </a:buClr>
            </a:pPr>
            <a:r>
              <a:rPr lang="bg-BG" sz="3800" b="1" dirty="0"/>
              <a:t>Схематичният дизайн </a:t>
            </a:r>
            <a:r>
              <a:rPr lang="bg-BG" sz="3800" dirty="0"/>
              <a:t>показва:</a:t>
            </a:r>
          </a:p>
          <a:p>
            <a:pPr lvl="1">
              <a:buClr>
                <a:schemeClr val="tx2"/>
              </a:buClr>
            </a:pPr>
            <a:r>
              <a:rPr lang="bg-BG" sz="3600" b="1" dirty="0"/>
              <a:t>Какви </a:t>
            </a:r>
            <a:r>
              <a:rPr lang="bg-BG" sz="3600" b="1" dirty="0">
                <a:solidFill>
                  <a:schemeClr val="bg1"/>
                </a:solidFill>
              </a:rPr>
              <a:t>елементи</a:t>
            </a:r>
            <a:r>
              <a:rPr lang="bg-BG" sz="3600" b="1" dirty="0"/>
              <a:t> </a:t>
            </a:r>
            <a:r>
              <a:rPr lang="bg-BG" sz="3600" dirty="0"/>
              <a:t>ще има </a:t>
            </a:r>
            <a:r>
              <a:rPr lang="en-US" sz="3600" dirty="0"/>
              <a:t>(</a:t>
            </a:r>
            <a:r>
              <a:rPr lang="bg-BG" sz="3600" dirty="0"/>
              <a:t>заглавие, меню, снимки и т.н.</a:t>
            </a:r>
            <a:r>
              <a:rPr lang="en-US" sz="3600" dirty="0"/>
              <a:t>)</a:t>
            </a:r>
            <a:endParaRPr lang="bg-BG" sz="3600" dirty="0"/>
          </a:p>
          <a:p>
            <a:pPr lvl="1">
              <a:buClr>
                <a:schemeClr val="tx2"/>
              </a:buClr>
            </a:pPr>
            <a:r>
              <a:rPr lang="bg-BG" sz="3600" b="1" dirty="0"/>
              <a:t>Как </a:t>
            </a:r>
            <a:r>
              <a:rPr lang="bg-BG" sz="3600" dirty="0"/>
              <a:t>ще бъдат </a:t>
            </a:r>
            <a:r>
              <a:rPr lang="bg-BG" sz="3600" b="1" dirty="0">
                <a:solidFill>
                  <a:schemeClr val="bg1"/>
                </a:solidFill>
              </a:rPr>
              <a:t>подредени</a:t>
            </a:r>
            <a:r>
              <a:rPr lang="bg-BG" sz="3600" b="1" dirty="0"/>
              <a:t> </a:t>
            </a:r>
            <a:r>
              <a:rPr lang="bg-BG" sz="3600" b="1" dirty="0">
                <a:solidFill>
                  <a:schemeClr val="bg1"/>
                </a:solidFill>
              </a:rPr>
              <a:t>елементите</a:t>
            </a:r>
          </a:p>
          <a:p>
            <a:pPr lvl="1">
              <a:buClr>
                <a:schemeClr val="tx2"/>
              </a:buClr>
            </a:pPr>
            <a:r>
              <a:rPr lang="bg-BG" sz="3600" b="1" dirty="0">
                <a:solidFill>
                  <a:schemeClr val="bg1"/>
                </a:solidFill>
              </a:rPr>
              <a:t>Връзките</a:t>
            </a:r>
            <a:r>
              <a:rPr lang="bg-BG" sz="3600" dirty="0"/>
              <a:t> между </a:t>
            </a:r>
            <a:r>
              <a:rPr lang="bg-BG" sz="3600" b="1" dirty="0"/>
              <a:t>отделните секции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6CC3CC7-1D77-23A6-83DC-EBD32E46677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89477" y="2214000"/>
            <a:ext cx="4163553" cy="3077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61063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CAABC86-82E0-F099-701A-D4347B60538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13</a:t>
            </a:fld>
            <a:endParaRPr lang="en-US" noProof="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7B6A643-676D-3506-B008-B24B36AA34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bg-BG" dirty="0"/>
              <a:t>Основни елементи на схематичния дизайн</a:t>
            </a:r>
            <a:r>
              <a:rPr lang="en-US" dirty="0"/>
              <a:t> (1)</a:t>
            </a:r>
            <a:endParaRPr lang="en-BG" dirty="0"/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9CA50BB8-C95B-C726-A00E-EFF2B734CC7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6805598" cy="5528766"/>
          </a:xfrm>
        </p:spPr>
        <p:txBody>
          <a:bodyPr>
            <a:normAutofit fontScale="92500"/>
          </a:bodyPr>
          <a:lstStyle/>
          <a:p>
            <a:pPr>
              <a:buClr>
                <a:schemeClr val="tx2"/>
              </a:buClr>
            </a:pPr>
            <a:r>
              <a:rPr lang="bg-BG" sz="3600" b="1" dirty="0">
                <a:solidFill>
                  <a:schemeClr val="bg1"/>
                </a:solidFill>
              </a:rPr>
              <a:t>Хедър</a:t>
            </a:r>
            <a:r>
              <a:rPr lang="bg-BG" sz="3600" b="1" dirty="0"/>
              <a:t> (</a:t>
            </a:r>
            <a:r>
              <a:rPr lang="en-US" sz="3600" b="1" dirty="0"/>
              <a:t>Header</a:t>
            </a:r>
            <a:r>
              <a:rPr lang="bg-BG" sz="3600" b="1" dirty="0"/>
              <a:t>)</a:t>
            </a:r>
          </a:p>
          <a:p>
            <a:pPr lvl="1">
              <a:buClr>
                <a:schemeClr val="tx2"/>
              </a:buClr>
            </a:pPr>
            <a:r>
              <a:rPr lang="bg-BG" sz="3400" b="1" dirty="0"/>
              <a:t>Най-горната част </a:t>
            </a:r>
            <a:r>
              <a:rPr lang="bg-BG" sz="3400" dirty="0"/>
              <a:t>на </a:t>
            </a:r>
            <a:r>
              <a:rPr lang="bg-BG" sz="3400" b="1" dirty="0"/>
              <a:t>уеб страницата</a:t>
            </a:r>
            <a:endParaRPr lang="en-US" sz="3400" b="1" dirty="0"/>
          </a:p>
          <a:p>
            <a:pPr lvl="1">
              <a:buClr>
                <a:schemeClr val="tx2"/>
              </a:buClr>
            </a:pPr>
            <a:r>
              <a:rPr lang="bg-BG" sz="3400" b="1" dirty="0"/>
              <a:t>Лого</a:t>
            </a:r>
            <a:r>
              <a:rPr lang="bg-BG" sz="3400" dirty="0"/>
              <a:t>, </a:t>
            </a:r>
            <a:r>
              <a:rPr lang="bg-BG" sz="3400" b="1" dirty="0"/>
              <a:t>навигация</a:t>
            </a:r>
            <a:r>
              <a:rPr lang="bg-BG" sz="3400" dirty="0"/>
              <a:t>, </a:t>
            </a:r>
            <a:r>
              <a:rPr lang="bg-BG" sz="3400" b="1" dirty="0"/>
              <a:t>търсачка</a:t>
            </a:r>
            <a:r>
              <a:rPr lang="bg-BG" sz="3400" dirty="0"/>
              <a:t> и </a:t>
            </a:r>
            <a:r>
              <a:rPr lang="bg-BG" sz="3400" b="1" dirty="0"/>
              <a:t>др</a:t>
            </a:r>
            <a:r>
              <a:rPr lang="bg-BG" sz="3400" dirty="0"/>
              <a:t>.</a:t>
            </a:r>
          </a:p>
          <a:p>
            <a:pPr>
              <a:buClr>
                <a:schemeClr val="tx2"/>
              </a:buClr>
            </a:pPr>
            <a:r>
              <a:rPr lang="en-US" sz="3600" dirty="0"/>
              <a:t>"</a:t>
            </a:r>
            <a:r>
              <a:rPr lang="en-US" sz="3600" b="1" dirty="0">
                <a:solidFill>
                  <a:schemeClr val="bg1"/>
                </a:solidFill>
              </a:rPr>
              <a:t>Hero</a:t>
            </a:r>
            <a:r>
              <a:rPr lang="en-US" sz="3600" dirty="0"/>
              <a:t>"</a:t>
            </a:r>
            <a:r>
              <a:rPr lang="en-US" sz="3600" b="1" dirty="0">
                <a:solidFill>
                  <a:schemeClr val="bg1"/>
                </a:solidFill>
              </a:rPr>
              <a:t> </a:t>
            </a:r>
            <a:r>
              <a:rPr lang="bg-BG" sz="3600" b="1" dirty="0">
                <a:solidFill>
                  <a:schemeClr val="bg1"/>
                </a:solidFill>
              </a:rPr>
              <a:t>секция</a:t>
            </a:r>
          </a:p>
          <a:p>
            <a:pPr lvl="1">
              <a:buClr>
                <a:schemeClr val="tx2"/>
              </a:buClr>
            </a:pPr>
            <a:r>
              <a:rPr lang="bg-BG" sz="3400" b="1" dirty="0"/>
              <a:t>Първото нещо</a:t>
            </a:r>
            <a:r>
              <a:rPr lang="bg-BG" sz="3400" dirty="0"/>
              <a:t>, което </a:t>
            </a:r>
            <a:r>
              <a:rPr lang="bg-BG" sz="3400" b="1" dirty="0"/>
              <a:t>потребителят вижда</a:t>
            </a:r>
          </a:p>
          <a:p>
            <a:pPr lvl="1">
              <a:buClr>
                <a:schemeClr val="tx2"/>
              </a:buClr>
            </a:pPr>
            <a:r>
              <a:rPr lang="bg-BG" sz="3400" dirty="0"/>
              <a:t>Съдържа</a:t>
            </a:r>
            <a:r>
              <a:rPr lang="bg-BG" sz="3400" b="1" dirty="0"/>
              <a:t> заглавие</a:t>
            </a:r>
            <a:r>
              <a:rPr lang="bg-BG" sz="3400" dirty="0"/>
              <a:t>, </a:t>
            </a:r>
            <a:r>
              <a:rPr lang="bg-BG" sz="3400" b="1" dirty="0"/>
              <a:t>кратко представяне</a:t>
            </a:r>
            <a:r>
              <a:rPr lang="bg-BG" sz="3400" dirty="0"/>
              <a:t>, </a:t>
            </a:r>
            <a:r>
              <a:rPr lang="bg-BG" sz="3400" b="1" dirty="0"/>
              <a:t>бутон</a:t>
            </a:r>
            <a:r>
              <a:rPr lang="bg-BG" sz="3400" dirty="0"/>
              <a:t> и </a:t>
            </a:r>
            <a:r>
              <a:rPr lang="bg-BG" sz="3400" b="1" dirty="0"/>
              <a:t>др</a:t>
            </a:r>
            <a:r>
              <a:rPr lang="bg-BG" sz="3400" dirty="0"/>
              <a:t>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15ADBE6-CFE3-45F5-A8E4-682AA87E9681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57577"/>
          <a:stretch/>
        </p:blipFill>
        <p:spPr>
          <a:xfrm>
            <a:off x="6555214" y="2912294"/>
            <a:ext cx="5197816" cy="2096427"/>
          </a:xfrm>
          <a:prstGeom prst="rect">
            <a:avLst/>
          </a:prstGeom>
        </p:spPr>
      </p:pic>
      <p:sp>
        <p:nvSpPr>
          <p:cNvPr id="6" name="Rounded Rectangular Callout 8">
            <a:extLst>
              <a:ext uri="{FF2B5EF4-FFF2-40B4-BE49-F238E27FC236}">
                <a16:creationId xmlns:a16="http://schemas.microsoft.com/office/drawing/2014/main" id="{38D810AA-AD24-0A4E-76EB-EB451E8D3A1A}"/>
              </a:ext>
            </a:extLst>
          </p:cNvPr>
          <p:cNvSpPr/>
          <p:nvPr/>
        </p:nvSpPr>
        <p:spPr bwMode="auto">
          <a:xfrm>
            <a:off x="8886000" y="1729660"/>
            <a:ext cx="2430000" cy="649100"/>
          </a:xfrm>
          <a:prstGeom prst="wedgeRoundRectCallout">
            <a:avLst>
              <a:gd name="adj1" fmla="val 1669"/>
              <a:gd name="adj2" fmla="val 171781"/>
              <a:gd name="adj3" fmla="val 16667"/>
            </a:avLst>
          </a:prstGeom>
          <a:solidFill>
            <a:schemeClr val="dk2">
              <a:alpha val="80000"/>
            </a:schemeClr>
          </a:solidFill>
          <a:ln w="19050">
            <a:solidFill>
              <a:schemeClr val="tx1">
                <a:lumMod val="75000"/>
                <a:alpha val="80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001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2800" b="1" dirty="0">
                <a:solidFill>
                  <a:schemeClr val="accent1">
                    <a:lumMod val="60000"/>
                    <a:lumOff val="4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Header</a:t>
            </a:r>
            <a:endParaRPr lang="en-BG" sz="2800" b="1" dirty="0">
              <a:solidFill>
                <a:schemeClr val="accent1">
                  <a:lumMod val="60000"/>
                  <a:lumOff val="40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7" name="Rounded Rectangular Callout 8">
            <a:extLst>
              <a:ext uri="{FF2B5EF4-FFF2-40B4-BE49-F238E27FC236}">
                <a16:creationId xmlns:a16="http://schemas.microsoft.com/office/drawing/2014/main" id="{1E6B35CA-69AD-EA1B-F9FA-C32025A0D3BB}"/>
              </a:ext>
            </a:extLst>
          </p:cNvPr>
          <p:cNvSpPr/>
          <p:nvPr/>
        </p:nvSpPr>
        <p:spPr bwMode="auto">
          <a:xfrm>
            <a:off x="6944515" y="5337325"/>
            <a:ext cx="2430000" cy="649100"/>
          </a:xfrm>
          <a:prstGeom prst="wedgeRoundRectCallout">
            <a:avLst>
              <a:gd name="adj1" fmla="val 34737"/>
              <a:gd name="adj2" fmla="val -156920"/>
              <a:gd name="adj3" fmla="val 16667"/>
            </a:avLst>
          </a:prstGeom>
          <a:solidFill>
            <a:schemeClr val="dk2">
              <a:alpha val="80000"/>
            </a:schemeClr>
          </a:solidFill>
          <a:ln w="19050">
            <a:solidFill>
              <a:schemeClr val="tx1">
                <a:lumMod val="75000"/>
                <a:alpha val="80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001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2800" b="1" dirty="0">
                <a:solidFill>
                  <a:schemeClr val="accent1">
                    <a:lumMod val="60000"/>
                    <a:lumOff val="4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Hero</a:t>
            </a:r>
            <a:endParaRPr lang="en-BG" sz="2800" b="1" dirty="0">
              <a:solidFill>
                <a:schemeClr val="accent1">
                  <a:lumMod val="60000"/>
                  <a:lumOff val="40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4082951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CAABC86-82E0-F099-701A-D4347B60538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14</a:t>
            </a:fld>
            <a:endParaRPr lang="en-US" noProof="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7B6A643-676D-3506-B008-B24B36AA34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bg-BG" dirty="0"/>
              <a:t>Основни елементи на схематичния дизайн</a:t>
            </a:r>
            <a:r>
              <a:rPr lang="en-US" dirty="0"/>
              <a:t> (2)</a:t>
            </a:r>
            <a:endParaRPr lang="en-BG" dirty="0"/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9CA50BB8-C95B-C726-A00E-EFF2B734CC7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6760598" cy="5528766"/>
          </a:xfrm>
        </p:spPr>
        <p:txBody>
          <a:bodyPr>
            <a:normAutofit fontScale="92500" lnSpcReduction="10000"/>
          </a:bodyPr>
          <a:lstStyle/>
          <a:p>
            <a:pPr>
              <a:buClr>
                <a:schemeClr val="tx2"/>
              </a:buClr>
            </a:pPr>
            <a:r>
              <a:rPr lang="bg-BG" sz="3600" b="1" dirty="0">
                <a:solidFill>
                  <a:schemeClr val="bg1"/>
                </a:solidFill>
              </a:rPr>
              <a:t>Основно съдържание</a:t>
            </a:r>
          </a:p>
          <a:p>
            <a:pPr lvl="1">
              <a:buClr>
                <a:schemeClr val="tx2"/>
              </a:buClr>
            </a:pPr>
            <a:r>
              <a:rPr lang="bg-BG" sz="3400" b="1" dirty="0"/>
              <a:t>По-детайлна информация</a:t>
            </a:r>
            <a:r>
              <a:rPr lang="bg-BG" sz="3400" dirty="0"/>
              <a:t>, подредена в </a:t>
            </a:r>
            <a:r>
              <a:rPr lang="bg-BG" sz="3400" b="1" dirty="0"/>
              <a:t>секции</a:t>
            </a:r>
          </a:p>
          <a:p>
            <a:pPr lvl="1">
              <a:buClr>
                <a:schemeClr val="tx2"/>
              </a:buClr>
            </a:pPr>
            <a:r>
              <a:rPr lang="bg-BG" sz="3400" dirty="0"/>
              <a:t>Съдържа</a:t>
            </a:r>
            <a:r>
              <a:rPr lang="bg-BG" sz="3400" b="1" dirty="0"/>
              <a:t> текстове</a:t>
            </a:r>
            <a:r>
              <a:rPr lang="bg-BG" sz="3400" dirty="0"/>
              <a:t>, </a:t>
            </a:r>
            <a:r>
              <a:rPr lang="bg-BG" sz="3400" b="1" dirty="0"/>
              <a:t>изображения</a:t>
            </a:r>
            <a:r>
              <a:rPr lang="bg-BG" sz="3400" dirty="0"/>
              <a:t>, </a:t>
            </a:r>
            <a:r>
              <a:rPr lang="bg-BG" sz="3400" b="1" dirty="0"/>
              <a:t>видеа</a:t>
            </a:r>
            <a:r>
              <a:rPr lang="bg-BG" sz="3400" dirty="0"/>
              <a:t> и </a:t>
            </a:r>
            <a:r>
              <a:rPr lang="bg-BG" sz="3400" b="1" dirty="0"/>
              <a:t>др</a:t>
            </a:r>
            <a:r>
              <a:rPr lang="bg-BG" sz="3400" dirty="0"/>
              <a:t>.</a:t>
            </a:r>
            <a:endParaRPr lang="bg-BG" sz="3600" b="1" dirty="0"/>
          </a:p>
          <a:p>
            <a:pPr>
              <a:buClr>
                <a:schemeClr val="tx2"/>
              </a:buClr>
            </a:pPr>
            <a:r>
              <a:rPr lang="bg-BG" sz="3600" b="1" dirty="0">
                <a:solidFill>
                  <a:schemeClr val="bg1"/>
                </a:solidFill>
              </a:rPr>
              <a:t>Футър</a:t>
            </a:r>
            <a:r>
              <a:rPr lang="bg-BG" sz="3600" b="1" dirty="0"/>
              <a:t> (</a:t>
            </a:r>
            <a:r>
              <a:rPr lang="en-US" sz="3600" b="1" dirty="0"/>
              <a:t>Footer</a:t>
            </a:r>
            <a:r>
              <a:rPr lang="bg-BG" sz="3600" b="1" dirty="0"/>
              <a:t>)</a:t>
            </a:r>
          </a:p>
          <a:p>
            <a:pPr lvl="1">
              <a:buClr>
                <a:schemeClr val="tx2"/>
              </a:buClr>
            </a:pPr>
            <a:r>
              <a:rPr lang="bg-BG" sz="3000" b="1" dirty="0"/>
              <a:t>Най-долната част </a:t>
            </a:r>
            <a:r>
              <a:rPr lang="bg-BG" sz="3000" dirty="0"/>
              <a:t>на</a:t>
            </a:r>
            <a:r>
              <a:rPr lang="bg-BG" sz="3000" b="1" dirty="0"/>
              <a:t> уеб страницата</a:t>
            </a:r>
          </a:p>
          <a:p>
            <a:pPr lvl="1">
              <a:buClr>
                <a:schemeClr val="tx2"/>
              </a:buClr>
            </a:pPr>
            <a:r>
              <a:rPr lang="bg-BG" sz="3400" dirty="0"/>
              <a:t>Съдържа </a:t>
            </a:r>
            <a:r>
              <a:rPr lang="bg-BG" sz="3400" b="1" dirty="0"/>
              <a:t>контакти</a:t>
            </a:r>
            <a:r>
              <a:rPr lang="bg-BG" sz="3400" dirty="0"/>
              <a:t>, </a:t>
            </a:r>
            <a:r>
              <a:rPr lang="bg-BG" sz="3400" b="1" dirty="0"/>
              <a:t>линкове</a:t>
            </a:r>
            <a:r>
              <a:rPr lang="bg-BG" sz="3400" dirty="0"/>
              <a:t> към </a:t>
            </a:r>
            <a:r>
              <a:rPr lang="bg-BG" sz="3400" b="1" dirty="0"/>
              <a:t>социални мрежи</a:t>
            </a:r>
            <a:r>
              <a:rPr lang="bg-BG" sz="3400" dirty="0"/>
              <a:t>, </a:t>
            </a:r>
            <a:r>
              <a:rPr lang="bg-BG" sz="3400" b="1" dirty="0"/>
              <a:t>авторски права </a:t>
            </a:r>
            <a:r>
              <a:rPr lang="bg-BG" sz="3400" dirty="0"/>
              <a:t>и </a:t>
            </a:r>
            <a:r>
              <a:rPr lang="bg-BG" sz="3400" b="1" dirty="0"/>
              <a:t>др</a:t>
            </a:r>
            <a:r>
              <a:rPr lang="bg-BG" sz="3400" dirty="0"/>
              <a:t>.</a:t>
            </a:r>
            <a:endParaRPr lang="en-US" sz="34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5798252-7C8A-F47B-9109-C1433D478ABF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2412"/>
          <a:stretch/>
        </p:blipFill>
        <p:spPr>
          <a:xfrm>
            <a:off x="7061092" y="2624344"/>
            <a:ext cx="4880881" cy="2672327"/>
          </a:xfrm>
          <a:prstGeom prst="rect">
            <a:avLst/>
          </a:prstGeom>
        </p:spPr>
      </p:pic>
      <p:sp>
        <p:nvSpPr>
          <p:cNvPr id="5" name="Rounded Rectangular Callout 8">
            <a:extLst>
              <a:ext uri="{FF2B5EF4-FFF2-40B4-BE49-F238E27FC236}">
                <a16:creationId xmlns:a16="http://schemas.microsoft.com/office/drawing/2014/main" id="{AD6FD715-07D1-EC0C-AE2B-9D2B3E0770BD}"/>
              </a:ext>
            </a:extLst>
          </p:cNvPr>
          <p:cNvSpPr/>
          <p:nvPr/>
        </p:nvSpPr>
        <p:spPr bwMode="auto">
          <a:xfrm>
            <a:off x="8886000" y="1729660"/>
            <a:ext cx="2430000" cy="649100"/>
          </a:xfrm>
          <a:prstGeom prst="wedgeRoundRectCallout">
            <a:avLst>
              <a:gd name="adj1" fmla="val 1669"/>
              <a:gd name="adj2" fmla="val 171781"/>
              <a:gd name="adj3" fmla="val 16667"/>
            </a:avLst>
          </a:prstGeom>
          <a:solidFill>
            <a:schemeClr val="dk2">
              <a:alpha val="80000"/>
            </a:schemeClr>
          </a:solidFill>
          <a:ln w="19050">
            <a:solidFill>
              <a:schemeClr val="tx1">
                <a:lumMod val="75000"/>
                <a:alpha val="80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001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2800" b="1" dirty="0">
                <a:solidFill>
                  <a:schemeClr val="accent1">
                    <a:lumMod val="60000"/>
                    <a:lumOff val="4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Main content</a:t>
            </a:r>
            <a:endParaRPr lang="en-BG" sz="2800" b="1" dirty="0">
              <a:solidFill>
                <a:schemeClr val="accent1">
                  <a:lumMod val="60000"/>
                  <a:lumOff val="40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6" name="Rounded Rectangular Callout 8">
            <a:extLst>
              <a:ext uri="{FF2B5EF4-FFF2-40B4-BE49-F238E27FC236}">
                <a16:creationId xmlns:a16="http://schemas.microsoft.com/office/drawing/2014/main" id="{4F8B81EB-88AA-12E9-E730-A30E646FDD18}"/>
              </a:ext>
            </a:extLst>
          </p:cNvPr>
          <p:cNvSpPr/>
          <p:nvPr/>
        </p:nvSpPr>
        <p:spPr bwMode="auto">
          <a:xfrm>
            <a:off x="6951000" y="5693819"/>
            <a:ext cx="2430000" cy="649100"/>
          </a:xfrm>
          <a:prstGeom prst="wedgeRoundRectCallout">
            <a:avLst>
              <a:gd name="adj1" fmla="val 34737"/>
              <a:gd name="adj2" fmla="val -156920"/>
              <a:gd name="adj3" fmla="val 16667"/>
            </a:avLst>
          </a:prstGeom>
          <a:solidFill>
            <a:schemeClr val="dk2">
              <a:alpha val="80000"/>
            </a:schemeClr>
          </a:solidFill>
          <a:ln w="19050">
            <a:solidFill>
              <a:schemeClr val="tx1">
                <a:lumMod val="75000"/>
                <a:alpha val="80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001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2800" b="1" dirty="0">
                <a:solidFill>
                  <a:schemeClr val="accent1">
                    <a:lumMod val="60000"/>
                    <a:lumOff val="4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Footer</a:t>
            </a:r>
            <a:endParaRPr lang="en-BG" sz="2800" b="1" dirty="0">
              <a:solidFill>
                <a:schemeClr val="accent1">
                  <a:lumMod val="60000"/>
                  <a:lumOff val="40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28562886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8891F045-A272-4231-985A-53063F832A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15</a:t>
            </a:fld>
            <a:endParaRPr lang="en-US" dirty="0"/>
          </a:p>
        </p:txBody>
      </p:sp>
      <p:sp>
        <p:nvSpPr>
          <p:cNvPr id="4" name="Slide Title"/>
          <p:cNvSpPr>
            <a:spLocks noGrp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>
            <a:noAutofit/>
          </a:bodyPr>
          <a:lstStyle/>
          <a:p>
            <a:r>
              <a:rPr lang="bg-BG" sz="3600" dirty="0"/>
              <a:t>Основни елементи на схематичния дизайн</a:t>
            </a:r>
            <a:r>
              <a:rPr lang="en-US" sz="3600" dirty="0"/>
              <a:t> (3)</a:t>
            </a:r>
            <a:endParaRPr lang="en-US" sz="3800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C076270-3581-64DE-2C80-4507972E933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337090" y="1265517"/>
            <a:ext cx="5517820" cy="5245956"/>
          </a:xfrm>
          <a:prstGeom prst="rect">
            <a:avLst/>
          </a:prstGeom>
        </p:spPr>
      </p:pic>
      <p:sp>
        <p:nvSpPr>
          <p:cNvPr id="3" name="Rounded Rectangular Callout 8">
            <a:extLst>
              <a:ext uri="{FF2B5EF4-FFF2-40B4-BE49-F238E27FC236}">
                <a16:creationId xmlns:a16="http://schemas.microsoft.com/office/drawing/2014/main" id="{839641B1-7B13-9976-3533-C9EB3142F9CB}"/>
              </a:ext>
            </a:extLst>
          </p:cNvPr>
          <p:cNvSpPr/>
          <p:nvPr/>
        </p:nvSpPr>
        <p:spPr bwMode="auto">
          <a:xfrm>
            <a:off x="671775" y="1265517"/>
            <a:ext cx="2430000" cy="649100"/>
          </a:xfrm>
          <a:prstGeom prst="wedgeRoundRectCallout">
            <a:avLst>
              <a:gd name="adj1" fmla="val 91182"/>
              <a:gd name="adj2" fmla="val 20236"/>
              <a:gd name="adj3" fmla="val 16667"/>
            </a:avLst>
          </a:prstGeom>
          <a:solidFill>
            <a:schemeClr val="dk2">
              <a:alpha val="80000"/>
            </a:schemeClr>
          </a:solidFill>
          <a:ln w="19050">
            <a:solidFill>
              <a:schemeClr val="tx1">
                <a:lumMod val="75000"/>
                <a:alpha val="80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001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2800" b="1" dirty="0">
                <a:solidFill>
                  <a:schemeClr val="bg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Header</a:t>
            </a:r>
            <a:endParaRPr lang="en-BG" sz="2800" b="1" dirty="0">
              <a:solidFill>
                <a:schemeClr val="bg2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6" name="Rounded Rectangular Callout 8">
            <a:extLst>
              <a:ext uri="{FF2B5EF4-FFF2-40B4-BE49-F238E27FC236}">
                <a16:creationId xmlns:a16="http://schemas.microsoft.com/office/drawing/2014/main" id="{3A779DB7-76E2-28D1-D76E-A15B802AA15C}"/>
              </a:ext>
            </a:extLst>
          </p:cNvPr>
          <p:cNvSpPr/>
          <p:nvPr/>
        </p:nvSpPr>
        <p:spPr bwMode="auto">
          <a:xfrm>
            <a:off x="671775" y="4294284"/>
            <a:ext cx="2430000" cy="649100"/>
          </a:xfrm>
          <a:prstGeom prst="wedgeRoundRectCallout">
            <a:avLst>
              <a:gd name="adj1" fmla="val 91182"/>
              <a:gd name="adj2" fmla="val 20236"/>
              <a:gd name="adj3" fmla="val 16667"/>
            </a:avLst>
          </a:prstGeom>
          <a:solidFill>
            <a:schemeClr val="dk2">
              <a:alpha val="80000"/>
            </a:schemeClr>
          </a:solidFill>
          <a:ln w="19050">
            <a:solidFill>
              <a:schemeClr val="tx1">
                <a:lumMod val="75000"/>
                <a:alpha val="80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001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2800" b="1" dirty="0">
                <a:solidFill>
                  <a:schemeClr val="bg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Main content</a:t>
            </a:r>
            <a:endParaRPr lang="en-BG" sz="2800" b="1" dirty="0">
              <a:solidFill>
                <a:schemeClr val="bg2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7" name="Rounded Rectangular Callout 8">
            <a:extLst>
              <a:ext uri="{FF2B5EF4-FFF2-40B4-BE49-F238E27FC236}">
                <a16:creationId xmlns:a16="http://schemas.microsoft.com/office/drawing/2014/main" id="{457B9697-3A2B-B3A1-864E-3CB5E16755E5}"/>
              </a:ext>
            </a:extLst>
          </p:cNvPr>
          <p:cNvSpPr/>
          <p:nvPr/>
        </p:nvSpPr>
        <p:spPr bwMode="auto">
          <a:xfrm>
            <a:off x="9075934" y="2290052"/>
            <a:ext cx="2430000" cy="649100"/>
          </a:xfrm>
          <a:prstGeom prst="wedgeRoundRectCallout">
            <a:avLst>
              <a:gd name="adj1" fmla="val -91835"/>
              <a:gd name="adj2" fmla="val 35177"/>
              <a:gd name="adj3" fmla="val 16667"/>
            </a:avLst>
          </a:prstGeom>
          <a:solidFill>
            <a:schemeClr val="dk2">
              <a:alpha val="80000"/>
            </a:schemeClr>
          </a:solidFill>
          <a:ln w="19050">
            <a:solidFill>
              <a:schemeClr val="tx1">
                <a:lumMod val="75000"/>
                <a:alpha val="80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001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2800" b="1" dirty="0">
                <a:solidFill>
                  <a:schemeClr val="bg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Hero</a:t>
            </a:r>
            <a:endParaRPr lang="en-BG" sz="2800" b="1" dirty="0">
              <a:solidFill>
                <a:schemeClr val="bg2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8" name="Rounded Rectangular Callout 8">
            <a:extLst>
              <a:ext uri="{FF2B5EF4-FFF2-40B4-BE49-F238E27FC236}">
                <a16:creationId xmlns:a16="http://schemas.microsoft.com/office/drawing/2014/main" id="{92B7E7A7-B268-694E-6393-1AAAC6647C91}"/>
              </a:ext>
            </a:extLst>
          </p:cNvPr>
          <p:cNvSpPr/>
          <p:nvPr/>
        </p:nvSpPr>
        <p:spPr bwMode="auto">
          <a:xfrm>
            <a:off x="9075934" y="5589000"/>
            <a:ext cx="2430000" cy="649100"/>
          </a:xfrm>
          <a:prstGeom prst="wedgeRoundRectCallout">
            <a:avLst>
              <a:gd name="adj1" fmla="val -91835"/>
              <a:gd name="adj2" fmla="val 35177"/>
              <a:gd name="adj3" fmla="val 16667"/>
            </a:avLst>
          </a:prstGeom>
          <a:solidFill>
            <a:schemeClr val="dk2">
              <a:alpha val="80000"/>
            </a:schemeClr>
          </a:solidFill>
          <a:ln w="19050">
            <a:solidFill>
              <a:schemeClr val="tx1">
                <a:lumMod val="75000"/>
                <a:alpha val="80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001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2800" b="1" dirty="0">
                <a:solidFill>
                  <a:schemeClr val="bg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Footer</a:t>
            </a:r>
            <a:endParaRPr lang="en-BG" sz="2800" b="1" dirty="0">
              <a:solidFill>
                <a:schemeClr val="bg2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5113648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6" grpId="0" animBg="1"/>
      <p:bldP spid="7" grpId="0" animBg="1"/>
      <p:bldP spid="8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Subtitle">
            <a:extLst>
              <a:ext uri="{FF2B5EF4-FFF2-40B4-BE49-F238E27FC236}">
                <a16:creationId xmlns:a16="http://schemas.microsoft.com/office/drawing/2014/main" id="{BEB5BB41-09D4-4E9F-8C80-EE8709171CB3}"/>
              </a:ext>
            </a:extLst>
          </p:cNvPr>
          <p:cNvSpPr>
            <a:spLocks noGrp="1"/>
          </p:cNvSpPr>
          <p:nvPr>
            <p:ph type="subTitle" sz="quarter" idx="11"/>
          </p:nvPr>
        </p:nvSpPr>
        <p:spPr/>
        <p:txBody>
          <a:bodyPr/>
          <a:lstStyle/>
          <a:p>
            <a:r>
              <a:rPr lang="en-GB" sz="4800" dirty="0"/>
              <a:t>Web Accessibility</a:t>
            </a:r>
            <a:endParaRPr lang="bg-BG" sz="4800" dirty="0"/>
          </a:p>
        </p:txBody>
      </p:sp>
      <p:sp>
        <p:nvSpPr>
          <p:cNvPr id="6" name="Slide Title">
            <a:extLst>
              <a:ext uri="{FF2B5EF4-FFF2-40B4-BE49-F238E27FC236}">
                <a16:creationId xmlns:a16="http://schemas.microsoft.com/office/drawing/2014/main" id="{028D9EA3-B5E0-4F17-9467-4BE3C280DA68}"/>
              </a:ext>
            </a:extLst>
          </p:cNvPr>
          <p:cNvSpPr>
            <a:spLocks noGrp="1"/>
          </p:cNvSpPr>
          <p:nvPr>
            <p:ph type="title" sz="quarter" idx="10"/>
          </p:nvPr>
        </p:nvSpPr>
        <p:spPr/>
        <p:txBody>
          <a:bodyPr/>
          <a:lstStyle/>
          <a:p>
            <a:r>
              <a:rPr lang="bg-BG" sz="6000" dirty="0"/>
              <a:t>Достъпност на уеб страници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C3F575B-8C72-6AAE-C5CB-15945A1440AF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166" t="26751" r="28333" b="27620"/>
          <a:stretch/>
        </p:blipFill>
        <p:spPr>
          <a:xfrm>
            <a:off x="4915591" y="1444122"/>
            <a:ext cx="2360818" cy="2355924"/>
          </a:xfrm>
          <a:prstGeom prst="ellipse">
            <a:avLst/>
          </a:prstGeom>
        </p:spPr>
      </p:pic>
    </p:spTree>
    <p:extLst>
      <p:ext uri="{BB962C8B-B14F-4D97-AF65-F5344CB8AC3E}">
        <p14:creationId xmlns:p14="http://schemas.microsoft.com/office/powerpoint/2010/main" val="39356295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8891F045-A272-4231-985A-53063F832A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17</a:t>
            </a:fld>
            <a:endParaRPr lang="en-US" dirty="0"/>
          </a:p>
        </p:txBody>
      </p:sp>
      <p:sp>
        <p:nvSpPr>
          <p:cNvPr id="7" name="Slide Body Text">
            <a:extLst>
              <a:ext uri="{FF2B5EF4-FFF2-40B4-BE49-F238E27FC236}">
                <a16:creationId xmlns:a16="http://schemas.microsoft.com/office/drawing/2014/main" id="{320B2856-CE5E-4934-BD1C-1D81E68E529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11818096" cy="5528766"/>
          </a:xfrm>
        </p:spPr>
        <p:txBody>
          <a:bodyPr>
            <a:normAutofit/>
          </a:bodyPr>
          <a:lstStyle/>
          <a:p>
            <a:pPr>
              <a:buClr>
                <a:schemeClr val="tx2"/>
              </a:buClr>
            </a:pPr>
            <a:r>
              <a:rPr lang="bg-BG" sz="3600" b="1" dirty="0">
                <a:solidFill>
                  <a:schemeClr val="bg1"/>
                </a:solidFill>
              </a:rPr>
              <a:t>Способността</a:t>
            </a:r>
            <a:r>
              <a:rPr lang="bg-BG" sz="3600" dirty="0"/>
              <a:t> </a:t>
            </a:r>
            <a:r>
              <a:rPr lang="bg-BG" sz="3600" b="1" dirty="0"/>
              <a:t>уеб страниците </a:t>
            </a:r>
            <a:r>
              <a:rPr lang="bg-BG" sz="3600" dirty="0"/>
              <a:t>да се </a:t>
            </a:r>
            <a:r>
              <a:rPr lang="bg-BG" sz="3600" b="1" dirty="0"/>
              <a:t>използват</a:t>
            </a:r>
            <a:r>
              <a:rPr lang="bg-BG" sz="3600" dirty="0"/>
              <a:t> и </a:t>
            </a:r>
            <a:r>
              <a:rPr lang="bg-BG" sz="3600" b="1" dirty="0">
                <a:solidFill>
                  <a:schemeClr val="bg1"/>
                </a:solidFill>
              </a:rPr>
              <a:t>от хора с увреждания</a:t>
            </a:r>
          </a:p>
          <a:p>
            <a:pPr>
              <a:buClr>
                <a:schemeClr val="tx2"/>
              </a:buClr>
            </a:pPr>
            <a:r>
              <a:rPr lang="bg-BG" sz="3600" dirty="0"/>
              <a:t>Позволява </a:t>
            </a:r>
            <a:r>
              <a:rPr lang="bg-BG" sz="3600" b="1" dirty="0"/>
              <a:t>съдържанието</a:t>
            </a:r>
            <a:r>
              <a:rPr lang="bg-BG" sz="3600" dirty="0"/>
              <a:t> да може </a:t>
            </a:r>
            <a:r>
              <a:rPr lang="bg-BG" sz="3600" b="1" dirty="0"/>
              <a:t>да се възприема </a:t>
            </a:r>
            <a:r>
              <a:rPr lang="bg-BG" sz="3600" dirty="0"/>
              <a:t>с </a:t>
            </a:r>
            <a:r>
              <a:rPr lang="bg-BG" sz="3600" b="1" dirty="0">
                <a:solidFill>
                  <a:schemeClr val="bg1"/>
                </a:solidFill>
              </a:rPr>
              <a:t>различни сетива</a:t>
            </a:r>
          </a:p>
          <a:p>
            <a:pPr>
              <a:buClr>
                <a:schemeClr val="tx2"/>
              </a:buClr>
            </a:pPr>
            <a:endParaRPr lang="bg-BG" sz="3600" dirty="0"/>
          </a:p>
        </p:txBody>
      </p:sp>
      <p:sp>
        <p:nvSpPr>
          <p:cNvPr id="4" name="Slide Title"/>
          <p:cNvSpPr>
            <a:spLocks noGrp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>
            <a:normAutofit/>
          </a:bodyPr>
          <a:lstStyle/>
          <a:p>
            <a:r>
              <a:rPr lang="bg-BG" sz="3800" dirty="0"/>
              <a:t>Достъпност на уеб страници (</a:t>
            </a:r>
            <a:r>
              <a:rPr lang="en-GB" sz="3800" dirty="0"/>
              <a:t>Web Accessibility)</a:t>
            </a:r>
            <a:endParaRPr lang="en-US" sz="38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189BC1D-F99F-E644-9569-23C6762A98AA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770" t="6330" r="14897" b="7960"/>
          <a:stretch/>
        </p:blipFill>
        <p:spPr>
          <a:xfrm>
            <a:off x="4071000" y="3574080"/>
            <a:ext cx="4050000" cy="32903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62129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8891F045-A272-4231-985A-53063F832A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18</a:t>
            </a:fld>
            <a:endParaRPr lang="en-US" dirty="0"/>
          </a:p>
        </p:txBody>
      </p:sp>
      <p:sp>
        <p:nvSpPr>
          <p:cNvPr id="7" name="Slide Body Text">
            <a:extLst>
              <a:ext uri="{FF2B5EF4-FFF2-40B4-BE49-F238E27FC236}">
                <a16:creationId xmlns:a16="http://schemas.microsoft.com/office/drawing/2014/main" id="{320B2856-CE5E-4934-BD1C-1D81E68E529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11818096" cy="5528766"/>
          </a:xfrm>
        </p:spPr>
        <p:txBody>
          <a:bodyPr>
            <a:normAutofit lnSpcReduction="10000"/>
          </a:bodyPr>
          <a:lstStyle/>
          <a:p>
            <a:pPr>
              <a:buClr>
                <a:schemeClr val="tx2"/>
              </a:buClr>
            </a:pPr>
            <a:r>
              <a:rPr lang="bg-BG" sz="3600" b="1" dirty="0">
                <a:solidFill>
                  <a:schemeClr val="bg1"/>
                </a:solidFill>
              </a:rPr>
              <a:t>Алтернативен текст </a:t>
            </a:r>
            <a:r>
              <a:rPr lang="bg-BG" sz="3600" b="1" dirty="0"/>
              <a:t>(</a:t>
            </a:r>
            <a:r>
              <a:rPr lang="en-US" sz="3600" b="1" dirty="0"/>
              <a:t>alt text</a:t>
            </a:r>
            <a:r>
              <a:rPr lang="bg-BG" sz="3600" b="1" dirty="0"/>
              <a:t>) </a:t>
            </a:r>
            <a:r>
              <a:rPr lang="bg-BG" sz="3600" b="1" dirty="0">
                <a:solidFill>
                  <a:schemeClr val="bg1"/>
                </a:solidFill>
              </a:rPr>
              <a:t>на изображенията</a:t>
            </a:r>
          </a:p>
          <a:p>
            <a:pPr lvl="1">
              <a:buClr>
                <a:schemeClr val="tx2"/>
              </a:buClr>
            </a:pPr>
            <a:r>
              <a:rPr lang="bg-BG" sz="3400" dirty="0"/>
              <a:t>Описват </a:t>
            </a:r>
            <a:r>
              <a:rPr lang="bg-BG" sz="3400" b="1" dirty="0"/>
              <a:t>изображението</a:t>
            </a:r>
          </a:p>
          <a:p>
            <a:pPr>
              <a:buClr>
                <a:schemeClr val="tx2"/>
              </a:buClr>
            </a:pPr>
            <a:r>
              <a:rPr lang="bg-BG" sz="3600" b="1" dirty="0">
                <a:solidFill>
                  <a:schemeClr val="bg1"/>
                </a:solidFill>
              </a:rPr>
              <a:t>Контрастни цветове</a:t>
            </a:r>
            <a:endParaRPr lang="en-US" sz="3600" b="1" dirty="0">
              <a:solidFill>
                <a:schemeClr val="bg1"/>
              </a:solidFill>
            </a:endParaRPr>
          </a:p>
          <a:p>
            <a:pPr lvl="1">
              <a:buClr>
                <a:schemeClr val="tx2"/>
              </a:buClr>
            </a:pPr>
            <a:r>
              <a:rPr lang="bg-BG" sz="3400" dirty="0"/>
              <a:t>Помагат на </a:t>
            </a:r>
            <a:r>
              <a:rPr lang="bg-BG" sz="3400" b="1" dirty="0"/>
              <a:t>четимостта</a:t>
            </a:r>
          </a:p>
          <a:p>
            <a:pPr>
              <a:buClr>
                <a:schemeClr val="tx2"/>
              </a:buClr>
            </a:pPr>
            <a:r>
              <a:rPr lang="bg-BG" sz="3600" b="1" dirty="0">
                <a:solidFill>
                  <a:schemeClr val="bg1"/>
                </a:solidFill>
              </a:rPr>
              <a:t>Възможност за различна навигация</a:t>
            </a:r>
          </a:p>
          <a:p>
            <a:pPr lvl="1">
              <a:buClr>
                <a:schemeClr val="tx2"/>
              </a:buClr>
            </a:pPr>
            <a:r>
              <a:rPr lang="bg-BG" sz="3400" dirty="0"/>
              <a:t>Позволява </a:t>
            </a:r>
            <a:r>
              <a:rPr lang="bg-BG" sz="3400" b="1" dirty="0"/>
              <a:t>управление</a:t>
            </a:r>
            <a:r>
              <a:rPr lang="bg-BG" sz="3400" dirty="0"/>
              <a:t> </a:t>
            </a:r>
            <a:r>
              <a:rPr lang="bg-BG" sz="3400" b="1" dirty="0"/>
              <a:t>само</a:t>
            </a:r>
            <a:r>
              <a:rPr lang="bg-BG" sz="3400" dirty="0"/>
              <a:t> </a:t>
            </a:r>
            <a:r>
              <a:rPr lang="bg-BG" sz="3400" b="1" dirty="0"/>
              <a:t>чрез клавиатура</a:t>
            </a:r>
          </a:p>
          <a:p>
            <a:pPr>
              <a:buClr>
                <a:schemeClr val="tx2"/>
              </a:buClr>
            </a:pPr>
            <a:r>
              <a:rPr lang="bg-BG" sz="3600" b="1" dirty="0">
                <a:solidFill>
                  <a:schemeClr val="bg1"/>
                </a:solidFill>
              </a:rPr>
              <a:t>Ясни шрифтове</a:t>
            </a:r>
            <a:r>
              <a:rPr lang="bg-BG" sz="3600" dirty="0"/>
              <a:t> и </a:t>
            </a:r>
            <a:r>
              <a:rPr lang="bg-BG" sz="3600" b="1" dirty="0">
                <a:solidFill>
                  <a:schemeClr val="bg1"/>
                </a:solidFill>
              </a:rPr>
              <a:t>големи бутони</a:t>
            </a:r>
          </a:p>
          <a:p>
            <a:pPr lvl="1">
              <a:buClr>
                <a:schemeClr val="tx2"/>
              </a:buClr>
            </a:pPr>
            <a:r>
              <a:rPr lang="bg-BG" sz="3400" dirty="0"/>
              <a:t>Улесняват </a:t>
            </a:r>
            <a:r>
              <a:rPr lang="bg-BG" sz="3400" b="1" dirty="0"/>
              <a:t>ориентацията</a:t>
            </a:r>
          </a:p>
        </p:txBody>
      </p:sp>
      <p:sp>
        <p:nvSpPr>
          <p:cNvPr id="4" name="Slide Title"/>
          <p:cNvSpPr>
            <a:spLocks noGrp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>
            <a:normAutofit/>
          </a:bodyPr>
          <a:lstStyle/>
          <a:p>
            <a:r>
              <a:rPr lang="bg-BG" sz="4000" dirty="0"/>
              <a:t>Основни принципи на достъпността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745543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Subtitle">
            <a:extLst>
              <a:ext uri="{FF2B5EF4-FFF2-40B4-BE49-F238E27FC236}">
                <a16:creationId xmlns:a16="http://schemas.microsoft.com/office/drawing/2014/main" id="{BEB5BB41-09D4-4E9F-8C80-EE8709171CB3}"/>
              </a:ext>
            </a:extLst>
          </p:cNvPr>
          <p:cNvSpPr>
            <a:spLocks noGrp="1"/>
          </p:cNvSpPr>
          <p:nvPr>
            <p:ph type="subTitle" sz="quarter" idx="11"/>
          </p:nvPr>
        </p:nvSpPr>
        <p:spPr/>
        <p:txBody>
          <a:bodyPr/>
          <a:lstStyle/>
          <a:p>
            <a:r>
              <a:rPr lang="bg-BG" sz="4800" dirty="0"/>
              <a:t>Предназначение на уеб страниците</a:t>
            </a:r>
          </a:p>
        </p:txBody>
      </p:sp>
      <p:sp>
        <p:nvSpPr>
          <p:cNvPr id="6" name="Slide Title">
            <a:extLst>
              <a:ext uri="{FF2B5EF4-FFF2-40B4-BE49-F238E27FC236}">
                <a16:creationId xmlns:a16="http://schemas.microsoft.com/office/drawing/2014/main" id="{028D9EA3-B5E0-4F17-9467-4BE3C280DA68}"/>
              </a:ext>
            </a:extLst>
          </p:cNvPr>
          <p:cNvSpPr>
            <a:spLocks noGrp="1"/>
          </p:cNvSpPr>
          <p:nvPr>
            <p:ph type="title" sz="quarter" idx="10"/>
          </p:nvPr>
        </p:nvSpPr>
        <p:spPr/>
        <p:txBody>
          <a:bodyPr/>
          <a:lstStyle/>
          <a:p>
            <a:pPr>
              <a:buClr>
                <a:schemeClr val="tx1"/>
              </a:buClr>
            </a:pPr>
            <a:r>
              <a:rPr lang="bg-BG" sz="6000" dirty="0"/>
              <a:t>Типове уеб страници</a:t>
            </a:r>
            <a:endParaRPr lang="en-US" sz="6000" b="1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648D165-7590-3D8A-F96D-3C6E022051A6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897" t="18425" r="6063" b="19213"/>
          <a:stretch/>
        </p:blipFill>
        <p:spPr>
          <a:xfrm>
            <a:off x="4588500" y="1539000"/>
            <a:ext cx="3015000" cy="2211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04427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8891F045-A272-4231-985A-53063F832A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20</a:t>
            </a:fld>
            <a:endParaRPr lang="en-US" dirty="0"/>
          </a:p>
        </p:txBody>
      </p:sp>
      <p:sp>
        <p:nvSpPr>
          <p:cNvPr id="7" name="Slide Body Text">
            <a:extLst>
              <a:ext uri="{FF2B5EF4-FFF2-40B4-BE49-F238E27FC236}">
                <a16:creationId xmlns:a16="http://schemas.microsoft.com/office/drawing/2014/main" id="{320B2856-CE5E-4934-BD1C-1D81E68E529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6095782" cy="5528766"/>
          </a:xfrm>
        </p:spPr>
        <p:txBody>
          <a:bodyPr>
            <a:normAutofit/>
          </a:bodyPr>
          <a:lstStyle/>
          <a:p>
            <a:pPr>
              <a:buClr>
                <a:schemeClr val="tx2"/>
              </a:buClr>
            </a:pPr>
            <a:r>
              <a:rPr lang="bg-BG" sz="3600" dirty="0"/>
              <a:t>Различните </a:t>
            </a:r>
            <a:r>
              <a:rPr lang="bg-BG" sz="3600" b="1" dirty="0"/>
              <a:t>типове уеб страници </a:t>
            </a:r>
            <a:r>
              <a:rPr lang="bg-BG" sz="3600" dirty="0"/>
              <a:t>имат </a:t>
            </a:r>
            <a:r>
              <a:rPr lang="bg-BG" sz="3600" b="1" dirty="0">
                <a:solidFill>
                  <a:schemeClr val="bg1"/>
                </a:solidFill>
              </a:rPr>
              <a:t>специфична структура</a:t>
            </a:r>
            <a:r>
              <a:rPr lang="bg-BG" sz="3600" dirty="0"/>
              <a:t> и </a:t>
            </a:r>
            <a:r>
              <a:rPr lang="bg-BG" sz="3600" b="1" dirty="0">
                <a:solidFill>
                  <a:schemeClr val="bg1"/>
                </a:solidFill>
              </a:rPr>
              <a:t>цел</a:t>
            </a:r>
            <a:r>
              <a:rPr lang="bg-BG" sz="3600" dirty="0"/>
              <a:t> според тяхното </a:t>
            </a:r>
            <a:r>
              <a:rPr lang="bg-BG" sz="3600" b="1" dirty="0"/>
              <a:t>предназначение</a:t>
            </a:r>
          </a:p>
          <a:p>
            <a:pPr>
              <a:buClr>
                <a:schemeClr val="tx2"/>
              </a:buClr>
            </a:pPr>
            <a:r>
              <a:rPr lang="bg-BG" sz="3600" b="1" dirty="0"/>
              <a:t>Важно е </a:t>
            </a:r>
            <a:r>
              <a:rPr lang="bg-BG" sz="3600" dirty="0"/>
              <a:t>всяка </a:t>
            </a:r>
            <a:r>
              <a:rPr lang="bg-BG" sz="3600" b="1" dirty="0"/>
              <a:t>уеб страница </a:t>
            </a:r>
            <a:r>
              <a:rPr lang="bg-BG" sz="3600" dirty="0"/>
              <a:t>да има </a:t>
            </a:r>
            <a:r>
              <a:rPr lang="bg-BG" sz="3600" b="1" dirty="0">
                <a:solidFill>
                  <a:schemeClr val="bg1"/>
                </a:solidFill>
              </a:rPr>
              <a:t>ясна цел </a:t>
            </a:r>
            <a:r>
              <a:rPr lang="bg-BG" sz="3600" dirty="0"/>
              <a:t>и </a:t>
            </a:r>
            <a:r>
              <a:rPr lang="bg-BG" sz="3600" b="1" dirty="0">
                <a:solidFill>
                  <a:schemeClr val="bg1"/>
                </a:solidFill>
              </a:rPr>
              <a:t>логична връзка</a:t>
            </a:r>
            <a:r>
              <a:rPr lang="bg-BG" sz="3600" dirty="0"/>
              <a:t> с останалите в </a:t>
            </a:r>
            <a:r>
              <a:rPr lang="bg-BG" sz="3600" b="1" dirty="0"/>
              <a:t>уеб сайта</a:t>
            </a:r>
          </a:p>
        </p:txBody>
      </p:sp>
      <p:sp>
        <p:nvSpPr>
          <p:cNvPr id="4" name="Slide Title"/>
          <p:cNvSpPr>
            <a:spLocks noGrp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>
            <a:normAutofit/>
          </a:bodyPr>
          <a:lstStyle/>
          <a:p>
            <a:r>
              <a:rPr lang="bg-BG" sz="4000" dirty="0"/>
              <a:t>Типове уеб страници </a:t>
            </a:r>
            <a:r>
              <a:rPr lang="en-US" sz="4000" dirty="0"/>
              <a:t>(1)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F30C7B0-9980-44A0-3CC6-6B47209CD80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184" y="1449000"/>
            <a:ext cx="5925125" cy="46810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16951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8891F045-A272-4231-985A-53063F832A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21</a:t>
            </a:fld>
            <a:endParaRPr lang="en-US" dirty="0"/>
          </a:p>
        </p:txBody>
      </p:sp>
      <p:sp>
        <p:nvSpPr>
          <p:cNvPr id="7" name="Slide Body Text">
            <a:extLst>
              <a:ext uri="{FF2B5EF4-FFF2-40B4-BE49-F238E27FC236}">
                <a16:creationId xmlns:a16="http://schemas.microsoft.com/office/drawing/2014/main" id="{320B2856-CE5E-4934-BD1C-1D81E68E529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7435598" cy="5528766"/>
          </a:xfrm>
        </p:spPr>
        <p:txBody>
          <a:bodyPr>
            <a:normAutofit lnSpcReduction="10000"/>
          </a:bodyPr>
          <a:lstStyle/>
          <a:p>
            <a:pPr>
              <a:buClr>
                <a:schemeClr val="tx2"/>
              </a:buClr>
            </a:pPr>
            <a:r>
              <a:rPr lang="bg-BG" sz="3600" b="1" dirty="0">
                <a:solidFill>
                  <a:schemeClr val="bg1"/>
                </a:solidFill>
              </a:rPr>
              <a:t>Начална страница</a:t>
            </a:r>
          </a:p>
          <a:p>
            <a:pPr lvl="1">
              <a:buClr>
                <a:schemeClr val="tx2"/>
              </a:buClr>
            </a:pPr>
            <a:r>
              <a:rPr lang="bg-BG" sz="3400" b="1" dirty="0">
                <a:solidFill>
                  <a:schemeClr val="bg1"/>
                </a:solidFill>
              </a:rPr>
              <a:t>Представя</a:t>
            </a:r>
            <a:r>
              <a:rPr lang="bg-BG" sz="3400" dirty="0"/>
              <a:t> </a:t>
            </a:r>
            <a:r>
              <a:rPr lang="bg-BG" sz="3400" b="1" dirty="0"/>
              <a:t>уеб сайта </a:t>
            </a:r>
            <a:r>
              <a:rPr lang="bg-BG" sz="3400" dirty="0"/>
              <a:t>и води </a:t>
            </a:r>
            <a:r>
              <a:rPr lang="bg-BG" sz="3400" b="1" dirty="0"/>
              <a:t>потребителя</a:t>
            </a:r>
            <a:r>
              <a:rPr lang="bg-BG" sz="3400" dirty="0"/>
              <a:t> към </a:t>
            </a:r>
            <a:r>
              <a:rPr lang="bg-BG" sz="3400" b="1" dirty="0"/>
              <a:t>основните раздели</a:t>
            </a:r>
          </a:p>
          <a:p>
            <a:pPr>
              <a:buClr>
                <a:schemeClr val="tx2"/>
              </a:buClr>
            </a:pPr>
            <a:r>
              <a:rPr lang="bg-BG" sz="3600" b="1" dirty="0">
                <a:solidFill>
                  <a:schemeClr val="bg1"/>
                </a:solidFill>
              </a:rPr>
              <a:t>Продуктова страница</a:t>
            </a:r>
          </a:p>
          <a:p>
            <a:pPr lvl="1">
              <a:buClr>
                <a:schemeClr val="tx2"/>
              </a:buClr>
            </a:pPr>
            <a:r>
              <a:rPr lang="bg-BG" sz="3400" dirty="0"/>
              <a:t>Съдържа </a:t>
            </a:r>
            <a:r>
              <a:rPr lang="bg-BG" sz="3400" b="1" dirty="0"/>
              <a:t>информация</a:t>
            </a:r>
            <a:r>
              <a:rPr lang="bg-BG" sz="3400" dirty="0"/>
              <a:t>, </a:t>
            </a:r>
            <a:r>
              <a:rPr lang="bg-BG" sz="3400" b="1" dirty="0"/>
              <a:t>изображения</a:t>
            </a:r>
            <a:r>
              <a:rPr lang="bg-BG" sz="3400" dirty="0"/>
              <a:t>, </a:t>
            </a:r>
            <a:r>
              <a:rPr lang="bg-BG" sz="3400" b="1" dirty="0"/>
              <a:t>бутони</a:t>
            </a:r>
            <a:r>
              <a:rPr lang="bg-BG" sz="3400" dirty="0"/>
              <a:t> и </a:t>
            </a:r>
            <a:r>
              <a:rPr lang="bg-BG" sz="3400" b="1" dirty="0"/>
              <a:t>др</a:t>
            </a:r>
            <a:r>
              <a:rPr lang="bg-BG" sz="3400" dirty="0"/>
              <a:t>. за </a:t>
            </a:r>
            <a:r>
              <a:rPr lang="bg-BG" sz="3400" b="1" dirty="0">
                <a:solidFill>
                  <a:schemeClr val="bg1"/>
                </a:solidFill>
              </a:rPr>
              <a:t>покупка</a:t>
            </a:r>
            <a:r>
              <a:rPr lang="bg-BG" sz="3400" dirty="0"/>
              <a:t> или </a:t>
            </a:r>
            <a:r>
              <a:rPr lang="bg-BG" sz="3400" b="1" dirty="0">
                <a:solidFill>
                  <a:schemeClr val="bg1"/>
                </a:solidFill>
              </a:rPr>
              <a:t>запитване</a:t>
            </a:r>
            <a:r>
              <a:rPr lang="bg-BG" sz="3400" dirty="0"/>
              <a:t> за даден </a:t>
            </a:r>
            <a:r>
              <a:rPr lang="bg-BG" sz="3400" b="1" dirty="0"/>
              <a:t>продукт</a:t>
            </a:r>
            <a:r>
              <a:rPr lang="bg-BG" sz="3400" dirty="0"/>
              <a:t> или </a:t>
            </a:r>
            <a:r>
              <a:rPr lang="bg-BG" sz="3400" b="1" dirty="0"/>
              <a:t>услуга</a:t>
            </a:r>
          </a:p>
          <a:p>
            <a:pPr lvl="1">
              <a:buClr>
                <a:schemeClr val="tx2"/>
              </a:buClr>
            </a:pPr>
            <a:endParaRPr lang="bg-BG" sz="3400" dirty="0"/>
          </a:p>
        </p:txBody>
      </p:sp>
      <p:sp>
        <p:nvSpPr>
          <p:cNvPr id="4" name="Slide Title"/>
          <p:cNvSpPr>
            <a:spLocks noGrp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>
            <a:normAutofit/>
          </a:bodyPr>
          <a:lstStyle/>
          <a:p>
            <a:r>
              <a:rPr lang="bg-BG" sz="4000" dirty="0"/>
              <a:t>Типове уеб страници </a:t>
            </a:r>
            <a:r>
              <a:rPr lang="en-US" sz="4000" dirty="0"/>
              <a:t>(</a:t>
            </a:r>
            <a:r>
              <a:rPr lang="bg-BG" sz="4000" dirty="0"/>
              <a:t>2</a:t>
            </a:r>
            <a:r>
              <a:rPr lang="en-US" sz="4000" dirty="0"/>
              <a:t>)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D1543B5-60D4-640B-8743-04BA0C69B8A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58977" y="1226272"/>
            <a:ext cx="3182023" cy="26550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D1C766C-D11A-50E2-A965-1E61BE9DF6A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06000" y="4164831"/>
            <a:ext cx="2835000" cy="24689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21941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8891F045-A272-4231-985A-53063F832A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22</a:t>
            </a:fld>
            <a:endParaRPr lang="en-US" dirty="0"/>
          </a:p>
        </p:txBody>
      </p:sp>
      <p:sp>
        <p:nvSpPr>
          <p:cNvPr id="7" name="Slide Body Text">
            <a:extLst>
              <a:ext uri="{FF2B5EF4-FFF2-40B4-BE49-F238E27FC236}">
                <a16:creationId xmlns:a16="http://schemas.microsoft.com/office/drawing/2014/main" id="{320B2856-CE5E-4934-BD1C-1D81E68E529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6490598" cy="5528766"/>
          </a:xfrm>
        </p:spPr>
        <p:txBody>
          <a:bodyPr>
            <a:normAutofit/>
          </a:bodyPr>
          <a:lstStyle/>
          <a:p>
            <a:pPr>
              <a:buClr>
                <a:schemeClr val="tx2"/>
              </a:buClr>
            </a:pPr>
            <a:r>
              <a:rPr lang="bg-BG" sz="3600" b="1" dirty="0">
                <a:solidFill>
                  <a:schemeClr val="bg1"/>
                </a:solidFill>
              </a:rPr>
              <a:t>Контактна страница</a:t>
            </a:r>
          </a:p>
          <a:p>
            <a:pPr lvl="1">
              <a:buClr>
                <a:schemeClr val="tx2"/>
              </a:buClr>
            </a:pPr>
            <a:r>
              <a:rPr lang="bg-BG" sz="3200" dirty="0"/>
              <a:t>Включва </a:t>
            </a:r>
            <a:r>
              <a:rPr lang="bg-BG" sz="3200" b="1" dirty="0"/>
              <a:t>контактна форма</a:t>
            </a:r>
            <a:r>
              <a:rPr lang="bg-BG" sz="3200" dirty="0"/>
              <a:t>, </a:t>
            </a:r>
            <a:r>
              <a:rPr lang="bg-BG" sz="3200" b="1" dirty="0"/>
              <a:t>адрес</a:t>
            </a:r>
            <a:r>
              <a:rPr lang="bg-BG" sz="3200" dirty="0"/>
              <a:t>, </a:t>
            </a:r>
            <a:r>
              <a:rPr lang="bg-BG" sz="3200" b="1" dirty="0"/>
              <a:t>имейл</a:t>
            </a:r>
            <a:r>
              <a:rPr lang="bg-BG" sz="3200" dirty="0"/>
              <a:t>, </a:t>
            </a:r>
            <a:r>
              <a:rPr lang="bg-BG" sz="3200" b="1" dirty="0"/>
              <a:t>карта на местоположението</a:t>
            </a:r>
            <a:r>
              <a:rPr lang="bg-BG" sz="3200" dirty="0"/>
              <a:t> и </a:t>
            </a:r>
            <a:r>
              <a:rPr lang="bg-BG" sz="3200" b="1" dirty="0"/>
              <a:t>др</a:t>
            </a:r>
            <a:r>
              <a:rPr lang="bg-BG" sz="3200" dirty="0"/>
              <a:t>.</a:t>
            </a:r>
          </a:p>
          <a:p>
            <a:pPr>
              <a:buClr>
                <a:schemeClr val="tx2"/>
              </a:buClr>
            </a:pPr>
            <a:r>
              <a:rPr lang="bg-BG" sz="3600" b="1" dirty="0">
                <a:solidFill>
                  <a:schemeClr val="bg1"/>
                </a:solidFill>
              </a:rPr>
              <a:t>Страница за новини</a:t>
            </a:r>
          </a:p>
          <a:p>
            <a:pPr lvl="1">
              <a:buClr>
                <a:schemeClr val="tx2"/>
              </a:buClr>
            </a:pPr>
            <a:r>
              <a:rPr lang="bg-BG" sz="3400" dirty="0"/>
              <a:t>Показва </a:t>
            </a:r>
            <a:r>
              <a:rPr lang="bg-BG" sz="3400" b="1" dirty="0"/>
              <a:t>публикации</a:t>
            </a:r>
            <a:r>
              <a:rPr lang="bg-BG" sz="3400" dirty="0"/>
              <a:t>, </a:t>
            </a:r>
            <a:r>
              <a:rPr lang="bg-BG" sz="3400" b="1" dirty="0"/>
              <a:t>статии</a:t>
            </a:r>
            <a:r>
              <a:rPr lang="bg-BG" sz="3400" dirty="0"/>
              <a:t>, </a:t>
            </a:r>
            <a:r>
              <a:rPr lang="bg-BG" sz="3400" b="1" dirty="0"/>
              <a:t>актуални</a:t>
            </a:r>
            <a:r>
              <a:rPr lang="bg-BG" sz="3400" dirty="0"/>
              <a:t> </a:t>
            </a:r>
            <a:r>
              <a:rPr lang="bg-BG" sz="3400" b="1" dirty="0"/>
              <a:t>събития</a:t>
            </a:r>
            <a:r>
              <a:rPr lang="bg-BG" sz="3400" dirty="0"/>
              <a:t> и </a:t>
            </a:r>
            <a:r>
              <a:rPr lang="bg-BG" sz="3400" b="1" dirty="0"/>
              <a:t>др</a:t>
            </a:r>
            <a:r>
              <a:rPr lang="bg-BG" sz="3400" dirty="0"/>
              <a:t>.</a:t>
            </a:r>
          </a:p>
        </p:txBody>
      </p:sp>
      <p:sp>
        <p:nvSpPr>
          <p:cNvPr id="4" name="Slide Title"/>
          <p:cNvSpPr>
            <a:spLocks noGrp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>
            <a:normAutofit/>
          </a:bodyPr>
          <a:lstStyle/>
          <a:p>
            <a:r>
              <a:rPr lang="bg-BG" sz="4000" dirty="0"/>
              <a:t>Типове уеб страници </a:t>
            </a:r>
            <a:r>
              <a:rPr lang="en-US" sz="4000" dirty="0"/>
              <a:t>(</a:t>
            </a:r>
            <a:r>
              <a:rPr lang="bg-BG" sz="4000" dirty="0"/>
              <a:t>3</a:t>
            </a:r>
            <a:r>
              <a:rPr lang="en-US" sz="4000" dirty="0"/>
              <a:t>)</a:t>
            </a:r>
            <a:r>
              <a:rPr lang="bg-BG" sz="4000" dirty="0"/>
              <a:t> </a:t>
            </a:r>
            <a:endParaRPr lang="en-US" sz="40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1024FCA-E3F5-5A70-267E-2A2823F77E0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78915" y="4104000"/>
            <a:ext cx="2313071" cy="22950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4949A27-CCE1-773B-685C-B1BB9E82684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5221" y="1314000"/>
            <a:ext cx="2510770" cy="2295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11388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1787D50-791A-9B25-04A0-FA42E08EF6B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23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D3B3F9F-2425-87CB-C976-349E963C168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091000" y="1121143"/>
            <a:ext cx="9904234" cy="5546589"/>
          </a:xfrm>
        </p:spPr>
        <p:txBody>
          <a:bodyPr/>
          <a:lstStyle/>
          <a:p>
            <a:r>
              <a:rPr lang="bg-BG" sz="3600" b="1" dirty="0"/>
              <a:t>Началната страница </a:t>
            </a:r>
            <a:r>
              <a:rPr lang="bg-BG" sz="3600" b="1" dirty="0">
                <a:solidFill>
                  <a:schemeClr val="bg1"/>
                </a:solidFill>
              </a:rPr>
              <a:t>информира за целта </a:t>
            </a:r>
            <a:r>
              <a:rPr lang="bg-BG" sz="3600" dirty="0"/>
              <a:t>на </a:t>
            </a:r>
            <a:r>
              <a:rPr lang="bg-BG" sz="3600" b="1" dirty="0"/>
              <a:t>уеб сайта</a:t>
            </a:r>
            <a:r>
              <a:rPr lang="bg-BG" sz="3600" dirty="0"/>
              <a:t> и </a:t>
            </a:r>
            <a:r>
              <a:rPr lang="bg-BG" sz="3600" b="1" dirty="0">
                <a:solidFill>
                  <a:schemeClr val="bg1"/>
                </a:solidFill>
              </a:rPr>
              <a:t>приветства потребителя</a:t>
            </a:r>
          </a:p>
          <a:p>
            <a:r>
              <a:rPr lang="bg-BG" sz="3600" b="1" dirty="0"/>
              <a:t>Всички</a:t>
            </a:r>
            <a:r>
              <a:rPr lang="bg-BG" sz="3600" dirty="0"/>
              <a:t> останали </a:t>
            </a:r>
            <a:r>
              <a:rPr lang="bg-BG" sz="3600" b="1" dirty="0"/>
              <a:t>вътрешни страници</a:t>
            </a:r>
            <a:r>
              <a:rPr lang="bg-BG" sz="3600" dirty="0"/>
              <a:t>:</a:t>
            </a:r>
          </a:p>
          <a:p>
            <a:pPr lvl="1"/>
            <a:r>
              <a:rPr lang="bg-BG" sz="3400" b="1" dirty="0"/>
              <a:t>Следват </a:t>
            </a:r>
            <a:r>
              <a:rPr lang="bg-BG" sz="3400" b="1" dirty="0">
                <a:solidFill>
                  <a:schemeClr val="bg1"/>
                </a:solidFill>
              </a:rPr>
              <a:t>стила</a:t>
            </a:r>
            <a:r>
              <a:rPr lang="bg-BG" sz="3400" b="1" dirty="0"/>
              <a:t> </a:t>
            </a:r>
            <a:r>
              <a:rPr lang="bg-BG" sz="3400" dirty="0"/>
              <a:t>и </a:t>
            </a:r>
            <a:r>
              <a:rPr lang="bg-BG" sz="3400" b="1" dirty="0">
                <a:solidFill>
                  <a:schemeClr val="bg1"/>
                </a:solidFill>
              </a:rPr>
              <a:t>логиката</a:t>
            </a:r>
            <a:r>
              <a:rPr lang="bg-BG" sz="3400" dirty="0"/>
              <a:t> на </a:t>
            </a:r>
            <a:r>
              <a:rPr lang="bg-BG" sz="3400" b="1" dirty="0"/>
              <a:t>началната страница</a:t>
            </a:r>
          </a:p>
          <a:p>
            <a:pPr lvl="1"/>
            <a:r>
              <a:rPr lang="bg-BG" sz="3400" b="1" dirty="0"/>
              <a:t>Задържат</a:t>
            </a:r>
            <a:r>
              <a:rPr lang="bg-BG" sz="3400" dirty="0"/>
              <a:t> </a:t>
            </a:r>
            <a:r>
              <a:rPr lang="bg-BG" sz="3400" b="1" dirty="0">
                <a:solidFill>
                  <a:schemeClr val="bg1"/>
                </a:solidFill>
              </a:rPr>
              <a:t>вниманието </a:t>
            </a:r>
            <a:r>
              <a:rPr lang="bg-BG" sz="3400" dirty="0"/>
              <a:t>на</a:t>
            </a:r>
            <a:r>
              <a:rPr lang="bg-BG" sz="3400" b="1" dirty="0">
                <a:solidFill>
                  <a:schemeClr val="bg1"/>
                </a:solidFill>
              </a:rPr>
              <a:t> потребителя</a:t>
            </a:r>
          </a:p>
          <a:p>
            <a:pPr lvl="1"/>
            <a:r>
              <a:rPr lang="bg-BG" sz="3400" b="1" dirty="0"/>
              <a:t>Спазват</a:t>
            </a:r>
            <a:r>
              <a:rPr lang="bg-BG" sz="3400" dirty="0"/>
              <a:t> </a:t>
            </a:r>
            <a:r>
              <a:rPr lang="bg-BG" sz="3400" b="1" dirty="0">
                <a:solidFill>
                  <a:schemeClr val="bg1"/>
                </a:solidFill>
              </a:rPr>
              <a:t>правилата </a:t>
            </a:r>
            <a:r>
              <a:rPr lang="bg-BG" sz="3400" dirty="0"/>
              <a:t>за</a:t>
            </a:r>
            <a:r>
              <a:rPr lang="bg-BG" sz="3400" b="1" dirty="0">
                <a:solidFill>
                  <a:schemeClr val="bg1"/>
                </a:solidFill>
              </a:rPr>
              <a:t> добър дизайн</a:t>
            </a:r>
            <a:endParaRPr lang="en-BG" sz="3400" b="1" dirty="0">
              <a:solidFill>
                <a:schemeClr val="bg1"/>
              </a:solidFill>
            </a:endParaRP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35A1E9B2-42B7-59D4-BBAC-C3B9417B7C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Начална и вътрешни страници</a:t>
            </a:r>
            <a:endParaRPr lang="en-BG" dirty="0"/>
          </a:p>
        </p:txBody>
      </p:sp>
    </p:spTree>
    <p:extLst>
      <p:ext uri="{BB962C8B-B14F-4D97-AF65-F5344CB8AC3E}">
        <p14:creationId xmlns:p14="http://schemas.microsoft.com/office/powerpoint/2010/main" val="19921388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Subtitle">
            <a:extLst>
              <a:ext uri="{FF2B5EF4-FFF2-40B4-BE49-F238E27FC236}">
                <a16:creationId xmlns:a16="http://schemas.microsoft.com/office/drawing/2014/main" id="{BEB5BB41-09D4-4E9F-8C80-EE8709171CB3}"/>
              </a:ext>
            </a:extLst>
          </p:cNvPr>
          <p:cNvSpPr>
            <a:spLocks noGrp="1"/>
          </p:cNvSpPr>
          <p:nvPr>
            <p:ph type="subTitle" sz="quarter" idx="11"/>
          </p:nvPr>
        </p:nvSpPr>
        <p:spPr/>
        <p:txBody>
          <a:bodyPr/>
          <a:lstStyle/>
          <a:p>
            <a:r>
              <a:rPr lang="bg-BG" sz="4000" dirty="0"/>
              <a:t>Схематичен дизайн на уеб страница по избор</a:t>
            </a:r>
          </a:p>
        </p:txBody>
      </p:sp>
      <p:sp>
        <p:nvSpPr>
          <p:cNvPr id="6" name="Slide Title">
            <a:extLst>
              <a:ext uri="{FF2B5EF4-FFF2-40B4-BE49-F238E27FC236}">
                <a16:creationId xmlns:a16="http://schemas.microsoft.com/office/drawing/2014/main" id="{028D9EA3-B5E0-4F17-9467-4BE3C280DA68}"/>
              </a:ext>
            </a:extLst>
          </p:cNvPr>
          <p:cNvSpPr>
            <a:spLocks noGrp="1"/>
          </p:cNvSpPr>
          <p:nvPr>
            <p:ph type="title" sz="quarter" idx="10"/>
          </p:nvPr>
        </p:nvSpPr>
        <p:spPr/>
        <p:txBody>
          <a:bodyPr/>
          <a:lstStyle/>
          <a:p>
            <a:r>
              <a:rPr lang="bg-BG" sz="6000" dirty="0"/>
              <a:t>Пример</a:t>
            </a:r>
            <a:endParaRPr lang="en-US" sz="52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3880B99-AB59-102F-392B-9F2833EE4E1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01041" y="1385091"/>
            <a:ext cx="1789918" cy="25343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08515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8891F045-A272-4231-985A-53063F832A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25</a:t>
            </a:fld>
            <a:endParaRPr lang="en-US" dirty="0"/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0D4D3A2C-88C6-0657-2093-B55CEB7BCFB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7570598" cy="5528766"/>
          </a:xfrm>
        </p:spPr>
        <p:txBody>
          <a:bodyPr>
            <a:normAutofit/>
          </a:bodyPr>
          <a:lstStyle/>
          <a:p>
            <a:r>
              <a:rPr lang="bg-BG" sz="3600" dirty="0"/>
              <a:t>Нека </a:t>
            </a:r>
            <a:r>
              <a:rPr lang="bg-BG" sz="3600" b="1" dirty="0"/>
              <a:t>създадем </a:t>
            </a:r>
            <a:r>
              <a:rPr lang="bg-BG" sz="3600" b="1" dirty="0">
                <a:solidFill>
                  <a:schemeClr val="bg1"/>
                </a:solidFill>
              </a:rPr>
              <a:t>схематичен дизайн</a:t>
            </a:r>
            <a:r>
              <a:rPr lang="bg-BG" sz="3600" dirty="0">
                <a:solidFill>
                  <a:schemeClr val="bg1"/>
                </a:solidFill>
              </a:rPr>
              <a:t> </a:t>
            </a:r>
            <a:r>
              <a:rPr lang="en-US" sz="3600" dirty="0"/>
              <a:t>(</a:t>
            </a:r>
            <a:r>
              <a:rPr lang="en-US" sz="3600" b="1" dirty="0"/>
              <a:t>wireframe</a:t>
            </a:r>
            <a:r>
              <a:rPr lang="en-US" sz="3600" dirty="0"/>
              <a:t>)</a:t>
            </a:r>
            <a:r>
              <a:rPr lang="bg-BG" sz="3600" dirty="0"/>
              <a:t> на </a:t>
            </a:r>
            <a:r>
              <a:rPr lang="bg-BG" sz="3600" b="1" dirty="0"/>
              <a:t>уеб страница</a:t>
            </a:r>
            <a:r>
              <a:rPr lang="bg-BG" sz="3600" dirty="0"/>
              <a:t> </a:t>
            </a:r>
            <a:r>
              <a:rPr lang="bg-BG" sz="3600" b="1" dirty="0"/>
              <a:t>по избор</a:t>
            </a:r>
            <a:endParaRPr lang="en-US" sz="3600" b="1" dirty="0"/>
          </a:p>
          <a:p>
            <a:r>
              <a:rPr lang="bg-BG" sz="3600" dirty="0"/>
              <a:t>За примера ще използваме </a:t>
            </a:r>
            <a:r>
              <a:rPr lang="bg-BG" sz="3600" b="1" dirty="0"/>
              <a:t>уеб сайт </a:t>
            </a:r>
            <a:r>
              <a:rPr lang="bg-BG" sz="3600" dirty="0"/>
              <a:t>за </a:t>
            </a:r>
            <a:r>
              <a:rPr lang="bg-BG" sz="3600" b="1" dirty="0"/>
              <a:t>пътувания сред природата</a:t>
            </a:r>
          </a:p>
          <a:p>
            <a:r>
              <a:rPr lang="bg-BG" sz="3600" b="1" dirty="0"/>
              <a:t>Уеб страницата</a:t>
            </a:r>
            <a:r>
              <a:rPr lang="bg-BG" sz="3600" dirty="0"/>
              <a:t>, която ще представим с </a:t>
            </a:r>
            <a:r>
              <a:rPr lang="en-US" sz="3600" b="1" dirty="0"/>
              <a:t>wireframe</a:t>
            </a:r>
            <a:r>
              <a:rPr lang="bg-BG" sz="3600" dirty="0"/>
              <a:t>, ще е </a:t>
            </a:r>
            <a:r>
              <a:rPr lang="bg-BG" sz="3600" b="1" dirty="0"/>
              <a:t>началната</a:t>
            </a:r>
          </a:p>
        </p:txBody>
      </p:sp>
      <p:sp>
        <p:nvSpPr>
          <p:cNvPr id="3" name="Title 3">
            <a:extLst>
              <a:ext uri="{FF2B5EF4-FFF2-40B4-BE49-F238E27FC236}">
                <a16:creationId xmlns:a16="http://schemas.microsoft.com/office/drawing/2014/main" id="{F6C5A2A5-9D43-35F8-B488-A60AEEC40C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/>
          <a:lstStyle/>
          <a:p>
            <a:r>
              <a:rPr lang="bg-BG" dirty="0"/>
              <a:t>Схематичен дизайн на уеб страница</a:t>
            </a:r>
            <a:endParaRPr lang="en-BG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251AB65-A075-F129-77C3-77FD326B2A8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2259" b="12226"/>
          <a:stretch/>
        </p:blipFill>
        <p:spPr>
          <a:xfrm>
            <a:off x="7210534" y="1476588"/>
            <a:ext cx="4805737" cy="54435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45395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8891F045-A272-4231-985A-53063F832A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26</a:t>
            </a:fld>
            <a:endParaRPr lang="en-US" dirty="0"/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0D4D3A2C-88C6-0657-2093-B55CEB7BCFB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11818096" cy="5528766"/>
          </a:xfrm>
        </p:spPr>
        <p:txBody>
          <a:bodyPr>
            <a:normAutofit/>
          </a:bodyPr>
          <a:lstStyle/>
          <a:p>
            <a:r>
              <a:rPr lang="bg-BG" sz="3600" dirty="0"/>
              <a:t>Влизаме в </a:t>
            </a:r>
            <a:r>
              <a:rPr lang="bg-BG" sz="3600" b="1" dirty="0"/>
              <a:t>сайта</a:t>
            </a:r>
            <a:r>
              <a:rPr lang="bg-BG" sz="3600" dirty="0"/>
              <a:t> </a:t>
            </a:r>
            <a:r>
              <a:rPr lang="en-GB" sz="3600" dirty="0">
                <a:hlinkClick r:id="rId3"/>
              </a:rPr>
              <a:t>excalidraw.com</a:t>
            </a:r>
            <a:endParaRPr lang="en-GB" sz="3600" dirty="0"/>
          </a:p>
          <a:p>
            <a:r>
              <a:rPr lang="bg-BG" sz="3600" dirty="0"/>
              <a:t>Избираме </a:t>
            </a:r>
            <a:r>
              <a:rPr lang="bg-BG" sz="3600" b="1" dirty="0"/>
              <a:t>форма </a:t>
            </a:r>
            <a:r>
              <a:rPr lang="bg-BG" sz="3600" b="1" dirty="0">
                <a:solidFill>
                  <a:schemeClr val="bg1"/>
                </a:solidFill>
              </a:rPr>
              <a:t>правоъгълник</a:t>
            </a:r>
            <a:r>
              <a:rPr lang="en-US" sz="3600" b="1" dirty="0"/>
              <a:t> </a:t>
            </a:r>
            <a:r>
              <a:rPr lang="bg-BG" sz="3600" dirty="0"/>
              <a:t>от </a:t>
            </a:r>
            <a:r>
              <a:rPr lang="bg-BG" sz="3600" b="1" dirty="0"/>
              <a:t>горното меню</a:t>
            </a:r>
          </a:p>
          <a:p>
            <a:r>
              <a:rPr lang="bg-BG" sz="3600" dirty="0"/>
              <a:t>Изтегляме </a:t>
            </a:r>
            <a:r>
              <a:rPr lang="bg-BG" sz="3600" b="1" dirty="0"/>
              <a:t>формата</a:t>
            </a:r>
            <a:r>
              <a:rPr lang="bg-BG" sz="3600" dirty="0"/>
              <a:t> и я поставяме </a:t>
            </a:r>
            <a:r>
              <a:rPr lang="bg-BG" sz="3600" b="1" dirty="0"/>
              <a:t>най-отгоре</a:t>
            </a:r>
          </a:p>
          <a:p>
            <a:r>
              <a:rPr lang="bg-BG" sz="3600" dirty="0"/>
              <a:t>Това е </a:t>
            </a:r>
            <a:r>
              <a:rPr lang="bg-BG" sz="3600" b="1" dirty="0">
                <a:solidFill>
                  <a:schemeClr val="bg1"/>
                </a:solidFill>
              </a:rPr>
              <a:t>хедъра</a:t>
            </a:r>
          </a:p>
        </p:txBody>
      </p:sp>
      <p:sp>
        <p:nvSpPr>
          <p:cNvPr id="3" name="Title 3">
            <a:extLst>
              <a:ext uri="{FF2B5EF4-FFF2-40B4-BE49-F238E27FC236}">
                <a16:creationId xmlns:a16="http://schemas.microsoft.com/office/drawing/2014/main" id="{F6C5A2A5-9D43-35F8-B488-A60AEEC40C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/>
          <a:lstStyle/>
          <a:p>
            <a:r>
              <a:rPr lang="bg-BG" dirty="0"/>
              <a:t>Създаване на </a:t>
            </a:r>
            <a:r>
              <a:rPr lang="en-US" dirty="0"/>
              <a:t>Wireframe</a:t>
            </a:r>
            <a:r>
              <a:rPr lang="bg-BG" dirty="0"/>
              <a:t> (1)</a:t>
            </a:r>
            <a:endParaRPr lang="en-BG" dirty="0"/>
          </a:p>
        </p:txBody>
      </p:sp>
      <p:sp>
        <p:nvSpPr>
          <p:cNvPr id="4" name="Arrow: Right 6">
            <a:extLst>
              <a:ext uri="{FF2B5EF4-FFF2-40B4-BE49-F238E27FC236}">
                <a16:creationId xmlns:a16="http://schemas.microsoft.com/office/drawing/2014/main" id="{15B72F5C-348A-84BE-3D50-1C09F1E8D9B7}"/>
              </a:ext>
            </a:extLst>
          </p:cNvPr>
          <p:cNvSpPr/>
          <p:nvPr/>
        </p:nvSpPr>
        <p:spPr bwMode="auto">
          <a:xfrm>
            <a:off x="3780419" y="4704538"/>
            <a:ext cx="956545" cy="822183"/>
          </a:xfrm>
          <a:prstGeom prst="rightArrow">
            <a:avLst/>
          </a:prstGeom>
          <a:solidFill>
            <a:schemeClr val="dk2">
              <a:alpha val="80000"/>
            </a:schemeClr>
          </a:solidFill>
          <a:ln w="19050">
            <a:solidFill>
              <a:schemeClr val="tx1">
                <a:lumMod val="75000"/>
                <a:alpha val="80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001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2800" b="1" dirty="0">
              <a:solidFill>
                <a:srgbClr val="FFFFFF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812FB6F-FA46-F05B-22C8-1F09ED81B740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7025" b="3626"/>
          <a:stretch/>
        </p:blipFill>
        <p:spPr>
          <a:xfrm>
            <a:off x="433952" y="4826258"/>
            <a:ext cx="3060000" cy="578742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98ECF83-822C-85C6-98C6-08C625FD5EB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992432" y="4446492"/>
            <a:ext cx="6760598" cy="1338275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BD64EB98-6894-3AA1-3874-EAA62651C0C0}"/>
              </a:ext>
            </a:extLst>
          </p:cNvPr>
          <p:cNvSpPr/>
          <p:nvPr/>
        </p:nvSpPr>
        <p:spPr bwMode="auto">
          <a:xfrm>
            <a:off x="4839224" y="5049000"/>
            <a:ext cx="6975514" cy="822183"/>
          </a:xfrm>
          <a:prstGeom prst="rect">
            <a:avLst/>
          </a:prstGeom>
          <a:noFill/>
          <a:ln w="57150">
            <a:solidFill>
              <a:schemeClr val="accent3">
                <a:lumMod val="75000"/>
                <a:alpha val="80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001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800" b="1" dirty="0">
              <a:solidFill>
                <a:srgbClr val="FFFFFF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0529305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8891F045-A272-4231-985A-53063F832A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27</a:t>
            </a:fld>
            <a:endParaRPr lang="en-US" dirty="0"/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0D4D3A2C-88C6-0657-2093-B55CEB7BCFB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11818096" cy="5528766"/>
          </a:xfrm>
        </p:spPr>
        <p:txBody>
          <a:bodyPr>
            <a:normAutofit/>
          </a:bodyPr>
          <a:lstStyle/>
          <a:p>
            <a:r>
              <a:rPr lang="bg-BG" sz="3600" dirty="0"/>
              <a:t>Поставяме </a:t>
            </a:r>
            <a:r>
              <a:rPr lang="bg-BG" sz="3600" b="1" dirty="0">
                <a:solidFill>
                  <a:schemeClr val="bg1"/>
                </a:solidFill>
              </a:rPr>
              <a:t>по-голям правоъгълник </a:t>
            </a:r>
            <a:r>
              <a:rPr lang="bg-BG" sz="3600" b="1" dirty="0"/>
              <a:t>под хедъра</a:t>
            </a:r>
          </a:p>
          <a:p>
            <a:r>
              <a:rPr lang="bg-BG" sz="3600" dirty="0"/>
              <a:t>Това е </a:t>
            </a:r>
            <a:r>
              <a:rPr lang="en-US" sz="3600" b="1" dirty="0">
                <a:solidFill>
                  <a:schemeClr val="bg1"/>
                </a:solidFill>
              </a:rPr>
              <a:t>hero </a:t>
            </a:r>
            <a:r>
              <a:rPr lang="bg-BG" sz="3600" b="1" dirty="0">
                <a:solidFill>
                  <a:schemeClr val="bg1"/>
                </a:solidFill>
              </a:rPr>
              <a:t>секцията</a:t>
            </a:r>
          </a:p>
        </p:txBody>
      </p:sp>
      <p:sp>
        <p:nvSpPr>
          <p:cNvPr id="3" name="Title 3">
            <a:extLst>
              <a:ext uri="{FF2B5EF4-FFF2-40B4-BE49-F238E27FC236}">
                <a16:creationId xmlns:a16="http://schemas.microsoft.com/office/drawing/2014/main" id="{F6C5A2A5-9D43-35F8-B488-A60AEEC40C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/>
          <a:lstStyle/>
          <a:p>
            <a:r>
              <a:rPr lang="bg-BG" dirty="0"/>
              <a:t>Създаване на </a:t>
            </a:r>
            <a:r>
              <a:rPr lang="en-US" dirty="0"/>
              <a:t>Wireframe</a:t>
            </a:r>
            <a:r>
              <a:rPr lang="bg-BG" dirty="0"/>
              <a:t> (2)</a:t>
            </a:r>
            <a:endParaRPr lang="en-BG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21CF231-3972-CF3A-E3E2-DAEEFB45580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213853" y="3204000"/>
            <a:ext cx="7764292" cy="2729427"/>
          </a:xfrm>
          <a:prstGeom prst="rect">
            <a:avLst/>
          </a:prstGeom>
          <a:ln>
            <a:noFill/>
          </a:ln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58EFFA6B-E941-CD02-0160-B57EC237EBD8}"/>
              </a:ext>
            </a:extLst>
          </p:cNvPr>
          <p:cNvSpPr/>
          <p:nvPr/>
        </p:nvSpPr>
        <p:spPr bwMode="auto">
          <a:xfrm>
            <a:off x="2124440" y="3960508"/>
            <a:ext cx="7943118" cy="1935000"/>
          </a:xfrm>
          <a:prstGeom prst="rect">
            <a:avLst/>
          </a:prstGeom>
          <a:noFill/>
          <a:ln w="57150">
            <a:solidFill>
              <a:schemeClr val="accent3">
                <a:lumMod val="75000"/>
                <a:alpha val="80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001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800" b="1" dirty="0">
              <a:solidFill>
                <a:srgbClr val="FFFFFF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6266186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8891F045-A272-4231-985A-53063F832A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28</a:t>
            </a:fld>
            <a:endParaRPr lang="en-US" dirty="0"/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0D4D3A2C-88C6-0657-2093-B55CEB7BCFB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11818096" cy="5528766"/>
          </a:xfrm>
        </p:spPr>
        <p:txBody>
          <a:bodyPr>
            <a:normAutofit/>
          </a:bodyPr>
          <a:lstStyle/>
          <a:p>
            <a:r>
              <a:rPr lang="bg-BG" sz="3600" dirty="0"/>
              <a:t>Поставяме </a:t>
            </a:r>
            <a:r>
              <a:rPr lang="bg-BG" sz="3600" b="1" dirty="0">
                <a:solidFill>
                  <a:schemeClr val="bg1"/>
                </a:solidFill>
              </a:rPr>
              <a:t>по-голям правоъгълник </a:t>
            </a:r>
            <a:r>
              <a:rPr lang="bg-BG" sz="3600" b="1" dirty="0"/>
              <a:t>под </a:t>
            </a:r>
            <a:r>
              <a:rPr lang="en-US" sz="3600" b="1" dirty="0"/>
              <a:t>hero </a:t>
            </a:r>
            <a:r>
              <a:rPr lang="bg-BG" sz="3600" b="1" dirty="0"/>
              <a:t>секцията</a:t>
            </a:r>
          </a:p>
          <a:p>
            <a:r>
              <a:rPr lang="bg-BG" sz="3600" dirty="0"/>
              <a:t>Това е </a:t>
            </a:r>
            <a:r>
              <a:rPr lang="bg-BG" sz="3600" b="1" dirty="0"/>
              <a:t>мястото</a:t>
            </a:r>
            <a:r>
              <a:rPr lang="bg-BG" sz="3600" dirty="0"/>
              <a:t> за </a:t>
            </a:r>
            <a:r>
              <a:rPr lang="bg-BG" sz="3600" b="1" dirty="0">
                <a:solidFill>
                  <a:schemeClr val="bg1"/>
                </a:solidFill>
              </a:rPr>
              <a:t>основното съдържание</a:t>
            </a:r>
          </a:p>
        </p:txBody>
      </p:sp>
      <p:sp>
        <p:nvSpPr>
          <p:cNvPr id="3" name="Title 3">
            <a:extLst>
              <a:ext uri="{FF2B5EF4-FFF2-40B4-BE49-F238E27FC236}">
                <a16:creationId xmlns:a16="http://schemas.microsoft.com/office/drawing/2014/main" id="{F6C5A2A5-9D43-35F8-B488-A60AEEC40C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/>
          <a:lstStyle/>
          <a:p>
            <a:r>
              <a:rPr lang="bg-BG" dirty="0"/>
              <a:t>Създаване на </a:t>
            </a:r>
            <a:r>
              <a:rPr lang="en-US" dirty="0"/>
              <a:t>Wireframe</a:t>
            </a:r>
            <a:r>
              <a:rPr lang="bg-BG" dirty="0"/>
              <a:t> (3)</a:t>
            </a:r>
            <a:endParaRPr lang="en-BG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C86086E-6D5C-AA00-65D1-23A6248C93C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700131" y="2746881"/>
            <a:ext cx="4791737" cy="3908619"/>
          </a:xfrm>
          <a:prstGeom prst="rect">
            <a:avLst/>
          </a:prstGeom>
          <a:ln>
            <a:noFill/>
          </a:ln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56416E0B-98B3-4725-4FD5-FEF5C1A6C3A3}"/>
              </a:ext>
            </a:extLst>
          </p:cNvPr>
          <p:cNvSpPr/>
          <p:nvPr/>
        </p:nvSpPr>
        <p:spPr bwMode="auto">
          <a:xfrm>
            <a:off x="3621000" y="4373999"/>
            <a:ext cx="4950000" cy="2350891"/>
          </a:xfrm>
          <a:prstGeom prst="rect">
            <a:avLst/>
          </a:prstGeom>
          <a:noFill/>
          <a:ln w="57150">
            <a:solidFill>
              <a:schemeClr val="accent3">
                <a:lumMod val="75000"/>
                <a:alpha val="80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001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800" b="1" dirty="0">
              <a:solidFill>
                <a:srgbClr val="FFFFFF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5262193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8891F045-A272-4231-985A-53063F832A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29</a:t>
            </a:fld>
            <a:endParaRPr lang="en-US" dirty="0"/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0D4D3A2C-88C6-0657-2093-B55CEB7BCFB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11818096" cy="5528766"/>
          </a:xfrm>
        </p:spPr>
        <p:txBody>
          <a:bodyPr>
            <a:normAutofit/>
          </a:bodyPr>
          <a:lstStyle/>
          <a:p>
            <a:r>
              <a:rPr lang="bg-BG" sz="3600" dirty="0"/>
              <a:t>Поставяме </a:t>
            </a:r>
            <a:r>
              <a:rPr lang="bg-BG" sz="3600" b="1" dirty="0">
                <a:solidFill>
                  <a:schemeClr val="bg1"/>
                </a:solidFill>
              </a:rPr>
              <a:t>по-малък правоъгълник </a:t>
            </a:r>
            <a:r>
              <a:rPr lang="bg-BG" sz="3600" b="1" dirty="0"/>
              <a:t>в най-долната част</a:t>
            </a:r>
          </a:p>
          <a:p>
            <a:r>
              <a:rPr lang="bg-BG" sz="3600" dirty="0"/>
              <a:t>Това е </a:t>
            </a:r>
            <a:r>
              <a:rPr lang="bg-BG" sz="3600" b="1" dirty="0">
                <a:solidFill>
                  <a:schemeClr val="bg1"/>
                </a:solidFill>
              </a:rPr>
              <a:t>футъра</a:t>
            </a:r>
          </a:p>
        </p:txBody>
      </p:sp>
      <p:sp>
        <p:nvSpPr>
          <p:cNvPr id="3" name="Title 3">
            <a:extLst>
              <a:ext uri="{FF2B5EF4-FFF2-40B4-BE49-F238E27FC236}">
                <a16:creationId xmlns:a16="http://schemas.microsoft.com/office/drawing/2014/main" id="{F6C5A2A5-9D43-35F8-B488-A60AEEC40C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/>
          <a:lstStyle/>
          <a:p>
            <a:r>
              <a:rPr lang="bg-BG" dirty="0"/>
              <a:t>Създаване на </a:t>
            </a:r>
            <a:r>
              <a:rPr lang="en-US" dirty="0"/>
              <a:t>Wireframe</a:t>
            </a:r>
            <a:r>
              <a:rPr lang="bg-BG" dirty="0"/>
              <a:t> (4)</a:t>
            </a:r>
            <a:endParaRPr lang="en-BG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4AD1E3F-8173-6073-412E-85A355CF2B7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736192" y="2399717"/>
            <a:ext cx="4719616" cy="4316918"/>
          </a:xfrm>
          <a:prstGeom prst="rect">
            <a:avLst/>
          </a:prstGeom>
          <a:ln>
            <a:noFill/>
          </a:ln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35BC9559-AF35-FD73-06CC-B7D5538B3A82}"/>
              </a:ext>
            </a:extLst>
          </p:cNvPr>
          <p:cNvSpPr/>
          <p:nvPr/>
        </p:nvSpPr>
        <p:spPr bwMode="auto">
          <a:xfrm>
            <a:off x="3621000" y="6174000"/>
            <a:ext cx="4950000" cy="550890"/>
          </a:xfrm>
          <a:prstGeom prst="rect">
            <a:avLst/>
          </a:prstGeom>
          <a:noFill/>
          <a:ln w="57150">
            <a:solidFill>
              <a:schemeClr val="accent3">
                <a:lumMod val="75000"/>
                <a:alpha val="80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001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800" b="1" dirty="0">
              <a:solidFill>
                <a:srgbClr val="FFFFFF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522990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8891F045-A272-4231-985A-53063F832A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30</a:t>
            </a:fld>
            <a:endParaRPr lang="en-US" dirty="0"/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0D4D3A2C-88C6-0657-2093-B55CEB7BCFB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11818096" cy="5528766"/>
          </a:xfrm>
        </p:spPr>
        <p:txBody>
          <a:bodyPr>
            <a:normAutofit/>
          </a:bodyPr>
          <a:lstStyle/>
          <a:p>
            <a:r>
              <a:rPr lang="bg-BG" sz="3000" dirty="0"/>
              <a:t>Чертаем </a:t>
            </a:r>
            <a:r>
              <a:rPr lang="bg-BG" sz="3000" b="1" dirty="0"/>
              <a:t>малък правоъгълник</a:t>
            </a:r>
            <a:endParaRPr lang="en-US" sz="3000" b="1" dirty="0"/>
          </a:p>
          <a:p>
            <a:r>
              <a:rPr lang="bg-BG" sz="3000" dirty="0"/>
              <a:t>Избираме </a:t>
            </a:r>
            <a:r>
              <a:rPr lang="bg-BG" sz="3000" b="1" dirty="0"/>
              <a:t>инструмента </a:t>
            </a:r>
            <a:r>
              <a:rPr lang="bg-BG" sz="3000" dirty="0"/>
              <a:t>за </a:t>
            </a:r>
            <a:r>
              <a:rPr lang="bg-BG" sz="3000" b="1" dirty="0">
                <a:solidFill>
                  <a:schemeClr val="bg1"/>
                </a:solidFill>
              </a:rPr>
              <a:t>линии</a:t>
            </a:r>
          </a:p>
          <a:p>
            <a:endParaRPr lang="bg-BG" sz="3000" b="1" dirty="0">
              <a:solidFill>
                <a:schemeClr val="bg1"/>
              </a:solidFill>
            </a:endParaRPr>
          </a:p>
          <a:p>
            <a:r>
              <a:rPr lang="bg-BG" sz="3000" dirty="0"/>
              <a:t>Чертаем</a:t>
            </a:r>
            <a:r>
              <a:rPr lang="en-US" sz="3000" b="1" dirty="0"/>
              <a:t> </a:t>
            </a:r>
            <a:r>
              <a:rPr lang="bg-BG" sz="3000" b="1" dirty="0"/>
              <a:t>две кръстосани линии</a:t>
            </a:r>
            <a:r>
              <a:rPr lang="bg-BG" sz="3000" dirty="0"/>
              <a:t> в </a:t>
            </a:r>
            <a:r>
              <a:rPr lang="bg-BG" sz="3000" b="1" dirty="0"/>
              <a:t>правоъгълника</a:t>
            </a:r>
          </a:p>
          <a:p>
            <a:endParaRPr lang="bg-BG" sz="3000" b="1" dirty="0"/>
          </a:p>
          <a:p>
            <a:r>
              <a:rPr lang="bg-BG" sz="3000" dirty="0"/>
              <a:t>Поставяме формата в </a:t>
            </a:r>
            <a:r>
              <a:rPr lang="bg-BG" sz="3000" b="1" dirty="0"/>
              <a:t>хедъра</a:t>
            </a:r>
            <a:r>
              <a:rPr lang="bg-BG" sz="3000" dirty="0"/>
              <a:t> </a:t>
            </a:r>
            <a:r>
              <a:rPr lang="bg-BG" sz="3000" b="1" dirty="0"/>
              <a:t>отляво</a:t>
            </a:r>
          </a:p>
          <a:p>
            <a:r>
              <a:rPr lang="bg-BG" sz="3000" dirty="0">
                <a:latin typeface="Calibri" panose="020F0502020204030204" pitchFamily="34" charset="0"/>
                <a:cs typeface="Calibri" panose="020F0502020204030204" pitchFamily="34" charset="0"/>
              </a:rPr>
              <a:t>Това е </a:t>
            </a:r>
            <a:r>
              <a:rPr lang="en-US" sz="3000" b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placeholder</a:t>
            </a:r>
            <a:r>
              <a:rPr lang="en-US" sz="30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bg-BG" sz="3000" dirty="0">
                <a:latin typeface="Calibri" panose="020F0502020204030204" pitchFamily="34" charset="0"/>
                <a:cs typeface="Calibri" panose="020F0502020204030204" pitchFamily="34" charset="0"/>
              </a:rPr>
              <a:t>за </a:t>
            </a:r>
            <a:r>
              <a:rPr lang="bg-BG" sz="3000" b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изображение</a:t>
            </a:r>
            <a:r>
              <a:rPr lang="bg-BG" sz="3000" dirty="0">
                <a:latin typeface="Calibri" panose="020F0502020204030204" pitchFamily="34" charset="0"/>
                <a:cs typeface="Calibri" panose="020F0502020204030204" pitchFamily="34" charset="0"/>
              </a:rPr>
              <a:t> на </a:t>
            </a:r>
            <a:r>
              <a:rPr lang="bg-BG" sz="3000" b="1" dirty="0">
                <a:latin typeface="Calibri" panose="020F0502020204030204" pitchFamily="34" charset="0"/>
                <a:cs typeface="Calibri" panose="020F0502020204030204" pitchFamily="34" charset="0"/>
              </a:rPr>
              <a:t>логото</a:t>
            </a:r>
          </a:p>
          <a:p>
            <a:pPr marL="0" indent="0">
              <a:buNone/>
            </a:pPr>
            <a:endParaRPr lang="bg-BG" sz="3600" dirty="0"/>
          </a:p>
        </p:txBody>
      </p:sp>
      <p:sp>
        <p:nvSpPr>
          <p:cNvPr id="3" name="Title 3">
            <a:extLst>
              <a:ext uri="{FF2B5EF4-FFF2-40B4-BE49-F238E27FC236}">
                <a16:creationId xmlns:a16="http://schemas.microsoft.com/office/drawing/2014/main" id="{F6C5A2A5-9D43-35F8-B488-A60AEEC40C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/>
          <a:lstStyle/>
          <a:p>
            <a:r>
              <a:rPr lang="bg-BG" dirty="0"/>
              <a:t>Хедър (1</a:t>
            </a:r>
            <a:r>
              <a:rPr lang="en-US" dirty="0"/>
              <a:t>)</a:t>
            </a:r>
            <a:endParaRPr lang="en-BG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7A9BD49-046F-2415-3C85-F40FF5B63F1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546902" y="5668715"/>
            <a:ext cx="9098196" cy="900503"/>
          </a:xfrm>
          <a:prstGeom prst="rect">
            <a:avLst/>
          </a:prstGeom>
          <a:ln>
            <a:noFill/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4D3D57D-4BD3-23F1-E5DA-8F922DEB3C4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6000" y="2394000"/>
            <a:ext cx="2475000" cy="720570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551F578-BE23-F64E-71F4-B9C048F0A72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6000" y="3564000"/>
            <a:ext cx="1903448" cy="9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79498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8891F045-A272-4231-985A-53063F832A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31</a:t>
            </a:fld>
            <a:endParaRPr lang="en-US" dirty="0"/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0D4D3A2C-88C6-0657-2093-B55CEB7BCFB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11818096" cy="5528766"/>
          </a:xfrm>
        </p:spPr>
        <p:txBody>
          <a:bodyPr>
            <a:normAutofit/>
          </a:bodyPr>
          <a:lstStyle/>
          <a:p>
            <a:r>
              <a:rPr lang="bg-BG" sz="3600" dirty="0"/>
              <a:t>Избираме </a:t>
            </a:r>
            <a:r>
              <a:rPr lang="bg-BG" sz="3600" b="1" dirty="0"/>
              <a:t>инструмента </a:t>
            </a:r>
            <a:r>
              <a:rPr lang="bg-BG" sz="3600" dirty="0"/>
              <a:t>за </a:t>
            </a:r>
            <a:r>
              <a:rPr lang="bg-BG" sz="3600" b="1" dirty="0">
                <a:solidFill>
                  <a:schemeClr val="bg1"/>
                </a:solidFill>
              </a:rPr>
              <a:t>текст</a:t>
            </a:r>
          </a:p>
          <a:p>
            <a:r>
              <a:rPr lang="bg-BG" sz="3600" dirty="0"/>
              <a:t>Пишем в </a:t>
            </a:r>
            <a:r>
              <a:rPr lang="bg-BG" sz="3600" b="1" dirty="0"/>
              <a:t>хедъра</a:t>
            </a:r>
            <a:r>
              <a:rPr lang="bg-BG" sz="3600" dirty="0"/>
              <a:t> </a:t>
            </a:r>
            <a:r>
              <a:rPr lang="bg-BG" sz="3600" b="1" dirty="0"/>
              <a:t>отдясно</a:t>
            </a:r>
            <a:r>
              <a:rPr lang="bg-BG" sz="3600" dirty="0"/>
              <a:t> </a:t>
            </a:r>
            <a:r>
              <a:rPr lang="bg-BG" sz="3600" b="1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Меню</a:t>
            </a:r>
            <a:endParaRPr lang="en-US" sz="3600" b="1" dirty="0">
              <a:solidFill>
                <a:schemeClr val="bg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US" sz="3600" b="1" dirty="0">
              <a:solidFill>
                <a:schemeClr val="bg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US" sz="3600" b="1" dirty="0">
              <a:solidFill>
                <a:schemeClr val="bg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bg-BG" sz="3600" b="1" dirty="0">
              <a:solidFill>
                <a:schemeClr val="bg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>
              <a:buNone/>
            </a:pPr>
            <a:endParaRPr lang="bg-BG" sz="3600" dirty="0"/>
          </a:p>
        </p:txBody>
      </p:sp>
      <p:sp>
        <p:nvSpPr>
          <p:cNvPr id="3" name="Title 3">
            <a:extLst>
              <a:ext uri="{FF2B5EF4-FFF2-40B4-BE49-F238E27FC236}">
                <a16:creationId xmlns:a16="http://schemas.microsoft.com/office/drawing/2014/main" id="{F6C5A2A5-9D43-35F8-B488-A60AEEC40C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/>
          <a:lstStyle/>
          <a:p>
            <a:r>
              <a:rPr lang="bg-BG" dirty="0"/>
              <a:t>Хедър (2</a:t>
            </a:r>
            <a:r>
              <a:rPr lang="en-US" dirty="0"/>
              <a:t>)</a:t>
            </a:r>
            <a:endParaRPr lang="en-BG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6DB30AF-F502-AF4A-1706-C8B14D5C637C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7417" t="-529"/>
          <a:stretch/>
        </p:blipFill>
        <p:spPr>
          <a:xfrm>
            <a:off x="438756" y="3030088"/>
            <a:ext cx="2770036" cy="570901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7A9BD49-046F-2415-3C85-F40FF5B63F1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071810" y="2939489"/>
            <a:ext cx="6702797" cy="677539"/>
          </a:xfrm>
          <a:prstGeom prst="rect">
            <a:avLst/>
          </a:prstGeom>
          <a:ln>
            <a:noFill/>
          </a:ln>
        </p:spPr>
      </p:pic>
      <p:sp>
        <p:nvSpPr>
          <p:cNvPr id="8" name="Arrow: Right 6">
            <a:extLst>
              <a:ext uri="{FF2B5EF4-FFF2-40B4-BE49-F238E27FC236}">
                <a16:creationId xmlns:a16="http://schemas.microsoft.com/office/drawing/2014/main" id="{4FBFFA4D-A0EC-6A8E-E497-ED4EAF4C3BF8}"/>
              </a:ext>
            </a:extLst>
          </p:cNvPr>
          <p:cNvSpPr/>
          <p:nvPr/>
        </p:nvSpPr>
        <p:spPr bwMode="auto">
          <a:xfrm>
            <a:off x="3531638" y="2867168"/>
            <a:ext cx="1306281" cy="822183"/>
          </a:xfrm>
          <a:prstGeom prst="rightArrow">
            <a:avLst/>
          </a:prstGeom>
          <a:solidFill>
            <a:schemeClr val="dk2">
              <a:alpha val="80000"/>
            </a:schemeClr>
          </a:solidFill>
          <a:ln w="19050">
            <a:solidFill>
              <a:schemeClr val="tx1">
                <a:lumMod val="75000"/>
                <a:alpha val="80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001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2800" b="1" dirty="0">
              <a:solidFill>
                <a:srgbClr val="FFFFFF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6767055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8891F045-A272-4231-985A-53063F832A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32</a:t>
            </a:fld>
            <a:endParaRPr lang="en-US" dirty="0"/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0D4D3A2C-88C6-0657-2093-B55CEB7BCFB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11818096" cy="5528766"/>
          </a:xfrm>
        </p:spPr>
        <p:txBody>
          <a:bodyPr>
            <a:normAutofit/>
          </a:bodyPr>
          <a:lstStyle/>
          <a:p>
            <a:r>
              <a:rPr lang="bg-BG" sz="3600" dirty="0"/>
              <a:t>Създаваме </a:t>
            </a:r>
            <a:r>
              <a:rPr lang="en-US" sz="3600" b="1" dirty="0"/>
              <a:t>placeholder</a:t>
            </a:r>
            <a:r>
              <a:rPr lang="en-US" sz="3600" dirty="0"/>
              <a:t> за</a:t>
            </a:r>
            <a:r>
              <a:rPr lang="bg-BG" sz="3600" dirty="0"/>
              <a:t> </a:t>
            </a:r>
            <a:r>
              <a:rPr lang="bg-BG" sz="3600" b="1" dirty="0">
                <a:solidFill>
                  <a:schemeClr val="bg1"/>
                </a:solidFill>
              </a:rPr>
              <a:t>изображение</a:t>
            </a:r>
          </a:p>
          <a:p>
            <a:r>
              <a:rPr lang="bg-BG" sz="3600" dirty="0"/>
              <a:t>Пишем в </a:t>
            </a:r>
            <a:r>
              <a:rPr lang="bg-BG" sz="3600" b="1" dirty="0"/>
              <a:t>под изображението </a:t>
            </a:r>
            <a:r>
              <a:rPr lang="bg-BG" sz="3600" dirty="0"/>
              <a:t>в </a:t>
            </a:r>
            <a:r>
              <a:rPr lang="en-US" sz="3600" b="1" dirty="0"/>
              <a:t>hero </a:t>
            </a:r>
            <a:r>
              <a:rPr lang="bg-BG" sz="3600" b="1" dirty="0"/>
              <a:t>секцията </a:t>
            </a:r>
            <a:r>
              <a:rPr lang="bg-BG" sz="3600" b="1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Бутон</a:t>
            </a:r>
          </a:p>
          <a:p>
            <a:endParaRPr lang="bg-BG" sz="3600" b="1" dirty="0">
              <a:solidFill>
                <a:schemeClr val="bg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>
              <a:buNone/>
            </a:pPr>
            <a:endParaRPr lang="bg-BG" sz="3600" dirty="0"/>
          </a:p>
        </p:txBody>
      </p:sp>
      <p:sp>
        <p:nvSpPr>
          <p:cNvPr id="3" name="Title 3">
            <a:extLst>
              <a:ext uri="{FF2B5EF4-FFF2-40B4-BE49-F238E27FC236}">
                <a16:creationId xmlns:a16="http://schemas.microsoft.com/office/drawing/2014/main" id="{F6C5A2A5-9D43-35F8-B488-A60AEEC40C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/>
          <a:lstStyle/>
          <a:p>
            <a:r>
              <a:rPr lang="en-US" dirty="0"/>
              <a:t>Hero </a:t>
            </a:r>
            <a:r>
              <a:rPr lang="bg-BG" dirty="0"/>
              <a:t>секция</a:t>
            </a:r>
            <a:endParaRPr lang="en-BG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251B3E1-C3D1-89CD-F0F4-789682E0809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308829" y="3186875"/>
            <a:ext cx="9574341" cy="2475000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882254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8891F045-A272-4231-985A-53063F832A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33</a:t>
            </a:fld>
            <a:endParaRPr lang="en-US" dirty="0"/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0D4D3A2C-88C6-0657-2093-B55CEB7BCFB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11818096" cy="5528766"/>
          </a:xfrm>
        </p:spPr>
        <p:txBody>
          <a:bodyPr>
            <a:normAutofit/>
          </a:bodyPr>
          <a:lstStyle/>
          <a:p>
            <a:r>
              <a:rPr lang="bg-BG" sz="3200" dirty="0"/>
              <a:t>Създаваме </a:t>
            </a:r>
            <a:r>
              <a:rPr lang="bg-BG" sz="3200" b="1" dirty="0"/>
              <a:t>маршрутите</a:t>
            </a:r>
            <a:r>
              <a:rPr lang="bg-BG" sz="3200" dirty="0"/>
              <a:t> под </a:t>
            </a:r>
            <a:r>
              <a:rPr lang="bg-BG" sz="3200" b="1" dirty="0"/>
              <a:t>формата</a:t>
            </a:r>
            <a:r>
              <a:rPr lang="bg-BG" sz="3200" dirty="0"/>
              <a:t> на </a:t>
            </a:r>
            <a:r>
              <a:rPr lang="bg-BG" sz="3200" b="1" dirty="0">
                <a:solidFill>
                  <a:schemeClr val="bg1"/>
                </a:solidFill>
              </a:rPr>
              <a:t>картички</a:t>
            </a:r>
          </a:p>
          <a:p>
            <a:r>
              <a:rPr lang="bg-BG" sz="3200" dirty="0"/>
              <a:t>За </a:t>
            </a:r>
            <a:r>
              <a:rPr lang="bg-BG" sz="3200" b="1" dirty="0"/>
              <a:t>всеки маршрут </a:t>
            </a:r>
            <a:r>
              <a:rPr lang="bg-BG" sz="3200" dirty="0"/>
              <a:t>чертаем </a:t>
            </a:r>
            <a:r>
              <a:rPr lang="bg-BG" sz="3200" b="1" dirty="0"/>
              <a:t>правоъгълник</a:t>
            </a:r>
            <a:r>
              <a:rPr lang="bg-BG" sz="3200" dirty="0"/>
              <a:t> с </a:t>
            </a:r>
            <a:r>
              <a:rPr lang="en-US" sz="3200" b="1" dirty="0"/>
              <a:t>placeholder</a:t>
            </a:r>
            <a:r>
              <a:rPr lang="en-US" sz="3200" dirty="0"/>
              <a:t> </a:t>
            </a:r>
            <a:r>
              <a:rPr lang="bg-BG" sz="3200" dirty="0"/>
              <a:t>за </a:t>
            </a:r>
            <a:r>
              <a:rPr lang="bg-BG" sz="3200" b="1" dirty="0">
                <a:solidFill>
                  <a:schemeClr val="bg1"/>
                </a:solidFill>
              </a:rPr>
              <a:t>изображение</a:t>
            </a:r>
            <a:r>
              <a:rPr lang="bg-BG" sz="3200" dirty="0"/>
              <a:t> и </a:t>
            </a:r>
            <a:r>
              <a:rPr lang="bg-BG" sz="3200" b="1" dirty="0">
                <a:solidFill>
                  <a:schemeClr val="bg1"/>
                </a:solidFill>
              </a:rPr>
              <a:t>текст</a:t>
            </a:r>
            <a:r>
              <a:rPr lang="bg-BG" sz="3200" dirty="0"/>
              <a:t> на съответния </a:t>
            </a:r>
            <a:r>
              <a:rPr lang="bg-BG" sz="3200" b="1" dirty="0"/>
              <a:t>маршрут</a:t>
            </a:r>
            <a:r>
              <a:rPr lang="bg-BG" sz="3200" dirty="0"/>
              <a:t> </a:t>
            </a:r>
            <a:r>
              <a:rPr lang="en-US" sz="3200" dirty="0"/>
              <a:t>–</a:t>
            </a:r>
            <a:r>
              <a:rPr lang="bg-BG" sz="3200" dirty="0"/>
              <a:t> </a:t>
            </a:r>
            <a:r>
              <a:rPr lang="bg-BG" sz="3200" b="1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Маршрут</a:t>
            </a:r>
            <a:r>
              <a:rPr lang="bg-BG" sz="3200" b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bg-BG" sz="3200" b="1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</a:t>
            </a:r>
            <a:r>
              <a:rPr lang="bg-BG" sz="3200" dirty="0"/>
              <a:t>, </a:t>
            </a:r>
            <a:r>
              <a:rPr lang="bg-BG" sz="3200" b="1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Маршрут</a:t>
            </a:r>
            <a:r>
              <a:rPr lang="bg-BG" sz="3200" b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bg-BG" sz="3200" b="1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2</a:t>
            </a:r>
            <a:r>
              <a:rPr lang="bg-BG" sz="3200" dirty="0"/>
              <a:t>, </a:t>
            </a:r>
            <a:r>
              <a:rPr lang="bg-BG" sz="3200" b="1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Маршрут</a:t>
            </a:r>
            <a:r>
              <a:rPr lang="bg-BG" sz="3200" b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bg-BG" sz="3200" b="1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3</a:t>
            </a:r>
            <a:endParaRPr lang="en-US" sz="3200" b="1" dirty="0">
              <a:solidFill>
                <a:schemeClr val="bg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US" sz="3600" b="1" dirty="0">
              <a:solidFill>
                <a:schemeClr val="bg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US" sz="3600" b="1" dirty="0">
              <a:solidFill>
                <a:schemeClr val="bg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US" sz="3600" b="1" dirty="0">
              <a:solidFill>
                <a:schemeClr val="bg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bg-BG" sz="3600" b="1" dirty="0">
              <a:solidFill>
                <a:schemeClr val="bg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>
              <a:buNone/>
            </a:pPr>
            <a:endParaRPr lang="bg-BG" sz="3600" dirty="0"/>
          </a:p>
        </p:txBody>
      </p:sp>
      <p:sp>
        <p:nvSpPr>
          <p:cNvPr id="3" name="Title 3">
            <a:extLst>
              <a:ext uri="{FF2B5EF4-FFF2-40B4-BE49-F238E27FC236}">
                <a16:creationId xmlns:a16="http://schemas.microsoft.com/office/drawing/2014/main" id="{F6C5A2A5-9D43-35F8-B488-A60AEEC40C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/>
          <a:lstStyle/>
          <a:p>
            <a:r>
              <a:rPr lang="bg-BG" dirty="0"/>
              <a:t>Основно съдържание</a:t>
            </a:r>
            <a:endParaRPr lang="en-BG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CF1B181-9672-1883-A71F-FBCD09AEFD9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9691" y="3545055"/>
            <a:ext cx="6724050" cy="31104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42610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8891F045-A272-4231-985A-53063F832A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34</a:t>
            </a:fld>
            <a:endParaRPr lang="en-US" dirty="0"/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0D4D3A2C-88C6-0657-2093-B55CEB7BCFB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11818096" cy="5528766"/>
          </a:xfrm>
        </p:spPr>
        <p:txBody>
          <a:bodyPr>
            <a:normAutofit/>
          </a:bodyPr>
          <a:lstStyle/>
          <a:p>
            <a:r>
              <a:rPr lang="bg-BG" sz="3200" dirty="0"/>
              <a:t>Пишем във </a:t>
            </a:r>
            <a:r>
              <a:rPr lang="bg-BG" sz="3200" b="1" dirty="0"/>
              <a:t>футъра отляво </a:t>
            </a:r>
            <a:r>
              <a:rPr lang="bg-BG" sz="3200" b="1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Контакти</a:t>
            </a:r>
            <a:r>
              <a:rPr lang="bg-BG" sz="3200" dirty="0"/>
              <a:t>, а </a:t>
            </a:r>
            <a:r>
              <a:rPr lang="bg-BG" sz="3200" b="1" dirty="0"/>
              <a:t>отдясно</a:t>
            </a:r>
            <a:r>
              <a:rPr lang="bg-BG" sz="3200" dirty="0"/>
              <a:t> </a:t>
            </a:r>
            <a:r>
              <a:rPr lang="bg-BG" sz="3200" b="1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Авторски</a:t>
            </a:r>
            <a:r>
              <a:rPr lang="bg-BG" sz="3200" b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bg-BG" sz="3200" b="1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права</a:t>
            </a:r>
          </a:p>
          <a:p>
            <a:endParaRPr lang="bg-BG" sz="3600" b="1" dirty="0">
              <a:solidFill>
                <a:schemeClr val="bg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>
              <a:buNone/>
            </a:pPr>
            <a:endParaRPr lang="bg-BG" sz="3600" dirty="0"/>
          </a:p>
        </p:txBody>
      </p:sp>
      <p:sp>
        <p:nvSpPr>
          <p:cNvPr id="3" name="Title 3">
            <a:extLst>
              <a:ext uri="{FF2B5EF4-FFF2-40B4-BE49-F238E27FC236}">
                <a16:creationId xmlns:a16="http://schemas.microsoft.com/office/drawing/2014/main" id="{F6C5A2A5-9D43-35F8-B488-A60AEEC40C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/>
          <a:lstStyle/>
          <a:p>
            <a:r>
              <a:rPr lang="bg-BG" dirty="0"/>
              <a:t>Футър</a:t>
            </a:r>
            <a:endParaRPr lang="en-BG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522FEF9-2061-45C1-D0E8-17A630CD457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04800" y="2937074"/>
            <a:ext cx="10582400" cy="983851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9519911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8891F045-A272-4231-985A-53063F832A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35</a:t>
            </a:fld>
            <a:endParaRPr lang="en-US" dirty="0"/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0D4D3A2C-88C6-0657-2093-B55CEB7BCFB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11818096" cy="5528766"/>
          </a:xfrm>
        </p:spPr>
        <p:txBody>
          <a:bodyPr>
            <a:normAutofit/>
          </a:bodyPr>
          <a:lstStyle/>
          <a:p>
            <a:r>
              <a:rPr lang="bg-BG" sz="3600" dirty="0"/>
              <a:t>Запазваме </a:t>
            </a:r>
            <a:r>
              <a:rPr lang="bg-BG" sz="3600" b="1" dirty="0"/>
              <a:t>схематичния дизайн </a:t>
            </a:r>
            <a:r>
              <a:rPr lang="bg-BG" sz="3600" dirty="0"/>
              <a:t>от </a:t>
            </a:r>
            <a:r>
              <a:rPr lang="bg-BG" sz="3600" b="1" dirty="0"/>
              <a:t>лявото меню </a:t>
            </a:r>
            <a:r>
              <a:rPr lang="bg-BG" sz="3600" dirty="0"/>
              <a:t>→ </a:t>
            </a:r>
          </a:p>
          <a:p>
            <a:pPr marL="0" indent="0">
              <a:buNone/>
            </a:pPr>
            <a:r>
              <a:rPr lang="bg-BG" sz="3600" b="1" dirty="0"/>
              <a:t>    [</a:t>
            </a:r>
            <a:r>
              <a:rPr lang="en-US" sz="3600" b="1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Export image...</a:t>
            </a:r>
            <a:r>
              <a:rPr lang="en-US" sz="3600" b="1" dirty="0"/>
              <a:t>]</a:t>
            </a:r>
            <a:endParaRPr lang="bg-BG" sz="3600" b="1" dirty="0"/>
          </a:p>
          <a:p>
            <a:r>
              <a:rPr lang="bg-BG" sz="3600" dirty="0"/>
              <a:t>Кликаме върху </a:t>
            </a:r>
            <a:r>
              <a:rPr lang="bg-BG" sz="3600" b="1" dirty="0"/>
              <a:t>[</a:t>
            </a:r>
            <a:r>
              <a:rPr lang="en-US" sz="3600" b="1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PNG</a:t>
            </a:r>
            <a:r>
              <a:rPr lang="en-US" sz="3600" b="1" dirty="0"/>
              <a:t>] </a:t>
            </a:r>
            <a:r>
              <a:rPr lang="bg-BG" sz="3600" dirty="0"/>
              <a:t>и </a:t>
            </a:r>
            <a:r>
              <a:rPr lang="bg-BG" sz="3600" b="1" dirty="0"/>
              <a:t>запазваме файла </a:t>
            </a:r>
            <a:r>
              <a:rPr lang="bg-BG" sz="3600" dirty="0"/>
              <a:t>в </a:t>
            </a:r>
            <a:r>
              <a:rPr lang="bg-BG" sz="3600" b="1" dirty="0"/>
              <a:t>компютъра</a:t>
            </a:r>
            <a:endParaRPr lang="en-US" sz="3600" dirty="0"/>
          </a:p>
          <a:p>
            <a:endParaRPr lang="bg-BG" sz="3600" dirty="0"/>
          </a:p>
        </p:txBody>
      </p:sp>
      <p:sp>
        <p:nvSpPr>
          <p:cNvPr id="3" name="Title 3">
            <a:extLst>
              <a:ext uri="{FF2B5EF4-FFF2-40B4-BE49-F238E27FC236}">
                <a16:creationId xmlns:a16="http://schemas.microsoft.com/office/drawing/2014/main" id="{F6C5A2A5-9D43-35F8-B488-A60AEEC40C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/>
          <a:lstStyle/>
          <a:p>
            <a:r>
              <a:rPr lang="bg-BG" dirty="0"/>
              <a:t>Запазване на </a:t>
            </a:r>
            <a:r>
              <a:rPr lang="en-US" dirty="0"/>
              <a:t>Wireframe</a:t>
            </a:r>
            <a:endParaRPr lang="en-BG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DB4605E-C88F-75E8-1C32-8FC1D4D0BE6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6012" y="3586262"/>
            <a:ext cx="3217413" cy="2617557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9DF720A-D7EE-DF8B-82CE-F2A5CFD5F063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276" t="73640"/>
          <a:stretch/>
        </p:blipFill>
        <p:spPr>
          <a:xfrm>
            <a:off x="6441387" y="4168907"/>
            <a:ext cx="5311643" cy="1452265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  <p:sp>
        <p:nvSpPr>
          <p:cNvPr id="8" name="Arrow: Right 6">
            <a:extLst>
              <a:ext uri="{FF2B5EF4-FFF2-40B4-BE49-F238E27FC236}">
                <a16:creationId xmlns:a16="http://schemas.microsoft.com/office/drawing/2014/main" id="{3F647365-A1A4-49B1-E08D-61B9E28F0219}"/>
              </a:ext>
            </a:extLst>
          </p:cNvPr>
          <p:cNvSpPr/>
          <p:nvPr/>
        </p:nvSpPr>
        <p:spPr bwMode="auto">
          <a:xfrm>
            <a:off x="4546883" y="4340572"/>
            <a:ext cx="1306281" cy="1108936"/>
          </a:xfrm>
          <a:prstGeom prst="rightArrow">
            <a:avLst/>
          </a:prstGeom>
          <a:solidFill>
            <a:schemeClr val="dk2">
              <a:alpha val="80000"/>
            </a:schemeClr>
          </a:solidFill>
          <a:ln w="19050">
            <a:solidFill>
              <a:schemeClr val="tx1">
                <a:lumMod val="75000"/>
                <a:alpha val="80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001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2800" b="1" dirty="0">
              <a:solidFill>
                <a:srgbClr val="FFFFFF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4469301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8891F045-A272-4231-985A-53063F832A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36</a:t>
            </a:fld>
            <a:endParaRPr lang="en-US" dirty="0"/>
          </a:p>
        </p:txBody>
      </p:sp>
      <p:sp>
        <p:nvSpPr>
          <p:cNvPr id="3" name="Title 3">
            <a:extLst>
              <a:ext uri="{FF2B5EF4-FFF2-40B4-BE49-F238E27FC236}">
                <a16:creationId xmlns:a16="http://schemas.microsoft.com/office/drawing/2014/main" id="{F6C5A2A5-9D43-35F8-B488-A60AEEC40C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/>
          <a:lstStyle/>
          <a:p>
            <a:r>
              <a:rPr lang="bg-BG" dirty="0"/>
              <a:t>Резултат</a:t>
            </a:r>
            <a:endParaRPr lang="en-BG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560F027-E061-DE0F-E696-E7D6E6879E6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030176" y="1179000"/>
            <a:ext cx="6131647" cy="5578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27689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Summary Box Group">
            <a:extLst>
              <a:ext uri="{FF2B5EF4-FFF2-40B4-BE49-F238E27FC236}">
                <a16:creationId xmlns:a16="http://schemas.microsoft.com/office/drawing/2014/main" id="{EBAFE522-EB7D-4931-A015-9A7E8A98517D}"/>
              </a:ext>
            </a:extLst>
          </p:cNvPr>
          <p:cNvGrpSpPr/>
          <p:nvPr/>
        </p:nvGrpSpPr>
        <p:grpSpPr>
          <a:xfrm>
            <a:off x="190406" y="1360993"/>
            <a:ext cx="11562624" cy="5394328"/>
            <a:chOff x="472011" y="1508786"/>
            <a:chExt cx="3799787" cy="4865561"/>
          </a:xfrm>
        </p:grpSpPr>
        <p:sp>
          <p:nvSpPr>
            <p:cNvPr id="10" name="Rounded Rectangle Blue">
              <a:extLst>
                <a:ext uri="{FF2B5EF4-FFF2-40B4-BE49-F238E27FC236}">
                  <a16:creationId xmlns:a16="http://schemas.microsoft.com/office/drawing/2014/main" id="{18F78F23-3D09-4B63-8DF9-D49CFBB145EE}"/>
                </a:ext>
              </a:extLst>
            </p:cNvPr>
            <p:cNvSpPr/>
            <p:nvPr/>
          </p:nvSpPr>
          <p:spPr>
            <a:xfrm>
              <a:off x="472011" y="1508786"/>
              <a:ext cx="3799787" cy="4865561"/>
            </a:xfrm>
            <a:prstGeom prst="roundRect">
              <a:avLst>
                <a:gd name="adj" fmla="val 3968"/>
              </a:avLst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 dirty="0"/>
            </a:p>
          </p:txBody>
        </p:sp>
        <p:sp>
          <p:nvSpPr>
            <p:cNvPr id="11" name="Rounded Rectangle Left">
              <a:extLst>
                <a:ext uri="{FF2B5EF4-FFF2-40B4-BE49-F238E27FC236}">
                  <a16:creationId xmlns:a16="http://schemas.microsoft.com/office/drawing/2014/main" id="{F12C06CE-2BBE-46C2-B718-813794C58DF9}"/>
                </a:ext>
              </a:extLst>
            </p:cNvPr>
            <p:cNvSpPr/>
            <p:nvPr/>
          </p:nvSpPr>
          <p:spPr>
            <a:xfrm>
              <a:off x="546866" y="1696737"/>
              <a:ext cx="81601" cy="4489658"/>
            </a:xfrm>
            <a:prstGeom prst="roundRect">
              <a:avLst>
                <a:gd name="adj" fmla="val 50000"/>
              </a:avLst>
            </a:prstGeom>
            <a:solidFill>
              <a:schemeClr val="bg2">
                <a:alpha val="41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 dirty="0">
                <a:solidFill>
                  <a:schemeClr val="bg1"/>
                </a:solidFill>
              </a:endParaRPr>
            </a:p>
          </p:txBody>
        </p:sp>
        <p:sp>
          <p:nvSpPr>
            <p:cNvPr id="12" name="Half Frame Top Right">
              <a:extLst>
                <a:ext uri="{FF2B5EF4-FFF2-40B4-BE49-F238E27FC236}">
                  <a16:creationId xmlns:a16="http://schemas.microsoft.com/office/drawing/2014/main" id="{66CDBB1E-AF3C-43FC-9F34-2DD691F81726}"/>
                </a:ext>
              </a:extLst>
            </p:cNvPr>
            <p:cNvSpPr/>
            <p:nvPr/>
          </p:nvSpPr>
          <p:spPr>
            <a:xfrm rot="5400000">
              <a:off x="3742559" y="1912372"/>
              <a:ext cx="669775" cy="238503"/>
            </a:xfrm>
            <a:prstGeom prst="halfFrame">
              <a:avLst>
                <a:gd name="adj1" fmla="val 23728"/>
                <a:gd name="adj2" fmla="val 24642"/>
              </a:avLst>
            </a:prstGeom>
            <a:solidFill>
              <a:schemeClr val="bg2">
                <a:alpha val="23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 dirty="0">
                <a:solidFill>
                  <a:schemeClr val="tx1"/>
                </a:solidFill>
              </a:endParaRPr>
            </a:p>
          </p:txBody>
        </p:sp>
      </p:grpSp>
      <p:sp>
        <p:nvSpPr>
          <p:cNvPr id="14" name="Text Placeholder Body">
            <a:extLst>
              <a:ext uri="{FF2B5EF4-FFF2-40B4-BE49-F238E27FC236}">
                <a16:creationId xmlns:a16="http://schemas.microsoft.com/office/drawing/2014/main" id="{0E49D336-45B6-44D3-97C4-E28F8DEA202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97877" y="1676785"/>
            <a:ext cx="10826625" cy="4977574"/>
          </a:xfrm>
        </p:spPr>
        <p:txBody>
          <a:bodyPr>
            <a:noAutofit/>
          </a:bodyPr>
          <a:lstStyle>
            <a:lvl1pPr marL="514350" indent="-514350">
              <a:buFont typeface="Wingdings" panose="05000000000000000000" pitchFamily="2" charset="2"/>
              <a:buChar char="§"/>
              <a:defRPr>
                <a:solidFill>
                  <a:schemeClr val="bg2"/>
                </a:solidFill>
              </a:defRPr>
            </a:lvl1pPr>
            <a:lvl2pPr marL="1123935" indent="-514350"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</a:defRPr>
            </a:lvl2pPr>
            <a:lvl3pPr marL="1733520" indent="-514350"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</a:defRPr>
            </a:lvl3pPr>
            <a:lvl4pPr marL="2343105" indent="-514350"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</a:defRPr>
            </a:lvl4pPr>
            <a:lvl5pPr marL="2952689" indent="-514350"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</a:defRPr>
            </a:lvl5pPr>
          </a:lstStyle>
          <a:p>
            <a:pPr marL="360363" indent="-360363" fontAlgn="base">
              <a:buClr>
                <a:schemeClr val="bg2"/>
              </a:buClr>
            </a:pPr>
            <a:r>
              <a:rPr lang="bg-BG" sz="26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Проектиране на уеб страници </a:t>
            </a:r>
            <a:r>
              <a:rPr lang="bg-BG" sz="2600" dirty="0"/>
              <a:t>=</a:t>
            </a:r>
            <a:r>
              <a:rPr lang="en-US" sz="2600" dirty="0"/>
              <a:t>= </a:t>
            </a:r>
            <a:r>
              <a:rPr lang="bg-BG" sz="2600" dirty="0"/>
              <a:t>етапът, определящ структурата, съдържанието и функционалността на уеб страниците</a:t>
            </a:r>
            <a:endParaRPr lang="en-US" sz="2600" dirty="0"/>
          </a:p>
          <a:p>
            <a:pPr marL="360363" indent="-360363" fontAlgn="base">
              <a:buClr>
                <a:schemeClr val="bg2"/>
              </a:buClr>
            </a:pPr>
            <a:r>
              <a:rPr lang="bg-BG" sz="26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Графичен интерфейс </a:t>
            </a:r>
            <a:r>
              <a:rPr lang="en-US" sz="2600" dirty="0"/>
              <a:t>== </a:t>
            </a:r>
            <a:r>
              <a:rPr lang="bg-BG" sz="2600" dirty="0"/>
              <a:t>визуалното оформление на всички елементи </a:t>
            </a:r>
            <a:r>
              <a:rPr lang="bg-BG" sz="26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Схематичен дизайн (</a:t>
            </a:r>
            <a:r>
              <a:rPr lang="en-US" sz="26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Wireframe</a:t>
            </a:r>
            <a:r>
              <a:rPr lang="bg-BG" sz="26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)</a:t>
            </a:r>
            <a:r>
              <a:rPr lang="en-US" sz="26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 </a:t>
            </a:r>
            <a:r>
              <a:rPr lang="en-US" sz="2600" dirty="0"/>
              <a:t>==</a:t>
            </a:r>
            <a:r>
              <a:rPr lang="bg-BG" sz="2600" dirty="0"/>
              <a:t> визуално ръководство, което представлява най-общата рамка на една страница</a:t>
            </a:r>
            <a:endParaRPr lang="en-US" sz="2600" dirty="0"/>
          </a:p>
          <a:p>
            <a:pPr marL="360363" indent="-360363" fontAlgn="base">
              <a:buClr>
                <a:schemeClr val="bg2"/>
              </a:buClr>
            </a:pPr>
            <a:r>
              <a:rPr lang="bg-BG" sz="26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Достъпност на уеб страници </a:t>
            </a:r>
            <a:r>
              <a:rPr lang="en-GB" sz="26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(Web Accessibility)</a:t>
            </a:r>
            <a:r>
              <a:rPr lang="bg-BG" sz="26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 </a:t>
            </a:r>
            <a:r>
              <a:rPr lang="bg-BG" sz="2600" dirty="0"/>
              <a:t>=</a:t>
            </a:r>
            <a:r>
              <a:rPr lang="en-US" sz="2600" dirty="0"/>
              <a:t>=</a:t>
            </a:r>
            <a:r>
              <a:rPr lang="bg-BG" sz="2600" dirty="0"/>
              <a:t> помага на потребителите с увреждания да получат пълен достъп до уеб страниците</a:t>
            </a:r>
          </a:p>
          <a:p>
            <a:pPr marL="360363" indent="-360363" fontAlgn="base">
              <a:buClr>
                <a:schemeClr val="bg2"/>
              </a:buClr>
            </a:pPr>
            <a:r>
              <a:rPr lang="bg-BG" sz="26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Типове уеб страници </a:t>
            </a:r>
            <a:r>
              <a:rPr lang="bg-BG" sz="2600" b="1" dirty="0"/>
              <a:t>=</a:t>
            </a:r>
            <a:r>
              <a:rPr lang="en-US" sz="2600" b="1" dirty="0"/>
              <a:t>= </a:t>
            </a:r>
            <a:r>
              <a:rPr lang="bg-BG" sz="2600" dirty="0"/>
              <a:t>имат специфична структура и цел според тяхното предназначение</a:t>
            </a:r>
            <a:endParaRPr lang="bg-BG" sz="2600" dirty="0">
              <a:solidFill>
                <a:schemeClr val="bg2"/>
              </a:solidFill>
            </a:endParaRPr>
          </a:p>
        </p:txBody>
      </p:sp>
      <p:sp>
        <p:nvSpPr>
          <p:cNvPr id="4" name="Slide 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bg-BG" dirty="0"/>
              <a:t>Обобщение</a:t>
            </a:r>
            <a:endParaRPr lang="en-US" dirty="0"/>
          </a:p>
        </p:txBody>
      </p:sp>
      <p:sp>
        <p:nvSpPr>
          <p:cNvPr id="2" name="Slide Number">
            <a:extLst>
              <a:ext uri="{FF2B5EF4-FFF2-40B4-BE49-F238E27FC236}">
                <a16:creationId xmlns:a16="http://schemas.microsoft.com/office/drawing/2014/main" id="{E369AAE7-BDDC-FE11-A61E-E20F7F6632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37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7230498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Title">
            <a:extLst>
              <a:ext uri="{FF2B5EF4-FFF2-40B4-BE49-F238E27FC236}">
                <a16:creationId xmlns:a16="http://schemas.microsoft.com/office/drawing/2014/main" id="{FA0703FC-0F8F-4C80-A615-E4B381EC0E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Въпроси</a:t>
            </a:r>
            <a:r>
              <a:rPr lang="en-US" dirty="0"/>
              <a:t>?</a:t>
            </a:r>
          </a:p>
        </p:txBody>
      </p:sp>
      <p:sp>
        <p:nvSpPr>
          <p:cNvPr id="2" name="Rectangle Bottom Copyright">
            <a:extLst>
              <a:ext uri="{FF2B5EF4-FFF2-40B4-BE49-F238E27FC236}">
                <a16:creationId xmlns:a16="http://schemas.microsoft.com/office/drawing/2014/main" id="{664812A4-2991-44D1-BFE9-32E55AADF8A5}"/>
              </a:ext>
            </a:extLst>
          </p:cNvPr>
          <p:cNvSpPr/>
          <p:nvPr/>
        </p:nvSpPr>
        <p:spPr>
          <a:xfrm>
            <a:off x="111000" y="6454758"/>
            <a:ext cx="11970000" cy="304242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bg-BG" sz="1600" dirty="0">
                <a:solidFill>
                  <a:schemeClr val="bg2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Проект "</a:t>
            </a:r>
            <a:r>
              <a:rPr lang="bg-BG" sz="1600" dirty="0">
                <a:solidFill>
                  <a:schemeClr val="bg1">
                    <a:lumMod val="20000"/>
                    <a:lumOff val="8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Отворено учебно съдържание по програмиране и ИТ</a:t>
            </a:r>
            <a:r>
              <a:rPr lang="bg-BG" sz="1600" dirty="0">
                <a:solidFill>
                  <a:schemeClr val="bg2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", СофтУни Фондация (лиценз </a:t>
            </a:r>
            <a:r>
              <a:rPr lang="en-US" sz="1600" dirty="0">
                <a:solidFill>
                  <a:schemeClr val="bg2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CC-BY-NC-SA</a:t>
            </a:r>
            <a:r>
              <a:rPr lang="bg-BG" sz="1600" dirty="0">
                <a:solidFill>
                  <a:schemeClr val="bg2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)</a:t>
            </a:r>
            <a:endParaRPr lang="bg-BG" sz="2400" dirty="0">
              <a:solidFill>
                <a:schemeClr val="bg2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725349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">
            <a:extLst>
              <a:ext uri="{FF2B5EF4-FFF2-40B4-BE49-F238E27FC236}">
                <a16:creationId xmlns:a16="http://schemas.microsoft.com/office/drawing/2014/main" id="{F48C3C93-90A1-4D31-BEA6-B54D1106CE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39</a:t>
            </a:fld>
            <a:endParaRPr lang="en-US" dirty="0"/>
          </a:p>
        </p:txBody>
      </p:sp>
      <p:sp>
        <p:nvSpPr>
          <p:cNvPr id="2" name="Slide Body">
            <a:extLst>
              <a:ext uri="{FF2B5EF4-FFF2-40B4-BE49-F238E27FC236}">
                <a16:creationId xmlns:a16="http://schemas.microsoft.com/office/drawing/2014/main" id="{980F49B1-E4BE-4389-A747-7AB9B71AD92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269001"/>
            <a:ext cx="9865598" cy="2474999"/>
          </a:xfrm>
        </p:spPr>
        <p:txBody>
          <a:bodyPr>
            <a:normAutofit/>
          </a:bodyPr>
          <a:lstStyle/>
          <a:p>
            <a:pPr>
              <a:lnSpc>
                <a:spcPct val="120000"/>
              </a:lnSpc>
            </a:pPr>
            <a:r>
              <a:rPr lang="bg-BG" sz="3200" dirty="0"/>
              <a:t>Този курс</a:t>
            </a:r>
            <a:r>
              <a:rPr lang="en-US" sz="3200" dirty="0"/>
              <a:t> (</a:t>
            </a:r>
            <a:r>
              <a:rPr lang="bg-BG" sz="3200" dirty="0"/>
              <a:t>презентации, примери, демонстрационен код, упражнения, домашни, видео и други активи</a:t>
            </a:r>
            <a:r>
              <a:rPr lang="en-US" sz="3200" dirty="0"/>
              <a:t>) </a:t>
            </a:r>
            <a:r>
              <a:rPr lang="bg-BG" sz="3200" dirty="0"/>
              <a:t>представлява</a:t>
            </a:r>
            <a:r>
              <a:rPr lang="en-US" sz="3200" dirty="0"/>
              <a:t> </a:t>
            </a:r>
            <a:r>
              <a:rPr lang="bg-BG" sz="3200" b="1" dirty="0"/>
              <a:t>свободно учебно съдържание </a:t>
            </a:r>
            <a:r>
              <a:rPr lang="bg-BG" sz="3200" dirty="0"/>
              <a:t>и се разпространява под свободен лиценз </a:t>
            </a:r>
            <a:r>
              <a:rPr lang="en-US" sz="3200" b="1" dirty="0"/>
              <a:t>CC-BY-NC-SA</a:t>
            </a:r>
            <a:endParaRPr lang="bg-BG" sz="3200" dirty="0"/>
          </a:p>
        </p:txBody>
      </p:sp>
      <p:pic>
        <p:nvPicPr>
          <p:cNvPr id="6" name="Picture License" descr="License">
            <a:extLst>
              <a:ext uri="{FF2B5EF4-FFF2-40B4-BE49-F238E27FC236}">
                <a16:creationId xmlns:a16="http://schemas.microsoft.com/office/drawing/2014/main" id="{82BA520F-A037-4E01-AA18-27D9F1E930A6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0226175" y="1440120"/>
            <a:ext cx="1198986" cy="1268880"/>
          </a:xfrm>
          <a:prstGeom prst="rect">
            <a:avLst/>
          </a:prstGeom>
        </p:spPr>
      </p:pic>
      <p:sp>
        <p:nvSpPr>
          <p:cNvPr id="3" name="Slide Title">
            <a:extLst>
              <a:ext uri="{FF2B5EF4-FFF2-40B4-BE49-F238E27FC236}">
                <a16:creationId xmlns:a16="http://schemas.microsoft.com/office/drawing/2014/main" id="{E5F1FB41-80C3-4816-BC47-CCC50632E6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Лиценз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C18DF19-B750-4C88-975B-661A6BF61F5E}"/>
              </a:ext>
            </a:extLst>
          </p:cNvPr>
          <p:cNvSpPr txBox="1"/>
          <p:nvPr/>
        </p:nvSpPr>
        <p:spPr>
          <a:xfrm>
            <a:off x="190401" y="3927519"/>
            <a:ext cx="11710599" cy="1979644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pPr marL="360363" indent="-360363" defTabSz="1218438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§"/>
              <a:defRPr/>
            </a:pPr>
            <a:r>
              <a:rPr lang="bg-BG" sz="3200" dirty="0"/>
              <a:t>Проект "</a:t>
            </a:r>
            <a:r>
              <a:rPr lang="bg-BG" sz="3200" b="1" dirty="0"/>
              <a:t>Отворено учебно съдържание по програмиране и ИТ</a:t>
            </a:r>
            <a:r>
              <a:rPr lang="bg-BG" sz="3200" dirty="0"/>
              <a:t>" към Фондация "Софтуерен университет"</a:t>
            </a:r>
            <a:r>
              <a:rPr lang="en-US" sz="3200" dirty="0"/>
              <a:t>:</a:t>
            </a:r>
            <a:endParaRPr lang="bg-BG" sz="3200" dirty="0"/>
          </a:p>
          <a:p>
            <a:pPr marL="817563" lvl="1" indent="-360363" defTabSz="1218438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§"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234465"/>
                </a:solidFill>
                <a:effectLst/>
                <a:uLnTx/>
                <a:uFillTx/>
                <a:latin typeface="Calibri"/>
                <a:ea typeface="+mn-ea"/>
                <a:cs typeface="+mn-cs"/>
                <a:hlinkClick r:id="rId4"/>
              </a:rPr>
              <a:t>https://github.com/BG-IT-Edu</a:t>
            </a:r>
            <a:endParaRPr kumimoji="0" lang="bg-BG" sz="3200" b="0" i="0" u="none" strike="noStrike" kern="1200" cap="none" spc="0" normalizeH="0" baseline="0" noProof="0" dirty="0">
              <a:ln>
                <a:noFill/>
              </a:ln>
              <a:solidFill>
                <a:srgbClr val="234465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7" name="Picture 6" title="CC-BY-NC-SA License">
            <a:hlinkClick r:id="rId5" tooltip="This work is licensed under the &quot;Creative Commons Attribution-NonCommercial-ShareAlike 4.0 International&quot; license"/>
            <a:extLst>
              <a:ext uri="{FF2B5EF4-FFF2-40B4-BE49-F238E27FC236}">
                <a16:creationId xmlns:a16="http://schemas.microsoft.com/office/drawing/2014/main" id="{F6C77C47-F7D8-A176-5C69-7FDE5C7E80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831000" y="2908593"/>
            <a:ext cx="1989336" cy="696022"/>
          </a:xfrm>
          <a:prstGeom prst="roundRect">
            <a:avLst>
              <a:gd name="adj" fmla="val 3940"/>
            </a:avLst>
          </a:prstGeom>
          <a:solidFill>
            <a:srgbClr val="231F20">
              <a:alpha val="50000"/>
            </a:srgbClr>
          </a:solidFill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8792760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.8|0.4|0.3|0.5|0.3|0.3|0.4|0.4"/>
</p:tagLst>
</file>

<file path=ppt/theme/theme1.xml><?xml version="1.0" encoding="utf-8"?>
<a:theme xmlns:a="http://schemas.openxmlformats.org/drawingml/2006/main" name="SoftUni">
  <a:themeElements>
    <a:clrScheme name="Custom 2">
      <a:dk1>
        <a:srgbClr val="234465"/>
      </a:dk1>
      <a:lt1>
        <a:srgbClr val="BF7800"/>
      </a:lt1>
      <a:dk2>
        <a:srgbClr val="234465"/>
      </a:dk2>
      <a:lt2>
        <a:srgbClr val="FFFFFF"/>
      </a:lt2>
      <a:accent1>
        <a:srgbClr val="FFA000"/>
      </a:accent1>
      <a:accent2>
        <a:srgbClr val="00B050"/>
      </a:accent2>
      <a:accent3>
        <a:srgbClr val="44A9F8"/>
      </a:accent3>
      <a:accent4>
        <a:srgbClr val="7030A0"/>
      </a:accent4>
      <a:accent5>
        <a:srgbClr val="67748E"/>
      </a:accent5>
      <a:accent6>
        <a:srgbClr val="F4F5F7"/>
      </a:accent6>
      <a:hlink>
        <a:srgbClr val="BF7800"/>
      </a:hlink>
      <a:folHlink>
        <a:srgbClr val="EF9511"/>
      </a:folHlink>
    </a:clrScheme>
    <a:fontScheme name="SoftUni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dk2">
            <a:alpha val="80000"/>
          </a:schemeClr>
        </a:solidFill>
        <a:ln w="19050">
          <a:solidFill>
            <a:schemeClr val="tx1">
              <a:lumMod val="75000"/>
              <a:alpha val="80000"/>
            </a:schemeClr>
          </a:solidFill>
        </a:ln>
        <a:effectLst/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2800" b="1" dirty="0">
            <a:solidFill>
              <a:srgbClr val="FFFFFF"/>
            </a:solidFill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defRPr>
        </a:defPPr>
      </a:lstStyle>
      <a:style>
        <a:lnRef idx="2">
          <a:schemeClr val="accent1">
            <a:shade val="50000"/>
          </a:schemeClr>
        </a:lnRef>
        <a:fillRef idx="1001">
          <a:schemeClr val="dk2"/>
        </a:fillRef>
        <a:effectRef idx="0">
          <a:schemeClr val="accent1"/>
        </a:effectRef>
        <a:fontRef idx="minor">
          <a:schemeClr val="lt1"/>
        </a:fontRef>
      </a:style>
    </a:spDef>
    <a:txDef>
      <a:spPr>
        <a:solidFill>
          <a:schemeClr val="accent6">
            <a:lumMod val="75000"/>
            <a:alpha val="15000"/>
          </a:schemeClr>
        </a:solidFill>
        <a:ln w="12700">
          <a:solidFill>
            <a:schemeClr val="tx1">
              <a:lumMod val="75000"/>
            </a:schemeClr>
          </a:solidFill>
        </a:ln>
      </a:spPr>
      <a:bodyPr vert="horz" wrap="square" lIns="144000" tIns="108000" rIns="144000" bIns="108000" rtlCol="0">
        <a:spAutoFit/>
      </a:bodyPr>
      <a:lstStyle>
        <a:defPPr algn="l" eaLnBrk="0" hangingPunct="0">
          <a:lnSpc>
            <a:spcPct val="110000"/>
          </a:lnSpc>
          <a:buClr>
            <a:schemeClr val="accent5">
              <a:lumMod val="40000"/>
              <a:lumOff val="60000"/>
            </a:schemeClr>
          </a:buClr>
          <a:buSzPct val="70000"/>
          <a:defRPr sz="2400" dirty="0"/>
        </a:defPPr>
      </a:lstStyle>
    </a:txDef>
  </a:objectDefaults>
  <a:extraClrSchemeLst/>
  <a:extLst>
    <a:ext uri="{05A4C25C-085E-4340-85A3-A5531E510DB2}">
      <thm15:themeFamily xmlns:thm15="http://schemas.microsoft.com/office/thememl/2012/main" name="SoftUni" id="{D61FAD9B-6E74-4E03-BFE4-B363D484F1DA}" vid="{7089C1A3-635B-4B03-A017-DAF10A3A396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24610</TotalTime>
  <Words>1745</Words>
  <Application>Microsoft Macintosh PowerPoint</Application>
  <PresentationFormat>Widescreen</PresentationFormat>
  <Paragraphs>263</Paragraphs>
  <Slides>39</Slides>
  <Notes>32</Notes>
  <HiddenSlides>1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4" baseType="lpstr">
      <vt:lpstr>Arial</vt:lpstr>
      <vt:lpstr>Calibri</vt:lpstr>
      <vt:lpstr>Consolas</vt:lpstr>
      <vt:lpstr>Wingdings</vt:lpstr>
      <vt:lpstr>SoftUni</vt:lpstr>
      <vt:lpstr>Проектиране на уеб страници</vt:lpstr>
      <vt:lpstr>Съдържание</vt:lpstr>
      <vt:lpstr>Проектиране на уеб страници</vt:lpstr>
      <vt:lpstr>Проектиране на уеб страници</vt:lpstr>
      <vt:lpstr>Цел на проектирането на уеб страници</vt:lpstr>
      <vt:lpstr>Основни етапи в проектирането на уеб страници</vt:lpstr>
      <vt:lpstr>Графичен интерфейс</vt:lpstr>
      <vt:lpstr>Графичен интерфейс</vt:lpstr>
      <vt:lpstr>Графичен дизайн</vt:lpstr>
      <vt:lpstr>Схематичен дизайн (Wireframe)</vt:lpstr>
      <vt:lpstr>Схематичен дизайн (Wireframe)</vt:lpstr>
      <vt:lpstr>Цел на схематичния дизайн</vt:lpstr>
      <vt:lpstr>Основни елементи на схематичния дизайн (1)</vt:lpstr>
      <vt:lpstr>Основни елементи на схематичния дизайн (2)</vt:lpstr>
      <vt:lpstr>Основни елементи на схематичния дизайн (3)</vt:lpstr>
      <vt:lpstr>Достъпност на уеб страници</vt:lpstr>
      <vt:lpstr>Достъпност на уеб страници (Web Accessibility)</vt:lpstr>
      <vt:lpstr>Основни принципи на достъпността</vt:lpstr>
      <vt:lpstr>Типове уеб страници</vt:lpstr>
      <vt:lpstr>Типове уеб страници (1)</vt:lpstr>
      <vt:lpstr>Типове уеб страници (2)</vt:lpstr>
      <vt:lpstr>Типове уеб страници (3) </vt:lpstr>
      <vt:lpstr>Начална и вътрешни страници</vt:lpstr>
      <vt:lpstr>Пример</vt:lpstr>
      <vt:lpstr>Схематичен дизайн на уеб страница</vt:lpstr>
      <vt:lpstr>Създаване на Wireframe (1)</vt:lpstr>
      <vt:lpstr>Създаване на Wireframe (2)</vt:lpstr>
      <vt:lpstr>Създаване на Wireframe (3)</vt:lpstr>
      <vt:lpstr>Създаване на Wireframe (4)</vt:lpstr>
      <vt:lpstr>Хедър (1)</vt:lpstr>
      <vt:lpstr>Хедър (2)</vt:lpstr>
      <vt:lpstr>Hero секция</vt:lpstr>
      <vt:lpstr>Основно съдържание</vt:lpstr>
      <vt:lpstr>Футър</vt:lpstr>
      <vt:lpstr>Запазване на Wireframe</vt:lpstr>
      <vt:lpstr>Резултат</vt:lpstr>
      <vt:lpstr>Обобщение</vt:lpstr>
      <vt:lpstr>Въпроси?</vt:lpstr>
      <vt:lpstr>Лиценз</vt:lpstr>
    </vt:vector>
  </TitlesOfParts>
  <Manager/>
  <Company>BG-IT-Edu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Проектиране на уеб страници</dc:title>
  <dc:subject>Модул 3: Информационни технологии</dc:subject>
  <dc:creator>BG-IT-Edu</dc:creator>
  <cp:keywords>programming; training; course</cp:keywords>
  <dc:description>Open Programming and IT Courseware for IT Teachers (BG-IT-Edu): https://github.com/BG-IT-Edu
With the kind support of SoftUni: https://softuni.bg</dc:description>
  <cp:lastModifiedBy>Mirela Damyanova</cp:lastModifiedBy>
  <cp:revision>346</cp:revision>
  <dcterms:created xsi:type="dcterms:W3CDTF">2018-05-23T13:08:44Z</dcterms:created>
  <dcterms:modified xsi:type="dcterms:W3CDTF">2026-01-14T09:44:58Z</dcterms:modified>
  <cp:category/>
</cp:coreProperties>
</file>