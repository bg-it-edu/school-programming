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41"/>
  </p:notesMasterIdLst>
  <p:handoutMasterIdLst>
    <p:handoutMasterId r:id="rId42"/>
  </p:handoutMasterIdLst>
  <p:sldIdLst>
    <p:sldId id="503" r:id="rId2"/>
    <p:sldId id="276" r:id="rId3"/>
    <p:sldId id="353" r:id="rId4"/>
    <p:sldId id="497" r:id="rId5"/>
    <p:sldId id="849" r:id="rId6"/>
    <p:sldId id="818" r:id="rId7"/>
    <p:sldId id="610" r:id="rId8"/>
    <p:sldId id="812" r:id="rId9"/>
    <p:sldId id="819" r:id="rId10"/>
    <p:sldId id="616" r:id="rId11"/>
    <p:sldId id="823" r:id="rId12"/>
    <p:sldId id="852" r:id="rId13"/>
    <p:sldId id="830" r:id="rId14"/>
    <p:sldId id="850" r:id="rId15"/>
    <p:sldId id="827" r:id="rId16"/>
    <p:sldId id="838" r:id="rId17"/>
    <p:sldId id="844" r:id="rId18"/>
    <p:sldId id="846" r:id="rId19"/>
    <p:sldId id="847" r:id="rId20"/>
    <p:sldId id="848" r:id="rId21"/>
    <p:sldId id="853" r:id="rId22"/>
    <p:sldId id="854" r:id="rId23"/>
    <p:sldId id="865" r:id="rId24"/>
    <p:sldId id="654" r:id="rId25"/>
    <p:sldId id="817" r:id="rId26"/>
    <p:sldId id="855" r:id="rId27"/>
    <p:sldId id="856" r:id="rId28"/>
    <p:sldId id="857" r:id="rId29"/>
    <p:sldId id="858" r:id="rId30"/>
    <p:sldId id="861" r:id="rId31"/>
    <p:sldId id="866" r:id="rId32"/>
    <p:sldId id="868" r:id="rId33"/>
    <p:sldId id="863" r:id="rId34"/>
    <p:sldId id="867" r:id="rId35"/>
    <p:sldId id="860" r:id="rId36"/>
    <p:sldId id="836" r:id="rId37"/>
    <p:sldId id="633" r:id="rId38"/>
    <p:sldId id="504" r:id="rId39"/>
    <p:sldId id="505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Проектиране на уеб страници" id="{66DCFE1F-60FD-44F2-BE82-706DDBC14898}">
          <p14:sldIdLst>
            <p14:sldId id="353"/>
            <p14:sldId id="497"/>
            <p14:sldId id="849"/>
            <p14:sldId id="818"/>
          </p14:sldIdLst>
        </p14:section>
        <p14:section name="Графичен интерфейс (GUI)" id="{EB44CA50-B176-0C4C-B0D0-5459023C7783}">
          <p14:sldIdLst>
            <p14:sldId id="610"/>
            <p14:sldId id="812"/>
            <p14:sldId id="819"/>
          </p14:sldIdLst>
        </p14:section>
        <p14:section name="Схематичен дизайн (Wireframe)" id="{2B3E1915-4BA2-9447-BC07-AE658EE7EC35}">
          <p14:sldIdLst>
            <p14:sldId id="616"/>
            <p14:sldId id="823"/>
            <p14:sldId id="852"/>
            <p14:sldId id="830"/>
            <p14:sldId id="850"/>
            <p14:sldId id="827"/>
          </p14:sldIdLst>
        </p14:section>
        <p14:section name="Достъпност на уеб страници (Web Accessibility)" id="{23E1C1D3-C190-EF49-BBD0-D54C17EFBBA7}">
          <p14:sldIdLst>
            <p14:sldId id="838"/>
            <p14:sldId id="844"/>
            <p14:sldId id="846"/>
          </p14:sldIdLst>
        </p14:section>
        <p14:section name="Типове уеб страници" id="{F8DDCD39-427B-4448-9C94-04E6CF3809F1}">
          <p14:sldIdLst>
            <p14:sldId id="847"/>
            <p14:sldId id="848"/>
            <p14:sldId id="853"/>
            <p14:sldId id="854"/>
            <p14:sldId id="865"/>
          </p14:sldIdLst>
        </p14:section>
        <p14:section name="Демо" id="{276EAB92-AF41-DD42-AFD3-D1ABB239E1A7}">
          <p14:sldIdLst>
            <p14:sldId id="654"/>
            <p14:sldId id="817"/>
            <p14:sldId id="855"/>
            <p14:sldId id="856"/>
            <p14:sldId id="857"/>
            <p14:sldId id="858"/>
            <p14:sldId id="861"/>
            <p14:sldId id="866"/>
            <p14:sldId id="868"/>
            <p14:sldId id="863"/>
            <p14:sldId id="867"/>
            <p14:sldId id="860"/>
            <p14:sldId id="836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5" clrIdx="1">
    <p:extLst>
      <p:ext uri="{19B8F6BF-5375-455C-9EA6-DF929625EA0E}">
        <p15:presenceInfo xmlns:p15="http://schemas.microsoft.com/office/powerpoint/2012/main" userId="Mirela Damyanov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34465"/>
    <a:srgbClr val="ADB4C3"/>
    <a:srgbClr val="EA9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430" autoAdjust="0"/>
    <p:restoredTop sz="95427" autoAdjust="0"/>
  </p:normalViewPr>
  <p:slideViewPr>
    <p:cSldViewPr showGuides="1">
      <p:cViewPr varScale="1">
        <p:scale>
          <a:sx n="74" d="100"/>
          <a:sy n="74" d="100"/>
        </p:scale>
        <p:origin x="192" y="912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commentAuthors" Target="commentAuthors.xml"/><Relationship Id="rId48" Type="http://schemas.microsoft.com/office/2018/10/relationships/authors" Target="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27.11.25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362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35634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3389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9477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5849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03406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57701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38955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1718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68437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08014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070525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095336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38994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7344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45799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52172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91183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26212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513474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92222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215650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excalidraw.com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bg-BG" sz="3400" dirty="0"/>
              <a:t>Графичен интерфейс, схематичен дизайн, достъпност, типове уеб страници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bg-BG" sz="6000" dirty="0"/>
              <a:t>Проектиране на уеб страници</a:t>
            </a:r>
            <a:endParaRPr lang="en-US" sz="6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9E0636FF-9DFF-1E3C-B648-B7D58C2CC7D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373" t="30129" r="-15" b="26231"/>
          <a:stretch/>
        </p:blipFill>
        <p:spPr>
          <a:xfrm>
            <a:off x="6390123" y="3400017"/>
            <a:ext cx="5248260" cy="2188983"/>
          </a:xfr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 fontScale="92500" lnSpcReduction="10000"/>
          </a:bodyPr>
          <a:lstStyle/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Проектиране на уеб страници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Цел </a:t>
            </a:r>
            <a:r>
              <a:rPr lang="bg-BG" sz="3600" dirty="0"/>
              <a:t>и</a:t>
            </a:r>
            <a:r>
              <a:rPr lang="bg-BG" sz="3600" b="1" dirty="0"/>
              <a:t> основни етапи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​​</a:t>
            </a:r>
            <a:r>
              <a:rPr lang="bg-BG" sz="3800" b="1" dirty="0">
                <a:solidFill>
                  <a:schemeClr val="bg1"/>
                </a:solidFill>
              </a:rPr>
              <a:t>Графичен интерфейс</a:t>
            </a:r>
            <a:endParaRPr lang="en-US" sz="3800" b="1" dirty="0">
              <a:solidFill>
                <a:schemeClr val="bg1"/>
              </a:solidFill>
            </a:endParaRPr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Схематичен дизайн </a:t>
            </a:r>
            <a:r>
              <a:rPr lang="bg-BG" sz="3800" b="1" dirty="0"/>
              <a:t>(</a:t>
            </a:r>
            <a:r>
              <a:rPr lang="en-US" sz="3800" b="1" dirty="0"/>
              <a:t>Wireframe</a:t>
            </a:r>
            <a:r>
              <a:rPr lang="bg-BG" sz="3800" b="1" dirty="0"/>
              <a:t>)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Основни елементи</a:t>
            </a:r>
          </a:p>
          <a:p>
            <a:pPr>
              <a:buClr>
                <a:schemeClr val="tx1"/>
              </a:buClr>
            </a:pPr>
            <a:r>
              <a:rPr lang="en-US" sz="3800" dirty="0">
                <a:solidFill>
                  <a:schemeClr val="bg1"/>
                </a:solidFill>
              </a:rPr>
              <a:t>​</a:t>
            </a:r>
            <a:r>
              <a:rPr lang="bg-BG" sz="3800" b="1" dirty="0">
                <a:solidFill>
                  <a:schemeClr val="bg1"/>
                </a:solidFill>
              </a:rPr>
              <a:t>Достъпност на уеб страници </a:t>
            </a:r>
            <a:r>
              <a:rPr lang="en-GB" sz="3800" b="1" dirty="0"/>
              <a:t>(Web Accessibility)</a:t>
            </a:r>
            <a:endParaRPr lang="bg-BG" sz="3800" b="1" dirty="0"/>
          </a:p>
          <a:p>
            <a:pPr>
              <a:buClr>
                <a:schemeClr val="tx1"/>
              </a:buClr>
            </a:pPr>
            <a:r>
              <a:rPr lang="en-US" sz="3800" dirty="0">
                <a:solidFill>
                  <a:schemeClr val="bg1"/>
                </a:solidFill>
              </a:rPr>
              <a:t>​</a:t>
            </a:r>
            <a:r>
              <a:rPr lang="bg-BG" sz="3800" b="1" dirty="0">
                <a:solidFill>
                  <a:schemeClr val="bg1"/>
                </a:solidFill>
              </a:rPr>
              <a:t>Типове уеб страници</a:t>
            </a:r>
            <a:endParaRPr lang="en-US" sz="3800" b="1" dirty="0">
              <a:solidFill>
                <a:schemeClr val="bg1"/>
              </a:solidFill>
            </a:endParaRPr>
          </a:p>
          <a:p>
            <a:r>
              <a:rPr lang="bg-BG" sz="3800" dirty="0">
                <a:highlight>
                  <a:srgbClr val="FFFF00"/>
                </a:highlight>
              </a:rPr>
              <a:t>​​​</a:t>
            </a:r>
            <a:r>
              <a:rPr lang="bg-BG" sz="3800" b="1" dirty="0"/>
              <a:t>Пример: </a:t>
            </a:r>
            <a:r>
              <a:rPr lang="bg-BG" sz="3800" dirty="0"/>
              <a:t>Схематичен дизайн на уеб страница по избор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Основни етапи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Проектиране на уеб страници</a:t>
            </a:r>
            <a:endParaRPr lang="en-US" sz="6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409E973-22BF-D34F-C59B-CDA47310EE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1673" y="1385091"/>
            <a:ext cx="2648653" cy="2582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600" dirty="0"/>
              <a:t>Част от </a:t>
            </a:r>
            <a:r>
              <a:rPr lang="bg-BG" sz="3600" b="1" dirty="0"/>
              <a:t>процесът</a:t>
            </a:r>
            <a:r>
              <a:rPr lang="bg-BG" sz="3600" dirty="0"/>
              <a:t> на </a:t>
            </a:r>
            <a:r>
              <a:rPr lang="bg-BG" sz="3600" b="1" dirty="0"/>
              <a:t>проектиране</a:t>
            </a:r>
            <a:r>
              <a:rPr lang="bg-BG" sz="3600" dirty="0"/>
              <a:t> на </a:t>
            </a:r>
            <a:r>
              <a:rPr lang="bg-BG" sz="3600" b="1" dirty="0"/>
              <a:t>уеб сайт</a:t>
            </a:r>
          </a:p>
          <a:p>
            <a:pPr>
              <a:buClr>
                <a:schemeClr val="tx1"/>
              </a:buClr>
            </a:pPr>
            <a:r>
              <a:rPr lang="bg-BG" sz="3600" dirty="0"/>
              <a:t>Определя </a:t>
            </a:r>
            <a:r>
              <a:rPr lang="bg-BG" sz="3600" b="1" dirty="0">
                <a:solidFill>
                  <a:schemeClr val="bg1"/>
                </a:solidFill>
              </a:rPr>
              <a:t>структурата</a:t>
            </a:r>
            <a:r>
              <a:rPr lang="bg-BG" sz="3600" dirty="0"/>
              <a:t>, </a:t>
            </a:r>
            <a:r>
              <a:rPr lang="bg-BG" sz="3600" b="1" dirty="0">
                <a:solidFill>
                  <a:schemeClr val="bg1"/>
                </a:solidFill>
              </a:rPr>
              <a:t>съдържанието</a:t>
            </a:r>
            <a:r>
              <a:rPr lang="bg-BG" sz="3600" dirty="0"/>
              <a:t>, </a:t>
            </a:r>
            <a:r>
              <a:rPr lang="bg-BG" sz="3600" b="1" dirty="0">
                <a:solidFill>
                  <a:schemeClr val="bg1"/>
                </a:solidFill>
              </a:rPr>
              <a:t>визията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функционалността</a:t>
            </a:r>
            <a:r>
              <a:rPr lang="bg-BG" sz="3600" dirty="0"/>
              <a:t> на </a:t>
            </a:r>
            <a:r>
              <a:rPr lang="bg-BG" sz="3600" b="1" dirty="0"/>
              <a:t>уеб страниците</a:t>
            </a:r>
          </a:p>
          <a:p>
            <a:pPr>
              <a:buClr>
                <a:schemeClr val="tx1"/>
              </a:buClr>
            </a:pPr>
            <a:endParaRPr lang="en-US" sz="34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Проектиране на </a:t>
            </a:r>
            <a:r>
              <a:rPr lang="bg-BG" sz="4000" dirty="0"/>
              <a:t>уеб страници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9B7F24-3FD1-EE04-44AC-FEE9994F22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8500" y="3264328"/>
            <a:ext cx="4095000" cy="3391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8515598" cy="552876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600" b="1" dirty="0"/>
              <a:t>Целта</a:t>
            </a:r>
            <a:r>
              <a:rPr lang="bg-BG" sz="3600" dirty="0"/>
              <a:t> е да се създаде </a:t>
            </a:r>
            <a:r>
              <a:rPr lang="bg-BG" sz="3600" b="1" dirty="0">
                <a:solidFill>
                  <a:schemeClr val="bg1"/>
                </a:solidFill>
              </a:rPr>
              <a:t>ясна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логична концепция</a:t>
            </a:r>
            <a:r>
              <a:rPr lang="bg-BG" sz="3600" dirty="0"/>
              <a:t>, за да може </a:t>
            </a:r>
            <a:r>
              <a:rPr lang="bg-BG" sz="3600" b="1" dirty="0"/>
              <a:t>уеб страниците</a:t>
            </a:r>
            <a:r>
              <a:rPr lang="bg-BG" sz="3600" dirty="0"/>
              <a:t> да бъдат</a:t>
            </a:r>
            <a:r>
              <a:rPr lang="en-US" sz="3600" dirty="0"/>
              <a:t>:</a:t>
            </a:r>
          </a:p>
          <a:p>
            <a:pPr lvl="1"/>
            <a:r>
              <a:rPr lang="bg-BG" sz="3400" b="1" dirty="0">
                <a:solidFill>
                  <a:schemeClr val="bg1"/>
                </a:solidFill>
              </a:rPr>
              <a:t>Удобни</a:t>
            </a:r>
            <a:r>
              <a:rPr lang="bg-BG" sz="3400" dirty="0"/>
              <a:t> за </a:t>
            </a:r>
            <a:r>
              <a:rPr lang="bg-BG" sz="3400" b="1" dirty="0"/>
              <a:t>потребителите</a:t>
            </a:r>
          </a:p>
          <a:p>
            <a:pPr lvl="1"/>
            <a:r>
              <a:rPr lang="bg-BG" sz="3400" b="1" dirty="0"/>
              <a:t>Визуално </a:t>
            </a:r>
            <a:r>
              <a:rPr lang="bg-BG" sz="3400" b="1" dirty="0">
                <a:solidFill>
                  <a:schemeClr val="bg1"/>
                </a:solidFill>
              </a:rPr>
              <a:t>привлекателни</a:t>
            </a:r>
          </a:p>
          <a:p>
            <a:pPr lvl="1"/>
            <a:r>
              <a:rPr lang="bg-BG" sz="3400" b="1" dirty="0">
                <a:solidFill>
                  <a:schemeClr val="bg1"/>
                </a:solidFill>
              </a:rPr>
              <a:t>Съвместими</a:t>
            </a:r>
            <a:r>
              <a:rPr lang="bg-BG" sz="3400" dirty="0"/>
              <a:t> с </a:t>
            </a:r>
            <a:r>
              <a:rPr lang="bg-BG" sz="3400" b="1" dirty="0"/>
              <a:t>различни устройства </a:t>
            </a:r>
            <a:r>
              <a:rPr lang="bg-BG" sz="3400" dirty="0"/>
              <a:t>и </a:t>
            </a:r>
            <a:r>
              <a:rPr lang="bg-BG" sz="3400" b="1" dirty="0"/>
              <a:t>потребности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Цел на проектирането на </a:t>
            </a:r>
            <a:r>
              <a:rPr lang="bg-BG" sz="4000" dirty="0"/>
              <a:t>уеб страници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B9C649-FF4F-3C19-3586-0B60827575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2875" y="2124000"/>
            <a:ext cx="2953125" cy="37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892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8695598" cy="5528766"/>
          </a:xfrm>
        </p:spPr>
        <p:txBody>
          <a:bodyPr>
            <a:normAutofit/>
          </a:bodyPr>
          <a:lstStyle/>
          <a:p>
            <a:r>
              <a:rPr lang="bg-BG" sz="3200" b="1" dirty="0">
                <a:solidFill>
                  <a:schemeClr val="bg1"/>
                </a:solidFill>
              </a:rPr>
              <a:t>Събиране и анализ на информация</a:t>
            </a:r>
          </a:p>
          <a:p>
            <a:pPr lvl="1"/>
            <a:r>
              <a:rPr lang="bg-BG" sz="3000" dirty="0"/>
              <a:t>Изясняване </a:t>
            </a:r>
            <a:r>
              <a:rPr lang="bg-BG" sz="3000" b="1" dirty="0"/>
              <a:t>какво</a:t>
            </a:r>
            <a:r>
              <a:rPr lang="bg-BG" sz="3000" dirty="0"/>
              <a:t> </a:t>
            </a:r>
            <a:r>
              <a:rPr lang="bg-BG" sz="3000" b="1" dirty="0"/>
              <a:t>ще съдържа уеб страницата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Изготвяне на схематичен дизайн </a:t>
            </a:r>
            <a:r>
              <a:rPr lang="bg-BG" sz="3200" b="1" dirty="0"/>
              <a:t>(</a:t>
            </a:r>
            <a:r>
              <a:rPr lang="en-US" sz="3200" b="1" dirty="0"/>
              <a:t>wireframe</a:t>
            </a:r>
            <a:r>
              <a:rPr lang="bg-BG" sz="3200" b="1" dirty="0"/>
              <a:t>)</a:t>
            </a:r>
            <a:endParaRPr lang="en-US" sz="3200" b="1" dirty="0"/>
          </a:p>
          <a:p>
            <a:pPr lvl="1"/>
            <a:r>
              <a:rPr lang="bg-BG" sz="3000" dirty="0"/>
              <a:t>Изготвяне на </a:t>
            </a:r>
            <a:r>
              <a:rPr lang="bg-BG" sz="3000" b="1" dirty="0"/>
              <a:t>схема</a:t>
            </a:r>
            <a:r>
              <a:rPr lang="bg-BG" sz="3000" dirty="0"/>
              <a:t> за </a:t>
            </a:r>
            <a:r>
              <a:rPr lang="bg-BG" sz="3000" b="1" dirty="0"/>
              <a:t>визуализиране</a:t>
            </a:r>
            <a:r>
              <a:rPr lang="bg-BG" sz="3000" dirty="0"/>
              <a:t> на </a:t>
            </a:r>
            <a:r>
              <a:rPr lang="bg-BG" sz="3000" b="1" dirty="0"/>
              <a:t>елементите</a:t>
            </a:r>
            <a:r>
              <a:rPr lang="bg-BG" sz="3000" dirty="0"/>
              <a:t> в</a:t>
            </a:r>
            <a:r>
              <a:rPr lang="bg-BG" sz="3000" b="1" dirty="0"/>
              <a:t> уеб страницата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Изготвяне на графичен модел</a:t>
            </a:r>
          </a:p>
          <a:p>
            <a:pPr lvl="1"/>
            <a:r>
              <a:rPr lang="bg-BG" sz="3000" dirty="0"/>
              <a:t>Създаване на </a:t>
            </a:r>
            <a:r>
              <a:rPr lang="bg-BG" sz="3000" b="1" dirty="0"/>
              <a:t>детайлен визуален дизайн </a:t>
            </a:r>
            <a:r>
              <a:rPr lang="bg-BG" sz="3000" dirty="0"/>
              <a:t>на </a:t>
            </a:r>
            <a:r>
              <a:rPr lang="bg-BG" sz="3000" b="1" dirty="0"/>
              <a:t>уеб страницата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3600" dirty="0"/>
              <a:t>Основни етапи в проектирането на уеб страници</a:t>
            </a:r>
            <a:endParaRPr lang="en-US" sz="3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88CEB5-6D8A-D301-721B-A11A5CA28B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5978" y="1883287"/>
            <a:ext cx="2577052" cy="4154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141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Външен вид и взаимодействие с потребителя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Графичен интерфейс</a:t>
            </a:r>
            <a:endParaRPr lang="en-US" sz="6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D18732-9E80-D1D4-B1B3-1028203234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69" t="31963" r="21558" b="32028"/>
          <a:stretch/>
        </p:blipFill>
        <p:spPr>
          <a:xfrm>
            <a:off x="4812774" y="1855837"/>
            <a:ext cx="2566452" cy="1623674"/>
          </a:xfrm>
          <a:prstGeom prst="rect">
            <a:avLst/>
          </a:prstGeom>
          <a:solidFill>
            <a:schemeClr val="bg2"/>
          </a:solidFill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4000" dirty="0"/>
              <a:t>Графичен интерфейс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b="1" dirty="0">
                <a:solidFill>
                  <a:schemeClr val="bg1"/>
                </a:solidFill>
              </a:rPr>
              <a:t>Визуалната част </a:t>
            </a:r>
            <a:r>
              <a:rPr lang="bg-BG" sz="3600" dirty="0"/>
              <a:t>на </a:t>
            </a:r>
            <a:r>
              <a:rPr lang="bg-BG" sz="3600" b="1" dirty="0"/>
              <a:t>уеб страницата</a:t>
            </a:r>
            <a:r>
              <a:rPr lang="bg-BG" sz="3600" dirty="0"/>
              <a:t>, с която </a:t>
            </a:r>
            <a:r>
              <a:rPr lang="bg-BG" sz="3600" b="1" dirty="0"/>
              <a:t>потребителят</a:t>
            </a:r>
            <a:r>
              <a:rPr lang="bg-BG" sz="3600" dirty="0"/>
              <a:t> </a:t>
            </a:r>
            <a:r>
              <a:rPr lang="bg-BG" sz="3600" b="1" dirty="0">
                <a:solidFill>
                  <a:schemeClr val="bg1"/>
                </a:solidFill>
              </a:rPr>
              <a:t>взаимодейства</a:t>
            </a:r>
            <a:r>
              <a:rPr lang="bg-BG" sz="3600" dirty="0"/>
              <a:t> със </a:t>
            </a:r>
            <a:r>
              <a:rPr lang="bg-BG" sz="3600" b="1" dirty="0">
                <a:solidFill>
                  <a:schemeClr val="bg1"/>
                </a:solidFill>
              </a:rPr>
              <a:t>съдържанието</a:t>
            </a:r>
          </a:p>
          <a:p>
            <a:r>
              <a:rPr lang="bg-BG" sz="3600" dirty="0"/>
              <a:t>Включва </a:t>
            </a:r>
            <a:r>
              <a:rPr lang="bg-BG" sz="3600" b="1" dirty="0">
                <a:solidFill>
                  <a:schemeClr val="bg1"/>
                </a:solidFill>
              </a:rPr>
              <a:t>подредбата</a:t>
            </a:r>
            <a:r>
              <a:rPr lang="bg-BG" sz="3600" dirty="0"/>
              <a:t> на </a:t>
            </a:r>
            <a:r>
              <a:rPr lang="bg-BG" sz="3600" b="1" dirty="0"/>
              <a:t>всички елементи </a:t>
            </a:r>
            <a:r>
              <a:rPr lang="bg-BG" sz="3600" dirty="0"/>
              <a:t>на </a:t>
            </a:r>
            <a:r>
              <a:rPr lang="bg-BG" sz="3600" b="1" dirty="0"/>
              <a:t>уеб страницата</a:t>
            </a:r>
            <a:r>
              <a:rPr lang="bg-BG" sz="3600" dirty="0"/>
              <a:t> (меню, текст, изображения и т.н.</a:t>
            </a:r>
            <a:r>
              <a:rPr lang="en-US" sz="3600" dirty="0"/>
              <a:t>)</a:t>
            </a:r>
            <a:endParaRPr lang="bg-BG" sz="3600" dirty="0"/>
          </a:p>
          <a:p>
            <a:endParaRPr lang="bg-BG" sz="3600" dirty="0"/>
          </a:p>
          <a:p>
            <a:endParaRPr lang="en-BG" sz="3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B9435C-0522-6B7C-78C0-0DD062817A4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76" t="19150" r="13774" b="19847"/>
          <a:stretch/>
        </p:blipFill>
        <p:spPr>
          <a:xfrm>
            <a:off x="3909820" y="3882910"/>
            <a:ext cx="4372360" cy="284198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545654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Графичен дизайн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4000" b="1" dirty="0"/>
              <a:t>Процесът</a:t>
            </a:r>
            <a:r>
              <a:rPr lang="bg-BG" sz="4000" dirty="0"/>
              <a:t> на </a:t>
            </a:r>
            <a:r>
              <a:rPr lang="bg-BG" sz="4000" b="1" dirty="0"/>
              <a:t>оформянето</a:t>
            </a:r>
            <a:r>
              <a:rPr lang="bg-BG" sz="4000" dirty="0"/>
              <a:t> на </a:t>
            </a:r>
            <a:r>
              <a:rPr lang="bg-BG" sz="4000" b="1" dirty="0">
                <a:solidFill>
                  <a:schemeClr val="bg1"/>
                </a:solidFill>
              </a:rPr>
              <a:t>външния вид </a:t>
            </a:r>
            <a:r>
              <a:rPr lang="bg-BG" sz="4000" dirty="0"/>
              <a:t>на </a:t>
            </a:r>
            <a:r>
              <a:rPr lang="bg-BG" sz="4000" b="1" dirty="0"/>
              <a:t>уеб страницата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661608-4580-762E-52C1-89456401260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22" t="4784" r="14403" b="7985"/>
          <a:stretch/>
        </p:blipFill>
        <p:spPr>
          <a:xfrm>
            <a:off x="3532011" y="2655000"/>
            <a:ext cx="5127978" cy="414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547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Основни елементи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Схематичен дизайн (</a:t>
            </a:r>
            <a:r>
              <a:rPr lang="en-GB" sz="6000" dirty="0"/>
              <a:t>Wireframe)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A5F211-CCC2-4BA9-DC0B-DE56D57DD2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07" t="14721" r="18764" b="17110"/>
          <a:stretch/>
        </p:blipFill>
        <p:spPr>
          <a:xfrm>
            <a:off x="4579975" y="1385091"/>
            <a:ext cx="3032049" cy="2313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Схематичен дизайн (</a:t>
            </a:r>
            <a:r>
              <a:rPr lang="en-GB" dirty="0"/>
              <a:t>Wireframe)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Структурен план </a:t>
            </a:r>
            <a:r>
              <a:rPr lang="bg-BG" sz="3600" dirty="0"/>
              <a:t>(</a:t>
            </a:r>
            <a:r>
              <a:rPr lang="bg-BG" sz="3600" b="1" dirty="0"/>
              <a:t>схема</a:t>
            </a:r>
            <a:r>
              <a:rPr lang="bg-BG" sz="3600" dirty="0"/>
              <a:t>, </a:t>
            </a:r>
            <a:r>
              <a:rPr lang="bg-BG" sz="3600" b="1" dirty="0"/>
              <a:t>макет</a:t>
            </a:r>
            <a:r>
              <a:rPr lang="en-US" sz="3600" dirty="0"/>
              <a:t>)</a:t>
            </a:r>
            <a:r>
              <a:rPr lang="bg-BG" sz="3600" dirty="0"/>
              <a:t> на </a:t>
            </a:r>
            <a:r>
              <a:rPr lang="bg-BG" sz="3600" b="1" dirty="0"/>
              <a:t>уеб страница</a:t>
            </a:r>
          </a:p>
          <a:p>
            <a:pPr>
              <a:buClr>
                <a:schemeClr val="tx2"/>
              </a:buClr>
            </a:pPr>
            <a:r>
              <a:rPr lang="bg-BG" sz="3600" b="1" dirty="0"/>
              <a:t>Основата</a:t>
            </a:r>
            <a:r>
              <a:rPr lang="bg-BG" sz="3600" dirty="0"/>
              <a:t>, върху която се </a:t>
            </a:r>
            <a:r>
              <a:rPr lang="bg-BG" sz="3600" b="1" dirty="0"/>
              <a:t>изгражда</a:t>
            </a:r>
            <a:r>
              <a:rPr lang="bg-BG" sz="3600" dirty="0"/>
              <a:t> </a:t>
            </a:r>
            <a:r>
              <a:rPr lang="bg-BG" sz="3600" b="1" dirty="0">
                <a:solidFill>
                  <a:schemeClr val="bg1"/>
                </a:solidFill>
              </a:rPr>
              <a:t>графичният модел</a:t>
            </a:r>
            <a:endParaRPr lang="en-US" sz="3600" b="1" dirty="0">
              <a:solidFill>
                <a:schemeClr val="bg1"/>
              </a:solidFill>
            </a:endParaRPr>
          </a:p>
          <a:p>
            <a:pPr>
              <a:buClr>
                <a:schemeClr val="tx2"/>
              </a:buClr>
            </a:pPr>
            <a:r>
              <a:rPr lang="bg-BG" sz="3600" b="1" dirty="0"/>
              <a:t>Може</a:t>
            </a:r>
            <a:r>
              <a:rPr lang="bg-BG" sz="3600" dirty="0"/>
              <a:t> да се </a:t>
            </a:r>
            <a:r>
              <a:rPr lang="bg-BG" sz="3600" b="1" dirty="0"/>
              <a:t>изготви</a:t>
            </a:r>
            <a:r>
              <a:rPr lang="bg-BG" sz="3600" dirty="0"/>
              <a:t> със </a:t>
            </a:r>
            <a:r>
              <a:rPr lang="bg-BG" sz="3600" b="1" dirty="0">
                <a:solidFill>
                  <a:schemeClr val="bg1"/>
                </a:solidFill>
              </a:rPr>
              <a:t>софтуер</a:t>
            </a:r>
            <a:r>
              <a:rPr lang="bg-BG" sz="3600" dirty="0"/>
              <a:t> или на </a:t>
            </a:r>
            <a:r>
              <a:rPr lang="bg-BG" sz="3600" b="1" dirty="0">
                <a:solidFill>
                  <a:schemeClr val="bg1"/>
                </a:solidFill>
              </a:rPr>
              <a:t>хартия</a:t>
            </a:r>
            <a:endParaRPr lang="bg-BG" sz="3200" b="1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44F108D-21A3-39FB-E051-B88FAFE871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75454" y="3246861"/>
            <a:ext cx="5441091" cy="3627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784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Цел на схематичния дизайн</a:t>
            </a:r>
            <a:endParaRPr lang="en-GB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165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800" b="1" dirty="0"/>
              <a:t>Схематичният дизайн </a:t>
            </a:r>
            <a:r>
              <a:rPr lang="bg-BG" sz="3800" dirty="0"/>
              <a:t>показва:</a:t>
            </a:r>
          </a:p>
          <a:p>
            <a:pPr lvl="1">
              <a:buClr>
                <a:schemeClr val="tx2"/>
              </a:buClr>
            </a:pPr>
            <a:r>
              <a:rPr lang="bg-BG" sz="3600" b="1" dirty="0"/>
              <a:t>Какви </a:t>
            </a:r>
            <a:r>
              <a:rPr lang="bg-BG" sz="3600" b="1" dirty="0">
                <a:solidFill>
                  <a:schemeClr val="bg1"/>
                </a:solidFill>
              </a:rPr>
              <a:t>елементи</a:t>
            </a:r>
            <a:r>
              <a:rPr lang="bg-BG" sz="3600" b="1" dirty="0"/>
              <a:t> </a:t>
            </a:r>
            <a:r>
              <a:rPr lang="bg-BG" sz="3600" dirty="0"/>
              <a:t>ще има </a:t>
            </a:r>
            <a:r>
              <a:rPr lang="en-US" sz="3600" dirty="0"/>
              <a:t>(</a:t>
            </a:r>
            <a:r>
              <a:rPr lang="bg-BG" sz="3600" dirty="0"/>
              <a:t>заглавие, меню, снимки и т.н.</a:t>
            </a:r>
            <a:r>
              <a:rPr lang="en-US" sz="3600" dirty="0"/>
              <a:t>)</a:t>
            </a:r>
            <a:endParaRPr lang="bg-BG" sz="3600" dirty="0"/>
          </a:p>
          <a:p>
            <a:pPr lvl="1">
              <a:buClr>
                <a:schemeClr val="tx2"/>
              </a:buClr>
            </a:pPr>
            <a:r>
              <a:rPr lang="bg-BG" sz="3600" b="1" dirty="0"/>
              <a:t>Как </a:t>
            </a:r>
            <a:r>
              <a:rPr lang="bg-BG" sz="3600" dirty="0"/>
              <a:t>ще бъдат </a:t>
            </a:r>
            <a:r>
              <a:rPr lang="bg-BG" sz="3600" b="1" dirty="0">
                <a:solidFill>
                  <a:schemeClr val="bg1"/>
                </a:solidFill>
              </a:rPr>
              <a:t>подредени</a:t>
            </a:r>
            <a:r>
              <a:rPr lang="bg-BG" sz="3600" b="1" dirty="0"/>
              <a:t> </a:t>
            </a:r>
            <a:r>
              <a:rPr lang="bg-BG" sz="3600" b="1" dirty="0">
                <a:solidFill>
                  <a:schemeClr val="bg1"/>
                </a:solidFill>
              </a:rPr>
              <a:t>елементите</a:t>
            </a:r>
          </a:p>
          <a:p>
            <a:pPr lvl="1"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Връзките</a:t>
            </a:r>
            <a:r>
              <a:rPr lang="bg-BG" sz="3600" dirty="0"/>
              <a:t> между </a:t>
            </a:r>
            <a:r>
              <a:rPr lang="bg-BG" sz="3600" b="1" dirty="0"/>
              <a:t>отделните секции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CC3CC7-1D77-23A6-83DC-EBD32E4667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9477" y="2214000"/>
            <a:ext cx="4163553" cy="3077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106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dirty="0"/>
              <a:t>Основни елементи на схематичния дизайн</a:t>
            </a:r>
            <a:r>
              <a:rPr lang="en-US" dirty="0"/>
              <a:t> (1)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805598" cy="5528766"/>
          </a:xfrm>
        </p:spPr>
        <p:txBody>
          <a:bodyPr>
            <a:normAutofit fontScale="92500"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Хедър</a:t>
            </a:r>
            <a:r>
              <a:rPr lang="bg-BG" sz="3600" b="1" dirty="0"/>
              <a:t> (</a:t>
            </a:r>
            <a:r>
              <a:rPr lang="en-US" sz="3600" b="1" dirty="0"/>
              <a:t>Header</a:t>
            </a:r>
            <a:r>
              <a:rPr lang="bg-BG" sz="3600" b="1" dirty="0"/>
              <a:t>)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Най-горната част </a:t>
            </a:r>
            <a:r>
              <a:rPr lang="bg-BG" sz="3400" dirty="0"/>
              <a:t>на </a:t>
            </a:r>
            <a:r>
              <a:rPr lang="bg-BG" sz="3400" b="1" dirty="0"/>
              <a:t>уеб страницата</a:t>
            </a:r>
            <a:endParaRPr lang="en-US" sz="3400" b="1" dirty="0"/>
          </a:p>
          <a:p>
            <a:pPr lvl="1">
              <a:buClr>
                <a:schemeClr val="tx2"/>
              </a:buClr>
            </a:pPr>
            <a:r>
              <a:rPr lang="bg-BG" sz="3400" b="1" dirty="0"/>
              <a:t>Лого</a:t>
            </a:r>
            <a:r>
              <a:rPr lang="bg-BG" sz="3400" dirty="0"/>
              <a:t>, </a:t>
            </a:r>
            <a:r>
              <a:rPr lang="bg-BG" sz="3400" b="1" dirty="0"/>
              <a:t>навигация</a:t>
            </a:r>
            <a:r>
              <a:rPr lang="bg-BG" sz="3400" dirty="0"/>
              <a:t>, </a:t>
            </a:r>
            <a:r>
              <a:rPr lang="bg-BG" sz="3400" b="1" dirty="0"/>
              <a:t>търсачка</a:t>
            </a:r>
            <a:r>
              <a:rPr lang="bg-BG" sz="3400" dirty="0"/>
              <a:t> и </a:t>
            </a:r>
            <a:r>
              <a:rPr lang="bg-BG" sz="3400" b="1" dirty="0"/>
              <a:t>др</a:t>
            </a:r>
            <a:r>
              <a:rPr lang="bg-BG" sz="3400" dirty="0"/>
              <a:t>.</a:t>
            </a:r>
          </a:p>
          <a:p>
            <a:pPr>
              <a:buClr>
                <a:schemeClr val="tx2"/>
              </a:buClr>
            </a:pPr>
            <a:r>
              <a:rPr lang="en-US" sz="3600" dirty="0"/>
              <a:t>"</a:t>
            </a:r>
            <a:r>
              <a:rPr lang="en-US" sz="3600" b="1" dirty="0">
                <a:solidFill>
                  <a:schemeClr val="bg1"/>
                </a:solidFill>
              </a:rPr>
              <a:t>Hero</a:t>
            </a:r>
            <a:r>
              <a:rPr lang="en-US" sz="3600" dirty="0"/>
              <a:t>"</a:t>
            </a:r>
            <a:r>
              <a:rPr lang="en-US" sz="3600" b="1" dirty="0">
                <a:solidFill>
                  <a:schemeClr val="bg1"/>
                </a:solidFill>
              </a:rPr>
              <a:t> </a:t>
            </a:r>
            <a:r>
              <a:rPr lang="bg-BG" sz="3600" b="1" dirty="0">
                <a:solidFill>
                  <a:schemeClr val="bg1"/>
                </a:solidFill>
              </a:rPr>
              <a:t>секция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Първото нещо</a:t>
            </a:r>
            <a:r>
              <a:rPr lang="bg-BG" sz="3400" dirty="0"/>
              <a:t>, което </a:t>
            </a:r>
            <a:r>
              <a:rPr lang="bg-BG" sz="3400" b="1" dirty="0"/>
              <a:t>потребителят вижда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Съдържа</a:t>
            </a:r>
            <a:r>
              <a:rPr lang="bg-BG" sz="3400" b="1" dirty="0"/>
              <a:t> заглавие</a:t>
            </a:r>
            <a:r>
              <a:rPr lang="bg-BG" sz="3400" dirty="0"/>
              <a:t>, </a:t>
            </a:r>
            <a:r>
              <a:rPr lang="bg-BG" sz="3400" b="1" dirty="0"/>
              <a:t>кратко представяне</a:t>
            </a:r>
            <a:r>
              <a:rPr lang="bg-BG" sz="3400" dirty="0"/>
              <a:t>, </a:t>
            </a:r>
            <a:r>
              <a:rPr lang="bg-BG" sz="3400" b="1" dirty="0"/>
              <a:t>бутон</a:t>
            </a:r>
            <a:r>
              <a:rPr lang="bg-BG" sz="3400" dirty="0"/>
              <a:t> и </a:t>
            </a:r>
            <a:r>
              <a:rPr lang="bg-BG" sz="3400" b="1" dirty="0"/>
              <a:t>др</a:t>
            </a:r>
            <a:r>
              <a:rPr lang="bg-BG" sz="3400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5ADBE6-CFE3-45F5-A8E4-682AA87E968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7577"/>
          <a:stretch/>
        </p:blipFill>
        <p:spPr>
          <a:xfrm>
            <a:off x="6555214" y="2912294"/>
            <a:ext cx="5197816" cy="2096427"/>
          </a:xfrm>
          <a:prstGeom prst="rect">
            <a:avLst/>
          </a:prstGeom>
        </p:spPr>
      </p:pic>
      <p:sp>
        <p:nvSpPr>
          <p:cNvPr id="6" name="Rounded Rectangular Callout 8">
            <a:extLst>
              <a:ext uri="{FF2B5EF4-FFF2-40B4-BE49-F238E27FC236}">
                <a16:creationId xmlns:a16="http://schemas.microsoft.com/office/drawing/2014/main" id="{38D810AA-AD24-0A4E-76EB-EB451E8D3A1A}"/>
              </a:ext>
            </a:extLst>
          </p:cNvPr>
          <p:cNvSpPr/>
          <p:nvPr/>
        </p:nvSpPr>
        <p:spPr bwMode="auto">
          <a:xfrm>
            <a:off x="8886000" y="1729660"/>
            <a:ext cx="2430000" cy="649100"/>
          </a:xfrm>
          <a:prstGeom prst="wedgeRoundRectCallout">
            <a:avLst>
              <a:gd name="adj1" fmla="val 1669"/>
              <a:gd name="adj2" fmla="val 171781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Header</a:t>
            </a:r>
            <a:endParaRPr lang="en-BG" sz="28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Rounded Rectangular Callout 8">
            <a:extLst>
              <a:ext uri="{FF2B5EF4-FFF2-40B4-BE49-F238E27FC236}">
                <a16:creationId xmlns:a16="http://schemas.microsoft.com/office/drawing/2014/main" id="{1E6B35CA-69AD-EA1B-F9FA-C32025A0D3BB}"/>
              </a:ext>
            </a:extLst>
          </p:cNvPr>
          <p:cNvSpPr/>
          <p:nvPr/>
        </p:nvSpPr>
        <p:spPr bwMode="auto">
          <a:xfrm>
            <a:off x="6944515" y="5337325"/>
            <a:ext cx="2430000" cy="649100"/>
          </a:xfrm>
          <a:prstGeom prst="wedgeRoundRectCallout">
            <a:avLst>
              <a:gd name="adj1" fmla="val 34737"/>
              <a:gd name="adj2" fmla="val -156920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Hero</a:t>
            </a:r>
            <a:endParaRPr lang="en-BG" sz="28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08295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dirty="0"/>
              <a:t>Основни елементи на схематичния дизайн</a:t>
            </a:r>
            <a:r>
              <a:rPr lang="en-US" dirty="0"/>
              <a:t> (2)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760598" cy="5528766"/>
          </a:xfrm>
        </p:spPr>
        <p:txBody>
          <a:bodyPr>
            <a:normAutofit fontScale="92500" lnSpcReduction="10000"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Основно съдържание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По-детайлна информация</a:t>
            </a:r>
            <a:r>
              <a:rPr lang="bg-BG" sz="3400" dirty="0"/>
              <a:t>, подредена в </a:t>
            </a:r>
            <a:r>
              <a:rPr lang="bg-BG" sz="3400" b="1" dirty="0"/>
              <a:t>секции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Съдържа</a:t>
            </a:r>
            <a:r>
              <a:rPr lang="bg-BG" sz="3400" b="1" dirty="0"/>
              <a:t> текстове</a:t>
            </a:r>
            <a:r>
              <a:rPr lang="bg-BG" sz="3400" dirty="0"/>
              <a:t>, </a:t>
            </a:r>
            <a:r>
              <a:rPr lang="bg-BG" sz="3400" b="1" dirty="0"/>
              <a:t>изображения</a:t>
            </a:r>
            <a:r>
              <a:rPr lang="bg-BG" sz="3400" dirty="0"/>
              <a:t>, </a:t>
            </a:r>
            <a:r>
              <a:rPr lang="bg-BG" sz="3400" b="1" dirty="0"/>
              <a:t>видеа</a:t>
            </a:r>
            <a:r>
              <a:rPr lang="bg-BG" sz="3400" dirty="0"/>
              <a:t> и </a:t>
            </a:r>
            <a:r>
              <a:rPr lang="bg-BG" sz="3400" b="1" dirty="0"/>
              <a:t>др</a:t>
            </a:r>
            <a:r>
              <a:rPr lang="bg-BG" sz="3400" dirty="0"/>
              <a:t>.</a:t>
            </a:r>
            <a:endParaRPr lang="bg-BG" sz="3600" b="1" dirty="0"/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Футър</a:t>
            </a:r>
            <a:r>
              <a:rPr lang="bg-BG" sz="3600" b="1" dirty="0"/>
              <a:t> (</a:t>
            </a:r>
            <a:r>
              <a:rPr lang="en-US" sz="3600" b="1" dirty="0"/>
              <a:t>Footer</a:t>
            </a:r>
            <a:r>
              <a:rPr lang="bg-BG" sz="3600" b="1" dirty="0"/>
              <a:t>)</a:t>
            </a:r>
          </a:p>
          <a:p>
            <a:pPr lvl="1">
              <a:buClr>
                <a:schemeClr val="tx2"/>
              </a:buClr>
            </a:pPr>
            <a:r>
              <a:rPr lang="bg-BG" sz="3000" b="1" dirty="0"/>
              <a:t>Най-долната част </a:t>
            </a:r>
            <a:r>
              <a:rPr lang="bg-BG" sz="3000" dirty="0"/>
              <a:t>на</a:t>
            </a:r>
            <a:r>
              <a:rPr lang="bg-BG" sz="3000" b="1" dirty="0"/>
              <a:t> уеб страницата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Съдържа </a:t>
            </a:r>
            <a:r>
              <a:rPr lang="bg-BG" sz="3400" b="1" dirty="0"/>
              <a:t>контакти</a:t>
            </a:r>
            <a:r>
              <a:rPr lang="bg-BG" sz="3400" dirty="0"/>
              <a:t>, </a:t>
            </a:r>
            <a:r>
              <a:rPr lang="bg-BG" sz="3400" b="1" dirty="0"/>
              <a:t>линкове</a:t>
            </a:r>
            <a:r>
              <a:rPr lang="bg-BG" sz="3400" dirty="0"/>
              <a:t> към </a:t>
            </a:r>
            <a:r>
              <a:rPr lang="bg-BG" sz="3400" b="1" dirty="0"/>
              <a:t>социални мрежи</a:t>
            </a:r>
            <a:r>
              <a:rPr lang="bg-BG" sz="3400" dirty="0"/>
              <a:t>, </a:t>
            </a:r>
            <a:r>
              <a:rPr lang="bg-BG" sz="3400" b="1" dirty="0"/>
              <a:t>авторски права </a:t>
            </a:r>
            <a:r>
              <a:rPr lang="bg-BG" sz="3400" dirty="0"/>
              <a:t>и </a:t>
            </a:r>
            <a:r>
              <a:rPr lang="bg-BG" sz="3400" b="1" dirty="0"/>
              <a:t>др</a:t>
            </a:r>
            <a:r>
              <a:rPr lang="bg-BG" sz="3400" dirty="0"/>
              <a:t>.</a:t>
            </a:r>
            <a:endParaRPr lang="en-US" sz="3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798252-7C8A-F47B-9109-C1433D478AB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412"/>
          <a:stretch/>
        </p:blipFill>
        <p:spPr>
          <a:xfrm>
            <a:off x="7061092" y="2624344"/>
            <a:ext cx="4880881" cy="2672327"/>
          </a:xfrm>
          <a:prstGeom prst="rect">
            <a:avLst/>
          </a:prstGeom>
        </p:spPr>
      </p:pic>
      <p:sp>
        <p:nvSpPr>
          <p:cNvPr id="5" name="Rounded Rectangular Callout 8">
            <a:extLst>
              <a:ext uri="{FF2B5EF4-FFF2-40B4-BE49-F238E27FC236}">
                <a16:creationId xmlns:a16="http://schemas.microsoft.com/office/drawing/2014/main" id="{AD6FD715-07D1-EC0C-AE2B-9D2B3E0770BD}"/>
              </a:ext>
            </a:extLst>
          </p:cNvPr>
          <p:cNvSpPr/>
          <p:nvPr/>
        </p:nvSpPr>
        <p:spPr bwMode="auto">
          <a:xfrm>
            <a:off x="8886000" y="1729660"/>
            <a:ext cx="2430000" cy="649100"/>
          </a:xfrm>
          <a:prstGeom prst="wedgeRoundRectCallout">
            <a:avLst>
              <a:gd name="adj1" fmla="val 1669"/>
              <a:gd name="adj2" fmla="val 171781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Main content</a:t>
            </a:r>
            <a:endParaRPr lang="en-BG" sz="28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Rounded Rectangular Callout 8">
            <a:extLst>
              <a:ext uri="{FF2B5EF4-FFF2-40B4-BE49-F238E27FC236}">
                <a16:creationId xmlns:a16="http://schemas.microsoft.com/office/drawing/2014/main" id="{4F8B81EB-88AA-12E9-E730-A30E646FDD18}"/>
              </a:ext>
            </a:extLst>
          </p:cNvPr>
          <p:cNvSpPr/>
          <p:nvPr/>
        </p:nvSpPr>
        <p:spPr bwMode="auto">
          <a:xfrm>
            <a:off x="6951000" y="5693819"/>
            <a:ext cx="2430000" cy="649100"/>
          </a:xfrm>
          <a:prstGeom prst="wedgeRoundRectCallout">
            <a:avLst>
              <a:gd name="adj1" fmla="val 34737"/>
              <a:gd name="adj2" fmla="val -156920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Footer</a:t>
            </a:r>
            <a:endParaRPr lang="en-BG" sz="28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856288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Autofit/>
          </a:bodyPr>
          <a:lstStyle/>
          <a:p>
            <a:r>
              <a:rPr lang="bg-BG" sz="3600" dirty="0"/>
              <a:t>Основни елементи на схематичния дизайн</a:t>
            </a:r>
            <a:r>
              <a:rPr lang="en-US" sz="3600" dirty="0"/>
              <a:t> (3)</a:t>
            </a:r>
            <a:endParaRPr lang="en-US" sz="38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C076270-3581-64DE-2C80-4507972E93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37090" y="1265517"/>
            <a:ext cx="5517820" cy="5245956"/>
          </a:xfrm>
          <a:prstGeom prst="rect">
            <a:avLst/>
          </a:prstGeom>
        </p:spPr>
      </p:pic>
      <p:sp>
        <p:nvSpPr>
          <p:cNvPr id="3" name="Rounded Rectangular Callout 8">
            <a:extLst>
              <a:ext uri="{FF2B5EF4-FFF2-40B4-BE49-F238E27FC236}">
                <a16:creationId xmlns:a16="http://schemas.microsoft.com/office/drawing/2014/main" id="{839641B1-7B13-9976-3533-C9EB3142F9CB}"/>
              </a:ext>
            </a:extLst>
          </p:cNvPr>
          <p:cNvSpPr/>
          <p:nvPr/>
        </p:nvSpPr>
        <p:spPr bwMode="auto">
          <a:xfrm>
            <a:off x="671775" y="1265517"/>
            <a:ext cx="2430000" cy="649100"/>
          </a:xfrm>
          <a:prstGeom prst="wedgeRoundRectCallout">
            <a:avLst>
              <a:gd name="adj1" fmla="val 91182"/>
              <a:gd name="adj2" fmla="val 20236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Header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Rounded Rectangular Callout 8">
            <a:extLst>
              <a:ext uri="{FF2B5EF4-FFF2-40B4-BE49-F238E27FC236}">
                <a16:creationId xmlns:a16="http://schemas.microsoft.com/office/drawing/2014/main" id="{3A779DB7-76E2-28D1-D76E-A15B802AA15C}"/>
              </a:ext>
            </a:extLst>
          </p:cNvPr>
          <p:cNvSpPr/>
          <p:nvPr/>
        </p:nvSpPr>
        <p:spPr bwMode="auto">
          <a:xfrm>
            <a:off x="671775" y="4294284"/>
            <a:ext cx="2430000" cy="649100"/>
          </a:xfrm>
          <a:prstGeom prst="wedgeRoundRectCallout">
            <a:avLst>
              <a:gd name="adj1" fmla="val 91182"/>
              <a:gd name="adj2" fmla="val 20236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Main content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Rounded Rectangular Callout 8">
            <a:extLst>
              <a:ext uri="{FF2B5EF4-FFF2-40B4-BE49-F238E27FC236}">
                <a16:creationId xmlns:a16="http://schemas.microsoft.com/office/drawing/2014/main" id="{457B9697-3A2B-B3A1-864E-3CB5E16755E5}"/>
              </a:ext>
            </a:extLst>
          </p:cNvPr>
          <p:cNvSpPr/>
          <p:nvPr/>
        </p:nvSpPr>
        <p:spPr bwMode="auto">
          <a:xfrm>
            <a:off x="9075934" y="2290052"/>
            <a:ext cx="2430000" cy="649100"/>
          </a:xfrm>
          <a:prstGeom prst="wedgeRoundRectCallout">
            <a:avLst>
              <a:gd name="adj1" fmla="val -91835"/>
              <a:gd name="adj2" fmla="val 35177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Hero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" name="Rounded Rectangular Callout 8">
            <a:extLst>
              <a:ext uri="{FF2B5EF4-FFF2-40B4-BE49-F238E27FC236}">
                <a16:creationId xmlns:a16="http://schemas.microsoft.com/office/drawing/2014/main" id="{92B7E7A7-B268-694E-6393-1AAAC6647C91}"/>
              </a:ext>
            </a:extLst>
          </p:cNvPr>
          <p:cNvSpPr/>
          <p:nvPr/>
        </p:nvSpPr>
        <p:spPr bwMode="auto">
          <a:xfrm>
            <a:off x="9075934" y="5589000"/>
            <a:ext cx="2430000" cy="649100"/>
          </a:xfrm>
          <a:prstGeom prst="wedgeRoundRectCallout">
            <a:avLst>
              <a:gd name="adj1" fmla="val -91835"/>
              <a:gd name="adj2" fmla="val 35177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Footer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11364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en-GB" sz="4800" dirty="0"/>
              <a:t>Web Accessibility</a:t>
            </a:r>
            <a:endParaRPr lang="bg-BG" sz="48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Достъпност на уеб страници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3F575B-8C72-6AAE-C5CB-15945A1440A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166" t="26751" r="28333" b="27620"/>
          <a:stretch/>
        </p:blipFill>
        <p:spPr>
          <a:xfrm>
            <a:off x="4915591" y="1444122"/>
            <a:ext cx="2360818" cy="2355924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3935629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Способността</a:t>
            </a:r>
            <a:r>
              <a:rPr lang="bg-BG" sz="3600" dirty="0"/>
              <a:t> </a:t>
            </a:r>
            <a:r>
              <a:rPr lang="bg-BG" sz="3600" b="1" dirty="0"/>
              <a:t>уеб страниците </a:t>
            </a:r>
            <a:r>
              <a:rPr lang="bg-BG" sz="3600" dirty="0"/>
              <a:t>да се </a:t>
            </a:r>
            <a:r>
              <a:rPr lang="bg-BG" sz="3600" b="1" dirty="0"/>
              <a:t>използват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от хора с увреждания</a:t>
            </a:r>
          </a:p>
          <a:p>
            <a:pPr>
              <a:buClr>
                <a:schemeClr val="tx2"/>
              </a:buClr>
            </a:pPr>
            <a:r>
              <a:rPr lang="bg-BG" sz="3600" dirty="0"/>
              <a:t>Позволява </a:t>
            </a:r>
            <a:r>
              <a:rPr lang="bg-BG" sz="3600" b="1" dirty="0"/>
              <a:t>съдържанието</a:t>
            </a:r>
            <a:r>
              <a:rPr lang="bg-BG" sz="3600" dirty="0"/>
              <a:t> да може </a:t>
            </a:r>
            <a:r>
              <a:rPr lang="bg-BG" sz="3600" b="1" dirty="0"/>
              <a:t>да се възприема </a:t>
            </a:r>
            <a:r>
              <a:rPr lang="bg-BG" sz="3600" dirty="0"/>
              <a:t>с </a:t>
            </a:r>
            <a:r>
              <a:rPr lang="bg-BG" sz="3600" b="1" dirty="0">
                <a:solidFill>
                  <a:schemeClr val="bg1"/>
                </a:solidFill>
              </a:rPr>
              <a:t>различни сетива</a:t>
            </a:r>
          </a:p>
          <a:p>
            <a:pPr>
              <a:buClr>
                <a:schemeClr val="tx2"/>
              </a:buClr>
            </a:pPr>
            <a:endParaRPr lang="bg-BG" sz="36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3800" dirty="0"/>
              <a:t>Достъпност на уеб страници (</a:t>
            </a:r>
            <a:r>
              <a:rPr lang="en-GB" sz="3800" dirty="0"/>
              <a:t>Web Accessibility)</a:t>
            </a:r>
            <a:endParaRPr lang="en-US" sz="3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89BC1D-F99F-E644-9569-23C6762A98A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70" t="6330" r="14897" b="7960"/>
          <a:stretch/>
        </p:blipFill>
        <p:spPr>
          <a:xfrm>
            <a:off x="4071000" y="3574080"/>
            <a:ext cx="4050000" cy="3290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212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 lnSpcReduction="10000"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Алтернативен текст </a:t>
            </a:r>
            <a:r>
              <a:rPr lang="bg-BG" sz="3600" b="1" dirty="0"/>
              <a:t>(</a:t>
            </a:r>
            <a:r>
              <a:rPr lang="en-US" sz="3600" b="1" dirty="0"/>
              <a:t>alt text</a:t>
            </a:r>
            <a:r>
              <a:rPr lang="bg-BG" sz="3600" b="1" dirty="0"/>
              <a:t>) </a:t>
            </a:r>
            <a:r>
              <a:rPr lang="bg-BG" sz="3600" b="1" dirty="0">
                <a:solidFill>
                  <a:schemeClr val="bg1"/>
                </a:solidFill>
              </a:rPr>
              <a:t>на изображенията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Описват </a:t>
            </a:r>
            <a:r>
              <a:rPr lang="bg-BG" sz="3400" b="1" dirty="0"/>
              <a:t>изображението</a:t>
            </a:r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Контрастни цветове</a:t>
            </a:r>
            <a:endParaRPr lang="en-US" sz="3600" b="1" dirty="0">
              <a:solidFill>
                <a:schemeClr val="bg1"/>
              </a:solidFill>
            </a:endParaRPr>
          </a:p>
          <a:p>
            <a:pPr lvl="1">
              <a:buClr>
                <a:schemeClr val="tx2"/>
              </a:buClr>
            </a:pPr>
            <a:r>
              <a:rPr lang="bg-BG" sz="3400" dirty="0"/>
              <a:t>Помагат на </a:t>
            </a:r>
            <a:r>
              <a:rPr lang="bg-BG" sz="3400" b="1" dirty="0"/>
              <a:t>четимостта</a:t>
            </a:r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Възможност за различна навигация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Позволява </a:t>
            </a:r>
            <a:r>
              <a:rPr lang="bg-BG" sz="3400" b="1" dirty="0"/>
              <a:t>управление</a:t>
            </a:r>
            <a:r>
              <a:rPr lang="bg-BG" sz="3400" dirty="0"/>
              <a:t> </a:t>
            </a:r>
            <a:r>
              <a:rPr lang="bg-BG" sz="3400" b="1" dirty="0"/>
              <a:t>само</a:t>
            </a:r>
            <a:r>
              <a:rPr lang="bg-BG" sz="3400" dirty="0"/>
              <a:t> </a:t>
            </a:r>
            <a:r>
              <a:rPr lang="bg-BG" sz="3400" b="1" dirty="0"/>
              <a:t>чрез клавиатура</a:t>
            </a:r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Ясни шрифтове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големи бутони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Улесняват </a:t>
            </a:r>
            <a:r>
              <a:rPr lang="bg-BG" sz="3400" b="1" dirty="0"/>
              <a:t>ориентацията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4000" dirty="0"/>
              <a:t>Основни принципи на достъпността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4554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Предназначение на уеб страниците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bg-BG" sz="6000" dirty="0"/>
              <a:t>Типове уеб страници</a:t>
            </a:r>
            <a:endParaRPr lang="en-US" sz="6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48D165-7590-3D8A-F96D-3C6E022051A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7" t="18425" r="6063" b="19213"/>
          <a:stretch/>
        </p:blipFill>
        <p:spPr>
          <a:xfrm>
            <a:off x="4588500" y="1539000"/>
            <a:ext cx="3015000" cy="221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44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095782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dirty="0"/>
              <a:t>Различните </a:t>
            </a:r>
            <a:r>
              <a:rPr lang="bg-BG" sz="3600" b="1" dirty="0"/>
              <a:t>типове уеб страници </a:t>
            </a:r>
            <a:r>
              <a:rPr lang="bg-BG" sz="3600" dirty="0"/>
              <a:t>имат </a:t>
            </a:r>
            <a:r>
              <a:rPr lang="bg-BG" sz="3600" b="1" dirty="0">
                <a:solidFill>
                  <a:schemeClr val="bg1"/>
                </a:solidFill>
              </a:rPr>
              <a:t>специфична структура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цел</a:t>
            </a:r>
            <a:r>
              <a:rPr lang="bg-BG" sz="3600" dirty="0"/>
              <a:t> според тяхното </a:t>
            </a:r>
            <a:r>
              <a:rPr lang="bg-BG" sz="3600" b="1" dirty="0"/>
              <a:t>предназначение</a:t>
            </a:r>
          </a:p>
          <a:p>
            <a:pPr>
              <a:buClr>
                <a:schemeClr val="tx2"/>
              </a:buClr>
            </a:pPr>
            <a:r>
              <a:rPr lang="bg-BG" sz="3600" b="1" dirty="0"/>
              <a:t>Важно е </a:t>
            </a:r>
            <a:r>
              <a:rPr lang="bg-BG" sz="3600" dirty="0"/>
              <a:t>всяка </a:t>
            </a:r>
            <a:r>
              <a:rPr lang="bg-BG" sz="3600" b="1" dirty="0"/>
              <a:t>уеб страница </a:t>
            </a:r>
            <a:r>
              <a:rPr lang="bg-BG" sz="3600" dirty="0"/>
              <a:t>да има </a:t>
            </a:r>
            <a:r>
              <a:rPr lang="bg-BG" sz="3600" b="1" dirty="0">
                <a:solidFill>
                  <a:schemeClr val="bg1"/>
                </a:solidFill>
              </a:rPr>
              <a:t>ясна цел </a:t>
            </a:r>
            <a:r>
              <a:rPr lang="bg-BG" sz="3600" dirty="0"/>
              <a:t>и </a:t>
            </a:r>
            <a:r>
              <a:rPr lang="bg-BG" sz="3600" b="1" dirty="0">
                <a:solidFill>
                  <a:schemeClr val="bg1"/>
                </a:solidFill>
              </a:rPr>
              <a:t>логична връзка</a:t>
            </a:r>
            <a:r>
              <a:rPr lang="bg-BG" sz="3600" dirty="0"/>
              <a:t> с останалите в </a:t>
            </a:r>
            <a:r>
              <a:rPr lang="bg-BG" sz="3600" b="1" dirty="0"/>
              <a:t>уеб сайта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4000" dirty="0"/>
              <a:t>Типове уеб страници </a:t>
            </a:r>
            <a:r>
              <a:rPr lang="en-US" sz="4000" dirty="0"/>
              <a:t>(1)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F30C7B0-9980-44A0-3CC6-6B47209CD8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184" y="1449000"/>
            <a:ext cx="5925125" cy="4681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695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435598" cy="5528766"/>
          </a:xfrm>
        </p:spPr>
        <p:txBody>
          <a:bodyPr>
            <a:normAutofit lnSpcReduction="10000"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Начална страница</a:t>
            </a:r>
          </a:p>
          <a:p>
            <a:pPr lvl="1">
              <a:buClr>
                <a:schemeClr val="tx2"/>
              </a:buClr>
            </a:pPr>
            <a:r>
              <a:rPr lang="bg-BG" sz="3400" b="1" dirty="0">
                <a:solidFill>
                  <a:schemeClr val="bg1"/>
                </a:solidFill>
              </a:rPr>
              <a:t>Представя</a:t>
            </a:r>
            <a:r>
              <a:rPr lang="bg-BG" sz="3400" dirty="0"/>
              <a:t> </a:t>
            </a:r>
            <a:r>
              <a:rPr lang="bg-BG" sz="3400" b="1" dirty="0"/>
              <a:t>уеб сайта </a:t>
            </a:r>
            <a:r>
              <a:rPr lang="bg-BG" sz="3400" dirty="0"/>
              <a:t>и води </a:t>
            </a:r>
            <a:r>
              <a:rPr lang="bg-BG" sz="3400" b="1" dirty="0"/>
              <a:t>потребителя</a:t>
            </a:r>
            <a:r>
              <a:rPr lang="bg-BG" sz="3400" dirty="0"/>
              <a:t> към </a:t>
            </a:r>
            <a:r>
              <a:rPr lang="bg-BG" sz="3400" b="1" dirty="0"/>
              <a:t>основните раздели</a:t>
            </a:r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Продуктова страница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Съдържа </a:t>
            </a:r>
            <a:r>
              <a:rPr lang="bg-BG" sz="3400" b="1" dirty="0"/>
              <a:t>информация</a:t>
            </a:r>
            <a:r>
              <a:rPr lang="bg-BG" sz="3400" dirty="0"/>
              <a:t>, </a:t>
            </a:r>
            <a:r>
              <a:rPr lang="bg-BG" sz="3400" b="1" dirty="0"/>
              <a:t>изображения</a:t>
            </a:r>
            <a:r>
              <a:rPr lang="bg-BG" sz="3400" dirty="0"/>
              <a:t>, </a:t>
            </a:r>
            <a:r>
              <a:rPr lang="bg-BG" sz="3400" b="1" dirty="0"/>
              <a:t>бутони</a:t>
            </a:r>
            <a:r>
              <a:rPr lang="bg-BG" sz="3400" dirty="0"/>
              <a:t> и </a:t>
            </a:r>
            <a:r>
              <a:rPr lang="bg-BG" sz="3400" b="1" dirty="0"/>
              <a:t>др</a:t>
            </a:r>
            <a:r>
              <a:rPr lang="bg-BG" sz="3400" dirty="0"/>
              <a:t>. за </a:t>
            </a:r>
            <a:r>
              <a:rPr lang="bg-BG" sz="3400" b="1" dirty="0">
                <a:solidFill>
                  <a:schemeClr val="bg1"/>
                </a:solidFill>
              </a:rPr>
              <a:t>покупка</a:t>
            </a:r>
            <a:r>
              <a:rPr lang="bg-BG" sz="3400" dirty="0"/>
              <a:t> или </a:t>
            </a:r>
            <a:r>
              <a:rPr lang="bg-BG" sz="3400" b="1" dirty="0">
                <a:solidFill>
                  <a:schemeClr val="bg1"/>
                </a:solidFill>
              </a:rPr>
              <a:t>запитване</a:t>
            </a:r>
            <a:r>
              <a:rPr lang="bg-BG" sz="3400" dirty="0"/>
              <a:t> за даден </a:t>
            </a:r>
            <a:r>
              <a:rPr lang="bg-BG" sz="3400" b="1" dirty="0"/>
              <a:t>продукт</a:t>
            </a:r>
            <a:r>
              <a:rPr lang="bg-BG" sz="3400" dirty="0"/>
              <a:t> или </a:t>
            </a:r>
            <a:r>
              <a:rPr lang="bg-BG" sz="3400" b="1" dirty="0"/>
              <a:t>услуга</a:t>
            </a:r>
          </a:p>
          <a:p>
            <a:pPr lvl="1">
              <a:buClr>
                <a:schemeClr val="tx2"/>
              </a:buClr>
            </a:pPr>
            <a:endParaRPr lang="bg-BG" sz="34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4000" dirty="0"/>
              <a:t>Типове уеб страници </a:t>
            </a:r>
            <a:r>
              <a:rPr lang="en-US" sz="4000" dirty="0"/>
              <a:t>(</a:t>
            </a:r>
            <a:r>
              <a:rPr lang="bg-BG" sz="4000" dirty="0"/>
              <a:t>2</a:t>
            </a:r>
            <a:r>
              <a:rPr lang="en-US" sz="4000" dirty="0"/>
              <a:t>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1543B5-60D4-640B-8743-04BA0C69B8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8977" y="1226272"/>
            <a:ext cx="3182023" cy="2655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D1C766C-D11A-50E2-A965-1E61BE9DF6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6000" y="4164831"/>
            <a:ext cx="2835000" cy="2468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194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49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Контактна страница</a:t>
            </a:r>
          </a:p>
          <a:p>
            <a:pPr lvl="1">
              <a:buClr>
                <a:schemeClr val="tx2"/>
              </a:buClr>
            </a:pPr>
            <a:r>
              <a:rPr lang="bg-BG" sz="3200" dirty="0"/>
              <a:t>Включва </a:t>
            </a:r>
            <a:r>
              <a:rPr lang="bg-BG" sz="3200" b="1" dirty="0"/>
              <a:t>контактна форма</a:t>
            </a:r>
            <a:r>
              <a:rPr lang="bg-BG" sz="3200" dirty="0"/>
              <a:t>, </a:t>
            </a:r>
            <a:r>
              <a:rPr lang="bg-BG" sz="3200" b="1" dirty="0"/>
              <a:t>адрес</a:t>
            </a:r>
            <a:r>
              <a:rPr lang="bg-BG" sz="3200" dirty="0"/>
              <a:t>, </a:t>
            </a:r>
            <a:r>
              <a:rPr lang="bg-BG" sz="3200" b="1" dirty="0"/>
              <a:t>имейл</a:t>
            </a:r>
            <a:r>
              <a:rPr lang="bg-BG" sz="3200" dirty="0"/>
              <a:t>, </a:t>
            </a:r>
            <a:r>
              <a:rPr lang="bg-BG" sz="3200" b="1" dirty="0"/>
              <a:t>карта на местоположението</a:t>
            </a:r>
            <a:r>
              <a:rPr lang="bg-BG" sz="3200" dirty="0"/>
              <a:t> и </a:t>
            </a:r>
            <a:r>
              <a:rPr lang="bg-BG" sz="3200" b="1" dirty="0"/>
              <a:t>др</a:t>
            </a:r>
            <a:r>
              <a:rPr lang="bg-BG" sz="3200" dirty="0"/>
              <a:t>.</a:t>
            </a:r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Страница за новини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Показва </a:t>
            </a:r>
            <a:r>
              <a:rPr lang="bg-BG" sz="3400" b="1" dirty="0"/>
              <a:t>публикации</a:t>
            </a:r>
            <a:r>
              <a:rPr lang="bg-BG" sz="3400" dirty="0"/>
              <a:t>, </a:t>
            </a:r>
            <a:r>
              <a:rPr lang="bg-BG" sz="3400" b="1" dirty="0"/>
              <a:t>статии</a:t>
            </a:r>
            <a:r>
              <a:rPr lang="bg-BG" sz="3400" dirty="0"/>
              <a:t>, </a:t>
            </a:r>
            <a:r>
              <a:rPr lang="bg-BG" sz="3400" b="1" dirty="0"/>
              <a:t>актуални</a:t>
            </a:r>
            <a:r>
              <a:rPr lang="bg-BG" sz="3400" dirty="0"/>
              <a:t> </a:t>
            </a:r>
            <a:r>
              <a:rPr lang="bg-BG" sz="3400" b="1" dirty="0"/>
              <a:t>събития</a:t>
            </a:r>
            <a:r>
              <a:rPr lang="bg-BG" sz="3400" dirty="0"/>
              <a:t> и </a:t>
            </a:r>
            <a:r>
              <a:rPr lang="bg-BG" sz="3400" b="1" dirty="0"/>
              <a:t>др</a:t>
            </a:r>
            <a:r>
              <a:rPr lang="bg-BG" sz="3400" dirty="0"/>
              <a:t>.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4000" dirty="0"/>
              <a:t>Типове уеб страници </a:t>
            </a:r>
            <a:r>
              <a:rPr lang="en-US" sz="4000" dirty="0"/>
              <a:t>(</a:t>
            </a:r>
            <a:r>
              <a:rPr lang="bg-BG" sz="4000" dirty="0"/>
              <a:t>3</a:t>
            </a:r>
            <a:r>
              <a:rPr lang="en-US" sz="4000" dirty="0"/>
              <a:t>)</a:t>
            </a:r>
            <a:r>
              <a:rPr lang="bg-BG" sz="4000" dirty="0"/>
              <a:t> </a:t>
            </a:r>
            <a:endParaRPr lang="en-US" sz="4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024FCA-E3F5-5A70-267E-2A2823F77E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8915" y="4104000"/>
            <a:ext cx="2313071" cy="2295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4949A27-CCE1-773B-685C-B1BB9E8268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5221" y="1314000"/>
            <a:ext cx="2510770" cy="229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138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1787D50-791A-9B25-04A0-FA42E08EF6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3B3F9F-2425-87CB-C976-349E963C16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091000" y="1121143"/>
            <a:ext cx="9904234" cy="5546589"/>
          </a:xfrm>
        </p:spPr>
        <p:txBody>
          <a:bodyPr/>
          <a:lstStyle/>
          <a:p>
            <a:r>
              <a:rPr lang="bg-BG" sz="3600" b="1" dirty="0"/>
              <a:t>Началната страница </a:t>
            </a:r>
            <a:r>
              <a:rPr lang="bg-BG" sz="3600" b="1" dirty="0">
                <a:solidFill>
                  <a:schemeClr val="bg1"/>
                </a:solidFill>
              </a:rPr>
              <a:t>информира за целта </a:t>
            </a:r>
            <a:r>
              <a:rPr lang="bg-BG" sz="3600" dirty="0"/>
              <a:t>на </a:t>
            </a:r>
            <a:r>
              <a:rPr lang="bg-BG" sz="3600" b="1" dirty="0"/>
              <a:t>уеб сайта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приветства потребителя</a:t>
            </a:r>
          </a:p>
          <a:p>
            <a:r>
              <a:rPr lang="bg-BG" sz="3600" b="1" dirty="0"/>
              <a:t>Всички</a:t>
            </a:r>
            <a:r>
              <a:rPr lang="bg-BG" sz="3600" dirty="0"/>
              <a:t> останали </a:t>
            </a:r>
            <a:r>
              <a:rPr lang="bg-BG" sz="3600" b="1" dirty="0"/>
              <a:t>вътрешни страници</a:t>
            </a:r>
            <a:r>
              <a:rPr lang="bg-BG" sz="3600" dirty="0"/>
              <a:t>:</a:t>
            </a:r>
          </a:p>
          <a:p>
            <a:pPr lvl="1"/>
            <a:r>
              <a:rPr lang="bg-BG" sz="3400" b="1" dirty="0"/>
              <a:t>Следват </a:t>
            </a:r>
            <a:r>
              <a:rPr lang="bg-BG" sz="3400" b="1" dirty="0">
                <a:solidFill>
                  <a:schemeClr val="bg1"/>
                </a:solidFill>
              </a:rPr>
              <a:t>стила</a:t>
            </a:r>
            <a:r>
              <a:rPr lang="bg-BG" sz="3400" b="1" dirty="0"/>
              <a:t> </a:t>
            </a:r>
            <a:r>
              <a:rPr lang="bg-BG" sz="3400" dirty="0"/>
              <a:t>и </a:t>
            </a:r>
            <a:r>
              <a:rPr lang="bg-BG" sz="3400" b="1" dirty="0">
                <a:solidFill>
                  <a:schemeClr val="bg1"/>
                </a:solidFill>
              </a:rPr>
              <a:t>логиката</a:t>
            </a:r>
            <a:r>
              <a:rPr lang="bg-BG" sz="3400" dirty="0"/>
              <a:t> на </a:t>
            </a:r>
            <a:r>
              <a:rPr lang="bg-BG" sz="3400" b="1" dirty="0"/>
              <a:t>началната страница</a:t>
            </a:r>
          </a:p>
          <a:p>
            <a:pPr lvl="1"/>
            <a:r>
              <a:rPr lang="bg-BG" sz="3400" b="1" dirty="0"/>
              <a:t>Задържат</a:t>
            </a:r>
            <a:r>
              <a:rPr lang="bg-BG" sz="3400" dirty="0"/>
              <a:t> </a:t>
            </a:r>
            <a:r>
              <a:rPr lang="bg-BG" sz="3400" b="1" dirty="0">
                <a:solidFill>
                  <a:schemeClr val="bg1"/>
                </a:solidFill>
              </a:rPr>
              <a:t>вниманието </a:t>
            </a:r>
            <a:r>
              <a:rPr lang="bg-BG" sz="3400" dirty="0"/>
              <a:t>на</a:t>
            </a:r>
            <a:r>
              <a:rPr lang="bg-BG" sz="3400" b="1" dirty="0">
                <a:solidFill>
                  <a:schemeClr val="bg1"/>
                </a:solidFill>
              </a:rPr>
              <a:t> потребителя</a:t>
            </a:r>
          </a:p>
          <a:p>
            <a:pPr lvl="1"/>
            <a:r>
              <a:rPr lang="bg-BG" sz="3400" b="1" dirty="0"/>
              <a:t>Спазват</a:t>
            </a:r>
            <a:r>
              <a:rPr lang="bg-BG" sz="3400" dirty="0"/>
              <a:t> </a:t>
            </a:r>
            <a:r>
              <a:rPr lang="bg-BG" sz="3400" b="1" dirty="0">
                <a:solidFill>
                  <a:schemeClr val="bg1"/>
                </a:solidFill>
              </a:rPr>
              <a:t>правилата </a:t>
            </a:r>
            <a:r>
              <a:rPr lang="bg-BG" sz="3400" dirty="0"/>
              <a:t>за</a:t>
            </a:r>
            <a:r>
              <a:rPr lang="bg-BG" sz="3400" b="1" dirty="0">
                <a:solidFill>
                  <a:schemeClr val="bg1"/>
                </a:solidFill>
              </a:rPr>
              <a:t> добър дизайн</a:t>
            </a:r>
            <a:endParaRPr lang="en-BG" sz="3400" b="1" dirty="0">
              <a:solidFill>
                <a:schemeClr val="bg1"/>
              </a:solidFill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5A1E9B2-42B7-59D4-BBAC-C3B9417B7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Начална и вътрешни страници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992138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Схематичен дизайн на уеб страница по избор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880B99-AB59-102F-392B-9F2833EE4E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1041" y="1385091"/>
            <a:ext cx="1789918" cy="2534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570598" cy="5528766"/>
          </a:xfrm>
        </p:spPr>
        <p:txBody>
          <a:bodyPr>
            <a:normAutofit/>
          </a:bodyPr>
          <a:lstStyle/>
          <a:p>
            <a:r>
              <a:rPr lang="bg-BG" sz="3600" dirty="0"/>
              <a:t>Нека </a:t>
            </a:r>
            <a:r>
              <a:rPr lang="bg-BG" sz="3600" b="1" dirty="0"/>
              <a:t>създадем </a:t>
            </a:r>
            <a:r>
              <a:rPr lang="bg-BG" sz="3600" b="1" dirty="0">
                <a:solidFill>
                  <a:schemeClr val="bg1"/>
                </a:solidFill>
              </a:rPr>
              <a:t>схематичен дизайн</a:t>
            </a:r>
            <a:r>
              <a:rPr lang="bg-BG" sz="3600" dirty="0">
                <a:solidFill>
                  <a:schemeClr val="bg1"/>
                </a:solidFill>
              </a:rPr>
              <a:t> </a:t>
            </a:r>
            <a:r>
              <a:rPr lang="en-US" sz="3600" dirty="0"/>
              <a:t>(</a:t>
            </a:r>
            <a:r>
              <a:rPr lang="en-US" sz="3600" b="1" dirty="0"/>
              <a:t>wireframe</a:t>
            </a:r>
            <a:r>
              <a:rPr lang="en-US" sz="3600" dirty="0"/>
              <a:t>)</a:t>
            </a:r>
            <a:r>
              <a:rPr lang="bg-BG" sz="3600" dirty="0"/>
              <a:t> на </a:t>
            </a:r>
            <a:r>
              <a:rPr lang="bg-BG" sz="3600" b="1" dirty="0"/>
              <a:t>уеб страница</a:t>
            </a:r>
            <a:r>
              <a:rPr lang="bg-BG" sz="3600" dirty="0"/>
              <a:t> </a:t>
            </a:r>
            <a:r>
              <a:rPr lang="bg-BG" sz="3600" b="1" dirty="0"/>
              <a:t>по избор</a:t>
            </a:r>
            <a:endParaRPr lang="en-US" sz="3600" b="1" dirty="0"/>
          </a:p>
          <a:p>
            <a:r>
              <a:rPr lang="bg-BG" sz="3600" dirty="0"/>
              <a:t>За примера ще използваме </a:t>
            </a:r>
            <a:r>
              <a:rPr lang="bg-BG" sz="3600" b="1" dirty="0"/>
              <a:t>уеб сайт </a:t>
            </a:r>
            <a:r>
              <a:rPr lang="bg-BG" sz="3600" dirty="0"/>
              <a:t>за </a:t>
            </a:r>
            <a:r>
              <a:rPr lang="bg-BG" sz="3600" b="1" dirty="0"/>
              <a:t>пътувания сред природата</a:t>
            </a:r>
          </a:p>
          <a:p>
            <a:r>
              <a:rPr lang="bg-BG" sz="3600" b="1" dirty="0"/>
              <a:t>Уеб страницата</a:t>
            </a:r>
            <a:r>
              <a:rPr lang="bg-BG" sz="3600" dirty="0"/>
              <a:t>, която ще представим с </a:t>
            </a:r>
            <a:r>
              <a:rPr lang="en-US" sz="3600" b="1" dirty="0"/>
              <a:t>wireframe</a:t>
            </a:r>
            <a:r>
              <a:rPr lang="bg-BG" sz="3600" dirty="0"/>
              <a:t>, ще е </a:t>
            </a:r>
            <a:r>
              <a:rPr lang="bg-BG" sz="3600" b="1" dirty="0"/>
              <a:t>началната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Схематичен дизайн на уеб страница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51AB65-A075-F129-77C3-77FD326B2A8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59" b="12226"/>
          <a:stretch/>
        </p:blipFill>
        <p:spPr>
          <a:xfrm>
            <a:off x="7210534" y="1476588"/>
            <a:ext cx="4805737" cy="5443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539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dirty="0"/>
              <a:t>Влизаме в </a:t>
            </a:r>
            <a:r>
              <a:rPr lang="bg-BG" sz="3600" b="1" dirty="0"/>
              <a:t>сайта</a:t>
            </a:r>
            <a:r>
              <a:rPr lang="bg-BG" sz="3600" dirty="0"/>
              <a:t> </a:t>
            </a:r>
            <a:r>
              <a:rPr lang="en-GB" sz="3600" dirty="0">
                <a:hlinkClick r:id="rId3"/>
              </a:rPr>
              <a:t>excalidraw.com</a:t>
            </a:r>
            <a:endParaRPr lang="en-GB" sz="3600" dirty="0"/>
          </a:p>
          <a:p>
            <a:r>
              <a:rPr lang="bg-BG" sz="3600" dirty="0"/>
              <a:t>Избираме </a:t>
            </a:r>
            <a:r>
              <a:rPr lang="bg-BG" sz="3600" b="1" dirty="0"/>
              <a:t>форма </a:t>
            </a:r>
            <a:r>
              <a:rPr lang="bg-BG" sz="3600" b="1" dirty="0">
                <a:solidFill>
                  <a:schemeClr val="bg1"/>
                </a:solidFill>
              </a:rPr>
              <a:t>правоъгълник</a:t>
            </a:r>
            <a:r>
              <a:rPr lang="en-US" sz="3600" b="1" dirty="0"/>
              <a:t> </a:t>
            </a:r>
            <a:r>
              <a:rPr lang="bg-BG" sz="3600" dirty="0"/>
              <a:t>от </a:t>
            </a:r>
            <a:r>
              <a:rPr lang="bg-BG" sz="3600" b="1" dirty="0"/>
              <a:t>горното меню</a:t>
            </a:r>
          </a:p>
          <a:p>
            <a:r>
              <a:rPr lang="bg-BG" sz="3600" dirty="0"/>
              <a:t>Изтегляме </a:t>
            </a:r>
            <a:r>
              <a:rPr lang="bg-BG" sz="3600" b="1" dirty="0"/>
              <a:t>формата</a:t>
            </a:r>
            <a:r>
              <a:rPr lang="bg-BG" sz="3600" dirty="0"/>
              <a:t> и я поставяме </a:t>
            </a:r>
            <a:r>
              <a:rPr lang="bg-BG" sz="3600" b="1" dirty="0"/>
              <a:t>най-отгоре</a:t>
            </a:r>
          </a:p>
          <a:p>
            <a:r>
              <a:rPr lang="bg-BG" sz="3600" dirty="0"/>
              <a:t>Това е </a:t>
            </a:r>
            <a:r>
              <a:rPr lang="bg-BG" sz="3600" b="1" dirty="0">
                <a:solidFill>
                  <a:schemeClr val="bg1"/>
                </a:solidFill>
              </a:rPr>
              <a:t>хедъра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Създаване на </a:t>
            </a:r>
            <a:r>
              <a:rPr lang="en-US" dirty="0"/>
              <a:t>Wireframe</a:t>
            </a:r>
            <a:r>
              <a:rPr lang="bg-BG" dirty="0"/>
              <a:t> (1)</a:t>
            </a:r>
            <a:endParaRPr lang="en-BG" dirty="0"/>
          </a:p>
        </p:txBody>
      </p:sp>
      <p:sp>
        <p:nvSpPr>
          <p:cNvPr id="4" name="Arrow: Right 6">
            <a:extLst>
              <a:ext uri="{FF2B5EF4-FFF2-40B4-BE49-F238E27FC236}">
                <a16:creationId xmlns:a16="http://schemas.microsoft.com/office/drawing/2014/main" id="{15B72F5C-348A-84BE-3D50-1C09F1E8D9B7}"/>
              </a:ext>
            </a:extLst>
          </p:cNvPr>
          <p:cNvSpPr/>
          <p:nvPr/>
        </p:nvSpPr>
        <p:spPr bwMode="auto">
          <a:xfrm>
            <a:off x="3780419" y="4704538"/>
            <a:ext cx="956545" cy="822183"/>
          </a:xfrm>
          <a:prstGeom prst="rightArrow">
            <a:avLst/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12FB6F-FA46-F05B-22C8-1F09ED81B7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7025" b="3626"/>
          <a:stretch/>
        </p:blipFill>
        <p:spPr>
          <a:xfrm>
            <a:off x="433952" y="4826258"/>
            <a:ext cx="3060000" cy="578742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8ECF83-822C-85C6-98C6-08C625FD5E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92432" y="4446492"/>
            <a:ext cx="6760598" cy="133827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D64EB98-6894-3AA1-3874-EAA62651C0C0}"/>
              </a:ext>
            </a:extLst>
          </p:cNvPr>
          <p:cNvSpPr/>
          <p:nvPr/>
        </p:nvSpPr>
        <p:spPr bwMode="auto">
          <a:xfrm>
            <a:off x="4839224" y="5049000"/>
            <a:ext cx="6975514" cy="822183"/>
          </a:xfrm>
          <a:prstGeom prst="rect">
            <a:avLst/>
          </a:prstGeom>
          <a:noFill/>
          <a:ln w="57150">
            <a:solidFill>
              <a:schemeClr val="accent3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52930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dirty="0"/>
              <a:t>Поставяме </a:t>
            </a:r>
            <a:r>
              <a:rPr lang="bg-BG" sz="3600" b="1" dirty="0">
                <a:solidFill>
                  <a:schemeClr val="bg1"/>
                </a:solidFill>
              </a:rPr>
              <a:t>по-голям правоъгълник </a:t>
            </a:r>
            <a:r>
              <a:rPr lang="bg-BG" sz="3600" b="1" dirty="0"/>
              <a:t>под хедъра</a:t>
            </a:r>
          </a:p>
          <a:p>
            <a:r>
              <a:rPr lang="bg-BG" sz="3600" dirty="0"/>
              <a:t>Това е </a:t>
            </a:r>
            <a:r>
              <a:rPr lang="en-US" sz="3600" b="1" dirty="0">
                <a:solidFill>
                  <a:schemeClr val="bg1"/>
                </a:solidFill>
              </a:rPr>
              <a:t>hero </a:t>
            </a:r>
            <a:r>
              <a:rPr lang="bg-BG" sz="3600" b="1" dirty="0">
                <a:solidFill>
                  <a:schemeClr val="bg1"/>
                </a:solidFill>
              </a:rPr>
              <a:t>секцията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Създаване на </a:t>
            </a:r>
            <a:r>
              <a:rPr lang="en-US" dirty="0"/>
              <a:t>Wireframe</a:t>
            </a:r>
            <a:r>
              <a:rPr lang="bg-BG" dirty="0"/>
              <a:t> (2)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1CF231-3972-CF3A-E3E2-DAEEFB4558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13853" y="3204000"/>
            <a:ext cx="7764292" cy="2729427"/>
          </a:xfrm>
          <a:prstGeom prst="rect">
            <a:avLst/>
          </a:prstGeom>
          <a:ln>
            <a:noFill/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8EFFA6B-E941-CD02-0160-B57EC237EBD8}"/>
              </a:ext>
            </a:extLst>
          </p:cNvPr>
          <p:cNvSpPr/>
          <p:nvPr/>
        </p:nvSpPr>
        <p:spPr bwMode="auto">
          <a:xfrm>
            <a:off x="2124440" y="3960508"/>
            <a:ext cx="7943118" cy="1935000"/>
          </a:xfrm>
          <a:prstGeom prst="rect">
            <a:avLst/>
          </a:prstGeom>
          <a:noFill/>
          <a:ln w="57150">
            <a:solidFill>
              <a:schemeClr val="accent3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266186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dirty="0"/>
              <a:t>Поставяме </a:t>
            </a:r>
            <a:r>
              <a:rPr lang="bg-BG" sz="3600" b="1" dirty="0">
                <a:solidFill>
                  <a:schemeClr val="bg1"/>
                </a:solidFill>
              </a:rPr>
              <a:t>по-голям правоъгълник </a:t>
            </a:r>
            <a:r>
              <a:rPr lang="bg-BG" sz="3600" b="1" dirty="0"/>
              <a:t>под </a:t>
            </a:r>
            <a:r>
              <a:rPr lang="en-US" sz="3600" b="1" dirty="0"/>
              <a:t>hero </a:t>
            </a:r>
            <a:r>
              <a:rPr lang="bg-BG" sz="3600" b="1" dirty="0"/>
              <a:t>секцията</a:t>
            </a:r>
          </a:p>
          <a:p>
            <a:r>
              <a:rPr lang="bg-BG" sz="3600" dirty="0"/>
              <a:t>Това е </a:t>
            </a:r>
            <a:r>
              <a:rPr lang="bg-BG" sz="3600" b="1" dirty="0"/>
              <a:t>мястото</a:t>
            </a:r>
            <a:r>
              <a:rPr lang="bg-BG" sz="3600" dirty="0"/>
              <a:t> за </a:t>
            </a:r>
            <a:r>
              <a:rPr lang="bg-BG" sz="3600" b="1" dirty="0">
                <a:solidFill>
                  <a:schemeClr val="bg1"/>
                </a:solidFill>
              </a:rPr>
              <a:t>основното съдържание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Създаване на </a:t>
            </a:r>
            <a:r>
              <a:rPr lang="en-US" dirty="0"/>
              <a:t>Wireframe</a:t>
            </a:r>
            <a:r>
              <a:rPr lang="bg-BG" dirty="0"/>
              <a:t> (3)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86086E-6D5C-AA00-65D1-23A6248C93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00131" y="2746881"/>
            <a:ext cx="4791737" cy="3908619"/>
          </a:xfrm>
          <a:prstGeom prst="rect">
            <a:avLst/>
          </a:prstGeom>
          <a:ln>
            <a:noFill/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416E0B-98B3-4725-4FD5-FEF5C1A6C3A3}"/>
              </a:ext>
            </a:extLst>
          </p:cNvPr>
          <p:cNvSpPr/>
          <p:nvPr/>
        </p:nvSpPr>
        <p:spPr bwMode="auto">
          <a:xfrm>
            <a:off x="3621000" y="4373999"/>
            <a:ext cx="4950000" cy="2350891"/>
          </a:xfrm>
          <a:prstGeom prst="rect">
            <a:avLst/>
          </a:prstGeom>
          <a:noFill/>
          <a:ln w="57150">
            <a:solidFill>
              <a:schemeClr val="accent3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26219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dirty="0"/>
              <a:t>Поставяме </a:t>
            </a:r>
            <a:r>
              <a:rPr lang="bg-BG" sz="3600" b="1" dirty="0">
                <a:solidFill>
                  <a:schemeClr val="bg1"/>
                </a:solidFill>
              </a:rPr>
              <a:t>по-малък правоъгълник </a:t>
            </a:r>
            <a:r>
              <a:rPr lang="bg-BG" sz="3600" b="1" dirty="0"/>
              <a:t>в най-долната част</a:t>
            </a:r>
          </a:p>
          <a:p>
            <a:r>
              <a:rPr lang="bg-BG" sz="3600" dirty="0"/>
              <a:t>Това е </a:t>
            </a:r>
            <a:r>
              <a:rPr lang="bg-BG" sz="3600" b="1" dirty="0">
                <a:solidFill>
                  <a:schemeClr val="bg1"/>
                </a:solidFill>
              </a:rPr>
              <a:t>футъра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Създаване на </a:t>
            </a:r>
            <a:r>
              <a:rPr lang="en-US" dirty="0"/>
              <a:t>Wireframe</a:t>
            </a:r>
            <a:r>
              <a:rPr lang="bg-BG" dirty="0"/>
              <a:t> (4)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AD1E3F-8173-6073-412E-85A355CF2B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36192" y="2399717"/>
            <a:ext cx="4719616" cy="4316918"/>
          </a:xfrm>
          <a:prstGeom prst="rect">
            <a:avLst/>
          </a:prstGeom>
          <a:ln>
            <a:noFill/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5BC9559-AF35-FD73-06CC-B7D5538B3A82}"/>
              </a:ext>
            </a:extLst>
          </p:cNvPr>
          <p:cNvSpPr/>
          <p:nvPr/>
        </p:nvSpPr>
        <p:spPr bwMode="auto">
          <a:xfrm>
            <a:off x="3621000" y="6174000"/>
            <a:ext cx="4950000" cy="550890"/>
          </a:xfrm>
          <a:prstGeom prst="rect">
            <a:avLst/>
          </a:prstGeom>
          <a:noFill/>
          <a:ln w="57150">
            <a:solidFill>
              <a:schemeClr val="accent3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2299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000" dirty="0"/>
              <a:t>Чертаем </a:t>
            </a:r>
            <a:r>
              <a:rPr lang="bg-BG" sz="3000" b="1" dirty="0"/>
              <a:t>малък правоъгълник</a:t>
            </a:r>
            <a:endParaRPr lang="en-US" sz="3000" b="1" dirty="0"/>
          </a:p>
          <a:p>
            <a:r>
              <a:rPr lang="bg-BG" sz="3000" dirty="0"/>
              <a:t>Избираме </a:t>
            </a:r>
            <a:r>
              <a:rPr lang="bg-BG" sz="3000" b="1" dirty="0"/>
              <a:t>инструмента </a:t>
            </a:r>
            <a:r>
              <a:rPr lang="bg-BG" sz="3000" dirty="0"/>
              <a:t>за </a:t>
            </a:r>
            <a:r>
              <a:rPr lang="bg-BG" sz="3000" b="1" dirty="0">
                <a:solidFill>
                  <a:schemeClr val="bg1"/>
                </a:solidFill>
              </a:rPr>
              <a:t>линии</a:t>
            </a:r>
          </a:p>
          <a:p>
            <a:endParaRPr lang="bg-BG" sz="3000" b="1" dirty="0">
              <a:solidFill>
                <a:schemeClr val="bg1"/>
              </a:solidFill>
            </a:endParaRPr>
          </a:p>
          <a:p>
            <a:r>
              <a:rPr lang="bg-BG" sz="3000" dirty="0"/>
              <a:t>Чертаем</a:t>
            </a:r>
            <a:r>
              <a:rPr lang="en-US" sz="3000" b="1" dirty="0"/>
              <a:t> </a:t>
            </a:r>
            <a:r>
              <a:rPr lang="bg-BG" sz="3000" b="1" dirty="0"/>
              <a:t>две кръстосани линии</a:t>
            </a:r>
            <a:r>
              <a:rPr lang="bg-BG" sz="3000" dirty="0"/>
              <a:t> в </a:t>
            </a:r>
            <a:r>
              <a:rPr lang="bg-BG" sz="3000" b="1" dirty="0"/>
              <a:t>правоъгълника</a:t>
            </a:r>
          </a:p>
          <a:p>
            <a:endParaRPr lang="bg-BG" sz="3000" b="1" dirty="0"/>
          </a:p>
          <a:p>
            <a:r>
              <a:rPr lang="bg-BG" sz="3000" dirty="0"/>
              <a:t>Поставяме формата в </a:t>
            </a:r>
            <a:r>
              <a:rPr lang="bg-BG" sz="3000" b="1" dirty="0"/>
              <a:t>хедъра</a:t>
            </a:r>
            <a:r>
              <a:rPr lang="bg-BG" sz="3000" dirty="0"/>
              <a:t> </a:t>
            </a:r>
            <a:r>
              <a:rPr lang="bg-BG" sz="3000" b="1" dirty="0"/>
              <a:t>отляво</a:t>
            </a:r>
          </a:p>
          <a:p>
            <a:r>
              <a:rPr lang="bg-BG" sz="3000" dirty="0">
                <a:latin typeface="Calibri" panose="020F0502020204030204" pitchFamily="34" charset="0"/>
                <a:cs typeface="Calibri" panose="020F0502020204030204" pitchFamily="34" charset="0"/>
              </a:rPr>
              <a:t>Това е </a:t>
            </a:r>
            <a:r>
              <a:rPr lang="en-US" sz="3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placeholder</a:t>
            </a:r>
            <a:r>
              <a:rPr lang="en-US" sz="30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bg-BG" sz="3000" dirty="0">
                <a:latin typeface="Calibri" panose="020F0502020204030204" pitchFamily="34" charset="0"/>
                <a:cs typeface="Calibri" panose="020F0502020204030204" pitchFamily="34" charset="0"/>
              </a:rPr>
              <a:t>за </a:t>
            </a:r>
            <a:r>
              <a:rPr lang="bg-BG" sz="3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изображение</a:t>
            </a:r>
            <a:r>
              <a:rPr lang="bg-BG" sz="3000" dirty="0">
                <a:latin typeface="Calibri" panose="020F0502020204030204" pitchFamily="34" charset="0"/>
                <a:cs typeface="Calibri" panose="020F0502020204030204" pitchFamily="34" charset="0"/>
              </a:rPr>
              <a:t> на </a:t>
            </a:r>
            <a:r>
              <a:rPr lang="bg-BG" sz="3000" b="1" dirty="0">
                <a:latin typeface="Calibri" panose="020F0502020204030204" pitchFamily="34" charset="0"/>
                <a:cs typeface="Calibri" panose="020F0502020204030204" pitchFamily="34" charset="0"/>
              </a:rPr>
              <a:t>логото</a:t>
            </a:r>
          </a:p>
          <a:p>
            <a:pPr marL="0" indent="0">
              <a:buNone/>
            </a:pPr>
            <a:endParaRPr lang="bg-BG" sz="360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Хедър (1</a:t>
            </a:r>
            <a:r>
              <a:rPr lang="en-US" dirty="0"/>
              <a:t>)</a:t>
            </a:r>
            <a:endParaRPr lang="en-B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A9BD49-046F-2415-3C85-F40FF5B63F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46902" y="5668715"/>
            <a:ext cx="9098196" cy="900503"/>
          </a:xfrm>
          <a:prstGeom prst="rect">
            <a:avLst/>
          </a:prstGeom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4D3D57D-4BD3-23F1-E5DA-8F922DEB3C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000" y="2394000"/>
            <a:ext cx="2475000" cy="72057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551F578-BE23-F64E-71F4-B9C048F0A72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000" y="3564000"/>
            <a:ext cx="1903448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949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dirty="0"/>
              <a:t>Избираме </a:t>
            </a:r>
            <a:r>
              <a:rPr lang="bg-BG" sz="3600" b="1" dirty="0"/>
              <a:t>инструмента </a:t>
            </a:r>
            <a:r>
              <a:rPr lang="bg-BG" sz="3600" dirty="0"/>
              <a:t>за </a:t>
            </a:r>
            <a:r>
              <a:rPr lang="bg-BG" sz="3600" b="1" dirty="0">
                <a:solidFill>
                  <a:schemeClr val="bg1"/>
                </a:solidFill>
              </a:rPr>
              <a:t>текст</a:t>
            </a:r>
          </a:p>
          <a:p>
            <a:r>
              <a:rPr lang="bg-BG" sz="3600" dirty="0"/>
              <a:t>Пишем в </a:t>
            </a:r>
            <a:r>
              <a:rPr lang="bg-BG" sz="3600" b="1" dirty="0"/>
              <a:t>хедъра</a:t>
            </a:r>
            <a:r>
              <a:rPr lang="bg-BG" sz="3600" dirty="0"/>
              <a:t> </a:t>
            </a:r>
            <a:r>
              <a:rPr lang="bg-BG" sz="3600" b="1" dirty="0"/>
              <a:t>отдясно</a:t>
            </a:r>
            <a:r>
              <a:rPr lang="bg-BG" sz="3600" dirty="0"/>
              <a:t> </a:t>
            </a:r>
            <a:r>
              <a:rPr lang="bg-BG" sz="3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Меню</a:t>
            </a:r>
            <a:endParaRPr lang="en-US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bg-BG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bg-BG" sz="360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Хедър (2</a:t>
            </a:r>
            <a:r>
              <a:rPr lang="en-US" dirty="0"/>
              <a:t>)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DB30AF-F502-AF4A-1706-C8B14D5C637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417" t="-529"/>
          <a:stretch/>
        </p:blipFill>
        <p:spPr>
          <a:xfrm>
            <a:off x="438756" y="3030088"/>
            <a:ext cx="2770036" cy="57090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A9BD49-046F-2415-3C85-F40FF5B63F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71810" y="2939489"/>
            <a:ext cx="6702797" cy="677539"/>
          </a:xfrm>
          <a:prstGeom prst="rect">
            <a:avLst/>
          </a:prstGeom>
          <a:ln>
            <a:noFill/>
          </a:ln>
        </p:spPr>
      </p:pic>
      <p:sp>
        <p:nvSpPr>
          <p:cNvPr id="8" name="Arrow: Right 6">
            <a:extLst>
              <a:ext uri="{FF2B5EF4-FFF2-40B4-BE49-F238E27FC236}">
                <a16:creationId xmlns:a16="http://schemas.microsoft.com/office/drawing/2014/main" id="{4FBFFA4D-A0EC-6A8E-E497-ED4EAF4C3BF8}"/>
              </a:ext>
            </a:extLst>
          </p:cNvPr>
          <p:cNvSpPr/>
          <p:nvPr/>
        </p:nvSpPr>
        <p:spPr bwMode="auto">
          <a:xfrm>
            <a:off x="3531638" y="2867168"/>
            <a:ext cx="1306281" cy="822183"/>
          </a:xfrm>
          <a:prstGeom prst="rightArrow">
            <a:avLst/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767055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dirty="0"/>
              <a:t>Създаваме </a:t>
            </a:r>
            <a:r>
              <a:rPr lang="en-US" sz="3600" b="1" dirty="0"/>
              <a:t>placeholder</a:t>
            </a:r>
            <a:r>
              <a:rPr lang="en-US" sz="3600" dirty="0"/>
              <a:t> за</a:t>
            </a:r>
            <a:r>
              <a:rPr lang="bg-BG" sz="3600" dirty="0"/>
              <a:t> </a:t>
            </a:r>
            <a:r>
              <a:rPr lang="bg-BG" sz="3600" b="1" dirty="0">
                <a:solidFill>
                  <a:schemeClr val="bg1"/>
                </a:solidFill>
              </a:rPr>
              <a:t>изображение</a:t>
            </a:r>
          </a:p>
          <a:p>
            <a:r>
              <a:rPr lang="bg-BG" sz="3600" dirty="0"/>
              <a:t>Пишем в </a:t>
            </a:r>
            <a:r>
              <a:rPr lang="bg-BG" sz="3600" b="1" dirty="0"/>
              <a:t>под изображението </a:t>
            </a:r>
            <a:r>
              <a:rPr lang="bg-BG" sz="3600" dirty="0"/>
              <a:t>в </a:t>
            </a:r>
            <a:r>
              <a:rPr lang="en-US" sz="3600" b="1" dirty="0"/>
              <a:t>hero </a:t>
            </a:r>
            <a:r>
              <a:rPr lang="bg-BG" sz="3600" b="1" dirty="0"/>
              <a:t>секцията </a:t>
            </a:r>
            <a:r>
              <a:rPr lang="bg-BG" sz="3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Бутон</a:t>
            </a:r>
          </a:p>
          <a:p>
            <a:endParaRPr lang="bg-BG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bg-BG" sz="360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en-US" dirty="0"/>
              <a:t>Hero </a:t>
            </a:r>
            <a:r>
              <a:rPr lang="bg-BG" dirty="0"/>
              <a:t>секция</a:t>
            </a:r>
            <a:endParaRPr lang="en-BG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51B3E1-C3D1-89CD-F0F4-789682E080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08829" y="3186875"/>
            <a:ext cx="9574341" cy="247500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82254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200" dirty="0"/>
              <a:t>Създаваме </a:t>
            </a:r>
            <a:r>
              <a:rPr lang="bg-BG" sz="3200" b="1" dirty="0"/>
              <a:t>маршрутите</a:t>
            </a:r>
            <a:r>
              <a:rPr lang="bg-BG" sz="3200" dirty="0"/>
              <a:t> под </a:t>
            </a:r>
            <a:r>
              <a:rPr lang="bg-BG" sz="3200" b="1" dirty="0"/>
              <a:t>формата</a:t>
            </a:r>
            <a:r>
              <a:rPr lang="bg-BG" sz="3200" dirty="0"/>
              <a:t> на </a:t>
            </a:r>
            <a:r>
              <a:rPr lang="bg-BG" sz="3200" b="1" dirty="0">
                <a:solidFill>
                  <a:schemeClr val="bg1"/>
                </a:solidFill>
              </a:rPr>
              <a:t>картички</a:t>
            </a:r>
          </a:p>
          <a:p>
            <a:r>
              <a:rPr lang="bg-BG" sz="3200" dirty="0"/>
              <a:t>За </a:t>
            </a:r>
            <a:r>
              <a:rPr lang="bg-BG" sz="3200" b="1" dirty="0"/>
              <a:t>всеки маршрут </a:t>
            </a:r>
            <a:r>
              <a:rPr lang="bg-BG" sz="3200" dirty="0"/>
              <a:t>чертаем </a:t>
            </a:r>
            <a:r>
              <a:rPr lang="bg-BG" sz="3200" b="1" dirty="0"/>
              <a:t>правоъгълник</a:t>
            </a:r>
            <a:r>
              <a:rPr lang="bg-BG" sz="3200" dirty="0"/>
              <a:t> с </a:t>
            </a:r>
            <a:r>
              <a:rPr lang="en-US" sz="3200" b="1" dirty="0"/>
              <a:t>placeholder</a:t>
            </a:r>
            <a:r>
              <a:rPr lang="en-US" sz="3200" dirty="0"/>
              <a:t> </a:t>
            </a:r>
            <a:r>
              <a:rPr lang="bg-BG" sz="3200" dirty="0"/>
              <a:t>за </a:t>
            </a:r>
            <a:r>
              <a:rPr lang="bg-BG" sz="3200" b="1" dirty="0">
                <a:solidFill>
                  <a:schemeClr val="bg1"/>
                </a:solidFill>
              </a:rPr>
              <a:t>изображение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текст</a:t>
            </a:r>
            <a:r>
              <a:rPr lang="bg-BG" sz="3200" dirty="0"/>
              <a:t> на съответния </a:t>
            </a:r>
            <a:r>
              <a:rPr lang="bg-BG" sz="3200" b="1" dirty="0"/>
              <a:t>маршрут</a:t>
            </a:r>
            <a:r>
              <a:rPr lang="bg-BG" sz="3200" dirty="0"/>
              <a:t> </a:t>
            </a:r>
            <a:r>
              <a:rPr lang="en-US" sz="3200" dirty="0"/>
              <a:t>–</a:t>
            </a:r>
            <a:r>
              <a:rPr lang="bg-BG" sz="3200" dirty="0"/>
              <a:t>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Маршрут</a:t>
            </a:r>
            <a:r>
              <a:rPr lang="bg-BG" sz="32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bg-BG" sz="3200" dirty="0"/>
              <a:t>,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Маршрут</a:t>
            </a:r>
            <a:r>
              <a:rPr lang="bg-BG" sz="32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bg-BG" sz="3200" dirty="0"/>
              <a:t>,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Маршрут</a:t>
            </a:r>
            <a:r>
              <a:rPr lang="bg-BG" sz="32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endParaRPr lang="en-US" sz="32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bg-BG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bg-BG" sz="360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Основно съдържание</a:t>
            </a:r>
            <a:endParaRPr lang="en-B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F1B181-9672-1883-A71F-FBCD09AEFD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691" y="3545055"/>
            <a:ext cx="6724050" cy="3110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42610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200" dirty="0"/>
              <a:t>Пишем във </a:t>
            </a:r>
            <a:r>
              <a:rPr lang="bg-BG" sz="3200" b="1" dirty="0"/>
              <a:t>футъра отляво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Контакти</a:t>
            </a:r>
            <a:r>
              <a:rPr lang="bg-BG" sz="3200" dirty="0"/>
              <a:t>, а </a:t>
            </a:r>
            <a:r>
              <a:rPr lang="bg-BG" sz="3200" b="1" dirty="0"/>
              <a:t>отдясно</a:t>
            </a:r>
            <a:r>
              <a:rPr lang="bg-BG" sz="3200" dirty="0"/>
              <a:t>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Авторски</a:t>
            </a:r>
            <a:r>
              <a:rPr lang="bg-BG" sz="32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права</a:t>
            </a:r>
          </a:p>
          <a:p>
            <a:endParaRPr lang="bg-BG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bg-BG" sz="360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Футър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22FEF9-2061-45C1-D0E8-17A630CD45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800" y="2937074"/>
            <a:ext cx="10582400" cy="98385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519911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dirty="0"/>
              <a:t>Запазваме </a:t>
            </a:r>
            <a:r>
              <a:rPr lang="bg-BG" sz="3600" b="1" dirty="0"/>
              <a:t>схематичния дизайн </a:t>
            </a:r>
            <a:r>
              <a:rPr lang="bg-BG" sz="3600" dirty="0"/>
              <a:t>от </a:t>
            </a:r>
            <a:r>
              <a:rPr lang="bg-BG" sz="3600" b="1" dirty="0"/>
              <a:t>лявото меню </a:t>
            </a:r>
            <a:r>
              <a:rPr lang="bg-BG" sz="3600" dirty="0"/>
              <a:t>→ </a:t>
            </a:r>
          </a:p>
          <a:p>
            <a:pPr marL="0" indent="0">
              <a:buNone/>
            </a:pPr>
            <a:r>
              <a:rPr lang="bg-BG" sz="3600" b="1" dirty="0"/>
              <a:t>    [</a:t>
            </a:r>
            <a:r>
              <a:rPr lang="en-US" sz="3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Export image...</a:t>
            </a:r>
            <a:r>
              <a:rPr lang="en-US" sz="3600" b="1" dirty="0"/>
              <a:t>]</a:t>
            </a:r>
            <a:endParaRPr lang="bg-BG" sz="3600" b="1" dirty="0"/>
          </a:p>
          <a:p>
            <a:r>
              <a:rPr lang="bg-BG" sz="3600" dirty="0"/>
              <a:t>Кликаме върху </a:t>
            </a:r>
            <a:r>
              <a:rPr lang="bg-BG" sz="3600" b="1" dirty="0"/>
              <a:t>[</a:t>
            </a:r>
            <a:r>
              <a:rPr lang="en-US" sz="3600" b="1" dirty="0">
                <a:solidFill>
                  <a:schemeClr val="bg1"/>
                </a:solidFill>
              </a:rPr>
              <a:t>PNG</a:t>
            </a:r>
            <a:r>
              <a:rPr lang="en-US" sz="3600" b="1" dirty="0"/>
              <a:t>] </a:t>
            </a:r>
            <a:r>
              <a:rPr lang="bg-BG" sz="3600" dirty="0"/>
              <a:t>и </a:t>
            </a:r>
            <a:r>
              <a:rPr lang="bg-BG" sz="3600" b="1" dirty="0"/>
              <a:t>запазваме файла </a:t>
            </a:r>
            <a:r>
              <a:rPr lang="bg-BG" sz="3600" dirty="0"/>
              <a:t>в </a:t>
            </a:r>
            <a:r>
              <a:rPr lang="bg-BG" sz="3600" b="1" dirty="0"/>
              <a:t>компютъра</a:t>
            </a:r>
            <a:endParaRPr lang="en-US" sz="3600" dirty="0"/>
          </a:p>
          <a:p>
            <a:endParaRPr lang="bg-BG" sz="360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Запазване на </a:t>
            </a:r>
            <a:r>
              <a:rPr lang="en-US" dirty="0"/>
              <a:t>Wireframe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B4605E-C88F-75E8-1C32-8FC1D4D0BE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012" y="3586262"/>
            <a:ext cx="3217413" cy="261755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9DF720A-D7EE-DF8B-82CE-F2A5CFD5F06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276" t="73640"/>
          <a:stretch/>
        </p:blipFill>
        <p:spPr>
          <a:xfrm>
            <a:off x="6441387" y="4168907"/>
            <a:ext cx="5311643" cy="145226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8" name="Arrow: Right 6">
            <a:extLst>
              <a:ext uri="{FF2B5EF4-FFF2-40B4-BE49-F238E27FC236}">
                <a16:creationId xmlns:a16="http://schemas.microsoft.com/office/drawing/2014/main" id="{3F647365-A1A4-49B1-E08D-61B9E28F0219}"/>
              </a:ext>
            </a:extLst>
          </p:cNvPr>
          <p:cNvSpPr/>
          <p:nvPr/>
        </p:nvSpPr>
        <p:spPr bwMode="auto">
          <a:xfrm>
            <a:off x="4546883" y="4340572"/>
            <a:ext cx="1306281" cy="1108936"/>
          </a:xfrm>
          <a:prstGeom prst="rightArrow">
            <a:avLst/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446930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Резултат</a:t>
            </a:r>
            <a:endParaRPr lang="en-B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60F027-E061-DE0F-E696-E7D6E6879E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30176" y="1179000"/>
            <a:ext cx="6131647" cy="557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768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Проектиране на уеб страници </a:t>
            </a:r>
            <a:r>
              <a:rPr lang="bg-BG" sz="2600" dirty="0"/>
              <a:t>=</a:t>
            </a:r>
            <a:r>
              <a:rPr lang="en-US" sz="2600" dirty="0"/>
              <a:t>= </a:t>
            </a:r>
            <a:r>
              <a:rPr lang="bg-BG" sz="2600" dirty="0"/>
              <a:t>етапът, определящ структурата, съдържанието и функционалността на уеб страниците</a:t>
            </a:r>
            <a:endParaRPr lang="en-US" sz="2600" dirty="0"/>
          </a:p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Графичен интерфейс </a:t>
            </a:r>
            <a:r>
              <a:rPr lang="en-US" sz="2600" dirty="0"/>
              <a:t>== </a:t>
            </a:r>
            <a:r>
              <a:rPr lang="bg-BG" sz="2600" dirty="0"/>
              <a:t>визуалното оформление на всички елементи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Схематичен дизайн (</a:t>
            </a:r>
            <a:r>
              <a:rPr lang="en-US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Wireframe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)</a:t>
            </a:r>
            <a:r>
              <a:rPr lang="en-US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600" dirty="0"/>
              <a:t>==</a:t>
            </a:r>
            <a:r>
              <a:rPr lang="bg-BG" sz="2600" dirty="0"/>
              <a:t> визуално ръководство, което представлява най-общата рамка на една страница</a:t>
            </a:r>
            <a:endParaRPr lang="en-US" sz="2600" dirty="0"/>
          </a:p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Достъпност на уеб страници </a:t>
            </a:r>
            <a:r>
              <a:rPr lang="en-GB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(Web Accessibility)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bg-BG" sz="2600" dirty="0"/>
              <a:t>=</a:t>
            </a:r>
            <a:r>
              <a:rPr lang="en-US" sz="2600" dirty="0"/>
              <a:t>=</a:t>
            </a:r>
            <a:r>
              <a:rPr lang="bg-BG" sz="2600" dirty="0"/>
              <a:t> помага на потребителите с увреждания да получат пълен достъп до уеб страниците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Типове уеб страници </a:t>
            </a:r>
            <a:r>
              <a:rPr lang="bg-BG" sz="2600" b="1" dirty="0"/>
              <a:t>=</a:t>
            </a:r>
            <a:r>
              <a:rPr lang="en-US" sz="2600" b="1" dirty="0"/>
              <a:t>= </a:t>
            </a:r>
            <a:r>
              <a:rPr lang="bg-BG" sz="2600" dirty="0"/>
              <a:t>имат специфична структура и цел според тяхното предназначение</a:t>
            </a:r>
            <a:endParaRPr lang="bg-BG" sz="2600" dirty="0">
              <a:solidFill>
                <a:schemeClr val="bg2"/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37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24597</TotalTime>
  <Words>1745</Words>
  <Application>Microsoft Macintosh PowerPoint</Application>
  <PresentationFormat>Widescreen</PresentationFormat>
  <Paragraphs>263</Paragraphs>
  <Slides>39</Slides>
  <Notes>32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Consolas</vt:lpstr>
      <vt:lpstr>Wingdings</vt:lpstr>
      <vt:lpstr>SoftUni</vt:lpstr>
      <vt:lpstr>Проектиране на уеб страници</vt:lpstr>
      <vt:lpstr>Съдържание</vt:lpstr>
      <vt:lpstr>Проектиране на уеб страници</vt:lpstr>
      <vt:lpstr>Проектиране на уеб страници</vt:lpstr>
      <vt:lpstr>Цел на проектирането на уеб страници</vt:lpstr>
      <vt:lpstr>Основни етапи в проектирането на уеб страници</vt:lpstr>
      <vt:lpstr>Графичен интерфейс</vt:lpstr>
      <vt:lpstr>Графичен интерфейс</vt:lpstr>
      <vt:lpstr>Графичен дизайн</vt:lpstr>
      <vt:lpstr>Схематичен дизайн (Wireframe)</vt:lpstr>
      <vt:lpstr>Схематичен дизайн (Wireframe)</vt:lpstr>
      <vt:lpstr>Цел на схематичния дизайн</vt:lpstr>
      <vt:lpstr>Основни елементи на схематичния дизайн (1)</vt:lpstr>
      <vt:lpstr>Основни елементи на схематичния дизайн (2)</vt:lpstr>
      <vt:lpstr>Основни елементи на схематичния дизайн (3)</vt:lpstr>
      <vt:lpstr>Достъпност на уеб страници</vt:lpstr>
      <vt:lpstr>Достъпност на уеб страници (Web Accessibility)</vt:lpstr>
      <vt:lpstr>Основни принципи на достъпността</vt:lpstr>
      <vt:lpstr>Типове уеб страници</vt:lpstr>
      <vt:lpstr>Типове уеб страници (1)</vt:lpstr>
      <vt:lpstr>Типове уеб страници (2)</vt:lpstr>
      <vt:lpstr>Типове уеб страници (3) </vt:lpstr>
      <vt:lpstr>Начална и вътрешни страници</vt:lpstr>
      <vt:lpstr>Пример</vt:lpstr>
      <vt:lpstr>Схематичен дизайн на уеб страница</vt:lpstr>
      <vt:lpstr>Създаване на Wireframe (1)</vt:lpstr>
      <vt:lpstr>Създаване на Wireframe (2)</vt:lpstr>
      <vt:lpstr>Създаване на Wireframe (3)</vt:lpstr>
      <vt:lpstr>Създаване на Wireframe (4)</vt:lpstr>
      <vt:lpstr>Хедър (1)</vt:lpstr>
      <vt:lpstr>Хедър (2)</vt:lpstr>
      <vt:lpstr>Hero секция</vt:lpstr>
      <vt:lpstr>Основно съдържание</vt:lpstr>
      <vt:lpstr>Футър</vt:lpstr>
      <vt:lpstr>Запазване на Wireframe</vt:lpstr>
      <vt:lpstr>Резултат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Проектиране на уеб страници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Mirela Damyanova</cp:lastModifiedBy>
  <cp:revision>345</cp:revision>
  <dcterms:created xsi:type="dcterms:W3CDTF">2018-05-23T13:08:44Z</dcterms:created>
  <dcterms:modified xsi:type="dcterms:W3CDTF">2025-11-27T10:18:05Z</dcterms:modified>
  <cp:category/>
</cp:coreProperties>
</file>