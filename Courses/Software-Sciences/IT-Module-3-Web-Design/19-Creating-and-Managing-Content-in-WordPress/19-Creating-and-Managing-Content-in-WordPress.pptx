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38"/>
  </p:notesMasterIdLst>
  <p:handoutMasterIdLst>
    <p:handoutMasterId r:id="rId39"/>
  </p:handoutMasterIdLst>
  <p:sldIdLst>
    <p:sldId id="503" r:id="rId2"/>
    <p:sldId id="276" r:id="rId3"/>
    <p:sldId id="353" r:id="rId4"/>
    <p:sldId id="497" r:id="rId5"/>
    <p:sldId id="905" r:id="rId6"/>
    <p:sldId id="906" r:id="rId7"/>
    <p:sldId id="907" r:id="rId8"/>
    <p:sldId id="610" r:id="rId9"/>
    <p:sldId id="902" r:id="rId10"/>
    <p:sldId id="908" r:id="rId11"/>
    <p:sldId id="923" r:id="rId12"/>
    <p:sldId id="616" r:id="rId13"/>
    <p:sldId id="874" r:id="rId14"/>
    <p:sldId id="922" r:id="rId15"/>
    <p:sldId id="910" r:id="rId16"/>
    <p:sldId id="838" r:id="rId17"/>
    <p:sldId id="844" r:id="rId18"/>
    <p:sldId id="911" r:id="rId19"/>
    <p:sldId id="912" r:id="rId20"/>
    <p:sldId id="903" r:id="rId21"/>
    <p:sldId id="917" r:id="rId22"/>
    <p:sldId id="654" r:id="rId23"/>
    <p:sldId id="881" r:id="rId24"/>
    <p:sldId id="913" r:id="rId25"/>
    <p:sldId id="918" r:id="rId26"/>
    <p:sldId id="924" r:id="rId27"/>
    <p:sldId id="919" r:id="rId28"/>
    <p:sldId id="914" r:id="rId29"/>
    <p:sldId id="915" r:id="rId30"/>
    <p:sldId id="920" r:id="rId31"/>
    <p:sldId id="921" r:id="rId32"/>
    <p:sldId id="916" r:id="rId33"/>
    <p:sldId id="896" r:id="rId34"/>
    <p:sldId id="633" r:id="rId35"/>
    <p:sldId id="504" r:id="rId36"/>
    <p:sldId id="505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A0C7653D-1924-4F56-9E27-AA2B21F1DA92}">
          <p14:sldIdLst>
            <p14:sldId id="503"/>
            <p14:sldId id="276"/>
          </p14:sldIdLst>
        </p14:section>
        <p14:section name="Съдържание в WordPress" id="{66DCFE1F-60FD-44F2-BE82-706DDBC14898}">
          <p14:sldIdLst>
            <p14:sldId id="353"/>
            <p14:sldId id="497"/>
            <p14:sldId id="905"/>
            <p14:sldId id="906"/>
            <p14:sldId id="907"/>
          </p14:sldIdLst>
        </p14:section>
        <p14:section name="Блоков редактор" id="{EB44CA50-B176-0C4C-B0D0-5459023C7783}">
          <p14:sldIdLst>
            <p14:sldId id="610"/>
            <p14:sldId id="902"/>
            <p14:sldId id="908"/>
            <p14:sldId id="923"/>
          </p14:sldIdLst>
        </p14:section>
        <p14:section name="Медийна библиотека" id="{2B3E1915-4BA2-9447-BC07-AE658EE7EC35}">
          <p14:sldIdLst>
            <p14:sldId id="616"/>
            <p14:sldId id="874"/>
            <p14:sldId id="922"/>
            <p14:sldId id="910"/>
          </p14:sldIdLst>
        </p14:section>
        <p14:section name="Организиране на съдържанието" id="{23E1C1D3-C190-EF49-BBD0-D54C17EFBBA7}">
          <p14:sldIdLst>
            <p14:sldId id="838"/>
            <p14:sldId id="844"/>
            <p14:sldId id="911"/>
            <p14:sldId id="912"/>
          </p14:sldIdLst>
        </p14:section>
        <p14:section name="Управление на съдържанието" id="{B1587002-C672-4C49-B7C4-ACBD0305C198}">
          <p14:sldIdLst>
            <p14:sldId id="903"/>
            <p14:sldId id="917"/>
          </p14:sldIdLst>
        </p14:section>
        <p14:section name="Демо" id="{276EAB92-AF41-DD42-AFD3-D1ABB239E1A7}">
          <p14:sldIdLst>
            <p14:sldId id="654"/>
            <p14:sldId id="881"/>
            <p14:sldId id="913"/>
            <p14:sldId id="918"/>
            <p14:sldId id="924"/>
            <p14:sldId id="919"/>
            <p14:sldId id="914"/>
            <p14:sldId id="915"/>
            <p14:sldId id="920"/>
            <p14:sldId id="921"/>
            <p14:sldId id="916"/>
            <p14:sldId id="896"/>
          </p14:sldIdLst>
        </p14:section>
        <p14:section name="Заключение" id="{E19D07F1-86E2-47E9-B2AB-7ADC4F89DC12}">
          <p14:sldIdLst>
            <p14:sldId id="633"/>
            <p14:sldId id="504"/>
            <p14:sldId id="50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B4BF2F8-D32F-9387-A6CE-368ED6EFDCF0}" name="Zaraliev" initials="KZ" userId="S::Zaraliev@students.softuni.bg::e1c6524a-140e-4108-9ad5-216363431969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C" initials="P" lastIdx="8" clrIdx="0">
    <p:extLst>
      <p:ext uri="{19B8F6BF-5375-455C-9EA6-DF929625EA0E}">
        <p15:presenceInfo xmlns:p15="http://schemas.microsoft.com/office/powerpoint/2012/main" userId="PC" providerId="None"/>
      </p:ext>
    </p:extLst>
  </p:cmAuthor>
  <p:cmAuthor id="2" name="Mirela Damyanova" initials="MD" lastIdx="6" clrIdx="1">
    <p:extLst>
      <p:ext uri="{19B8F6BF-5375-455C-9EA6-DF929625EA0E}">
        <p15:presenceInfo xmlns:p15="http://schemas.microsoft.com/office/powerpoint/2012/main" userId="Mirela Damyanova" providerId="None"/>
      </p:ext>
    </p:extLst>
  </p:cmAuthor>
  <p:cmAuthor id="3" name="Zaraliev" initials="KZ" lastIdx="1" clrIdx="2">
    <p:extLst>
      <p:ext uri="{19B8F6BF-5375-455C-9EA6-DF929625EA0E}">
        <p15:presenceInfo xmlns:p15="http://schemas.microsoft.com/office/powerpoint/2012/main" userId="S::Zaraliev@students.softuni.bg::e1c6524a-140e-4108-9ad5-21636343196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9100"/>
    <a:srgbClr val="234465"/>
    <a:srgbClr val="ADB4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505E3EF-67EA-436B-97B2-0124C06EBD24}" styleName="Medium Style 4 –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16D9F66E-5EB9-4882-86FB-DCBF35E3C3E4}" styleName="Medium Style 4 –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2838BEF-8BB2-4498-84A7-C5851F593DF1}" styleName="Medium Style 4 –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671" autoAdjust="0"/>
    <p:restoredTop sz="95427" autoAdjust="0"/>
  </p:normalViewPr>
  <p:slideViewPr>
    <p:cSldViewPr showGuides="1">
      <p:cViewPr varScale="1">
        <p:scale>
          <a:sx n="104" d="100"/>
          <a:sy n="104" d="100"/>
        </p:scale>
        <p:origin x="216" y="288"/>
      </p:cViewPr>
      <p:guideLst>
        <p:guide orient="horz" pos="2184"/>
        <p:guide pos="3840"/>
      </p:guideLst>
    </p:cSldViewPr>
  </p:slideViewPr>
  <p:outlineViewPr>
    <p:cViewPr>
      <p:scale>
        <a:sx n="33" d="100"/>
        <a:sy n="33" d="100"/>
      </p:scale>
      <p:origin x="0" y="-9989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6566"/>
    </p:cViewPr>
  </p:sorterViewPr>
  <p:notesViewPr>
    <p:cSldViewPr>
      <p:cViewPr varScale="1">
        <p:scale>
          <a:sx n="60" d="100"/>
          <a:sy n="60" d="100"/>
        </p:scale>
        <p:origin x="3187" y="48"/>
      </p:cViewPr>
      <p:guideLst/>
    </p:cSldViewPr>
  </p:notesViewPr>
  <p:gridSpacing cx="45000" cy="45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commentAuthors" Target="commentAuthors.xml"/><Relationship Id="rId45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6F20103-83CC-4A54-8FDE-9D37FC2629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A53962-26EF-44E4-9E69-61B1727AB1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087215-0C8F-4762-A664-737A353EC9A4}" type="datetimeFigureOut">
              <a:rPr lang="bg-BG" smtClean="0"/>
              <a:t>4.09.26 г.</a:t>
            </a:fld>
            <a:endParaRPr lang="bg-B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A6967E-448F-4887-8FCB-34482EFBCC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-1" y="8892000"/>
            <a:ext cx="6443999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bg-BG" sz="1100" dirty="0"/>
              <a:t>Работна група </a:t>
            </a:r>
            <a:r>
              <a:rPr lang="ru-RU" sz="1100" dirty="0"/>
              <a:t>"Образование по програмиране и ИТ</a:t>
            </a:r>
            <a:r>
              <a:rPr lang="bg-BG" sz="1100" dirty="0"/>
              <a:t>", с подкрепата на </a:t>
            </a:r>
            <a:r>
              <a:rPr lang="en-US" sz="1100" dirty="0">
                <a:hlinkClick r:id="rId2"/>
              </a:rPr>
              <a:t>SoftUni</a:t>
            </a:r>
            <a:endParaRPr lang="en-US" sz="11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6554C2-DDBA-40E2-9536-53A07EC502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443999" y="8892000"/>
            <a:ext cx="412413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C318AE-53F9-47EA-B5FE-E9473933AF11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15060296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D84649-876A-46C9-8472-14CB09C070D8}" type="datetimeFigureOut">
              <a:rPr lang="en-US" smtClean="0"/>
              <a:t>9/4/26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488999" y="8892000"/>
            <a:ext cx="367414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F067CD-8E6B-4360-9AA8-C5DF2A48A6D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92000"/>
            <a:ext cx="6488999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bg-BG" sz="1100" dirty="0"/>
              <a:t>Работна група </a:t>
            </a:r>
            <a:r>
              <a:rPr lang="bg-BG" dirty="0"/>
              <a:t>"Образование по програмиране и ИТ"</a:t>
            </a:r>
            <a:r>
              <a:rPr lang="bg-BG" sz="1100" dirty="0"/>
              <a:t>, с подкрепата на </a:t>
            </a:r>
            <a:r>
              <a:rPr lang="en-US" sz="1100" dirty="0">
                <a:hlinkClick r:id="rId2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53084769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8" name="Slide Image Placeholder 7">
            <a:extLst>
              <a:ext uri="{FF2B5EF4-FFF2-40B4-BE49-F238E27FC236}">
                <a16:creationId xmlns:a16="http://schemas.microsoft.com/office/drawing/2014/main" id="{78811095-27E9-49AB-972B-D4E20B3963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9" name="Notes Placeholder 8">
            <a:extLst>
              <a:ext uri="{FF2B5EF4-FFF2-40B4-BE49-F238E27FC236}">
                <a16:creationId xmlns:a16="http://schemas.microsoft.com/office/drawing/2014/main" id="{E923224B-0CC3-475A-8628-8A90751AE6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288A3F3-90B1-4930-8D00-5603BDABEF1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44894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Image Placeholder 13">
            <a:extLst>
              <a:ext uri="{FF2B5EF4-FFF2-40B4-BE49-F238E27FC236}">
                <a16:creationId xmlns:a16="http://schemas.microsoft.com/office/drawing/2014/main" id="{A1F0B3C6-2E53-4CA3-86D1-53D46EC352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5" name="Notes Placeholder 14">
            <a:extLst>
              <a:ext uri="{FF2B5EF4-FFF2-40B4-BE49-F238E27FC236}">
                <a16:creationId xmlns:a16="http://schemas.microsoft.com/office/drawing/2014/main" id="{149CC699-A079-49A5-A4D6-73B7F849A7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121F4233-7E9A-40D2-9066-2DB14E2FA5AD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18F1DFF-B3E7-4ABF-97EE-0BBF3A961EC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85307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D88B0D8-949C-482D-990A-2DAB14AD4AD1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474633-D38D-4432-867B-70F325FA70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10985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EF363-177A-44DE-80E9-FC9248B7DCA2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E613EE-6697-4964-A067-C2136C00C8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925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D88B0D8-949C-482D-990A-2DAB14AD4AD1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474633-D38D-4432-867B-70F325FA70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7714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EF363-177A-44DE-80E9-FC9248B7DCA2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E613EE-6697-4964-A067-C2136C00C8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94840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D88B0D8-949C-482D-990A-2DAB14AD4AD1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474633-D38D-4432-867B-70F325FA70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31878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D88B0D8-949C-482D-990A-2DAB14AD4AD1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474633-D38D-4432-867B-70F325FA70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49477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EF363-177A-44DE-80E9-FC9248B7DCA2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E613EE-6697-4964-A067-C2136C00C8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5849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D88B0D8-949C-482D-990A-2DAB14AD4AD1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474633-D38D-4432-867B-70F325FA70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47675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EF363-177A-44DE-80E9-FC9248B7DCA2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E613EE-6697-4964-A067-C2136C00C8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58052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D88B0D8-949C-482D-990A-2DAB14AD4AD1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474633-D38D-4432-867B-70F325FA70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49941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t>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bg-BG" sz="1100"/>
              <a:t>Работна група </a:t>
            </a:r>
            <a:r>
              <a:rPr lang="bg-BG"/>
              <a:t>"Образование по програмиране и ИТ"</a:t>
            </a:r>
            <a:r>
              <a:rPr lang="bg-BG" sz="1100"/>
              <a:t>, с подкрепата на </a:t>
            </a:r>
            <a:r>
              <a:rPr lang="en-US" sz="1100">
                <a:hlinkClick r:id="rId3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1476716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t>30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bg-BG" sz="1100"/>
              <a:t>Работна група </a:t>
            </a:r>
            <a:r>
              <a:rPr lang="bg-BG"/>
              <a:t>"Образование по програмиране и ИТ"</a:t>
            </a:r>
            <a:r>
              <a:rPr lang="bg-BG" sz="1100"/>
              <a:t>, с подкрепата на </a:t>
            </a:r>
            <a:r>
              <a:rPr lang="en-US" sz="1100">
                <a:hlinkClick r:id="rId3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4718323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65F1CA9-65DC-416B-8882-B3A5E415CE67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43FAF785-0C8D-730E-8E59-68198DC82CE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92000"/>
            <a:ext cx="6488999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bg-BG" sz="1100" dirty="0"/>
              <a:t>Работна група </a:t>
            </a:r>
            <a:r>
              <a:rPr lang="bg-BG" dirty="0"/>
              <a:t>"Образование по програмиране и ИТ"</a:t>
            </a:r>
            <a:r>
              <a:rPr lang="bg-BG" sz="1100" dirty="0"/>
              <a:t>, с подкрепата на </a:t>
            </a:r>
            <a:r>
              <a:rPr lang="en-US" sz="1100" dirty="0">
                <a:hlinkClick r:id="rId3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68934473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49B984-F964-47FF-8179-0A3007CE21CD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059BE0-D868-413B-AAA1-1CC88D1F52C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5903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7548A-4D3C-449B-81A5-FA4BE4628490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472CE7-61C1-4B7B-B0C8-5A45F017871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8844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-sa/4.0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Bottom">
            <a:extLst>
              <a:ext uri="{FF2B5EF4-FFF2-40B4-BE49-F238E27FC236}">
                <a16:creationId xmlns:a16="http://schemas.microsoft.com/office/drawing/2014/main" id="{6854D183-0374-4B3E-B2CE-32F308A81591}"/>
              </a:ext>
            </a:extLst>
          </p:cNvPr>
          <p:cNvSpPr/>
          <p:nvPr userDrawn="1"/>
        </p:nvSpPr>
        <p:spPr>
          <a:xfrm>
            <a:off x="0" y="6702676"/>
            <a:ext cx="12195176" cy="1553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3" name="Picture Placeholder Title Image">
            <a:extLst>
              <a:ext uri="{FF2B5EF4-FFF2-40B4-BE49-F238E27FC236}">
                <a16:creationId xmlns:a16="http://schemas.microsoft.com/office/drawing/2014/main" id="{A04D819A-89E2-4714-8C56-1838BF467E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90123" y="3400017"/>
            <a:ext cx="5248260" cy="2188983"/>
          </a:xfrm>
        </p:spPr>
        <p:txBody>
          <a:bodyPr/>
          <a:lstStyle>
            <a:lvl1pPr marL="0" indent="0" algn="ctr" latinLnBrk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10" name="Company Web Site">
            <a:extLst>
              <a:ext uri="{FF2B5EF4-FFF2-40B4-BE49-F238E27FC236}">
                <a16:creationId xmlns:a16="http://schemas.microsoft.com/office/drawing/2014/main" id="{0B99B1EE-62FA-4AA4-920C-D444D6C0B77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90120" y="6086106"/>
            <a:ext cx="5248260" cy="341313"/>
          </a:xfrm>
        </p:spPr>
        <p:txBody>
          <a:bodyPr lIns="36000" rIns="36000" anchor="ctr" anchorCtr="0">
            <a:noAutofit/>
          </a:bodyPr>
          <a:lstStyle>
            <a:lvl1pPr marL="0" indent="0" algn="r">
              <a:buNone/>
              <a:defRPr sz="1800"/>
            </a:lvl1pPr>
          </a:lstStyle>
          <a:p>
            <a:pPr lvl="0"/>
            <a:r>
              <a:rPr lang="en-US" dirty="0"/>
              <a:t>https://softuni.foundation  </a:t>
            </a:r>
          </a:p>
        </p:txBody>
      </p:sp>
      <p:sp>
        <p:nvSpPr>
          <p:cNvPr id="6" name="Company Name">
            <a:extLst>
              <a:ext uri="{FF2B5EF4-FFF2-40B4-BE49-F238E27FC236}">
                <a16:creationId xmlns:a16="http://schemas.microsoft.com/office/drawing/2014/main" id="{2A76510A-0BAE-A827-E77C-BE88E38F52A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90122" y="5698189"/>
            <a:ext cx="5248260" cy="374236"/>
          </a:xfrm>
        </p:spPr>
        <p:txBody>
          <a:bodyPr lIns="36000" rIns="36000" anchor="ctr" anchorCtr="0">
            <a:normAutofit/>
          </a:bodyPr>
          <a:lstStyle>
            <a:lvl1pPr marL="0" indent="0" algn="r">
              <a:buNone/>
              <a:defRPr sz="2000" b="1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SoftUni Foundation</a:t>
            </a:r>
          </a:p>
        </p:txBody>
      </p:sp>
      <p:sp>
        <p:nvSpPr>
          <p:cNvPr id="31" name="Author Position">
            <a:extLst>
              <a:ext uri="{FF2B5EF4-FFF2-40B4-BE49-F238E27FC236}">
                <a16:creationId xmlns:a16="http://schemas.microsoft.com/office/drawing/2014/main" id="{3E6B87B7-9D33-4EBB-BD4F-C0436BA3FD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534045" y="6085863"/>
            <a:ext cx="4751953" cy="341556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1800" b="0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URL</a:t>
            </a:r>
          </a:p>
        </p:txBody>
      </p:sp>
      <p:sp>
        <p:nvSpPr>
          <p:cNvPr id="30" name="Author Name">
            <a:extLst>
              <a:ext uri="{FF2B5EF4-FFF2-40B4-BE49-F238E27FC236}">
                <a16:creationId xmlns:a16="http://schemas.microsoft.com/office/drawing/2014/main" id="{2EA92DCA-4DB5-4D03-ACD3-A6A296592D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534046" y="5251106"/>
            <a:ext cx="4751954" cy="724904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2000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Authors</a:t>
            </a:r>
          </a:p>
        </p:txBody>
      </p:sp>
      <p:sp>
        <p:nvSpPr>
          <p:cNvPr id="43" name="Presentation Subtitle">
            <a:extLst>
              <a:ext uri="{FF2B5EF4-FFF2-40B4-BE49-F238E27FC236}">
                <a16:creationId xmlns:a16="http://schemas.microsoft.com/office/drawing/2014/main" id="{37BDB812-1395-4B02-ABCF-6A331EEE23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4746" y="1402942"/>
            <a:ext cx="11083636" cy="1306057"/>
          </a:xfrm>
        </p:spPr>
        <p:txBody>
          <a:bodyPr anchor="t" anchorCtr="0">
            <a:normAutofit/>
          </a:bodyPr>
          <a:lstStyle>
            <a:lvl1pPr marL="0" indent="0" algn="ctr" latinLnBrk="0">
              <a:buNone/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Presentation Subtitle</a:t>
            </a:r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A4DF3AB8-E6E3-4FCE-8A4A-ECD147720A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746" y="321501"/>
            <a:ext cx="11083636" cy="971589"/>
          </a:xfrm>
        </p:spPr>
        <p:txBody>
          <a:bodyPr>
            <a:normAutofit/>
          </a:bodyPr>
          <a:lstStyle>
            <a:lvl1pPr algn="ctr" latinLnBrk="0">
              <a:defRPr sz="5400"/>
            </a:lvl1pPr>
          </a:lstStyle>
          <a:p>
            <a:r>
              <a:rPr lang="en-US" noProof="0" dirty="0"/>
              <a:t>Presentation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4D0DB3-F60A-469B-7831-209CB666CC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549" y="4325954"/>
            <a:ext cx="2538082" cy="633046"/>
          </a:xfrm>
          <a:prstGeom prst="rect">
            <a:avLst/>
          </a:prstGeom>
        </p:spPr>
      </p:pic>
      <p:pic>
        <p:nvPicPr>
          <p:cNvPr id="5" name="Picture 4" title="CC-BY-NC-SA License">
            <a:hlinkClick r:id="rId3" tooltip="This work is licensed under the &quot;Creative Commons Attribution-NonCommercial-ShareAlike 4.0 International&quot; license"/>
            <a:extLst>
              <a:ext uri="{FF2B5EF4-FFF2-40B4-BE49-F238E27FC236}">
                <a16:creationId xmlns:a16="http://schemas.microsoft.com/office/drawing/2014/main" id="{2D40731C-0303-A69D-63FD-E048A73CA59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2682" y="4321352"/>
            <a:ext cx="1809336" cy="633045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0654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4319736" y="86775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615109" y="5585916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615109" y="4704825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529216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Slide Body Text">
            <a:extLst>
              <a:ext uri="{FF2B5EF4-FFF2-40B4-BE49-F238E27FC236}">
                <a16:creationId xmlns:a16="http://schemas.microsoft.com/office/drawing/2014/main" id="{5A9D2960-6D42-439F-82E8-812822013A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6125"/>
            <a:ext cx="11818096" cy="5528766"/>
          </a:xfrm>
        </p:spPr>
        <p:txBody>
          <a:bodyPr/>
          <a:lstStyle>
            <a:lvl1pPr latinLnBrk="0">
              <a:buClr>
                <a:schemeClr val="tx1"/>
              </a:buClr>
              <a:defRPr/>
            </a:lvl1pPr>
            <a:lvl2pPr latinLnBrk="0">
              <a:buClr>
                <a:schemeClr val="tx1"/>
              </a:buClr>
              <a:defRPr/>
            </a:lvl2pPr>
            <a:lvl3pPr latinLnBrk="0">
              <a:buClr>
                <a:schemeClr val="tx1"/>
              </a:buClr>
              <a:defRPr/>
            </a:lvl3pPr>
            <a:lvl4pPr latinLnBrk="0">
              <a:buClr>
                <a:schemeClr val="tx1"/>
              </a:buClr>
              <a:defRPr/>
            </a:lvl4pPr>
            <a:lvl5pPr latinLnBrk="0">
              <a:buClr>
                <a:schemeClr val="tx1"/>
              </a:buClr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391AFA4E-7870-4561-A1B8-AC956B0C8931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19B5B676-7892-440F-8191-7109B2C598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9A1D0F-F579-6A3C-C698-4E2E7F1AB26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970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ortant Conce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0020EB61-2079-41A3-B356-B1D8D48D7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Rectangle Left"/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3074" name="Picture Bulb" descr="Bul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35205" y="1792355"/>
            <a:ext cx="1830304" cy="4062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Body Text">
            <a:extLst>
              <a:ext uri="{FF2B5EF4-FFF2-40B4-BE49-F238E27FC236}">
                <a16:creationId xmlns:a16="http://schemas.microsoft.com/office/drawing/2014/main" id="{CB4CB13C-66A1-466B-A6C1-B0BABF5CFE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66000" y="1121143"/>
            <a:ext cx="10129234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8" name="Slide Title">
            <a:extLst>
              <a:ext uri="{FF2B5EF4-FFF2-40B4-BE49-F238E27FC236}">
                <a16:creationId xmlns:a16="http://schemas.microsoft.com/office/drawing/2014/main" id="{E2DA9691-CDF5-499C-94BB-AAA61DAC1B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6" y="100750"/>
            <a:ext cx="916404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8CA5371-2597-CF8F-1859-2263958074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530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">
            <a:extLst>
              <a:ext uri="{FF2B5EF4-FFF2-40B4-BE49-F238E27FC236}">
                <a16:creationId xmlns:a16="http://schemas.microsoft.com/office/drawing/2014/main" id="{39DDE17E-5472-41F3-AF5F-54DFF10DC6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3" name="Slide Body Text">
            <a:extLst>
              <a:ext uri="{FF2B5EF4-FFF2-40B4-BE49-F238E27FC236}">
                <a16:creationId xmlns:a16="http://schemas.microsoft.com/office/drawing/2014/main" id="{889D93F4-ABFA-46BF-8E5D-FE6562ACB2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6766" y="1371604"/>
            <a:ext cx="11781606" cy="5207396"/>
          </a:xfrm>
        </p:spPr>
        <p:txBody>
          <a:bodyPr>
            <a:normAutofit/>
          </a:bodyPr>
          <a:lstStyle>
            <a:lvl1pPr marL="514042" indent="-514042" latinLnBrk="0">
              <a:buFont typeface="+mj-lt"/>
              <a:buAutoNum type="arabicPeriod"/>
              <a:defRPr sz="3600">
                <a:solidFill>
                  <a:schemeClr val="tx1"/>
                </a:solidFill>
              </a:defRPr>
            </a:lvl1pPr>
            <a:lvl2pPr>
              <a:defRPr sz="3400"/>
            </a:lvl2pPr>
          </a:lstStyle>
          <a:p>
            <a:pPr lvl="0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0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0"/>
            <a:r>
              <a:rPr lang="en-US" noProof="0" dirty="0"/>
              <a:t>…</a:t>
            </a:r>
          </a:p>
        </p:txBody>
      </p:sp>
      <p:sp>
        <p:nvSpPr>
          <p:cNvPr id="8" name="Rectangle Top">
            <a:extLst>
              <a:ext uri="{FF2B5EF4-FFF2-40B4-BE49-F238E27FC236}">
                <a16:creationId xmlns:a16="http://schemas.microsoft.com/office/drawing/2014/main" id="{930E0800-9260-4369-8330-8264DD33C5CE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357D7BE1-6358-42CC-94F3-7BCDD91DC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Table of Contents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D808AB-EC49-1578-0005-D58D2A365A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724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Bottom">
            <a:extLst>
              <a:ext uri="{FF2B5EF4-FFF2-40B4-BE49-F238E27FC236}">
                <a16:creationId xmlns:a16="http://schemas.microsoft.com/office/drawing/2014/main" id="{550A59F9-9A9D-4956-95B4-F78CC0DB1D59}"/>
              </a:ext>
            </a:extLst>
          </p:cNvPr>
          <p:cNvSpPr/>
          <p:nvPr userDrawn="1"/>
        </p:nvSpPr>
        <p:spPr>
          <a:xfrm>
            <a:off x="0" y="6371332"/>
            <a:ext cx="12195176" cy="4872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107753B-8639-4399-B782-EE5377184D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6988" y="1461842"/>
            <a:ext cx="10731663" cy="3047158"/>
          </a:xfrm>
        </p:spPr>
        <p:txBody>
          <a:bodyPr>
            <a:normAutofit/>
          </a:bodyPr>
          <a:lstStyle>
            <a:lvl1pPr algn="ctr">
              <a:defRPr sz="13800"/>
            </a:lvl1pPr>
          </a:lstStyle>
          <a:p>
            <a:r>
              <a:rPr lang="bg-BG" dirty="0"/>
              <a:t>Въпроси?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061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Body Text">
            <a:extLst>
              <a:ext uri="{FF2B5EF4-FFF2-40B4-BE49-F238E27FC236}">
                <a16:creationId xmlns:a16="http://schemas.microsoft.com/office/drawing/2014/main" id="{90CBFB32-9F46-4F2F-8A54-9EE8BED27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404" y="1138844"/>
            <a:ext cx="11804830" cy="5530156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0" name="Slide Title">
            <a:extLst>
              <a:ext uri="{FF2B5EF4-FFF2-40B4-BE49-F238E27FC236}">
                <a16:creationId xmlns:a16="http://schemas.microsoft.com/office/drawing/2014/main" id="{B770C392-3003-4C35-9625-BB041F825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5" y="100750"/>
            <a:ext cx="11804829" cy="882654"/>
          </a:xfrm>
          <a:prstGeom prst="rect">
            <a:avLst/>
          </a:prstGeom>
        </p:spPr>
        <p:txBody>
          <a:bodyPr vert="horz" lIns="108000" tIns="36000" rIns="108000" bIns="3600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678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89" r:id="rId2"/>
    <p:sldLayoutId id="2147483681" r:id="rId3"/>
    <p:sldLayoutId id="2147483679" r:id="rId4"/>
    <p:sldLayoutId id="2147483677" r:id="rId5"/>
    <p:sldLayoutId id="2147483686" r:id="rId6"/>
  </p:sldLayoutIdLst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:p15="http://schemas.microsoft.com/office/powerpoint/2012/main" xmlns:a16="http://schemas.microsoft.com/office/drawing/2014/main" xmlns="">
      <p:transition spd="slow" advClick="0" advTm="5000"/>
    </mc:Fallback>
  </mc:AlternateContent>
  <p:hf hdr="0" ftr="0" dt="0"/>
  <p:txStyles>
    <p:titleStyle>
      <a:lvl1pPr algn="l" defTabSz="1218438" rtl="0" eaLnBrk="1" latinLnBrk="0" hangingPunct="1">
        <a:spcBef>
          <a:spcPct val="0"/>
        </a:spcBef>
        <a:buNone/>
        <a:defRPr sz="3998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36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398" kern="1200">
          <a:solidFill>
            <a:schemeClr val="tx1"/>
          </a:solidFill>
          <a:latin typeface="+mn-lt"/>
          <a:ea typeface="+mn-ea"/>
          <a:cs typeface="+mn-cs"/>
        </a:defRPr>
      </a:lvl1pPr>
      <a:lvl2pPr marL="803275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198" kern="1200">
          <a:solidFill>
            <a:schemeClr val="tx1"/>
          </a:solidFill>
          <a:latin typeface="+mn-lt"/>
          <a:ea typeface="+mn-ea"/>
          <a:cs typeface="+mn-cs"/>
        </a:defRPr>
      </a:lvl2pPr>
      <a:lvl3pPr marL="125571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998" kern="1200">
          <a:solidFill>
            <a:schemeClr val="tx1"/>
          </a:solidFill>
          <a:latin typeface="+mn-lt"/>
          <a:ea typeface="+mn-ea"/>
          <a:cs typeface="+mn-cs"/>
        </a:defRPr>
      </a:lvl3pPr>
      <a:lvl4pPr marL="1700213" indent="-352425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8988" indent="-266700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598" kern="1200">
          <a:solidFill>
            <a:schemeClr val="tx1"/>
          </a:solidFill>
          <a:latin typeface="+mn-lt"/>
          <a:ea typeface="+mn-ea"/>
          <a:cs typeface="+mn-cs"/>
        </a:defRPr>
      </a:lvl5pPr>
      <a:lvl6pPr marL="335070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5992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69143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78362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609219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218438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827657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4pPr>
      <a:lvl5pPr marL="243687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5pPr>
      <a:lvl6pPr marL="304609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655315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264533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873752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184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G-IT-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5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G-IT-Edu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png"/><Relationship Id="rId5" Type="http://schemas.openxmlformats.org/officeDocument/2006/relationships/hyperlink" Target="http://creativecommons.org/licenses/by-nc-sa/4.0/" TargetMode="External"/><Relationship Id="rId4" Type="http://schemas.openxmlformats.org/officeDocument/2006/relationships/hyperlink" Target="https://github.com/BG-IT-Ed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hor Name">
            <a:extLst>
              <a:ext uri="{FF2B5EF4-FFF2-40B4-BE49-F238E27FC236}">
                <a16:creationId xmlns:a16="http://schemas.microsoft.com/office/drawing/2014/main" id="{FA396BB6-2053-4690-9672-BC528007D37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390120" y="6086106"/>
            <a:ext cx="5248260" cy="341313"/>
          </a:xfrm>
        </p:spPr>
        <p:txBody>
          <a:bodyPr>
            <a:normAutofit lnSpcReduction="10000"/>
          </a:bodyPr>
          <a:lstStyle/>
          <a:p>
            <a:r>
              <a:rPr lang="bg-BG" dirty="0"/>
              <a:t>Софтуерни и хардуерни науки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8DE66249-1FBD-414B-AF0D-550F7312AF7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90122" y="5698189"/>
            <a:ext cx="5248260" cy="374236"/>
          </a:xfrm>
        </p:spPr>
        <p:txBody>
          <a:bodyPr>
            <a:normAutofit lnSpcReduction="10000"/>
          </a:bodyPr>
          <a:lstStyle/>
          <a:p>
            <a:r>
              <a:rPr lang="bg-BG" dirty="0"/>
              <a:t>Курс </a:t>
            </a:r>
            <a:r>
              <a:rPr lang="en-US" dirty="0"/>
              <a:t>"</a:t>
            </a:r>
            <a:r>
              <a:rPr lang="bg-BG" dirty="0"/>
              <a:t>Информационни технологии"</a:t>
            </a:r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20F80DC-BAF0-05EE-2BC1-37C2321904F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4045" y="6085863"/>
            <a:ext cx="4751953" cy="341556"/>
          </a:xfrm>
        </p:spPr>
        <p:txBody>
          <a:bodyPr>
            <a:normAutofit lnSpcReduction="10000"/>
          </a:bodyPr>
          <a:lstStyle/>
          <a:p>
            <a:r>
              <a:rPr lang="en-US" dirty="0">
                <a:hlinkClick r:id="rId3"/>
              </a:rPr>
              <a:t>https://github.com/BG-IT-Edu</a:t>
            </a:r>
            <a:endParaRPr lang="en-US" dirty="0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E4D839B2-02D1-883A-3CE0-7CF25557FB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4046" y="5251106"/>
            <a:ext cx="4751954" cy="724904"/>
          </a:xfrm>
        </p:spPr>
        <p:txBody>
          <a:bodyPr>
            <a:normAutofit/>
          </a:bodyPr>
          <a:lstStyle/>
          <a:p>
            <a:r>
              <a:rPr lang="bg-BG" dirty="0"/>
              <a:t>Проект "Отворено учебно съдържание по програмиране и ИТ", СофтУни Фондация </a:t>
            </a:r>
          </a:p>
        </p:txBody>
      </p:sp>
      <p:sp>
        <p:nvSpPr>
          <p:cNvPr id="3" name="Presentation Subtitle">
            <a:extLst>
              <a:ext uri="{FF2B5EF4-FFF2-40B4-BE49-F238E27FC236}">
                <a16:creationId xmlns:a16="http://schemas.microsoft.com/office/drawing/2014/main" id="{A004DC04-DA2A-41C0-8578-4B8D2F08EA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4746" y="1402942"/>
            <a:ext cx="11083636" cy="971589"/>
          </a:xfrm>
        </p:spPr>
        <p:txBody>
          <a:bodyPr>
            <a:noAutofit/>
          </a:bodyPr>
          <a:lstStyle/>
          <a:p>
            <a:r>
              <a:rPr lang="bg-BG" sz="3200" dirty="0"/>
              <a:t>Страници, публикации и медийно съдържание</a:t>
            </a:r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37F91798-9AD5-4209-8887-958029548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746" y="321501"/>
            <a:ext cx="11083636" cy="971589"/>
          </a:xfrm>
        </p:spPr>
        <p:txBody>
          <a:bodyPr>
            <a:noAutofit/>
          </a:bodyPr>
          <a:lstStyle/>
          <a:p>
            <a:r>
              <a:rPr lang="bg-BG" sz="3600" dirty="0"/>
              <a:t>Създаване и управление на съдържание в </a:t>
            </a:r>
            <a:r>
              <a:rPr lang="en-US" sz="3600" dirty="0"/>
              <a:t>WordPress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C89CDB-9A69-7B24-74E6-10BF87DE1C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1007" y="3073413"/>
            <a:ext cx="1819960" cy="814500"/>
          </a:xfrm>
          <a:prstGeom prst="rect">
            <a:avLst/>
          </a:prstGeom>
        </p:spPr>
      </p:pic>
      <p:pic>
        <p:nvPicPr>
          <p:cNvPr id="14" name="Picture Placeholder 13">
            <a:extLst>
              <a:ext uri="{FF2B5EF4-FFF2-40B4-BE49-F238E27FC236}">
                <a16:creationId xmlns:a16="http://schemas.microsoft.com/office/drawing/2014/main" id="{6CD621B5-05FF-FE3C-F42B-1C47E522CD7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666405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97"/>
    </mc:Choice>
    <mc:Fallback xmlns="">
      <p:transition spd="slow" advTm="2597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6A760D59-0056-4F39-B077-DBDBE3D2927E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44419" name="Slide Body"/>
          <p:cNvSpPr>
            <a:spLocks noGrp="1" noChangeArrowheads="1"/>
          </p:cNvSpPr>
          <p:nvPr>
            <p:ph type="body" sz="quarter" idx="13"/>
          </p:nvPr>
        </p:nvSpPr>
        <p:spPr>
          <a:xfrm>
            <a:off x="196766" y="1371604"/>
            <a:ext cx="11781606" cy="5207396"/>
          </a:xfrm>
        </p:spPr>
        <p:txBody>
          <a:bodyPr>
            <a:normAutofit fontScale="62500" lnSpcReduction="20000"/>
          </a:bodyPr>
          <a:lstStyle/>
          <a:p>
            <a:pPr>
              <a:buClr>
                <a:schemeClr val="tx1"/>
              </a:buClr>
            </a:pPr>
            <a:r>
              <a:rPr lang="bg-BG" sz="3800" dirty="0">
                <a:solidFill>
                  <a:schemeClr val="bg1"/>
                </a:solidFill>
              </a:rPr>
              <a:t>​</a:t>
            </a:r>
            <a:r>
              <a:rPr lang="bg-BG" sz="3800" b="1" dirty="0">
                <a:solidFill>
                  <a:schemeClr val="bg1"/>
                </a:solidFill>
              </a:rPr>
              <a:t>Съдържание в </a:t>
            </a:r>
            <a:r>
              <a:rPr lang="en-GB" sz="3800" b="1" dirty="0">
                <a:solidFill>
                  <a:schemeClr val="bg1"/>
                </a:solidFill>
              </a:rPr>
              <a:t>WordPress</a:t>
            </a:r>
            <a:endParaRPr lang="bg-BG" sz="3800" b="1" dirty="0">
              <a:solidFill>
                <a:schemeClr val="bg1"/>
              </a:solidFill>
            </a:endParaRPr>
          </a:p>
          <a:p>
            <a:pPr lvl="1">
              <a:buClr>
                <a:schemeClr val="tx1"/>
              </a:buClr>
            </a:pPr>
            <a:r>
              <a:rPr lang="bg-BG" sz="3600" b="1" dirty="0"/>
              <a:t>Страници </a:t>
            </a:r>
            <a:r>
              <a:rPr lang="bg-BG" sz="3600" dirty="0"/>
              <a:t>и</a:t>
            </a:r>
            <a:r>
              <a:rPr lang="bg-BG" sz="3600" b="1" dirty="0"/>
              <a:t> публикации</a:t>
            </a:r>
          </a:p>
          <a:p>
            <a:pPr>
              <a:buClr>
                <a:schemeClr val="tx1"/>
              </a:buClr>
            </a:pPr>
            <a:r>
              <a:rPr lang="bg-BG" sz="3800" dirty="0">
                <a:solidFill>
                  <a:schemeClr val="bg1"/>
                </a:solidFill>
              </a:rPr>
              <a:t>​</a:t>
            </a:r>
            <a:r>
              <a:rPr lang="bg-BG" sz="3800" b="1" dirty="0">
                <a:solidFill>
                  <a:schemeClr val="bg1"/>
                </a:solidFill>
              </a:rPr>
              <a:t>Блоков редактор</a:t>
            </a:r>
          </a:p>
          <a:p>
            <a:pPr lvl="1">
              <a:buClr>
                <a:schemeClr val="tx1"/>
              </a:buClr>
            </a:pPr>
            <a:r>
              <a:rPr lang="bg-BG" sz="3600" b="1" dirty="0"/>
              <a:t>Основни блокове</a:t>
            </a:r>
            <a:r>
              <a:rPr lang="bg-BG" sz="3600" dirty="0"/>
              <a:t> и </a:t>
            </a:r>
            <a:r>
              <a:rPr lang="bg-BG" sz="3600" b="1" dirty="0"/>
              <a:t>работа </a:t>
            </a:r>
            <a:r>
              <a:rPr lang="bg-BG" sz="3600" dirty="0"/>
              <a:t>с</a:t>
            </a:r>
            <a:r>
              <a:rPr lang="bg-BG" sz="3600" b="1" dirty="0"/>
              <a:t> блокове</a:t>
            </a:r>
            <a:endParaRPr lang="en-US" sz="3600" b="1" dirty="0"/>
          </a:p>
          <a:p>
            <a:pPr>
              <a:buClr>
                <a:schemeClr val="tx1"/>
              </a:buClr>
            </a:pPr>
            <a:r>
              <a:rPr lang="bg-BG" sz="3800" dirty="0"/>
              <a:t>​</a:t>
            </a:r>
            <a:r>
              <a:rPr lang="bg-BG" sz="3800" b="1" dirty="0">
                <a:solidFill>
                  <a:schemeClr val="bg1"/>
                </a:solidFill>
              </a:rPr>
              <a:t>Медийна библиотека</a:t>
            </a:r>
          </a:p>
          <a:p>
            <a:pPr lvl="1">
              <a:buClr>
                <a:schemeClr val="tx1"/>
              </a:buClr>
            </a:pPr>
            <a:r>
              <a:rPr lang="bg-BG" sz="3600" b="1" dirty="0"/>
              <a:t>Изображения </a:t>
            </a:r>
            <a:r>
              <a:rPr lang="bg-BG" sz="3600" dirty="0"/>
              <a:t>и</a:t>
            </a:r>
            <a:r>
              <a:rPr lang="bg-BG" sz="3600" b="1" dirty="0"/>
              <a:t> файлове</a:t>
            </a:r>
            <a:endParaRPr lang="bg-BG" sz="3600" b="1" dirty="0">
              <a:solidFill>
                <a:schemeClr val="bg1"/>
              </a:solidFill>
            </a:endParaRPr>
          </a:p>
          <a:p>
            <a:pPr>
              <a:buClr>
                <a:schemeClr val="tx1"/>
              </a:buClr>
            </a:pPr>
            <a:r>
              <a:rPr lang="bg-BG" sz="3800" dirty="0"/>
              <a:t>​​​</a:t>
            </a:r>
            <a:r>
              <a:rPr lang="bg-BG" sz="3800" b="1" dirty="0">
                <a:solidFill>
                  <a:schemeClr val="bg1"/>
                </a:solidFill>
              </a:rPr>
              <a:t>Организиране на съдържанието</a:t>
            </a:r>
          </a:p>
          <a:p>
            <a:pPr lvl="1">
              <a:buClr>
                <a:schemeClr val="tx1"/>
              </a:buClr>
            </a:pPr>
            <a:r>
              <a:rPr lang="bg-BG" sz="3600" b="1" dirty="0"/>
              <a:t>Категории </a:t>
            </a:r>
            <a:r>
              <a:rPr lang="bg-BG" sz="3600" dirty="0"/>
              <a:t>и</a:t>
            </a:r>
            <a:r>
              <a:rPr lang="bg-BG" sz="3600" b="1" dirty="0"/>
              <a:t> етикети</a:t>
            </a:r>
          </a:p>
          <a:p>
            <a:pPr>
              <a:buClr>
                <a:schemeClr val="tx1"/>
              </a:buClr>
            </a:pPr>
            <a:r>
              <a:rPr lang="bg-BG" sz="3800" dirty="0"/>
              <a:t>​​​</a:t>
            </a:r>
            <a:r>
              <a:rPr lang="bg-BG" sz="3800" b="1" dirty="0">
                <a:solidFill>
                  <a:schemeClr val="bg1"/>
                </a:solidFill>
              </a:rPr>
              <a:t>Управление на съдържанието</a:t>
            </a:r>
          </a:p>
          <a:p>
            <a:pPr lvl="1">
              <a:buClr>
                <a:schemeClr val="tx1"/>
              </a:buClr>
            </a:pPr>
            <a:r>
              <a:rPr lang="bg-BG" sz="3600" b="1" dirty="0"/>
              <a:t>Чернова</a:t>
            </a:r>
            <a:r>
              <a:rPr lang="bg-BG" sz="3600" dirty="0"/>
              <a:t>,</a:t>
            </a:r>
            <a:r>
              <a:rPr lang="bg-BG" sz="3600" b="1" dirty="0"/>
              <a:t> преглед</a:t>
            </a:r>
            <a:r>
              <a:rPr lang="bg-BG" sz="3600" dirty="0"/>
              <a:t>,</a:t>
            </a:r>
            <a:r>
              <a:rPr lang="bg-BG" sz="3600" b="1" dirty="0"/>
              <a:t> публикуване</a:t>
            </a:r>
            <a:r>
              <a:rPr lang="bg-BG" sz="3600" dirty="0"/>
              <a:t>,</a:t>
            </a:r>
            <a:r>
              <a:rPr lang="bg-BG" sz="3600" b="1" dirty="0"/>
              <a:t> актуализиране </a:t>
            </a:r>
            <a:r>
              <a:rPr lang="bg-BG" sz="3600" dirty="0"/>
              <a:t>и </a:t>
            </a:r>
            <a:r>
              <a:rPr lang="bg-BG" sz="3600" b="1" dirty="0"/>
              <a:t>премахване</a:t>
            </a:r>
            <a:endParaRPr lang="en-US" sz="3600" b="1" dirty="0"/>
          </a:p>
          <a:p>
            <a:pPr>
              <a:buClr>
                <a:schemeClr val="tx1"/>
              </a:buClr>
            </a:pPr>
            <a:r>
              <a:rPr lang="en-US" sz="4000" dirty="0">
                <a:solidFill>
                  <a:schemeClr val="bg1"/>
                </a:solidFill>
              </a:rPr>
              <a:t>​</a:t>
            </a:r>
            <a:r>
              <a:rPr lang="bg-BG" sz="4000" dirty="0">
                <a:highlight>
                  <a:srgbClr val="FFFF00"/>
                </a:highlight>
              </a:rPr>
              <a:t>​​​</a:t>
            </a:r>
            <a:r>
              <a:rPr lang="bg-BG" sz="4000" b="1" dirty="0"/>
              <a:t>Пример: </a:t>
            </a:r>
            <a:r>
              <a:rPr lang="bg-BG" sz="4000" dirty="0"/>
              <a:t>Добавяне на съдържание в </a:t>
            </a:r>
            <a:r>
              <a:rPr lang="en-US" sz="4000" dirty="0"/>
              <a:t>WordPress </a:t>
            </a:r>
            <a:r>
              <a:rPr lang="bg-BG" sz="4000" dirty="0"/>
              <a:t>сайт</a:t>
            </a:r>
          </a:p>
        </p:txBody>
      </p:sp>
      <p:sp>
        <p:nvSpPr>
          <p:cNvPr id="444418" name="Slide Title"/>
          <p:cNvSpPr>
            <a:spLocks noGrp="1" noChangeArrowheads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/>
              <a:t>Съдържание</a:t>
            </a:r>
            <a:endParaRPr lang="bg-BG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46986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6605"/>
    </mc:Choice>
    <mc:Fallback xmlns="">
      <p:transition spd="slow" advClick="0" advTm="660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Subtitle">
            <a:extLst>
              <a:ext uri="{FF2B5EF4-FFF2-40B4-BE49-F238E27FC236}">
                <a16:creationId xmlns:a16="http://schemas.microsoft.com/office/drawing/2014/main" id="{BEB5BB41-09D4-4E9F-8C80-EE8709171CB3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 sz="4400" dirty="0"/>
              <a:t>Страници и публикации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028D9EA3-B5E0-4F17-9467-4BE3C280DA68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sz="6000" dirty="0"/>
              <a:t>Съдържание в </a:t>
            </a:r>
            <a:r>
              <a:rPr lang="en-US" sz="6000" dirty="0"/>
              <a:t>WordPress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CA0D4D2-52A7-BFBA-11DE-318AB6A4BA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0100" y="1179000"/>
            <a:ext cx="4291800" cy="286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194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8891F045-A272-4231-985A-53063F832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320B2856-CE5E-4934-BD1C-1D81E68E52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562628" cy="5528766"/>
          </a:xfrm>
        </p:spPr>
        <p:txBody>
          <a:bodyPr>
            <a:normAutofit/>
          </a:bodyPr>
          <a:lstStyle/>
          <a:p>
            <a:r>
              <a:rPr lang="bg-BG" sz="3000" b="1" dirty="0"/>
              <a:t>Създава</a:t>
            </a:r>
            <a:r>
              <a:rPr lang="bg-BG" sz="3000" dirty="0"/>
              <a:t> </a:t>
            </a:r>
            <a:r>
              <a:rPr lang="bg-BG" sz="3000" b="1" dirty="0"/>
              <a:t>се</a:t>
            </a:r>
            <a:r>
              <a:rPr lang="bg-BG" sz="3000" dirty="0"/>
              <a:t> чрез </a:t>
            </a:r>
            <a:r>
              <a:rPr lang="bg-BG" sz="3000" b="1" dirty="0">
                <a:solidFill>
                  <a:schemeClr val="bg1"/>
                </a:solidFill>
              </a:rPr>
              <a:t>административния панел</a:t>
            </a:r>
          </a:p>
          <a:p>
            <a:r>
              <a:rPr lang="bg-BG" sz="3000" b="1" dirty="0"/>
              <a:t>Организира се </a:t>
            </a:r>
            <a:r>
              <a:rPr lang="bg-BG" sz="3000" dirty="0"/>
              <a:t>в </a:t>
            </a:r>
            <a:r>
              <a:rPr lang="bg-BG" sz="3000" b="1" dirty="0">
                <a:solidFill>
                  <a:schemeClr val="bg1"/>
                </a:solidFill>
              </a:rPr>
              <a:t>страници</a:t>
            </a:r>
            <a:r>
              <a:rPr lang="bg-BG" sz="3000" dirty="0"/>
              <a:t> и </a:t>
            </a:r>
            <a:r>
              <a:rPr lang="bg-BG" sz="3000" b="1" dirty="0">
                <a:solidFill>
                  <a:schemeClr val="bg1"/>
                </a:solidFill>
              </a:rPr>
              <a:t>публикации</a:t>
            </a:r>
          </a:p>
          <a:p>
            <a:r>
              <a:rPr lang="bg-BG" sz="3000" b="1" dirty="0"/>
              <a:t>Показва се </a:t>
            </a:r>
            <a:r>
              <a:rPr lang="bg-BG" sz="3000" dirty="0"/>
              <a:t>в </a:t>
            </a:r>
            <a:r>
              <a:rPr lang="bg-BG" sz="3000" b="1" dirty="0">
                <a:solidFill>
                  <a:schemeClr val="bg1"/>
                </a:solidFill>
              </a:rPr>
              <a:t>публичната част </a:t>
            </a:r>
            <a:r>
              <a:rPr lang="bg-BG" sz="3000" dirty="0"/>
              <a:t>на </a:t>
            </a:r>
            <a:r>
              <a:rPr lang="bg-BG" sz="3000" b="1" dirty="0"/>
              <a:t>уеб сайта</a:t>
            </a:r>
          </a:p>
          <a:p>
            <a:r>
              <a:rPr lang="bg-BG" sz="3000" b="1" dirty="0"/>
              <a:t>Може да се </a:t>
            </a:r>
            <a:r>
              <a:rPr lang="bg-BG" sz="3000" b="1" dirty="0">
                <a:solidFill>
                  <a:schemeClr val="bg1"/>
                </a:solidFill>
              </a:rPr>
              <a:t>редактира</a:t>
            </a:r>
            <a:r>
              <a:rPr lang="bg-BG" sz="3000" dirty="0"/>
              <a:t>, </a:t>
            </a:r>
            <a:r>
              <a:rPr lang="bg-BG" sz="3000" b="1" dirty="0">
                <a:solidFill>
                  <a:schemeClr val="bg1"/>
                </a:solidFill>
              </a:rPr>
              <a:t>обновява</a:t>
            </a:r>
            <a:r>
              <a:rPr lang="bg-BG" sz="3000" dirty="0"/>
              <a:t> и </a:t>
            </a:r>
            <a:r>
              <a:rPr lang="bg-BG" sz="3000" b="1" dirty="0">
                <a:solidFill>
                  <a:schemeClr val="bg1"/>
                </a:solidFill>
              </a:rPr>
              <a:t>премахва</a:t>
            </a:r>
          </a:p>
        </p:txBody>
      </p:sp>
      <p:sp>
        <p:nvSpPr>
          <p:cNvPr id="4" name="Slide Title"/>
          <p:cNvSpPr>
            <a:spLocks noGrp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 dirty="0"/>
              <a:t>Съдържание в </a:t>
            </a:r>
            <a:r>
              <a:rPr lang="en-US" dirty="0"/>
              <a:t>WordPress</a:t>
            </a:r>
          </a:p>
        </p:txBody>
      </p:sp>
      <p:pic>
        <p:nvPicPr>
          <p:cNvPr id="2" name="Image 1" descr="/mnt/data/wide_clean_vector_illustration_of_a_website_conten.png">
            <a:extLst>
              <a:ext uri="{FF2B5EF4-FFF2-40B4-BE49-F238E27FC236}">
                <a16:creationId xmlns:a16="http://schemas.microsoft.com/office/drawing/2014/main" id="{ED55CBE1-0B6D-8B05-3DB3-68EFDD750D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8540" y="3740346"/>
            <a:ext cx="5434920" cy="3058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955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1" descr="/mnt/data/wide_clean_flat_vector_illustration_on_a_white_bac.png">
            <a:extLst>
              <a:ext uri="{FF2B5EF4-FFF2-40B4-BE49-F238E27FC236}">
                <a16:creationId xmlns:a16="http://schemas.microsoft.com/office/drawing/2014/main" id="{1E3DFF65-66E0-170E-40CD-55EB0327684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257"/>
          <a:stretch/>
        </p:blipFill>
        <p:spPr>
          <a:xfrm>
            <a:off x="6658857" y="1292353"/>
            <a:ext cx="5071315" cy="522914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BE0B24E-E3A5-E47D-36B6-37867D2AF3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5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0ED240-A441-4E08-1DDB-898A06C4DF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7345598" cy="5528766"/>
          </a:xfrm>
        </p:spPr>
        <p:txBody>
          <a:bodyPr/>
          <a:lstStyle/>
          <a:p>
            <a:r>
              <a:rPr lang="bg-BG" b="1" dirty="0"/>
              <a:t>Съдържат</a:t>
            </a:r>
            <a:r>
              <a:rPr lang="bg-BG" dirty="0"/>
              <a:t> </a:t>
            </a:r>
            <a:r>
              <a:rPr lang="bg-BG" b="1" dirty="0">
                <a:solidFill>
                  <a:schemeClr val="bg1"/>
                </a:solidFill>
              </a:rPr>
              <a:t>постоянна информация</a:t>
            </a:r>
          </a:p>
          <a:p>
            <a:r>
              <a:rPr lang="bg-BG" b="1" dirty="0"/>
              <a:t>Използват се </a:t>
            </a:r>
            <a:r>
              <a:rPr lang="bg-BG" dirty="0"/>
              <a:t>за </a:t>
            </a:r>
            <a:r>
              <a:rPr lang="bg-BG" b="1" dirty="0">
                <a:solidFill>
                  <a:schemeClr val="bg1"/>
                </a:solidFill>
              </a:rPr>
              <a:t>основните раздели </a:t>
            </a:r>
            <a:r>
              <a:rPr lang="bg-BG" dirty="0"/>
              <a:t>на </a:t>
            </a:r>
            <a:r>
              <a:rPr lang="bg-BG" b="1" dirty="0"/>
              <a:t>уеб сайта </a:t>
            </a:r>
            <a:r>
              <a:rPr lang="bg-BG" dirty="0"/>
              <a:t>(за нас, контакти и др.)</a:t>
            </a:r>
          </a:p>
          <a:p>
            <a:r>
              <a:rPr lang="bg-BG" dirty="0"/>
              <a:t>Могат да бъдат </a:t>
            </a:r>
            <a:r>
              <a:rPr lang="bg-BG" b="1" dirty="0"/>
              <a:t>включени</a:t>
            </a:r>
            <a:r>
              <a:rPr lang="bg-BG" dirty="0"/>
              <a:t> в </a:t>
            </a:r>
            <a:r>
              <a:rPr lang="bg-BG" b="1" dirty="0">
                <a:solidFill>
                  <a:schemeClr val="bg1"/>
                </a:solidFill>
              </a:rPr>
              <a:t>навигацията</a:t>
            </a:r>
            <a:endParaRPr lang="en-BG" b="1" dirty="0">
              <a:solidFill>
                <a:schemeClr val="bg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EC3FC80-2014-17A0-203F-258B82F4F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Страници</a:t>
            </a:r>
            <a:endParaRPr lang="en-BG" dirty="0"/>
          </a:p>
        </p:txBody>
      </p:sp>
    </p:spTree>
    <p:extLst>
      <p:ext uri="{BB962C8B-B14F-4D97-AF65-F5344CB8AC3E}">
        <p14:creationId xmlns:p14="http://schemas.microsoft.com/office/powerpoint/2010/main" val="3203464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1" descr="/mnt/data/wide_clean_flat_vector_illustration_on_a_white_bac.png">
            <a:extLst>
              <a:ext uri="{FF2B5EF4-FFF2-40B4-BE49-F238E27FC236}">
                <a16:creationId xmlns:a16="http://schemas.microsoft.com/office/drawing/2014/main" id="{056F56AB-6E6F-D4E7-4CCE-FFD9B105CCC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30"/>
          <a:stretch/>
        </p:blipFill>
        <p:spPr>
          <a:xfrm>
            <a:off x="7072051" y="1100688"/>
            <a:ext cx="4793944" cy="553805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852964C-BFCA-4414-4656-1F645A5958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6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29BE6E-22CC-8D97-C40A-D15D3E0FE40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7030598" cy="5528766"/>
          </a:xfrm>
        </p:spPr>
        <p:txBody>
          <a:bodyPr/>
          <a:lstStyle/>
          <a:p>
            <a:r>
              <a:rPr lang="bg-BG" b="1" dirty="0"/>
              <a:t>Представят</a:t>
            </a:r>
            <a:r>
              <a:rPr lang="bg-BG" dirty="0"/>
              <a:t> </a:t>
            </a:r>
            <a:r>
              <a:rPr lang="bg-BG" b="1" dirty="0">
                <a:solidFill>
                  <a:schemeClr val="bg1"/>
                </a:solidFill>
              </a:rPr>
              <a:t>новини</a:t>
            </a:r>
            <a:r>
              <a:rPr lang="bg-BG" dirty="0"/>
              <a:t> и </a:t>
            </a:r>
            <a:r>
              <a:rPr lang="bg-BG" b="1" dirty="0">
                <a:solidFill>
                  <a:schemeClr val="bg1"/>
                </a:solidFill>
              </a:rPr>
              <a:t>актуална информация</a:t>
            </a:r>
          </a:p>
          <a:p>
            <a:r>
              <a:rPr lang="bg-BG" b="1" dirty="0"/>
              <a:t>Могат</a:t>
            </a:r>
            <a:r>
              <a:rPr lang="bg-BG" dirty="0"/>
              <a:t> </a:t>
            </a:r>
            <a:r>
              <a:rPr lang="bg-BG" b="1" dirty="0"/>
              <a:t>да имат </a:t>
            </a:r>
            <a:r>
              <a:rPr lang="bg-BG" b="1" dirty="0">
                <a:solidFill>
                  <a:schemeClr val="bg1"/>
                </a:solidFill>
              </a:rPr>
              <a:t>основно изображение</a:t>
            </a:r>
          </a:p>
          <a:p>
            <a:r>
              <a:rPr lang="bg-BG" b="1" dirty="0"/>
              <a:t>Организират се </a:t>
            </a:r>
            <a:r>
              <a:rPr lang="bg-BG" dirty="0"/>
              <a:t>чрез </a:t>
            </a:r>
            <a:r>
              <a:rPr lang="bg-BG" b="1" dirty="0">
                <a:solidFill>
                  <a:schemeClr val="bg1"/>
                </a:solidFill>
              </a:rPr>
              <a:t>категории</a:t>
            </a:r>
            <a:r>
              <a:rPr lang="bg-BG" dirty="0"/>
              <a:t> и </a:t>
            </a:r>
            <a:r>
              <a:rPr lang="bg-BG" b="1" dirty="0">
                <a:solidFill>
                  <a:schemeClr val="bg1"/>
                </a:solidFill>
              </a:rPr>
              <a:t>етикети</a:t>
            </a:r>
            <a:endParaRPr lang="en-BG" b="1" dirty="0">
              <a:solidFill>
                <a:schemeClr val="bg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FF18B46-D8E2-1229-38FD-179BFCB15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Публикации</a:t>
            </a:r>
            <a:endParaRPr lang="en-BG" dirty="0"/>
          </a:p>
        </p:txBody>
      </p:sp>
    </p:spTree>
    <p:extLst>
      <p:ext uri="{BB962C8B-B14F-4D97-AF65-F5344CB8AC3E}">
        <p14:creationId xmlns:p14="http://schemas.microsoft.com/office/powerpoint/2010/main" val="3227082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D0A271-6BC2-40C5-3BB2-55A8DE67D2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7</a:t>
            </a:fld>
            <a:endParaRPr lang="en-US" noProof="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2428BED-EC6D-8B12-D560-54E0131DE2E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81000" y="1121143"/>
            <a:ext cx="9814234" cy="5546589"/>
          </a:xfrm>
        </p:spPr>
        <p:txBody>
          <a:bodyPr>
            <a:normAutofit/>
          </a:bodyPr>
          <a:lstStyle/>
          <a:p>
            <a:r>
              <a:rPr lang="bg-BG" sz="3000" b="1" dirty="0"/>
              <a:t>Страницата</a:t>
            </a:r>
            <a:r>
              <a:rPr lang="bg-BG" sz="3000" dirty="0"/>
              <a:t> </a:t>
            </a:r>
            <a:r>
              <a:rPr lang="bg-BG" sz="3000" b="1" dirty="0">
                <a:solidFill>
                  <a:schemeClr val="bg1"/>
                </a:solidFill>
              </a:rPr>
              <a:t>не зависи </a:t>
            </a:r>
            <a:r>
              <a:rPr lang="bg-BG" sz="3000" dirty="0"/>
              <a:t>от </a:t>
            </a:r>
            <a:r>
              <a:rPr lang="bg-BG" sz="3000" b="1" dirty="0"/>
              <a:t>дати</a:t>
            </a:r>
          </a:p>
          <a:p>
            <a:r>
              <a:rPr lang="bg-BG" sz="3000" b="1" dirty="0"/>
              <a:t>Публикацията </a:t>
            </a:r>
            <a:r>
              <a:rPr lang="bg-BG" sz="3000" b="1" dirty="0">
                <a:solidFill>
                  <a:schemeClr val="bg1"/>
                </a:solidFill>
              </a:rPr>
              <a:t>зависи</a:t>
            </a:r>
            <a:r>
              <a:rPr lang="bg-BG" sz="3000" dirty="0"/>
              <a:t> от </a:t>
            </a:r>
            <a:r>
              <a:rPr lang="bg-BG" sz="3000" b="1" dirty="0"/>
              <a:t>дата на публикуване</a:t>
            </a:r>
          </a:p>
          <a:p>
            <a:r>
              <a:rPr lang="bg-BG" sz="3000" b="1" dirty="0"/>
              <a:t>Страницата</a:t>
            </a:r>
            <a:r>
              <a:rPr lang="bg-BG" sz="3000" dirty="0"/>
              <a:t> изгражда </a:t>
            </a:r>
            <a:r>
              <a:rPr lang="bg-BG" sz="3000" b="1" dirty="0">
                <a:solidFill>
                  <a:schemeClr val="bg1"/>
                </a:solidFill>
              </a:rPr>
              <a:t>структурата</a:t>
            </a:r>
            <a:r>
              <a:rPr lang="bg-BG" sz="3000" dirty="0"/>
              <a:t> на </a:t>
            </a:r>
            <a:r>
              <a:rPr lang="bg-BG" sz="3000" b="1" dirty="0"/>
              <a:t>уеб сайта</a:t>
            </a:r>
          </a:p>
          <a:p>
            <a:r>
              <a:rPr lang="bg-BG" sz="3000" b="1" dirty="0"/>
              <a:t>Публикацията</a:t>
            </a:r>
            <a:r>
              <a:rPr lang="bg-BG" sz="3000" dirty="0"/>
              <a:t> представя </a:t>
            </a:r>
            <a:r>
              <a:rPr lang="bg-BG" sz="3000" b="1" dirty="0">
                <a:solidFill>
                  <a:schemeClr val="bg1"/>
                </a:solidFill>
              </a:rPr>
              <a:t>новостите</a:t>
            </a:r>
            <a:endParaRPr lang="en-BG" sz="3000" b="1" dirty="0">
              <a:solidFill>
                <a:schemeClr val="bg1"/>
              </a:solidFill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C240008-4910-238E-0FC7-F7C8A315C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Страница или публикация</a:t>
            </a:r>
            <a:endParaRPr lang="en-B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346D1E-FE4C-FF05-2C55-DC4C228AF4A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61000" y="3581646"/>
            <a:ext cx="4950000" cy="322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331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Subtitle">
            <a:extLst>
              <a:ext uri="{FF2B5EF4-FFF2-40B4-BE49-F238E27FC236}">
                <a16:creationId xmlns:a16="http://schemas.microsoft.com/office/drawing/2014/main" id="{BEB5BB41-09D4-4E9F-8C80-EE8709171CB3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 sz="4000" dirty="0"/>
              <a:t>Основни блокове и работа с блокове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028D9EA3-B5E0-4F17-9467-4BE3C280DA68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sz="4400" dirty="0"/>
              <a:t>Блоков редактор</a:t>
            </a:r>
            <a:endParaRPr lang="en-US" sz="4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9D0CC0-B719-33C0-8BEC-4527888562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6000" y="1385091"/>
            <a:ext cx="3875864" cy="2583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221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8891F045-A272-4231-985A-53063F832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320B2856-CE5E-4934-BD1C-1D81E68E52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562628" cy="5528766"/>
          </a:xfrm>
        </p:spPr>
        <p:txBody>
          <a:bodyPr>
            <a:normAutofit/>
          </a:bodyPr>
          <a:lstStyle/>
          <a:p>
            <a:r>
              <a:rPr lang="bg-BG" sz="3000" b="1" dirty="0"/>
              <a:t>Съдържанието</a:t>
            </a:r>
            <a:r>
              <a:rPr lang="bg-BG" sz="3000" dirty="0"/>
              <a:t> се </a:t>
            </a:r>
            <a:r>
              <a:rPr lang="bg-BG" sz="3000" b="1" dirty="0"/>
              <a:t>изгражда</a:t>
            </a:r>
            <a:r>
              <a:rPr lang="bg-BG" sz="3000" dirty="0"/>
              <a:t> от </a:t>
            </a:r>
            <a:r>
              <a:rPr lang="bg-BG" sz="3000" b="1" dirty="0">
                <a:solidFill>
                  <a:schemeClr val="bg1"/>
                </a:solidFill>
              </a:rPr>
              <a:t>отделни блокове</a:t>
            </a:r>
          </a:p>
          <a:p>
            <a:r>
              <a:rPr lang="bg-BG" sz="3000" b="1" dirty="0"/>
              <a:t>Всеки блок </a:t>
            </a:r>
            <a:r>
              <a:rPr lang="bg-BG" sz="3000" dirty="0"/>
              <a:t>съдържа </a:t>
            </a:r>
            <a:r>
              <a:rPr lang="bg-BG" sz="3000" b="1" dirty="0">
                <a:solidFill>
                  <a:schemeClr val="bg1"/>
                </a:solidFill>
              </a:rPr>
              <a:t>определен елемент </a:t>
            </a:r>
            <a:r>
              <a:rPr lang="bg-BG" sz="3000" dirty="0"/>
              <a:t>със </a:t>
            </a:r>
            <a:r>
              <a:rPr lang="bg-BG" sz="3000" b="1" dirty="0">
                <a:solidFill>
                  <a:schemeClr val="bg1"/>
                </a:solidFill>
              </a:rPr>
              <a:t>собствени настройки</a:t>
            </a:r>
          </a:p>
          <a:p>
            <a:r>
              <a:rPr lang="bg-BG" sz="3000" b="1" dirty="0"/>
              <a:t>Блоковете</a:t>
            </a:r>
            <a:r>
              <a:rPr lang="bg-BG" sz="3000" dirty="0"/>
              <a:t> могат да се </a:t>
            </a:r>
            <a:r>
              <a:rPr lang="bg-BG" sz="3000" b="1" dirty="0">
                <a:solidFill>
                  <a:schemeClr val="bg1"/>
                </a:solidFill>
              </a:rPr>
              <a:t>добавят</a:t>
            </a:r>
            <a:r>
              <a:rPr lang="bg-BG" sz="3000" dirty="0"/>
              <a:t> и </a:t>
            </a:r>
            <a:r>
              <a:rPr lang="bg-BG" sz="3000" b="1" dirty="0">
                <a:solidFill>
                  <a:schemeClr val="bg1"/>
                </a:solidFill>
              </a:rPr>
              <a:t>подреждат</a:t>
            </a:r>
          </a:p>
          <a:p>
            <a:endParaRPr lang="bg-BG" sz="3000" b="1" dirty="0"/>
          </a:p>
        </p:txBody>
      </p:sp>
      <p:sp>
        <p:nvSpPr>
          <p:cNvPr id="4" name="Slide Title"/>
          <p:cNvSpPr>
            <a:spLocks noGrp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 dirty="0"/>
              <a:t>Блоков редактор</a:t>
            </a:r>
            <a:endParaRPr lang="en-US" dirty="0"/>
          </a:p>
        </p:txBody>
      </p:sp>
      <p:pic>
        <p:nvPicPr>
          <p:cNvPr id="2" name="Image 1" descr="/mnt/data/a_clean_flat_vector_illustration_of_a_website_page.png">
            <a:extLst>
              <a:ext uri="{FF2B5EF4-FFF2-40B4-BE49-F238E27FC236}">
                <a16:creationId xmlns:a16="http://schemas.microsoft.com/office/drawing/2014/main" id="{27DF31EE-4EC8-7072-7D1D-74635E848C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3500" y="2947385"/>
            <a:ext cx="6885000" cy="3874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658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BE47EB-A66F-CF84-AEAF-10BF462C1A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10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FCD933-70AE-A1C3-96E9-A45A3CCC83A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3000" b="1" dirty="0">
                <a:solidFill>
                  <a:schemeClr val="bg1"/>
                </a:solidFill>
              </a:rPr>
              <a:t>Заглавие</a:t>
            </a:r>
          </a:p>
          <a:p>
            <a:r>
              <a:rPr lang="bg-BG" sz="3000" b="1" dirty="0">
                <a:solidFill>
                  <a:schemeClr val="bg1"/>
                </a:solidFill>
              </a:rPr>
              <a:t>Параграф</a:t>
            </a:r>
          </a:p>
          <a:p>
            <a:r>
              <a:rPr lang="bg-BG" sz="3000" b="1" dirty="0">
                <a:solidFill>
                  <a:schemeClr val="bg1"/>
                </a:solidFill>
              </a:rPr>
              <a:t>Списък</a:t>
            </a:r>
          </a:p>
          <a:p>
            <a:r>
              <a:rPr lang="bg-BG" sz="3000" b="1" dirty="0">
                <a:solidFill>
                  <a:schemeClr val="bg1"/>
                </a:solidFill>
              </a:rPr>
              <a:t>Изображение</a:t>
            </a:r>
          </a:p>
          <a:p>
            <a:r>
              <a:rPr lang="bg-BG" sz="3000" b="1" dirty="0">
                <a:solidFill>
                  <a:schemeClr val="bg1"/>
                </a:solidFill>
              </a:rPr>
              <a:t>Галерия</a:t>
            </a:r>
          </a:p>
          <a:p>
            <a:r>
              <a:rPr lang="bg-BG" sz="3000" b="1" dirty="0">
                <a:solidFill>
                  <a:schemeClr val="bg1"/>
                </a:solidFill>
              </a:rPr>
              <a:t>Бутон</a:t>
            </a:r>
            <a:endParaRPr lang="en-US" sz="3000" b="1" dirty="0">
              <a:solidFill>
                <a:schemeClr val="bg1"/>
              </a:solidFill>
            </a:endParaRPr>
          </a:p>
          <a:p>
            <a:r>
              <a:rPr lang="bg-BG" sz="3000" b="1" dirty="0"/>
              <a:t>И др.</a:t>
            </a:r>
            <a:endParaRPr lang="en-BG" sz="3000" b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BEA8CA9-DE91-395A-6951-1BB7C4659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Основни блокове</a:t>
            </a:r>
            <a:endParaRPr lang="en-BG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EA978F0-A9BE-9F8F-5ACF-61728D8E55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6262" y="1412613"/>
            <a:ext cx="2038546" cy="2260127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B350D1B-1BEF-FDF8-5D20-5EF94B9917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6032" y="4132893"/>
            <a:ext cx="2038546" cy="1964686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D4A8E6D-335B-4D5D-BCE2-01D4EAA83F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6131" y="1560333"/>
            <a:ext cx="2038546" cy="1964686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0CBC9CC-F874-E742-7C8F-A5359FFAF4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6131" y="3885461"/>
            <a:ext cx="2038546" cy="245955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F2CEF04-DAAE-6B6A-84AF-7D6AD840E8F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6000" y="1656351"/>
            <a:ext cx="2038546" cy="1772649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AA05578-0A66-66C9-99FB-18A846E19C0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6000" y="4156910"/>
            <a:ext cx="2038546" cy="1912983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620255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080BA48-EC1C-2A61-3372-326078C2CB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11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D98C0C0-F311-B56C-2FE9-6267F4701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Работа с блокове </a:t>
            </a:r>
            <a:r>
              <a:rPr lang="en-GB" sz="4000" dirty="0"/>
              <a:t>–</a:t>
            </a:r>
            <a:r>
              <a:rPr lang="bg-BG" sz="4000" dirty="0"/>
              <a:t> Пример</a:t>
            </a:r>
            <a:endParaRPr lang="en-BG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CBB18DD-187F-0DF3-30FB-463468E1CB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19050" y="1269039"/>
            <a:ext cx="7753899" cy="5444961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757837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Subtitle">
            <a:extLst>
              <a:ext uri="{FF2B5EF4-FFF2-40B4-BE49-F238E27FC236}">
                <a16:creationId xmlns:a16="http://schemas.microsoft.com/office/drawing/2014/main" id="{BEB5BB41-09D4-4E9F-8C80-EE8709171CB3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 sz="4400" dirty="0"/>
              <a:t>Изображения и файлове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028D9EA3-B5E0-4F17-9467-4BE3C280DA68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sz="6000" dirty="0"/>
              <a:t>Медийна библиотека</a:t>
            </a:r>
            <a:endParaRPr lang="en-GB" sz="6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5B04659-5912-35CC-5085-D41D564B76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8842" y="1089000"/>
            <a:ext cx="4514315" cy="3009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258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AABC86-82E0-F099-701A-D4347B6053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13</a:t>
            </a:fld>
            <a:endParaRPr lang="en-US" noProof="0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9CA50BB8-C95B-C726-A00E-EFF2B734CC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440598" cy="5528766"/>
          </a:xfrm>
        </p:spPr>
        <p:txBody>
          <a:bodyPr>
            <a:normAutofit/>
          </a:bodyPr>
          <a:lstStyle/>
          <a:p>
            <a:pPr>
              <a:buClr>
                <a:schemeClr val="tx2"/>
              </a:buClr>
            </a:pPr>
            <a:r>
              <a:rPr lang="bg-BG" sz="2800" b="1" dirty="0"/>
              <a:t>Съхранява</a:t>
            </a:r>
            <a:r>
              <a:rPr lang="bg-BG" sz="2800" dirty="0"/>
              <a:t> </a:t>
            </a:r>
            <a:r>
              <a:rPr lang="bg-BG" sz="2800" b="1" dirty="0">
                <a:solidFill>
                  <a:schemeClr val="bg1"/>
                </a:solidFill>
              </a:rPr>
              <a:t>изображения</a:t>
            </a:r>
            <a:r>
              <a:rPr lang="bg-BG" sz="2800" dirty="0"/>
              <a:t> и </a:t>
            </a:r>
            <a:r>
              <a:rPr lang="bg-BG" sz="2800" b="1" dirty="0">
                <a:solidFill>
                  <a:schemeClr val="bg1"/>
                </a:solidFill>
              </a:rPr>
              <a:t>файлове</a:t>
            </a:r>
            <a:r>
              <a:rPr lang="bg-BG" sz="2800" dirty="0"/>
              <a:t> и </a:t>
            </a:r>
            <a:r>
              <a:rPr lang="bg-BG" sz="2800" b="1" dirty="0"/>
              <a:t>тяхната информация</a:t>
            </a:r>
          </a:p>
          <a:p>
            <a:pPr>
              <a:buClr>
                <a:schemeClr val="tx2"/>
              </a:buClr>
            </a:pPr>
            <a:r>
              <a:rPr lang="bg-BG" sz="2800" b="1" dirty="0"/>
              <a:t>Позволява</a:t>
            </a:r>
            <a:r>
              <a:rPr lang="bg-BG" sz="2800" dirty="0"/>
              <a:t> </a:t>
            </a:r>
            <a:r>
              <a:rPr lang="bg-BG" sz="2800" b="1" dirty="0">
                <a:solidFill>
                  <a:schemeClr val="bg1"/>
                </a:solidFill>
              </a:rPr>
              <a:t>повторното им използване</a:t>
            </a:r>
          </a:p>
          <a:p>
            <a:pPr>
              <a:buClr>
                <a:schemeClr val="tx2"/>
              </a:buClr>
            </a:pPr>
            <a:r>
              <a:rPr lang="bg-BG" sz="2800" b="1" dirty="0"/>
              <a:t>Достъпва се </a:t>
            </a:r>
            <a:r>
              <a:rPr lang="bg-BG" sz="2800" dirty="0"/>
              <a:t>от </a:t>
            </a:r>
            <a:r>
              <a:rPr lang="bg-BG" sz="2800" b="1" dirty="0">
                <a:solidFill>
                  <a:schemeClr val="bg1"/>
                </a:solidFill>
              </a:rPr>
              <a:t>менюто</a:t>
            </a:r>
            <a:r>
              <a:rPr lang="bg-BG" sz="2800" dirty="0">
                <a:solidFill>
                  <a:schemeClr val="bg1"/>
                </a:solidFill>
              </a:rPr>
              <a:t> </a:t>
            </a:r>
            <a:r>
              <a:rPr lang="en-US" sz="2800" b="1" dirty="0"/>
              <a:t>[</a:t>
            </a:r>
            <a:r>
              <a:rPr lang="en-GB" sz="2800" b="1" dirty="0">
                <a:solidFill>
                  <a:schemeClr val="bg1"/>
                </a:solidFill>
              </a:rPr>
              <a:t>Media</a:t>
            </a:r>
            <a:r>
              <a:rPr lang="en-US" sz="2800" b="1" dirty="0"/>
              <a:t>]</a:t>
            </a:r>
            <a:endParaRPr lang="bg-BG" sz="2800" b="1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BE40675-6620-A9F2-4515-CBA7D8C62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Медийна библиотека</a:t>
            </a:r>
            <a:endParaRPr lang="en-BG" dirty="0"/>
          </a:p>
        </p:txBody>
      </p:sp>
      <p:pic>
        <p:nvPicPr>
          <p:cNvPr id="3" name="Image 1">
            <a:extLst>
              <a:ext uri="{FF2B5EF4-FFF2-40B4-BE49-F238E27FC236}">
                <a16:creationId xmlns:a16="http://schemas.microsoft.com/office/drawing/2014/main" id="{430D50A0-87F5-F437-9498-A1152672F17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55"/>
          <a:stretch/>
        </p:blipFill>
        <p:spPr>
          <a:xfrm>
            <a:off x="3312931" y="2859633"/>
            <a:ext cx="5566137" cy="3865258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994696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AABC86-82E0-F099-701A-D4347B6053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14</a:t>
            </a:fld>
            <a:endParaRPr lang="en-US" noProof="0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9CA50BB8-C95B-C726-A00E-EFF2B734CC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440598" cy="5528766"/>
          </a:xfrm>
        </p:spPr>
        <p:txBody>
          <a:bodyPr>
            <a:normAutofit/>
          </a:bodyPr>
          <a:lstStyle/>
          <a:p>
            <a:pPr>
              <a:buClr>
                <a:schemeClr val="tx2"/>
              </a:buClr>
            </a:pPr>
            <a:r>
              <a:rPr lang="bg-BG" sz="2800" dirty="0"/>
              <a:t>Избираме </a:t>
            </a:r>
            <a:r>
              <a:rPr lang="bg-BG" sz="2800" b="1" dirty="0"/>
              <a:t>[</a:t>
            </a:r>
            <a:r>
              <a:rPr lang="en-US" sz="2800" b="1" dirty="0">
                <a:solidFill>
                  <a:schemeClr val="bg1"/>
                </a:solidFill>
              </a:rPr>
              <a:t>Media</a:t>
            </a:r>
            <a:r>
              <a:rPr lang="en-US" sz="2800" b="1" dirty="0"/>
              <a:t>] </a:t>
            </a:r>
            <a:r>
              <a:rPr lang="en-GB" sz="2800" b="1" dirty="0"/>
              <a:t>→</a:t>
            </a:r>
            <a:r>
              <a:rPr lang="bg-BG" sz="2800" b="1" dirty="0"/>
              <a:t> </a:t>
            </a:r>
            <a:r>
              <a:rPr lang="en-US" sz="2800" b="1" dirty="0"/>
              <a:t>[</a:t>
            </a:r>
            <a:r>
              <a:rPr lang="en-US" sz="2800" b="1" dirty="0">
                <a:solidFill>
                  <a:schemeClr val="bg1"/>
                </a:solidFill>
              </a:rPr>
              <a:t>Library</a:t>
            </a:r>
            <a:r>
              <a:rPr lang="en-US" sz="2800" b="1" dirty="0"/>
              <a:t>]</a:t>
            </a:r>
            <a:endParaRPr lang="bg-BG" sz="2800" b="1" dirty="0"/>
          </a:p>
          <a:p>
            <a:pPr>
              <a:buClr>
                <a:schemeClr val="tx2"/>
              </a:buClr>
            </a:pPr>
            <a:r>
              <a:rPr lang="bg-BG" sz="2800" dirty="0"/>
              <a:t>Избираме </a:t>
            </a:r>
            <a:r>
              <a:rPr lang="bg-BG" sz="2800" b="1" dirty="0"/>
              <a:t>[</a:t>
            </a:r>
            <a:r>
              <a:rPr lang="en-US" sz="2800" b="1" dirty="0">
                <a:solidFill>
                  <a:schemeClr val="bg1"/>
                </a:solidFill>
              </a:rPr>
              <a:t>Add Media File</a:t>
            </a:r>
            <a:r>
              <a:rPr lang="en-US" sz="2800" b="1" dirty="0"/>
              <a:t>]</a:t>
            </a:r>
          </a:p>
          <a:p>
            <a:pPr>
              <a:buClr>
                <a:schemeClr val="tx2"/>
              </a:buClr>
            </a:pPr>
            <a:r>
              <a:rPr lang="bg-BG" sz="2800" dirty="0"/>
              <a:t>Качваме </a:t>
            </a:r>
            <a:r>
              <a:rPr lang="bg-BG" sz="2800" b="1" dirty="0"/>
              <a:t>файла</a:t>
            </a:r>
            <a:r>
              <a:rPr lang="en-US" sz="2800" dirty="0"/>
              <a:t> </a:t>
            </a:r>
            <a:endParaRPr lang="bg-BG" sz="2800" dirty="0">
              <a:solidFill>
                <a:schemeClr val="bg1"/>
              </a:solidFill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BE40675-6620-A9F2-4515-CBA7D8C62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Медийна библиотека </a:t>
            </a:r>
            <a:r>
              <a:rPr lang="en-GB" dirty="0"/>
              <a:t>–</a:t>
            </a:r>
            <a:r>
              <a:rPr lang="bg-BG" dirty="0"/>
              <a:t> Пример (1</a:t>
            </a:r>
            <a:r>
              <a:rPr lang="en-US" dirty="0"/>
              <a:t>)</a:t>
            </a:r>
            <a:endParaRPr lang="en-BG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EB40E9-D23A-315C-005A-47E3EA874D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06000" y="1179102"/>
            <a:ext cx="4153312" cy="1222171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B6BFC30-C2C3-87C6-0B89-BE4E58D111D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72042" y="2897428"/>
            <a:ext cx="3529062" cy="1331384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90B38BC-D833-ECB9-616F-1025F7DEA2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35445" y="4724967"/>
            <a:ext cx="5801783" cy="2052282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13" name="Arrow: Right 10">
            <a:extLst>
              <a:ext uri="{FF2B5EF4-FFF2-40B4-BE49-F238E27FC236}">
                <a16:creationId xmlns:a16="http://schemas.microsoft.com/office/drawing/2014/main" id="{ED586D6C-7974-C81C-1E52-6F83D7400CDB}"/>
              </a:ext>
            </a:extLst>
          </p:cNvPr>
          <p:cNvSpPr/>
          <p:nvPr/>
        </p:nvSpPr>
        <p:spPr>
          <a:xfrm rot="5400000">
            <a:off x="8633676" y="2329854"/>
            <a:ext cx="697960" cy="638994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99"/>
          </a:p>
        </p:txBody>
      </p:sp>
      <p:sp>
        <p:nvSpPr>
          <p:cNvPr id="14" name="Arrow: Right 10">
            <a:extLst>
              <a:ext uri="{FF2B5EF4-FFF2-40B4-BE49-F238E27FC236}">
                <a16:creationId xmlns:a16="http://schemas.microsoft.com/office/drawing/2014/main" id="{F6192417-0E44-F70B-0876-EBA67C03D53D}"/>
              </a:ext>
            </a:extLst>
          </p:cNvPr>
          <p:cNvSpPr/>
          <p:nvPr/>
        </p:nvSpPr>
        <p:spPr>
          <a:xfrm rot="5400000">
            <a:off x="8633676" y="4122036"/>
            <a:ext cx="697960" cy="638994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99"/>
          </a:p>
        </p:txBody>
      </p:sp>
    </p:spTree>
    <p:extLst>
      <p:ext uri="{BB962C8B-B14F-4D97-AF65-F5344CB8AC3E}">
        <p14:creationId xmlns:p14="http://schemas.microsoft.com/office/powerpoint/2010/main" val="808568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AABC86-82E0-F099-701A-D4347B6053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15</a:t>
            </a:fld>
            <a:endParaRPr lang="en-US" noProof="0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9CA50BB8-C95B-C726-A00E-EFF2B734CC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440598" cy="5528766"/>
          </a:xfrm>
        </p:spPr>
        <p:txBody>
          <a:bodyPr>
            <a:normAutofit/>
          </a:bodyPr>
          <a:lstStyle/>
          <a:p>
            <a:pPr>
              <a:buClr>
                <a:schemeClr val="tx2"/>
              </a:buClr>
            </a:pPr>
            <a:r>
              <a:rPr lang="bg-BG" sz="2800" dirty="0"/>
              <a:t>Добавяме </a:t>
            </a:r>
            <a:r>
              <a:rPr lang="bg-BG" sz="2800" b="1" dirty="0">
                <a:solidFill>
                  <a:schemeClr val="bg1"/>
                </a:solidFill>
              </a:rPr>
              <a:t>блок</a:t>
            </a:r>
            <a:r>
              <a:rPr lang="bg-BG" sz="2800" b="1" dirty="0"/>
              <a:t> изображение</a:t>
            </a:r>
          </a:p>
          <a:p>
            <a:pPr>
              <a:buClr>
                <a:schemeClr val="tx2"/>
              </a:buClr>
            </a:pPr>
            <a:r>
              <a:rPr lang="bg-BG" sz="2800" dirty="0"/>
              <a:t>Избираме </a:t>
            </a:r>
            <a:r>
              <a:rPr lang="bg-BG" sz="2800" b="1" dirty="0"/>
              <a:t>[</a:t>
            </a:r>
            <a:r>
              <a:rPr lang="en-US" sz="2800" b="1" dirty="0">
                <a:solidFill>
                  <a:schemeClr val="bg1"/>
                </a:solidFill>
              </a:rPr>
              <a:t>Select Image</a:t>
            </a:r>
            <a:r>
              <a:rPr lang="en-US" sz="2800" b="1" dirty="0"/>
              <a:t>] </a:t>
            </a:r>
            <a:r>
              <a:rPr lang="en-GB" sz="2800" b="1" dirty="0"/>
              <a:t>→</a:t>
            </a:r>
            <a:r>
              <a:rPr lang="bg-BG" sz="2800" b="1" dirty="0"/>
              <a:t> </a:t>
            </a:r>
            <a:r>
              <a:rPr lang="en-US" sz="2800" b="1" dirty="0"/>
              <a:t>[</a:t>
            </a:r>
            <a:r>
              <a:rPr lang="en-US" sz="2800" b="1" dirty="0">
                <a:solidFill>
                  <a:schemeClr val="bg1"/>
                </a:solidFill>
              </a:rPr>
              <a:t>Media Library</a:t>
            </a:r>
            <a:r>
              <a:rPr lang="en-US" sz="2800" b="1" dirty="0"/>
              <a:t>]</a:t>
            </a:r>
            <a:endParaRPr lang="bg-BG" sz="2800" b="1" dirty="0"/>
          </a:p>
          <a:p>
            <a:pPr>
              <a:buClr>
                <a:schemeClr val="tx2"/>
              </a:buClr>
            </a:pPr>
            <a:r>
              <a:rPr lang="bg-BG" sz="2800" b="1" dirty="0"/>
              <a:t>Избираме</a:t>
            </a:r>
            <a:r>
              <a:rPr lang="bg-BG" sz="2800" dirty="0"/>
              <a:t> или </a:t>
            </a:r>
            <a:r>
              <a:rPr lang="bg-BG" sz="2800" b="1" dirty="0"/>
              <a:t>качваме</a:t>
            </a:r>
            <a:r>
              <a:rPr lang="bg-BG" sz="2800" dirty="0"/>
              <a:t> </a:t>
            </a:r>
            <a:r>
              <a:rPr lang="bg-BG" sz="2800" b="1" dirty="0">
                <a:solidFill>
                  <a:schemeClr val="bg1"/>
                </a:solidFill>
              </a:rPr>
              <a:t>изображение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BE40675-6620-A9F2-4515-CBA7D8C62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Медийна библиотека </a:t>
            </a:r>
            <a:r>
              <a:rPr lang="en-GB" dirty="0"/>
              <a:t>–</a:t>
            </a:r>
            <a:r>
              <a:rPr lang="bg-BG" dirty="0"/>
              <a:t> Пример</a:t>
            </a:r>
            <a:r>
              <a:rPr lang="en-US" dirty="0"/>
              <a:t> (2)</a:t>
            </a:r>
            <a:endParaRPr lang="en-BG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EB40E9-D23A-315C-005A-47E3EA874D3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1689" y="3776867"/>
            <a:ext cx="2665598" cy="1696562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B6BFC30-C2C3-87C6-0B89-BE4E58D111D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63727" y="3577439"/>
            <a:ext cx="3655879" cy="1841984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90B38BC-D833-ECB9-616F-1025F7DEA2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0526" y="2952586"/>
            <a:ext cx="3976211" cy="309169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13" name="Arrow: Right 10">
            <a:extLst>
              <a:ext uri="{FF2B5EF4-FFF2-40B4-BE49-F238E27FC236}">
                <a16:creationId xmlns:a16="http://schemas.microsoft.com/office/drawing/2014/main" id="{ED586D6C-7974-C81C-1E52-6F83D7400CDB}"/>
              </a:ext>
            </a:extLst>
          </p:cNvPr>
          <p:cNvSpPr/>
          <p:nvPr/>
        </p:nvSpPr>
        <p:spPr>
          <a:xfrm>
            <a:off x="7321756" y="4365007"/>
            <a:ext cx="697960" cy="638994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99"/>
          </a:p>
        </p:txBody>
      </p:sp>
      <p:sp>
        <p:nvSpPr>
          <p:cNvPr id="14" name="Arrow: Right 10">
            <a:extLst>
              <a:ext uri="{FF2B5EF4-FFF2-40B4-BE49-F238E27FC236}">
                <a16:creationId xmlns:a16="http://schemas.microsoft.com/office/drawing/2014/main" id="{F6192417-0E44-F70B-0876-EBA67C03D53D}"/>
              </a:ext>
            </a:extLst>
          </p:cNvPr>
          <p:cNvSpPr/>
          <p:nvPr/>
        </p:nvSpPr>
        <p:spPr>
          <a:xfrm>
            <a:off x="3012512" y="4365007"/>
            <a:ext cx="697960" cy="638994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99"/>
          </a:p>
        </p:txBody>
      </p:sp>
    </p:spTree>
    <p:extLst>
      <p:ext uri="{BB962C8B-B14F-4D97-AF65-F5344CB8AC3E}">
        <p14:creationId xmlns:p14="http://schemas.microsoft.com/office/powerpoint/2010/main" val="1591642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Subtitle">
            <a:extLst>
              <a:ext uri="{FF2B5EF4-FFF2-40B4-BE49-F238E27FC236}">
                <a16:creationId xmlns:a16="http://schemas.microsoft.com/office/drawing/2014/main" id="{BEB5BB41-09D4-4E9F-8C80-EE8709171CB3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 sz="4800" dirty="0"/>
              <a:t>Категории и етикети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028D9EA3-B5E0-4F17-9467-4BE3C280DA68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sz="5000" dirty="0"/>
              <a:t>Организиране на съдържанието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D20CD78-862A-A0B0-00FF-F9B661F0FF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1000" y="1224000"/>
            <a:ext cx="4404300" cy="293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629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8891F045-A272-4231-985A-53063F832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4" name="Slide Title"/>
          <p:cNvSpPr>
            <a:spLocks noGrp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>
            <a:normAutofit/>
          </a:bodyPr>
          <a:lstStyle/>
          <a:p>
            <a:r>
              <a:rPr lang="bg-BG" sz="4000" dirty="0"/>
              <a:t>Категории</a:t>
            </a:r>
            <a:endParaRPr lang="en-US" sz="380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ACDE5FA-349C-9171-5DA0-6F2931D82E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818096" cy="5561125"/>
          </a:xfrm>
        </p:spPr>
        <p:txBody>
          <a:bodyPr/>
          <a:lstStyle/>
          <a:p>
            <a:r>
              <a:rPr lang="bg-BG" b="1" dirty="0">
                <a:solidFill>
                  <a:schemeClr val="bg1"/>
                </a:solidFill>
              </a:rPr>
              <a:t>Групират публикации </a:t>
            </a:r>
            <a:r>
              <a:rPr lang="bg-BG" dirty="0"/>
              <a:t>с </a:t>
            </a:r>
            <a:r>
              <a:rPr lang="bg-BG" b="1" dirty="0"/>
              <a:t>обща тема</a:t>
            </a:r>
          </a:p>
          <a:p>
            <a:pPr lvl="1"/>
            <a:r>
              <a:rPr lang="bg-BG" b="1" dirty="0"/>
              <a:t>Категориите</a:t>
            </a:r>
            <a:r>
              <a:rPr lang="bg-BG" dirty="0"/>
              <a:t> могат да имат </a:t>
            </a:r>
            <a:r>
              <a:rPr lang="bg-BG" b="1" dirty="0">
                <a:solidFill>
                  <a:schemeClr val="bg1"/>
                </a:solidFill>
              </a:rPr>
              <a:t>подкатегории</a:t>
            </a:r>
          </a:p>
          <a:p>
            <a:r>
              <a:rPr lang="bg-BG" b="1" dirty="0">
                <a:solidFill>
                  <a:schemeClr val="bg1"/>
                </a:solidFill>
              </a:rPr>
              <a:t>Улесняват намирането </a:t>
            </a:r>
            <a:r>
              <a:rPr lang="bg-BG" dirty="0"/>
              <a:t>на </a:t>
            </a:r>
            <a:r>
              <a:rPr lang="bg-BG" b="1" dirty="0"/>
              <a:t>съдържание</a:t>
            </a:r>
            <a:endParaRPr lang="en-BG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F17C1D4-B3C4-D05A-B2BE-5DD9FA47C31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88" b="10980"/>
          <a:stretch/>
        </p:blipFill>
        <p:spPr>
          <a:xfrm>
            <a:off x="3238500" y="3293735"/>
            <a:ext cx="5715000" cy="3361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212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7631F8E-008F-8C21-0F06-1CBA3B0BAB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18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D90B4F-6629-F80C-1E44-E1196B15A9B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b="1" dirty="0">
                <a:solidFill>
                  <a:schemeClr val="bg1"/>
                </a:solidFill>
              </a:rPr>
              <a:t>Описват по-конкретно </a:t>
            </a:r>
            <a:r>
              <a:rPr lang="bg-BG" b="1" dirty="0"/>
              <a:t>съдържанието</a:t>
            </a:r>
          </a:p>
          <a:p>
            <a:r>
              <a:rPr lang="bg-BG" b="1" dirty="0"/>
              <a:t>Представляват</a:t>
            </a:r>
            <a:r>
              <a:rPr lang="bg-BG" dirty="0"/>
              <a:t> </a:t>
            </a:r>
            <a:r>
              <a:rPr lang="bg-BG" b="1" dirty="0">
                <a:solidFill>
                  <a:schemeClr val="bg1"/>
                </a:solidFill>
              </a:rPr>
              <a:t>ключови думи</a:t>
            </a:r>
          </a:p>
          <a:p>
            <a:r>
              <a:rPr lang="bg-BG" b="1" dirty="0"/>
              <a:t>Една публикация </a:t>
            </a:r>
            <a:r>
              <a:rPr lang="bg-BG" dirty="0"/>
              <a:t>може да има </a:t>
            </a:r>
            <a:r>
              <a:rPr lang="bg-BG" b="1" dirty="0">
                <a:solidFill>
                  <a:schemeClr val="bg1"/>
                </a:solidFill>
              </a:rPr>
              <a:t>няколко етикета</a:t>
            </a:r>
            <a:endParaRPr lang="en-BG" b="1" dirty="0">
              <a:solidFill>
                <a:schemeClr val="bg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6DA7A21-276A-4C5D-49E7-DD68F50AF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Етикети</a:t>
            </a:r>
            <a:endParaRPr lang="en-BG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3B8D82D-F3F5-705E-7533-E8BC2497C68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00" b="8679"/>
          <a:stretch/>
        </p:blipFill>
        <p:spPr>
          <a:xfrm>
            <a:off x="3287163" y="3292441"/>
            <a:ext cx="5617674" cy="3363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570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FDFC37E-E551-85B5-E5BD-800E38469C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4472" y="2664926"/>
            <a:ext cx="5511143" cy="4139074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C7B4FDA-2660-A9B1-279E-B46280CD24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19</a:t>
            </a:fld>
            <a:endParaRPr lang="en-US" noProof="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91CA7E5-F462-8E0B-41EE-3693923B53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001000" y="1121143"/>
            <a:ext cx="9994234" cy="5546589"/>
          </a:xfrm>
        </p:spPr>
        <p:txBody>
          <a:bodyPr>
            <a:normAutofit/>
          </a:bodyPr>
          <a:lstStyle/>
          <a:p>
            <a:r>
              <a:rPr lang="bg-BG" sz="2800" b="1" dirty="0"/>
              <a:t>Категориите</a:t>
            </a:r>
            <a:r>
              <a:rPr lang="bg-BG" sz="2800" dirty="0"/>
              <a:t> се използват </a:t>
            </a:r>
            <a:r>
              <a:rPr lang="bg-BG" sz="2800" b="1" dirty="0">
                <a:solidFill>
                  <a:schemeClr val="bg1"/>
                </a:solidFill>
              </a:rPr>
              <a:t>за основна организация</a:t>
            </a:r>
          </a:p>
          <a:p>
            <a:r>
              <a:rPr lang="bg-BG" sz="2800" b="1" dirty="0"/>
              <a:t>Етикетите</a:t>
            </a:r>
            <a:r>
              <a:rPr lang="bg-BG" sz="2800" dirty="0"/>
              <a:t> се използват за </a:t>
            </a:r>
            <a:r>
              <a:rPr lang="bg-BG" sz="2800" b="1" dirty="0">
                <a:solidFill>
                  <a:schemeClr val="bg1"/>
                </a:solidFill>
              </a:rPr>
              <a:t>допълнително описание</a:t>
            </a:r>
          </a:p>
          <a:p>
            <a:r>
              <a:rPr lang="bg-BG" sz="2800" b="1" dirty="0"/>
              <a:t>Категориите</a:t>
            </a:r>
            <a:r>
              <a:rPr lang="bg-BG" sz="2800" dirty="0"/>
              <a:t> могат да бъдат </a:t>
            </a:r>
            <a:r>
              <a:rPr lang="bg-BG" sz="2800" b="1" dirty="0">
                <a:solidFill>
                  <a:schemeClr val="bg1"/>
                </a:solidFill>
              </a:rPr>
              <a:t>йерархични</a:t>
            </a:r>
          </a:p>
          <a:p>
            <a:r>
              <a:rPr lang="bg-BG" sz="2800" b="1" dirty="0"/>
              <a:t>Етикетите</a:t>
            </a:r>
            <a:r>
              <a:rPr lang="bg-BG" sz="2800" dirty="0"/>
              <a:t> </a:t>
            </a:r>
            <a:r>
              <a:rPr lang="bg-BG" sz="2800" b="1" dirty="0">
                <a:solidFill>
                  <a:schemeClr val="bg1"/>
                </a:solidFill>
              </a:rPr>
              <a:t>нямат йерархия</a:t>
            </a:r>
            <a:endParaRPr lang="en-BG" sz="2800" b="1" dirty="0">
              <a:solidFill>
                <a:schemeClr val="bg1"/>
              </a:solidFill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F0BF1F8-6B07-6854-85C4-9727CD8B4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Категории и етикети</a:t>
            </a:r>
            <a:endParaRPr lang="en-BG" dirty="0"/>
          </a:p>
        </p:txBody>
      </p:sp>
    </p:spTree>
    <p:extLst>
      <p:ext uri="{BB962C8B-B14F-4D97-AF65-F5344CB8AC3E}">
        <p14:creationId xmlns:p14="http://schemas.microsoft.com/office/powerpoint/2010/main" val="436455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Subtitle">
            <a:extLst>
              <a:ext uri="{FF2B5EF4-FFF2-40B4-BE49-F238E27FC236}">
                <a16:creationId xmlns:a16="http://schemas.microsoft.com/office/drawing/2014/main" id="{BEB5BB41-09D4-4E9F-8C80-EE8709171CB3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 sz="4000" dirty="0"/>
              <a:t>Чернова, преглед, публикуване и редактиране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028D9EA3-B5E0-4F17-9467-4BE3C280DA68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sz="5000" dirty="0"/>
              <a:t>Управление на съдържанието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E12829F-9F0D-7E70-5933-42BB775BCD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6000" y="1385091"/>
            <a:ext cx="3577500" cy="238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779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8891F045-A272-4231-985A-53063F832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4" name="Slide Title"/>
          <p:cNvSpPr>
            <a:spLocks noGrp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>
            <a:normAutofit/>
          </a:bodyPr>
          <a:lstStyle/>
          <a:p>
            <a:r>
              <a:rPr lang="bg-BG" sz="4000" dirty="0"/>
              <a:t>Управление на съдържанието</a:t>
            </a:r>
            <a:endParaRPr lang="en-US" sz="380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ACDE5FA-349C-9171-5DA0-6F2931D82E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818096" cy="5561125"/>
          </a:xfrm>
        </p:spPr>
        <p:txBody>
          <a:bodyPr>
            <a:normAutofit fontScale="92500" lnSpcReduction="10000"/>
          </a:bodyPr>
          <a:lstStyle/>
          <a:p>
            <a:r>
              <a:rPr lang="bg-BG" sz="3000" b="1" dirty="0">
                <a:solidFill>
                  <a:schemeClr val="bg1"/>
                </a:solidFill>
              </a:rPr>
              <a:t>Чернова</a:t>
            </a:r>
          </a:p>
          <a:p>
            <a:pPr lvl="1"/>
            <a:r>
              <a:rPr lang="bg-BG" sz="2800" b="1" dirty="0"/>
              <a:t>Съдържанието</a:t>
            </a:r>
            <a:r>
              <a:rPr lang="bg-BG" sz="2800" dirty="0"/>
              <a:t> се </a:t>
            </a:r>
            <a:r>
              <a:rPr lang="bg-BG" sz="2800" b="1" dirty="0"/>
              <a:t>запазва</a:t>
            </a:r>
            <a:r>
              <a:rPr lang="bg-BG" sz="2800" dirty="0"/>
              <a:t>, </a:t>
            </a:r>
            <a:r>
              <a:rPr lang="bg-BG" sz="2800" b="1" dirty="0">
                <a:solidFill>
                  <a:schemeClr val="bg1"/>
                </a:solidFill>
              </a:rPr>
              <a:t>без да се публикува</a:t>
            </a:r>
          </a:p>
          <a:p>
            <a:r>
              <a:rPr lang="bg-BG" sz="3000" b="1" dirty="0">
                <a:solidFill>
                  <a:schemeClr val="bg1"/>
                </a:solidFill>
              </a:rPr>
              <a:t>Преглед</a:t>
            </a:r>
          </a:p>
          <a:p>
            <a:pPr lvl="1"/>
            <a:r>
              <a:rPr lang="bg-BG" sz="2800" b="1" dirty="0"/>
              <a:t>Показва</a:t>
            </a:r>
            <a:r>
              <a:rPr lang="bg-BG" sz="2800" dirty="0"/>
              <a:t> </a:t>
            </a:r>
            <a:r>
              <a:rPr lang="bg-BG" sz="2800" b="1" dirty="0">
                <a:solidFill>
                  <a:schemeClr val="bg1"/>
                </a:solidFill>
              </a:rPr>
              <a:t>как ще изглежда </a:t>
            </a:r>
            <a:r>
              <a:rPr lang="bg-BG" sz="2800" b="1" dirty="0"/>
              <a:t>съдържанието</a:t>
            </a:r>
          </a:p>
          <a:p>
            <a:r>
              <a:rPr lang="bg-BG" sz="3000" b="1" dirty="0">
                <a:solidFill>
                  <a:schemeClr val="bg1"/>
                </a:solidFill>
              </a:rPr>
              <a:t>Публикуване</a:t>
            </a:r>
          </a:p>
          <a:p>
            <a:pPr lvl="1"/>
            <a:r>
              <a:rPr lang="bg-BG" sz="2800" b="1" dirty="0"/>
              <a:t>Съдържанието</a:t>
            </a:r>
            <a:r>
              <a:rPr lang="bg-BG" sz="2800" dirty="0"/>
              <a:t> става </a:t>
            </a:r>
            <a:r>
              <a:rPr lang="bg-BG" sz="2800" b="1" dirty="0">
                <a:solidFill>
                  <a:schemeClr val="bg1"/>
                </a:solidFill>
              </a:rPr>
              <a:t>достъпно</a:t>
            </a:r>
            <a:r>
              <a:rPr lang="bg-BG" sz="2800" dirty="0"/>
              <a:t> в </a:t>
            </a:r>
            <a:r>
              <a:rPr lang="bg-BG" sz="2800" b="1" dirty="0"/>
              <a:t>уеб сайта</a:t>
            </a:r>
          </a:p>
          <a:p>
            <a:r>
              <a:rPr lang="bg-BG" sz="3000" b="1" dirty="0">
                <a:solidFill>
                  <a:schemeClr val="bg1"/>
                </a:solidFill>
              </a:rPr>
              <a:t>Актуализиране</a:t>
            </a:r>
          </a:p>
          <a:p>
            <a:pPr lvl="1"/>
            <a:r>
              <a:rPr lang="bg-BG" sz="2800" dirty="0"/>
              <a:t>Направените </a:t>
            </a:r>
            <a:r>
              <a:rPr lang="bg-BG" sz="2800" b="1" dirty="0">
                <a:solidFill>
                  <a:schemeClr val="bg1"/>
                </a:solidFill>
              </a:rPr>
              <a:t>промени</a:t>
            </a:r>
            <a:r>
              <a:rPr lang="bg-BG" sz="2800" dirty="0"/>
              <a:t> се </a:t>
            </a:r>
            <a:r>
              <a:rPr lang="bg-BG" sz="2800" b="1" dirty="0"/>
              <a:t>запазват</a:t>
            </a:r>
          </a:p>
          <a:p>
            <a:r>
              <a:rPr lang="bg-BG" sz="3000" b="1" dirty="0">
                <a:solidFill>
                  <a:schemeClr val="bg1"/>
                </a:solidFill>
              </a:rPr>
              <a:t>Премахване</a:t>
            </a:r>
          </a:p>
          <a:p>
            <a:pPr lvl="1"/>
            <a:r>
              <a:rPr lang="bg-BG" sz="2800" b="1" dirty="0"/>
              <a:t>Съдържанието</a:t>
            </a:r>
            <a:r>
              <a:rPr lang="bg-BG" sz="2800" dirty="0"/>
              <a:t> се </a:t>
            </a:r>
            <a:r>
              <a:rPr lang="bg-BG" sz="2800" b="1" dirty="0"/>
              <a:t>премества</a:t>
            </a:r>
            <a:r>
              <a:rPr lang="bg-BG" sz="2800" dirty="0"/>
              <a:t> в </a:t>
            </a:r>
            <a:r>
              <a:rPr lang="bg-BG" sz="2800" b="1" dirty="0">
                <a:solidFill>
                  <a:schemeClr val="bg1"/>
                </a:solidFill>
              </a:rPr>
              <a:t>кошчето</a:t>
            </a:r>
            <a:endParaRPr lang="en-BG" sz="2800" b="1" dirty="0">
              <a:solidFill>
                <a:schemeClr val="bg1"/>
              </a:solidFill>
            </a:endParaRPr>
          </a:p>
          <a:p>
            <a:pPr lvl="1"/>
            <a:endParaRPr lang="bg-BG" sz="2800" b="1" dirty="0"/>
          </a:p>
        </p:txBody>
      </p:sp>
      <p:pic>
        <p:nvPicPr>
          <p:cNvPr id="2" name="Image 1" descr="/mnt/data/wide_clean_vector_illustration_flat_ui_icon_scen.png">
            <a:extLst>
              <a:ext uri="{FF2B5EF4-FFF2-40B4-BE49-F238E27FC236}">
                <a16:creationId xmlns:a16="http://schemas.microsoft.com/office/drawing/2014/main" id="{BE591DE7-75D2-7053-6553-87D147F9271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01000" y="1196125"/>
            <a:ext cx="900000" cy="1142308"/>
          </a:xfrm>
          <a:prstGeom prst="rect">
            <a:avLst/>
          </a:prstGeom>
        </p:spPr>
      </p:pic>
      <p:pic>
        <p:nvPicPr>
          <p:cNvPr id="3" name="Image 1" descr="/mnt/data/wide_clean_vector_illustration_flat_ui_icon_scen.png">
            <a:extLst>
              <a:ext uri="{FF2B5EF4-FFF2-40B4-BE49-F238E27FC236}">
                <a16:creationId xmlns:a16="http://schemas.microsoft.com/office/drawing/2014/main" id="{CDEEFAEE-E220-6779-8DF5-0378FB4BD03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01000" y="2355314"/>
            <a:ext cx="945000" cy="1035001"/>
          </a:xfrm>
          <a:prstGeom prst="rect">
            <a:avLst/>
          </a:prstGeom>
        </p:spPr>
      </p:pic>
      <p:pic>
        <p:nvPicPr>
          <p:cNvPr id="5" name="Image 1" descr="/mnt/data/wide_clean_vector_illustration_flat_ui_icon_scen.png">
            <a:extLst>
              <a:ext uri="{FF2B5EF4-FFF2-40B4-BE49-F238E27FC236}">
                <a16:creationId xmlns:a16="http://schemas.microsoft.com/office/drawing/2014/main" id="{63EE31F3-90F7-A200-48BE-781D0DD8E81F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078500" y="3390315"/>
            <a:ext cx="945000" cy="810001"/>
          </a:xfrm>
          <a:prstGeom prst="rect">
            <a:avLst/>
          </a:prstGeom>
        </p:spPr>
      </p:pic>
      <p:pic>
        <p:nvPicPr>
          <p:cNvPr id="6" name="Image 1" descr="/mnt/data/wide_clean_vector_illustration_flat_ui_icon_scen.png">
            <a:extLst>
              <a:ext uri="{FF2B5EF4-FFF2-40B4-BE49-F238E27FC236}">
                <a16:creationId xmlns:a16="http://schemas.microsoft.com/office/drawing/2014/main" id="{B7593817-007D-F80C-C962-84F1ED1EC236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10762" y="4321646"/>
            <a:ext cx="945000" cy="952354"/>
          </a:xfrm>
          <a:prstGeom prst="rect">
            <a:avLst/>
          </a:prstGeom>
        </p:spPr>
      </p:pic>
      <p:pic>
        <p:nvPicPr>
          <p:cNvPr id="7" name="Image 1" descr="/mnt/data/wide_clean_vector_illustration_flat_ui_icon_scen.png">
            <a:extLst>
              <a:ext uri="{FF2B5EF4-FFF2-40B4-BE49-F238E27FC236}">
                <a16:creationId xmlns:a16="http://schemas.microsoft.com/office/drawing/2014/main" id="{B90FC5A0-70D6-9238-9F4A-93A525100D11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3778"/>
          <a:stretch/>
        </p:blipFill>
        <p:spPr>
          <a:xfrm>
            <a:off x="10144235" y="5320822"/>
            <a:ext cx="967500" cy="1073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5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Subtitle">
            <a:extLst>
              <a:ext uri="{FF2B5EF4-FFF2-40B4-BE49-F238E27FC236}">
                <a16:creationId xmlns:a16="http://schemas.microsoft.com/office/drawing/2014/main" id="{BEB5BB41-09D4-4E9F-8C80-EE8709171CB3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 dirty="0"/>
              <a:t>Добавяне на съдържание в </a:t>
            </a:r>
            <a:r>
              <a:rPr lang="en-US" dirty="0"/>
              <a:t>WordPress </a:t>
            </a:r>
            <a:r>
              <a:rPr lang="bg-BG" dirty="0"/>
              <a:t>сайт</a:t>
            </a:r>
            <a:endParaRPr lang="bg-BG" sz="4000" dirty="0"/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028D9EA3-B5E0-4F17-9467-4BE3C280DA68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sz="6000" dirty="0"/>
              <a:t>Пример</a:t>
            </a:r>
            <a:endParaRPr lang="en-US" sz="5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8E5B6DE-9478-4D98-9EF5-142A731328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2250" y="1317742"/>
            <a:ext cx="3847500" cy="256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851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C516F16-CA67-6D94-E034-8AB3737692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23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65E27E-ECD7-A588-E955-6399E7CB064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3000" dirty="0"/>
              <a:t>Нека </a:t>
            </a:r>
            <a:r>
              <a:rPr lang="bg-BG" sz="3000" b="1" dirty="0">
                <a:solidFill>
                  <a:schemeClr val="bg1"/>
                </a:solidFill>
              </a:rPr>
              <a:t>добавим съдържание </a:t>
            </a:r>
            <a:r>
              <a:rPr lang="bg-BG" sz="3000" dirty="0"/>
              <a:t>към уеб сайта </a:t>
            </a:r>
            <a:r>
              <a:rPr lang="en-US" sz="3000" dirty="0"/>
              <a:t>"</a:t>
            </a:r>
            <a:r>
              <a:rPr lang="bg-BG" sz="3000" b="1" dirty="0"/>
              <a:t>Зелена мисия</a:t>
            </a:r>
            <a:r>
              <a:rPr lang="en-US" sz="3000" dirty="0"/>
              <a:t>":</a:t>
            </a:r>
            <a:endParaRPr lang="bg-BG" sz="3000" dirty="0"/>
          </a:p>
          <a:p>
            <a:pPr lvl="1"/>
            <a:r>
              <a:rPr lang="bg-BG" sz="2900" b="1" dirty="0">
                <a:solidFill>
                  <a:schemeClr val="bg1"/>
                </a:solidFill>
              </a:rPr>
              <a:t>Страници</a:t>
            </a:r>
            <a:r>
              <a:rPr lang="bg-BG" sz="2900" b="1" dirty="0"/>
              <a:t> </a:t>
            </a:r>
            <a:r>
              <a:rPr lang="bg-BG" sz="2900" dirty="0"/>
              <a:t>– </a:t>
            </a:r>
            <a:r>
              <a:rPr lang="bg-BG" sz="2900" b="1" dirty="0"/>
              <a:t>За клуба</a:t>
            </a:r>
            <a:r>
              <a:rPr lang="bg-BG" sz="2900" dirty="0"/>
              <a:t>, </a:t>
            </a:r>
            <a:r>
              <a:rPr lang="bg-BG" sz="2900" b="1" dirty="0"/>
              <a:t>Контакти</a:t>
            </a:r>
          </a:p>
          <a:p>
            <a:pPr lvl="1"/>
            <a:r>
              <a:rPr lang="bg-BG" sz="2900" b="1" dirty="0">
                <a:solidFill>
                  <a:schemeClr val="bg1"/>
                </a:solidFill>
              </a:rPr>
              <a:t>Публикация</a:t>
            </a:r>
            <a:r>
              <a:rPr lang="bg-BG" sz="2900" b="1" dirty="0"/>
              <a:t> </a:t>
            </a:r>
            <a:r>
              <a:rPr lang="bg-BG" sz="2900" dirty="0"/>
              <a:t>–  </a:t>
            </a:r>
            <a:r>
              <a:rPr lang="bg-BG" sz="2900" b="1" dirty="0"/>
              <a:t>Засаждане на дръвчета в училищния двор</a:t>
            </a:r>
          </a:p>
          <a:p>
            <a:pPr lvl="2"/>
            <a:r>
              <a:rPr lang="bg-BG" sz="2800" b="1" dirty="0">
                <a:solidFill>
                  <a:schemeClr val="bg1"/>
                </a:solidFill>
              </a:rPr>
              <a:t>Категория</a:t>
            </a:r>
            <a:r>
              <a:rPr lang="bg-BG" sz="2800" b="1" dirty="0"/>
              <a:t> </a:t>
            </a:r>
            <a:r>
              <a:rPr lang="bg-BG" sz="2800" dirty="0"/>
              <a:t>– </a:t>
            </a:r>
            <a:r>
              <a:rPr lang="bg-BG" sz="2800" b="1" dirty="0"/>
              <a:t>Инициативи</a:t>
            </a:r>
          </a:p>
          <a:p>
            <a:pPr lvl="2"/>
            <a:r>
              <a:rPr lang="bg-BG" sz="2800" b="1" dirty="0">
                <a:solidFill>
                  <a:schemeClr val="bg1"/>
                </a:solidFill>
              </a:rPr>
              <a:t>Етикети</a:t>
            </a:r>
            <a:r>
              <a:rPr lang="bg-BG" sz="2800" b="1" dirty="0"/>
              <a:t> </a:t>
            </a:r>
            <a:r>
              <a:rPr lang="bg-BG" sz="2800" dirty="0"/>
              <a:t>– </a:t>
            </a:r>
            <a:r>
              <a:rPr lang="bg-BG" sz="2800" b="1" dirty="0"/>
              <a:t>природа</a:t>
            </a:r>
            <a:r>
              <a:rPr lang="bg-BG" sz="2800" dirty="0"/>
              <a:t>, </a:t>
            </a:r>
            <a:r>
              <a:rPr lang="bg-BG" sz="2800" b="1" dirty="0"/>
              <a:t>доброволчество</a:t>
            </a:r>
            <a:r>
              <a:rPr lang="bg-BG" sz="2800" dirty="0"/>
              <a:t>, </a:t>
            </a:r>
            <a:r>
              <a:rPr lang="bg-BG" sz="2800" b="1" dirty="0"/>
              <a:t>училище</a:t>
            </a:r>
            <a:endParaRPr lang="en-US" sz="2800" b="1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37E1090-5368-3467-77F6-0CCF23C94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Добавяне на съдържание в </a:t>
            </a:r>
            <a:r>
              <a:rPr lang="en-US" dirty="0"/>
              <a:t>WordPress </a:t>
            </a:r>
            <a:r>
              <a:rPr lang="bg-BG" dirty="0"/>
              <a:t>сайт</a:t>
            </a:r>
            <a:endParaRPr lang="en-B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C4A28D-5809-1855-46BA-E5A85E2CC68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91"/>
          <a:stretch/>
        </p:blipFill>
        <p:spPr>
          <a:xfrm>
            <a:off x="4093500" y="3981038"/>
            <a:ext cx="4005000" cy="2850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599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5388913-5B84-4EB6-A960-D6F181ABB5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24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F6E65B-FC9E-DB06-4A69-641284E658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3000" dirty="0"/>
              <a:t>Отваряме </a:t>
            </a:r>
            <a:r>
              <a:rPr lang="bg-BG" sz="3000" b="1" dirty="0"/>
              <a:t>[</a:t>
            </a:r>
            <a:r>
              <a:rPr lang="en-GB" sz="3000" b="1" dirty="0">
                <a:solidFill>
                  <a:schemeClr val="bg1"/>
                </a:solidFill>
              </a:rPr>
              <a:t>Pages</a:t>
            </a:r>
            <a:r>
              <a:rPr lang="en-GB" sz="3000" b="1" dirty="0"/>
              <a:t>] → [</a:t>
            </a:r>
            <a:r>
              <a:rPr lang="en-GB" sz="3000" b="1" dirty="0">
                <a:solidFill>
                  <a:schemeClr val="bg1"/>
                </a:solidFill>
              </a:rPr>
              <a:t>Add Page</a:t>
            </a:r>
            <a:r>
              <a:rPr lang="en-GB" sz="3000" b="1" dirty="0"/>
              <a:t>]</a:t>
            </a:r>
            <a:endParaRPr lang="bg-BG" sz="3000" b="1" dirty="0"/>
          </a:p>
          <a:p>
            <a:r>
              <a:rPr lang="bg-BG" sz="3000" dirty="0"/>
              <a:t>Въвеждаме </a:t>
            </a:r>
            <a:r>
              <a:rPr lang="bg-BG" sz="3000" b="1" dirty="0"/>
              <a:t>заглавие</a:t>
            </a:r>
            <a:r>
              <a:rPr lang="bg-BG" sz="3000" dirty="0"/>
              <a:t> </a:t>
            </a:r>
            <a:r>
              <a:rPr lang="bg-BG" sz="3000" b="1" dirty="0"/>
              <a:t>"</a:t>
            </a:r>
            <a:r>
              <a:rPr lang="bg-BG" sz="3000" b="1" dirty="0">
                <a:solidFill>
                  <a:schemeClr val="bg1"/>
                </a:solidFill>
              </a:rPr>
              <a:t>За клуба</a:t>
            </a:r>
            <a:r>
              <a:rPr lang="bg-BG" sz="3000" b="1" dirty="0"/>
              <a:t>"</a:t>
            </a:r>
            <a:endParaRPr lang="bg-BG" sz="3000" dirty="0"/>
          </a:p>
          <a:p>
            <a:r>
              <a:rPr lang="bg-BG" sz="3000" dirty="0"/>
              <a:t>Добавяме </a:t>
            </a:r>
            <a:r>
              <a:rPr lang="bg-BG" sz="3000" b="1" dirty="0"/>
              <a:t>текст</a:t>
            </a:r>
            <a:r>
              <a:rPr lang="bg-BG" sz="3000" dirty="0"/>
              <a:t> чрез </a:t>
            </a:r>
            <a:r>
              <a:rPr lang="bg-BG" sz="3000" b="1" dirty="0"/>
              <a:t>блок</a:t>
            </a:r>
            <a:r>
              <a:rPr lang="bg-BG" sz="3000" dirty="0"/>
              <a:t> </a:t>
            </a:r>
            <a:r>
              <a:rPr lang="bg-BG" sz="3000" b="1" dirty="0"/>
              <a:t>[</a:t>
            </a:r>
            <a:r>
              <a:rPr lang="en-GB" sz="3000" b="1" dirty="0">
                <a:solidFill>
                  <a:schemeClr val="bg1"/>
                </a:solidFill>
              </a:rPr>
              <a:t>Paragraph</a:t>
            </a:r>
            <a:r>
              <a:rPr lang="en-GB" sz="3000" b="1" dirty="0"/>
              <a:t>]</a:t>
            </a:r>
            <a:r>
              <a:rPr lang="en-GB" sz="3000" dirty="0"/>
              <a:t> </a:t>
            </a:r>
            <a:endParaRPr lang="bg-BG" sz="30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777AE11-D4E9-3A4F-AEB2-163D2A467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Създаване на страница (1)</a:t>
            </a:r>
            <a:endParaRPr lang="en-B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4EC579-CEE6-42CA-C606-60F73C879A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25430" y="1594645"/>
            <a:ext cx="4927600" cy="80010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31A2A8F-A95E-250B-2B9B-F009F60559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840" y="3628124"/>
            <a:ext cx="4972862" cy="2702991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B0E2F4E-4058-E1A5-B4D1-C74D39F3B00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6299" y="3593364"/>
            <a:ext cx="4663900" cy="2772513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13" name="Arrow: Right 10">
            <a:extLst>
              <a:ext uri="{FF2B5EF4-FFF2-40B4-BE49-F238E27FC236}">
                <a16:creationId xmlns:a16="http://schemas.microsoft.com/office/drawing/2014/main" id="{BC283713-9EE6-3E6B-3132-5BA11ACA02D5}"/>
              </a:ext>
            </a:extLst>
          </p:cNvPr>
          <p:cNvSpPr/>
          <p:nvPr/>
        </p:nvSpPr>
        <p:spPr>
          <a:xfrm>
            <a:off x="5533500" y="4538291"/>
            <a:ext cx="1125000" cy="88265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99"/>
          </a:p>
        </p:txBody>
      </p:sp>
    </p:spTree>
    <p:extLst>
      <p:ext uri="{BB962C8B-B14F-4D97-AF65-F5344CB8AC3E}">
        <p14:creationId xmlns:p14="http://schemas.microsoft.com/office/powerpoint/2010/main" val="1566613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5388913-5B84-4EB6-A960-D6F181ABB5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25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F6E65B-FC9E-DB06-4A69-641284E658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3000" dirty="0"/>
              <a:t>Добавяме </a:t>
            </a:r>
            <a:r>
              <a:rPr lang="bg-BG" sz="3000" b="1" dirty="0">
                <a:solidFill>
                  <a:schemeClr val="bg1"/>
                </a:solidFill>
              </a:rPr>
              <a:t>изображение</a:t>
            </a:r>
            <a:endParaRPr lang="en-BG" sz="30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777AE11-D4E9-3A4F-AEB2-163D2A467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Създаване на страница (2</a:t>
            </a:r>
            <a:r>
              <a:rPr lang="en-US" dirty="0"/>
              <a:t>)</a:t>
            </a:r>
            <a:endParaRPr lang="en-B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EE2BBE-8241-E7F7-E6CB-37F5D51C4A6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56273" y="1875568"/>
            <a:ext cx="4635001" cy="2077672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A20A457-C770-DECB-22A1-D8AAC83E38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7295" y="4859100"/>
            <a:ext cx="7228843" cy="1736284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12" name="Arrow: Right 10">
            <a:extLst>
              <a:ext uri="{FF2B5EF4-FFF2-40B4-BE49-F238E27FC236}">
                <a16:creationId xmlns:a16="http://schemas.microsoft.com/office/drawing/2014/main" id="{D452F1E4-2063-67B2-B19E-8472268DF11F}"/>
              </a:ext>
            </a:extLst>
          </p:cNvPr>
          <p:cNvSpPr/>
          <p:nvPr/>
        </p:nvSpPr>
        <p:spPr>
          <a:xfrm rot="5400000">
            <a:off x="5096962" y="4114364"/>
            <a:ext cx="1153621" cy="1036637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99"/>
          </a:p>
        </p:txBody>
      </p:sp>
    </p:spTree>
    <p:extLst>
      <p:ext uri="{BB962C8B-B14F-4D97-AF65-F5344CB8AC3E}">
        <p14:creationId xmlns:p14="http://schemas.microsoft.com/office/powerpoint/2010/main" val="2761918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5388913-5B84-4EB6-A960-D6F181ABB5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26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F6E65B-FC9E-DB06-4A69-641284E658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3000" b="1" dirty="0"/>
              <a:t>Преглеждаме страницата </a:t>
            </a:r>
            <a:r>
              <a:rPr lang="bg-BG" sz="3000" dirty="0"/>
              <a:t>и </a:t>
            </a:r>
            <a:r>
              <a:rPr lang="bg-BG" sz="3000" b="1" dirty="0"/>
              <a:t>кликаме</a:t>
            </a:r>
            <a:r>
              <a:rPr lang="bg-BG" sz="3000" dirty="0"/>
              <a:t> върху </a:t>
            </a:r>
            <a:r>
              <a:rPr lang="bg-BG" sz="3000" b="1" dirty="0"/>
              <a:t>[</a:t>
            </a:r>
            <a:r>
              <a:rPr lang="en-GB" sz="3000" b="1" dirty="0">
                <a:solidFill>
                  <a:schemeClr val="bg1"/>
                </a:solidFill>
              </a:rPr>
              <a:t>Publish</a:t>
            </a:r>
            <a:r>
              <a:rPr lang="en-GB" sz="3000" b="1" dirty="0"/>
              <a:t>]</a:t>
            </a:r>
            <a:endParaRPr lang="en-BG" sz="30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777AE11-D4E9-3A4F-AEB2-163D2A467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Създаване на страница (3</a:t>
            </a:r>
            <a:r>
              <a:rPr lang="en-US" dirty="0"/>
              <a:t>)</a:t>
            </a:r>
            <a:endParaRPr lang="en-BG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EA7E457-7D38-6822-3ED9-4ED1A50E8D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827" y="1852326"/>
            <a:ext cx="5006708" cy="4654674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EEF6EC7-C23F-F62C-F3A1-1192BD55F0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0823" y="3882538"/>
            <a:ext cx="4435914" cy="760443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13" name="Arrow: Right 10">
            <a:extLst>
              <a:ext uri="{FF2B5EF4-FFF2-40B4-BE49-F238E27FC236}">
                <a16:creationId xmlns:a16="http://schemas.microsoft.com/office/drawing/2014/main" id="{2BF56AEF-2FBE-39ED-AEA1-C25CEF11B56D}"/>
              </a:ext>
            </a:extLst>
          </p:cNvPr>
          <p:cNvSpPr/>
          <p:nvPr/>
        </p:nvSpPr>
        <p:spPr>
          <a:xfrm>
            <a:off x="6026533" y="3743999"/>
            <a:ext cx="1168291" cy="103752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99"/>
          </a:p>
        </p:txBody>
      </p:sp>
    </p:spTree>
    <p:extLst>
      <p:ext uri="{BB962C8B-B14F-4D97-AF65-F5344CB8AC3E}">
        <p14:creationId xmlns:p14="http://schemas.microsoft.com/office/powerpoint/2010/main" val="2992762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5388913-5B84-4EB6-A960-D6F181ABB5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27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F6E65B-FC9E-DB06-4A69-641284E658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3000" dirty="0"/>
              <a:t>Добавяме </a:t>
            </a:r>
            <a:r>
              <a:rPr lang="bg-BG" sz="3000" b="1" dirty="0"/>
              <a:t>страница</a:t>
            </a:r>
            <a:r>
              <a:rPr lang="bg-BG" sz="3000" dirty="0"/>
              <a:t> </a:t>
            </a:r>
            <a:r>
              <a:rPr lang="bg-BG" sz="3000" b="1" dirty="0"/>
              <a:t>"</a:t>
            </a:r>
            <a:r>
              <a:rPr lang="bg-BG" sz="3000" b="1" dirty="0">
                <a:solidFill>
                  <a:schemeClr val="bg1"/>
                </a:solidFill>
              </a:rPr>
              <a:t>Контакти</a:t>
            </a:r>
            <a:r>
              <a:rPr lang="bg-BG" sz="3000" b="1" dirty="0"/>
              <a:t>"</a:t>
            </a:r>
            <a:endParaRPr lang="bg-BG" sz="3000" dirty="0"/>
          </a:p>
          <a:p>
            <a:r>
              <a:rPr lang="bg-BG" sz="3000" dirty="0"/>
              <a:t>Добавяме </a:t>
            </a:r>
            <a:r>
              <a:rPr lang="bg-BG" sz="3000" b="1" dirty="0"/>
              <a:t>текст</a:t>
            </a:r>
            <a:r>
              <a:rPr lang="bg-BG" sz="3000" dirty="0"/>
              <a:t> чрез блок </a:t>
            </a:r>
            <a:r>
              <a:rPr lang="bg-BG" sz="3000" b="1" dirty="0"/>
              <a:t>[</a:t>
            </a:r>
            <a:r>
              <a:rPr lang="en-GB" sz="3000" b="1" dirty="0">
                <a:solidFill>
                  <a:schemeClr val="bg1"/>
                </a:solidFill>
              </a:rPr>
              <a:t>Paragraph</a:t>
            </a:r>
            <a:r>
              <a:rPr lang="en-GB" sz="3000" b="1" dirty="0"/>
              <a:t>]</a:t>
            </a:r>
            <a:r>
              <a:rPr lang="en-GB" sz="3000" dirty="0"/>
              <a:t> </a:t>
            </a:r>
            <a:endParaRPr lang="bg-BG" sz="3000" dirty="0"/>
          </a:p>
          <a:p>
            <a:r>
              <a:rPr lang="bg-BG" sz="3000" b="1" dirty="0"/>
              <a:t>Преглеждаме страницата </a:t>
            </a:r>
            <a:r>
              <a:rPr lang="bg-BG" sz="3000" dirty="0"/>
              <a:t>и </a:t>
            </a:r>
            <a:r>
              <a:rPr lang="bg-BG" sz="3000" b="1" dirty="0"/>
              <a:t>кликаме</a:t>
            </a:r>
            <a:r>
              <a:rPr lang="bg-BG" sz="3000" dirty="0"/>
              <a:t> върху </a:t>
            </a:r>
            <a:r>
              <a:rPr lang="en-GB" sz="3000" b="1" dirty="0"/>
              <a:t>[</a:t>
            </a:r>
            <a:r>
              <a:rPr lang="en-GB" sz="3000" b="1" dirty="0">
                <a:solidFill>
                  <a:schemeClr val="bg1"/>
                </a:solidFill>
              </a:rPr>
              <a:t>Publish</a:t>
            </a:r>
            <a:r>
              <a:rPr lang="en-GB" sz="3000" b="1" dirty="0"/>
              <a:t>]</a:t>
            </a:r>
            <a:endParaRPr lang="bg-BG" sz="3000" b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777AE11-D4E9-3A4F-AEB2-163D2A467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Създаване на страница</a:t>
            </a:r>
            <a:r>
              <a:rPr lang="en-US" dirty="0"/>
              <a:t> </a:t>
            </a:r>
            <a:r>
              <a:rPr lang="bg-BG" dirty="0"/>
              <a:t>(4</a:t>
            </a:r>
            <a:r>
              <a:rPr lang="en-US" dirty="0"/>
              <a:t>)</a:t>
            </a:r>
            <a:endParaRPr lang="en-B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4EC579-CEE6-42CA-C606-60F73C879A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009137" y="1280899"/>
            <a:ext cx="4927600" cy="80010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E8655C3-B8C9-70A6-F0FF-FEF736C084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28" y="3283344"/>
            <a:ext cx="4530018" cy="3208763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984A2F9-1FE2-EC69-899D-C80DAFA15B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4304" y="4544825"/>
            <a:ext cx="4000500" cy="68580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12" name="Arrow: Right 10">
            <a:extLst>
              <a:ext uri="{FF2B5EF4-FFF2-40B4-BE49-F238E27FC236}">
                <a16:creationId xmlns:a16="http://schemas.microsoft.com/office/drawing/2014/main" id="{5CAA64E6-DDC8-DB39-4670-9D7A498EA992}"/>
              </a:ext>
            </a:extLst>
          </p:cNvPr>
          <p:cNvSpPr/>
          <p:nvPr/>
        </p:nvSpPr>
        <p:spPr>
          <a:xfrm>
            <a:off x="5785071" y="4446399"/>
            <a:ext cx="1125000" cy="88265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99"/>
          </a:p>
        </p:txBody>
      </p:sp>
    </p:spTree>
    <p:extLst>
      <p:ext uri="{BB962C8B-B14F-4D97-AF65-F5344CB8AC3E}">
        <p14:creationId xmlns:p14="http://schemas.microsoft.com/office/powerpoint/2010/main" val="2174909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684FB67-F571-FF2C-C862-DA604A4FAA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28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1AABEA-4D8D-5688-D5F3-3A09D319C6E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7244066" cy="5528766"/>
          </a:xfrm>
        </p:spPr>
        <p:txBody>
          <a:bodyPr>
            <a:normAutofit/>
          </a:bodyPr>
          <a:lstStyle/>
          <a:p>
            <a:r>
              <a:rPr lang="bg-BG" sz="3000" dirty="0"/>
              <a:t>Отваряме </a:t>
            </a:r>
            <a:r>
              <a:rPr lang="bg-BG" sz="3000" b="1" dirty="0"/>
              <a:t>[</a:t>
            </a:r>
            <a:r>
              <a:rPr lang="en-GB" sz="3000" b="1" dirty="0">
                <a:solidFill>
                  <a:schemeClr val="bg1"/>
                </a:solidFill>
              </a:rPr>
              <a:t>Posts</a:t>
            </a:r>
            <a:r>
              <a:rPr lang="en-GB" sz="3000" b="1" dirty="0"/>
              <a:t>] → [</a:t>
            </a:r>
            <a:r>
              <a:rPr lang="en-GB" sz="3000" b="1" dirty="0">
                <a:solidFill>
                  <a:schemeClr val="bg1"/>
                </a:solidFill>
              </a:rPr>
              <a:t>Categories</a:t>
            </a:r>
            <a:r>
              <a:rPr lang="en-GB" sz="3000" b="1" dirty="0"/>
              <a:t>]</a:t>
            </a:r>
            <a:endParaRPr lang="bg-BG" sz="3000" b="1" dirty="0"/>
          </a:p>
          <a:p>
            <a:r>
              <a:rPr lang="bg-BG" sz="3000" dirty="0"/>
              <a:t>Въвеждаме </a:t>
            </a:r>
            <a:r>
              <a:rPr lang="bg-BG" sz="3000" b="1" dirty="0"/>
              <a:t>име</a:t>
            </a:r>
            <a:r>
              <a:rPr lang="bg-BG" sz="3000" dirty="0"/>
              <a:t> </a:t>
            </a:r>
            <a:r>
              <a:rPr lang="en-US" sz="3000" b="1" dirty="0"/>
              <a:t>"</a:t>
            </a:r>
            <a:r>
              <a:rPr lang="bg-BG" sz="3000" b="1" dirty="0">
                <a:solidFill>
                  <a:schemeClr val="bg1"/>
                </a:solidFill>
              </a:rPr>
              <a:t>Инициативи</a:t>
            </a:r>
            <a:r>
              <a:rPr lang="en-US" sz="3000" b="1" dirty="0"/>
              <a:t>"</a:t>
            </a:r>
            <a:r>
              <a:rPr lang="bg-BG" sz="3000" b="1" dirty="0"/>
              <a:t> </a:t>
            </a:r>
            <a:r>
              <a:rPr lang="bg-BG" sz="3000" dirty="0"/>
              <a:t>и</a:t>
            </a:r>
            <a:r>
              <a:rPr lang="bg-BG" sz="3000" b="1" dirty="0"/>
              <a:t> кликаме</a:t>
            </a:r>
            <a:r>
              <a:rPr lang="bg-BG" sz="3000" dirty="0"/>
              <a:t> върху </a:t>
            </a:r>
            <a:r>
              <a:rPr lang="bg-BG" sz="3000" b="1" dirty="0"/>
              <a:t>[</a:t>
            </a:r>
            <a:r>
              <a:rPr lang="en-GB" sz="3000" b="1" dirty="0">
                <a:solidFill>
                  <a:schemeClr val="bg1"/>
                </a:solidFill>
              </a:rPr>
              <a:t>Add Category</a:t>
            </a:r>
            <a:r>
              <a:rPr lang="en-GB" sz="3000" b="1" dirty="0"/>
              <a:t>]</a:t>
            </a:r>
            <a:endParaRPr lang="en-BG" sz="30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045517A-2295-B1C2-3EA1-F571907DA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Създаване на категория</a:t>
            </a:r>
            <a:endParaRPr lang="en-B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C49002-7513-16B4-0085-22E44AAB57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6000" y="3915652"/>
            <a:ext cx="4940300" cy="146050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67EFD51-18BE-6280-67E6-25759986A3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1746" y="1441309"/>
            <a:ext cx="3697816" cy="5082024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9" name="Arrow: Right 10">
            <a:extLst>
              <a:ext uri="{FF2B5EF4-FFF2-40B4-BE49-F238E27FC236}">
                <a16:creationId xmlns:a16="http://schemas.microsoft.com/office/drawing/2014/main" id="{6CC203A2-3D22-66FB-2C90-3881C900CAF2}"/>
              </a:ext>
            </a:extLst>
          </p:cNvPr>
          <p:cNvSpPr/>
          <p:nvPr/>
        </p:nvSpPr>
        <p:spPr>
          <a:xfrm>
            <a:off x="6096000" y="4204574"/>
            <a:ext cx="1125000" cy="88265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99"/>
          </a:p>
        </p:txBody>
      </p:sp>
    </p:spTree>
    <p:extLst>
      <p:ext uri="{BB962C8B-B14F-4D97-AF65-F5344CB8AC3E}">
        <p14:creationId xmlns:p14="http://schemas.microsoft.com/office/powerpoint/2010/main" val="3635702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E31A40C-ADF4-6590-C835-1E2F84AAE3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29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939655-73BD-E5E7-86DB-389C07825A6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2800" dirty="0"/>
              <a:t>Отваряме </a:t>
            </a:r>
            <a:r>
              <a:rPr lang="bg-BG" sz="2800" b="1" dirty="0"/>
              <a:t>[</a:t>
            </a:r>
            <a:r>
              <a:rPr lang="en-GB" sz="2800" b="1" dirty="0">
                <a:solidFill>
                  <a:schemeClr val="bg1"/>
                </a:solidFill>
              </a:rPr>
              <a:t>Posts</a:t>
            </a:r>
            <a:r>
              <a:rPr lang="en-GB" sz="2800" b="1" dirty="0"/>
              <a:t>] → [</a:t>
            </a:r>
            <a:r>
              <a:rPr lang="en-GB" sz="2800" b="1" dirty="0">
                <a:solidFill>
                  <a:schemeClr val="bg1"/>
                </a:solidFill>
              </a:rPr>
              <a:t>Add Post</a:t>
            </a:r>
            <a:r>
              <a:rPr lang="en-GB" sz="2800" b="1" dirty="0"/>
              <a:t>]</a:t>
            </a:r>
            <a:r>
              <a:rPr lang="en-GB" sz="2800" dirty="0"/>
              <a:t> </a:t>
            </a:r>
          </a:p>
          <a:p>
            <a:r>
              <a:rPr lang="bg-BG" sz="2800" dirty="0"/>
              <a:t>Въвеждаме </a:t>
            </a:r>
            <a:r>
              <a:rPr lang="bg-BG" sz="2800" b="1" dirty="0"/>
              <a:t>заглавие</a:t>
            </a:r>
            <a:br>
              <a:rPr lang="bg-BG" sz="2800" dirty="0"/>
            </a:br>
            <a:r>
              <a:rPr lang="en-US" sz="2800" b="1" dirty="0"/>
              <a:t>"</a:t>
            </a:r>
            <a:r>
              <a:rPr lang="bg-BG" sz="2800" b="1" dirty="0">
                <a:solidFill>
                  <a:schemeClr val="bg1"/>
                </a:solidFill>
              </a:rPr>
              <a:t>Засаждане на дръвчета в училищния двор</a:t>
            </a:r>
            <a:r>
              <a:rPr lang="en-US" sz="2800" b="1" dirty="0"/>
              <a:t>"</a:t>
            </a:r>
          </a:p>
          <a:p>
            <a:r>
              <a:rPr lang="bg-BG" sz="2800" dirty="0"/>
              <a:t>Добавяме </a:t>
            </a:r>
            <a:r>
              <a:rPr lang="bg-BG" sz="2800" b="1" dirty="0"/>
              <a:t>текст</a:t>
            </a:r>
            <a:r>
              <a:rPr lang="bg-BG" sz="2800" dirty="0"/>
              <a:t> и </a:t>
            </a:r>
            <a:r>
              <a:rPr lang="bg-BG" sz="2800" b="1" dirty="0"/>
              <a:t>изображение</a:t>
            </a:r>
            <a:endParaRPr lang="en-US" sz="2800" b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E8C154C-A515-15E4-2727-BE0450CA7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Създаване на публикация</a:t>
            </a:r>
            <a:r>
              <a:rPr lang="en-US" dirty="0"/>
              <a:t> (1)</a:t>
            </a:r>
            <a:endParaRPr lang="en-B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B40BBB-DBA9-ABD4-72E5-DD15BE34BC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25602" y="1359000"/>
            <a:ext cx="3915000" cy="912302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9B063E2-5A39-61F3-4E5F-9076B7AFA7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6085" y="2568097"/>
            <a:ext cx="3914999" cy="4087403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4247976-C1A7-C26B-85C8-47BCF033EB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000" y="3564000"/>
            <a:ext cx="4135750" cy="2800168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06FC65D9-9648-553E-E351-AFA73389B729}"/>
              </a:ext>
            </a:extLst>
          </p:cNvPr>
          <p:cNvSpPr/>
          <p:nvPr/>
        </p:nvSpPr>
        <p:spPr>
          <a:xfrm>
            <a:off x="5716417" y="4374000"/>
            <a:ext cx="1125000" cy="88265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99"/>
          </a:p>
        </p:txBody>
      </p:sp>
    </p:spTree>
    <p:extLst>
      <p:ext uri="{BB962C8B-B14F-4D97-AF65-F5344CB8AC3E}">
        <p14:creationId xmlns:p14="http://schemas.microsoft.com/office/powerpoint/2010/main" val="2486079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E31A40C-ADF4-6590-C835-1E2F84AAE3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30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939655-73BD-E5E7-86DB-389C07825A6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3000" dirty="0"/>
              <a:t>Отваряме </a:t>
            </a:r>
            <a:r>
              <a:rPr lang="bg-BG" sz="3000" b="1" dirty="0">
                <a:solidFill>
                  <a:schemeClr val="bg1"/>
                </a:solidFill>
              </a:rPr>
              <a:t>настройките</a:t>
            </a:r>
            <a:r>
              <a:rPr lang="bg-BG" sz="3000" dirty="0"/>
              <a:t> от </a:t>
            </a:r>
            <a:r>
              <a:rPr lang="bg-BG" sz="3000" b="1" dirty="0"/>
              <a:t>менюто вдясно</a:t>
            </a:r>
          </a:p>
          <a:p>
            <a:r>
              <a:rPr lang="bg-BG" sz="3000" dirty="0"/>
              <a:t>Избираме </a:t>
            </a:r>
            <a:r>
              <a:rPr lang="bg-BG" sz="3000" b="1" dirty="0"/>
              <a:t>категория</a:t>
            </a:r>
            <a:r>
              <a:rPr lang="bg-BG" sz="3000" dirty="0"/>
              <a:t> </a:t>
            </a:r>
            <a:r>
              <a:rPr lang="en-US" sz="3000" b="1" dirty="0"/>
              <a:t>"</a:t>
            </a:r>
            <a:r>
              <a:rPr lang="bg-BG" sz="3000" b="1" dirty="0">
                <a:solidFill>
                  <a:schemeClr val="bg1"/>
                </a:solidFill>
              </a:rPr>
              <a:t>Инициативи</a:t>
            </a:r>
            <a:r>
              <a:rPr lang="en-US" sz="3000" b="1" dirty="0"/>
              <a:t>"</a:t>
            </a:r>
          </a:p>
          <a:p>
            <a:r>
              <a:rPr lang="bg-BG" sz="3000" dirty="0"/>
              <a:t>Добавяме </a:t>
            </a:r>
            <a:r>
              <a:rPr lang="bg-BG" sz="3000" b="1" dirty="0"/>
              <a:t>етикети</a:t>
            </a:r>
            <a:r>
              <a:rPr lang="bg-BG" sz="3000" dirty="0"/>
              <a:t>: </a:t>
            </a:r>
            <a:r>
              <a:rPr lang="bg-BG" sz="3000" b="1" dirty="0">
                <a:solidFill>
                  <a:schemeClr val="bg1"/>
                </a:solidFill>
              </a:rPr>
              <a:t>природа</a:t>
            </a:r>
            <a:r>
              <a:rPr lang="bg-BG" sz="3000" dirty="0"/>
              <a:t>, </a:t>
            </a:r>
            <a:r>
              <a:rPr lang="bg-BG" sz="3000" b="1" dirty="0">
                <a:solidFill>
                  <a:schemeClr val="bg1"/>
                </a:solidFill>
              </a:rPr>
              <a:t>доброволчество</a:t>
            </a:r>
            <a:r>
              <a:rPr lang="bg-BG" sz="3000" dirty="0"/>
              <a:t>, </a:t>
            </a:r>
            <a:r>
              <a:rPr lang="bg-BG" sz="3000" b="1" dirty="0">
                <a:solidFill>
                  <a:schemeClr val="bg1"/>
                </a:solidFill>
              </a:rPr>
              <a:t>училище</a:t>
            </a:r>
            <a:r>
              <a:rPr lang="bg-BG" sz="3000" dirty="0"/>
              <a:t>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E8C154C-A515-15E4-2727-BE0450CA7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Създаване на публикация</a:t>
            </a:r>
            <a:r>
              <a:rPr lang="en-US" dirty="0"/>
              <a:t> (2)</a:t>
            </a:r>
            <a:endParaRPr lang="en-B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CC84CC-6D65-8D07-9C42-1C51435407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0402" y="4060487"/>
            <a:ext cx="3530600" cy="160020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C734894-C665-7977-0A4E-C8ACEDD28C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6250" y="3946441"/>
            <a:ext cx="3365500" cy="181610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38C9B68-92A5-30C8-76A9-0731A975E08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7530" y="3667041"/>
            <a:ext cx="3365500" cy="237490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12" name="Arrow: Right 10">
            <a:extLst>
              <a:ext uri="{FF2B5EF4-FFF2-40B4-BE49-F238E27FC236}">
                <a16:creationId xmlns:a16="http://schemas.microsoft.com/office/drawing/2014/main" id="{A1622BFE-5B5B-A155-87C2-14F27D105DAE}"/>
              </a:ext>
            </a:extLst>
          </p:cNvPr>
          <p:cNvSpPr/>
          <p:nvPr/>
        </p:nvSpPr>
        <p:spPr>
          <a:xfrm>
            <a:off x="3776782" y="4589778"/>
            <a:ext cx="630000" cy="529426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99"/>
          </a:p>
        </p:txBody>
      </p:sp>
      <p:sp>
        <p:nvSpPr>
          <p:cNvPr id="13" name="Arrow: Right 10">
            <a:extLst>
              <a:ext uri="{FF2B5EF4-FFF2-40B4-BE49-F238E27FC236}">
                <a16:creationId xmlns:a16="http://schemas.microsoft.com/office/drawing/2014/main" id="{33D3DA80-FC2C-846E-F3BE-AE619CF46BB6}"/>
              </a:ext>
            </a:extLst>
          </p:cNvPr>
          <p:cNvSpPr/>
          <p:nvPr/>
        </p:nvSpPr>
        <p:spPr>
          <a:xfrm>
            <a:off x="7749437" y="4589778"/>
            <a:ext cx="630000" cy="529426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99"/>
          </a:p>
        </p:txBody>
      </p:sp>
    </p:spTree>
    <p:extLst>
      <p:ext uri="{BB962C8B-B14F-4D97-AF65-F5344CB8AC3E}">
        <p14:creationId xmlns:p14="http://schemas.microsoft.com/office/powerpoint/2010/main" val="932783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E31A40C-ADF4-6590-C835-1E2F84AAE3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31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939655-73BD-E5E7-86DB-389C07825A6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dirty="0"/>
              <a:t>Задаваме </a:t>
            </a:r>
            <a:r>
              <a:rPr lang="bg-BG" b="1" dirty="0"/>
              <a:t>основно </a:t>
            </a:r>
            <a:r>
              <a:rPr lang="bg-BG" b="1" dirty="0">
                <a:solidFill>
                  <a:schemeClr val="bg1"/>
                </a:solidFill>
              </a:rPr>
              <a:t>изображение</a:t>
            </a:r>
            <a:endParaRPr lang="en-BG" b="1" dirty="0">
              <a:solidFill>
                <a:schemeClr val="bg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E8C154C-A515-15E4-2727-BE0450CA7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Създаване на публикация</a:t>
            </a:r>
            <a:r>
              <a:rPr lang="en-US" dirty="0"/>
              <a:t> (3)</a:t>
            </a:r>
            <a:endParaRPr lang="en-B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0BD1179-3C06-1881-13B0-BE546EF094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3832" y="2445968"/>
            <a:ext cx="4102168" cy="3916409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AE571C0-4754-0F1D-7203-D92520E88D3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6000" y="3032528"/>
            <a:ext cx="4011422" cy="2743292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E0E2CFFA-396A-4B31-DB12-79DB3D284893}"/>
              </a:ext>
            </a:extLst>
          </p:cNvPr>
          <p:cNvSpPr/>
          <p:nvPr/>
        </p:nvSpPr>
        <p:spPr>
          <a:xfrm>
            <a:off x="5213020" y="3669334"/>
            <a:ext cx="1817494" cy="146967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99"/>
          </a:p>
        </p:txBody>
      </p:sp>
    </p:spTree>
    <p:extLst>
      <p:ext uri="{BB962C8B-B14F-4D97-AF65-F5344CB8AC3E}">
        <p14:creationId xmlns:p14="http://schemas.microsoft.com/office/powerpoint/2010/main" val="2144181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9195F21-2942-1E4F-7B43-BCBA3DD080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32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C1C6D7-B2EF-1566-256B-2E63DA1E4A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2800" dirty="0"/>
              <a:t>Запазваме </a:t>
            </a:r>
            <a:r>
              <a:rPr lang="bg-BG" sz="2800" b="1" dirty="0"/>
              <a:t>публикацията</a:t>
            </a:r>
            <a:r>
              <a:rPr lang="bg-BG" sz="2800" dirty="0"/>
              <a:t> като </a:t>
            </a:r>
            <a:r>
              <a:rPr lang="bg-BG" sz="2800" b="1" dirty="0">
                <a:solidFill>
                  <a:schemeClr val="bg1"/>
                </a:solidFill>
              </a:rPr>
              <a:t>чернова</a:t>
            </a:r>
          </a:p>
          <a:p>
            <a:r>
              <a:rPr lang="bg-BG" sz="2800" dirty="0"/>
              <a:t>Отваряме </a:t>
            </a:r>
            <a:r>
              <a:rPr lang="bg-BG" sz="2800" b="1" dirty="0">
                <a:solidFill>
                  <a:schemeClr val="bg1"/>
                </a:solidFill>
              </a:rPr>
              <a:t>преглед</a:t>
            </a:r>
          </a:p>
          <a:p>
            <a:r>
              <a:rPr lang="bg-BG" sz="2800" dirty="0"/>
              <a:t>Проверяваме </a:t>
            </a:r>
            <a:r>
              <a:rPr lang="bg-BG" sz="2800" b="1" dirty="0"/>
              <a:t>текста</a:t>
            </a:r>
            <a:r>
              <a:rPr lang="bg-BG" sz="2800" dirty="0"/>
              <a:t> и </a:t>
            </a:r>
            <a:r>
              <a:rPr lang="bg-BG" sz="2800" b="1" dirty="0"/>
              <a:t>изображенията</a:t>
            </a:r>
            <a:r>
              <a:rPr lang="bg-BG" sz="2800" dirty="0"/>
              <a:t> и </a:t>
            </a:r>
            <a:r>
              <a:rPr lang="bg-BG" sz="2800" b="1" dirty="0"/>
              <a:t>кликаме</a:t>
            </a:r>
            <a:r>
              <a:rPr lang="bg-BG" sz="2800" dirty="0"/>
              <a:t> върху </a:t>
            </a:r>
            <a:r>
              <a:rPr lang="bg-BG" sz="2800" b="1" dirty="0"/>
              <a:t>[</a:t>
            </a:r>
            <a:r>
              <a:rPr lang="en-GB" sz="2800" b="1" dirty="0">
                <a:solidFill>
                  <a:schemeClr val="bg1"/>
                </a:solidFill>
              </a:rPr>
              <a:t>Publish</a:t>
            </a:r>
            <a:r>
              <a:rPr lang="en-GB" sz="2800" b="1" dirty="0"/>
              <a:t>]</a:t>
            </a:r>
            <a:endParaRPr lang="bg-BG" sz="2800" b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40ABDE8-2B57-19C7-1EA1-DD97192C2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Създаване на публикация (3)</a:t>
            </a:r>
            <a:endParaRPr lang="en-B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53A065-BA12-971A-DC4C-5792FA6C072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1000" y="3960508"/>
            <a:ext cx="2830951" cy="1343858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08C6D0E-8CF0-7DE2-DCBC-6C59B52561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70790" y="2979000"/>
            <a:ext cx="2201852" cy="3745891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3735847-334A-7749-BC71-BAC853CF98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1481" y="3294000"/>
            <a:ext cx="3067168" cy="266660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10" name="Arrow: Right 10">
            <a:extLst>
              <a:ext uri="{FF2B5EF4-FFF2-40B4-BE49-F238E27FC236}">
                <a16:creationId xmlns:a16="http://schemas.microsoft.com/office/drawing/2014/main" id="{460080F4-3B09-FFAD-C277-6A8D86A4F650}"/>
              </a:ext>
            </a:extLst>
          </p:cNvPr>
          <p:cNvSpPr/>
          <p:nvPr/>
        </p:nvSpPr>
        <p:spPr>
          <a:xfrm>
            <a:off x="3700785" y="4234330"/>
            <a:ext cx="861170" cy="785944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99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1EE51FF3-2625-4E26-E0C2-08E1B3599ECF}"/>
              </a:ext>
            </a:extLst>
          </p:cNvPr>
          <p:cNvSpPr/>
          <p:nvPr/>
        </p:nvSpPr>
        <p:spPr>
          <a:xfrm>
            <a:off x="7381476" y="4234330"/>
            <a:ext cx="861170" cy="785944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99"/>
          </a:p>
        </p:txBody>
      </p:sp>
    </p:spTree>
    <p:extLst>
      <p:ext uri="{BB962C8B-B14F-4D97-AF65-F5344CB8AC3E}">
        <p14:creationId xmlns:p14="http://schemas.microsoft.com/office/powerpoint/2010/main" val="3326407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9938849-4693-176C-1701-3C40BF78BB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33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17470BA-D0DB-65E1-98A9-5A4986673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Резултат</a:t>
            </a:r>
            <a:endParaRPr lang="en-B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0CABEA-12D9-88E4-197F-6CC23D1DE8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063" y="1979133"/>
            <a:ext cx="3898900" cy="408940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0CFDAA8-A27C-5C2B-903B-5AE21BECDD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6580" y="2493833"/>
            <a:ext cx="4136983" cy="306000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041EB8A-7290-6F63-9823-C0F01D2314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0837" y="1751333"/>
            <a:ext cx="3325100" cy="454500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207827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Summary Box Group">
            <a:extLst>
              <a:ext uri="{FF2B5EF4-FFF2-40B4-BE49-F238E27FC236}">
                <a16:creationId xmlns:a16="http://schemas.microsoft.com/office/drawing/2014/main" id="{EBAFE522-EB7D-4931-A015-9A7E8A98517D}"/>
              </a:ext>
            </a:extLst>
          </p:cNvPr>
          <p:cNvGrpSpPr/>
          <p:nvPr/>
        </p:nvGrpSpPr>
        <p:grpSpPr>
          <a:xfrm>
            <a:off x="190406" y="1360993"/>
            <a:ext cx="11562624" cy="5394328"/>
            <a:chOff x="472011" y="1508786"/>
            <a:chExt cx="3799787" cy="4865561"/>
          </a:xfrm>
        </p:grpSpPr>
        <p:sp>
          <p:nvSpPr>
            <p:cNvPr id="10" name="Rounded Rectangle Blue">
              <a:extLst>
                <a:ext uri="{FF2B5EF4-FFF2-40B4-BE49-F238E27FC236}">
                  <a16:creationId xmlns:a16="http://schemas.microsoft.com/office/drawing/2014/main" id="{18F78F23-3D09-4B63-8DF9-D49CFBB145EE}"/>
                </a:ext>
              </a:extLst>
            </p:cNvPr>
            <p:cNvSpPr/>
            <p:nvPr/>
          </p:nvSpPr>
          <p:spPr>
            <a:xfrm>
              <a:off x="472011" y="1508786"/>
              <a:ext cx="3799787" cy="4865561"/>
            </a:xfrm>
            <a:prstGeom prst="roundRect">
              <a:avLst>
                <a:gd name="adj" fmla="val 3968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dirty="0"/>
            </a:p>
          </p:txBody>
        </p:sp>
        <p:sp>
          <p:nvSpPr>
            <p:cNvPr id="11" name="Rounded Rectangle Left">
              <a:extLst>
                <a:ext uri="{FF2B5EF4-FFF2-40B4-BE49-F238E27FC236}">
                  <a16:creationId xmlns:a16="http://schemas.microsoft.com/office/drawing/2014/main" id="{F12C06CE-2BBE-46C2-B718-813794C58DF9}"/>
                </a:ext>
              </a:extLst>
            </p:cNvPr>
            <p:cNvSpPr/>
            <p:nvPr/>
          </p:nvSpPr>
          <p:spPr>
            <a:xfrm>
              <a:off x="546866" y="1696737"/>
              <a:ext cx="81601" cy="4489658"/>
            </a:xfrm>
            <a:prstGeom prst="roundRect">
              <a:avLst>
                <a:gd name="adj" fmla="val 50000"/>
              </a:avLst>
            </a:prstGeom>
            <a:solidFill>
              <a:schemeClr val="bg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dirty="0">
                <a:solidFill>
                  <a:schemeClr val="bg1"/>
                </a:solidFill>
              </a:endParaRPr>
            </a:p>
          </p:txBody>
        </p:sp>
        <p:sp>
          <p:nvSpPr>
            <p:cNvPr id="12" name="Half Frame Top Right">
              <a:extLst>
                <a:ext uri="{FF2B5EF4-FFF2-40B4-BE49-F238E27FC236}">
                  <a16:creationId xmlns:a16="http://schemas.microsoft.com/office/drawing/2014/main" id="{66CDBB1E-AF3C-43FC-9F34-2DD691F81726}"/>
                </a:ext>
              </a:extLst>
            </p:cNvPr>
            <p:cNvSpPr/>
            <p:nvPr/>
          </p:nvSpPr>
          <p:spPr>
            <a:xfrm rot="5400000">
              <a:off x="3742559" y="1912372"/>
              <a:ext cx="669775" cy="238503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2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dirty="0">
                <a:solidFill>
                  <a:schemeClr val="tx1"/>
                </a:solidFill>
              </a:endParaRPr>
            </a:p>
          </p:txBody>
        </p:sp>
      </p:grpSp>
      <p:sp>
        <p:nvSpPr>
          <p:cNvPr id="14" name="Text Placeholder Body">
            <a:extLst>
              <a:ext uri="{FF2B5EF4-FFF2-40B4-BE49-F238E27FC236}">
                <a16:creationId xmlns:a16="http://schemas.microsoft.com/office/drawing/2014/main" id="{0E49D336-45B6-44D3-97C4-E28F8DEA20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7877" y="1676785"/>
            <a:ext cx="10826625" cy="4977574"/>
          </a:xfrm>
        </p:spPr>
        <p:txBody>
          <a:bodyPr>
            <a:noAutofit/>
          </a:bodyPr>
          <a:lstStyle>
            <a:lvl1pPr marL="514350" indent="-514350"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</a:defRPr>
            </a:lvl1pPr>
            <a:lvl2pPr marL="112393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2pPr>
            <a:lvl3pPr marL="1733520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3pPr>
            <a:lvl4pPr marL="234310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4pPr>
            <a:lvl5pPr marL="2952689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marL="360363" indent="-360363" fontAlgn="base">
              <a:buClr>
                <a:schemeClr val="bg2"/>
              </a:buClr>
            </a:pPr>
            <a:r>
              <a:rPr lang="bg-BG" sz="3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Страниците </a:t>
            </a:r>
            <a:r>
              <a:rPr lang="bg-BG" sz="3000" dirty="0"/>
              <a:t>съдържат</a:t>
            </a:r>
            <a:r>
              <a:rPr lang="bg-BG" sz="3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bg-BG" sz="3000" b="1" dirty="0"/>
              <a:t>постоянна информация</a:t>
            </a:r>
          </a:p>
          <a:p>
            <a:pPr marL="360363" indent="-360363" fontAlgn="base">
              <a:buClr>
                <a:schemeClr val="bg2"/>
              </a:buClr>
            </a:pPr>
            <a:r>
              <a:rPr lang="bg-BG" sz="3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Публикациите </a:t>
            </a:r>
            <a:r>
              <a:rPr lang="bg-BG" sz="3000" dirty="0"/>
              <a:t>представят </a:t>
            </a:r>
            <a:r>
              <a:rPr lang="bg-BG" sz="3000" b="1" dirty="0"/>
              <a:t>актуално съдържание</a:t>
            </a:r>
          </a:p>
          <a:p>
            <a:pPr marL="360363" indent="-360363" fontAlgn="base">
              <a:buClr>
                <a:schemeClr val="bg2"/>
              </a:buClr>
            </a:pPr>
            <a:r>
              <a:rPr lang="bg-BG" sz="3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Блоковият редактор </a:t>
            </a:r>
            <a:r>
              <a:rPr lang="bg-BG" sz="3000" dirty="0"/>
              <a:t>изгражда</a:t>
            </a:r>
            <a:r>
              <a:rPr lang="bg-BG" sz="3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bg-BG" sz="3000" b="1" dirty="0"/>
              <a:t>съдържанието</a:t>
            </a:r>
          </a:p>
          <a:p>
            <a:pPr marL="360363" indent="-360363" fontAlgn="base">
              <a:buClr>
                <a:schemeClr val="bg2"/>
              </a:buClr>
            </a:pPr>
            <a:r>
              <a:rPr lang="bg-BG" sz="3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Медийната библиотека </a:t>
            </a:r>
            <a:r>
              <a:rPr lang="bg-BG" sz="3000" dirty="0"/>
              <a:t>съхранява</a:t>
            </a:r>
            <a:r>
              <a:rPr lang="bg-BG" sz="3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bg-BG" sz="3000" b="1" dirty="0"/>
              <a:t>файловете</a:t>
            </a:r>
          </a:p>
          <a:p>
            <a:pPr marL="360363" indent="-360363" fontAlgn="base">
              <a:buClr>
                <a:schemeClr val="bg2"/>
              </a:buClr>
            </a:pPr>
            <a:r>
              <a:rPr lang="bg-BG" sz="3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Категориите </a:t>
            </a:r>
            <a:r>
              <a:rPr lang="bg-BG" sz="3000" dirty="0"/>
              <a:t>и </a:t>
            </a:r>
            <a:r>
              <a:rPr lang="bg-BG" sz="3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етикетите </a:t>
            </a:r>
            <a:r>
              <a:rPr lang="bg-BG" sz="3000" dirty="0"/>
              <a:t>организират</a:t>
            </a:r>
            <a:r>
              <a:rPr lang="bg-BG" sz="3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bg-BG" sz="3000" b="1" dirty="0"/>
              <a:t>публикациите</a:t>
            </a:r>
          </a:p>
          <a:p>
            <a:pPr marL="360363" indent="-360363" fontAlgn="base">
              <a:buClr>
                <a:schemeClr val="bg2"/>
              </a:buClr>
            </a:pPr>
            <a:r>
              <a:rPr lang="bg-BG" sz="3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Съдържанието </a:t>
            </a:r>
            <a:r>
              <a:rPr lang="bg-BG" sz="3000" dirty="0"/>
              <a:t>може да се </a:t>
            </a:r>
            <a:r>
              <a:rPr lang="bg-BG" sz="3000" b="1" dirty="0"/>
              <a:t>публикува</a:t>
            </a:r>
            <a:r>
              <a:rPr lang="bg-BG" sz="3000" dirty="0"/>
              <a:t>, </a:t>
            </a:r>
            <a:r>
              <a:rPr lang="bg-BG" sz="3000" b="1" dirty="0"/>
              <a:t>редактира</a:t>
            </a:r>
            <a:r>
              <a:rPr lang="bg-BG" sz="3000" dirty="0"/>
              <a:t> и </a:t>
            </a:r>
            <a:r>
              <a:rPr lang="bg-BG" sz="3000" b="1" dirty="0"/>
              <a:t>премахва</a:t>
            </a:r>
          </a:p>
          <a:p>
            <a:pPr marL="360363" indent="-360363" fontAlgn="base">
              <a:buClr>
                <a:schemeClr val="bg2"/>
              </a:buClr>
            </a:pPr>
            <a:endParaRPr lang="bg-BG" sz="30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Slide Title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Обобщение</a:t>
            </a:r>
            <a:endParaRPr lang="en-US" dirty="0"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E369AAE7-BDDC-FE11-A61E-E20F7F6632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34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23049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Title">
            <a:extLst>
              <a:ext uri="{FF2B5EF4-FFF2-40B4-BE49-F238E27FC236}">
                <a16:creationId xmlns:a16="http://schemas.microsoft.com/office/drawing/2014/main" id="{FA0703FC-0F8F-4C80-A615-E4B381EC0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Въпроси</a:t>
            </a:r>
            <a:r>
              <a:rPr lang="en-US" dirty="0"/>
              <a:t>?</a:t>
            </a:r>
          </a:p>
        </p:txBody>
      </p:sp>
      <p:sp>
        <p:nvSpPr>
          <p:cNvPr id="2" name="Rectangle Bottom Copyright">
            <a:extLst>
              <a:ext uri="{FF2B5EF4-FFF2-40B4-BE49-F238E27FC236}">
                <a16:creationId xmlns:a16="http://schemas.microsoft.com/office/drawing/2014/main" id="{664812A4-2991-44D1-BFE9-32E55AADF8A5}"/>
              </a:ext>
            </a:extLst>
          </p:cNvPr>
          <p:cNvSpPr/>
          <p:nvPr/>
        </p:nvSpPr>
        <p:spPr>
          <a:xfrm>
            <a:off x="111000" y="6454758"/>
            <a:ext cx="11970000" cy="3042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Проект "</a:t>
            </a:r>
            <a:r>
              <a:rPr lang="bg-BG" sz="1600" dirty="0">
                <a:solidFill>
                  <a:schemeClr val="bg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Отворено учебно съдържание по програмиране и ИТ</a:t>
            </a: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", СофтУни Фондация (лиценз </a:t>
            </a:r>
            <a:r>
              <a:rPr lang="en-US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CC-BY-NC-SA</a:t>
            </a: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  <a:endParaRPr lang="bg-BG" sz="240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2534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48C3C93-90A1-4D31-BEA6-B54D1106CE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2" name="Slide Body">
            <a:extLst>
              <a:ext uri="{FF2B5EF4-FFF2-40B4-BE49-F238E27FC236}">
                <a16:creationId xmlns:a16="http://schemas.microsoft.com/office/drawing/2014/main" id="{980F49B1-E4BE-4389-A747-7AB9B71AD9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269001"/>
            <a:ext cx="9865598" cy="2474999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bg-BG" sz="3200" dirty="0"/>
              <a:t>Този курс</a:t>
            </a:r>
            <a:r>
              <a:rPr lang="en-US" sz="3200" dirty="0"/>
              <a:t> (</a:t>
            </a:r>
            <a:r>
              <a:rPr lang="bg-BG" sz="3200" dirty="0"/>
              <a:t>презентации, примери, демонстрационен код, упражнения, домашни, видео и други активи</a:t>
            </a:r>
            <a:r>
              <a:rPr lang="en-US" sz="3200" dirty="0"/>
              <a:t>) </a:t>
            </a:r>
            <a:r>
              <a:rPr lang="bg-BG" sz="3200" dirty="0"/>
              <a:t>представлява</a:t>
            </a:r>
            <a:r>
              <a:rPr lang="en-US" sz="3200" dirty="0"/>
              <a:t> </a:t>
            </a:r>
            <a:r>
              <a:rPr lang="bg-BG" sz="3200" b="1" dirty="0"/>
              <a:t>свободно учебно съдържание </a:t>
            </a:r>
            <a:r>
              <a:rPr lang="bg-BG" sz="3200" dirty="0"/>
              <a:t>и се разпространява под свободен лиценз </a:t>
            </a:r>
            <a:r>
              <a:rPr lang="en-US" sz="3200" b="1" dirty="0"/>
              <a:t>CC-BY-NC-SA</a:t>
            </a:r>
            <a:endParaRPr lang="bg-BG" sz="3200" dirty="0"/>
          </a:p>
        </p:txBody>
      </p:sp>
      <p:pic>
        <p:nvPicPr>
          <p:cNvPr id="6" name="Picture License" descr="License">
            <a:extLst>
              <a:ext uri="{FF2B5EF4-FFF2-40B4-BE49-F238E27FC236}">
                <a16:creationId xmlns:a16="http://schemas.microsoft.com/office/drawing/2014/main" id="{82BA520F-A037-4E01-AA18-27D9F1E930A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6175" y="1440120"/>
            <a:ext cx="1198986" cy="1268880"/>
          </a:xfrm>
          <a:prstGeom prst="rect">
            <a:avLst/>
          </a:prstGeom>
        </p:spPr>
      </p:pic>
      <p:sp>
        <p:nvSpPr>
          <p:cNvPr id="3" name="Slide Title">
            <a:extLst>
              <a:ext uri="{FF2B5EF4-FFF2-40B4-BE49-F238E27FC236}">
                <a16:creationId xmlns:a16="http://schemas.microsoft.com/office/drawing/2014/main" id="{E5F1FB41-80C3-4816-BC47-CCC50632E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Лиценз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18DF19-B750-4C88-975B-661A6BF61F5E}"/>
              </a:ext>
            </a:extLst>
          </p:cNvPr>
          <p:cNvSpPr txBox="1"/>
          <p:nvPr/>
        </p:nvSpPr>
        <p:spPr>
          <a:xfrm>
            <a:off x="190401" y="3927519"/>
            <a:ext cx="11710599" cy="1979644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pPr marL="360363" indent="-360363" defTabSz="121843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bg-BG" sz="3200" dirty="0"/>
              <a:t>Проект "</a:t>
            </a:r>
            <a:r>
              <a:rPr lang="bg-BG" sz="3200" b="1" dirty="0"/>
              <a:t>Отворено учебно съдържание по програмиране и ИТ</a:t>
            </a:r>
            <a:r>
              <a:rPr lang="bg-BG" sz="3200" dirty="0"/>
              <a:t>" към Фондация "Софтуерен университет"</a:t>
            </a:r>
            <a:r>
              <a:rPr lang="en-US" sz="3200" dirty="0"/>
              <a:t>:</a:t>
            </a:r>
            <a:endParaRPr lang="bg-BG" sz="3200" dirty="0"/>
          </a:p>
          <a:p>
            <a:pPr marL="817563" lvl="1" indent="-360363" defTabSz="121843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4"/>
              </a:rPr>
              <a:t>https://github.com/BG-IT-Edu</a:t>
            </a:r>
            <a:endParaRPr kumimoji="0" lang="bg-BG" sz="3200" b="0" i="0" u="none" strike="noStrike" kern="1200" cap="none" spc="0" normalizeH="0" baseline="0" noProof="0" dirty="0">
              <a:ln>
                <a:noFill/>
              </a:ln>
              <a:solidFill>
                <a:srgbClr val="234465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6" title="CC-BY-NC-SA License">
            <a:hlinkClick r:id="rId5" tooltip="This work is licensed under the &quot;Creative Commons Attribution-NonCommercial-ShareAlike 4.0 International&quot; license"/>
            <a:extLst>
              <a:ext uri="{FF2B5EF4-FFF2-40B4-BE49-F238E27FC236}">
                <a16:creationId xmlns:a16="http://schemas.microsoft.com/office/drawing/2014/main" id="{F6C77C47-F7D8-A176-5C69-7FDE5C7E80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1000" y="2908593"/>
            <a:ext cx="1989336" cy="696022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79276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8|0.4|0.3|0.5|0.3|0.3|0.4|0.4"/>
</p:tagLst>
</file>

<file path=ppt/theme/theme1.xml><?xml version="1.0" encoding="utf-8"?>
<a:theme xmlns:a="http://schemas.openxmlformats.org/drawingml/2006/main" name="SoftUni">
  <a:themeElements>
    <a:clrScheme name="Custom 2">
      <a:dk1>
        <a:srgbClr val="234465"/>
      </a:dk1>
      <a:lt1>
        <a:srgbClr val="BF7800"/>
      </a:lt1>
      <a:dk2>
        <a:srgbClr val="234465"/>
      </a:dk2>
      <a:lt2>
        <a:srgbClr val="FFFFFF"/>
      </a:lt2>
      <a:accent1>
        <a:srgbClr val="FFA000"/>
      </a:accent1>
      <a:accent2>
        <a:srgbClr val="00B050"/>
      </a:accent2>
      <a:accent3>
        <a:srgbClr val="44A9F8"/>
      </a:accent3>
      <a:accent4>
        <a:srgbClr val="7030A0"/>
      </a:accent4>
      <a:accent5>
        <a:srgbClr val="67748E"/>
      </a:accent5>
      <a:accent6>
        <a:srgbClr val="F4F5F7"/>
      </a:accent6>
      <a:hlink>
        <a:srgbClr val="BF7800"/>
      </a:hlink>
      <a:folHlink>
        <a:srgbClr val="EF9511"/>
      </a:folHlink>
    </a:clrScheme>
    <a:fontScheme name="SoftUn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dk2">
            <a:alpha val="80000"/>
          </a:schemeClr>
        </a:solidFill>
        <a:ln w="19050">
          <a:solidFill>
            <a:schemeClr val="tx1">
              <a:lumMod val="75000"/>
              <a:alpha val="80000"/>
            </a:schemeClr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800" b="1" dirty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defRPr>
        </a:defPPr>
      </a:lstStyle>
      <a:style>
        <a:lnRef idx="2">
          <a:schemeClr val="accent1">
            <a:shade val="50000"/>
          </a:schemeClr>
        </a:lnRef>
        <a:fillRef idx="1001">
          <a:schemeClr val="dk2"/>
        </a:fillRef>
        <a:effectRef idx="0">
          <a:schemeClr val="accent1"/>
        </a:effectRef>
        <a:fontRef idx="minor">
          <a:schemeClr val="lt1"/>
        </a:fontRef>
      </a:style>
    </a:spDef>
    <a:txDef>
      <a:spPr>
        <a:solidFill>
          <a:schemeClr val="accent6">
            <a:lumMod val="75000"/>
            <a:alpha val="15000"/>
          </a:schemeClr>
        </a:solidFill>
        <a:ln w="12700">
          <a:solidFill>
            <a:schemeClr val="tx1">
              <a:lumMod val="75000"/>
            </a:schemeClr>
          </a:solidFill>
        </a:ln>
      </a:spPr>
      <a:bodyPr vert="horz" wrap="square" lIns="144000" tIns="108000" rIns="144000" bIns="108000" rtlCol="0">
        <a:spAutoFit/>
      </a:bodyPr>
      <a:lstStyle>
        <a:defPPr algn="l" eaLnBrk="0" hangingPunct="0">
          <a:lnSpc>
            <a:spcPct val="110000"/>
          </a:lnSpc>
          <a:buClr>
            <a:schemeClr val="accent5">
              <a:lumMod val="40000"/>
              <a:lumOff val="60000"/>
            </a:schemeClr>
          </a:buClr>
          <a:buSzPct val="70000"/>
          <a:defRPr sz="24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SoftUni" id="{D61FAD9B-6E74-4E03-BFE4-B363D484F1DA}" vid="{7089C1A3-635B-4B03-A017-DAF10A3A396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58547</TotalTime>
  <Words>1118</Words>
  <Application>Microsoft Macintosh PowerPoint</Application>
  <PresentationFormat>Widescreen</PresentationFormat>
  <Paragraphs>208</Paragraphs>
  <Slides>36</Slides>
  <Notes>17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0" baseType="lpstr">
      <vt:lpstr>Arial</vt:lpstr>
      <vt:lpstr>Calibri</vt:lpstr>
      <vt:lpstr>Wingdings</vt:lpstr>
      <vt:lpstr>SoftUni</vt:lpstr>
      <vt:lpstr>Създаване и управление на съдържание в WordPress</vt:lpstr>
      <vt:lpstr>Съдържание</vt:lpstr>
      <vt:lpstr>Съдържание в WordPress</vt:lpstr>
      <vt:lpstr>Съдържание в WordPress</vt:lpstr>
      <vt:lpstr>Страници</vt:lpstr>
      <vt:lpstr>Публикации</vt:lpstr>
      <vt:lpstr>Страница или публикация</vt:lpstr>
      <vt:lpstr>Блоков редактор</vt:lpstr>
      <vt:lpstr>Блоков редактор</vt:lpstr>
      <vt:lpstr>Основни блокове</vt:lpstr>
      <vt:lpstr>Работа с блокове – Пример</vt:lpstr>
      <vt:lpstr>Медийна библиотека</vt:lpstr>
      <vt:lpstr>Медийна библиотека</vt:lpstr>
      <vt:lpstr>Медийна библиотека – Пример (1)</vt:lpstr>
      <vt:lpstr>Медийна библиотека – Пример (2)</vt:lpstr>
      <vt:lpstr>Организиране на съдържанието</vt:lpstr>
      <vt:lpstr>Категории</vt:lpstr>
      <vt:lpstr>Етикети</vt:lpstr>
      <vt:lpstr>Категории и етикети</vt:lpstr>
      <vt:lpstr>Управление на съдържанието</vt:lpstr>
      <vt:lpstr>Управление на съдържанието</vt:lpstr>
      <vt:lpstr>Пример</vt:lpstr>
      <vt:lpstr>Добавяне на съдържание в WordPress сайт</vt:lpstr>
      <vt:lpstr>Създаване на страница (1)</vt:lpstr>
      <vt:lpstr>Създаване на страница (2)</vt:lpstr>
      <vt:lpstr>Създаване на страница (3)</vt:lpstr>
      <vt:lpstr>Създаване на страница (4)</vt:lpstr>
      <vt:lpstr>Създаване на категория</vt:lpstr>
      <vt:lpstr>Създаване на публикация (1)</vt:lpstr>
      <vt:lpstr>Създаване на публикация (2)</vt:lpstr>
      <vt:lpstr>Създаване на публикация (3)</vt:lpstr>
      <vt:lpstr>Създаване на публикация (3)</vt:lpstr>
      <vt:lpstr>Резултат</vt:lpstr>
      <vt:lpstr>Обобщение</vt:lpstr>
      <vt:lpstr>Въпроси?</vt:lpstr>
      <vt:lpstr>Лиценз</vt:lpstr>
    </vt:vector>
  </TitlesOfParts>
  <Manager/>
  <Company>BG-IT-Edu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Създаване и управление на съдържание в WordPress</dc:title>
  <dc:subject>Модул 3: Информационни технологии</dc:subject>
  <dc:creator>BG-IT-Edu</dc:creator>
  <cp:keywords>programming; training; course</cp:keywords>
  <dc:description>Open Programming and IT Courseware for IT Teachers (BG-IT-Edu): https://github.com/BG-IT-Edu
With the kind support of SoftUni: https://softuni.bg</dc:description>
  <cp:lastModifiedBy>Mirela Damyanova</cp:lastModifiedBy>
  <cp:revision>472</cp:revision>
  <dcterms:created xsi:type="dcterms:W3CDTF">2018-05-23T13:08:44Z</dcterms:created>
  <dcterms:modified xsi:type="dcterms:W3CDTF">2026-09-04T12:10:20Z</dcterms:modified>
  <cp:category/>
</cp:coreProperties>
</file>