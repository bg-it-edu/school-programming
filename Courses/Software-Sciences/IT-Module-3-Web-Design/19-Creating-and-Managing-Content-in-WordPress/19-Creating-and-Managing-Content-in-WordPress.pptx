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2"/>
  </p:notesMasterIdLst>
  <p:handoutMasterIdLst>
    <p:handoutMasterId r:id="rId33"/>
  </p:handoutMasterIdLst>
  <p:sldIdLst>
    <p:sldId id="503" r:id="rId2"/>
    <p:sldId id="276" r:id="rId3"/>
    <p:sldId id="353" r:id="rId4"/>
    <p:sldId id="497" r:id="rId5"/>
    <p:sldId id="905" r:id="rId6"/>
    <p:sldId id="906" r:id="rId7"/>
    <p:sldId id="907" r:id="rId8"/>
    <p:sldId id="610" r:id="rId9"/>
    <p:sldId id="902" r:id="rId10"/>
    <p:sldId id="908" r:id="rId11"/>
    <p:sldId id="909" r:id="rId12"/>
    <p:sldId id="616" r:id="rId13"/>
    <p:sldId id="874" r:id="rId14"/>
    <p:sldId id="910" r:id="rId15"/>
    <p:sldId id="838" r:id="rId16"/>
    <p:sldId id="844" r:id="rId17"/>
    <p:sldId id="911" r:id="rId18"/>
    <p:sldId id="912" r:id="rId19"/>
    <p:sldId id="903" r:id="rId20"/>
    <p:sldId id="917" r:id="rId21"/>
    <p:sldId id="654" r:id="rId22"/>
    <p:sldId id="881" r:id="rId23"/>
    <p:sldId id="913" r:id="rId24"/>
    <p:sldId id="914" r:id="rId25"/>
    <p:sldId id="915" r:id="rId26"/>
    <p:sldId id="916" r:id="rId27"/>
    <p:sldId id="896" r:id="rId28"/>
    <p:sldId id="633" r:id="rId29"/>
    <p:sldId id="504" r:id="rId30"/>
    <p:sldId id="50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Съдържание в WordPress" id="{66DCFE1F-60FD-44F2-BE82-706DDBC14898}">
          <p14:sldIdLst>
            <p14:sldId id="353"/>
            <p14:sldId id="497"/>
            <p14:sldId id="905"/>
            <p14:sldId id="906"/>
            <p14:sldId id="907"/>
          </p14:sldIdLst>
        </p14:section>
        <p14:section name="Блоков редактор" id="{EB44CA50-B176-0C4C-B0D0-5459023C7783}">
          <p14:sldIdLst>
            <p14:sldId id="610"/>
            <p14:sldId id="902"/>
            <p14:sldId id="908"/>
            <p14:sldId id="909"/>
          </p14:sldIdLst>
        </p14:section>
        <p14:section name="Медийна библиотека" id="{2B3E1915-4BA2-9447-BC07-AE658EE7EC35}">
          <p14:sldIdLst>
            <p14:sldId id="616"/>
            <p14:sldId id="874"/>
            <p14:sldId id="910"/>
          </p14:sldIdLst>
        </p14:section>
        <p14:section name="Организиране на съдържанието" id="{23E1C1D3-C190-EF49-BBD0-D54C17EFBBA7}">
          <p14:sldIdLst>
            <p14:sldId id="838"/>
            <p14:sldId id="844"/>
            <p14:sldId id="911"/>
            <p14:sldId id="912"/>
          </p14:sldIdLst>
        </p14:section>
        <p14:section name="Управление на съдържанието" id="{B1587002-C672-4C49-B7C4-ACBD0305C198}">
          <p14:sldIdLst>
            <p14:sldId id="903"/>
            <p14:sldId id="917"/>
          </p14:sldIdLst>
        </p14:section>
        <p14:section name="Демо" id="{276EAB92-AF41-DD42-AFD3-D1ABB239E1A7}">
          <p14:sldIdLst>
            <p14:sldId id="654"/>
            <p14:sldId id="881"/>
            <p14:sldId id="913"/>
            <p14:sldId id="914"/>
            <p14:sldId id="915"/>
            <p14:sldId id="916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06" autoAdjust="0"/>
    <p:restoredTop sz="95340" autoAdjust="0"/>
  </p:normalViewPr>
  <p:slideViewPr>
    <p:cSldViewPr showGuides="1">
      <p:cViewPr varScale="1">
        <p:scale>
          <a:sx n="121" d="100"/>
          <a:sy n="121" d="100"/>
        </p:scale>
        <p:origin x="168" y="256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5.08.26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767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805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Страници, публикации и медийно съдържание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3600" dirty="0"/>
              <a:t>Създаване и управление на съдържание в </a:t>
            </a:r>
            <a:r>
              <a:rPr lang="en-US" sz="3600" dirty="0"/>
              <a:t>WordPress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6CD621B5-05FF-FE3C-F42B-1C47E522CD7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16" b="1871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62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Съдържание в </a:t>
            </a:r>
            <a:r>
              <a:rPr lang="en-GB" sz="3800" b="1" dirty="0">
                <a:solidFill>
                  <a:schemeClr val="bg1"/>
                </a:solidFill>
              </a:rPr>
              <a:t>WordPress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Страници </a:t>
            </a:r>
            <a:r>
              <a:rPr lang="bg-BG" sz="3600" dirty="0"/>
              <a:t>и</a:t>
            </a:r>
            <a:r>
              <a:rPr lang="bg-BG" sz="3600" b="1" dirty="0"/>
              <a:t> публикации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Блоков редактор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блокове</a:t>
            </a:r>
            <a:r>
              <a:rPr lang="bg-BG" sz="3600" dirty="0"/>
              <a:t> и </a:t>
            </a:r>
            <a:r>
              <a:rPr lang="bg-BG" sz="3600" b="1" dirty="0"/>
              <a:t>работа </a:t>
            </a:r>
            <a:r>
              <a:rPr lang="bg-BG" sz="3600" dirty="0"/>
              <a:t>с</a:t>
            </a:r>
            <a:r>
              <a:rPr lang="bg-BG" sz="3600" b="1" dirty="0"/>
              <a:t> блокове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Медийна библиотека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Изображения </a:t>
            </a:r>
            <a:r>
              <a:rPr lang="bg-BG" sz="3600" dirty="0"/>
              <a:t>и</a:t>
            </a:r>
            <a:r>
              <a:rPr lang="bg-BG" sz="3600" b="1" dirty="0"/>
              <a:t> файлове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Организиране на съдържанието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Категории </a:t>
            </a:r>
            <a:r>
              <a:rPr lang="bg-BG" sz="3600" dirty="0"/>
              <a:t>и</a:t>
            </a:r>
            <a:r>
              <a:rPr lang="bg-BG" sz="3600" b="1" dirty="0"/>
              <a:t> етикети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Управление на съдържанието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Чернова</a:t>
            </a:r>
            <a:r>
              <a:rPr lang="bg-BG" sz="3600" dirty="0"/>
              <a:t>,</a:t>
            </a:r>
            <a:r>
              <a:rPr lang="bg-BG" sz="3600" b="1" dirty="0"/>
              <a:t> преглед</a:t>
            </a:r>
            <a:r>
              <a:rPr lang="bg-BG" sz="3600" dirty="0"/>
              <a:t>,</a:t>
            </a:r>
            <a:r>
              <a:rPr lang="bg-BG" sz="3600" b="1" dirty="0"/>
              <a:t> публикуване</a:t>
            </a:r>
            <a:r>
              <a:rPr lang="bg-BG" sz="3600" dirty="0"/>
              <a:t>,</a:t>
            </a:r>
            <a:r>
              <a:rPr lang="bg-BG" sz="3600" b="1" dirty="0"/>
              <a:t> актуализиране </a:t>
            </a:r>
            <a:r>
              <a:rPr lang="bg-BG" sz="3600" dirty="0"/>
              <a:t>и </a:t>
            </a:r>
            <a:r>
              <a:rPr lang="bg-BG" sz="3600" b="1" dirty="0"/>
              <a:t>премахване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Добавяне на съдържание в </a:t>
            </a:r>
            <a:r>
              <a:rPr lang="en-US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Страници и публикации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Съдържание в </a:t>
            </a:r>
            <a:r>
              <a:rPr lang="en-US" sz="6000" dirty="0"/>
              <a:t>WordPress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A0D4D2-52A7-BFBA-11DE-318AB6A4B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0100" y="1179000"/>
            <a:ext cx="4291800" cy="286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Създава</a:t>
            </a:r>
            <a:r>
              <a:rPr lang="bg-BG" sz="3000" dirty="0"/>
              <a:t> </a:t>
            </a:r>
            <a:r>
              <a:rPr lang="bg-BG" sz="3000" b="1" dirty="0"/>
              <a:t>се</a:t>
            </a:r>
            <a:r>
              <a:rPr lang="bg-BG" sz="3000" dirty="0"/>
              <a:t> чрез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 панел</a:t>
            </a:r>
          </a:p>
          <a:p>
            <a:r>
              <a:rPr lang="bg-BG" sz="3000" b="1" dirty="0"/>
              <a:t>Организира се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страници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</a:p>
          <a:p>
            <a:r>
              <a:rPr lang="bg-BG" sz="3000" b="1" dirty="0"/>
              <a:t>Показва се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публичната част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Може да се </a:t>
            </a:r>
            <a:r>
              <a:rPr lang="bg-BG" sz="3000" b="1" dirty="0">
                <a:solidFill>
                  <a:schemeClr val="bg1"/>
                </a:solidFill>
              </a:rPr>
              <a:t>редактира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обновява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премахва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Съдържание в </a:t>
            </a:r>
            <a:r>
              <a:rPr lang="en-US" dirty="0"/>
              <a:t>WordPress</a:t>
            </a:r>
          </a:p>
        </p:txBody>
      </p:sp>
      <p:pic>
        <p:nvPicPr>
          <p:cNvPr id="2" name="Image 1" descr="/mnt/data/wide_clean_vector_illustration_of_a_website_conten.png">
            <a:extLst>
              <a:ext uri="{FF2B5EF4-FFF2-40B4-BE49-F238E27FC236}">
                <a16:creationId xmlns:a16="http://schemas.microsoft.com/office/drawing/2014/main" id="{ED55CBE1-0B6D-8B05-3DB3-68EFDD750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540" y="3740346"/>
            <a:ext cx="5434920" cy="30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/mnt/data/wide_clean_flat_vector_illustration_on_a_white_bac.png">
            <a:extLst>
              <a:ext uri="{FF2B5EF4-FFF2-40B4-BE49-F238E27FC236}">
                <a16:creationId xmlns:a16="http://schemas.microsoft.com/office/drawing/2014/main" id="{1E3DFF65-66E0-170E-40CD-55EB032768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3693" r="49111"/>
          <a:stretch/>
        </p:blipFill>
        <p:spPr>
          <a:xfrm>
            <a:off x="6658857" y="1292353"/>
            <a:ext cx="5071315" cy="522914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E0B24E-E3A5-E47D-36B6-37867D2AF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0ED240-A441-4E08-1DDB-898A06C4DF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345598" cy="5528766"/>
          </a:xfrm>
        </p:spPr>
        <p:txBody>
          <a:bodyPr/>
          <a:lstStyle/>
          <a:p>
            <a:r>
              <a:rPr lang="bg-BG" b="1" dirty="0"/>
              <a:t>Съдържат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постоянна информация</a:t>
            </a:r>
          </a:p>
          <a:p>
            <a:r>
              <a:rPr lang="bg-BG" b="1" dirty="0"/>
              <a:t>Използват се </a:t>
            </a:r>
            <a:r>
              <a:rPr lang="bg-BG" dirty="0"/>
              <a:t>за </a:t>
            </a:r>
            <a:r>
              <a:rPr lang="bg-BG" b="1" dirty="0">
                <a:solidFill>
                  <a:schemeClr val="bg1"/>
                </a:solidFill>
              </a:rPr>
              <a:t>основните раздели </a:t>
            </a:r>
            <a:r>
              <a:rPr lang="bg-BG" dirty="0"/>
              <a:t>на </a:t>
            </a:r>
            <a:r>
              <a:rPr lang="bg-BG" b="1" dirty="0"/>
              <a:t>уеб сайта</a:t>
            </a:r>
          </a:p>
          <a:p>
            <a:r>
              <a:rPr lang="bg-BG" dirty="0"/>
              <a:t>Могат да бъдат </a:t>
            </a:r>
            <a:r>
              <a:rPr lang="bg-BG" b="1" dirty="0"/>
              <a:t>включени</a:t>
            </a:r>
            <a:r>
              <a:rPr lang="bg-BG" dirty="0"/>
              <a:t> в </a:t>
            </a:r>
            <a:r>
              <a:rPr lang="bg-BG" b="1" dirty="0">
                <a:solidFill>
                  <a:schemeClr val="bg1"/>
                </a:solidFill>
              </a:rPr>
              <a:t>навигацията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C3FC80-2014-17A0-203F-258B82F4F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Страници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0346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 descr="/mnt/data/wide_clean_flat_vector_illustration_on_a_white_bac.png">
            <a:extLst>
              <a:ext uri="{FF2B5EF4-FFF2-40B4-BE49-F238E27FC236}">
                <a16:creationId xmlns:a16="http://schemas.microsoft.com/office/drawing/2014/main" id="{056F56AB-6E6F-D4E7-4CCE-FFD9B105CC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393" r="-112"/>
          <a:stretch/>
        </p:blipFill>
        <p:spPr>
          <a:xfrm>
            <a:off x="7072051" y="1100688"/>
            <a:ext cx="4793944" cy="553805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2964C-BFCA-4414-4656-1F645A5958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9BE6E-22CC-8D97-C40A-D15D3E0FE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030598" cy="5528766"/>
          </a:xfrm>
        </p:spPr>
        <p:txBody>
          <a:bodyPr/>
          <a:lstStyle/>
          <a:p>
            <a:r>
              <a:rPr lang="bg-BG" b="1" dirty="0"/>
              <a:t>Представят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новини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актуална информация</a:t>
            </a:r>
          </a:p>
          <a:p>
            <a:r>
              <a:rPr lang="bg-BG" b="1" dirty="0"/>
              <a:t>Могат</a:t>
            </a:r>
            <a:r>
              <a:rPr lang="bg-BG" dirty="0"/>
              <a:t> </a:t>
            </a:r>
            <a:r>
              <a:rPr lang="bg-BG" b="1" dirty="0"/>
              <a:t>да имат </a:t>
            </a:r>
            <a:r>
              <a:rPr lang="bg-BG" b="1" dirty="0">
                <a:solidFill>
                  <a:schemeClr val="bg1"/>
                </a:solidFill>
              </a:rPr>
              <a:t>основно изображение</a:t>
            </a:r>
          </a:p>
          <a:p>
            <a:r>
              <a:rPr lang="bg-BG" b="1" dirty="0"/>
              <a:t>Организират се </a:t>
            </a:r>
            <a:r>
              <a:rPr lang="bg-BG" dirty="0"/>
              <a:t>чрез </a:t>
            </a:r>
            <a:r>
              <a:rPr lang="bg-BG" b="1" dirty="0">
                <a:solidFill>
                  <a:schemeClr val="bg1"/>
                </a:solidFill>
              </a:rPr>
              <a:t>категории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етикети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F18B46-D8E2-1229-38FD-179BFCB15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Публикации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2708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D0A271-6BC2-40C5-3BB2-55A8DE67D2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428BED-EC6D-8B12-D560-54E0131DE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81000" y="1121143"/>
            <a:ext cx="9814234" cy="5546589"/>
          </a:xfrm>
        </p:spPr>
        <p:txBody>
          <a:bodyPr/>
          <a:lstStyle/>
          <a:p>
            <a:r>
              <a:rPr lang="bg-BG" b="1" dirty="0"/>
              <a:t>Страницата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не зависи </a:t>
            </a:r>
            <a:r>
              <a:rPr lang="bg-BG" dirty="0"/>
              <a:t>от </a:t>
            </a:r>
            <a:r>
              <a:rPr lang="bg-BG" b="1" dirty="0"/>
              <a:t>дати</a:t>
            </a:r>
          </a:p>
          <a:p>
            <a:r>
              <a:rPr lang="bg-BG" b="1" dirty="0"/>
              <a:t>Публикацията </a:t>
            </a:r>
            <a:r>
              <a:rPr lang="bg-BG" b="1" dirty="0">
                <a:solidFill>
                  <a:schemeClr val="bg1"/>
                </a:solidFill>
              </a:rPr>
              <a:t>зависи</a:t>
            </a:r>
            <a:r>
              <a:rPr lang="bg-BG" dirty="0"/>
              <a:t> от </a:t>
            </a:r>
            <a:r>
              <a:rPr lang="bg-BG" b="1" dirty="0"/>
              <a:t>дата на публикуване</a:t>
            </a:r>
          </a:p>
          <a:p>
            <a:r>
              <a:rPr lang="bg-BG" b="1" dirty="0"/>
              <a:t>Страницата</a:t>
            </a:r>
            <a:r>
              <a:rPr lang="bg-BG" dirty="0"/>
              <a:t> изгражда </a:t>
            </a:r>
            <a:r>
              <a:rPr lang="bg-BG" b="1" dirty="0">
                <a:solidFill>
                  <a:schemeClr val="bg1"/>
                </a:solidFill>
              </a:rPr>
              <a:t>структурата</a:t>
            </a:r>
            <a:r>
              <a:rPr lang="bg-BG" dirty="0"/>
              <a:t> на </a:t>
            </a:r>
            <a:r>
              <a:rPr lang="bg-BG" b="1" dirty="0"/>
              <a:t>уеб сайта</a:t>
            </a:r>
          </a:p>
          <a:p>
            <a:r>
              <a:rPr lang="bg-BG" b="1" dirty="0"/>
              <a:t>Публикацията</a:t>
            </a:r>
            <a:r>
              <a:rPr lang="bg-BG" dirty="0"/>
              <a:t> представя </a:t>
            </a:r>
            <a:r>
              <a:rPr lang="bg-BG" b="1" dirty="0">
                <a:solidFill>
                  <a:schemeClr val="bg1"/>
                </a:solidFill>
              </a:rPr>
              <a:t>новостите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C240008-4910-238E-0FC7-F7C8A315C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Страница или публикация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834331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Основни блокове и работа с блокове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Блоков редактор</a:t>
            </a:r>
            <a:endParaRPr lang="en-US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9D0CC0-B719-33C0-8BEC-452788856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000" y="1385091"/>
            <a:ext cx="3875864" cy="258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Съдържанието</a:t>
            </a:r>
            <a:r>
              <a:rPr lang="bg-BG" sz="3000" dirty="0"/>
              <a:t> се </a:t>
            </a:r>
            <a:r>
              <a:rPr lang="bg-BG" sz="3000" b="1" dirty="0"/>
              <a:t>изгражда</a:t>
            </a:r>
            <a:r>
              <a:rPr lang="bg-BG" sz="3000" dirty="0"/>
              <a:t> от </a:t>
            </a:r>
            <a:r>
              <a:rPr lang="bg-BG" sz="3000" b="1" dirty="0">
                <a:solidFill>
                  <a:schemeClr val="bg1"/>
                </a:solidFill>
              </a:rPr>
              <a:t>отделни блокове</a:t>
            </a:r>
          </a:p>
          <a:p>
            <a:r>
              <a:rPr lang="bg-BG" sz="3000" b="1" dirty="0"/>
              <a:t>Всеки блок </a:t>
            </a:r>
            <a:r>
              <a:rPr lang="bg-BG" sz="3000" dirty="0"/>
              <a:t>съдържа </a:t>
            </a:r>
            <a:r>
              <a:rPr lang="bg-BG" sz="3000" b="1" dirty="0">
                <a:solidFill>
                  <a:schemeClr val="bg1"/>
                </a:solidFill>
              </a:rPr>
              <a:t>определен елемент </a:t>
            </a:r>
            <a:r>
              <a:rPr lang="bg-BG" sz="3000" dirty="0"/>
              <a:t>със </a:t>
            </a:r>
            <a:r>
              <a:rPr lang="bg-BG" sz="3000" b="1" dirty="0">
                <a:solidFill>
                  <a:schemeClr val="bg1"/>
                </a:solidFill>
              </a:rPr>
              <a:t>собствени настройки</a:t>
            </a:r>
          </a:p>
          <a:p>
            <a:r>
              <a:rPr lang="bg-BG" sz="3000" b="1" dirty="0"/>
              <a:t>Блоковете</a:t>
            </a:r>
            <a:r>
              <a:rPr lang="bg-BG" sz="3000" dirty="0"/>
              <a:t> могат да се </a:t>
            </a:r>
            <a:r>
              <a:rPr lang="bg-BG" sz="3000" b="1" dirty="0">
                <a:solidFill>
                  <a:schemeClr val="bg1"/>
                </a:solidFill>
              </a:rPr>
              <a:t>добавят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подреждат</a:t>
            </a:r>
          </a:p>
          <a:p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Блоков редактор</a:t>
            </a:r>
            <a:endParaRPr lang="en-US" dirty="0"/>
          </a:p>
        </p:txBody>
      </p:sp>
      <p:pic>
        <p:nvPicPr>
          <p:cNvPr id="2" name="Image 1" descr="/mnt/data/a_clean_flat_vector_illustration_of_a_website_page.png">
            <a:extLst>
              <a:ext uri="{FF2B5EF4-FFF2-40B4-BE49-F238E27FC236}">
                <a16:creationId xmlns:a16="http://schemas.microsoft.com/office/drawing/2014/main" id="{27DF31EE-4EC8-7072-7D1D-74635E848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500" y="2947385"/>
            <a:ext cx="6885000" cy="387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BE47EB-A66F-CF84-AEAF-10BF462C1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FCD933-70AE-A1C3-96E9-A45A3CCC8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Заглавие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Параграф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Списък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Изображение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Бутон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И др.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A8CA9-DE91-395A-6951-1BB7C4659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блокове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A978F0-A9BE-9F8F-5ACF-61728D8E5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6262" y="1412613"/>
            <a:ext cx="2038546" cy="226012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350D1B-1BEF-FDF8-5D20-5EF94B991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6032" y="4132893"/>
            <a:ext cx="2038546" cy="19646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4A8E6D-335B-4D5D-BCE2-01D4EAA83F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6131" y="1560333"/>
            <a:ext cx="2038546" cy="19646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BC9CC-F874-E742-7C8F-A5359FFAF4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6131" y="3885461"/>
            <a:ext cx="2038546" cy="245955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F2CEF04-DAAE-6B6A-84AF-7D6AD840E8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6000" y="1656351"/>
            <a:ext cx="2038546" cy="177264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A05578-0A66-66C9-99FB-18A846E19C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6000" y="4156910"/>
            <a:ext cx="2038546" cy="191298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20255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80BA48-EC1C-2A61-3372-326078C2CB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6E0E5-3D36-4D72-02C6-801914BF55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Добавяне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Редактиране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Преместване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Настройване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98C0C0-F311-B56C-2FE9-6267F470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Работа с блокове -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E72D84-1C21-8DDB-08D7-97ABB8404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6000" y="5471835"/>
            <a:ext cx="3376704" cy="105522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410EBD-1F86-2905-C812-BDFEA99816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000" y="2377554"/>
            <a:ext cx="3571408" cy="289644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2A99DA-2104-A32A-2C20-B2F9682C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1000" y="1233186"/>
            <a:ext cx="3018152" cy="93164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2499DA-9042-F69A-350E-252644242C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000" y="3282549"/>
            <a:ext cx="3222206" cy="280950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F9E1D7-27F3-0900-5722-DD0DDED998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1000" y="1237960"/>
            <a:ext cx="4450925" cy="182209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81275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Изображения и файлове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Медийна библиотека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B04659-5912-35CC-5085-D41D564B7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842" y="1089000"/>
            <a:ext cx="4514315" cy="300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b="1" dirty="0"/>
              <a:t>Съхранява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изображения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  <a:r>
              <a:rPr lang="bg-BG" sz="3000" dirty="0"/>
              <a:t> и </a:t>
            </a:r>
            <a:r>
              <a:rPr lang="bg-BG" sz="3000" b="1" dirty="0"/>
              <a:t>тяхната информация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Позволява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повторното им използване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Достъпва се </a:t>
            </a:r>
            <a:r>
              <a:rPr lang="bg-BG" sz="3000" dirty="0"/>
              <a:t>от </a:t>
            </a:r>
            <a:r>
              <a:rPr lang="bg-BG" sz="3000" b="1" dirty="0">
                <a:solidFill>
                  <a:schemeClr val="bg1"/>
                </a:solidFill>
              </a:rPr>
              <a:t>менюто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en-US" sz="3000" b="1" dirty="0">
                <a:solidFill>
                  <a:schemeClr val="bg1"/>
                </a:solidFill>
              </a:rPr>
              <a:t>"</a:t>
            </a:r>
            <a:r>
              <a:rPr lang="bg-BG" sz="3000" b="1" dirty="0">
                <a:solidFill>
                  <a:schemeClr val="bg1"/>
                </a:solidFill>
              </a:rPr>
              <a:t>Медия</a:t>
            </a:r>
            <a:r>
              <a:rPr lang="en-US" sz="3000" b="1" dirty="0">
                <a:solidFill>
                  <a:schemeClr val="bg1"/>
                </a:solidFill>
              </a:rPr>
              <a:t>"</a:t>
            </a: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Медийна библиотека</a:t>
            </a:r>
            <a:endParaRPr lang="en-BG" dirty="0"/>
          </a:p>
        </p:txBody>
      </p:sp>
      <p:pic>
        <p:nvPicPr>
          <p:cNvPr id="3" name="Image 1" descr="/mnt/data/a_clean_flat_vector_illustration_of_a_media_librar.png">
            <a:extLst>
              <a:ext uri="{FF2B5EF4-FFF2-40B4-BE49-F238E27FC236}">
                <a16:creationId xmlns:a16="http://schemas.microsoft.com/office/drawing/2014/main" id="{430D50A0-87F5-F437-9498-A1152672F1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495" r="2189" b="858"/>
          <a:stretch/>
        </p:blipFill>
        <p:spPr>
          <a:xfrm>
            <a:off x="2878500" y="2974431"/>
            <a:ext cx="6435000" cy="375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Добавяме блок изображение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Качване на файл или избор от библиотеката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Добавяне на алтернативен текст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Настройване на размер и подравняване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Медийна библиотека - пример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591642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Категории и етикети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Организиране на съдържанието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20CD78-862A-A0B0-00FF-F9B661F0FF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000" y="1224000"/>
            <a:ext cx="4404300" cy="293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Категории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Групират публикации </a:t>
            </a:r>
            <a:r>
              <a:rPr lang="bg-BG" dirty="0"/>
              <a:t>с </a:t>
            </a:r>
            <a:r>
              <a:rPr lang="bg-BG" b="1" dirty="0"/>
              <a:t>обща тема</a:t>
            </a:r>
          </a:p>
          <a:p>
            <a:pPr lvl="1"/>
            <a:r>
              <a:rPr lang="bg-BG" b="1" dirty="0"/>
              <a:t>Категориите</a:t>
            </a:r>
            <a:r>
              <a:rPr lang="bg-BG" dirty="0"/>
              <a:t> могат да имат </a:t>
            </a:r>
            <a:r>
              <a:rPr lang="bg-BG" b="1" dirty="0">
                <a:solidFill>
                  <a:schemeClr val="bg1"/>
                </a:solidFill>
              </a:rPr>
              <a:t>подкатегории</a:t>
            </a:r>
          </a:p>
          <a:p>
            <a:r>
              <a:rPr lang="bg-BG" b="1" dirty="0">
                <a:solidFill>
                  <a:schemeClr val="bg1"/>
                </a:solidFill>
              </a:rPr>
              <a:t>Улесняват намирането </a:t>
            </a:r>
            <a:r>
              <a:rPr lang="bg-BG" dirty="0"/>
              <a:t>на </a:t>
            </a:r>
            <a:r>
              <a:rPr lang="bg-BG" b="1" dirty="0"/>
              <a:t>съдържание</a:t>
            </a:r>
            <a:endParaRPr lang="en-BG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17C1D4-B3C4-D05A-B2BE-5DD9FA47C3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88" b="10980"/>
          <a:stretch/>
        </p:blipFill>
        <p:spPr>
          <a:xfrm>
            <a:off x="3238500" y="3293735"/>
            <a:ext cx="5715000" cy="3361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631F8E-008F-8C21-0F06-1CBA3B0BA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90B4F-6629-F80C-1E44-E1196B15A9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Описват по-конкретно </a:t>
            </a:r>
            <a:r>
              <a:rPr lang="bg-BG" b="1" dirty="0"/>
              <a:t>съдържанието</a:t>
            </a:r>
          </a:p>
          <a:p>
            <a:r>
              <a:rPr lang="bg-BG" b="1" dirty="0"/>
              <a:t>Представляват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ключови думи</a:t>
            </a:r>
          </a:p>
          <a:p>
            <a:r>
              <a:rPr lang="bg-BG" b="1" dirty="0"/>
              <a:t>Една публикация </a:t>
            </a:r>
            <a:r>
              <a:rPr lang="bg-BG" dirty="0"/>
              <a:t>може да има </a:t>
            </a:r>
            <a:r>
              <a:rPr lang="bg-BG" b="1" dirty="0">
                <a:solidFill>
                  <a:schemeClr val="bg1"/>
                </a:solidFill>
              </a:rPr>
              <a:t>няколко етикета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DA7A21-276A-4C5D-49E7-DD68F50A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Етикети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B8D82D-F3F5-705E-7533-E8BC2497C68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0" b="8679"/>
          <a:stretch/>
        </p:blipFill>
        <p:spPr>
          <a:xfrm>
            <a:off x="3287163" y="3292441"/>
            <a:ext cx="5617674" cy="3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570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FDFC37E-E551-85B5-E5BD-800E38469C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4472" y="2664926"/>
            <a:ext cx="5511143" cy="4139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7B4FDA-2660-A9B1-279E-B46280CD24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1CA7E5-F462-8E0B-41EE-3693923B5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01000" y="1121143"/>
            <a:ext cx="9994234" cy="5546589"/>
          </a:xfrm>
        </p:spPr>
        <p:txBody>
          <a:bodyPr>
            <a:normAutofit/>
          </a:bodyPr>
          <a:lstStyle/>
          <a:p>
            <a:r>
              <a:rPr lang="bg-BG" sz="2800" b="1" dirty="0"/>
              <a:t>Категориите</a:t>
            </a:r>
            <a:r>
              <a:rPr lang="bg-BG" sz="2800" dirty="0"/>
              <a:t> се използват </a:t>
            </a:r>
            <a:r>
              <a:rPr lang="bg-BG" sz="2800" b="1" dirty="0">
                <a:solidFill>
                  <a:schemeClr val="bg1"/>
                </a:solidFill>
              </a:rPr>
              <a:t>за основна организация</a:t>
            </a:r>
          </a:p>
          <a:p>
            <a:r>
              <a:rPr lang="bg-BG" sz="2800" b="1" dirty="0"/>
              <a:t>Етикетите</a:t>
            </a:r>
            <a:r>
              <a:rPr lang="bg-BG" sz="2800" dirty="0"/>
              <a:t> се използват за </a:t>
            </a:r>
            <a:r>
              <a:rPr lang="bg-BG" sz="2800" b="1" dirty="0">
                <a:solidFill>
                  <a:schemeClr val="bg1"/>
                </a:solidFill>
              </a:rPr>
              <a:t>допълнително описание</a:t>
            </a:r>
          </a:p>
          <a:p>
            <a:r>
              <a:rPr lang="bg-BG" sz="2800" b="1" dirty="0"/>
              <a:t>Категориите</a:t>
            </a:r>
            <a:r>
              <a:rPr lang="bg-BG" sz="2800" dirty="0"/>
              <a:t> могат да бъдат </a:t>
            </a:r>
            <a:r>
              <a:rPr lang="bg-BG" sz="2800" b="1" dirty="0">
                <a:solidFill>
                  <a:schemeClr val="bg1"/>
                </a:solidFill>
              </a:rPr>
              <a:t>йерархични</a:t>
            </a:r>
          </a:p>
          <a:p>
            <a:r>
              <a:rPr lang="bg-BG" sz="2800" b="1" dirty="0"/>
              <a:t>Етикетите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нямат йерархия</a:t>
            </a:r>
            <a:endParaRPr lang="en-BG" sz="28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0BF1F8-6B07-6854-85C4-9727CD8B4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Категории и етикети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436455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Чернова, преглед, публикуване и редактиране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Управление на съдържанието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12829F-9F0D-7E70-5933-42BB775BC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00" y="1385091"/>
            <a:ext cx="3577500" cy="238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79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Управление на съдържанието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>
            <a:normAutofit fontScale="92500" lnSpcReduction="10000"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Чернова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запазва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без да се публикува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Преглед</a:t>
            </a:r>
          </a:p>
          <a:p>
            <a:pPr lvl="1"/>
            <a:r>
              <a:rPr lang="bg-BG" sz="2800" b="1" dirty="0"/>
              <a:t>Показва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как ще изглежда </a:t>
            </a:r>
            <a:r>
              <a:rPr lang="bg-BG" sz="2800" b="1" dirty="0"/>
              <a:t>съдържанието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става </a:t>
            </a:r>
            <a:r>
              <a:rPr lang="bg-BG" sz="2800" b="1" dirty="0">
                <a:solidFill>
                  <a:schemeClr val="bg1"/>
                </a:solidFill>
              </a:rPr>
              <a:t>достъпно</a:t>
            </a:r>
            <a:r>
              <a:rPr lang="bg-BG" sz="2800" dirty="0"/>
              <a:t> в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Актуализиране</a:t>
            </a:r>
          </a:p>
          <a:p>
            <a:pPr lvl="1"/>
            <a:r>
              <a:rPr lang="bg-BG" sz="2800" dirty="0"/>
              <a:t>Направените </a:t>
            </a:r>
            <a:r>
              <a:rPr lang="bg-BG" sz="2800" b="1" dirty="0">
                <a:solidFill>
                  <a:schemeClr val="bg1"/>
                </a:solidFill>
              </a:rPr>
              <a:t>промени</a:t>
            </a:r>
            <a:r>
              <a:rPr lang="bg-BG" sz="2800" dirty="0"/>
              <a:t> се </a:t>
            </a:r>
            <a:r>
              <a:rPr lang="bg-BG" sz="2800" b="1" dirty="0"/>
              <a:t>запазват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премества</a:t>
            </a:r>
            <a:r>
              <a:rPr lang="bg-BG" sz="2800" dirty="0"/>
              <a:t> в </a:t>
            </a:r>
            <a:r>
              <a:rPr lang="bg-BG" sz="2800" b="1" dirty="0">
                <a:solidFill>
                  <a:schemeClr val="bg1"/>
                </a:solidFill>
              </a:rPr>
              <a:t>кошчето</a:t>
            </a:r>
            <a:endParaRPr lang="en-BG" sz="2800" b="1" dirty="0">
              <a:solidFill>
                <a:schemeClr val="bg1"/>
              </a:solidFill>
            </a:endParaRPr>
          </a:p>
          <a:p>
            <a:pPr lvl="1"/>
            <a:endParaRPr lang="bg-BG" sz="2800" b="1" dirty="0"/>
          </a:p>
        </p:txBody>
      </p:sp>
      <p:pic>
        <p:nvPicPr>
          <p:cNvPr id="2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BE591DE7-75D2-7053-6553-87D147F927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247" r="76482" b="25715"/>
          <a:stretch/>
        </p:blipFill>
        <p:spPr>
          <a:xfrm>
            <a:off x="10101000" y="1196125"/>
            <a:ext cx="900000" cy="1142308"/>
          </a:xfrm>
          <a:prstGeom prst="rect">
            <a:avLst/>
          </a:prstGeom>
        </p:spPr>
      </p:pic>
      <p:pic>
        <p:nvPicPr>
          <p:cNvPr id="3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CDEEFAEE-E220-6779-8DF5-0378FB4BD0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864" t="32565" r="58140" b="30468"/>
          <a:stretch/>
        </p:blipFill>
        <p:spPr>
          <a:xfrm>
            <a:off x="10101000" y="2355314"/>
            <a:ext cx="945000" cy="1035001"/>
          </a:xfrm>
          <a:prstGeom prst="rect">
            <a:avLst/>
          </a:prstGeom>
        </p:spPr>
      </p:pic>
      <p:pic>
        <p:nvPicPr>
          <p:cNvPr id="5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63EE31F3-90F7-A200-48BE-781D0DD8E8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608" t="35876" r="39396" b="35195"/>
          <a:stretch/>
        </p:blipFill>
        <p:spPr>
          <a:xfrm>
            <a:off x="10078500" y="3390315"/>
            <a:ext cx="945000" cy="810001"/>
          </a:xfrm>
          <a:prstGeom prst="rect">
            <a:avLst/>
          </a:prstGeom>
        </p:spPr>
      </p:pic>
      <p:pic>
        <p:nvPicPr>
          <p:cNvPr id="6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B7593817-007D-F80C-C962-84F1ED1EC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1978" t="33488" r="19026" b="32500"/>
          <a:stretch/>
        </p:blipFill>
        <p:spPr>
          <a:xfrm>
            <a:off x="10110762" y="4321646"/>
            <a:ext cx="945000" cy="952354"/>
          </a:xfrm>
          <a:prstGeom prst="rect">
            <a:avLst/>
          </a:prstGeom>
        </p:spPr>
      </p:pic>
      <p:pic>
        <p:nvPicPr>
          <p:cNvPr id="7" name="Image 1" descr="/mnt/data/wide_clean_vector_illustration_flat_ui_icon_scen.png">
            <a:extLst>
              <a:ext uri="{FF2B5EF4-FFF2-40B4-BE49-F238E27FC236}">
                <a16:creationId xmlns:a16="http://schemas.microsoft.com/office/drawing/2014/main" id="{B90FC5A0-70D6-9238-9F4A-93A525100D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1260" t="31063" r="-708" b="30591"/>
          <a:stretch/>
        </p:blipFill>
        <p:spPr>
          <a:xfrm>
            <a:off x="10144235" y="5320822"/>
            <a:ext cx="967500" cy="1073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51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Добавяне на съдържание в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E5B6DE-9478-4D98-9EF5-142A73132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250" y="1317742"/>
            <a:ext cx="3847500" cy="256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Нека </a:t>
            </a:r>
            <a:r>
              <a:rPr lang="bg-BG" sz="3200" b="1" dirty="0">
                <a:solidFill>
                  <a:schemeClr val="bg1"/>
                </a:solidFill>
              </a:rPr>
              <a:t>добавим съдържание </a:t>
            </a:r>
            <a:r>
              <a:rPr lang="bg-BG" sz="3200" dirty="0"/>
              <a:t>към уеб сайта </a:t>
            </a:r>
            <a:r>
              <a:rPr lang="en-US" sz="3200" dirty="0"/>
              <a:t>"</a:t>
            </a:r>
            <a:r>
              <a:rPr lang="bg-BG" sz="3200" b="1" dirty="0"/>
              <a:t>Зелена мисия</a:t>
            </a:r>
            <a:r>
              <a:rPr lang="en-US" sz="3200" dirty="0"/>
              <a:t>":</a:t>
            </a:r>
            <a:endParaRPr lang="bg-BG" sz="3200" dirty="0"/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Страници</a:t>
            </a:r>
            <a:r>
              <a:rPr lang="bg-BG" sz="3000" b="1" dirty="0"/>
              <a:t> </a:t>
            </a:r>
            <a:r>
              <a:rPr lang="bg-BG" sz="3000" dirty="0"/>
              <a:t>– </a:t>
            </a:r>
            <a:r>
              <a:rPr lang="bg-BG" sz="3000" b="1" dirty="0"/>
              <a:t>За клуба</a:t>
            </a:r>
            <a:r>
              <a:rPr lang="bg-BG" sz="3000" dirty="0"/>
              <a:t>, </a:t>
            </a:r>
            <a:r>
              <a:rPr lang="bg-BG" sz="3000" b="1" dirty="0"/>
              <a:t>Галерия</a:t>
            </a:r>
            <a:r>
              <a:rPr lang="bg-BG" sz="3000" dirty="0"/>
              <a:t>, </a:t>
            </a:r>
            <a:r>
              <a:rPr lang="bg-BG" sz="3000" b="1" dirty="0"/>
              <a:t>Контакти</a:t>
            </a:r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Публикация</a:t>
            </a:r>
            <a:r>
              <a:rPr lang="bg-BG" sz="3000" b="1" dirty="0"/>
              <a:t> </a:t>
            </a:r>
            <a:r>
              <a:rPr lang="bg-BG" sz="3000" dirty="0"/>
              <a:t>–  </a:t>
            </a:r>
            <a:r>
              <a:rPr lang="bg-BG" sz="3000" b="1" dirty="0"/>
              <a:t>Засаждане на дръвчета в училищния двор</a:t>
            </a:r>
          </a:p>
          <a:p>
            <a:pPr lvl="2"/>
            <a:r>
              <a:rPr lang="bg-BG" sz="2800" b="1" dirty="0">
                <a:solidFill>
                  <a:schemeClr val="bg1"/>
                </a:solidFill>
              </a:rPr>
              <a:t>Категория</a:t>
            </a:r>
            <a:r>
              <a:rPr lang="bg-BG" sz="2800" b="1" dirty="0"/>
              <a:t> </a:t>
            </a:r>
            <a:r>
              <a:rPr lang="bg-BG" sz="2800" dirty="0"/>
              <a:t>– </a:t>
            </a:r>
            <a:r>
              <a:rPr lang="bg-BG" sz="2800" b="1" dirty="0"/>
              <a:t>Инициативи</a:t>
            </a:r>
          </a:p>
          <a:p>
            <a:pPr lvl="2"/>
            <a:r>
              <a:rPr lang="bg-BG" sz="2800" b="1" dirty="0">
                <a:solidFill>
                  <a:schemeClr val="bg1"/>
                </a:solidFill>
              </a:rPr>
              <a:t>Етикети</a:t>
            </a:r>
            <a:r>
              <a:rPr lang="bg-BG" sz="2800" b="1" dirty="0"/>
              <a:t> </a:t>
            </a:r>
            <a:r>
              <a:rPr lang="bg-BG" sz="2800" dirty="0"/>
              <a:t>– </a:t>
            </a:r>
            <a:r>
              <a:rPr lang="bg-BG" sz="2800" b="1" dirty="0"/>
              <a:t>природа</a:t>
            </a:r>
            <a:r>
              <a:rPr lang="bg-BG" sz="2800" dirty="0"/>
              <a:t>, </a:t>
            </a:r>
            <a:r>
              <a:rPr lang="bg-BG" sz="2800" b="1" dirty="0"/>
              <a:t>доброволчество</a:t>
            </a:r>
            <a:r>
              <a:rPr lang="bg-BG" sz="2800" dirty="0"/>
              <a:t>, </a:t>
            </a:r>
            <a:r>
              <a:rPr lang="bg-BG" sz="2800" b="1" dirty="0"/>
              <a:t>училище</a:t>
            </a:r>
            <a:endParaRPr lang="en-US" sz="28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Добавяне на съдържание в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388913-5B84-4EB6-A960-D6F181ABB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6E65B-FC9E-DB06-4A69-641284E65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/>
              <a:t>Pages] → [Add Page]</a:t>
            </a:r>
            <a:endParaRPr lang="bg-BG" b="1" dirty="0"/>
          </a:p>
          <a:p>
            <a:r>
              <a:rPr lang="bg-BG" dirty="0"/>
              <a:t>Въвеждаме заглавие </a:t>
            </a:r>
            <a:r>
              <a:rPr lang="bg-BG" b="1" dirty="0"/>
              <a:t>"За клуба"</a:t>
            </a:r>
            <a:endParaRPr lang="bg-BG" dirty="0"/>
          </a:p>
          <a:p>
            <a:r>
              <a:rPr lang="bg-BG" dirty="0"/>
              <a:t>Добавяме текст чрез блок </a:t>
            </a:r>
            <a:r>
              <a:rPr lang="bg-BG" b="1" dirty="0"/>
              <a:t>[</a:t>
            </a:r>
            <a:r>
              <a:rPr lang="en-GB" b="1" dirty="0"/>
              <a:t>Paragraph]</a:t>
            </a:r>
            <a:r>
              <a:rPr lang="en-GB" dirty="0"/>
              <a:t> </a:t>
            </a:r>
            <a:endParaRPr lang="bg-BG" dirty="0"/>
          </a:p>
          <a:p>
            <a:r>
              <a:rPr lang="bg-BG" dirty="0"/>
              <a:t>Добавяме изображение </a:t>
            </a:r>
          </a:p>
          <a:p>
            <a:r>
              <a:rPr lang="bg-BG" dirty="0"/>
              <a:t>Преглеждаме страницата </a:t>
            </a:r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Publish]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77AE11-D4E9-3A4F-AEB2-163D2A46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страница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566613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84FB67-F571-FF2C-C862-DA604A4FAA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AABEA-4D8D-5688-D5F3-3A09D319C6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/>
              <a:t>Posts] → [Categories]</a:t>
            </a:r>
            <a:endParaRPr lang="bg-BG" b="1" dirty="0"/>
          </a:p>
          <a:p>
            <a:r>
              <a:rPr lang="bg-BG" dirty="0"/>
              <a:t>Въвеждаме име </a:t>
            </a:r>
            <a:r>
              <a:rPr lang="en-US" b="1" dirty="0"/>
              <a:t>"</a:t>
            </a:r>
            <a:r>
              <a:rPr lang="bg-BG" b="1" dirty="0"/>
              <a:t>Инициативи</a:t>
            </a:r>
            <a:r>
              <a:rPr lang="en-US" b="1" dirty="0"/>
              <a:t>"</a:t>
            </a:r>
            <a:endParaRPr lang="bg-BG" b="1" dirty="0"/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Add New Category]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045517A-2295-B1C2-3EA1-F571907DA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категория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635702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31A40C-ADF4-6590-C835-1E2F84AAE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39655-73BD-E5E7-86DB-389C07825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/>
              <a:t>Posts] → [Add Post]</a:t>
            </a:r>
            <a:r>
              <a:rPr lang="en-GB" dirty="0"/>
              <a:t> </a:t>
            </a:r>
          </a:p>
          <a:p>
            <a:r>
              <a:rPr lang="bg-BG" dirty="0"/>
              <a:t>Въвеждаме заглавие</a:t>
            </a:r>
            <a:br>
              <a:rPr lang="bg-BG" dirty="0"/>
            </a:br>
            <a:r>
              <a:rPr lang="en-US" b="1" dirty="0"/>
              <a:t>"</a:t>
            </a:r>
            <a:r>
              <a:rPr lang="bg-BG" b="1" dirty="0"/>
              <a:t>Засаждане на дръвчета в училищния двор</a:t>
            </a:r>
            <a:r>
              <a:rPr lang="en-US" b="1" dirty="0"/>
              <a:t>"</a:t>
            </a:r>
          </a:p>
          <a:p>
            <a:r>
              <a:rPr lang="bg-BG" dirty="0"/>
              <a:t>Добавяме текст и изображение</a:t>
            </a:r>
            <a:endParaRPr lang="en-US" dirty="0"/>
          </a:p>
          <a:p>
            <a:r>
              <a:rPr lang="bg-BG" dirty="0"/>
              <a:t>Избираме категория </a:t>
            </a:r>
            <a:r>
              <a:rPr lang="en-US" b="1" dirty="0"/>
              <a:t>"</a:t>
            </a:r>
            <a:r>
              <a:rPr lang="bg-BG" b="1" dirty="0"/>
              <a:t>Инициативи</a:t>
            </a:r>
            <a:r>
              <a:rPr lang="en-US" b="1" dirty="0"/>
              <a:t>"</a:t>
            </a:r>
          </a:p>
          <a:p>
            <a:r>
              <a:rPr lang="bg-BG" dirty="0"/>
              <a:t>Добавяме етикети: природа, доброволчество, училище </a:t>
            </a:r>
          </a:p>
          <a:p>
            <a:r>
              <a:rPr lang="bg-BG" dirty="0"/>
              <a:t>Задаваме основно изображение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8C154C-A515-15E4-2727-BE0450CA7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публикация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486079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195F21-2942-1E4F-7B43-BCBA3DD08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1C6D7-B2EF-1566-256B-2E63DA1E4A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Запазваме публикацията като </a:t>
            </a:r>
            <a:r>
              <a:rPr lang="bg-BG" b="1" dirty="0"/>
              <a:t>чернова</a:t>
            </a:r>
          </a:p>
          <a:p>
            <a:r>
              <a:rPr lang="bg-BG" dirty="0"/>
              <a:t>Отваряме </a:t>
            </a:r>
            <a:r>
              <a:rPr lang="bg-BG" b="1" dirty="0"/>
              <a:t>преглед</a:t>
            </a:r>
          </a:p>
          <a:p>
            <a:r>
              <a:rPr lang="bg-BG" dirty="0"/>
              <a:t>Проверяваме текста и изображенията</a:t>
            </a:r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Publish]</a:t>
            </a:r>
            <a:endParaRPr lang="bg-BG" b="1" dirty="0"/>
          </a:p>
          <a:p>
            <a:r>
              <a:rPr lang="bg-BG" dirty="0"/>
              <a:t>Отваряме публикуваната публикация за редактиране</a:t>
            </a:r>
          </a:p>
          <a:p>
            <a:r>
              <a:rPr lang="bg-BG" dirty="0"/>
              <a:t>Променяме съдържанието</a:t>
            </a:r>
          </a:p>
          <a:p>
            <a:r>
              <a:rPr lang="bg-BG" dirty="0"/>
              <a:t>Кликаме върху </a:t>
            </a:r>
            <a:r>
              <a:rPr lang="bg-BG" b="1" dirty="0"/>
              <a:t>[</a:t>
            </a:r>
            <a:r>
              <a:rPr lang="en-GB" b="1" dirty="0"/>
              <a:t>Update]</a:t>
            </a:r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0ABDE8-2B57-19C7-1EA1-DD97192C2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и редактиране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26407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088260-DAB7-5465-2F6E-625F4F4CF92E}"/>
              </a:ext>
            </a:extLst>
          </p:cNvPr>
          <p:cNvSpPr txBox="1"/>
          <p:nvPr/>
        </p:nvSpPr>
        <p:spPr>
          <a:xfrm>
            <a:off x="661086" y="2754000"/>
            <a:ext cx="10869827" cy="2229109"/>
          </a:xfrm>
          <a:prstGeom prst="rect">
            <a:avLst/>
          </a:prstGeo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75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/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Създадени са основните страници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Добавена е публикация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Публикацията е организирана в категория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Добавени са подходящи етикети</a:t>
            </a:r>
          </a:p>
          <a:p>
            <a:pPr algn="l"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400" dirty="0"/>
              <a:t>Съдържанието е публикувано и може да се редактира</a:t>
            </a:r>
            <a:endParaRPr lang="en-BG" sz="2400" dirty="0"/>
          </a:p>
        </p:txBody>
      </p:sp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Страниците </a:t>
            </a:r>
            <a:r>
              <a:rPr lang="bg-BG" sz="3000" dirty="0"/>
              <a:t>съдържат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постоянна информация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Публикациите </a:t>
            </a:r>
            <a:r>
              <a:rPr lang="bg-BG" sz="3000" dirty="0"/>
              <a:t>представят </a:t>
            </a:r>
            <a:r>
              <a:rPr lang="bg-BG" sz="3000" b="1" dirty="0"/>
              <a:t>актуално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Блоковият редактор </a:t>
            </a:r>
            <a:r>
              <a:rPr lang="bg-BG" sz="3000" dirty="0"/>
              <a:t>изгражда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съдържанието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Медийната библиотека </a:t>
            </a:r>
            <a:r>
              <a:rPr lang="bg-BG" sz="3000" dirty="0"/>
              <a:t>съхранява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файловете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Категориите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етикетите </a:t>
            </a:r>
            <a:r>
              <a:rPr lang="bg-BG" sz="3000" dirty="0"/>
              <a:t>организират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публикациите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Съдържанието </a:t>
            </a:r>
            <a:r>
              <a:rPr lang="bg-BG" sz="3000" dirty="0"/>
              <a:t>може да се </a:t>
            </a:r>
            <a:r>
              <a:rPr lang="bg-BG" sz="3000" b="1" dirty="0"/>
              <a:t>публикува</a:t>
            </a:r>
            <a:r>
              <a:rPr lang="bg-BG" sz="3000" dirty="0"/>
              <a:t>, </a:t>
            </a:r>
            <a:r>
              <a:rPr lang="bg-BG" sz="3000" b="1" dirty="0"/>
              <a:t>редактира</a:t>
            </a:r>
            <a:r>
              <a:rPr lang="bg-BG" sz="3000" dirty="0"/>
              <a:t> и </a:t>
            </a:r>
            <a:r>
              <a:rPr lang="bg-BG" sz="3000" b="1" dirty="0"/>
              <a:t>премахва</a:t>
            </a:r>
          </a:p>
          <a:p>
            <a:pPr marL="360363" indent="-360363" fontAlgn="base">
              <a:buClr>
                <a:schemeClr val="bg2"/>
              </a:buClr>
            </a:pPr>
            <a:endParaRPr lang="bg-BG" sz="30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57882</TotalTime>
  <Words>1029</Words>
  <Application>Microsoft Macintosh PowerPoint</Application>
  <PresentationFormat>Widescreen</PresentationFormat>
  <Paragraphs>202</Paragraphs>
  <Slides>30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Wingdings</vt:lpstr>
      <vt:lpstr>SoftUni</vt:lpstr>
      <vt:lpstr>Създаване и управление на съдържание в WordPress</vt:lpstr>
      <vt:lpstr>Съдържание</vt:lpstr>
      <vt:lpstr>Съдържание в WordPress</vt:lpstr>
      <vt:lpstr>Съдържание в WordPress</vt:lpstr>
      <vt:lpstr>Страници</vt:lpstr>
      <vt:lpstr>Публикации</vt:lpstr>
      <vt:lpstr>Страница или публикация</vt:lpstr>
      <vt:lpstr>Блоков редактор</vt:lpstr>
      <vt:lpstr>Блоков редактор</vt:lpstr>
      <vt:lpstr>Основни блокове</vt:lpstr>
      <vt:lpstr>Работа с блокове - пример</vt:lpstr>
      <vt:lpstr>Медийна библиотека</vt:lpstr>
      <vt:lpstr>Медийна библиотека</vt:lpstr>
      <vt:lpstr>Медийна библиотека - пример</vt:lpstr>
      <vt:lpstr>Организиране на съдържанието</vt:lpstr>
      <vt:lpstr>Категории</vt:lpstr>
      <vt:lpstr>Етикети</vt:lpstr>
      <vt:lpstr>Категории и етикети</vt:lpstr>
      <vt:lpstr>Управление на съдържанието</vt:lpstr>
      <vt:lpstr>Управление на съдържанието</vt:lpstr>
      <vt:lpstr>Пример</vt:lpstr>
      <vt:lpstr>Добавяне на съдържание в WordPress сайт</vt:lpstr>
      <vt:lpstr>Създаване на страница</vt:lpstr>
      <vt:lpstr>Създаване на категория</vt:lpstr>
      <vt:lpstr>Създаване на публикация</vt:lpstr>
      <vt:lpstr>Публикуване и редактиране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Създаване и управление на съдържание в WordPress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450</cp:revision>
  <dcterms:created xsi:type="dcterms:W3CDTF">2018-05-23T13:08:44Z</dcterms:created>
  <dcterms:modified xsi:type="dcterms:W3CDTF">2026-08-11T07:34:04Z</dcterms:modified>
  <cp:category/>
</cp:coreProperties>
</file>