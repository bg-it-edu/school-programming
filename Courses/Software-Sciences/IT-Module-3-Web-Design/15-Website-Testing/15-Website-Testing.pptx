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3B9_B4AA2873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3BF_C09AF3AE.xml" ContentType="application/vnd.ms-powerpoint.comments+xml"/>
  <Override PartName="/ppt/notesSlides/notesSlide6.xml" ContentType="application/vnd.openxmlformats-officedocument.presentationml.notesSlide+xml"/>
  <Override PartName="/ppt/comments/modernComment_3B5_FBAA3527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4"/>
  </p:notesMasterIdLst>
  <p:handoutMasterIdLst>
    <p:handoutMasterId r:id="rId45"/>
  </p:handoutMasterIdLst>
  <p:sldIdLst>
    <p:sldId id="503" r:id="rId2"/>
    <p:sldId id="276" r:id="rId3"/>
    <p:sldId id="353" r:id="rId4"/>
    <p:sldId id="880" r:id="rId5"/>
    <p:sldId id="953" r:id="rId6"/>
    <p:sldId id="927" r:id="rId7"/>
    <p:sldId id="952" r:id="rId8"/>
    <p:sldId id="939" r:id="rId9"/>
    <p:sldId id="940" r:id="rId10"/>
    <p:sldId id="944" r:id="rId11"/>
    <p:sldId id="941" r:id="rId12"/>
    <p:sldId id="954" r:id="rId13"/>
    <p:sldId id="963" r:id="rId14"/>
    <p:sldId id="964" r:id="rId15"/>
    <p:sldId id="956" r:id="rId16"/>
    <p:sldId id="942" r:id="rId17"/>
    <p:sldId id="962" r:id="rId18"/>
    <p:sldId id="965" r:id="rId19"/>
    <p:sldId id="610" r:id="rId20"/>
    <p:sldId id="907" r:id="rId21"/>
    <p:sldId id="943" r:id="rId22"/>
    <p:sldId id="960" r:id="rId23"/>
    <p:sldId id="895" r:id="rId24"/>
    <p:sldId id="894" r:id="rId25"/>
    <p:sldId id="946" r:id="rId26"/>
    <p:sldId id="958" r:id="rId27"/>
    <p:sldId id="959" r:id="rId28"/>
    <p:sldId id="654" r:id="rId29"/>
    <p:sldId id="911" r:id="rId30"/>
    <p:sldId id="947" r:id="rId31"/>
    <p:sldId id="966" r:id="rId32"/>
    <p:sldId id="948" r:id="rId33"/>
    <p:sldId id="967" r:id="rId34"/>
    <p:sldId id="949" r:id="rId35"/>
    <p:sldId id="968" r:id="rId36"/>
    <p:sldId id="970" r:id="rId37"/>
    <p:sldId id="950" r:id="rId38"/>
    <p:sldId id="938" r:id="rId39"/>
    <p:sldId id="971" r:id="rId40"/>
    <p:sldId id="633" r:id="rId41"/>
    <p:sldId id="504" r:id="rId42"/>
    <p:sldId id="50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Тестване и валидиране на уеб сайт" id="{66DCFE1F-60FD-44F2-BE82-706DDBC14898}">
          <p14:sldIdLst>
            <p14:sldId id="353"/>
            <p14:sldId id="880"/>
            <p14:sldId id="953"/>
            <p14:sldId id="927"/>
            <p14:sldId id="952"/>
            <p14:sldId id="939"/>
            <p14:sldId id="940"/>
            <p14:sldId id="944"/>
            <p14:sldId id="941"/>
            <p14:sldId id="954"/>
            <p14:sldId id="963"/>
            <p14:sldId id="964"/>
            <p14:sldId id="956"/>
            <p14:sldId id="942"/>
            <p14:sldId id="962"/>
            <p14:sldId id="965"/>
          </p14:sldIdLst>
        </p14:section>
        <p14:section name="Тагов атрибут" id="{EB44CA50-B176-0C4C-B0D0-5459023C7783}">
          <p14:sldIdLst>
            <p14:sldId id="610"/>
            <p14:sldId id="907"/>
            <p14:sldId id="943"/>
            <p14:sldId id="960"/>
          </p14:sldIdLst>
        </p14:section>
        <p14:section name="Емулатор" id="{30FD680E-FD68-D941-B3C3-76A3AFC25B7E}">
          <p14:sldIdLst>
            <p14:sldId id="895"/>
            <p14:sldId id="894"/>
            <p14:sldId id="946"/>
            <p14:sldId id="958"/>
            <p14:sldId id="959"/>
          </p14:sldIdLst>
        </p14:section>
        <p14:section name="Демо" id="{276EAB92-AF41-DD42-AFD3-D1ABB239E1A7}">
          <p14:sldIdLst>
            <p14:sldId id="654"/>
            <p14:sldId id="911"/>
            <p14:sldId id="947"/>
            <p14:sldId id="966"/>
            <p14:sldId id="948"/>
            <p14:sldId id="967"/>
            <p14:sldId id="949"/>
            <p14:sldId id="968"/>
            <p14:sldId id="970"/>
            <p14:sldId id="950"/>
            <p14:sldId id="938"/>
            <p14:sldId id="971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83" autoAdjust="0"/>
    <p:restoredTop sz="95427" autoAdjust="0"/>
  </p:normalViewPr>
  <p:slideViewPr>
    <p:cSldViewPr showGuides="1">
      <p:cViewPr varScale="1">
        <p:scale>
          <a:sx n="96" d="100"/>
          <a:sy n="96" d="100"/>
        </p:scale>
        <p:origin x="108" y="29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modernComment_3B5_FBAA35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497790-16B0-4643-8A12-EA28BC45B708}" authorId="{CB4BF2F8-D32F-9387-A6CE-368ED6EFDCF0}" created="2026-08-03T15:23:09.2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22235943" sldId="949"/>
      <ac:picMk id="6" creationId="{EC1E0A6B-1000-8C92-56F3-790379ABBC43}"/>
    </ac:deMkLst>
    <p188:txBody>
      <a:bodyPr/>
      <a:lstStyle/>
      <a:p>
        <a:r>
          <a:rPr lang="en-GB"/>
          <a:t>Направи before and after за редакцията, която се случва</a:t>
        </a:r>
      </a:p>
    </p188:txBody>
  </p188:cm>
</p188:cmLst>
</file>

<file path=ppt/comments/modernComment_3B9_B4AA28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CE0964-97CF-49C7-9530-89ABD1376946}" authorId="{CB4BF2F8-D32F-9387-A6CE-368ED6EFDCF0}" created="2026-08-03T15:06:45.0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31050355" sldId="953"/>
      <ac:spMk id="3" creationId="{72337110-2C41-5B6A-8AD1-CDBAD0FD6C6F}"/>
    </ac:deMkLst>
    <p188:txBody>
      <a:bodyPr/>
      <a:lstStyle/>
      <a:p>
        <a:r>
          <a:rPr lang="en-GB"/>
          <a:t>Добави като фън факт откъде произлиза термина "бъг"</a:t>
        </a:r>
      </a:p>
    </p188:txBody>
  </p188:cm>
</p188:cmLst>
</file>

<file path=ppt/comments/modernComment_3BF_C09AF3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39C6D4-1141-4282-8F29-6EBD383B3094}" authorId="{CB4BF2F8-D32F-9387-A6CE-368ED6EFDCF0}" created="2026-08-03T15:19:11.4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31380398" sldId="959"/>
      <ac:spMk id="3" creationId="{8FF54D8E-052F-5AC2-D5A0-0F232910ECD6}"/>
    </ac:deMkLst>
    <p188:txBody>
      <a:bodyPr/>
      <a:lstStyle/>
      <a:p>
        <a:r>
          <a:rPr lang="en-GB"/>
          <a:t>Този слайд седи празен. Добави някоя снимка или разчупи по някакъв начин съдържанието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3.8.2026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microsoft.com/office/2018/10/relationships/comments" Target="../comments/modernComment_3B9_B4AA287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igsaw.w3.org/css-validator/#validate_by_input" TargetMode="External"/><Relationship Id="rId2" Type="http://schemas.openxmlformats.org/officeDocument/2006/relationships/hyperlink" Target="https://validator.w3.org/#validate_by_input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jigsaw.w3.org/css-validator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3BF_C09AF3AE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jigsaw.w3.org/css-validator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microsoft.com/office/2018/10/relationships/comments" Target="../comments/modernComment_3B5_FBAA35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800" dirty="0"/>
              <a:t>Видове проверки, валидиране, емулатори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4200" dirty="0"/>
              <a:t>Тестване на уеб сайт</a:t>
            </a:r>
            <a:endParaRPr lang="en-US" sz="4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007" y="3056137"/>
            <a:ext cx="1819960" cy="849053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1CD310D-D3A5-021B-D7D2-79E42DC188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81"/>
          <a:stretch/>
        </p:blipFill>
        <p:spPr>
          <a:xfrm>
            <a:off x="6390123" y="3400017"/>
            <a:ext cx="5248260" cy="2188983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dirty="0">
                <a:solidFill>
                  <a:schemeClr val="bg1"/>
                </a:solidFill>
              </a:rPr>
              <a:t>​​</a:t>
            </a:r>
            <a:r>
              <a:rPr lang="bg-BG" sz="3800" b="1" dirty="0">
                <a:solidFill>
                  <a:schemeClr val="bg1"/>
                </a:solidFill>
              </a:rPr>
              <a:t>Тестване и валидиране на уеб сайт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Значение </a:t>
            </a:r>
            <a:r>
              <a:rPr lang="bg-BG" sz="3600" dirty="0"/>
              <a:t>и</a:t>
            </a:r>
            <a:r>
              <a:rPr lang="bg-BG" sz="3600" b="1" dirty="0"/>
              <a:t> видове проверки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Валидиране </a:t>
            </a:r>
            <a:r>
              <a:rPr lang="bg-BG" sz="3600" dirty="0"/>
              <a:t>на</a:t>
            </a:r>
            <a:r>
              <a:rPr lang="bg-BG" sz="3600" b="1" dirty="0"/>
              <a:t> </a:t>
            </a:r>
            <a:r>
              <a:rPr lang="en-US" sz="3600" b="1" dirty="0"/>
              <a:t>HTML </a:t>
            </a:r>
            <a:r>
              <a:rPr lang="bg-BG" sz="3600" dirty="0"/>
              <a:t>и</a:t>
            </a:r>
            <a:r>
              <a:rPr lang="bg-BG" sz="3600" b="1" dirty="0"/>
              <a:t> C</a:t>
            </a:r>
            <a:r>
              <a:rPr lang="en-US" sz="3600" b="1" dirty="0"/>
              <a:t>SS </a:t>
            </a:r>
            <a:r>
              <a:rPr lang="bg-BG" sz="3600" b="1" dirty="0"/>
              <a:t>код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Тагов атрибут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Правилна употреба </a:t>
            </a:r>
            <a:r>
              <a:rPr lang="bg-BG" sz="3600" dirty="0"/>
              <a:t>и</a:t>
            </a:r>
            <a:r>
              <a:rPr lang="bg-BG" sz="3600" b="1" dirty="0"/>
              <a:t> чести грешки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​​</a:t>
            </a:r>
            <a:r>
              <a:rPr lang="bg-BG" sz="3800" b="1" dirty="0">
                <a:solidFill>
                  <a:schemeClr val="bg1"/>
                </a:solidFill>
              </a:rPr>
              <a:t>Емулатор</a:t>
            </a:r>
          </a:p>
          <a:p>
            <a:pPr>
              <a:buClr>
                <a:schemeClr val="tx1"/>
              </a:buClr>
            </a:pPr>
            <a:r>
              <a:rPr lang="en-US" sz="3800" dirty="0"/>
              <a:t>​</a:t>
            </a:r>
            <a:r>
              <a:rPr lang="bg-BG" sz="3800" dirty="0"/>
              <a:t>​</a:t>
            </a: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Тестване и валидиране на уеб сайт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600" dirty="0"/>
              <a:t>Функционалност, код и потребителско преживяване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Тестване и валидиране на уеб сайт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E9E7A-9966-970D-6E0C-4D9B845B665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7345" y="1449000"/>
            <a:ext cx="2217309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Открива </a:t>
            </a:r>
            <a:r>
              <a:rPr lang="bg-BG" sz="3000" b="1" dirty="0">
                <a:solidFill>
                  <a:schemeClr val="bg1"/>
                </a:solidFill>
              </a:rPr>
              <a:t>грешки</a:t>
            </a:r>
            <a:r>
              <a:rPr lang="bg-BG" sz="3000" dirty="0"/>
              <a:t> (</a:t>
            </a:r>
            <a:r>
              <a:rPr lang="bg-BG" sz="3000" b="1" dirty="0"/>
              <a:t>бъгове</a:t>
            </a:r>
            <a:r>
              <a:rPr lang="bg-BG" sz="3000" dirty="0"/>
              <a:t>) </a:t>
            </a:r>
            <a:r>
              <a:rPr lang="bg-BG" sz="3000" b="1" dirty="0"/>
              <a:t>преди публикуване</a:t>
            </a:r>
          </a:p>
          <a:p>
            <a:r>
              <a:rPr lang="bg-BG" sz="3000" dirty="0"/>
              <a:t>Проверява дали </a:t>
            </a:r>
            <a:r>
              <a:rPr lang="bg-BG" sz="3000" b="1" dirty="0">
                <a:solidFill>
                  <a:schemeClr val="bg1"/>
                </a:solidFill>
              </a:rPr>
              <a:t>съдържанието</a:t>
            </a:r>
            <a:r>
              <a:rPr lang="bg-BG" sz="3000" dirty="0"/>
              <a:t> се</a:t>
            </a:r>
            <a:r>
              <a:rPr lang="bg-BG" sz="3000" b="1" dirty="0"/>
              <a:t> вижда </a:t>
            </a:r>
            <a:r>
              <a:rPr lang="bg-BG" sz="3000" b="1" dirty="0">
                <a:solidFill>
                  <a:schemeClr val="bg1"/>
                </a:solidFill>
              </a:rPr>
              <a:t>правилно</a:t>
            </a:r>
          </a:p>
          <a:p>
            <a:r>
              <a:rPr lang="bg-BG" sz="3000" dirty="0"/>
              <a:t>Гарантира </a:t>
            </a:r>
            <a:r>
              <a:rPr lang="bg-BG" sz="3000" b="1" dirty="0"/>
              <a:t>по-добро </a:t>
            </a:r>
            <a:r>
              <a:rPr lang="bg-BG" sz="3000" b="1" dirty="0">
                <a:solidFill>
                  <a:schemeClr val="bg1"/>
                </a:solidFill>
              </a:rPr>
              <a:t>потребителско преживяване</a:t>
            </a:r>
          </a:p>
          <a:p>
            <a:r>
              <a:rPr lang="bg-BG" sz="3000" dirty="0"/>
              <a:t>Уверява, че уеб сайтът </a:t>
            </a:r>
            <a:r>
              <a:rPr lang="bg-BG" sz="3000" b="1" dirty="0"/>
              <a:t>работи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различни устройства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браузъри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на уеб 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2C408-BC20-B712-512A-9FCC815153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1468" y="3569367"/>
            <a:ext cx="3210366" cy="324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D1E39-A6FF-DABE-DE04-918047AE3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37110-2C41-5B6A-8AD1-CDBAD0FD6C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</a:rPr>
              <a:t>Грешка</a:t>
            </a:r>
            <a:r>
              <a:rPr lang="bg-BG" sz="3000" dirty="0"/>
              <a:t> или </a:t>
            </a:r>
            <a:r>
              <a:rPr lang="bg-BG" sz="3000" b="1" dirty="0">
                <a:solidFill>
                  <a:schemeClr val="bg1"/>
                </a:solidFill>
              </a:rPr>
              <a:t>дефект</a:t>
            </a:r>
            <a:r>
              <a:rPr lang="bg-BG" sz="3000" dirty="0"/>
              <a:t>, при който нещо </a:t>
            </a:r>
            <a:r>
              <a:rPr lang="bg-BG" sz="3000" b="1" dirty="0"/>
              <a:t>не работи</a:t>
            </a:r>
            <a:r>
              <a:rPr lang="bg-BG" sz="3000" dirty="0"/>
              <a:t>,</a:t>
            </a:r>
            <a:r>
              <a:rPr lang="bg-BG" sz="3000" b="1" dirty="0"/>
              <a:t> </a:t>
            </a:r>
            <a:r>
              <a:rPr lang="bg-BG" sz="3000" dirty="0"/>
              <a:t>както е </a:t>
            </a:r>
            <a:r>
              <a:rPr lang="bg-BG" sz="3000" b="1" dirty="0"/>
              <a:t>очаквано</a:t>
            </a:r>
          </a:p>
          <a:p>
            <a:r>
              <a:rPr lang="bg-BG" sz="3000" b="1" dirty="0"/>
              <a:t>Примери:</a:t>
            </a:r>
          </a:p>
          <a:p>
            <a:pPr lvl="1"/>
            <a:r>
              <a:rPr lang="bg-BG" sz="2800" dirty="0"/>
              <a:t>Изображение не се зарежда</a:t>
            </a:r>
          </a:p>
          <a:p>
            <a:pPr lvl="1"/>
            <a:r>
              <a:rPr lang="bg-BG" sz="2800" dirty="0"/>
              <a:t>Бутон или линк не води към правилната страница</a:t>
            </a:r>
          </a:p>
          <a:p>
            <a:pPr lvl="1"/>
            <a:r>
              <a:rPr lang="bg-BG" sz="2800" dirty="0"/>
              <a:t>Част от текста излиза извън екрана</a:t>
            </a:r>
          </a:p>
          <a:p>
            <a:pPr lvl="1"/>
            <a:r>
              <a:rPr lang="bg-BG" sz="2800" dirty="0"/>
              <a:t>и др.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2F509F-1CE8-6ECC-2BDF-DBC02200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Бъг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B9E14-8AEF-0098-7C1C-2CCAD898A7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1000" y="3537006"/>
            <a:ext cx="3870000" cy="318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5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Функционалност</a:t>
            </a:r>
            <a:endParaRPr lang="bg-BG" sz="3000" dirty="0"/>
          </a:p>
          <a:p>
            <a:pPr lvl="1"/>
            <a:r>
              <a:rPr lang="bg-BG" sz="2800" b="1" dirty="0"/>
              <a:t>Линкове</a:t>
            </a:r>
            <a:r>
              <a:rPr lang="bg-BG" sz="2800" dirty="0"/>
              <a:t>, </a:t>
            </a:r>
            <a:r>
              <a:rPr lang="bg-BG" sz="2800" b="1" dirty="0"/>
              <a:t>бутони</a:t>
            </a:r>
            <a:r>
              <a:rPr lang="bg-BG" sz="2800" dirty="0"/>
              <a:t>, </a:t>
            </a:r>
            <a:r>
              <a:rPr lang="bg-BG" sz="2800" b="1" dirty="0"/>
              <a:t>форми</a:t>
            </a:r>
            <a:r>
              <a:rPr lang="bg-BG" sz="2800" dirty="0"/>
              <a:t>, </a:t>
            </a:r>
            <a:r>
              <a:rPr lang="bg-BG" sz="2800" b="1" dirty="0"/>
              <a:t>навигация</a:t>
            </a:r>
            <a:r>
              <a:rPr lang="bg-BG" sz="2800" dirty="0"/>
              <a:t> и </a:t>
            </a:r>
            <a:r>
              <a:rPr lang="bg-BG" sz="2800" b="1" dirty="0"/>
              <a:t>др</a:t>
            </a:r>
            <a:r>
              <a:rPr lang="bg-BG" sz="2800" dirty="0"/>
              <a:t>.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Съдържание</a:t>
            </a:r>
          </a:p>
          <a:p>
            <a:pPr lvl="1"/>
            <a:r>
              <a:rPr lang="bg-BG" sz="2800" b="1" dirty="0"/>
              <a:t>Текстове</a:t>
            </a:r>
            <a:r>
              <a:rPr lang="bg-BG" sz="2800" dirty="0"/>
              <a:t>, </a:t>
            </a:r>
            <a:r>
              <a:rPr lang="bg-BG" sz="2800" b="1" dirty="0"/>
              <a:t>изображения</a:t>
            </a:r>
            <a:r>
              <a:rPr lang="bg-BG" sz="2800" dirty="0"/>
              <a:t>, </a:t>
            </a:r>
            <a:r>
              <a:rPr lang="bg-BG" sz="2800" b="1" dirty="0"/>
              <a:t>заглавия</a:t>
            </a:r>
            <a:r>
              <a:rPr lang="bg-BG" sz="2800" dirty="0"/>
              <a:t>, </a:t>
            </a:r>
            <a:r>
              <a:rPr lang="bg-BG" sz="2800" b="1" dirty="0"/>
              <a:t>подредба</a:t>
            </a:r>
            <a:r>
              <a:rPr lang="bg-BG" sz="2800" dirty="0"/>
              <a:t> и </a:t>
            </a:r>
            <a:r>
              <a:rPr lang="bg-BG" sz="2800" b="1" dirty="0"/>
              <a:t>др</a:t>
            </a:r>
            <a:r>
              <a:rPr lang="bg-BG" sz="2800" dirty="0"/>
              <a:t>.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Визуален вид</a:t>
            </a:r>
          </a:p>
          <a:p>
            <a:pPr lvl="1"/>
            <a:r>
              <a:rPr lang="bg-BG" sz="2800" b="1" dirty="0"/>
              <a:t>Цветове</a:t>
            </a:r>
            <a:r>
              <a:rPr lang="bg-BG" sz="2800" dirty="0"/>
              <a:t>, </a:t>
            </a:r>
            <a:r>
              <a:rPr lang="bg-BG" sz="2800" b="1" dirty="0"/>
              <a:t>шрифтове</a:t>
            </a:r>
            <a:r>
              <a:rPr lang="bg-BG" sz="2800" dirty="0"/>
              <a:t>, </a:t>
            </a:r>
            <a:r>
              <a:rPr lang="bg-BG" sz="2800" b="1" dirty="0"/>
              <a:t>отстояния</a:t>
            </a:r>
            <a:r>
              <a:rPr lang="bg-BG" sz="2800" dirty="0"/>
              <a:t>, </a:t>
            </a:r>
            <a:r>
              <a:rPr lang="bg-BG" sz="2800" b="1" dirty="0"/>
              <a:t>секции</a:t>
            </a:r>
            <a:r>
              <a:rPr lang="bg-BG" sz="2800" dirty="0"/>
              <a:t> и </a:t>
            </a:r>
            <a:r>
              <a:rPr lang="bg-BG" sz="2800" b="1" dirty="0"/>
              <a:t>др</a:t>
            </a:r>
            <a:r>
              <a:rPr lang="bg-BG" sz="28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проверки при тестване </a:t>
            </a:r>
            <a:r>
              <a:rPr lang="en-US" dirty="0"/>
              <a:t>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D1A978-33C3-D426-B8C5-6E354E21C0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000" y="4962109"/>
            <a:ext cx="3780000" cy="1630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9D82E3-0049-4C74-4731-3B74D85B12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1000" y="4890146"/>
            <a:ext cx="2199584" cy="19096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88471E-D4A6-53E7-73A0-799B39606C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6000" y="4796674"/>
            <a:ext cx="22098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8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Съвместимост</a:t>
            </a:r>
          </a:p>
          <a:p>
            <a:pPr lvl="1"/>
            <a:r>
              <a:rPr lang="bg-BG" sz="2800" b="1" dirty="0"/>
              <a:t>Работа</a:t>
            </a:r>
            <a:r>
              <a:rPr lang="bg-BG" sz="2800" dirty="0"/>
              <a:t> в </a:t>
            </a:r>
            <a:r>
              <a:rPr lang="bg-BG" sz="2800" b="1" dirty="0"/>
              <a:t>различни браузъри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Адаптивност</a:t>
            </a:r>
          </a:p>
          <a:p>
            <a:pPr lvl="1"/>
            <a:r>
              <a:rPr lang="bg-BG" sz="2800" b="1" dirty="0"/>
              <a:t>Изглед</a:t>
            </a:r>
            <a:r>
              <a:rPr lang="bg-BG" sz="2800" dirty="0"/>
              <a:t> на </a:t>
            </a:r>
            <a:r>
              <a:rPr lang="bg-BG" sz="2800" b="1" dirty="0"/>
              <a:t>компютър</a:t>
            </a:r>
            <a:r>
              <a:rPr lang="bg-BG" sz="2800" dirty="0"/>
              <a:t>, </a:t>
            </a:r>
            <a:r>
              <a:rPr lang="bg-BG" sz="2800" b="1" dirty="0"/>
              <a:t>таблет</a:t>
            </a:r>
            <a:r>
              <a:rPr lang="bg-BG" sz="2800" dirty="0"/>
              <a:t> и </a:t>
            </a:r>
            <a:r>
              <a:rPr lang="bg-BG" sz="2800" b="1" dirty="0"/>
              <a:t>телефон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Достъпност</a:t>
            </a:r>
          </a:p>
          <a:p>
            <a:pPr lvl="1"/>
            <a:r>
              <a:rPr lang="bg-BG" sz="2800" b="1" dirty="0"/>
              <a:t>Използване</a:t>
            </a:r>
            <a:r>
              <a:rPr lang="bg-BG" sz="2800" dirty="0"/>
              <a:t> от </a:t>
            </a:r>
            <a:r>
              <a:rPr lang="bg-BG" sz="2800" b="1" dirty="0"/>
              <a:t>различни потребители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проверки при тестване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EAB67-6286-5E0E-19C3-60D55617AD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11648" y="1314000"/>
            <a:ext cx="3969091" cy="265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DC0C0E-55FF-0CBE-E81A-DA5F617195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8785" y="4868298"/>
            <a:ext cx="3707498" cy="1888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8D5B32-FD6B-CDDA-E3CC-5A168F394B4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11096" y="4038224"/>
            <a:ext cx="3170194" cy="26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3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b="1" dirty="0"/>
              <a:t>Проверка</a:t>
            </a:r>
            <a:r>
              <a:rPr lang="bg-BG" sz="2800" dirty="0"/>
              <a:t> дали </a:t>
            </a:r>
            <a:r>
              <a:rPr lang="bg-BG" sz="2800" b="1" dirty="0"/>
              <a:t>кодът </a:t>
            </a:r>
            <a:r>
              <a:rPr lang="bg-BG" sz="2800" dirty="0"/>
              <a:t>спазва </a:t>
            </a:r>
            <a:r>
              <a:rPr lang="bg-BG" sz="2800" b="1" dirty="0">
                <a:solidFill>
                  <a:schemeClr val="bg1"/>
                </a:solidFill>
              </a:rPr>
              <a:t>стандартите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правилата</a:t>
            </a:r>
            <a:r>
              <a:rPr lang="bg-BG" sz="2800" dirty="0"/>
              <a:t> на </a:t>
            </a:r>
            <a:r>
              <a:rPr lang="bg-BG" sz="2800" b="1" dirty="0"/>
              <a:t>езика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HTML </a:t>
            </a:r>
            <a:r>
              <a:rPr lang="bg-BG" sz="2800" b="1" dirty="0">
                <a:solidFill>
                  <a:schemeClr val="bg1"/>
                </a:solidFill>
              </a:rPr>
              <a:t>валидаторът </a:t>
            </a:r>
            <a:r>
              <a:rPr lang="bg-BG" sz="2800" dirty="0"/>
              <a:t>проверява</a:t>
            </a:r>
            <a:r>
              <a:rPr lang="bg-BG" sz="2800" b="1" dirty="0"/>
              <a:t> структурата </a:t>
            </a:r>
            <a:r>
              <a:rPr lang="bg-BG" sz="2800" dirty="0"/>
              <a:t>и</a:t>
            </a:r>
            <a:r>
              <a:rPr lang="bg-BG" sz="2800" b="1" dirty="0"/>
              <a:t> таговете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CSS </a:t>
            </a:r>
            <a:r>
              <a:rPr lang="bg-BG" sz="2800" b="1" dirty="0">
                <a:solidFill>
                  <a:schemeClr val="bg1"/>
                </a:solidFill>
              </a:rPr>
              <a:t>валидаторът </a:t>
            </a:r>
            <a:r>
              <a:rPr lang="bg-BG" sz="2800" dirty="0"/>
              <a:t>проверява</a:t>
            </a:r>
            <a:r>
              <a:rPr lang="bg-BG" sz="2800" b="1" dirty="0"/>
              <a:t> свойствата</a:t>
            </a:r>
            <a:r>
              <a:rPr lang="en-US" sz="2800" dirty="0"/>
              <a:t> </a:t>
            </a:r>
            <a:r>
              <a:rPr lang="bg-BG" sz="2800" dirty="0"/>
              <a:t>и</a:t>
            </a:r>
            <a:r>
              <a:rPr lang="bg-BG" sz="2800" b="1" dirty="0"/>
              <a:t> стойностите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Валидният код </a:t>
            </a:r>
            <a:r>
              <a:rPr lang="bg-BG" sz="2800" dirty="0"/>
              <a:t>е </a:t>
            </a:r>
            <a:r>
              <a:rPr lang="bg-BG" sz="2800" b="1" dirty="0"/>
              <a:t>по-стабилен</a:t>
            </a:r>
            <a:r>
              <a:rPr lang="bg-BG" sz="2800" dirty="0"/>
              <a:t> и </a:t>
            </a:r>
            <a:r>
              <a:rPr lang="bg-BG" sz="2800" b="1" dirty="0"/>
              <a:t>по-лесен </a:t>
            </a:r>
            <a:r>
              <a:rPr lang="bg-BG" sz="2800" dirty="0"/>
              <a:t>за</a:t>
            </a:r>
            <a:r>
              <a:rPr lang="bg-BG" sz="2800" b="1" dirty="0"/>
              <a:t> поддръжка</a:t>
            </a:r>
          </a:p>
          <a:p>
            <a:r>
              <a:rPr lang="bg-BG" sz="2800" b="1" dirty="0"/>
              <a:t>Валидирането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не гарантира </a:t>
            </a:r>
            <a:r>
              <a:rPr lang="bg-BG" sz="2800" dirty="0"/>
              <a:t>само по себе си </a:t>
            </a:r>
            <a:r>
              <a:rPr lang="bg-BG" sz="2800" b="1" dirty="0"/>
              <a:t>добър дизайн </a:t>
            </a:r>
            <a:r>
              <a:rPr lang="bg-BG" sz="2800" dirty="0"/>
              <a:t>или </a:t>
            </a:r>
            <a:r>
              <a:rPr lang="bg-BG" sz="2800" b="1" dirty="0"/>
              <a:t>добра функционалност</a:t>
            </a:r>
          </a:p>
          <a:p>
            <a:endParaRPr lang="bg-BG" sz="34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уеб 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444DA-6480-71DD-C814-0A5AA943578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5595" y="4135347"/>
            <a:ext cx="2760810" cy="258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6F9877-F12B-A55A-7A92-410B3FD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EF45C0-22D6-A761-A1AF-6ABAB54A8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Валидиране</a:t>
            </a:r>
          </a:p>
          <a:p>
            <a:pPr lvl="1"/>
            <a:r>
              <a:rPr lang="bg-BG" sz="3000" dirty="0"/>
              <a:t>Проверява </a:t>
            </a:r>
            <a:r>
              <a:rPr lang="bg-BG" sz="3000" b="1" dirty="0"/>
              <a:t>кода</a:t>
            </a:r>
          </a:p>
          <a:p>
            <a:pPr lvl="1"/>
            <a:r>
              <a:rPr lang="bg-BG" sz="3000" dirty="0"/>
              <a:t>Открива </a:t>
            </a:r>
            <a:r>
              <a:rPr lang="bg-BG" sz="3000" b="1" dirty="0"/>
              <a:t>синтактични</a:t>
            </a:r>
            <a:r>
              <a:rPr lang="bg-BG" sz="3000" dirty="0"/>
              <a:t> и </a:t>
            </a:r>
            <a:r>
              <a:rPr lang="bg-BG" sz="3000" b="1" dirty="0"/>
              <a:t>структурни</a:t>
            </a:r>
            <a:r>
              <a:rPr lang="bg-BG" sz="3000" dirty="0"/>
              <a:t> </a:t>
            </a:r>
            <a:r>
              <a:rPr lang="bg-BG" sz="3000" b="1" dirty="0"/>
              <a:t>грешки</a:t>
            </a:r>
          </a:p>
          <a:p>
            <a:pPr lvl="1"/>
            <a:r>
              <a:rPr lang="bg-BG" sz="3000" dirty="0"/>
              <a:t>Извършва се с </a:t>
            </a:r>
            <a:r>
              <a:rPr lang="bg-BG" sz="3000" b="1" dirty="0"/>
              <a:t>валидатори</a:t>
            </a:r>
          </a:p>
          <a:p>
            <a:pPr lvl="1"/>
            <a:r>
              <a:rPr lang="bg-BG" sz="3000" b="1" dirty="0"/>
              <a:t>Пример:</a:t>
            </a:r>
          </a:p>
          <a:p>
            <a:pPr lvl="2"/>
            <a:r>
              <a:rPr lang="bg-BG" sz="2800" dirty="0"/>
              <a:t>Незатворен </a:t>
            </a:r>
            <a:r>
              <a:rPr lang="en-US" sz="2800" dirty="0"/>
              <a:t>HTML </a:t>
            </a:r>
            <a:r>
              <a:rPr lang="bg-BG" sz="2800" dirty="0"/>
              <a:t>таг</a:t>
            </a:r>
            <a:endParaRPr lang="en-BG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5A81EB-85D4-DDE6-1688-2668371D7C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Тестване</a:t>
            </a:r>
          </a:p>
          <a:p>
            <a:pPr lvl="1"/>
            <a:r>
              <a:rPr lang="bg-BG" sz="3000" dirty="0"/>
              <a:t>Проверява </a:t>
            </a:r>
            <a:r>
              <a:rPr lang="bg-BG" sz="3000" b="1" dirty="0"/>
              <a:t>поведението</a:t>
            </a:r>
          </a:p>
          <a:p>
            <a:pPr lvl="1"/>
            <a:r>
              <a:rPr lang="bg-BG" sz="3000" dirty="0"/>
              <a:t>Открива </a:t>
            </a:r>
            <a:r>
              <a:rPr lang="bg-BG" sz="3000" b="1" dirty="0"/>
              <a:t>бъгове</a:t>
            </a:r>
          </a:p>
          <a:p>
            <a:pPr lvl="1"/>
            <a:r>
              <a:rPr lang="bg-BG" sz="3000" dirty="0"/>
              <a:t>Извършва се в </a:t>
            </a:r>
            <a:r>
              <a:rPr lang="bg-BG" sz="3000" b="1" dirty="0"/>
              <a:t>браузър</a:t>
            </a:r>
            <a:r>
              <a:rPr lang="bg-BG" sz="3000" dirty="0"/>
              <a:t> или на </a:t>
            </a:r>
            <a:r>
              <a:rPr lang="bg-BG" sz="3000" b="1" dirty="0"/>
              <a:t>устройства</a:t>
            </a:r>
          </a:p>
          <a:p>
            <a:pPr lvl="1"/>
            <a:r>
              <a:rPr lang="bg-BG" sz="3000" b="1" dirty="0"/>
              <a:t>Пример</a:t>
            </a:r>
            <a:r>
              <a:rPr lang="en-US" sz="3000" b="1" dirty="0"/>
              <a:t>:</a:t>
            </a:r>
            <a:endParaRPr lang="bg-BG" sz="3000" b="1" dirty="0"/>
          </a:p>
          <a:p>
            <a:pPr lvl="2"/>
            <a:r>
              <a:rPr lang="bg-BG" sz="2800" dirty="0"/>
              <a:t>Линкът не се отваря</a:t>
            </a:r>
            <a:endParaRPr lang="en-BG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34BB8E-0B4C-60AA-53FA-F0EEFF9F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v</a:t>
            </a:r>
            <a:r>
              <a:rPr lang="en-US" dirty="0"/>
              <a:t>s. </a:t>
            </a:r>
            <a:r>
              <a:rPr lang="bg-BG" dirty="0"/>
              <a:t>валидиране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19648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915156-AAE8-F698-57FB-9C44EC5D3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E53AD-78BB-DA4F-7823-90E150756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Среда за писане на код</a:t>
            </a:r>
          </a:p>
          <a:p>
            <a:pPr lvl="1"/>
            <a:r>
              <a:rPr lang="en-US" b="1" dirty="0"/>
              <a:t>VS Code </a:t>
            </a:r>
            <a:r>
              <a:rPr lang="bg-BG" dirty="0"/>
              <a:t>или </a:t>
            </a:r>
            <a:r>
              <a:rPr lang="bg-BG" b="1" dirty="0"/>
              <a:t>други редактори</a:t>
            </a:r>
          </a:p>
          <a:p>
            <a:r>
              <a:rPr lang="en-GB" b="1" dirty="0">
                <a:solidFill>
                  <a:schemeClr val="bg1"/>
                </a:solidFill>
              </a:rPr>
              <a:t>Browser Developer Tools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bg-BG" dirty="0"/>
              <a:t>Преглед на </a:t>
            </a:r>
            <a:r>
              <a:rPr lang="en-GB" b="1" dirty="0"/>
              <a:t>HTML</a:t>
            </a:r>
            <a:r>
              <a:rPr lang="en-GB" dirty="0"/>
              <a:t>, </a:t>
            </a:r>
            <a:r>
              <a:rPr lang="en-GB" b="1" dirty="0"/>
              <a:t>CSS</a:t>
            </a:r>
            <a:r>
              <a:rPr lang="en-GB" dirty="0"/>
              <a:t>, </a:t>
            </a:r>
            <a:r>
              <a:rPr lang="en-US" b="1" dirty="0"/>
              <a:t>Console</a:t>
            </a:r>
            <a:r>
              <a:rPr lang="bg-BG" dirty="0"/>
              <a:t> и </a:t>
            </a:r>
            <a:r>
              <a:rPr lang="bg-BG" b="1" dirty="0"/>
              <a:t>адаптивност</a:t>
            </a:r>
          </a:p>
          <a:p>
            <a:r>
              <a:rPr lang="bg-BG" b="1" dirty="0">
                <a:solidFill>
                  <a:schemeClr val="bg1"/>
                </a:solidFill>
              </a:rPr>
              <a:t>Валидатори</a:t>
            </a:r>
          </a:p>
          <a:p>
            <a:pPr lvl="1"/>
            <a:r>
              <a:rPr lang="en-GB" b="1" dirty="0">
                <a:solidFill>
                  <a:schemeClr val="bg1"/>
                </a:solidFill>
              </a:rPr>
              <a:t>HTML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/>
              <a:t>– </a:t>
            </a:r>
            <a:r>
              <a:rPr lang="en-GB" b="1" dirty="0"/>
              <a:t>W3C Markup Validation Service </a:t>
            </a:r>
            <a:r>
              <a:rPr lang="en-GB" dirty="0"/>
              <a:t>(</a:t>
            </a:r>
            <a:r>
              <a:rPr lang="en-GB" dirty="0">
                <a:hlinkClick r:id="rId2"/>
              </a:rPr>
              <a:t>validator.w3.org</a:t>
            </a:r>
            <a:r>
              <a:rPr lang="en-GB" dirty="0"/>
              <a:t>)</a:t>
            </a:r>
          </a:p>
          <a:p>
            <a:pPr lvl="1"/>
            <a:r>
              <a:rPr lang="en-GB" b="1" dirty="0">
                <a:solidFill>
                  <a:schemeClr val="bg1"/>
                </a:solidFill>
              </a:rPr>
              <a:t>CSS</a:t>
            </a:r>
            <a:r>
              <a:rPr lang="en-GB" dirty="0"/>
              <a:t> – </a:t>
            </a:r>
            <a:r>
              <a:rPr lang="en-GB" b="1" dirty="0"/>
              <a:t>W3C CSS Validation Service </a:t>
            </a:r>
            <a:r>
              <a:rPr lang="en-GB" dirty="0"/>
              <a:t>(</a:t>
            </a:r>
            <a:r>
              <a:rPr lang="en-GB" dirty="0">
                <a:hlinkClick r:id="rId3"/>
              </a:rPr>
              <a:t>jigsaw.w3.org/css-validator</a:t>
            </a:r>
            <a:r>
              <a:rPr lang="en-GB" dirty="0"/>
              <a:t>)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3A2899-097D-7068-0FD5-3631DBCB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Инструменти за валидиране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12800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99F76-D5CE-8D84-A432-BE1043247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F0F17D-F84C-8609-A5D6-75D9C5F8FE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155598" cy="5528766"/>
          </a:xfrm>
        </p:spPr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</a:rPr>
              <a:t>Проверява</a:t>
            </a:r>
            <a:r>
              <a:rPr lang="bg-BG" sz="3000" dirty="0"/>
              <a:t> </a:t>
            </a:r>
            <a:r>
              <a:rPr lang="bg-BG" sz="3000" b="1" dirty="0"/>
              <a:t>дали</a:t>
            </a:r>
            <a:r>
              <a:rPr lang="en-US" sz="3000" dirty="0"/>
              <a:t>:</a:t>
            </a:r>
          </a:p>
          <a:p>
            <a:pPr lvl="1"/>
            <a:r>
              <a:rPr lang="en-GB" sz="2800" b="1" dirty="0"/>
              <a:t>HTML </a:t>
            </a:r>
            <a:r>
              <a:rPr lang="bg-BG" sz="2800" b="1" dirty="0"/>
              <a:t>документът </a:t>
            </a:r>
            <a:r>
              <a:rPr lang="bg-BG" sz="2800" dirty="0"/>
              <a:t>има </a:t>
            </a:r>
            <a:r>
              <a:rPr lang="bg-BG" sz="2800" b="1" dirty="0">
                <a:solidFill>
                  <a:schemeClr val="bg1"/>
                </a:solidFill>
              </a:rPr>
              <a:t>правилна структура</a:t>
            </a:r>
            <a:endParaRPr lang="en-US" sz="2800" b="1" dirty="0">
              <a:solidFill>
                <a:schemeClr val="bg1"/>
              </a:solidFill>
            </a:endParaRPr>
          </a:p>
          <a:p>
            <a:pPr lvl="1"/>
            <a:r>
              <a:rPr lang="bg-BG" sz="2800" b="1" dirty="0"/>
              <a:t>Таговете</a:t>
            </a:r>
            <a:r>
              <a:rPr lang="bg-BG" sz="2800" dirty="0"/>
              <a:t> са </a:t>
            </a:r>
            <a:r>
              <a:rPr lang="bg-BG" sz="2800" b="1" dirty="0">
                <a:solidFill>
                  <a:schemeClr val="bg1"/>
                </a:solidFill>
              </a:rPr>
              <a:t>правилно отворени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затворени</a:t>
            </a:r>
          </a:p>
          <a:p>
            <a:pPr lvl="1"/>
            <a:r>
              <a:rPr lang="bg-BG" sz="2800" b="1" dirty="0"/>
              <a:t>Атрибутите</a:t>
            </a:r>
            <a:r>
              <a:rPr lang="bg-BG" sz="2800" dirty="0"/>
              <a:t> са </a:t>
            </a:r>
            <a:r>
              <a:rPr lang="bg-BG" sz="2800" b="1" dirty="0">
                <a:solidFill>
                  <a:schemeClr val="bg1"/>
                </a:solidFill>
              </a:rPr>
              <a:t>записани правилно</a:t>
            </a:r>
          </a:p>
          <a:p>
            <a:r>
              <a:rPr lang="bg-BG" sz="3000" b="1" dirty="0"/>
              <a:t>Открива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липсващи</a:t>
            </a:r>
            <a:r>
              <a:rPr lang="bg-BG" sz="3000" dirty="0"/>
              <a:t> или </a:t>
            </a:r>
            <a:r>
              <a:rPr lang="bg-BG" sz="3000" b="1" dirty="0">
                <a:solidFill>
                  <a:schemeClr val="bg1"/>
                </a:solidFill>
              </a:rPr>
              <a:t>грешно вложени елементи</a:t>
            </a:r>
          </a:p>
          <a:p>
            <a:r>
              <a:rPr lang="bg-BG" sz="3000" dirty="0"/>
              <a:t>Помага да се </a:t>
            </a:r>
            <a:r>
              <a:rPr lang="bg-BG" sz="3000" b="1" dirty="0">
                <a:solidFill>
                  <a:schemeClr val="bg1"/>
                </a:solidFill>
              </a:rPr>
              <a:t>поправят грешки</a:t>
            </a:r>
            <a:r>
              <a:rPr lang="bg-BG" sz="3000" dirty="0"/>
              <a:t>, които </a:t>
            </a:r>
            <a:r>
              <a:rPr lang="bg-BG" sz="3000" b="1" dirty="0"/>
              <a:t>браузърът</a:t>
            </a:r>
            <a:r>
              <a:rPr lang="bg-BG" sz="3000" dirty="0"/>
              <a:t> понякога </a:t>
            </a:r>
            <a:r>
              <a:rPr lang="bg-BG" sz="3000" b="1" dirty="0">
                <a:solidFill>
                  <a:schemeClr val="bg1"/>
                </a:solidFill>
              </a:rPr>
              <a:t>прикрива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8CBF25-0672-1D36-0A3F-A0C12892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HTML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EF43C-ED57-808B-3D1B-0A1ECF8B60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1000" y="3000635"/>
            <a:ext cx="3668764" cy="36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8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99F76-D5CE-8D84-A432-BE1043247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8CBF25-0672-1D36-0A3F-A0C12892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HTML</a:t>
            </a:r>
            <a:r>
              <a:rPr lang="bg-BG" dirty="0"/>
              <a:t> </a:t>
            </a:r>
            <a:r>
              <a:rPr lang="en-GB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DB26143-D32A-A8C1-DED4-296C7465184C}"/>
              </a:ext>
            </a:extLst>
          </p:cNvPr>
          <p:cNvSpPr txBox="1">
            <a:spLocks/>
          </p:cNvSpPr>
          <p:nvPr/>
        </p:nvSpPr>
        <p:spPr>
          <a:xfrm>
            <a:off x="3049850" y="2138863"/>
            <a:ext cx="6750000" cy="34778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endParaRPr lang="bg-BG" sz="2000" b="1" dirty="0"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&lt;html&gt;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&lt;head&gt;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&lt;title&gt;</a:t>
            </a:r>
            <a:r>
              <a:rPr lang="bg-BG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Моят сайт&lt;/</a:t>
            </a: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title&gt;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&lt;/head&gt;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&lt;body&gt;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&lt;h1&gt;</a:t>
            </a:r>
            <a:r>
              <a:rPr lang="bg-BG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Начало</a:t>
            </a:r>
            <a:br>
              <a:rPr lang="bg-BG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bg-BG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&lt;</a:t>
            </a: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img src="cake.jpg"&gt;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&lt;a href="contacts"&gt;</a:t>
            </a:r>
            <a:r>
              <a:rPr lang="bg-BG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Контакти&lt;/</a:t>
            </a: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a&gt;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&lt;/body&gt;</a:t>
            </a:r>
            <a:b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&lt;/html&gt;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29E5B4E6-DE89-1A19-DAE4-6AC830BEBF55}"/>
              </a:ext>
            </a:extLst>
          </p:cNvPr>
          <p:cNvSpPr/>
          <p:nvPr/>
        </p:nvSpPr>
        <p:spPr bwMode="auto">
          <a:xfrm>
            <a:off x="6771000" y="1584000"/>
            <a:ext cx="3897700" cy="441116"/>
          </a:xfrm>
          <a:prstGeom prst="wedgeRoundRectCallout">
            <a:avLst>
              <a:gd name="adj1" fmla="val -66028"/>
              <a:gd name="adj2" fmla="val 17242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Липсва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DOCTYPE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ang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11CCF27-F109-D092-EAC7-7653FD74A604}"/>
              </a:ext>
            </a:extLst>
          </p:cNvPr>
          <p:cNvSpPr/>
          <p:nvPr/>
        </p:nvSpPr>
        <p:spPr bwMode="auto">
          <a:xfrm>
            <a:off x="6987350" y="3233763"/>
            <a:ext cx="3465000" cy="441116"/>
          </a:xfrm>
          <a:prstGeom prst="wedgeRoundRectCallout">
            <a:avLst>
              <a:gd name="adj1" fmla="val -88916"/>
              <a:gd name="adj2" fmla="val 15803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Незатворено заглавие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7C6C51AF-D442-EABF-66A0-57A282F1AE2A}"/>
              </a:ext>
            </a:extLst>
          </p:cNvPr>
          <p:cNvSpPr/>
          <p:nvPr/>
        </p:nvSpPr>
        <p:spPr bwMode="auto">
          <a:xfrm>
            <a:off x="744256" y="3537433"/>
            <a:ext cx="2205000" cy="882653"/>
          </a:xfrm>
          <a:prstGeom prst="wedgeRoundRectCallout">
            <a:avLst>
              <a:gd name="adj1" fmla="val 67883"/>
              <a:gd name="adj2" fmla="val 4983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Липсва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alt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атрибут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3C864011-C177-84EE-4C1A-984A11E560B2}"/>
              </a:ext>
            </a:extLst>
          </p:cNvPr>
          <p:cNvSpPr/>
          <p:nvPr/>
        </p:nvSpPr>
        <p:spPr bwMode="auto">
          <a:xfrm>
            <a:off x="5349175" y="5418027"/>
            <a:ext cx="2601350" cy="441116"/>
          </a:xfrm>
          <a:prstGeom prst="wedgeRoundRectCallout">
            <a:avLst>
              <a:gd name="adj1" fmla="val -35894"/>
              <a:gd name="adj2" fmla="val -14426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Непълен адрес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77A14-8ACB-6BF1-A12B-B10CE3D00861}"/>
              </a:ext>
            </a:extLst>
          </p:cNvPr>
          <p:cNvSpPr/>
          <p:nvPr/>
        </p:nvSpPr>
        <p:spPr bwMode="auto">
          <a:xfrm>
            <a:off x="3724850" y="4669853"/>
            <a:ext cx="2205000" cy="247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contacts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6E5D1B-2E17-72CE-EEF1-316242CAFC6A}"/>
              </a:ext>
            </a:extLst>
          </p:cNvPr>
          <p:cNvSpPr/>
          <p:nvPr/>
        </p:nvSpPr>
        <p:spPr bwMode="auto">
          <a:xfrm>
            <a:off x="4810155" y="4048111"/>
            <a:ext cx="722230" cy="247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/h1&gt;</a:t>
            </a:r>
            <a:endParaRPr lang="en-GB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C7DBA-18FA-FB02-2E89-5BF94D1EFE96}"/>
              </a:ext>
            </a:extLst>
          </p:cNvPr>
          <p:cNvSpPr/>
          <p:nvPr/>
        </p:nvSpPr>
        <p:spPr bwMode="auto">
          <a:xfrm>
            <a:off x="6096110" y="4357210"/>
            <a:ext cx="3025400" cy="2557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alt="</a:t>
            </a:r>
            <a:r>
              <a:rPr lang="bg-BG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Снимка на торта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</a:t>
            </a:r>
            <a:endParaRPr lang="en-GB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897BDD-C4E7-30FA-BC88-BF1D1C7D9089}"/>
              </a:ext>
            </a:extLst>
          </p:cNvPr>
          <p:cNvSpPr/>
          <p:nvPr/>
        </p:nvSpPr>
        <p:spPr bwMode="auto">
          <a:xfrm>
            <a:off x="3070710" y="2225852"/>
            <a:ext cx="3025400" cy="5417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&lt;!DOCTYPE html&gt;</a:t>
            </a:r>
            <a:b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&lt;html lang="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bg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</a:t>
            </a:r>
            <a:endParaRPr lang="en-GB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964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12" grpId="0" animBg="1"/>
      <p:bldP spid="13" grpId="0" animBg="1"/>
      <p:bldP spid="14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BDE93-0D92-C627-D6B1-ECAE1EEDE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C89B-BE18-B823-DFA3-30D7FA72E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en-GB" sz="3000" b="1" dirty="0">
                <a:solidFill>
                  <a:schemeClr val="bg1"/>
                </a:solidFill>
              </a:rPr>
              <a:t>W3C Markup Validation Service </a:t>
            </a:r>
            <a:r>
              <a:rPr lang="en-GB" sz="3000" dirty="0"/>
              <a:t>(</a:t>
            </a:r>
            <a:r>
              <a:rPr lang="en-GB" sz="3000" dirty="0">
                <a:hlinkClick r:id="rId2"/>
              </a:rPr>
              <a:t>validator.w3.org</a:t>
            </a:r>
            <a:r>
              <a:rPr lang="en-GB" sz="3000" dirty="0"/>
              <a:t>)</a:t>
            </a:r>
          </a:p>
          <a:p>
            <a:r>
              <a:rPr lang="bg-BG" sz="3000" dirty="0"/>
              <a:t>Избираме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Validate by Direct Input</a:t>
            </a:r>
            <a:r>
              <a:rPr lang="en-US" sz="3000" b="1" dirty="0"/>
              <a:t>]</a:t>
            </a:r>
            <a:endParaRPr lang="en-GB" sz="3000" b="1" dirty="0"/>
          </a:p>
          <a:p>
            <a:r>
              <a:rPr lang="bg-BG" sz="3000" dirty="0"/>
              <a:t>Поставяме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HTML </a:t>
            </a:r>
            <a:r>
              <a:rPr lang="bg-BG" sz="3000" b="1" dirty="0">
                <a:solidFill>
                  <a:schemeClr val="bg1"/>
                </a:solidFill>
              </a:rPr>
              <a:t>кода </a:t>
            </a:r>
            <a:r>
              <a:rPr lang="bg-BG" sz="3000" dirty="0"/>
              <a:t>за </a:t>
            </a:r>
            <a:r>
              <a:rPr lang="bg-BG" sz="3000" b="1" dirty="0"/>
              <a:t>валидиране</a:t>
            </a:r>
            <a:r>
              <a:rPr lang="bg-BG" sz="3000" dirty="0"/>
              <a:t> и </a:t>
            </a:r>
            <a:r>
              <a:rPr lang="bg-BG" sz="3000" b="1" dirty="0"/>
              <a:t>кликаме</a:t>
            </a:r>
            <a:r>
              <a:rPr lang="bg-BG" sz="3000" dirty="0"/>
              <a:t> върху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en-BG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2C6802-192A-26E2-ADCB-77B206BA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bg-BG" dirty="0"/>
              <a:t>валидатор </a:t>
            </a:r>
            <a:r>
              <a:rPr lang="en-GB" dirty="0"/>
              <a:t>–</a:t>
            </a:r>
            <a:r>
              <a:rPr lang="bg-BG" dirty="0"/>
              <a:t> Пример</a:t>
            </a:r>
            <a:r>
              <a:rPr lang="en-US" dirty="0"/>
              <a:t> 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34122-9258-70D8-6688-3D793075F7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938" y="3068730"/>
            <a:ext cx="4294555" cy="34371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F92DB4F7-C8A1-2CB7-0D12-C15B887E5451}"/>
              </a:ext>
            </a:extLst>
          </p:cNvPr>
          <p:cNvSpPr/>
          <p:nvPr/>
        </p:nvSpPr>
        <p:spPr>
          <a:xfrm>
            <a:off x="5393281" y="4146054"/>
            <a:ext cx="1486005" cy="12825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07A6D-11BA-B465-12B5-5FEC17B7A02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6075" y="3076982"/>
            <a:ext cx="4213987" cy="34371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425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BDE93-0D92-C627-D6B1-ECAE1EEDE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C89B-BE18-B823-DFA3-30D7FA72E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Разглеждаме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грешките</a:t>
            </a:r>
          </a:p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Редактираме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HTML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кода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валидираме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отново</a:t>
            </a:r>
            <a:endParaRPr lang="en-BG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2C6802-192A-26E2-ADCB-77B206BA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bg-BG" dirty="0"/>
              <a:t>валидатор </a:t>
            </a:r>
            <a:r>
              <a:rPr lang="en-GB" dirty="0"/>
              <a:t>–</a:t>
            </a:r>
            <a:r>
              <a:rPr lang="bg-BG" dirty="0"/>
              <a:t> Пример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34122-9258-70D8-6688-3D793075F7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356" y="2529000"/>
            <a:ext cx="4609555" cy="368925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F92DB4F7-C8A1-2CB7-0D12-C15B887E5451}"/>
              </a:ext>
            </a:extLst>
          </p:cNvPr>
          <p:cNvSpPr/>
          <p:nvPr/>
        </p:nvSpPr>
        <p:spPr>
          <a:xfrm>
            <a:off x="5353079" y="3805689"/>
            <a:ext cx="1190397" cy="113587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07A6D-11BA-B465-12B5-5FEC17B7A02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2644" y="2542278"/>
            <a:ext cx="4905000" cy="369898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8466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B7E30-AC96-F2AB-32E7-B0F3E35BA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220AD-03F5-B3C2-BFEC-795551ECB5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914559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Проверява</a:t>
            </a:r>
            <a:r>
              <a:rPr lang="bg-BG" sz="3000" b="1" dirty="0"/>
              <a:t> дали</a:t>
            </a:r>
            <a:r>
              <a:rPr lang="en-US" sz="3000" dirty="0"/>
              <a:t>:</a:t>
            </a:r>
          </a:p>
          <a:p>
            <a:pPr lvl="1"/>
            <a:r>
              <a:rPr lang="en-GB" sz="2800" b="1" dirty="0"/>
              <a:t>CSS </a:t>
            </a:r>
            <a:r>
              <a:rPr lang="bg-BG" sz="2800" b="1" dirty="0"/>
              <a:t>свойствата </a:t>
            </a:r>
            <a:r>
              <a:rPr lang="bg-BG" sz="2800" dirty="0"/>
              <a:t>са </a:t>
            </a:r>
            <a:r>
              <a:rPr lang="bg-BG" sz="2800" b="1" dirty="0">
                <a:solidFill>
                  <a:schemeClr val="bg1"/>
                </a:solidFill>
              </a:rPr>
              <a:t>изписани правилно</a:t>
            </a:r>
            <a:endParaRPr lang="en-US" sz="2800" b="1" dirty="0">
              <a:solidFill>
                <a:schemeClr val="bg1"/>
              </a:solidFill>
            </a:endParaRPr>
          </a:p>
          <a:p>
            <a:pPr lvl="1"/>
            <a:r>
              <a:rPr lang="bg-BG" sz="2800" b="1" dirty="0"/>
              <a:t>Стойностите</a:t>
            </a:r>
            <a:r>
              <a:rPr lang="bg-BG" sz="2800" dirty="0"/>
              <a:t> са </a:t>
            </a:r>
            <a:r>
              <a:rPr lang="bg-BG" sz="2800" b="1" dirty="0">
                <a:solidFill>
                  <a:schemeClr val="bg1"/>
                </a:solidFill>
              </a:rPr>
              <a:t>подходящи</a:t>
            </a:r>
            <a:r>
              <a:rPr lang="bg-BG" sz="2800" dirty="0"/>
              <a:t> за </a:t>
            </a:r>
            <a:r>
              <a:rPr lang="bg-BG" sz="2800" b="1" dirty="0"/>
              <a:t>съответното свойство</a:t>
            </a:r>
          </a:p>
          <a:p>
            <a:r>
              <a:rPr lang="bg-BG" sz="3000" b="1" dirty="0"/>
              <a:t>Открива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липсващи двоеточия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точки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запетаи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скоби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кавички</a:t>
            </a:r>
          </a:p>
          <a:p>
            <a:r>
              <a:rPr lang="bg-BG" sz="3000" dirty="0"/>
              <a:t>Помага да се </a:t>
            </a:r>
            <a:r>
              <a:rPr lang="bg-BG" sz="3000" b="1" dirty="0">
                <a:solidFill>
                  <a:schemeClr val="bg1"/>
                </a:solidFill>
              </a:rPr>
              <a:t>открият грешки</a:t>
            </a:r>
            <a:r>
              <a:rPr lang="bg-BG" sz="3000" dirty="0"/>
              <a:t>, които </a:t>
            </a:r>
            <a:r>
              <a:rPr lang="bg-BG" sz="3000" b="1" dirty="0"/>
              <a:t>пречат</a:t>
            </a:r>
            <a:r>
              <a:rPr lang="bg-BG" sz="3000" dirty="0"/>
              <a:t> на </a:t>
            </a:r>
            <a:r>
              <a:rPr lang="bg-BG" sz="3000" b="1" dirty="0"/>
              <a:t>стила</a:t>
            </a:r>
            <a:r>
              <a:rPr lang="bg-BG" sz="3000" dirty="0"/>
              <a:t> да се </a:t>
            </a:r>
            <a:r>
              <a:rPr lang="bg-BG" sz="3000" b="1" dirty="0">
                <a:solidFill>
                  <a:schemeClr val="bg1"/>
                </a:solidFill>
              </a:rPr>
              <a:t>приложи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Не оценява </a:t>
            </a:r>
            <a:r>
              <a:rPr lang="bg-BG" sz="3000" dirty="0"/>
              <a:t>дали </a:t>
            </a:r>
            <a:r>
              <a:rPr lang="bg-BG" sz="3000" b="1" dirty="0"/>
              <a:t>дизайнът</a:t>
            </a:r>
            <a:r>
              <a:rPr lang="bg-BG" sz="3000" dirty="0"/>
              <a:t> е </a:t>
            </a:r>
            <a:r>
              <a:rPr lang="bg-BG" sz="3000" b="1" dirty="0"/>
              <a:t>красив</a:t>
            </a:r>
            <a:r>
              <a:rPr lang="bg-BG" sz="3000" dirty="0"/>
              <a:t>, </a:t>
            </a:r>
            <a:r>
              <a:rPr lang="bg-BG" sz="3000" b="1" dirty="0"/>
              <a:t>четим</a:t>
            </a:r>
            <a:r>
              <a:rPr lang="bg-BG" sz="3000" dirty="0"/>
              <a:t> или </a:t>
            </a:r>
            <a:r>
              <a:rPr lang="bg-BG" sz="3000" b="1" dirty="0"/>
              <a:t>удобен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EEB5B0-1BAE-E480-7EA5-0626CB66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CSS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1B8CB7-8722-5B13-A806-2F1512F730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087" r="3298" b="12333"/>
          <a:stretch/>
        </p:blipFill>
        <p:spPr>
          <a:xfrm>
            <a:off x="8240694" y="2574000"/>
            <a:ext cx="3760904" cy="298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1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B7E30-AC96-F2AB-32E7-B0F3E35BA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EEB5B0-1BAE-E480-7EA5-0626CB66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CSS</a:t>
            </a:r>
            <a:r>
              <a:rPr lang="bg-BG" dirty="0"/>
              <a:t> </a:t>
            </a:r>
            <a:r>
              <a:rPr lang="en-GB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684E411-66D9-B7F0-8741-0C0CCF6FE4E8}"/>
              </a:ext>
            </a:extLst>
          </p:cNvPr>
          <p:cNvSpPr txBox="1">
            <a:spLocks/>
          </p:cNvSpPr>
          <p:nvPr/>
        </p:nvSpPr>
        <p:spPr>
          <a:xfrm>
            <a:off x="3525702" y="2295958"/>
            <a:ext cx="6260297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body {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font-familiy: Arial;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background-color: #F5F7FA;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}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.card {</a:t>
            </a:r>
          </a:p>
          <a:p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color: #CCCCCC;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width: 1200px;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</a:t>
            </a:r>
            <a:b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}</a:t>
            </a:r>
          </a:p>
          <a:p>
            <a:endParaRPr lang="en-US" sz="2400" b="1" dirty="0"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9C2F4135-3FF2-E61C-FDA3-B302559AED77}"/>
              </a:ext>
            </a:extLst>
          </p:cNvPr>
          <p:cNvSpPr/>
          <p:nvPr/>
        </p:nvSpPr>
        <p:spPr bwMode="auto">
          <a:xfrm>
            <a:off x="2271000" y="1390352"/>
            <a:ext cx="4108850" cy="498658"/>
          </a:xfrm>
          <a:prstGeom prst="wedgeRoundRectCallout">
            <a:avLst>
              <a:gd name="adj1" fmla="val 24535"/>
              <a:gd name="adj2" fmla="val 2106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Грешно изписано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свойство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8890C2EC-85B4-B6A2-E3C0-1675409E444D}"/>
              </a:ext>
            </a:extLst>
          </p:cNvPr>
          <p:cNvSpPr/>
          <p:nvPr/>
        </p:nvSpPr>
        <p:spPr bwMode="auto">
          <a:xfrm>
            <a:off x="6906000" y="1390352"/>
            <a:ext cx="3870000" cy="498658"/>
          </a:xfrm>
          <a:prstGeom prst="wedgeRoundRectCallout">
            <a:avLst>
              <a:gd name="adj1" fmla="val -39785"/>
              <a:gd name="adj2" fmla="val 2106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Липсва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резервен шрифт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5AA0EE23-4274-DA1B-D464-0CC3286E69F9}"/>
              </a:ext>
            </a:extLst>
          </p:cNvPr>
          <p:cNvSpPr/>
          <p:nvPr/>
        </p:nvSpPr>
        <p:spPr bwMode="auto">
          <a:xfrm>
            <a:off x="1052725" y="5932867"/>
            <a:ext cx="3240000" cy="498658"/>
          </a:xfrm>
          <a:prstGeom prst="wedgeRoundRectCallout">
            <a:avLst>
              <a:gd name="adj1" fmla="val 45168"/>
              <a:gd name="adj2" fmla="val -1668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Фиксирана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ширина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EC634553-65E9-A79B-4178-2F05FB0F6C03}"/>
              </a:ext>
            </a:extLst>
          </p:cNvPr>
          <p:cNvSpPr/>
          <p:nvPr/>
        </p:nvSpPr>
        <p:spPr bwMode="auto">
          <a:xfrm>
            <a:off x="7752236" y="3727300"/>
            <a:ext cx="3655594" cy="498658"/>
          </a:xfrm>
          <a:prstGeom prst="wedgeRoundRectCallout">
            <a:avLst>
              <a:gd name="adj1" fmla="val -82170"/>
              <a:gd name="adj2" fmla="val 8074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Слаб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контраст на текста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EF518-045B-2D39-245B-6A0D0495D515}"/>
              </a:ext>
            </a:extLst>
          </p:cNvPr>
          <p:cNvSpPr/>
          <p:nvPr/>
        </p:nvSpPr>
        <p:spPr bwMode="auto">
          <a:xfrm>
            <a:off x="4787725" y="2754000"/>
            <a:ext cx="1218275" cy="31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family</a:t>
            </a:r>
            <a:endParaRPr lang="en-GB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FAFC12-C6A8-7859-A322-0AE58B80327A}"/>
              </a:ext>
            </a:extLst>
          </p:cNvPr>
          <p:cNvSpPr/>
          <p:nvPr/>
        </p:nvSpPr>
        <p:spPr bwMode="auto">
          <a:xfrm>
            <a:off x="7176000" y="2709000"/>
            <a:ext cx="2404033" cy="31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sans-serif;</a:t>
            </a:r>
            <a:endParaRPr lang="en-GB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126265-B2CB-BA40-A862-B0CF8FE92CF5}"/>
              </a:ext>
            </a:extLst>
          </p:cNvPr>
          <p:cNvSpPr/>
          <p:nvPr/>
        </p:nvSpPr>
        <p:spPr bwMode="auto">
          <a:xfrm>
            <a:off x="4926000" y="4236658"/>
            <a:ext cx="1379025" cy="31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#153E5C</a:t>
            </a:r>
            <a:endParaRPr lang="en-GB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F737F-3E4F-04A9-D3EF-43D6C3413EE0}"/>
              </a:ext>
            </a:extLst>
          </p:cNvPr>
          <p:cNvSpPr/>
          <p:nvPr/>
        </p:nvSpPr>
        <p:spPr bwMode="auto">
          <a:xfrm>
            <a:off x="3936000" y="4569416"/>
            <a:ext cx="3105000" cy="31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3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max-width: 1200px;</a:t>
            </a:r>
            <a:endParaRPr lang="en-GB" sz="2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428916-15FB-EB3B-6257-432B547D6CC1}"/>
              </a:ext>
            </a:extLst>
          </p:cNvPr>
          <p:cNvSpPr/>
          <p:nvPr/>
        </p:nvSpPr>
        <p:spPr bwMode="auto">
          <a:xfrm>
            <a:off x="3936000" y="4936141"/>
            <a:ext cx="3105000" cy="31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3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width: 100%;</a:t>
            </a:r>
            <a:endParaRPr lang="en-GB" sz="2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023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3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BDE93-0D92-C627-D6B1-ECAE1EEDE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C89B-BE18-B823-DFA3-30D7FA72E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/>
              <a:t>Отваряме </a:t>
            </a:r>
            <a:r>
              <a:rPr lang="en-GB" sz="2800" b="1" dirty="0">
                <a:solidFill>
                  <a:schemeClr val="bg1"/>
                </a:solidFill>
              </a:rPr>
              <a:t>W3C CSS Validation Service </a:t>
            </a:r>
            <a:r>
              <a:rPr lang="en-GB" sz="2800" dirty="0"/>
              <a:t>(</a:t>
            </a:r>
            <a:r>
              <a:rPr lang="en-GB" sz="2800" dirty="0">
                <a:hlinkClick r:id="rId2"/>
              </a:rPr>
              <a:t>jigsaw.w3.org/css-validator</a:t>
            </a:r>
            <a:r>
              <a:rPr lang="en-GB" sz="2800" dirty="0"/>
              <a:t>)</a:t>
            </a:r>
          </a:p>
          <a:p>
            <a:r>
              <a:rPr lang="bg-BG" sz="2800" dirty="0"/>
              <a:t>Избираме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By direct input</a:t>
            </a:r>
            <a:r>
              <a:rPr lang="en-US" sz="2800" b="1" dirty="0"/>
              <a:t>]</a:t>
            </a:r>
            <a:endParaRPr lang="en-GB" sz="2800" b="1" dirty="0"/>
          </a:p>
          <a:p>
            <a:r>
              <a:rPr lang="bg-BG" sz="2800" dirty="0"/>
              <a:t>Поставяме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CSS </a:t>
            </a:r>
            <a:r>
              <a:rPr lang="bg-BG" sz="2800" b="1" dirty="0">
                <a:solidFill>
                  <a:schemeClr val="bg1"/>
                </a:solidFill>
              </a:rPr>
              <a:t>кода </a:t>
            </a:r>
            <a:r>
              <a:rPr lang="bg-BG" sz="2800" dirty="0"/>
              <a:t>за </a:t>
            </a:r>
            <a:r>
              <a:rPr lang="bg-BG" sz="2800" b="1" dirty="0"/>
              <a:t>валидиране</a:t>
            </a:r>
            <a:r>
              <a:rPr lang="bg-BG" sz="2800" dirty="0"/>
              <a:t> и </a:t>
            </a:r>
            <a:r>
              <a:rPr lang="bg-BG" sz="2800" b="1" dirty="0"/>
              <a:t>кликаме</a:t>
            </a:r>
            <a:r>
              <a:rPr lang="bg-BG" sz="2800" dirty="0"/>
              <a:t> върху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en-BG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2C6802-192A-26E2-ADCB-77B206BA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bg-BG" dirty="0"/>
              <a:t>валидатор </a:t>
            </a:r>
            <a:r>
              <a:rPr lang="en-GB" dirty="0"/>
              <a:t>–</a:t>
            </a:r>
            <a:r>
              <a:rPr lang="bg-BG" dirty="0"/>
              <a:t> Пример</a:t>
            </a:r>
            <a:r>
              <a:rPr lang="en-US" dirty="0"/>
              <a:t> (1)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007A2-DCC7-1DA4-FB7B-B3597D869B0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61000" y="2945584"/>
            <a:ext cx="3735001" cy="37576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048D8-0A6A-5F05-AE0D-055C347D4DB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0263" y="2949208"/>
            <a:ext cx="3735000" cy="375768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Arrow: Right 10">
            <a:extLst>
              <a:ext uri="{FF2B5EF4-FFF2-40B4-BE49-F238E27FC236}">
                <a16:creationId xmlns:a16="http://schemas.microsoft.com/office/drawing/2014/main" id="{D02959C0-1A4F-4FAC-CF6A-956E4E025E71}"/>
              </a:ext>
            </a:extLst>
          </p:cNvPr>
          <p:cNvSpPr/>
          <p:nvPr/>
        </p:nvSpPr>
        <p:spPr>
          <a:xfrm>
            <a:off x="5227028" y="4183176"/>
            <a:ext cx="1486005" cy="12825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57941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BDE93-0D92-C627-D6B1-ECAE1EEDE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C89B-BE18-B823-DFA3-30D7FA72E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Разглеждаме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грешките</a:t>
            </a:r>
          </a:p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Редактираме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CSS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кода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валидираме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отново</a:t>
            </a:r>
            <a:endParaRPr lang="en-BG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2C6802-192A-26E2-ADCB-77B206BA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bg-BG" dirty="0"/>
              <a:t>валидатор </a:t>
            </a:r>
            <a:r>
              <a:rPr lang="en-GB" dirty="0"/>
              <a:t>–</a:t>
            </a:r>
            <a:r>
              <a:rPr lang="bg-BG" dirty="0"/>
              <a:t> Пример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34122-9258-70D8-6688-3D793075F7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263" y="3767071"/>
            <a:ext cx="4609555" cy="124925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607A6D-11BA-B465-12B5-5FEC17B7A02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51642" y="3764384"/>
            <a:ext cx="6385095" cy="124925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F92DB4F7-C8A1-2CB7-0D12-C15B887E5451}"/>
              </a:ext>
            </a:extLst>
          </p:cNvPr>
          <p:cNvSpPr/>
          <p:nvPr/>
        </p:nvSpPr>
        <p:spPr>
          <a:xfrm>
            <a:off x="4738925" y="3913464"/>
            <a:ext cx="938610" cy="9510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26707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Правилна употреба и чести грешки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Тагов атрибут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CEB32-201D-7CC5-7B66-F80BE341724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7571" y="1708382"/>
            <a:ext cx="2916858" cy="172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dirty="0"/>
              <a:t>Добавя </a:t>
            </a:r>
            <a:r>
              <a:rPr lang="bg-BG" sz="3400" b="1" dirty="0">
                <a:solidFill>
                  <a:schemeClr val="bg1"/>
                </a:solidFill>
              </a:rPr>
              <a:t>допълнителна информация </a:t>
            </a:r>
            <a:r>
              <a:rPr lang="bg-BG" sz="3400" dirty="0"/>
              <a:t>към </a:t>
            </a:r>
            <a:r>
              <a:rPr lang="en-US" sz="3400" b="1" dirty="0"/>
              <a:t>HTML</a:t>
            </a:r>
            <a:r>
              <a:rPr lang="bg-BG" sz="3400" b="1" dirty="0"/>
              <a:t> тага</a:t>
            </a:r>
          </a:p>
          <a:p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Записва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се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отварящия таг</a:t>
            </a:r>
          </a:p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Има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формат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атрибут="стойност"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Тагов атрибут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4A813-4E2C-E2CA-D4DE-366993C39180}"/>
              </a:ext>
            </a:extLst>
          </p:cNvPr>
          <p:cNvSpPr txBox="1">
            <a:spLocks/>
          </p:cNvSpPr>
          <p:nvPr/>
        </p:nvSpPr>
        <p:spPr>
          <a:xfrm>
            <a:off x="336000" y="3534692"/>
            <a:ext cx="342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&lt;html 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lang="bg"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AB6E582-4A24-6B9B-DECB-D77C523B2972}"/>
              </a:ext>
            </a:extLst>
          </p:cNvPr>
          <p:cNvSpPr txBox="1">
            <a:spLocks/>
          </p:cNvSpPr>
          <p:nvPr/>
        </p:nvSpPr>
        <p:spPr>
          <a:xfrm>
            <a:off x="1483500" y="4656080"/>
            <a:ext cx="9225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&lt;a 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href="https://google.com"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Посети сайта&lt;/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7D9C873-32D9-095B-13F9-6CA1DBDFB644}"/>
              </a:ext>
            </a:extLst>
          </p:cNvPr>
          <p:cNvSpPr txBox="1">
            <a:spLocks/>
          </p:cNvSpPr>
          <p:nvPr/>
        </p:nvSpPr>
        <p:spPr>
          <a:xfrm>
            <a:off x="2776598" y="5777468"/>
            <a:ext cx="9225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&lt;img 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src="cake.jpg" alt="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Шоколадова торта"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GB" sz="28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16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b="1" dirty="0">
                <a:solidFill>
                  <a:schemeClr val="bg1"/>
                </a:solidFill>
              </a:rPr>
              <a:t>Незатворен таг</a:t>
            </a:r>
            <a:endParaRPr lang="en-US" sz="3400" b="1" dirty="0">
              <a:solidFill>
                <a:schemeClr val="bg1"/>
              </a:solidFill>
            </a:endParaRPr>
          </a:p>
          <a:p>
            <a:endParaRPr lang="bg-BG" sz="3400" dirty="0"/>
          </a:p>
          <a:p>
            <a:r>
              <a:rPr lang="bg-BG" sz="3400" b="1" dirty="0">
                <a:solidFill>
                  <a:schemeClr val="bg1"/>
                </a:solidFill>
              </a:rPr>
              <a:t>Грешно вложени тагове</a:t>
            </a:r>
            <a:endParaRPr lang="en-US" sz="3400" b="1" dirty="0">
              <a:solidFill>
                <a:schemeClr val="bg1"/>
              </a:solidFill>
            </a:endParaRPr>
          </a:p>
          <a:p>
            <a:endParaRPr lang="bg-BG" sz="3200" dirty="0"/>
          </a:p>
          <a:p>
            <a:r>
              <a:rPr lang="bg-BG" sz="3400" b="1" dirty="0">
                <a:solidFill>
                  <a:schemeClr val="bg1"/>
                </a:solidFill>
              </a:rPr>
              <a:t>Грешен път</a:t>
            </a:r>
            <a:r>
              <a:rPr lang="bg-BG" sz="3400" dirty="0"/>
              <a:t> до </a:t>
            </a:r>
            <a:r>
              <a:rPr lang="bg-BG" sz="3400" b="1" dirty="0"/>
              <a:t>изображение</a:t>
            </a:r>
            <a:endParaRPr lang="en-US" sz="3400" b="1" dirty="0"/>
          </a:p>
          <a:p>
            <a:endParaRPr lang="en-US" sz="3400" dirty="0"/>
          </a:p>
          <a:p>
            <a:r>
              <a:rPr lang="bg-BG" sz="3400" b="1" dirty="0">
                <a:solidFill>
                  <a:schemeClr val="bg1"/>
                </a:solidFill>
              </a:rPr>
              <a:t>Липсващ</a:t>
            </a:r>
            <a:r>
              <a:rPr lang="bg-BG" sz="3400" dirty="0"/>
              <a:t> </a:t>
            </a:r>
            <a:r>
              <a:rPr lang="en-GB" sz="3400" b="1" dirty="0">
                <a:solidFill>
                  <a:schemeClr val="bg1"/>
                </a:solidFill>
              </a:rPr>
              <a:t>alt </a:t>
            </a:r>
            <a:r>
              <a:rPr lang="bg-BG" sz="3400" b="1" dirty="0">
                <a:solidFill>
                  <a:schemeClr val="bg1"/>
                </a:solidFill>
              </a:rPr>
              <a:t>атрибут </a:t>
            </a:r>
            <a:r>
              <a:rPr lang="bg-BG" sz="3400" dirty="0"/>
              <a:t>при </a:t>
            </a:r>
            <a:r>
              <a:rPr lang="bg-BG" sz="3400" b="1" dirty="0"/>
              <a:t>изображение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Чести грешки</a:t>
            </a:r>
            <a:r>
              <a:rPr lang="en-GB" dirty="0"/>
              <a:t> (1)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3A302-EEB9-A250-802A-5B4D91566307}"/>
              </a:ext>
            </a:extLst>
          </p:cNvPr>
          <p:cNvSpPr txBox="1">
            <a:spLocks/>
          </p:cNvSpPr>
          <p:nvPr/>
        </p:nvSpPr>
        <p:spPr>
          <a:xfrm>
            <a:off x="651000" y="1921427"/>
            <a:ext cx="2385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&lt;h1&gt;</a:t>
            </a:r>
            <a:r>
              <a:rPr lang="bg-BG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Заглавие</a:t>
            </a:r>
            <a:endParaRPr lang="en-US" sz="2400" b="1" dirty="0"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B8C1779-5685-5343-EA58-429BFB012053}"/>
              </a:ext>
            </a:extLst>
          </p:cNvPr>
          <p:cNvSpPr txBox="1">
            <a:spLocks/>
          </p:cNvSpPr>
          <p:nvPr/>
        </p:nvSpPr>
        <p:spPr>
          <a:xfrm>
            <a:off x="651000" y="3391101"/>
            <a:ext cx="51002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&lt;p&gt;&lt;strong&gt;</a:t>
            </a:r>
            <a:r>
              <a:rPr lang="bg-BG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Текст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&lt;/p&gt;&lt;/strong&gt;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1A7F8FC-0671-D180-459C-E858FEABF52B}"/>
              </a:ext>
            </a:extLst>
          </p:cNvPr>
          <p:cNvSpPr txBox="1">
            <a:spLocks/>
          </p:cNvSpPr>
          <p:nvPr/>
        </p:nvSpPr>
        <p:spPr>
          <a:xfrm>
            <a:off x="651000" y="4734000"/>
            <a:ext cx="5625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unexisting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-path/photo.jpg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36991E0-2C0F-886F-C6E2-57B5C325975B}"/>
              </a:ext>
            </a:extLst>
          </p:cNvPr>
          <p:cNvSpPr txBox="1">
            <a:spLocks/>
          </p:cNvSpPr>
          <p:nvPr/>
        </p:nvSpPr>
        <p:spPr>
          <a:xfrm>
            <a:off x="656338" y="6071948"/>
            <a:ext cx="51002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&lt;img src="</a:t>
            </a: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photo.jpg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9416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Еднакъв </a:t>
            </a:r>
            <a:r>
              <a:rPr lang="en-GB" b="1" dirty="0">
                <a:solidFill>
                  <a:schemeClr val="bg1"/>
                </a:solidFill>
              </a:rPr>
              <a:t>id </a:t>
            </a:r>
            <a:r>
              <a:rPr lang="bg-BG" dirty="0"/>
              <a:t>за </a:t>
            </a:r>
            <a:r>
              <a:rPr lang="bg-BG" b="1" dirty="0"/>
              <a:t>повече</a:t>
            </a:r>
            <a:r>
              <a:rPr lang="bg-BG" dirty="0"/>
              <a:t> </a:t>
            </a:r>
            <a:r>
              <a:rPr lang="bg-BG" b="1" dirty="0"/>
              <a:t>от един елемент</a:t>
            </a:r>
          </a:p>
          <a:p>
            <a:endParaRPr lang="bg-BG" sz="3600" dirty="0"/>
          </a:p>
          <a:p>
            <a:r>
              <a:rPr lang="bg-BG" sz="3400" b="1" dirty="0">
                <a:solidFill>
                  <a:schemeClr val="bg1"/>
                </a:solidFill>
              </a:rPr>
              <a:t>Клас </a:t>
            </a:r>
            <a:r>
              <a:rPr lang="bg-BG" sz="3400" dirty="0"/>
              <a:t>в</a:t>
            </a:r>
            <a:r>
              <a:rPr lang="bg-BG" sz="3400" b="1" dirty="0">
                <a:solidFill>
                  <a:schemeClr val="bg1"/>
                </a:solidFill>
              </a:rPr>
              <a:t> </a:t>
            </a:r>
            <a:r>
              <a:rPr lang="en-GB" sz="3400" b="1" dirty="0">
                <a:solidFill>
                  <a:schemeClr val="bg1"/>
                </a:solidFill>
              </a:rPr>
              <a:t>HTML</a:t>
            </a:r>
            <a:r>
              <a:rPr lang="en-GB" sz="3400" dirty="0"/>
              <a:t>, </a:t>
            </a:r>
            <a:r>
              <a:rPr lang="bg-BG" sz="3400" dirty="0"/>
              <a:t>който </a:t>
            </a:r>
            <a:r>
              <a:rPr lang="bg-BG" sz="3400" b="1" dirty="0"/>
              <a:t>не съвпада </a:t>
            </a:r>
            <a:r>
              <a:rPr lang="bg-BG" sz="3400" dirty="0"/>
              <a:t>със </a:t>
            </a:r>
            <a:r>
              <a:rPr lang="bg-BG" sz="3400" b="1" dirty="0">
                <a:solidFill>
                  <a:schemeClr val="bg1"/>
                </a:solidFill>
              </a:rPr>
              <a:t>селектора</a:t>
            </a:r>
            <a:r>
              <a:rPr lang="bg-BG" sz="3400" dirty="0"/>
              <a:t> в </a:t>
            </a:r>
            <a:r>
              <a:rPr lang="en-GB" sz="3400" b="1" dirty="0">
                <a:solidFill>
                  <a:schemeClr val="bg1"/>
                </a:solidFill>
              </a:rPr>
              <a:t>CSS</a:t>
            </a:r>
            <a:endParaRPr lang="bg-BG" sz="3400" b="1" dirty="0">
              <a:solidFill>
                <a:schemeClr val="bg1"/>
              </a:solidFill>
            </a:endParaRPr>
          </a:p>
          <a:p>
            <a:endParaRPr lang="en-GB" sz="3400" dirty="0"/>
          </a:p>
          <a:p>
            <a:endParaRPr lang="bg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Чести грешки</a:t>
            </a:r>
            <a:r>
              <a:rPr lang="en-GB" dirty="0"/>
              <a:t> (2)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3A302-EEB9-A250-802A-5B4D91566307}"/>
              </a:ext>
            </a:extLst>
          </p:cNvPr>
          <p:cNvSpPr txBox="1">
            <a:spLocks/>
          </p:cNvSpPr>
          <p:nvPr/>
        </p:nvSpPr>
        <p:spPr>
          <a:xfrm>
            <a:off x="649395" y="1809000"/>
            <a:ext cx="52200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&lt;div id="</a:t>
            </a: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box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"&gt;&lt;/div&gt;</a:t>
            </a:r>
            <a:b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</a:b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&lt;div id="</a:t>
            </a: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box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"&gt;&lt;/div&gt;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B8C1779-5685-5343-EA58-429BFB012053}"/>
              </a:ext>
            </a:extLst>
          </p:cNvPr>
          <p:cNvSpPr txBox="1">
            <a:spLocks/>
          </p:cNvSpPr>
          <p:nvPr/>
        </p:nvSpPr>
        <p:spPr>
          <a:xfrm>
            <a:off x="649394" y="3429000"/>
            <a:ext cx="5761605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&lt;div class="</a:t>
            </a: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box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</a:t>
            </a:r>
            <a:r>
              <a:rPr lang="bg-BG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Съдържание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div&gt;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F0C4B-BF9E-D884-7EB1-648DB57A7CB8}"/>
              </a:ext>
            </a:extLst>
          </p:cNvPr>
          <p:cNvSpPr txBox="1">
            <a:spLocks/>
          </p:cNvSpPr>
          <p:nvPr/>
        </p:nvSpPr>
        <p:spPr>
          <a:xfrm>
            <a:off x="649394" y="4106354"/>
            <a:ext cx="5761605" cy="15696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.card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background-color: </a:t>
            </a: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lightblue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padding: </a:t>
            </a:r>
            <a:r>
              <a:rPr lang="en-US" sz="24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20px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172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Тестване на устройства и браузъри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200" dirty="0"/>
              <a:t>Емулатор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B9CC0-E331-A4D1-1066-4A1439B159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7141" y="1494000"/>
            <a:ext cx="2777717" cy="22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4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3FC5-0EA9-EF02-A0DD-B8B3E1E1B7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Симулира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различно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устройство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размер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екрана</a:t>
            </a:r>
          </a:p>
          <a:p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 се за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проверка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адаптивния дизайн</a:t>
            </a:r>
          </a:p>
          <a:p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Позволява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избор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телефон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таблет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размер по избор</a:t>
            </a:r>
          </a:p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заменя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напълно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проверката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реално устройство</a:t>
            </a:r>
          </a:p>
          <a:p>
            <a:endParaRPr lang="bg-BG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Емулатор</a:t>
            </a:r>
            <a:endParaRPr lang="en-BG" dirty="0"/>
          </a:p>
        </p:txBody>
      </p:sp>
      <p:pic>
        <p:nvPicPr>
          <p:cNvPr id="5" name="Image 1" descr="/mnt/data/a_clean_flat_vector_illustration_graphic_design_sc_batch_4.png">
            <a:extLst>
              <a:ext uri="{FF2B5EF4-FFF2-40B4-BE49-F238E27FC236}">
                <a16:creationId xmlns:a16="http://schemas.microsoft.com/office/drawing/2014/main" id="{760C0653-5869-46FC-6457-B9C5065F7A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06000" y="3828599"/>
            <a:ext cx="3301277" cy="269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35ED9-EB68-35F7-6F0D-323341944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12EC1-6A0F-1DCA-8FF5-2CAA8AC42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Отваряме </a:t>
            </a:r>
            <a:r>
              <a:rPr lang="bg-BG" sz="2800" b="1" dirty="0"/>
              <a:t>уеб страницата </a:t>
            </a:r>
            <a:r>
              <a:rPr lang="bg-BG" sz="2800" dirty="0"/>
              <a:t>с </a:t>
            </a:r>
            <a:r>
              <a:rPr lang="bg-BG" sz="2800" b="1" dirty="0">
                <a:solidFill>
                  <a:schemeClr val="bg1"/>
                </a:solidFill>
              </a:rPr>
              <a:t>уеб браузър </a:t>
            </a:r>
            <a:r>
              <a:rPr lang="bg-BG" sz="2800" dirty="0"/>
              <a:t>(напр. </a:t>
            </a:r>
            <a:r>
              <a:rPr lang="en-GB" sz="2800" b="1" dirty="0"/>
              <a:t>Google Chrome</a:t>
            </a:r>
            <a:r>
              <a:rPr lang="en-US" sz="2800" dirty="0"/>
              <a:t>)</a:t>
            </a:r>
            <a:endParaRPr lang="en-GB" sz="2800" dirty="0"/>
          </a:p>
          <a:p>
            <a:r>
              <a:rPr lang="bg-BG" sz="2800" dirty="0"/>
              <a:t>Отваряме </a:t>
            </a:r>
            <a:r>
              <a:rPr lang="en-GB" sz="2800" b="1" dirty="0">
                <a:solidFill>
                  <a:schemeClr val="bg1"/>
                </a:solidFill>
              </a:rPr>
              <a:t>Developer Tools </a:t>
            </a:r>
            <a:r>
              <a:rPr lang="bg-BG" sz="2800" dirty="0"/>
              <a:t>с </a:t>
            </a:r>
            <a:r>
              <a:rPr lang="en-GB" sz="2800" b="1" dirty="0"/>
              <a:t>F12</a:t>
            </a:r>
            <a:r>
              <a:rPr lang="en-GB" sz="2800" dirty="0"/>
              <a:t> </a:t>
            </a:r>
            <a:r>
              <a:rPr lang="bg-BG" sz="2800" dirty="0"/>
              <a:t>или </a:t>
            </a:r>
            <a:r>
              <a:rPr lang="bg-BG" sz="2800" b="1" dirty="0"/>
              <a:t>десен бутон → </a:t>
            </a:r>
            <a:r>
              <a:rPr lang="en-GB" sz="2800" b="1" dirty="0"/>
              <a:t>Inspect</a:t>
            </a:r>
          </a:p>
          <a:p>
            <a:r>
              <a:rPr lang="bg-BG" sz="2800" dirty="0"/>
              <a:t>Избираме </a:t>
            </a:r>
            <a:r>
              <a:rPr lang="en-GB" sz="2800" b="1" dirty="0">
                <a:solidFill>
                  <a:schemeClr val="bg1"/>
                </a:solidFill>
              </a:rPr>
              <a:t>Toggle device toolbar</a:t>
            </a:r>
            <a:endParaRPr lang="en-BG" sz="28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D9A7EA-A2D1-3AC0-9202-719B8811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Ползване на емулатор 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B393C6-258E-49AE-E7DA-7BE310E7A46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402" y="3420374"/>
            <a:ext cx="3515400" cy="256499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E23754-C8D1-1E87-DC3A-011B9B7DF5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017" y="3429000"/>
            <a:ext cx="3515400" cy="256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D92A5B-4141-5A94-A02A-9A68E1A678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5632" y="4052500"/>
            <a:ext cx="3995966" cy="13507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10">
            <a:extLst>
              <a:ext uri="{FF2B5EF4-FFF2-40B4-BE49-F238E27FC236}">
                <a16:creationId xmlns:a16="http://schemas.microsoft.com/office/drawing/2014/main" id="{35841E50-5045-AE03-E2C5-6F972FA27A05}"/>
              </a:ext>
            </a:extLst>
          </p:cNvPr>
          <p:cNvSpPr/>
          <p:nvPr/>
        </p:nvSpPr>
        <p:spPr>
          <a:xfrm>
            <a:off x="3486000" y="4498863"/>
            <a:ext cx="788371" cy="7482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3" name="Arrow: Right 10">
            <a:extLst>
              <a:ext uri="{FF2B5EF4-FFF2-40B4-BE49-F238E27FC236}">
                <a16:creationId xmlns:a16="http://schemas.microsoft.com/office/drawing/2014/main" id="{8DDFBECD-19E4-486D-E76B-84AE7A5203A3}"/>
              </a:ext>
            </a:extLst>
          </p:cNvPr>
          <p:cNvSpPr/>
          <p:nvPr/>
        </p:nvSpPr>
        <p:spPr>
          <a:xfrm>
            <a:off x="7393615" y="4498862"/>
            <a:ext cx="788371" cy="7482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19283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35ED9-EB68-35F7-6F0D-323341944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12EC1-6A0F-1DCA-8FF5-2CAA8AC42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Избираме </a:t>
            </a:r>
            <a:r>
              <a:rPr lang="bg-BG" sz="2800" b="1" dirty="0">
                <a:solidFill>
                  <a:schemeClr val="bg1"/>
                </a:solidFill>
              </a:rPr>
              <a:t>устройство</a:t>
            </a:r>
            <a:r>
              <a:rPr lang="bg-BG" sz="2800" dirty="0"/>
              <a:t> или </a:t>
            </a:r>
            <a:r>
              <a:rPr lang="bg-BG" sz="2800" b="1" dirty="0">
                <a:solidFill>
                  <a:schemeClr val="bg1"/>
                </a:solidFill>
              </a:rPr>
              <a:t>ръчно</a:t>
            </a:r>
            <a:r>
              <a:rPr lang="bg-BG" sz="2800" dirty="0"/>
              <a:t> задаваме </a:t>
            </a:r>
            <a:r>
              <a:rPr lang="bg-BG" sz="2800" b="1" dirty="0"/>
              <a:t>ширина</a:t>
            </a:r>
          </a:p>
          <a:p>
            <a:r>
              <a:rPr lang="bg-BG" sz="2800" dirty="0"/>
              <a:t>Проверяваме </a:t>
            </a:r>
            <a:r>
              <a:rPr lang="bg-BG" sz="2800" b="1" dirty="0"/>
              <a:t>навигацията</a:t>
            </a:r>
            <a:r>
              <a:rPr lang="bg-BG" sz="2800" dirty="0"/>
              <a:t>, </a:t>
            </a:r>
            <a:r>
              <a:rPr lang="bg-BG" sz="2800" b="1" dirty="0"/>
              <a:t>изображенията</a:t>
            </a:r>
            <a:r>
              <a:rPr lang="bg-BG" sz="2800" dirty="0"/>
              <a:t>, </a:t>
            </a:r>
            <a:r>
              <a:rPr lang="bg-BG" sz="2800" b="1" dirty="0"/>
              <a:t>секциите</a:t>
            </a:r>
            <a:r>
              <a:rPr lang="bg-BG" sz="2800" dirty="0"/>
              <a:t> и т.н.</a:t>
            </a:r>
            <a:endParaRPr lang="en-BG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D9A7EA-A2D1-3AC0-9202-719B8811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Ползване на емулатор </a:t>
            </a:r>
            <a:r>
              <a:rPr lang="en-US" dirty="0"/>
              <a:t>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CC671-70DF-B64B-0F03-F5AF2B2D26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1000" y="2321469"/>
            <a:ext cx="4529929" cy="448253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AE10D3-C6DC-38FF-62C3-FDB6E2756A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1071" y="2834863"/>
            <a:ext cx="3424421" cy="345574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8AAF1C58-7817-AD91-1FCF-BE2B43EA1821}"/>
              </a:ext>
            </a:extLst>
          </p:cNvPr>
          <p:cNvSpPr/>
          <p:nvPr/>
        </p:nvSpPr>
        <p:spPr>
          <a:xfrm>
            <a:off x="4985270" y="4056484"/>
            <a:ext cx="1115952" cy="10125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46615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60B72C-C01F-4363-428B-FA2A54417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54D8E-052F-5AC2-D5A0-0F232910E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Една</a:t>
            </a:r>
            <a:r>
              <a:rPr lang="bg-BG" sz="3000" dirty="0"/>
              <a:t> и </a:t>
            </a:r>
            <a:r>
              <a:rPr lang="bg-BG" sz="3000" b="1" dirty="0"/>
              <a:t>съща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уеб страница </a:t>
            </a:r>
            <a:r>
              <a:rPr lang="bg-BG" sz="3000" dirty="0"/>
              <a:t>се отваря </a:t>
            </a:r>
            <a:r>
              <a:rPr lang="bg-BG" sz="3000" b="1" dirty="0"/>
              <a:t>в повече от един уеб браузър</a:t>
            </a:r>
          </a:p>
          <a:p>
            <a:r>
              <a:rPr lang="bg-BG" sz="3000" b="1" dirty="0"/>
              <a:t>Сравняват</a:t>
            </a:r>
            <a:r>
              <a:rPr lang="bg-BG" sz="3000" dirty="0"/>
              <a:t> се </a:t>
            </a:r>
            <a:r>
              <a:rPr lang="bg-BG" sz="3000" b="1" dirty="0">
                <a:solidFill>
                  <a:schemeClr val="bg1"/>
                </a:solidFill>
              </a:rPr>
              <a:t>подредба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шрифтове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цветове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разстояния</a:t>
            </a:r>
          </a:p>
          <a:p>
            <a:r>
              <a:rPr lang="bg-BG" sz="3000" b="1" dirty="0"/>
              <a:t>Проверява</a:t>
            </a:r>
            <a:r>
              <a:rPr lang="bg-BG" sz="3000" dirty="0"/>
              <a:t> се за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счупени изображения </a:t>
            </a:r>
            <a:r>
              <a:rPr lang="bg-BG" sz="3000" dirty="0"/>
              <a:t>или </a:t>
            </a:r>
            <a:r>
              <a:rPr lang="bg-BG" sz="3000" b="1" dirty="0">
                <a:solidFill>
                  <a:schemeClr val="bg1"/>
                </a:solidFill>
              </a:rPr>
              <a:t>линкове</a:t>
            </a:r>
          </a:p>
          <a:p>
            <a:r>
              <a:rPr lang="bg-BG" sz="3000" b="1" dirty="0"/>
              <a:t>Проверява</a:t>
            </a:r>
            <a:r>
              <a:rPr lang="bg-BG" sz="3000" dirty="0"/>
              <a:t> се дали </a:t>
            </a:r>
            <a:r>
              <a:rPr lang="en-GB" sz="3000" b="1" dirty="0"/>
              <a:t>CSS Grid</a:t>
            </a:r>
            <a:r>
              <a:rPr lang="en-GB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работи очаквано</a:t>
            </a:r>
          </a:p>
          <a:p>
            <a:r>
              <a:rPr lang="bg-BG" sz="3000" dirty="0"/>
              <a:t>При </a:t>
            </a:r>
            <a:r>
              <a:rPr lang="bg-BG" sz="3000" b="1" dirty="0">
                <a:solidFill>
                  <a:schemeClr val="bg1"/>
                </a:solidFill>
              </a:rPr>
              <a:t>разлика</a:t>
            </a:r>
            <a:r>
              <a:rPr lang="bg-BG" sz="3000" dirty="0"/>
              <a:t> се търси </a:t>
            </a:r>
            <a:r>
              <a:rPr lang="bg-BG" sz="3000" b="1" dirty="0"/>
              <a:t>причината</a:t>
            </a:r>
            <a:r>
              <a:rPr lang="bg-BG" sz="3000" dirty="0"/>
              <a:t> в </a:t>
            </a:r>
            <a:r>
              <a:rPr lang="bg-BG" sz="3000" b="1" dirty="0">
                <a:solidFill>
                  <a:schemeClr val="bg1"/>
                </a:solidFill>
              </a:rPr>
              <a:t>кода</a:t>
            </a:r>
            <a:r>
              <a:rPr lang="en-GB" sz="3000" dirty="0"/>
              <a:t> </a:t>
            </a:r>
            <a:r>
              <a:rPr lang="bg-BG" sz="3000" dirty="0"/>
              <a:t>или </a:t>
            </a:r>
            <a:r>
              <a:rPr lang="bg-BG" sz="3000" b="1" dirty="0">
                <a:solidFill>
                  <a:schemeClr val="bg1"/>
                </a:solidFill>
              </a:rPr>
              <a:t>използваните ресурси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2259A8-8B72-E5E7-C68D-B4D16271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в различни браузъри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23138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Тестване и валидиране на уеб сайт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9D19F-E908-B299-4332-5E2DEC7D69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5733" y="1764000"/>
            <a:ext cx="2820533" cy="17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580598" cy="5528766"/>
          </a:xfrm>
        </p:spPr>
        <p:txBody>
          <a:bodyPr>
            <a:normAutofit/>
          </a:bodyPr>
          <a:lstStyle/>
          <a:p>
            <a:r>
              <a:rPr lang="bg-BG" sz="2800" dirty="0"/>
              <a:t>Нека на </a:t>
            </a:r>
            <a:r>
              <a:rPr lang="bg-BG" sz="2800" b="1" dirty="0"/>
              <a:t>дадения </a:t>
            </a:r>
            <a:r>
              <a:rPr lang="bg-BG" sz="2800" b="1" dirty="0">
                <a:solidFill>
                  <a:schemeClr val="bg1"/>
                </a:solidFill>
              </a:rPr>
              <a:t>уеб сайт </a:t>
            </a:r>
            <a:r>
              <a:rPr lang="bg-BG" sz="2800" dirty="0"/>
              <a:t>да извършим </a:t>
            </a:r>
            <a:r>
              <a:rPr lang="bg-BG" sz="2800" b="1" dirty="0"/>
              <a:t>следните </a:t>
            </a:r>
            <a:r>
              <a:rPr lang="bg-BG" sz="2800" b="1" dirty="0">
                <a:solidFill>
                  <a:schemeClr val="bg1"/>
                </a:solidFill>
              </a:rPr>
              <a:t>проверки</a:t>
            </a:r>
            <a:r>
              <a:rPr lang="bg-BG" sz="2800" dirty="0"/>
              <a:t>: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Валидиране на </a:t>
            </a:r>
            <a:r>
              <a:rPr lang="en-US" sz="2600" b="1" dirty="0">
                <a:solidFill>
                  <a:schemeClr val="bg1"/>
                </a:solidFill>
              </a:rPr>
              <a:t>HTML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Валидиране на </a:t>
            </a:r>
            <a:r>
              <a:rPr lang="en-US" sz="2600" b="1" dirty="0">
                <a:solidFill>
                  <a:schemeClr val="bg1"/>
                </a:solidFill>
              </a:rPr>
              <a:t>CSS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Тестване на функционалност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Тестване на адаптивност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Тестване на достъпност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и валидиране на уеб 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13707-FCC2-8366-76EB-D682080ABBC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1135" y="1312700"/>
            <a:ext cx="5245100" cy="51943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60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FA0D50-6A19-AA91-D160-7844D7E97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3DE95-2EBE-A4C8-47F7-29CFD5287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/>
              <a:t>Отваряме </a:t>
            </a:r>
            <a:r>
              <a:rPr lang="en-GB" sz="2800" b="1" dirty="0">
                <a:solidFill>
                  <a:schemeClr val="bg1"/>
                </a:solidFill>
              </a:rPr>
              <a:t>W3C Markup Validation Service </a:t>
            </a:r>
            <a:r>
              <a:rPr lang="en-GB" sz="2800" dirty="0"/>
              <a:t>(</a:t>
            </a:r>
            <a:r>
              <a:rPr lang="en-GB" sz="2800" dirty="0">
                <a:hlinkClick r:id="rId2"/>
              </a:rPr>
              <a:t>validator.w3.org</a:t>
            </a:r>
            <a:r>
              <a:rPr lang="en-GB" sz="2800" dirty="0"/>
              <a:t>)</a:t>
            </a:r>
          </a:p>
          <a:p>
            <a:r>
              <a:rPr lang="bg-BG" sz="2800" dirty="0"/>
              <a:t>Избираме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Validate by File Upload</a:t>
            </a:r>
            <a:r>
              <a:rPr lang="en-US" sz="2800" b="1" dirty="0"/>
              <a:t>]</a:t>
            </a:r>
            <a:endParaRPr lang="en-GB" sz="2800" b="1" dirty="0"/>
          </a:p>
          <a:p>
            <a:r>
              <a:rPr lang="bg-BG" sz="2800" dirty="0"/>
              <a:t>Качваме </a:t>
            </a:r>
            <a:r>
              <a:rPr lang="en-US" sz="2800" b="1" dirty="0">
                <a:solidFill>
                  <a:schemeClr val="bg1"/>
                </a:solidFill>
              </a:rPr>
              <a:t>index.html </a:t>
            </a:r>
            <a:r>
              <a:rPr lang="bg-BG" sz="2800" b="1" dirty="0">
                <a:solidFill>
                  <a:schemeClr val="bg1"/>
                </a:solidFill>
              </a:rPr>
              <a:t>файла </a:t>
            </a:r>
            <a:r>
              <a:rPr lang="bg-BG" sz="2800" dirty="0"/>
              <a:t>от </a:t>
            </a:r>
            <a:r>
              <a:rPr lang="bg-BG" sz="2800" b="1" dirty="0"/>
              <a:t>ресурсите</a:t>
            </a:r>
            <a:r>
              <a:rPr lang="bg-BG" sz="2800" dirty="0"/>
              <a:t> и </a:t>
            </a:r>
            <a:r>
              <a:rPr lang="bg-BG" sz="2800" b="1" dirty="0"/>
              <a:t>кликаме</a:t>
            </a:r>
            <a:r>
              <a:rPr lang="bg-BG" sz="2800" dirty="0"/>
              <a:t> върху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en-BG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CA7538-2970-1780-7AEC-FC54F754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HTML</a:t>
            </a:r>
            <a:r>
              <a:rPr lang="bg-BG" dirty="0"/>
              <a:t>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16BD2A-E8AB-360D-B68A-6BD5C3B32A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3500" y="3193185"/>
            <a:ext cx="5085000" cy="322616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26E824-EF35-AF82-F1F1-0726F7C31D6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3500" y="3193185"/>
            <a:ext cx="5085000" cy="322616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0CA84A-746D-04C1-948D-806763FE380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0679" y="3193185"/>
            <a:ext cx="5085000" cy="322616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2847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FA0D50-6A19-AA91-D160-7844D7E97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3DE95-2EBE-A4C8-47F7-29CFD5287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Разглеждаме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грешките</a:t>
            </a:r>
          </a:p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Редактираме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HTML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кода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валидираме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отново</a:t>
            </a:r>
            <a:endParaRPr lang="en-BG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CA7538-2970-1780-7AEC-FC54F754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HTML (2)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2D9D4-0756-D51F-3C10-B6B078BA4DE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0128" y="2529000"/>
            <a:ext cx="4218010" cy="368925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Arrow: Right 10">
            <a:extLst>
              <a:ext uri="{FF2B5EF4-FFF2-40B4-BE49-F238E27FC236}">
                <a16:creationId xmlns:a16="http://schemas.microsoft.com/office/drawing/2014/main" id="{829C11E7-C160-CC34-9E33-BE40852D0693}"/>
              </a:ext>
            </a:extLst>
          </p:cNvPr>
          <p:cNvSpPr/>
          <p:nvPr/>
        </p:nvSpPr>
        <p:spPr>
          <a:xfrm>
            <a:off x="5353079" y="3805689"/>
            <a:ext cx="1190397" cy="113587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B2B2E5-17ED-D2E4-A94D-BEFDAED41B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2644" y="3024030"/>
            <a:ext cx="4905000" cy="27354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634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5EC30-EC7E-FB6B-01AF-B4DB9AC7F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00818-762B-DFD8-6B9E-4C2FBE1424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/>
              <a:t>Отваряме </a:t>
            </a:r>
            <a:r>
              <a:rPr lang="en-GB" sz="2800" b="1" dirty="0">
                <a:solidFill>
                  <a:schemeClr val="bg1"/>
                </a:solidFill>
              </a:rPr>
              <a:t>W3C CSS Validation Service </a:t>
            </a:r>
            <a:r>
              <a:rPr lang="en-GB" sz="2800" dirty="0"/>
              <a:t>(</a:t>
            </a:r>
            <a:r>
              <a:rPr lang="en-GB" sz="2800" dirty="0">
                <a:hlinkClick r:id="rId2"/>
              </a:rPr>
              <a:t>jigsaw.w3.org/css-validator</a:t>
            </a:r>
            <a:r>
              <a:rPr lang="en-GB" sz="2800" dirty="0"/>
              <a:t>)</a:t>
            </a:r>
          </a:p>
          <a:p>
            <a:r>
              <a:rPr lang="bg-BG" sz="2800" dirty="0"/>
              <a:t>Избираме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By file upload</a:t>
            </a:r>
            <a:r>
              <a:rPr lang="en-US" sz="2800" b="1" dirty="0"/>
              <a:t>]</a:t>
            </a:r>
            <a:endParaRPr lang="en-GB" sz="2800" b="1" dirty="0"/>
          </a:p>
          <a:p>
            <a:r>
              <a:rPr lang="bg-BG" sz="2800" dirty="0"/>
              <a:t>Качваме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CSS </a:t>
            </a:r>
            <a:r>
              <a:rPr lang="bg-BG" sz="2800" b="1" dirty="0">
                <a:solidFill>
                  <a:schemeClr val="bg1"/>
                </a:solidFill>
              </a:rPr>
              <a:t>файла </a:t>
            </a:r>
            <a:r>
              <a:rPr lang="bg-BG" sz="2800" dirty="0"/>
              <a:t>от </a:t>
            </a:r>
            <a:r>
              <a:rPr lang="bg-BG" sz="2800" b="1" dirty="0"/>
              <a:t>ресурсите</a:t>
            </a:r>
            <a:r>
              <a:rPr lang="bg-BG" sz="2800" dirty="0"/>
              <a:t> и </a:t>
            </a:r>
            <a:r>
              <a:rPr lang="bg-BG" sz="2800" b="1" dirty="0"/>
              <a:t>кликаме</a:t>
            </a:r>
            <a:r>
              <a:rPr lang="bg-BG" sz="2800" dirty="0"/>
              <a:t> върху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en-BG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FE929F-D9BE-4D76-1FCD-DAF381DA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CSS</a:t>
            </a:r>
            <a:r>
              <a:rPr lang="bg-BG" dirty="0"/>
              <a:t> (</a:t>
            </a:r>
            <a:r>
              <a:rPr lang="en-US" dirty="0"/>
              <a:t>1)</a:t>
            </a:r>
            <a:endParaRPr lang="en-B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A71A7E-B5B1-8DCB-AD71-C9D6A3F634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976" y="3046200"/>
            <a:ext cx="4784047" cy="3460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02751E-05CA-F0D4-E6C9-00CBFBBB67C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975" y="3037597"/>
            <a:ext cx="4784047" cy="3460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C8F80-2667-86EB-93B3-5FA78A32D67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975" y="3057794"/>
            <a:ext cx="4784047" cy="3460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325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5EC30-EC7E-FB6B-01AF-B4DB9AC7F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00818-762B-DFD8-6B9E-4C2FBE1424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Разглеждаме</a:t>
            </a: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600" b="1" dirty="0">
                <a:latin typeface="Calibri" panose="020F0502020204030204" pitchFamily="34" charset="0"/>
                <a:cs typeface="Calibri" panose="020F0502020204030204" pitchFamily="34" charset="0"/>
              </a:rPr>
              <a:t>грешките</a:t>
            </a:r>
          </a:p>
          <a:p>
            <a:r>
              <a:rPr lang="bg-BG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Редактираме</a:t>
            </a: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HTML </a:t>
            </a:r>
            <a:r>
              <a:rPr lang="bg-BG" sz="3600" b="1" dirty="0">
                <a:latin typeface="Calibri" panose="020F0502020204030204" pitchFamily="34" charset="0"/>
                <a:cs typeface="Calibri" panose="020F0502020204030204" pitchFamily="34" charset="0"/>
              </a:rPr>
              <a:t>кода </a:t>
            </a: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bg-BG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валидираме</a:t>
            </a: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600" b="1" dirty="0">
                <a:latin typeface="Calibri" panose="020F0502020204030204" pitchFamily="34" charset="0"/>
                <a:cs typeface="Calibri" panose="020F0502020204030204" pitchFamily="34" charset="0"/>
              </a:rPr>
              <a:t>отново</a:t>
            </a:r>
            <a:endParaRPr lang="en-BG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FE929F-D9BE-4D76-1FCD-DAF381DA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Валидиране на </a:t>
            </a:r>
            <a:r>
              <a:rPr lang="en-US" dirty="0"/>
              <a:t>CSS (2)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8C7EC-3E4E-D82E-37D4-EB67057919F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38" y="2899866"/>
            <a:ext cx="7772400" cy="93291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B9140B-D016-D4CD-F5F8-F3E27A44A0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0630" y="5328709"/>
            <a:ext cx="7772400" cy="89963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Arrow: Right 10">
            <a:extLst>
              <a:ext uri="{FF2B5EF4-FFF2-40B4-BE49-F238E27FC236}">
                <a16:creationId xmlns:a16="http://schemas.microsoft.com/office/drawing/2014/main" id="{39B01DB9-3230-2435-C9E8-0084A2DC2021}"/>
              </a:ext>
            </a:extLst>
          </p:cNvPr>
          <p:cNvSpPr/>
          <p:nvPr/>
        </p:nvSpPr>
        <p:spPr>
          <a:xfrm rot="5400000">
            <a:off x="5626695" y="4105196"/>
            <a:ext cx="938610" cy="9510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7565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A2B16-39B3-B762-DB01-BAD14D148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2AFD-A62E-90E6-5F87-46750635D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Проверяваме </a:t>
            </a:r>
            <a:r>
              <a:rPr lang="bg-BG" b="1" dirty="0">
                <a:solidFill>
                  <a:schemeClr val="bg1"/>
                </a:solidFill>
              </a:rPr>
              <a:t>линковете</a:t>
            </a:r>
            <a:r>
              <a:rPr lang="bg-BG" dirty="0"/>
              <a:t> в </a:t>
            </a:r>
            <a:r>
              <a:rPr lang="bg-BG" b="1" dirty="0"/>
              <a:t>навигацията</a:t>
            </a:r>
          </a:p>
          <a:p>
            <a:r>
              <a:rPr lang="bg-BG" dirty="0"/>
              <a:t>Линкът "</a:t>
            </a:r>
            <a:r>
              <a:rPr lang="bg-BG" b="1" dirty="0"/>
              <a:t>Контакти</a:t>
            </a:r>
            <a:r>
              <a:rPr lang="en-US" dirty="0"/>
              <a:t>"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не води </a:t>
            </a:r>
            <a:r>
              <a:rPr lang="bg-BG" dirty="0"/>
              <a:t>към </a:t>
            </a:r>
            <a:r>
              <a:rPr lang="bg-BG" b="1" dirty="0"/>
              <a:t>съответната секция</a:t>
            </a:r>
          </a:p>
          <a:p>
            <a:r>
              <a:rPr lang="bg-BG" dirty="0"/>
              <a:t>Поправяме в </a:t>
            </a:r>
            <a:r>
              <a:rPr lang="bg-BG" b="1" dirty="0"/>
              <a:t>кода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FE332-C94C-A39D-C082-6779DBDF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на функционалност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E0A6B-1000-8C92-56F3-790379ABBC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000" y="4738700"/>
            <a:ext cx="4089400" cy="279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390258E8-DB33-C158-5E79-0AD3EB3B4009}"/>
              </a:ext>
            </a:extLst>
          </p:cNvPr>
          <p:cNvSpPr/>
          <p:nvPr/>
        </p:nvSpPr>
        <p:spPr>
          <a:xfrm>
            <a:off x="5017742" y="4402852"/>
            <a:ext cx="938610" cy="9510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DB4813-701B-B3AC-00C2-E1C7F24AC2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2" t="20083" r="8895" b="12602"/>
          <a:stretch/>
        </p:blipFill>
        <p:spPr>
          <a:xfrm>
            <a:off x="6304925" y="3118700"/>
            <a:ext cx="5355000" cy="324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223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A2B16-39B3-B762-DB01-BAD14D148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2AFD-A62E-90E6-5F87-46750635D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Отваряме </a:t>
            </a:r>
            <a:r>
              <a:rPr lang="en-US" sz="2800" b="1" dirty="0"/>
              <a:t>Developer Tools </a:t>
            </a:r>
            <a:r>
              <a:rPr lang="bg-BG" sz="2800" dirty="0"/>
              <a:t>и включваме </a:t>
            </a:r>
            <a:r>
              <a:rPr lang="bg-BG" sz="2800" b="1" dirty="0">
                <a:solidFill>
                  <a:schemeClr val="bg1"/>
                </a:solidFill>
              </a:rPr>
              <a:t>емулатора</a:t>
            </a:r>
          </a:p>
          <a:p>
            <a:r>
              <a:rPr lang="bg-BG" sz="2800" dirty="0"/>
              <a:t>Нека въведем </a:t>
            </a:r>
            <a:r>
              <a:rPr lang="bg-BG" sz="2800" b="1" dirty="0">
                <a:solidFill>
                  <a:schemeClr val="bg1"/>
                </a:solidFill>
              </a:rPr>
              <a:t>ширина</a:t>
            </a:r>
            <a:r>
              <a:rPr lang="bg-BG" sz="2800" dirty="0"/>
              <a:t> </a:t>
            </a:r>
            <a:r>
              <a:rPr lang="bg-BG" sz="2800" b="1" dirty="0"/>
              <a:t>30</a:t>
            </a:r>
            <a:r>
              <a:rPr lang="en-US" sz="2800" b="1" dirty="0"/>
              <a:t>0px</a:t>
            </a:r>
            <a:endParaRPr lang="bg-BG" sz="2800" b="1" dirty="0"/>
          </a:p>
          <a:p>
            <a:r>
              <a:rPr lang="bg-BG" sz="2800" dirty="0"/>
              <a:t>Откриваме, че </a:t>
            </a:r>
            <a:r>
              <a:rPr lang="bg-BG" sz="2800" b="1" dirty="0"/>
              <a:t>навигацията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не се побира </a:t>
            </a:r>
            <a:r>
              <a:rPr lang="bg-BG" sz="2800" dirty="0"/>
              <a:t>на </a:t>
            </a:r>
            <a:r>
              <a:rPr lang="bg-BG" sz="2800" b="1" dirty="0"/>
              <a:t>тесен екран</a:t>
            </a:r>
            <a:endParaRPr lang="en-US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FE332-C94C-A39D-C082-6779DBDF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на адаптивност </a:t>
            </a:r>
            <a:r>
              <a:rPr lang="en-US" dirty="0"/>
              <a:t>(1)</a:t>
            </a:r>
            <a:endParaRPr lang="en-BG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AF4AA0-DE10-353E-EF95-F7ADD5967E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7201" y="2960179"/>
            <a:ext cx="4134589" cy="379707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F7141D-A505-050C-2B7A-103E59257F8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7201" y="2960178"/>
            <a:ext cx="4134589" cy="379707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81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A2B16-39B3-B762-DB01-BAD14D148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2AFD-A62E-90E6-5F87-46750635D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Редактираме </a:t>
            </a:r>
            <a:r>
              <a:rPr lang="en-US" b="1" dirty="0"/>
              <a:t>CSS </a:t>
            </a:r>
            <a:r>
              <a:rPr lang="bg-BG" b="1" dirty="0"/>
              <a:t>кода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FE332-C94C-A39D-C082-6779DBDF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на адаптивност (2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9917C-66E1-F231-1816-C2EF64996B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7946" y="1372958"/>
            <a:ext cx="4375084" cy="5175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A29493-543B-9BC0-5FDE-02F0A848E4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970" y="3544258"/>
            <a:ext cx="1665000" cy="832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124ED7-F688-3FBE-44FB-135BCDAFB94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8470" y="3237179"/>
            <a:ext cx="3744976" cy="144665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DF16BE7D-156B-2F50-1F2A-A865942D3968}"/>
              </a:ext>
            </a:extLst>
          </p:cNvPr>
          <p:cNvSpPr/>
          <p:nvPr/>
        </p:nvSpPr>
        <p:spPr>
          <a:xfrm>
            <a:off x="2143697" y="3673486"/>
            <a:ext cx="724773" cy="5740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3" name="Arrow: Right 10">
            <a:extLst>
              <a:ext uri="{FF2B5EF4-FFF2-40B4-BE49-F238E27FC236}">
                <a16:creationId xmlns:a16="http://schemas.microsoft.com/office/drawing/2014/main" id="{DA21E981-6376-4372-4FD7-B194A6C2F93D}"/>
              </a:ext>
            </a:extLst>
          </p:cNvPr>
          <p:cNvSpPr/>
          <p:nvPr/>
        </p:nvSpPr>
        <p:spPr>
          <a:xfrm>
            <a:off x="6613446" y="3673485"/>
            <a:ext cx="724773" cy="5740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87080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432C55-BEF9-EC00-0081-0EDC099F0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71078-3A9F-64B7-ABC2-4882C2A492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Проверяваме </a:t>
            </a:r>
            <a:r>
              <a:rPr lang="bg-BG" b="1" dirty="0">
                <a:solidFill>
                  <a:schemeClr val="bg1"/>
                </a:solidFill>
              </a:rPr>
              <a:t>формата</a:t>
            </a:r>
            <a:r>
              <a:rPr lang="bg-BG" dirty="0"/>
              <a:t> за </a:t>
            </a:r>
            <a:r>
              <a:rPr lang="bg-BG" b="1" dirty="0"/>
              <a:t>контакт</a:t>
            </a:r>
            <a:endParaRPr lang="bg-BG" dirty="0"/>
          </a:p>
          <a:p>
            <a:r>
              <a:rPr lang="bg-BG" dirty="0"/>
              <a:t>Поправяме </a:t>
            </a:r>
            <a:r>
              <a:rPr lang="bg-BG" b="1" dirty="0"/>
              <a:t>кода</a:t>
            </a:r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320536-9F1C-93B4-31E6-725D0DE8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 на достъпност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DB6D0B-F9F8-CF10-273A-2C7F5C481B6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402" y="3744000"/>
            <a:ext cx="5725816" cy="153107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E9F23B-CFF9-7CF8-18A6-76631319C7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2293" y="1958904"/>
            <a:ext cx="5030737" cy="462205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34457A7E-583C-4534-A983-069B4C668722}"/>
              </a:ext>
            </a:extLst>
          </p:cNvPr>
          <p:cNvSpPr/>
          <p:nvPr/>
        </p:nvSpPr>
        <p:spPr>
          <a:xfrm>
            <a:off x="5966028" y="4033991"/>
            <a:ext cx="938610" cy="9510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2188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389F5-433A-2869-01ED-D9C1AFD33C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313998"/>
            <a:ext cx="4775710" cy="504144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04EEC9-4654-0A38-1958-ABD7733950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000" y="1313999"/>
            <a:ext cx="4948088" cy="504144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62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8D730-3051-012A-4A10-D32A934138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3500" y="1126977"/>
            <a:ext cx="5984999" cy="567702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410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Тестването</a:t>
            </a:r>
            <a:r>
              <a:rPr lang="bg-BG" sz="2800" dirty="0"/>
              <a:t> </a:t>
            </a:r>
            <a:r>
              <a:rPr lang="bg-BG" sz="2800" b="1" dirty="0"/>
              <a:t>открива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бъгове</a:t>
            </a:r>
            <a:r>
              <a:rPr lang="bg-BG" sz="2800" dirty="0"/>
              <a:t> в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поведението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външния вид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използването</a:t>
            </a:r>
            <a:r>
              <a:rPr lang="bg-BG" sz="2800" dirty="0"/>
              <a:t> на </a:t>
            </a:r>
            <a:r>
              <a:rPr lang="bg-BG" sz="2800" b="1" dirty="0"/>
              <a:t>уеб сайта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Валидирането</a:t>
            </a:r>
            <a:r>
              <a:rPr lang="bg-BG" sz="2800" dirty="0"/>
              <a:t> </a:t>
            </a:r>
            <a:r>
              <a:rPr lang="bg-BG" sz="2800" b="1" dirty="0"/>
              <a:t>проверява</a:t>
            </a:r>
            <a:r>
              <a:rPr lang="bg-BG" sz="2800" dirty="0"/>
              <a:t> дали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HTML</a:t>
            </a:r>
            <a:r>
              <a:rPr lang="en-GB" sz="2800" dirty="0"/>
              <a:t> </a:t>
            </a:r>
            <a:r>
              <a:rPr lang="bg-BG" sz="2800" dirty="0"/>
              <a:t>и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CSS</a:t>
            </a:r>
            <a:r>
              <a:rPr lang="en-GB" sz="2800" dirty="0"/>
              <a:t> </a:t>
            </a:r>
            <a:r>
              <a:rPr lang="bg-BG" sz="2800" b="1" dirty="0"/>
              <a:t>кодът</a:t>
            </a:r>
            <a:r>
              <a:rPr lang="bg-BG" sz="2800" dirty="0"/>
              <a:t> </a:t>
            </a:r>
            <a:r>
              <a:rPr lang="bg-BG" sz="2800" b="1" dirty="0"/>
              <a:t>спазва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правилата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Валидният код </a:t>
            </a:r>
            <a:r>
              <a:rPr lang="bg-BG" sz="2800" dirty="0"/>
              <a:t>е </a:t>
            </a:r>
            <a:r>
              <a:rPr lang="bg-BG" sz="2800" b="1" dirty="0"/>
              <a:t>важен</a:t>
            </a:r>
            <a:r>
              <a:rPr lang="bg-BG" sz="2800" dirty="0"/>
              <a:t>, но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не е достатъчен </a:t>
            </a:r>
            <a:r>
              <a:rPr lang="bg-BG" sz="2800" b="1" dirty="0"/>
              <a:t>без ръчно тестване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DevTools</a:t>
            </a:r>
            <a:r>
              <a:rPr lang="en-GB" sz="2800" dirty="0"/>
              <a:t> </a:t>
            </a:r>
            <a:r>
              <a:rPr lang="bg-BG" sz="2800" b="1" dirty="0"/>
              <a:t>помага</a:t>
            </a:r>
            <a:r>
              <a:rPr lang="bg-BG" sz="2800" dirty="0"/>
              <a:t> за </a:t>
            </a:r>
            <a:r>
              <a:rPr lang="bg-BG" sz="2800" b="1" dirty="0"/>
              <a:t>откриване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проблеми</a:t>
            </a:r>
            <a:r>
              <a:rPr lang="bg-BG" sz="2800" dirty="0"/>
              <a:t> в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HTML</a:t>
            </a:r>
            <a:r>
              <a:rPr lang="en-GB" sz="2800" dirty="0"/>
              <a:t>,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CSS</a:t>
            </a:r>
            <a:r>
              <a:rPr lang="en-GB" sz="2800" dirty="0"/>
              <a:t>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адаптивността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Емулаторът</a:t>
            </a:r>
            <a:r>
              <a:rPr lang="bg-BG" sz="2800" dirty="0"/>
              <a:t> </a:t>
            </a:r>
            <a:r>
              <a:rPr lang="bg-BG" sz="2800" b="1" dirty="0"/>
              <a:t>помага</a:t>
            </a:r>
            <a:r>
              <a:rPr lang="bg-BG" sz="2800" dirty="0"/>
              <a:t> да се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тества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изгледът</a:t>
            </a:r>
            <a:r>
              <a:rPr lang="bg-BG" sz="2800" dirty="0"/>
              <a:t> на </a:t>
            </a:r>
            <a:r>
              <a:rPr lang="bg-BG" sz="2800" b="1" dirty="0"/>
              <a:t>различни екрани</a:t>
            </a:r>
            <a:endParaRPr lang="bg-BG" sz="28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61875</TotalTime>
  <Words>1605</Words>
  <Application>Microsoft Office PowerPoint</Application>
  <PresentationFormat>Widescreen</PresentationFormat>
  <Paragraphs>275</Paragraphs>
  <Slides>42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Consolas</vt:lpstr>
      <vt:lpstr>Wingdings</vt:lpstr>
      <vt:lpstr>SoftUni</vt:lpstr>
      <vt:lpstr>Тестване на уеб сайт</vt:lpstr>
      <vt:lpstr>Съдържание</vt:lpstr>
      <vt:lpstr>Тестване и валидиране на уеб сайт</vt:lpstr>
      <vt:lpstr>Тестване на уеб сайт</vt:lpstr>
      <vt:lpstr>Бъг</vt:lpstr>
      <vt:lpstr>Основни проверки при тестване (1)</vt:lpstr>
      <vt:lpstr>Основни проверки при тестване (2)</vt:lpstr>
      <vt:lpstr>Валидиране на уеб сайт</vt:lpstr>
      <vt:lpstr>Тестване vs. валидиране</vt:lpstr>
      <vt:lpstr>Инструменти за валидиране</vt:lpstr>
      <vt:lpstr>Валидиране на HTML</vt:lpstr>
      <vt:lpstr>Валидиране на HTML – Пример</vt:lpstr>
      <vt:lpstr>HTML валидатор – Пример (1)</vt:lpstr>
      <vt:lpstr>HTML валидатор – Пример (2)</vt:lpstr>
      <vt:lpstr>Валидиране на CSS</vt:lpstr>
      <vt:lpstr>Валидиране на CSS – Пример</vt:lpstr>
      <vt:lpstr>CSS валидатор – Пример (1)</vt:lpstr>
      <vt:lpstr>CSS валидатор – Пример (2)</vt:lpstr>
      <vt:lpstr>Тагов атрибут</vt:lpstr>
      <vt:lpstr>Тагов атрибут</vt:lpstr>
      <vt:lpstr>Чести грешки (1)</vt:lpstr>
      <vt:lpstr>Чести грешки (2)</vt:lpstr>
      <vt:lpstr>Емулатор</vt:lpstr>
      <vt:lpstr>Емулатор</vt:lpstr>
      <vt:lpstr>Ползване на емулатор (1)</vt:lpstr>
      <vt:lpstr>Ползване на емулатор (2)</vt:lpstr>
      <vt:lpstr>Тестване в различни браузъри</vt:lpstr>
      <vt:lpstr>Пример</vt:lpstr>
      <vt:lpstr>Тестване и валидиране на уеб сайт</vt:lpstr>
      <vt:lpstr>Валидиране на HTML (1)</vt:lpstr>
      <vt:lpstr>Валидиране на HTML (2)</vt:lpstr>
      <vt:lpstr>Валидиране на CSS (1)</vt:lpstr>
      <vt:lpstr>Валидиране на CSS (2)</vt:lpstr>
      <vt:lpstr>Тестване на функционалност</vt:lpstr>
      <vt:lpstr>Тестване на адаптивност (1)</vt:lpstr>
      <vt:lpstr>Тестване на адаптивност (2)</vt:lpstr>
      <vt:lpstr>Тестване на достъпност</vt:lpstr>
      <vt:lpstr>Резултат (1)</vt:lpstr>
      <vt:lpstr>Резултат (2)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Тестване на уеб сайт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527</cp:revision>
  <dcterms:created xsi:type="dcterms:W3CDTF">2018-05-23T13:08:44Z</dcterms:created>
  <dcterms:modified xsi:type="dcterms:W3CDTF">2026-08-03T15:24:23Z</dcterms:modified>
  <cp:category/>
</cp:coreProperties>
</file>