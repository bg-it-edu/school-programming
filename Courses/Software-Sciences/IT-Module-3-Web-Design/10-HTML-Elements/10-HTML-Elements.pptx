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9"/>
  </p:notesMasterIdLst>
  <p:handoutMasterIdLst>
    <p:handoutMasterId r:id="rId60"/>
  </p:handoutMasterIdLst>
  <p:sldIdLst>
    <p:sldId id="503" r:id="rId2"/>
    <p:sldId id="276" r:id="rId3"/>
    <p:sldId id="353" r:id="rId4"/>
    <p:sldId id="913" r:id="rId5"/>
    <p:sldId id="893" r:id="rId6"/>
    <p:sldId id="914" r:id="rId7"/>
    <p:sldId id="894" r:id="rId8"/>
    <p:sldId id="925" r:id="rId9"/>
    <p:sldId id="926" r:id="rId10"/>
    <p:sldId id="924" r:id="rId11"/>
    <p:sldId id="943" r:id="rId12"/>
    <p:sldId id="945" r:id="rId13"/>
    <p:sldId id="610" r:id="rId14"/>
    <p:sldId id="915" r:id="rId15"/>
    <p:sldId id="941" r:id="rId16"/>
    <p:sldId id="942" r:id="rId17"/>
    <p:sldId id="944" r:id="rId18"/>
    <p:sldId id="896" r:id="rId19"/>
    <p:sldId id="917" r:id="rId20"/>
    <p:sldId id="616" r:id="rId21"/>
    <p:sldId id="876" r:id="rId22"/>
    <p:sldId id="919" r:id="rId23"/>
    <p:sldId id="897" r:id="rId24"/>
    <p:sldId id="920" r:id="rId25"/>
    <p:sldId id="898" r:id="rId26"/>
    <p:sldId id="918" r:id="rId27"/>
    <p:sldId id="890" r:id="rId28"/>
    <p:sldId id="921" r:id="rId29"/>
    <p:sldId id="895" r:id="rId30"/>
    <p:sldId id="946" r:id="rId31"/>
    <p:sldId id="927" r:id="rId32"/>
    <p:sldId id="899" r:id="rId33"/>
    <p:sldId id="900" r:id="rId34"/>
    <p:sldId id="922" r:id="rId35"/>
    <p:sldId id="901" r:id="rId36"/>
    <p:sldId id="892" r:id="rId37"/>
    <p:sldId id="928" r:id="rId38"/>
    <p:sldId id="654" r:id="rId39"/>
    <p:sldId id="884" r:id="rId40"/>
    <p:sldId id="902" r:id="rId41"/>
    <p:sldId id="903" r:id="rId42"/>
    <p:sldId id="930" r:id="rId43"/>
    <p:sldId id="886" r:id="rId44"/>
    <p:sldId id="887" r:id="rId45"/>
    <p:sldId id="931" r:id="rId46"/>
    <p:sldId id="932" r:id="rId47"/>
    <p:sldId id="933" r:id="rId48"/>
    <p:sldId id="934" r:id="rId49"/>
    <p:sldId id="938" r:id="rId50"/>
    <p:sldId id="935" r:id="rId51"/>
    <p:sldId id="939" r:id="rId52"/>
    <p:sldId id="940" r:id="rId53"/>
    <p:sldId id="936" r:id="rId54"/>
    <p:sldId id="937" r:id="rId55"/>
    <p:sldId id="633" r:id="rId56"/>
    <p:sldId id="504" r:id="rId57"/>
    <p:sldId id="505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Текст и форматиране" id="{66DCFE1F-60FD-44F2-BE82-706DDBC14898}">
          <p14:sldIdLst>
            <p14:sldId id="353"/>
            <p14:sldId id="913"/>
            <p14:sldId id="893"/>
            <p14:sldId id="914"/>
            <p14:sldId id="894"/>
            <p14:sldId id="925"/>
            <p14:sldId id="926"/>
            <p14:sldId id="924"/>
            <p14:sldId id="943"/>
            <p14:sldId id="945"/>
          </p14:sldIdLst>
        </p14:section>
        <p14:section name="Хипервръзки и изображения" id="{EB44CA50-B176-0C4C-B0D0-5459023C7783}">
          <p14:sldIdLst>
            <p14:sldId id="610"/>
            <p14:sldId id="915"/>
            <p14:sldId id="941"/>
            <p14:sldId id="942"/>
            <p14:sldId id="944"/>
            <p14:sldId id="896"/>
            <p14:sldId id="917"/>
          </p14:sldIdLst>
        </p14:section>
        <p14:section name="Списъци и таблици" id="{2B3E1915-4BA2-9447-BC07-AE658EE7EC35}">
          <p14:sldIdLst>
            <p14:sldId id="616"/>
            <p14:sldId id="876"/>
            <p14:sldId id="919"/>
            <p14:sldId id="897"/>
            <p14:sldId id="920"/>
            <p14:sldId id="898"/>
            <p14:sldId id="918"/>
          </p14:sldIdLst>
        </p14:section>
        <p14:section name="Форми и въвеждане на данни" id="{F3E5E60E-1C29-2A40-A946-DE661CC0CC66}">
          <p14:sldIdLst>
            <p14:sldId id="890"/>
            <p14:sldId id="921"/>
            <p14:sldId id="895"/>
            <p14:sldId id="946"/>
            <p14:sldId id="927"/>
            <p14:sldId id="899"/>
            <p14:sldId id="900"/>
            <p14:sldId id="922"/>
            <p14:sldId id="901"/>
            <p14:sldId id="892"/>
            <p14:sldId id="928"/>
          </p14:sldIdLst>
        </p14:section>
        <p14:section name="Аудио и видео" id="{276EAB92-AF41-DD42-AFD3-D1ABB239E1A7}">
          <p14:sldIdLst>
            <p14:sldId id="654"/>
            <p14:sldId id="884"/>
            <p14:sldId id="902"/>
          </p14:sldIdLst>
        </p14:section>
        <p14:section name="Демо" id="{6FBE0206-61BA-F440-8646-6BC4E102EE1C}">
          <p14:sldIdLst>
            <p14:sldId id="903"/>
            <p14:sldId id="930"/>
            <p14:sldId id="886"/>
            <p14:sldId id="887"/>
            <p14:sldId id="931"/>
            <p14:sldId id="932"/>
            <p14:sldId id="933"/>
            <p14:sldId id="934"/>
            <p14:sldId id="938"/>
            <p14:sldId id="935"/>
            <p14:sldId id="939"/>
            <p14:sldId id="940"/>
            <p14:sldId id="936"/>
            <p14:sldId id="937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B4C3"/>
    <a:srgbClr val="EA9100"/>
    <a:srgbClr val="2344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742" autoAdjust="0"/>
    <p:restoredTop sz="95427" autoAdjust="0"/>
  </p:normalViewPr>
  <p:slideViewPr>
    <p:cSldViewPr showGuides="1">
      <p:cViewPr varScale="1">
        <p:scale>
          <a:sx n="100" d="100"/>
          <a:sy n="100" d="100"/>
        </p:scale>
        <p:origin x="192" y="34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86" d="100"/>
          <a:sy n="86" d="100"/>
        </p:scale>
        <p:origin x="3928" y="200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8/10/relationships/authors" Target="authors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</a:t>
            </a:r>
            <a:r>
              <a:rPr lang="en-US" dirty="0" err="1"/>
              <a:t>SoftUni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09769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65681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</a:t>
            </a:r>
            <a:r>
              <a:rPr lang="en-US" dirty="0" err="1"/>
              <a:t>SoftUni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40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99812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926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47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82940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51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25685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52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204518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w3schools.com/html/html_entities.asp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google.com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bg-BG" sz="4400" dirty="0"/>
              <a:t>Структуриране на уеб страница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6600" dirty="0"/>
              <a:t>Основни </a:t>
            </a:r>
            <a:r>
              <a:rPr lang="en-US" sz="6600" dirty="0"/>
              <a:t>HTML</a:t>
            </a:r>
            <a:r>
              <a:rPr lang="bg-BG" sz="6600" dirty="0"/>
              <a:t> елементи</a:t>
            </a:r>
            <a:endParaRPr lang="en-US" sz="6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CFE3B1F-536B-844F-D62F-2F23870E4D3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298"/>
          <a:stretch/>
        </p:blipFill>
        <p:spPr>
          <a:xfrm>
            <a:off x="6390123" y="3400017"/>
            <a:ext cx="5248260" cy="2188983"/>
          </a:xfrm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55000" lnSpcReduction="20000"/>
          </a:bodyPr>
          <a:lstStyle/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Текст</a:t>
            </a:r>
            <a:r>
              <a:rPr lang="bg-BG" sz="3800" b="1" dirty="0"/>
              <a:t> </a:t>
            </a:r>
            <a:r>
              <a:rPr lang="bg-BG" sz="3800" dirty="0"/>
              <a:t>и</a:t>
            </a:r>
            <a:r>
              <a:rPr lang="bg-BG" sz="3800" b="1" dirty="0"/>
              <a:t> </a:t>
            </a:r>
            <a:r>
              <a:rPr lang="bg-BG" sz="3800" b="1" dirty="0">
                <a:solidFill>
                  <a:schemeClr val="bg1"/>
                </a:solidFill>
              </a:rPr>
              <a:t>форматиране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Заглавия </a:t>
            </a:r>
            <a:r>
              <a:rPr lang="bg-BG" sz="3600" dirty="0"/>
              <a:t>и </a:t>
            </a:r>
            <a:r>
              <a:rPr lang="bg-BG" sz="3600" b="1" dirty="0"/>
              <a:t>параграфи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Ескейпване</a:t>
            </a:r>
            <a:r>
              <a:rPr lang="bg-BG" sz="3600" dirty="0"/>
              <a:t> на </a:t>
            </a:r>
            <a:r>
              <a:rPr lang="bg-BG" sz="3600" b="1" dirty="0"/>
              <a:t>символи</a:t>
            </a:r>
            <a:r>
              <a:rPr lang="bg-BG" sz="3600" dirty="0"/>
              <a:t> и </a:t>
            </a:r>
            <a:r>
              <a:rPr lang="bg-BG" sz="3600" b="1" dirty="0"/>
              <a:t>коментари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​​</a:t>
            </a:r>
            <a:r>
              <a:rPr lang="bg-BG" sz="3800" b="1" dirty="0">
                <a:solidFill>
                  <a:schemeClr val="bg1"/>
                </a:solidFill>
              </a:rPr>
              <a:t>Хипервръзки </a:t>
            </a:r>
            <a:r>
              <a:rPr lang="bg-BG" sz="3800" dirty="0"/>
              <a:t>и </a:t>
            </a:r>
            <a:r>
              <a:rPr lang="bg-BG" sz="3800" b="1" dirty="0">
                <a:solidFill>
                  <a:schemeClr val="bg1"/>
                </a:solidFill>
              </a:rPr>
              <a:t>изображения</a:t>
            </a:r>
            <a:endParaRPr lang="en-US" sz="3800" b="1" dirty="0">
              <a:solidFill>
                <a:schemeClr val="bg1"/>
              </a:solidFill>
            </a:endParaRP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Списъци </a:t>
            </a:r>
            <a:r>
              <a:rPr lang="bg-BG" sz="3800" dirty="0"/>
              <a:t>и</a:t>
            </a:r>
            <a:r>
              <a:rPr lang="bg-BG" sz="3800" b="1" dirty="0">
                <a:solidFill>
                  <a:schemeClr val="bg1"/>
                </a:solidFill>
              </a:rPr>
              <a:t> таблици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Подреден </a:t>
            </a:r>
            <a:r>
              <a:rPr lang="bg-BG" sz="3600" dirty="0"/>
              <a:t>и</a:t>
            </a:r>
            <a:r>
              <a:rPr lang="bg-BG" sz="3600" b="1" dirty="0"/>
              <a:t> неподреден списък</a:t>
            </a:r>
          </a:p>
          <a:p>
            <a:pPr>
              <a:buClr>
                <a:schemeClr val="tx1"/>
              </a:buClr>
            </a:pPr>
            <a:r>
              <a:rPr lang="bg-BG" sz="4000" dirty="0"/>
              <a:t>​</a:t>
            </a:r>
            <a:r>
              <a:rPr lang="bg-BG" sz="4000" b="1" dirty="0">
                <a:solidFill>
                  <a:schemeClr val="bg1"/>
                </a:solidFill>
              </a:rPr>
              <a:t>Форми </a:t>
            </a:r>
            <a:r>
              <a:rPr lang="bg-BG" sz="4000" dirty="0"/>
              <a:t>и</a:t>
            </a:r>
            <a:r>
              <a:rPr lang="bg-BG" sz="4000" b="1" dirty="0">
                <a:solidFill>
                  <a:schemeClr val="bg1"/>
                </a:solidFill>
              </a:rPr>
              <a:t> въвеждане на данни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Текстови полета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Отметки </a:t>
            </a:r>
            <a:r>
              <a:rPr lang="bg-BG" sz="3600" dirty="0"/>
              <a:t>и</a:t>
            </a:r>
            <a:r>
              <a:rPr lang="bg-BG" sz="3600" b="1" dirty="0"/>
              <a:t> бутони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Падащо меню</a:t>
            </a:r>
            <a:endParaRPr lang="en-US" sz="3600" b="1" dirty="0"/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en-US" sz="3800" dirty="0">
                <a:solidFill>
                  <a:schemeClr val="bg1"/>
                </a:solidFill>
              </a:rPr>
              <a:t>​</a:t>
            </a:r>
            <a:r>
              <a:rPr lang="bg-BG" sz="3800" dirty="0">
                <a:highlight>
                  <a:srgbClr val="FFFF00"/>
                </a:highlight>
              </a:rPr>
              <a:t>​​​</a:t>
            </a:r>
            <a:r>
              <a:rPr lang="bg-BG" sz="3800" b="1" dirty="0">
                <a:solidFill>
                  <a:schemeClr val="bg1"/>
                </a:solidFill>
              </a:rPr>
              <a:t>Аудио</a:t>
            </a:r>
            <a:r>
              <a:rPr lang="bg-BG" sz="3800" b="1" dirty="0"/>
              <a:t> </a:t>
            </a:r>
            <a:r>
              <a:rPr lang="bg-BG" sz="3800" dirty="0"/>
              <a:t>и</a:t>
            </a:r>
            <a:r>
              <a:rPr lang="bg-BG" sz="3800" b="1" dirty="0"/>
              <a:t> </a:t>
            </a:r>
            <a:r>
              <a:rPr lang="bg-BG" sz="3800" b="1" dirty="0">
                <a:solidFill>
                  <a:schemeClr val="bg1"/>
                </a:solidFill>
              </a:rPr>
              <a:t>видео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/>
              <a:t>Пример: </a:t>
            </a:r>
            <a:r>
              <a:rPr lang="en-US" sz="3800" dirty="0"/>
              <a:t>HTML </a:t>
            </a:r>
            <a:r>
              <a:rPr lang="bg-BG" sz="3800" dirty="0"/>
              <a:t>уеб страница с основни елементи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3600" dirty="0"/>
              <a:t>Заглавия и параграфи, ескейпване на символи и коментари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Текст и форматиране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910A46-C035-AB08-E8A8-B2589914C0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816" t="26378" r="18504" b="25722"/>
          <a:stretch/>
        </p:blipFill>
        <p:spPr>
          <a:xfrm>
            <a:off x="4521000" y="1494000"/>
            <a:ext cx="2852604" cy="22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&lt;h1&gt;&lt;/h1&gt;</a:t>
            </a:r>
            <a:endParaRPr lang="bg-BG" sz="34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400" b="1" dirty="0"/>
              <a:t>HTML</a:t>
            </a:r>
            <a:r>
              <a:rPr lang="en-US" sz="3400" dirty="0"/>
              <a:t> </a:t>
            </a:r>
            <a:r>
              <a:rPr lang="bg-BG" sz="3400" dirty="0"/>
              <a:t>предлага </a:t>
            </a:r>
            <a:r>
              <a:rPr lang="bg-BG" sz="3400" b="1" dirty="0">
                <a:solidFill>
                  <a:schemeClr val="bg1"/>
                </a:solidFill>
              </a:rPr>
              <a:t>шест нива </a:t>
            </a:r>
            <a:r>
              <a:rPr lang="bg-BG" sz="3400" dirty="0"/>
              <a:t>на </a:t>
            </a:r>
            <a:r>
              <a:rPr lang="bg-BG" sz="3400" b="1" dirty="0"/>
              <a:t>заглавия</a:t>
            </a:r>
            <a:r>
              <a:rPr lang="bg-BG" sz="3400" dirty="0"/>
              <a:t> (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&lt;h1&gt;</a:t>
            </a:r>
            <a:r>
              <a:rPr lang="en-US" sz="3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400" dirty="0"/>
              <a:t>–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&lt;h6&gt;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bg-BG" sz="3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Заглавия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525CB-C0ED-39F0-0B55-340E18F050FF}"/>
              </a:ext>
            </a:extLst>
          </p:cNvPr>
          <p:cNvSpPr txBox="1">
            <a:spLocks/>
          </p:cNvSpPr>
          <p:nvPr/>
        </p:nvSpPr>
        <p:spPr>
          <a:xfrm>
            <a:off x="550916" y="2817353"/>
            <a:ext cx="7830000" cy="267765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&lt;h1&gt;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Най-голямо заглавие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Подзаглавие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&lt;h3&gt;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По-малко заглавие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h3&gt;</a:t>
            </a:r>
          </a:p>
          <a:p>
            <a:pPr>
              <a:lnSpc>
                <a:spcPct val="100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&lt;h4&gt;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Още по-малко заглавие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h4&gt;</a:t>
            </a:r>
          </a:p>
          <a:p>
            <a:pPr>
              <a:lnSpc>
                <a:spcPct val="100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&lt;h5&gt;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Малко заглавие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h5&gt;</a:t>
            </a:r>
          </a:p>
          <a:p>
            <a:pPr>
              <a:lnSpc>
                <a:spcPct val="100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&lt;h6&gt;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Най-малко заглавие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h6&gt;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21578E-B5F3-6C75-06C1-840229A16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2084" y="3001628"/>
            <a:ext cx="4469000" cy="350537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83144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&lt;p&gt;&lt;/p&gt;</a:t>
            </a:r>
          </a:p>
          <a:p>
            <a:pPr lvl="1"/>
            <a:r>
              <a:rPr lang="bg-BG" sz="3400" dirty="0"/>
              <a:t>Използват се за </a:t>
            </a:r>
            <a:r>
              <a:rPr lang="bg-BG" sz="3400" b="1" dirty="0">
                <a:solidFill>
                  <a:schemeClr val="bg1"/>
                </a:solidFill>
              </a:rPr>
              <a:t>основния текст </a:t>
            </a:r>
            <a:r>
              <a:rPr lang="bg-BG" sz="3400" dirty="0"/>
              <a:t>на </a:t>
            </a:r>
            <a:r>
              <a:rPr lang="bg-BG" sz="3400" b="1" dirty="0"/>
              <a:t>уеб страницата</a:t>
            </a:r>
            <a:endParaRPr lang="bg-BG" sz="3400" b="1" i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Параграфи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525CB-C0ED-39F0-0B55-340E18F050FF}"/>
              </a:ext>
            </a:extLst>
          </p:cNvPr>
          <p:cNvSpPr txBox="1">
            <a:spLocks/>
          </p:cNvSpPr>
          <p:nvPr/>
        </p:nvSpPr>
        <p:spPr>
          <a:xfrm>
            <a:off x="651000" y="3698898"/>
            <a:ext cx="8910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Това е параграф с текст.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endParaRPr lang="en-US" sz="28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8050E3-5B84-2C0B-FD76-7645D93C6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6294" y="4104000"/>
            <a:ext cx="4708759" cy="107255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95424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Текстове и параграфи </a:t>
            </a:r>
            <a:r>
              <a:rPr lang="bg-BG" sz="4000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525CB-C0ED-39F0-0B55-340E18F050FF}"/>
              </a:ext>
            </a:extLst>
          </p:cNvPr>
          <p:cNvSpPr txBox="1">
            <a:spLocks/>
          </p:cNvSpPr>
          <p:nvPr/>
        </p:nvSpPr>
        <p:spPr>
          <a:xfrm>
            <a:off x="1641000" y="1454287"/>
            <a:ext cx="8910000" cy="138499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&lt;h1&gt;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Моето любимо животно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h1&gt;</a:t>
            </a:r>
          </a:p>
          <a:p>
            <a:pPr>
              <a:lnSpc>
                <a:spcPct val="100000"/>
              </a:lnSpc>
            </a:pPr>
            <a:endParaRPr lang="en-GB" sz="28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Кучето е верен приятел на човека.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Arrow: Right 10">
            <a:extLst>
              <a:ext uri="{FF2B5EF4-FFF2-40B4-BE49-F238E27FC236}">
                <a16:creationId xmlns:a16="http://schemas.microsoft.com/office/drawing/2014/main" id="{6197D83D-9023-BE55-4E41-1709B8A38B57}"/>
              </a:ext>
            </a:extLst>
          </p:cNvPr>
          <p:cNvSpPr/>
          <p:nvPr/>
        </p:nvSpPr>
        <p:spPr>
          <a:xfrm rot="5400000">
            <a:off x="5432888" y="3049896"/>
            <a:ext cx="1326224" cy="1215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3053B2-0B65-B8CD-4885-EF079C6B2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7135" y="4475510"/>
            <a:ext cx="6877731" cy="1998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5043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b&gt;&lt;/b&gt;</a:t>
            </a:r>
          </a:p>
          <a:p>
            <a:pPr lvl="1"/>
            <a:r>
              <a:rPr lang="bg-BG" sz="3400" dirty="0"/>
              <a:t>Прави </a:t>
            </a:r>
            <a:r>
              <a:rPr lang="bg-BG" sz="3400" b="1" dirty="0"/>
              <a:t>текста</a:t>
            </a:r>
            <a:r>
              <a:rPr lang="bg-BG" sz="3400" dirty="0"/>
              <a:t> </a:t>
            </a:r>
            <a:r>
              <a:rPr lang="bg-BG" sz="3400" b="1" dirty="0">
                <a:solidFill>
                  <a:schemeClr val="bg1"/>
                </a:solidFill>
              </a:rPr>
              <a:t>визуално удебелен</a:t>
            </a:r>
            <a:r>
              <a:rPr lang="en-US" sz="3400" b="1" dirty="0">
                <a:solidFill>
                  <a:schemeClr val="bg1"/>
                </a:solidFill>
              </a:rPr>
              <a:t> </a:t>
            </a:r>
            <a:r>
              <a:rPr lang="bg-BG" sz="3400" dirty="0"/>
              <a:t>(</a:t>
            </a:r>
            <a:r>
              <a:rPr lang="en-US" sz="3400" b="1" dirty="0"/>
              <a:t>bold</a:t>
            </a:r>
            <a:r>
              <a:rPr lang="en-US" sz="3400" dirty="0"/>
              <a:t>)</a:t>
            </a:r>
          </a:p>
          <a:p>
            <a:pPr lvl="1"/>
            <a:endParaRPr lang="en-US" sz="3600" dirty="0"/>
          </a:p>
          <a:p>
            <a:endParaRPr lang="en-US" sz="3800" dirty="0"/>
          </a:p>
          <a:p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&lt;strong&gt;&lt;/strong&gt;</a:t>
            </a:r>
          </a:p>
          <a:p>
            <a:pPr lvl="1"/>
            <a:r>
              <a:rPr lang="bg-BG" sz="3400" dirty="0"/>
              <a:t>Показва, че </a:t>
            </a:r>
            <a:r>
              <a:rPr lang="bg-BG" sz="3400" b="1" dirty="0"/>
              <a:t>текстът</a:t>
            </a:r>
            <a:r>
              <a:rPr lang="bg-BG" sz="3400" dirty="0"/>
              <a:t> е </a:t>
            </a:r>
            <a:r>
              <a:rPr lang="bg-BG" sz="3400" b="1" dirty="0">
                <a:solidFill>
                  <a:schemeClr val="bg1"/>
                </a:solidFill>
              </a:rPr>
              <a:t>важен</a:t>
            </a:r>
            <a:r>
              <a:rPr lang="bg-BG" sz="3400" dirty="0"/>
              <a:t> или </a:t>
            </a:r>
            <a:r>
              <a:rPr lang="bg-BG" sz="3400" b="1" dirty="0">
                <a:solidFill>
                  <a:schemeClr val="bg1"/>
                </a:solidFill>
              </a:rPr>
              <a:t>значим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Форматиране на текст (1)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525CB-C0ED-39F0-0B55-340E18F050FF}"/>
              </a:ext>
            </a:extLst>
          </p:cNvPr>
          <p:cNvSpPr txBox="1">
            <a:spLocks/>
          </p:cNvSpPr>
          <p:nvPr/>
        </p:nvSpPr>
        <p:spPr>
          <a:xfrm>
            <a:off x="786000" y="2762706"/>
            <a:ext cx="7830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Това изречение е удебелено.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2BF5EEA-2D12-CF77-3749-907E3EA464FA}"/>
              </a:ext>
            </a:extLst>
          </p:cNvPr>
          <p:cNvSpPr txBox="1">
            <a:spLocks/>
          </p:cNvSpPr>
          <p:nvPr/>
        </p:nvSpPr>
        <p:spPr>
          <a:xfrm>
            <a:off x="786000" y="5788699"/>
            <a:ext cx="7830000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strong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bg-BG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Това </a:t>
            </a:r>
            <a:r>
              <a:rPr lang="en-US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е</a:t>
            </a:r>
            <a:r>
              <a:rPr lang="bg-BG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 важно съобщение.</a:t>
            </a:r>
            <a:r>
              <a:rPr lang="bg-BG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strong&gt;</a:t>
            </a:r>
            <a:endParaRPr lang="en-US" sz="26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D5E355-AEFB-C51B-A495-D6147E6A7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9043" y="3050160"/>
            <a:ext cx="4237694" cy="88450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F6B8B1-4E52-4327-9234-3A9C64DDEB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12541" y="5575842"/>
            <a:ext cx="3724196" cy="83325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735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63A0D2-5A0B-492E-11DD-39E43B547D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71000" y="1195931"/>
            <a:ext cx="6130597" cy="4957073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strong&gt;&lt;/strong&gt;</a:t>
            </a:r>
          </a:p>
          <a:p>
            <a:pPr lvl="1"/>
            <a:r>
              <a:rPr lang="bg-BG" dirty="0"/>
              <a:t>Показва </a:t>
            </a:r>
            <a:r>
              <a:rPr lang="bg-BG" b="1" dirty="0">
                <a:solidFill>
                  <a:schemeClr val="bg1"/>
                </a:solidFill>
              </a:rPr>
              <a:t>важна </a:t>
            </a:r>
            <a:r>
              <a:rPr lang="bg-BG" b="1" dirty="0"/>
              <a:t>информация</a:t>
            </a:r>
            <a:endParaRPr lang="en-BG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b&gt;&lt;/b&gt;</a:t>
            </a:r>
          </a:p>
          <a:p>
            <a:pPr lvl="1"/>
            <a:r>
              <a:rPr lang="bg-BG" sz="3200" dirty="0"/>
              <a:t>Прави </a:t>
            </a:r>
            <a:r>
              <a:rPr lang="bg-BG" sz="3200" b="1" dirty="0"/>
              <a:t>текста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удебелен</a:t>
            </a:r>
            <a:r>
              <a:rPr lang="bg-BG" sz="3200" dirty="0"/>
              <a:t> </a:t>
            </a:r>
            <a:r>
              <a:rPr lang="bg-BG" sz="3200" b="1" dirty="0"/>
              <a:t>само</a:t>
            </a:r>
            <a:r>
              <a:rPr lang="bg-BG" sz="3200" b="1" dirty="0">
                <a:solidFill>
                  <a:schemeClr val="bg1"/>
                </a:solidFill>
              </a:rPr>
              <a:t> визуално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Получерен v</a:t>
            </a:r>
            <a:r>
              <a:rPr lang="en-US" dirty="0"/>
              <a:t>s. </a:t>
            </a:r>
            <a:r>
              <a:rPr lang="bg-BG" dirty="0"/>
              <a:t>важен текст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CC5541-BE65-9A13-A84A-7A83C7A69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18424" y="3834000"/>
            <a:ext cx="3089552" cy="112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829C9B-3B85-A8BC-F794-41DACF796A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9293" y="3834000"/>
            <a:ext cx="3699013" cy="112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0714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&gt;&lt;/i&gt;</a:t>
            </a:r>
          </a:p>
          <a:p>
            <a:pPr lvl="1"/>
            <a:r>
              <a:rPr lang="bg-BG" sz="3000" dirty="0"/>
              <a:t>Показва </a:t>
            </a:r>
            <a:r>
              <a:rPr lang="bg-BG" sz="3000" b="1" dirty="0"/>
              <a:t>текста</a:t>
            </a:r>
            <a:r>
              <a:rPr lang="bg-BG" sz="3000" dirty="0"/>
              <a:t> в </a:t>
            </a:r>
            <a:r>
              <a:rPr lang="bg-BG" sz="3000" b="1" dirty="0">
                <a:solidFill>
                  <a:schemeClr val="bg1"/>
                </a:solidFill>
              </a:rPr>
              <a:t>курсив</a:t>
            </a:r>
            <a:r>
              <a:rPr lang="bg-BG" sz="3000" dirty="0"/>
              <a:t> (</a:t>
            </a:r>
            <a:r>
              <a:rPr lang="en-US" sz="3000" b="1" dirty="0"/>
              <a:t>italic</a:t>
            </a:r>
            <a:r>
              <a:rPr lang="en-US" sz="3000" dirty="0"/>
              <a:t>)</a:t>
            </a:r>
            <a:endParaRPr lang="bg-BG" sz="3000" dirty="0"/>
          </a:p>
          <a:p>
            <a:pPr lvl="1"/>
            <a:r>
              <a:rPr lang="bg-BG" sz="3000" dirty="0"/>
              <a:t>Използва се за </a:t>
            </a:r>
            <a:r>
              <a:rPr lang="bg-BG" sz="3000" b="1" dirty="0"/>
              <a:t>термини</a:t>
            </a:r>
            <a:r>
              <a:rPr lang="bg-BG" sz="3000" dirty="0"/>
              <a:t> или </a:t>
            </a:r>
            <a:r>
              <a:rPr lang="bg-BG" sz="3000" b="1" dirty="0"/>
              <a:t>заглавия</a:t>
            </a:r>
            <a:endParaRPr lang="en-US" sz="3000" b="1" dirty="0"/>
          </a:p>
          <a:p>
            <a:pPr lvl="1"/>
            <a:endParaRPr lang="bg-BG" sz="100" b="1" dirty="0"/>
          </a:p>
          <a:p>
            <a:pPr marL="442912" lvl="1" indent="0">
              <a:buNone/>
            </a:pPr>
            <a:endParaRPr lang="en-US" sz="3200" dirty="0"/>
          </a:p>
          <a:p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&lt;em&gt;&lt;/em&gt;</a:t>
            </a:r>
          </a:p>
          <a:p>
            <a:pPr lvl="1"/>
            <a:r>
              <a:rPr lang="bg-BG" sz="3000" b="1" dirty="0"/>
              <a:t>Подчертава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смислов акцент </a:t>
            </a:r>
            <a:r>
              <a:rPr lang="bg-BG" sz="3000" dirty="0"/>
              <a:t>в </a:t>
            </a:r>
            <a:r>
              <a:rPr lang="bg-BG" sz="3000" b="1" dirty="0"/>
              <a:t>изречението</a:t>
            </a:r>
          </a:p>
          <a:p>
            <a:pPr lvl="1"/>
            <a:endParaRPr lang="bg-BG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Форматиране на текст (2)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525CB-C0ED-39F0-0B55-340E18F050FF}"/>
              </a:ext>
            </a:extLst>
          </p:cNvPr>
          <p:cNvSpPr txBox="1">
            <a:spLocks/>
          </p:cNvSpPr>
          <p:nvPr/>
        </p:nvSpPr>
        <p:spPr>
          <a:xfrm>
            <a:off x="741000" y="3326217"/>
            <a:ext cx="7830000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&lt;i&gt;</a:t>
            </a:r>
            <a:r>
              <a:rPr lang="en-GB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Harry Potter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&lt;/i&gt; </a:t>
            </a:r>
            <a:r>
              <a:rPr lang="bg-BG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е известна книга.</a:t>
            </a:r>
            <a:endParaRPr lang="en-US" sz="26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2BF5EEA-2D12-CF77-3749-907E3EA464FA}"/>
              </a:ext>
            </a:extLst>
          </p:cNvPr>
          <p:cNvSpPr txBox="1">
            <a:spLocks/>
          </p:cNvSpPr>
          <p:nvPr/>
        </p:nvSpPr>
        <p:spPr>
          <a:xfrm>
            <a:off x="291000" y="5464890"/>
            <a:ext cx="8105297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Прочетете</a:t>
            </a:r>
            <a:r>
              <a:rPr lang="bg-BG" sz="2400" b="1" noProof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внимателно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em&gt;</a:t>
            </a:r>
            <a:r>
              <a:rPr lang="en-GB" sz="2400" b="1" noProof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инструкциите.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8ACFAE-294C-9B89-364D-A9C5886B05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92432" y="3182199"/>
            <a:ext cx="4060598" cy="77830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D14022-745F-4F20-BE3E-DBE9A2621A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96419" y="5329776"/>
            <a:ext cx="4359581" cy="66419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5284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Форматиране на текст</a:t>
            </a:r>
            <a:r>
              <a:rPr lang="en-US" dirty="0"/>
              <a:t> </a:t>
            </a:r>
            <a:r>
              <a:rPr lang="bg-BG" sz="4000" dirty="0"/>
              <a:t>–</a:t>
            </a:r>
            <a:r>
              <a:rPr lang="en-US" dirty="0"/>
              <a:t> </a:t>
            </a:r>
            <a:r>
              <a:rPr lang="bg-BG" dirty="0"/>
              <a:t>Пример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525CB-C0ED-39F0-0B55-340E18F050FF}"/>
              </a:ext>
            </a:extLst>
          </p:cNvPr>
          <p:cNvSpPr txBox="1">
            <a:spLocks/>
          </p:cNvSpPr>
          <p:nvPr/>
        </p:nvSpPr>
        <p:spPr>
          <a:xfrm>
            <a:off x="117000" y="1280594"/>
            <a:ext cx="11958000" cy="156966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&lt;b&gt;</a:t>
            </a:r>
            <a:r>
              <a:rPr lang="bg-BG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Това изречение е удебелено.</a:t>
            </a:r>
            <a:r>
              <a:rPr lang="bg-BG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b&gt;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&lt;/p&gt;</a:t>
            </a:r>
            <a:b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&lt;strong&gt;</a:t>
            </a:r>
            <a:r>
              <a:rPr lang="bg-BG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Това е важно съобщение.</a:t>
            </a:r>
            <a:r>
              <a:rPr lang="bg-BG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strong&gt;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&lt;/p&gt;</a:t>
            </a:r>
            <a:b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&lt;i&gt;</a:t>
            </a:r>
            <a:r>
              <a:rPr lang="bg-BG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Този текст е написан в курсив.</a:t>
            </a:r>
            <a:r>
              <a:rPr lang="bg-BG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i&gt;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&lt;/p&gt;</a:t>
            </a:r>
            <a:b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Тази дума е </a:t>
            </a:r>
            <a:r>
              <a:rPr lang="bg-BG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em&gt;</a:t>
            </a:r>
            <a:r>
              <a:rPr lang="bg-BG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смислово подчертана</a:t>
            </a:r>
            <a:r>
              <a:rPr lang="bg-BG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em&gt; </a:t>
            </a:r>
            <a:r>
              <a:rPr lang="bg-BG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в изречението.&lt;/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D94D4F-4483-F23E-DB3F-81DBFF6CD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7363" y="3881758"/>
            <a:ext cx="6217274" cy="255864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Arrow: Right 10">
            <a:extLst>
              <a:ext uri="{FF2B5EF4-FFF2-40B4-BE49-F238E27FC236}">
                <a16:creationId xmlns:a16="http://schemas.microsoft.com/office/drawing/2014/main" id="{3F0DE0E8-6277-4078-D0AA-7AC442FBD980}"/>
              </a:ext>
            </a:extLst>
          </p:cNvPr>
          <p:cNvSpPr/>
          <p:nvPr/>
        </p:nvSpPr>
        <p:spPr>
          <a:xfrm rot="5400000">
            <a:off x="5577637" y="3054875"/>
            <a:ext cx="1036727" cy="8826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40782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9D73D0-7034-4CF6-727C-8CD68EE6F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21625-BC12-24AB-6EDC-EB9C1434BB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Заменяне на </a:t>
            </a:r>
            <a:r>
              <a:rPr lang="bg-BG" b="1" dirty="0">
                <a:solidFill>
                  <a:schemeClr val="bg1"/>
                </a:solidFill>
              </a:rPr>
              <a:t>специални знаци </a:t>
            </a:r>
            <a:r>
              <a:rPr lang="bg-BG" dirty="0"/>
              <a:t>с техните </a:t>
            </a:r>
            <a:r>
              <a:rPr lang="bg-BG" b="1" dirty="0">
                <a:solidFill>
                  <a:schemeClr val="bg1"/>
                </a:solidFill>
              </a:rPr>
              <a:t>текстови еквиваленти</a:t>
            </a:r>
            <a:r>
              <a:rPr lang="bg-BG" dirty="0"/>
              <a:t> (</a:t>
            </a:r>
            <a:r>
              <a:rPr lang="en-US" b="1" dirty="0"/>
              <a:t>HTML entities</a:t>
            </a:r>
            <a:r>
              <a:rPr lang="en-US" dirty="0"/>
              <a:t>)</a:t>
            </a:r>
            <a:endParaRPr lang="bg-BG" dirty="0"/>
          </a:p>
          <a:p>
            <a:r>
              <a:rPr lang="bg-BG" dirty="0"/>
              <a:t>Браузърът </a:t>
            </a:r>
            <a:r>
              <a:rPr lang="bg-BG" b="1" dirty="0">
                <a:solidFill>
                  <a:schemeClr val="bg1"/>
                </a:solidFill>
              </a:rPr>
              <a:t>визуализира знаците </a:t>
            </a:r>
            <a:r>
              <a:rPr lang="bg-BG" dirty="0"/>
              <a:t>като </a:t>
            </a:r>
            <a:r>
              <a:rPr lang="bg-BG" b="1" dirty="0"/>
              <a:t>текст</a:t>
            </a:r>
            <a:r>
              <a:rPr lang="bg-BG" dirty="0"/>
              <a:t>, а не като </a:t>
            </a:r>
            <a:r>
              <a:rPr lang="bg-BG" b="1" dirty="0"/>
              <a:t>код</a:t>
            </a:r>
          </a:p>
          <a:p>
            <a:r>
              <a:rPr lang="bg-BG" b="1" dirty="0"/>
              <a:t>Пример: </a:t>
            </a:r>
            <a:r>
              <a:rPr lang="en-GB" dirty="0">
                <a:hlinkClick r:id="rId2"/>
              </a:rPr>
              <a:t>https://www.w3schools.com/html/html_entities.asp</a:t>
            </a:r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45D270-9E43-40F9-8C3C-75468D25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bg-BG" dirty="0"/>
              <a:t>скейпване на символи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1B7DBD-D246-6A55-538F-2FA2A2D83377}"/>
              </a:ext>
            </a:extLst>
          </p:cNvPr>
          <p:cNvSpPr txBox="1">
            <a:spLocks/>
          </p:cNvSpPr>
          <p:nvPr/>
        </p:nvSpPr>
        <p:spPr>
          <a:xfrm>
            <a:off x="2720716" y="3960474"/>
            <a:ext cx="62100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&amp;lt;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&amp;gt;</a:t>
            </a:r>
            <a:r>
              <a:rPr lang="bg-BG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Това е параграф</a:t>
            </a:r>
            <a:r>
              <a:rPr lang="bg-BG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lt;</a:t>
            </a:r>
            <a:r>
              <a:rPr lang="en-GB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p&amp;gt;</a:t>
            </a:r>
          </a:p>
        </p:txBody>
      </p:sp>
      <p:sp>
        <p:nvSpPr>
          <p:cNvPr id="6" name="Arrow: Right 10">
            <a:extLst>
              <a:ext uri="{FF2B5EF4-FFF2-40B4-BE49-F238E27FC236}">
                <a16:creationId xmlns:a16="http://schemas.microsoft.com/office/drawing/2014/main" id="{43447CF5-01E6-C448-BEB7-CE220B6FD634}"/>
              </a:ext>
            </a:extLst>
          </p:cNvPr>
          <p:cNvSpPr/>
          <p:nvPr/>
        </p:nvSpPr>
        <p:spPr>
          <a:xfrm rot="5400000">
            <a:off x="5248666" y="4702151"/>
            <a:ext cx="1036727" cy="8826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6A263E-A6F0-E933-AD9B-036512DF6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1812" y="5874563"/>
            <a:ext cx="4310434" cy="85015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918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9D73D0-7034-4CF6-727C-8CD68EE6F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21625-BC12-24AB-6EDC-EB9C1434BB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&lt;!-- --&gt;</a:t>
            </a:r>
          </a:p>
          <a:p>
            <a:pPr lvl="1"/>
            <a:r>
              <a:rPr lang="bg-BG" dirty="0"/>
              <a:t>Използват се за добавяне на </a:t>
            </a:r>
            <a:r>
              <a:rPr lang="bg-BG" b="1" dirty="0">
                <a:solidFill>
                  <a:schemeClr val="bg1"/>
                </a:solidFill>
              </a:rPr>
              <a:t>бележки</a:t>
            </a:r>
            <a:r>
              <a:rPr lang="bg-BG" dirty="0"/>
              <a:t> в </a:t>
            </a:r>
            <a:r>
              <a:rPr lang="bg-BG" b="1" dirty="0"/>
              <a:t>кода</a:t>
            </a:r>
          </a:p>
          <a:p>
            <a:pPr lvl="1"/>
            <a:r>
              <a:rPr lang="bg-BG" b="1" dirty="0">
                <a:solidFill>
                  <a:schemeClr val="bg1"/>
                </a:solidFill>
              </a:rPr>
              <a:t>Не се показват </a:t>
            </a:r>
            <a:r>
              <a:rPr lang="bg-BG" dirty="0"/>
              <a:t>в </a:t>
            </a:r>
            <a:r>
              <a:rPr lang="bg-BG" b="1" dirty="0"/>
              <a:t>браузъра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45D270-9E43-40F9-8C3C-75468D25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Коментари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789E18-A803-083A-6658-A5404DFCA623}"/>
              </a:ext>
            </a:extLst>
          </p:cNvPr>
          <p:cNvSpPr txBox="1">
            <a:spLocks/>
          </p:cNvSpPr>
          <p:nvPr/>
        </p:nvSpPr>
        <p:spPr>
          <a:xfrm>
            <a:off x="2991000" y="4329000"/>
            <a:ext cx="6210000" cy="95410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bg-BG" sz="28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&lt;!-- Това е коментар --&gt;</a:t>
            </a:r>
          </a:p>
          <a:p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Здравей!&lt;/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</p:txBody>
      </p:sp>
    </p:spTree>
    <p:extLst>
      <p:ext uri="{BB962C8B-B14F-4D97-AF65-F5344CB8AC3E}">
        <p14:creationId xmlns:p14="http://schemas.microsoft.com/office/powerpoint/2010/main" val="2757825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3900" dirty="0"/>
              <a:t>Атрибути за работа с хипервръзки и изображения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4400" dirty="0"/>
              <a:t>Хипервръзки и изображения</a:t>
            </a: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A4E28A-969F-5D20-7749-76A8C6FB65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5" t="24515" r="4230" b="25934"/>
          <a:stretch/>
        </p:blipFill>
        <p:spPr>
          <a:xfrm>
            <a:off x="4453500" y="2063489"/>
            <a:ext cx="3285000" cy="117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&lt;a&gt;&lt;/a&gt;</a:t>
            </a:r>
            <a:endParaRPr lang="bg-BG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Създава </a:t>
            </a:r>
            <a:r>
              <a:rPr lang="bg-BG" sz="3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връзка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 към друга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уеб</a:t>
            </a:r>
            <a:r>
              <a:rPr lang="en-US" sz="3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страница</a:t>
            </a:r>
            <a:endParaRPr lang="en-US" sz="3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Хипервръзки (</a:t>
            </a:r>
            <a:r>
              <a:rPr lang="en-GB" dirty="0"/>
              <a:t>Links)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A552EB5-69E1-01A1-3035-B1A49B5EA26E}"/>
              </a:ext>
            </a:extLst>
          </p:cNvPr>
          <p:cNvSpPr txBox="1">
            <a:spLocks/>
          </p:cNvSpPr>
          <p:nvPr/>
        </p:nvSpPr>
        <p:spPr>
          <a:xfrm>
            <a:off x="606000" y="4419000"/>
            <a:ext cx="10980000" cy="47705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</a:t>
            </a:r>
            <a:r>
              <a:rPr lang="en-GB" sz="2500" b="1" noProof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href="</a:t>
            </a:r>
            <a:r>
              <a:rPr lang="en-GB" sz="2500" b="1" noProof="1">
                <a:latin typeface="Consolas" panose="020B0609020204030204" pitchFamily="49" charset="0"/>
                <a:cs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https://google.com</a:t>
            </a:r>
            <a:r>
              <a:rPr lang="en-US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bg-BG" sz="2500" b="1" noProof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target="</a:t>
            </a:r>
            <a:r>
              <a:rPr lang="en-GB" sz="2500" b="1" noProof="1">
                <a:latin typeface="Consolas" panose="020B0609020204030204" pitchFamily="49" charset="0"/>
                <a:cs typeface="Consolas" panose="020B0609020204030204" pitchFamily="49" charset="0"/>
              </a:rPr>
              <a:t>_blank</a:t>
            </a: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500" b="1" noProof="1">
                <a:latin typeface="Consolas" panose="020B0609020204030204" pitchFamily="49" charset="0"/>
                <a:cs typeface="Consolas" panose="020B0609020204030204" pitchFamily="49" charset="0"/>
              </a:rPr>
              <a:t>Посети</a:t>
            </a:r>
            <a:r>
              <a:rPr lang="bg-BG" sz="2500" b="1" noProof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500" b="1" noProof="1">
                <a:latin typeface="Consolas" panose="020B0609020204030204" pitchFamily="49" charset="0"/>
                <a:cs typeface="Consolas" panose="020B0609020204030204" pitchFamily="49" charset="0"/>
              </a:rPr>
              <a:t>Google</a:t>
            </a:r>
            <a:r>
              <a:rPr lang="bg-BG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5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a&gt;</a:t>
            </a:r>
            <a:endParaRPr lang="en-US" sz="25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EEFEBFA2-70B2-1EE2-56A1-12BFC1CD6251}"/>
              </a:ext>
            </a:extLst>
          </p:cNvPr>
          <p:cNvSpPr/>
          <p:nvPr/>
        </p:nvSpPr>
        <p:spPr bwMode="auto">
          <a:xfrm>
            <a:off x="501276" y="3263124"/>
            <a:ext cx="3285000" cy="612671"/>
          </a:xfrm>
          <a:prstGeom prst="wedgeRoundRectCallout">
            <a:avLst>
              <a:gd name="adj1" fmla="val -7601"/>
              <a:gd name="adj2" fmla="val 14156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Адрес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към уеб сайта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90B44CCC-C864-1A8C-E689-0F4A56083A43}"/>
              </a:ext>
            </a:extLst>
          </p:cNvPr>
          <p:cNvSpPr/>
          <p:nvPr/>
        </p:nvSpPr>
        <p:spPr bwMode="auto">
          <a:xfrm>
            <a:off x="4934114" y="3263123"/>
            <a:ext cx="3285000" cy="612671"/>
          </a:xfrm>
          <a:prstGeom prst="wedgeRoundRectCallout">
            <a:avLst>
              <a:gd name="adj1" fmla="val -432"/>
              <a:gd name="adj2" fmla="val 15061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Отваряне в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нов таб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C52AE5-AE6B-4FC1-4B8A-F68E046F6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4485" y="4836505"/>
            <a:ext cx="3410737" cy="95385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4860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Използват се за </a:t>
            </a: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навигация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една и съща уеб страница</a:t>
            </a:r>
          </a:p>
          <a:p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Преместват 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потребителя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към </a:t>
            </a: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различни части 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от 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уеб страницата</a:t>
            </a:r>
          </a:p>
          <a:p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означава </a:t>
            </a: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в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200" b="1" dirty="0">
                <a:latin typeface="Calibri" panose="020F0502020204030204" pitchFamily="34" charset="0"/>
                <a:cs typeface="Calibri" panose="020F0502020204030204" pitchFamily="34" charset="0"/>
              </a:rPr>
              <a:t>същата страница</a:t>
            </a: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Вътрешни хипервръзки (</a:t>
            </a:r>
            <a:r>
              <a:rPr lang="en-US" dirty="0"/>
              <a:t>Navigation Links</a:t>
            </a:r>
            <a:r>
              <a:rPr lang="en-GB" dirty="0"/>
              <a:t>)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A552EB5-69E1-01A1-3035-B1A49B5EA26E}"/>
              </a:ext>
            </a:extLst>
          </p:cNvPr>
          <p:cNvSpPr txBox="1">
            <a:spLocks/>
          </p:cNvSpPr>
          <p:nvPr/>
        </p:nvSpPr>
        <p:spPr>
          <a:xfrm>
            <a:off x="2370787" y="5060771"/>
            <a:ext cx="7515000" cy="5847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 href="</a:t>
            </a:r>
            <a:r>
              <a:rPr lang="en-GB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#products</a:t>
            </a: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Продукти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a&gt;</a:t>
            </a:r>
            <a:endParaRPr lang="en-US" sz="28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EEFEBFA2-70B2-1EE2-56A1-12BFC1CD6251}"/>
              </a:ext>
            </a:extLst>
          </p:cNvPr>
          <p:cNvSpPr/>
          <p:nvPr/>
        </p:nvSpPr>
        <p:spPr bwMode="auto">
          <a:xfrm>
            <a:off x="2361000" y="3892859"/>
            <a:ext cx="6735658" cy="584775"/>
          </a:xfrm>
          <a:prstGeom prst="wedgeRoundRectCallout">
            <a:avLst>
              <a:gd name="adj1" fmla="val -6719"/>
              <a:gd name="adj2" fmla="val 17406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Връзката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води към елемент със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същото i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endParaRPr lang="en-BG" sz="26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101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3500" dirty="0"/>
              <a:t>Вътрешни хипервръзки (</a:t>
            </a:r>
            <a:r>
              <a:rPr lang="en-US" sz="3500" dirty="0"/>
              <a:t>Navigation Links</a:t>
            </a:r>
            <a:r>
              <a:rPr lang="en-GB" sz="3500" dirty="0"/>
              <a:t>)</a:t>
            </a:r>
            <a:r>
              <a:rPr lang="bg-BG" sz="3500" dirty="0"/>
              <a:t> – Пример</a:t>
            </a:r>
            <a:endParaRPr lang="en-BG" sz="3500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A552EB5-69E1-01A1-3035-B1A49B5EA26E}"/>
              </a:ext>
            </a:extLst>
          </p:cNvPr>
          <p:cNvSpPr txBox="1">
            <a:spLocks/>
          </p:cNvSpPr>
          <p:nvPr/>
        </p:nvSpPr>
        <p:spPr>
          <a:xfrm>
            <a:off x="381000" y="1764000"/>
            <a:ext cx="7515000" cy="437042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Меню</a:t>
            </a:r>
            <a:r>
              <a:rPr lang="bg-BG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b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 href="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#home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Начало</a:t>
            </a:r>
            <a:r>
              <a:rPr lang="bg-BG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a&gt; 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  <a:p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 href="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#services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Услуги</a:t>
            </a:r>
            <a:r>
              <a:rPr lang="bg-BG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a&gt; 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</a:p>
          <a:p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 href="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#contacts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Контакти</a:t>
            </a:r>
            <a:r>
              <a:rPr lang="bg-BG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a&gt;</a:t>
            </a:r>
            <a:b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&lt;hr&gt;</a:t>
            </a:r>
            <a:b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 id="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home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Начало</a:t>
            </a:r>
            <a:r>
              <a:rPr lang="bg-BG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Това е началната част на страницата.</a:t>
            </a:r>
            <a:r>
              <a:rPr lang="bg-BG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b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&lt;br&gt;...&lt;br&gt;</a:t>
            </a:r>
            <a:b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 id="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services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Услуги</a:t>
            </a:r>
            <a:r>
              <a:rPr lang="bg-BG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Тук са описани услугите.</a:t>
            </a:r>
            <a:r>
              <a:rPr lang="bg-BG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b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&lt;br&gt;...&lt;br&gt;</a:t>
            </a:r>
            <a:b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 id="</a:t>
            </a:r>
            <a:r>
              <a:rPr lang="en-GB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contacts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Контакти</a:t>
            </a:r>
            <a:r>
              <a:rPr lang="bg-BG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Телефон: 0888 123 456</a:t>
            </a:r>
            <a:r>
              <a:rPr lang="bg-BG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FA680F-1F0B-214C-9BE2-4A5BA2EE2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1000" y="1314000"/>
            <a:ext cx="2753689" cy="211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FCFB93-19B1-0CA7-816A-666ABFD083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7794" y="4554000"/>
            <a:ext cx="3340100" cy="14986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4" name="Arrow: Right 10">
            <a:extLst>
              <a:ext uri="{FF2B5EF4-FFF2-40B4-BE49-F238E27FC236}">
                <a16:creationId xmlns:a16="http://schemas.microsoft.com/office/drawing/2014/main" id="{009A6A8C-662E-4A09-CA12-B223894C8246}"/>
              </a:ext>
            </a:extLst>
          </p:cNvPr>
          <p:cNvSpPr/>
          <p:nvPr/>
        </p:nvSpPr>
        <p:spPr>
          <a:xfrm rot="5400000">
            <a:off x="9565964" y="3548724"/>
            <a:ext cx="943758" cy="88555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1D976-025C-C563-8EFF-E5849088F5A1}"/>
              </a:ext>
            </a:extLst>
          </p:cNvPr>
          <p:cNvSpPr/>
          <p:nvPr/>
        </p:nvSpPr>
        <p:spPr bwMode="auto">
          <a:xfrm>
            <a:off x="867018" y="3069000"/>
            <a:ext cx="2230468" cy="292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href="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#contacts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GB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F98AD8-DD27-6A05-AC1C-879C345EBA67}"/>
              </a:ext>
            </a:extLst>
          </p:cNvPr>
          <p:cNvSpPr/>
          <p:nvPr/>
        </p:nvSpPr>
        <p:spPr bwMode="auto">
          <a:xfrm>
            <a:off x="916701" y="5499000"/>
            <a:ext cx="1939299" cy="225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id="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#contacts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GB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724646-90E4-D03A-7605-681143E8AB8E}"/>
              </a:ext>
            </a:extLst>
          </p:cNvPr>
          <p:cNvSpPr/>
          <p:nvPr/>
        </p:nvSpPr>
        <p:spPr bwMode="auto">
          <a:xfrm>
            <a:off x="876000" y="2754000"/>
            <a:ext cx="2221486" cy="292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href="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#services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GB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355440-8882-5DAD-403C-130BE4BE2D97}"/>
              </a:ext>
            </a:extLst>
          </p:cNvPr>
          <p:cNvSpPr/>
          <p:nvPr/>
        </p:nvSpPr>
        <p:spPr bwMode="auto">
          <a:xfrm>
            <a:off x="873771" y="2484000"/>
            <a:ext cx="1712229" cy="247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href="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#home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GB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F666C2-9053-27D4-FE1C-8BF464D4C057}"/>
              </a:ext>
            </a:extLst>
          </p:cNvPr>
          <p:cNvSpPr/>
          <p:nvPr/>
        </p:nvSpPr>
        <p:spPr bwMode="auto">
          <a:xfrm>
            <a:off x="876000" y="3692096"/>
            <a:ext cx="1440000" cy="225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id="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#home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GB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0F8B27-3AEE-EF53-9236-24787D65FA23}"/>
              </a:ext>
            </a:extLst>
          </p:cNvPr>
          <p:cNvSpPr/>
          <p:nvPr/>
        </p:nvSpPr>
        <p:spPr bwMode="auto">
          <a:xfrm>
            <a:off x="916701" y="4599000"/>
            <a:ext cx="1939299" cy="225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id="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#services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GB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7774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  <p:bldP spid="8" grpId="0" animBg="1"/>
      <p:bldP spid="9" grpId="0" animBg="1"/>
      <p:bldP spid="10" grpId="0" animBg="1"/>
      <p:bldP spid="12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1F843B-9D9A-C1C4-DA5D-9043C7B55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BED6C-FB1C-3024-FEEC-A0FCE768F3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mailto:</a:t>
            </a:r>
          </a:p>
          <a:p>
            <a:pPr lvl="1"/>
            <a:r>
              <a:rPr lang="bg-BG" dirty="0"/>
              <a:t>Създава </a:t>
            </a:r>
            <a:r>
              <a:rPr lang="bg-BG" b="1" dirty="0">
                <a:solidFill>
                  <a:schemeClr val="bg1"/>
                </a:solidFill>
              </a:rPr>
              <a:t>линк</a:t>
            </a:r>
            <a:r>
              <a:rPr lang="bg-BG" dirty="0"/>
              <a:t> за </a:t>
            </a:r>
            <a:r>
              <a:rPr lang="bg-BG" b="1" dirty="0"/>
              <a:t>изпращане</a:t>
            </a:r>
            <a:r>
              <a:rPr lang="bg-BG" dirty="0"/>
              <a:t> на </a:t>
            </a:r>
            <a:r>
              <a:rPr lang="bg-BG" b="1" dirty="0"/>
              <a:t>имейл</a:t>
            </a:r>
          </a:p>
          <a:p>
            <a:pPr lvl="1"/>
            <a:r>
              <a:rPr lang="bg-BG" dirty="0"/>
              <a:t>Отваря </a:t>
            </a:r>
            <a:r>
              <a:rPr lang="bg-BG" b="1" dirty="0">
                <a:solidFill>
                  <a:schemeClr val="bg1"/>
                </a:solidFill>
              </a:rPr>
              <a:t>приложение</a:t>
            </a:r>
            <a:r>
              <a:rPr lang="bg-BG" dirty="0"/>
              <a:t> за </a:t>
            </a:r>
            <a:r>
              <a:rPr lang="bg-BG" b="1" dirty="0"/>
              <a:t>електронна поща</a:t>
            </a:r>
          </a:p>
          <a:p>
            <a:pPr lvl="1"/>
            <a:endParaRPr lang="bg-BG" dirty="0"/>
          </a:p>
          <a:p>
            <a:pPr lvl="1"/>
            <a:endParaRPr lang="en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B475FB-5A07-6817-CCAC-F87A3D3EE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Линк към имейл адрес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FCBD9-01A9-0037-445C-A3212E877EBA}"/>
              </a:ext>
            </a:extLst>
          </p:cNvPr>
          <p:cNvSpPr txBox="1">
            <a:spLocks/>
          </p:cNvSpPr>
          <p:nvPr/>
        </p:nvSpPr>
        <p:spPr>
          <a:xfrm>
            <a:off x="616574" y="4329000"/>
            <a:ext cx="10958852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 href="</a:t>
            </a:r>
            <a:r>
              <a:rPr lang="en-GB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mailto:info@example.com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Изпрати имейл</a:t>
            </a:r>
            <a:r>
              <a:rPr lang="bg-BG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42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img&gt;</a:t>
            </a:r>
          </a:p>
          <a:p>
            <a:pPr lvl="1"/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Вмъква </a:t>
            </a:r>
            <a:r>
              <a:rPr lang="bg-BG" sz="3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изображение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уеб страницата</a:t>
            </a:r>
            <a:endParaRPr lang="en-GB" sz="3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3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bg-BG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Изображения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8F640-574B-DBBD-A0CE-4A207CA1F273}"/>
              </a:ext>
            </a:extLst>
          </p:cNvPr>
          <p:cNvSpPr txBox="1">
            <a:spLocks/>
          </p:cNvSpPr>
          <p:nvPr/>
        </p:nvSpPr>
        <p:spPr>
          <a:xfrm>
            <a:off x="336000" y="3629206"/>
            <a:ext cx="11784444" cy="4924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&lt;img src="</a:t>
            </a:r>
            <a:r>
              <a:rPr lang="bg-BG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og</a:t>
            </a:r>
            <a:r>
              <a:rPr lang="en-GB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.jpg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2600" b="1" noProof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alt="</a:t>
            </a:r>
            <a:r>
              <a:rPr lang="bg-BG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Куче в парка</a:t>
            </a:r>
            <a:r>
              <a:rPr lang="bg-BG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bg-BG" sz="2600" b="1" noProof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width="</a:t>
            </a:r>
            <a:r>
              <a:rPr lang="en-GB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300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</a:t>
            </a:r>
            <a:r>
              <a:rPr lang="en-GB" sz="2600" b="1" noProof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height</a:t>
            </a:r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200</a:t>
            </a:r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 sz="26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F2DA5AFB-E8F0-1B0A-6BBE-667D4B137AAA}"/>
              </a:ext>
            </a:extLst>
          </p:cNvPr>
          <p:cNvSpPr/>
          <p:nvPr/>
        </p:nvSpPr>
        <p:spPr bwMode="auto">
          <a:xfrm>
            <a:off x="339444" y="4476041"/>
            <a:ext cx="3780000" cy="612671"/>
          </a:xfrm>
          <a:prstGeom prst="wedgeRoundRectCallout">
            <a:avLst>
              <a:gd name="adj1" fmla="val -7704"/>
              <a:gd name="adj2" fmla="val -11234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Път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към изображението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7A7B93BF-864F-0F96-FBB7-876619DB321E}"/>
              </a:ext>
            </a:extLst>
          </p:cNvPr>
          <p:cNvSpPr/>
          <p:nvPr/>
        </p:nvSpPr>
        <p:spPr bwMode="auto">
          <a:xfrm>
            <a:off x="3531000" y="2791621"/>
            <a:ext cx="4410000" cy="612671"/>
          </a:xfrm>
          <a:prstGeom prst="wedgeRoundRectCallout">
            <a:avLst>
              <a:gd name="adj1" fmla="val -28433"/>
              <a:gd name="adj2" fmla="val 9343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Описание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 изображението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7842B890-42F1-76B3-F24C-9EA34B1EAA8D}"/>
              </a:ext>
            </a:extLst>
          </p:cNvPr>
          <p:cNvSpPr/>
          <p:nvPr/>
        </p:nvSpPr>
        <p:spPr bwMode="auto">
          <a:xfrm>
            <a:off x="5363922" y="4395318"/>
            <a:ext cx="1969284" cy="612671"/>
          </a:xfrm>
          <a:prstGeom prst="wedgeRoundRectCallout">
            <a:avLst>
              <a:gd name="adj1" fmla="val 58547"/>
              <a:gd name="adj2" fmla="val -10330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Ширина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4AE877-8578-3860-E814-2507D7DC2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7191" y="4059346"/>
            <a:ext cx="3949700" cy="27051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F2CAC182-0F44-D504-E5BA-3AC9461F81AF}"/>
              </a:ext>
            </a:extLst>
          </p:cNvPr>
          <p:cNvSpPr/>
          <p:nvPr/>
        </p:nvSpPr>
        <p:spPr bwMode="auto">
          <a:xfrm>
            <a:off x="9281167" y="2791622"/>
            <a:ext cx="1969284" cy="612671"/>
          </a:xfrm>
          <a:prstGeom prst="wedgeRoundRectCallout">
            <a:avLst>
              <a:gd name="adj1" fmla="val -4771"/>
              <a:gd name="adj2" fmla="val 9634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Височина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056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Хипервръзки и изображения </a:t>
            </a:r>
            <a:r>
              <a:rPr lang="bg-BG" sz="4000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7FC67D1-CBEF-E994-4F9D-ECFEA2E6E8AF}"/>
              </a:ext>
            </a:extLst>
          </p:cNvPr>
          <p:cNvSpPr txBox="1">
            <a:spLocks/>
          </p:cNvSpPr>
          <p:nvPr/>
        </p:nvSpPr>
        <p:spPr>
          <a:xfrm>
            <a:off x="260834" y="1269000"/>
            <a:ext cx="11683758" cy="13234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 href="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https://www.wikipedia.org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Посетете</a:t>
            </a:r>
            <a:r>
              <a:rPr lang="bg-BG" sz="2000" b="1" noProof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сайта</a:t>
            </a:r>
            <a:r>
              <a:rPr lang="bg-BG" sz="2000" b="1" noProof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на</a:t>
            </a:r>
            <a:r>
              <a:rPr lang="en-US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Wikipedia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&lt;/a&gt;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&lt;/p&gt;</a:t>
            </a:r>
            <a:b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&lt;img src="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https://upload.wikimedia.org/wikipedia/commons/3/32/House_sparrow04.jpg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>
              <a:lnSpc>
                <a:spcPct val="100000"/>
              </a:lnSpc>
            </a:pP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alt="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Птица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300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height="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200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&lt;/p&gt;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F47D90-A59F-9DE5-406B-5BF1D02665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38498" y="3366200"/>
            <a:ext cx="3915001" cy="32893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0" name="Arrow: Right 10">
            <a:extLst>
              <a:ext uri="{FF2B5EF4-FFF2-40B4-BE49-F238E27FC236}">
                <a16:creationId xmlns:a16="http://schemas.microsoft.com/office/drawing/2014/main" id="{77E9DB1D-DFC9-2DF3-0CAA-BE01B104B77A}"/>
              </a:ext>
            </a:extLst>
          </p:cNvPr>
          <p:cNvSpPr/>
          <p:nvPr/>
        </p:nvSpPr>
        <p:spPr>
          <a:xfrm rot="5400000">
            <a:off x="5624059" y="2499871"/>
            <a:ext cx="943880" cy="75632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402769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Подреден и неподреден списък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Списъци и таблици</a:t>
            </a:r>
            <a:endParaRPr lang="en-GB" sz="60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ADDF975-98F2-FF0C-516E-25000C5E99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817" t="11286" r="19817" b="11286"/>
          <a:stretch/>
        </p:blipFill>
        <p:spPr>
          <a:xfrm>
            <a:off x="4992356" y="1179000"/>
            <a:ext cx="2207288" cy="283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&lt;ul&gt;&lt;/ul&gt;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(Unordered List)</a:t>
            </a:r>
          </a:p>
          <a:p>
            <a:pPr lvl="1"/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Използва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се, когато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редът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 на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елементите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няма значение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Неподреден списък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CC592-2BDE-536A-83A5-303A2B185E99}"/>
              </a:ext>
            </a:extLst>
          </p:cNvPr>
          <p:cNvSpPr txBox="1">
            <a:spLocks/>
          </p:cNvSpPr>
          <p:nvPr/>
        </p:nvSpPr>
        <p:spPr>
          <a:xfrm>
            <a:off x="606000" y="3052567"/>
            <a:ext cx="10845000" cy="181588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&lt;ul&gt;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&lt;li&gt;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Кафе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&lt;li&gt;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Чай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&lt;/ul&gt;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F6B763D6-3735-B70F-1DF3-CE4D52D3AC22}"/>
              </a:ext>
            </a:extLst>
          </p:cNvPr>
          <p:cNvSpPr/>
          <p:nvPr/>
        </p:nvSpPr>
        <p:spPr bwMode="auto">
          <a:xfrm>
            <a:off x="1641000" y="5251150"/>
            <a:ext cx="4725000" cy="545520"/>
          </a:xfrm>
          <a:prstGeom prst="wedgeRoundRectCallout">
            <a:avLst>
              <a:gd name="adj1" fmla="val -46575"/>
              <a:gd name="adj2" fmla="val -21774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Елемент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списъка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 Item)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1A424C-D6A3-4E45-E167-4795358FF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1000" y="4124859"/>
            <a:ext cx="2598277" cy="191262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3748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Неподреден списък</a:t>
            </a:r>
            <a:r>
              <a:rPr lang="en-US" dirty="0"/>
              <a:t> </a:t>
            </a:r>
            <a:r>
              <a:rPr lang="bg-BG" sz="4000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C8A116-34B8-F863-012C-6DCA2535F3CE}"/>
              </a:ext>
            </a:extLst>
          </p:cNvPr>
          <p:cNvSpPr txBox="1">
            <a:spLocks/>
          </p:cNvSpPr>
          <p:nvPr/>
        </p:nvSpPr>
        <p:spPr>
          <a:xfrm>
            <a:off x="438970" y="2853606"/>
            <a:ext cx="3960000" cy="19389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&lt;ul&gt;</a:t>
            </a:r>
          </a:p>
          <a:p>
            <a:pPr>
              <a:lnSpc>
                <a:spcPct val="100000"/>
              </a:lnSpc>
            </a:pP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&lt;li&gt;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Ябълки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</a:p>
          <a:p>
            <a:pPr>
              <a:lnSpc>
                <a:spcPct val="100000"/>
              </a:lnSpc>
            </a:pP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&lt;li&gt;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Банани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</a:p>
          <a:p>
            <a:pPr>
              <a:lnSpc>
                <a:spcPct val="100000"/>
              </a:lnSpc>
            </a:pP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&lt;li&gt;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Портокали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&lt;/ul&gt;</a:t>
            </a:r>
            <a:endParaRPr lang="en-US" sz="20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Arrow: Right 10">
            <a:extLst>
              <a:ext uri="{FF2B5EF4-FFF2-40B4-BE49-F238E27FC236}">
                <a16:creationId xmlns:a16="http://schemas.microsoft.com/office/drawing/2014/main" id="{3214C25A-2FD4-C231-C566-1CD3CEA470AF}"/>
              </a:ext>
            </a:extLst>
          </p:cNvPr>
          <p:cNvSpPr/>
          <p:nvPr/>
        </p:nvSpPr>
        <p:spPr>
          <a:xfrm>
            <a:off x="4922318" y="3180100"/>
            <a:ext cx="1635428" cy="128600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039F75-AA62-CDA5-9CDD-5F80EA2DE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1095" y="2721107"/>
            <a:ext cx="4671935" cy="206643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1314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&lt;ol&gt;&lt;/ol&gt;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(Ordered List)</a:t>
            </a:r>
            <a:endParaRPr lang="bg-BG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Използва се</a:t>
            </a:r>
            <a:r>
              <a:rPr lang="en-GB" sz="34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 когато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редът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 е </a:t>
            </a:r>
            <a:r>
              <a:rPr lang="bg-BG" sz="3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важен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Подреден списък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CC592-2BDE-536A-83A5-303A2B185E99}"/>
              </a:ext>
            </a:extLst>
          </p:cNvPr>
          <p:cNvSpPr txBox="1">
            <a:spLocks/>
          </p:cNvSpPr>
          <p:nvPr/>
        </p:nvSpPr>
        <p:spPr>
          <a:xfrm>
            <a:off x="606000" y="3052567"/>
            <a:ext cx="10980000" cy="181588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&lt;ol&gt;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&lt;li&gt;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Първа стъпка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&lt;li&gt;</a:t>
            </a:r>
            <a:r>
              <a:rPr lang="bg-BG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Втора стъпка</a:t>
            </a:r>
            <a:r>
              <a:rPr lang="bg-BG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&lt;/ol&gt;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11BBCD-5F3B-ADD8-E1C8-87F0B97F3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1000" y="4235811"/>
            <a:ext cx="4244042" cy="137155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6837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Подреден списък </a:t>
            </a:r>
            <a:r>
              <a:rPr lang="bg-BG" sz="4000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40883D-1C43-C45E-E328-D714D300C928}"/>
              </a:ext>
            </a:extLst>
          </p:cNvPr>
          <p:cNvSpPr txBox="1">
            <a:spLocks/>
          </p:cNvSpPr>
          <p:nvPr/>
        </p:nvSpPr>
        <p:spPr>
          <a:xfrm>
            <a:off x="190406" y="3024000"/>
            <a:ext cx="5760000" cy="19389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&lt;ol&gt;</a:t>
            </a:r>
            <a:b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&lt;li&gt;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Включи компютъра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  <a:b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&lt;li&gt;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Отвори браузър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  <a:b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&lt;li&gt;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Въведи адреса на сайта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  <a:b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&lt;/ol&gt;</a:t>
            </a:r>
          </a:p>
        </p:txBody>
      </p:sp>
      <p:sp>
        <p:nvSpPr>
          <p:cNvPr id="7" name="Arrow: Right 10">
            <a:extLst>
              <a:ext uri="{FF2B5EF4-FFF2-40B4-BE49-F238E27FC236}">
                <a16:creationId xmlns:a16="http://schemas.microsoft.com/office/drawing/2014/main" id="{1A9A8B02-BB8E-CA95-4C39-E3542EDA7DD8}"/>
              </a:ext>
            </a:extLst>
          </p:cNvPr>
          <p:cNvSpPr/>
          <p:nvPr/>
        </p:nvSpPr>
        <p:spPr>
          <a:xfrm>
            <a:off x="6030098" y="3650080"/>
            <a:ext cx="871468" cy="68683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2C7825-14CA-35E5-33F4-6E420A6420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1259" y="3126248"/>
            <a:ext cx="4955478" cy="173449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7894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&lt;table&gt;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&lt;/table&gt;</a:t>
            </a:r>
            <a:endParaRPr lang="bg-BG" sz="32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Създава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таблица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уеб страницата</a:t>
            </a:r>
            <a:endParaRPr lang="en-US" sz="3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bg-BG" sz="28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Таблици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CC592-2BDE-536A-83A5-303A2B185E99}"/>
              </a:ext>
            </a:extLst>
          </p:cNvPr>
          <p:cNvSpPr txBox="1">
            <a:spLocks/>
          </p:cNvSpPr>
          <p:nvPr/>
        </p:nvSpPr>
        <p:spPr>
          <a:xfrm>
            <a:off x="606000" y="2583180"/>
            <a:ext cx="10980000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&lt;table border="1"&gt;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&lt;tr&gt;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&lt;th&gt;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Име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&lt;th&gt;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Клас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&lt;/tr&gt;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&lt;tr&gt;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&lt;td&gt;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Иван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td&gt;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&lt;td&gt;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А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td&gt;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&lt;/tr&gt;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&lt;/table&gt;</a:t>
            </a:r>
            <a:endParaRPr lang="en-US" sz="20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21D7144C-0693-412C-6220-1EC5C5B0EE6D}"/>
              </a:ext>
            </a:extLst>
          </p:cNvPr>
          <p:cNvSpPr/>
          <p:nvPr/>
        </p:nvSpPr>
        <p:spPr bwMode="auto">
          <a:xfrm>
            <a:off x="3885703" y="4676354"/>
            <a:ext cx="4758545" cy="612671"/>
          </a:xfrm>
          <a:prstGeom prst="wedgeRoundRectCallout">
            <a:avLst>
              <a:gd name="adj1" fmla="val -56990"/>
              <a:gd name="adj2" fmla="val 1428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Стандартна клетка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(Table Data)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5F903689-7AC2-A04B-A94B-41AC16570E0D}"/>
              </a:ext>
            </a:extLst>
          </p:cNvPr>
          <p:cNvSpPr/>
          <p:nvPr/>
        </p:nvSpPr>
        <p:spPr bwMode="auto">
          <a:xfrm>
            <a:off x="3857475" y="3591590"/>
            <a:ext cx="4815000" cy="612671"/>
          </a:xfrm>
          <a:prstGeom prst="wedgeRoundRectCallout">
            <a:avLst>
              <a:gd name="adj1" fmla="val -59571"/>
              <a:gd name="adj2" fmla="val -4935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Заглавна клетка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(Table Header)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D4F6DE2D-CDD9-9880-2955-738A9620D627}"/>
              </a:ext>
            </a:extLst>
          </p:cNvPr>
          <p:cNvSpPr/>
          <p:nvPr/>
        </p:nvSpPr>
        <p:spPr bwMode="auto">
          <a:xfrm>
            <a:off x="3895295" y="2742872"/>
            <a:ext cx="2880000" cy="612671"/>
          </a:xfrm>
          <a:prstGeom prst="wedgeRoundRectCallout">
            <a:avLst>
              <a:gd name="adj1" fmla="val -125099"/>
              <a:gd name="adj2" fmla="val 2721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Ред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(Table Row)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CE1E34-26AD-88B5-2AEA-63D57B22B2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37191" y="3636814"/>
            <a:ext cx="3110747" cy="183552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0548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Таблици </a:t>
            </a:r>
            <a:r>
              <a:rPr lang="bg-BG" sz="4000" dirty="0"/>
              <a:t>–</a:t>
            </a:r>
            <a:r>
              <a:rPr lang="bg-BG" dirty="0"/>
              <a:t> Пример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1C7EEC-2018-480B-7E1F-E61DE905AB53}"/>
              </a:ext>
            </a:extLst>
          </p:cNvPr>
          <p:cNvSpPr txBox="1">
            <a:spLocks/>
          </p:cNvSpPr>
          <p:nvPr/>
        </p:nvSpPr>
        <p:spPr>
          <a:xfrm>
            <a:off x="438970" y="1613353"/>
            <a:ext cx="5040000" cy="489364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&lt;table border="1"&gt;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&lt;tr&gt;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&lt;th&gt;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Ученик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&lt;th&gt;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Предмет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&lt;th&gt;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Оценка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&lt;/tr&gt;</a:t>
            </a:r>
            <a:b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&lt;tr&gt;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&lt;td&gt;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Мария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td&gt;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&lt;td&gt;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Математика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td&gt;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&lt;td&gt;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&lt;/td&gt;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&lt;/tr&gt;</a:t>
            </a:r>
            <a:b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GB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&lt;/table&gt;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93550A-AD12-088E-3522-F26843D30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0552" y="2922350"/>
            <a:ext cx="5162478" cy="189595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Arrow: Right 10">
            <a:extLst>
              <a:ext uri="{FF2B5EF4-FFF2-40B4-BE49-F238E27FC236}">
                <a16:creationId xmlns:a16="http://schemas.microsoft.com/office/drawing/2014/main" id="{7600EF58-9A56-98BD-C12D-BB3CB97D51BC}"/>
              </a:ext>
            </a:extLst>
          </p:cNvPr>
          <p:cNvSpPr/>
          <p:nvPr/>
        </p:nvSpPr>
        <p:spPr>
          <a:xfrm>
            <a:off x="5106000" y="3418418"/>
            <a:ext cx="1327915" cy="117141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01507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Текстови полета, отметки и бутони, падащо меню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Форми и въвеждане на данни</a:t>
            </a:r>
            <a:endParaRPr lang="en-US" sz="5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C8A8FF-B643-217F-DC29-D3F5B1073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4790" y="1373255"/>
            <a:ext cx="2682420" cy="245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56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Позволяват на </a:t>
            </a:r>
            <a:r>
              <a:rPr lang="bg-BG" sz="3600" b="1" dirty="0">
                <a:solidFill>
                  <a:schemeClr val="bg1"/>
                </a:solidFill>
              </a:rPr>
              <a:t>потребителите</a:t>
            </a:r>
            <a:r>
              <a:rPr lang="bg-BG" sz="3600" dirty="0"/>
              <a:t> да </a:t>
            </a:r>
            <a:r>
              <a:rPr lang="bg-BG" sz="3600" b="1" dirty="0"/>
              <a:t>въвеждат</a:t>
            </a:r>
            <a:r>
              <a:rPr lang="bg-BG" sz="3600" dirty="0"/>
              <a:t> </a:t>
            </a:r>
            <a:r>
              <a:rPr lang="bg-BG" sz="3600" b="1" dirty="0"/>
              <a:t>информация</a:t>
            </a:r>
            <a:r>
              <a:rPr lang="bg-BG" sz="3600" dirty="0"/>
              <a:t>, която се </a:t>
            </a:r>
            <a:r>
              <a:rPr lang="bg-BG" sz="3600" b="1" dirty="0"/>
              <a:t>изпраща</a:t>
            </a:r>
            <a:r>
              <a:rPr lang="bg-BG" sz="3600" dirty="0"/>
              <a:t> към </a:t>
            </a:r>
            <a:r>
              <a:rPr lang="bg-BG" sz="3600" b="1" dirty="0">
                <a:solidFill>
                  <a:schemeClr val="bg1"/>
                </a:solidFill>
              </a:rPr>
              <a:t>сървъра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Форми и въвеждане на данни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AACDA6-171F-B865-85B5-9A6B28DB27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39" t="6625" r="6715" b="6394"/>
          <a:stretch/>
        </p:blipFill>
        <p:spPr>
          <a:xfrm>
            <a:off x="3373500" y="2883490"/>
            <a:ext cx="5445000" cy="363000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8812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lvl="1"/>
            <a:r>
              <a:rPr lang="en-US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type=</a:t>
            </a:r>
            <a:r>
              <a:rPr lang="en-GB" sz="3000" b="1" noProof="1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GB" sz="3000" b="1" noProof="1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3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000" dirty="0"/>
              <a:t>→ </a:t>
            </a:r>
            <a:r>
              <a:rPr lang="bg-BG" sz="3000" b="1" dirty="0">
                <a:solidFill>
                  <a:schemeClr val="bg1"/>
                </a:solidFill>
              </a:rPr>
              <a:t>едноредово</a:t>
            </a:r>
            <a:r>
              <a:rPr lang="bg-BG" sz="3000" dirty="0"/>
              <a:t> </a:t>
            </a:r>
            <a:r>
              <a:rPr lang="bg-BG" sz="3000" b="1" dirty="0"/>
              <a:t>текстово поле</a:t>
            </a:r>
            <a:endParaRPr lang="en-US" sz="3000" b="1" dirty="0"/>
          </a:p>
          <a:p>
            <a:pPr lvl="1"/>
            <a:endParaRPr lang="bg-BG" sz="3400" dirty="0"/>
          </a:p>
          <a:p>
            <a:pPr lvl="1"/>
            <a:r>
              <a:rPr lang="en-GB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type=</a:t>
            </a:r>
            <a:r>
              <a:rPr lang="en-GB" sz="3000" b="1" noProof="1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password</a:t>
            </a:r>
            <a:r>
              <a:rPr lang="en-GB" sz="3000" b="1" noProof="1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3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000" dirty="0"/>
              <a:t>→ </a:t>
            </a:r>
            <a:r>
              <a:rPr lang="bg-BG" sz="3000" b="1" dirty="0">
                <a:solidFill>
                  <a:schemeClr val="bg1"/>
                </a:solidFill>
              </a:rPr>
              <a:t>скрит </a:t>
            </a:r>
            <a:r>
              <a:rPr lang="bg-BG" sz="3000" b="1" dirty="0"/>
              <a:t>текст</a:t>
            </a:r>
            <a:endParaRPr lang="en-US" sz="3000" b="1" dirty="0"/>
          </a:p>
          <a:p>
            <a:endParaRPr lang="bg-BG" sz="3600" dirty="0"/>
          </a:p>
          <a:p>
            <a:pPr lvl="1"/>
            <a:r>
              <a:rPr lang="en-GB" sz="3000" b="1" dirty="0">
                <a:latin typeface="Consolas" panose="020B0609020204030204" pitchFamily="49" charset="0"/>
                <a:cs typeface="Consolas" panose="020B0609020204030204" pitchFamily="49" charset="0"/>
              </a:rPr>
              <a:t>type=</a:t>
            </a:r>
            <a:r>
              <a:rPr lang="en-GB" sz="3000" b="1" noProof="1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GB" sz="3000" b="1" noProof="1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3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000" dirty="0"/>
              <a:t>→ </a:t>
            </a:r>
            <a:r>
              <a:rPr lang="bg-BG" sz="3000" b="1" dirty="0">
                <a:solidFill>
                  <a:schemeClr val="bg1"/>
                </a:solidFill>
              </a:rPr>
              <a:t>много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реда</a:t>
            </a:r>
            <a:r>
              <a:rPr lang="bg-BG" sz="3000" dirty="0"/>
              <a:t> </a:t>
            </a:r>
            <a:r>
              <a:rPr lang="bg-BG" sz="3000" b="1" dirty="0"/>
              <a:t>текст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Полета за въвеждане на текст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525CB-C0ED-39F0-0B55-340E18F050FF}"/>
              </a:ext>
            </a:extLst>
          </p:cNvPr>
          <p:cNvSpPr txBox="1">
            <a:spLocks/>
          </p:cNvSpPr>
          <p:nvPr/>
        </p:nvSpPr>
        <p:spPr>
          <a:xfrm>
            <a:off x="773030" y="5291561"/>
            <a:ext cx="109800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 rows="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cols="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"&gt;&lt;/textarea&gt;</a:t>
            </a:r>
            <a:endParaRPr lang="en-US" sz="20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9F93BCF-0273-7BE2-0D28-111C81220B79}"/>
              </a:ext>
            </a:extLst>
          </p:cNvPr>
          <p:cNvSpPr txBox="1">
            <a:spLocks/>
          </p:cNvSpPr>
          <p:nvPr/>
        </p:nvSpPr>
        <p:spPr>
          <a:xfrm>
            <a:off x="773030" y="2550465"/>
            <a:ext cx="109800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placeholder="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Въведете име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2F15B62-9BAD-C96E-CAD6-D23CFBA60561}"/>
              </a:ext>
            </a:extLst>
          </p:cNvPr>
          <p:cNvSpPr txBox="1">
            <a:spLocks/>
          </p:cNvSpPr>
          <p:nvPr/>
        </p:nvSpPr>
        <p:spPr>
          <a:xfrm>
            <a:off x="773030" y="3886999"/>
            <a:ext cx="109800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 type="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password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placeholder="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Въведете парола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B607EB-2922-99D5-CCA6-E7C2681BF7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33364" y="2213272"/>
            <a:ext cx="3203373" cy="67438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69B13A-3A33-07C7-94BE-6DDCA4C48C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11000" y="4102443"/>
            <a:ext cx="2825737" cy="59488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1FA297-6113-3B42-C555-D96B3A7E806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84808" y="5225832"/>
            <a:ext cx="3795956" cy="108506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EC9C5D-7FD9-8001-E9F6-3DE8A07845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3364" y="2213273"/>
            <a:ext cx="3196585" cy="67438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FF052D-C5DE-4296-5E12-312445DE18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1000" y="4102442"/>
            <a:ext cx="2818949" cy="59471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6ED277-FF3B-E822-F738-1F593267F9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8734" y="5219846"/>
            <a:ext cx="4318003" cy="116924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1303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3D2155-454A-D7D1-6374-A06F9437E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AECD9-2E1B-B4D7-747E-2F35BE091A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&lt;label&gt;&lt;/label&gt;</a:t>
            </a:r>
          </a:p>
          <a:p>
            <a:pPr lvl="1"/>
            <a:r>
              <a:rPr lang="bg-BG" dirty="0"/>
              <a:t>Показва </a:t>
            </a:r>
            <a:r>
              <a:rPr lang="bg-BG" b="1" dirty="0">
                <a:solidFill>
                  <a:schemeClr val="bg1"/>
                </a:solidFill>
              </a:rPr>
              <a:t>каква</a:t>
            </a:r>
            <a:r>
              <a:rPr lang="bg-BG" b="1" dirty="0"/>
              <a:t> </a:t>
            </a:r>
            <a:r>
              <a:rPr lang="bg-BG" b="1" dirty="0">
                <a:solidFill>
                  <a:schemeClr val="bg1"/>
                </a:solidFill>
              </a:rPr>
              <a:t>информация</a:t>
            </a:r>
            <a:r>
              <a:rPr lang="bg-BG" b="1" dirty="0"/>
              <a:t> </a:t>
            </a:r>
            <a:r>
              <a:rPr lang="bg-BG" dirty="0"/>
              <a:t>трябва да се </a:t>
            </a:r>
            <a:r>
              <a:rPr lang="bg-BG" b="1" dirty="0"/>
              <a:t>въведе</a:t>
            </a:r>
            <a:r>
              <a:rPr lang="bg-BG" dirty="0"/>
              <a:t> в </a:t>
            </a:r>
            <a:r>
              <a:rPr lang="bg-BG" b="1" dirty="0"/>
              <a:t>полето</a:t>
            </a:r>
          </a:p>
          <a:p>
            <a:pPr lvl="1"/>
            <a:r>
              <a:rPr lang="bg-BG" dirty="0"/>
              <a:t>Свързва </a:t>
            </a:r>
            <a:r>
              <a:rPr lang="bg-BG" b="1" dirty="0"/>
              <a:t>текст</a:t>
            </a:r>
            <a:r>
              <a:rPr lang="bg-BG" dirty="0"/>
              <a:t> с </a:t>
            </a:r>
            <a:r>
              <a:rPr lang="bg-BG" b="1" dirty="0"/>
              <a:t>поле за въвеждане</a:t>
            </a:r>
          </a:p>
          <a:p>
            <a:pPr lvl="1"/>
            <a:r>
              <a:rPr lang="bg-BG" dirty="0"/>
              <a:t>Улеснява работата с </a:t>
            </a:r>
            <a:r>
              <a:rPr lang="bg-BG" b="1" dirty="0"/>
              <a:t>формите</a:t>
            </a:r>
            <a:endParaRPr lang="en-BG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AB783B-8A25-E5A4-5145-8206F1521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Етикети (</a:t>
            </a:r>
            <a:r>
              <a:rPr lang="en-US" dirty="0"/>
              <a:t>Labels)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7AEFD-99D1-A9D6-D130-A8F37556FAC1}"/>
              </a:ext>
            </a:extLst>
          </p:cNvPr>
          <p:cNvSpPr txBox="1">
            <a:spLocks/>
          </p:cNvSpPr>
          <p:nvPr/>
        </p:nvSpPr>
        <p:spPr>
          <a:xfrm>
            <a:off x="606000" y="5139749"/>
            <a:ext cx="10980000" cy="76944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&lt;label for="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username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Име: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>
              <a:lnSpc>
                <a:spcPct val="100000"/>
              </a:lnSpc>
            </a:pP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username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endParaRPr lang="bg-BG" sz="22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72BA03D3-A59A-572D-02ED-24807B8F299E}"/>
              </a:ext>
            </a:extLst>
          </p:cNvPr>
          <p:cNvSpPr/>
          <p:nvPr/>
        </p:nvSpPr>
        <p:spPr bwMode="auto">
          <a:xfrm>
            <a:off x="606000" y="3960508"/>
            <a:ext cx="6075000" cy="769442"/>
          </a:xfrm>
          <a:prstGeom prst="wedgeRoundRectCallout">
            <a:avLst>
              <a:gd name="adj1" fmla="val -25799"/>
              <a:gd name="adj2" fmla="val 11303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Свързва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етикета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полето за въвеждане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чрез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</a:t>
            </a:r>
            <a:r>
              <a:rPr lang="en-US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340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Полета за въвеждане на текст</a:t>
            </a:r>
            <a:r>
              <a:rPr lang="en-US" dirty="0"/>
              <a:t> </a:t>
            </a:r>
            <a:r>
              <a:rPr lang="bg-BG" sz="4000" dirty="0"/>
              <a:t>–</a:t>
            </a:r>
            <a:r>
              <a:rPr lang="en-US" dirty="0"/>
              <a:t> </a:t>
            </a:r>
            <a:r>
              <a:rPr lang="bg-BG" dirty="0"/>
              <a:t>Пример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9F93BCF-0273-7BE2-0D28-111C81220B79}"/>
              </a:ext>
            </a:extLst>
          </p:cNvPr>
          <p:cNvSpPr txBox="1">
            <a:spLocks/>
          </p:cNvSpPr>
          <p:nvPr/>
        </p:nvSpPr>
        <p:spPr>
          <a:xfrm>
            <a:off x="190406" y="1316014"/>
            <a:ext cx="11440594" cy="255454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&lt;label for="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Име: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>
              <a:lnSpc>
                <a:spcPct val="100000"/>
              </a:lnSpc>
            </a:pP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id="</a:t>
            </a:r>
            <a:r>
              <a:rPr lang="en-US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placeholder="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Въведете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име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endParaRPr lang="en-US" sz="20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b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 for="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password"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Парола: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>
              <a:lnSpc>
                <a:spcPct val="100000"/>
              </a:lnSpc>
            </a:pP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password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password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placeholder="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Въведете парола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endParaRPr lang="en-US" sz="20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b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 for="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Съобщение: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>
              <a:lnSpc>
                <a:spcPct val="100000"/>
              </a:lnSpc>
            </a:pP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&lt;textarea rows="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cols="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"&gt;&lt;/textarea&gt;</a:t>
            </a:r>
          </a:p>
        </p:txBody>
      </p:sp>
      <p:sp>
        <p:nvSpPr>
          <p:cNvPr id="10" name="Arrow: Right 10">
            <a:extLst>
              <a:ext uri="{FF2B5EF4-FFF2-40B4-BE49-F238E27FC236}">
                <a16:creationId xmlns:a16="http://schemas.microsoft.com/office/drawing/2014/main" id="{E1C0C751-E142-E9D5-A4D9-BC7B8BDDE1ED}"/>
              </a:ext>
            </a:extLst>
          </p:cNvPr>
          <p:cNvSpPr/>
          <p:nvPr/>
        </p:nvSpPr>
        <p:spPr>
          <a:xfrm rot="1729038">
            <a:off x="7064003" y="3995311"/>
            <a:ext cx="642321" cy="4853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D6863B-0053-CFCF-8BBF-D44849273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5427" y="3097857"/>
            <a:ext cx="3803673" cy="370614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1519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000" b="1" noProof="1">
                <a:latin typeface="Calibri" panose="020F0502020204030204" pitchFamily="34" charset="0"/>
                <a:cs typeface="Calibri" panose="020F0502020204030204" pitchFamily="34" charset="0"/>
              </a:rPr>
              <a:t>&lt;input type="</a:t>
            </a:r>
            <a:r>
              <a:rPr lang="en-GB" sz="3000" b="1" noProof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checkbox</a:t>
            </a:r>
            <a:r>
              <a:rPr lang="en-GB" sz="3000" b="1" noProof="1">
                <a:latin typeface="Calibri" panose="020F0502020204030204" pitchFamily="34" charset="0"/>
                <a:cs typeface="Calibri" panose="020F0502020204030204" pitchFamily="34" charset="0"/>
              </a:rPr>
              <a:t>"&gt;</a:t>
            </a:r>
            <a:endParaRPr lang="bg-BG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bg-BG" sz="2800" dirty="0"/>
              <a:t>Позволяват </a:t>
            </a:r>
            <a:r>
              <a:rPr lang="bg-BG" sz="2800" b="1" dirty="0"/>
              <a:t>избор</a:t>
            </a:r>
            <a:r>
              <a:rPr lang="bg-BG" sz="2800" dirty="0"/>
              <a:t> на </a:t>
            </a:r>
            <a:r>
              <a:rPr lang="bg-BG" sz="2800" b="1" dirty="0">
                <a:solidFill>
                  <a:schemeClr val="bg1"/>
                </a:solidFill>
              </a:rPr>
              <a:t>една</a:t>
            </a:r>
            <a:r>
              <a:rPr lang="bg-BG" sz="2800" dirty="0"/>
              <a:t> или </a:t>
            </a:r>
            <a:r>
              <a:rPr lang="bg-BG" sz="2800" b="1" dirty="0">
                <a:solidFill>
                  <a:schemeClr val="bg1"/>
                </a:solidFill>
              </a:rPr>
              <a:t>повече</a:t>
            </a:r>
            <a:r>
              <a:rPr lang="bg-BG" sz="2800" dirty="0"/>
              <a:t> </a:t>
            </a:r>
            <a:r>
              <a:rPr lang="bg-BG" sz="2800" b="1" dirty="0"/>
              <a:t>опции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Отметки (</a:t>
            </a:r>
            <a:r>
              <a:rPr lang="en-GB" dirty="0"/>
              <a:t>Checkbox)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1ED56-6CE4-0C8A-055A-743140396CC0}"/>
              </a:ext>
            </a:extLst>
          </p:cNvPr>
          <p:cNvSpPr txBox="1">
            <a:spLocks/>
          </p:cNvSpPr>
          <p:nvPr/>
        </p:nvSpPr>
        <p:spPr>
          <a:xfrm>
            <a:off x="127529" y="2922269"/>
            <a:ext cx="11936942" cy="186204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</a:t>
            </a:r>
            <a:r>
              <a:rPr lang="en-GB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checkbox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football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name="</a:t>
            </a:r>
            <a:r>
              <a:rPr lang="en-GB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sport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value="</a:t>
            </a:r>
            <a:r>
              <a:rPr lang="en-GB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football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100000"/>
              </a:lnSpc>
            </a:pP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&lt;label for="</a:t>
            </a:r>
            <a:r>
              <a:rPr lang="en-GB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football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Футбол</a:t>
            </a:r>
            <a:r>
              <a:rPr lang="bg-BG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>
              <a:lnSpc>
                <a:spcPct val="100000"/>
              </a:lnSpc>
            </a:pPr>
            <a:endParaRPr lang="en-GB" sz="23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</a:t>
            </a:r>
            <a:r>
              <a:rPr lang="en-GB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checkbox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basketball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name="</a:t>
            </a:r>
            <a:r>
              <a:rPr lang="en-GB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sport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value="</a:t>
            </a:r>
            <a:r>
              <a:rPr lang="en-GB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basketball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100000"/>
              </a:lnSpc>
            </a:pP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&lt;label for="</a:t>
            </a:r>
            <a:r>
              <a:rPr lang="en-GB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basketball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300" b="1" noProof="1">
                <a:latin typeface="Consolas" panose="020B0609020204030204" pitchFamily="49" charset="0"/>
                <a:cs typeface="Consolas" panose="020B0609020204030204" pitchFamily="49" charset="0"/>
              </a:rPr>
              <a:t>Баскетбол</a:t>
            </a:r>
            <a:r>
              <a:rPr lang="bg-BG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3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  <a:endParaRPr lang="en-US" sz="23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FF5FEE-87A4-DD6C-0A63-320FEAB49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7638" y="5831032"/>
            <a:ext cx="4511957" cy="7560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4D76D784-EBD4-5B33-1ECB-78500A0CA470}"/>
              </a:ext>
            </a:extLst>
          </p:cNvPr>
          <p:cNvSpPr/>
          <p:nvPr/>
        </p:nvSpPr>
        <p:spPr bwMode="auto">
          <a:xfrm>
            <a:off x="8406600" y="1196125"/>
            <a:ext cx="3346430" cy="1405523"/>
          </a:xfrm>
          <a:prstGeom prst="wedgeRoundRectCallout">
            <a:avLst>
              <a:gd name="adj1" fmla="val -27714"/>
              <a:gd name="adj2" fmla="val 8046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Задава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стойността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която се изпраща с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формата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Arrow: Right 10">
            <a:extLst>
              <a:ext uri="{FF2B5EF4-FFF2-40B4-BE49-F238E27FC236}">
                <a16:creationId xmlns:a16="http://schemas.microsoft.com/office/drawing/2014/main" id="{007F65BC-5E9B-DC8F-8408-EF435365BF53}"/>
              </a:ext>
            </a:extLst>
          </p:cNvPr>
          <p:cNvSpPr/>
          <p:nvPr/>
        </p:nvSpPr>
        <p:spPr>
          <a:xfrm rot="5400000">
            <a:off x="5455252" y="4871342"/>
            <a:ext cx="1036727" cy="8826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93423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000" b="1" noProof="1">
                <a:latin typeface="Consolas" panose="020B0609020204030204" pitchFamily="49" charset="0"/>
                <a:cs typeface="Consolas" panose="020B0609020204030204" pitchFamily="49" charset="0"/>
              </a:rPr>
              <a:t>&lt;input type="</a:t>
            </a:r>
            <a:r>
              <a:rPr lang="en-GB" sz="3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radio</a:t>
            </a:r>
            <a:r>
              <a:rPr lang="en-GB" sz="3000" b="1" noProof="1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3000" b="1" noProof="1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bg-BG" sz="3000" dirty="0">
              <a:highlight>
                <a:srgbClr val="FFFF00"/>
              </a:highlight>
            </a:endParaRPr>
          </a:p>
          <a:p>
            <a:pPr lvl="1"/>
            <a:r>
              <a:rPr lang="bg-BG" sz="2800" dirty="0"/>
              <a:t>Позволяват </a:t>
            </a:r>
            <a:r>
              <a:rPr lang="bg-BG" sz="2800" b="1" dirty="0"/>
              <a:t>избор</a:t>
            </a:r>
            <a:r>
              <a:rPr lang="bg-BG" sz="2800" dirty="0"/>
              <a:t> само на </a:t>
            </a:r>
            <a:r>
              <a:rPr lang="bg-BG" sz="2800" b="1" dirty="0">
                <a:solidFill>
                  <a:schemeClr val="bg1"/>
                </a:solidFill>
              </a:rPr>
              <a:t>една</a:t>
            </a:r>
            <a:r>
              <a:rPr lang="bg-BG" sz="2800" dirty="0"/>
              <a:t> </a:t>
            </a:r>
            <a:r>
              <a:rPr lang="bg-BG" sz="2800" b="1" dirty="0"/>
              <a:t>опция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Радио бутони (</a:t>
            </a:r>
            <a:r>
              <a:rPr lang="en-GB" dirty="0"/>
              <a:t>Radio buttons)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1ED56-6CE4-0C8A-055A-743140396CC0}"/>
              </a:ext>
            </a:extLst>
          </p:cNvPr>
          <p:cNvSpPr txBox="1">
            <a:spLocks/>
          </p:cNvSpPr>
          <p:nvPr/>
        </p:nvSpPr>
        <p:spPr>
          <a:xfrm>
            <a:off x="606000" y="2753162"/>
            <a:ext cx="10980000" cy="19389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radio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male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name="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gender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value="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male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&lt;label for="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male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Мъж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>
              <a:lnSpc>
                <a:spcPct val="100000"/>
              </a:lnSpc>
            </a:pPr>
            <a:endParaRPr lang="en-GB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radio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female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name="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gender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value="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female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&lt;label for="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female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Жена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  <a:endParaRPr lang="en-US" sz="24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C768D7-61FB-BAEC-40E0-5D5C2CC8C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3382" y="5866986"/>
            <a:ext cx="3578981" cy="75992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83AC0EA7-F12B-DDF9-D52E-EF716F8F2830}"/>
              </a:ext>
            </a:extLst>
          </p:cNvPr>
          <p:cNvSpPr/>
          <p:nvPr/>
        </p:nvSpPr>
        <p:spPr bwMode="auto">
          <a:xfrm>
            <a:off x="6096000" y="4799344"/>
            <a:ext cx="3851245" cy="1296883"/>
          </a:xfrm>
          <a:prstGeom prst="wedgeRoundRectCallout">
            <a:avLst>
              <a:gd name="adj1" fmla="val -29247"/>
              <a:gd name="adj2" fmla="val -8638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Позволява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избор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само на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една опция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като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групира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бутоните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2021BA1B-2D51-9280-8A7C-6C8C388C08ED}"/>
              </a:ext>
            </a:extLst>
          </p:cNvPr>
          <p:cNvSpPr/>
          <p:nvPr/>
        </p:nvSpPr>
        <p:spPr bwMode="auto">
          <a:xfrm>
            <a:off x="7645659" y="1334871"/>
            <a:ext cx="3940341" cy="1030587"/>
          </a:xfrm>
          <a:prstGeom prst="wedgeRoundRectCallout">
            <a:avLst>
              <a:gd name="adj1" fmla="val -20252"/>
              <a:gd name="adj2" fmla="val 9329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Задава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стойността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която се изпраща с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формата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Arrow: Right 10">
            <a:extLst>
              <a:ext uri="{FF2B5EF4-FFF2-40B4-BE49-F238E27FC236}">
                <a16:creationId xmlns:a16="http://schemas.microsoft.com/office/drawing/2014/main" id="{C3B05A25-AB60-BAD3-1EEF-D68EB8908421}"/>
              </a:ext>
            </a:extLst>
          </p:cNvPr>
          <p:cNvSpPr/>
          <p:nvPr/>
        </p:nvSpPr>
        <p:spPr>
          <a:xfrm rot="5400000">
            <a:off x="3426117" y="4809117"/>
            <a:ext cx="1073513" cy="93625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95383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&lt;button&gt;&lt;/button&gt;</a:t>
            </a:r>
            <a:endParaRPr lang="bg-BG" sz="32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bg-BG" sz="3200" dirty="0"/>
              <a:t>Използват се за:</a:t>
            </a:r>
          </a:p>
          <a:p>
            <a:pPr lvl="1"/>
            <a:r>
              <a:rPr lang="bg-BG" sz="3000" b="1" dirty="0"/>
              <a:t>изпращане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данни</a:t>
            </a:r>
          </a:p>
          <a:p>
            <a:pPr lvl="1"/>
            <a:r>
              <a:rPr lang="bg-BG" sz="3000" b="1" dirty="0"/>
              <a:t>извършване</a:t>
            </a:r>
            <a:r>
              <a:rPr lang="bg-BG" sz="3000" dirty="0"/>
              <a:t> на </a:t>
            </a:r>
            <a:r>
              <a:rPr lang="bg-BG" sz="3000" b="1" dirty="0">
                <a:solidFill>
                  <a:schemeClr val="bg1"/>
                </a:solidFill>
              </a:rPr>
              <a:t>действие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Бутони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1ED56-6CE4-0C8A-055A-743140396CC0}"/>
              </a:ext>
            </a:extLst>
          </p:cNvPr>
          <p:cNvSpPr txBox="1">
            <a:spLocks/>
          </p:cNvSpPr>
          <p:nvPr/>
        </p:nvSpPr>
        <p:spPr>
          <a:xfrm>
            <a:off x="606000" y="3855716"/>
            <a:ext cx="10980000" cy="8925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 type="</a:t>
            </a:r>
            <a:r>
              <a:rPr lang="en-GB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submit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Изпрати</a:t>
            </a:r>
            <a:r>
              <a:rPr lang="bg-BG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button&gt;</a:t>
            </a:r>
          </a:p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 type="</a:t>
            </a:r>
            <a:r>
              <a:rPr lang="en-GB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reset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Изчисти</a:t>
            </a:r>
            <a:r>
              <a:rPr lang="bg-BG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button&gt;</a:t>
            </a:r>
            <a:endParaRPr lang="en-US" sz="2600" b="1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3E8370-634C-1203-6029-8D0C0CEE9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9640" y="5693203"/>
            <a:ext cx="3832721" cy="81379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Arrow: Right 10">
            <a:extLst>
              <a:ext uri="{FF2B5EF4-FFF2-40B4-BE49-F238E27FC236}">
                <a16:creationId xmlns:a16="http://schemas.microsoft.com/office/drawing/2014/main" id="{6994E12B-1206-70FD-518B-6683AEA88253}"/>
              </a:ext>
            </a:extLst>
          </p:cNvPr>
          <p:cNvSpPr/>
          <p:nvPr/>
        </p:nvSpPr>
        <p:spPr>
          <a:xfrm rot="5400000">
            <a:off x="5577637" y="4820410"/>
            <a:ext cx="1036727" cy="8826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558274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&lt;select&gt;&lt;/select&gt;</a:t>
            </a:r>
          </a:p>
          <a:p>
            <a:pPr lvl="1"/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Създава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падащо меню 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с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опции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за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избор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Падащо меню (</a:t>
            </a:r>
            <a:r>
              <a:rPr lang="en-GB" dirty="0"/>
              <a:t>Select)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1ED56-6CE4-0C8A-055A-743140396CC0}"/>
              </a:ext>
            </a:extLst>
          </p:cNvPr>
          <p:cNvSpPr txBox="1">
            <a:spLocks/>
          </p:cNvSpPr>
          <p:nvPr/>
        </p:nvSpPr>
        <p:spPr>
          <a:xfrm>
            <a:off x="606000" y="2799000"/>
            <a:ext cx="10980000" cy="224676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&lt;select&gt;</a:t>
            </a:r>
          </a:p>
          <a:p>
            <a:pPr>
              <a:lnSpc>
                <a:spcPct val="100000"/>
              </a:lnSpc>
            </a:pPr>
            <a:r>
              <a:rPr lang="en-GB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&lt;option value="</a:t>
            </a:r>
            <a:r>
              <a:rPr lang="en-GB" sz="2700" b="1" noProof="1">
                <a:latin typeface="Consolas" panose="020B0609020204030204" pitchFamily="49" charset="0"/>
                <a:cs typeface="Consolas" panose="020B0609020204030204" pitchFamily="49" charset="0"/>
              </a:rPr>
              <a:t>sofia</a:t>
            </a:r>
            <a:r>
              <a:rPr lang="en-GB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700" b="1" noProof="1">
                <a:latin typeface="Consolas" panose="020B0609020204030204" pitchFamily="49" charset="0"/>
                <a:cs typeface="Consolas" panose="020B0609020204030204" pitchFamily="49" charset="0"/>
              </a:rPr>
              <a:t>София</a:t>
            </a:r>
            <a:r>
              <a:rPr lang="bg-BG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option&gt;</a:t>
            </a:r>
          </a:p>
          <a:p>
            <a:pPr>
              <a:lnSpc>
                <a:spcPct val="100000"/>
              </a:lnSpc>
            </a:pPr>
            <a:r>
              <a:rPr lang="en-GB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&lt;option value="</a:t>
            </a:r>
            <a:r>
              <a:rPr lang="en-GB" sz="2700" b="1" noProof="1">
                <a:latin typeface="Consolas" panose="020B0609020204030204" pitchFamily="49" charset="0"/>
                <a:cs typeface="Consolas" panose="020B0609020204030204" pitchFamily="49" charset="0"/>
              </a:rPr>
              <a:t>plovdiv</a:t>
            </a:r>
            <a:r>
              <a:rPr lang="en-GB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700" b="1" noProof="1">
                <a:latin typeface="Consolas" panose="020B0609020204030204" pitchFamily="49" charset="0"/>
                <a:cs typeface="Consolas" panose="020B0609020204030204" pitchFamily="49" charset="0"/>
              </a:rPr>
              <a:t>Пловдив</a:t>
            </a:r>
            <a:r>
              <a:rPr lang="bg-BG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option&gt;</a:t>
            </a:r>
          </a:p>
          <a:p>
            <a:pPr>
              <a:lnSpc>
                <a:spcPct val="100000"/>
              </a:lnSpc>
            </a:pPr>
            <a:r>
              <a:rPr lang="en-GB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&lt;option value="</a:t>
            </a:r>
            <a:r>
              <a:rPr lang="en-GB" sz="2700" b="1" noProof="1">
                <a:latin typeface="Consolas" panose="020B0609020204030204" pitchFamily="49" charset="0"/>
                <a:cs typeface="Consolas" panose="020B0609020204030204" pitchFamily="49" charset="0"/>
              </a:rPr>
              <a:t>varna</a:t>
            </a:r>
            <a:r>
              <a:rPr lang="en-GB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700" b="1" noProof="1">
                <a:latin typeface="Consolas" panose="020B0609020204030204" pitchFamily="49" charset="0"/>
                <a:cs typeface="Consolas" panose="020B0609020204030204" pitchFamily="49" charset="0"/>
              </a:rPr>
              <a:t>Варна</a:t>
            </a:r>
            <a:r>
              <a:rPr lang="bg-BG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option&gt;</a:t>
            </a:r>
          </a:p>
          <a:p>
            <a:pPr>
              <a:lnSpc>
                <a:spcPct val="100000"/>
              </a:lnSpc>
            </a:pPr>
            <a:r>
              <a:rPr lang="en-GB" sz="27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&lt;/select&gt;</a:t>
            </a:r>
            <a:endParaRPr lang="en-US" sz="27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22181E1A-CDC3-0518-D87F-3E60F7C9AFF3}"/>
              </a:ext>
            </a:extLst>
          </p:cNvPr>
          <p:cNvSpPr/>
          <p:nvPr/>
        </p:nvSpPr>
        <p:spPr bwMode="auto">
          <a:xfrm>
            <a:off x="8166000" y="2378847"/>
            <a:ext cx="1890000" cy="612671"/>
          </a:xfrm>
          <a:prstGeom prst="wedgeRoundRectCallout">
            <a:avLst>
              <a:gd name="adj1" fmla="val -65666"/>
              <a:gd name="adj2" fmla="val 12541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Опция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AC45B0-C2C4-C229-1217-D4AE4BEF81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51000" y="3532468"/>
            <a:ext cx="2102030" cy="66601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66B014-66E2-E17B-0E3E-5EA245AE6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4943" y="5153339"/>
            <a:ext cx="1802114" cy="157065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Arrow: Right 10">
            <a:extLst>
              <a:ext uri="{FF2B5EF4-FFF2-40B4-BE49-F238E27FC236}">
                <a16:creationId xmlns:a16="http://schemas.microsoft.com/office/drawing/2014/main" id="{19195B95-E3C3-D836-118E-F3268F702038}"/>
              </a:ext>
            </a:extLst>
          </p:cNvPr>
          <p:cNvSpPr/>
          <p:nvPr/>
        </p:nvSpPr>
        <p:spPr>
          <a:xfrm rot="5400000">
            <a:off x="5713630" y="4636132"/>
            <a:ext cx="764740" cy="66632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27269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&lt;fo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rm&gt;&lt;/form&gt;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bg-BG" dirty="0"/>
              <a:t>Събират </a:t>
            </a:r>
            <a:r>
              <a:rPr lang="bg-BG" b="1" dirty="0">
                <a:solidFill>
                  <a:schemeClr val="bg1"/>
                </a:solidFill>
              </a:rPr>
              <a:t>данни</a:t>
            </a:r>
            <a:r>
              <a:rPr lang="bg-BG" dirty="0"/>
              <a:t> от </a:t>
            </a:r>
            <a:r>
              <a:rPr lang="bg-BG" b="1" dirty="0"/>
              <a:t>потребителя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Форми (</a:t>
            </a:r>
            <a:r>
              <a:rPr lang="en-GB" dirty="0"/>
              <a:t>Forms)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1ED56-6CE4-0C8A-055A-743140396CC0}"/>
              </a:ext>
            </a:extLst>
          </p:cNvPr>
          <p:cNvSpPr txBox="1">
            <a:spLocks/>
          </p:cNvSpPr>
          <p:nvPr/>
        </p:nvSpPr>
        <p:spPr>
          <a:xfrm>
            <a:off x="336000" y="2533514"/>
            <a:ext cx="10980000" cy="415498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&lt;form&gt;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 for="</a:t>
            </a:r>
            <a:r>
              <a:rPr lang="en-US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Име: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&lt;input type="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placeholder="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Въведете име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100000"/>
              </a:lnSpc>
            </a:pPr>
            <a:b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 for"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email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Имейл: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&lt;input type="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email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email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placeholder="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Въведете имейл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100000"/>
              </a:lnSpc>
            </a:pPr>
            <a:b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 type="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submit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Изпрати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&lt;/form&gt;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559D67-9A42-C2EC-DED7-D7D03E268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6000" y="1719000"/>
            <a:ext cx="3114961" cy="359418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5440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Форми (</a:t>
            </a:r>
            <a:r>
              <a:rPr lang="en-GB" dirty="0"/>
              <a:t>Forms) </a:t>
            </a:r>
            <a:r>
              <a:rPr lang="bg-BG" sz="4000" dirty="0"/>
              <a:t>–</a:t>
            </a:r>
            <a:r>
              <a:rPr lang="en-GB" dirty="0"/>
              <a:t> </a:t>
            </a:r>
            <a:r>
              <a:rPr lang="bg-BG" dirty="0"/>
              <a:t>Пример</a:t>
            </a:r>
            <a:endParaRPr lang="en-B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1ED56-6CE4-0C8A-055A-743140396CC0}"/>
              </a:ext>
            </a:extLst>
          </p:cNvPr>
          <p:cNvSpPr txBox="1">
            <a:spLocks/>
          </p:cNvSpPr>
          <p:nvPr/>
        </p:nvSpPr>
        <p:spPr>
          <a:xfrm>
            <a:off x="71556" y="1281105"/>
            <a:ext cx="9314412" cy="563231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&lt;form&gt;</a:t>
            </a:r>
          </a:p>
          <a:p>
            <a:pPr>
              <a:lnSpc>
                <a:spcPct val="100000"/>
              </a:lnSpc>
            </a:pP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&lt;label for="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noProof="1">
                <a:latin typeface="Consolas" panose="020B0609020204030204" pitchFamily="49" charset="0"/>
                <a:cs typeface="Consolas" panose="020B0609020204030204" pitchFamily="49" charset="0"/>
              </a:rPr>
              <a:t>Име:</a:t>
            </a: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>
              <a:lnSpc>
                <a:spcPct val="100000"/>
              </a:lnSpc>
            </a:pP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id="</a:t>
            </a:r>
            <a:r>
              <a:rPr lang="en-US" b="1" noProof="1"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placeholder="</a:t>
            </a:r>
            <a:r>
              <a:rPr lang="bg-BG" b="1" noProof="1">
                <a:latin typeface="Consolas" panose="020B0609020204030204" pitchFamily="49" charset="0"/>
                <a:cs typeface="Consolas" panose="020B0609020204030204" pitchFamily="49" charset="0"/>
              </a:rPr>
              <a:t>Въведете име</a:t>
            </a: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b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noProof="1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r>
              <a:rPr lang="bg-BG" b="1" noProof="1">
                <a:latin typeface="Consolas" panose="020B0609020204030204" pitchFamily="49" charset="0"/>
                <a:cs typeface="Consolas" panose="020B0609020204030204" pitchFamily="49" charset="0"/>
              </a:rPr>
              <a:t>Любими технологии:</a:t>
            </a: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>
              <a:lnSpc>
                <a:spcPct val="100000"/>
              </a:lnSpc>
            </a:pP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checkbox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value="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100000"/>
              </a:lnSpc>
            </a:pP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&lt;label for="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&lt;/label&gt;</a:t>
            </a:r>
            <a:endParaRPr lang="en-GB" b="1" noProof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noProof="1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&lt;p&gt;</a:t>
            </a:r>
            <a:r>
              <a:rPr lang="bg-BG" b="1" noProof="1">
                <a:latin typeface="Consolas" panose="020B0609020204030204" pitchFamily="49" charset="0"/>
                <a:cs typeface="Consolas" panose="020B0609020204030204" pitchFamily="49" charset="0"/>
              </a:rPr>
              <a:t>Клас:</a:t>
            </a: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>
              <a:lnSpc>
                <a:spcPct val="100000"/>
              </a:lnSpc>
            </a:pP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&lt;input type="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radio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class12a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name="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value="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12a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100000"/>
              </a:lnSpc>
            </a:pP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&lt;label for="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class12a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bg-BG" b="1" noProof="1">
                <a:latin typeface="Consolas" panose="020B0609020204030204" pitchFamily="49" charset="0"/>
                <a:cs typeface="Consolas" panose="020B0609020204030204" pitchFamily="49" charset="0"/>
              </a:rPr>
              <a:t>А</a:t>
            </a:r>
            <a:r>
              <a:rPr lang="en-US" b="1" noProof="1">
                <a:latin typeface="Consolas" panose="020B0609020204030204" pitchFamily="49" charset="0"/>
                <a:cs typeface="Consolas" panose="020B0609020204030204" pitchFamily="49" charset="0"/>
              </a:rPr>
              <a:t>&lt;/label&gt;</a:t>
            </a:r>
            <a:endParaRPr lang="bg-BG" b="1" noProof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b="1" noProof="1">
                <a:latin typeface="Consolas" panose="020B0609020204030204" pitchFamily="49" charset="0"/>
                <a:cs typeface="Consolas" panose="020B0609020204030204" pitchFamily="49" charset="0"/>
              </a:rPr>
              <a:t>  ...</a:t>
            </a:r>
            <a:b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 for="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subject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noProof="1">
                <a:latin typeface="Consolas" panose="020B0609020204030204" pitchFamily="49" charset="0"/>
                <a:cs typeface="Consolas" panose="020B0609020204030204" pitchFamily="49" charset="0"/>
              </a:rPr>
              <a:t>Предмет:</a:t>
            </a: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>
              <a:lnSpc>
                <a:spcPct val="100000"/>
              </a:lnSpc>
            </a:pP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&lt;select</a:t>
            </a: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id="</a:t>
            </a:r>
            <a:r>
              <a:rPr lang="en-US" b="1" noProof="1">
                <a:latin typeface="Consolas" panose="020B0609020204030204" pitchFamily="49" charset="0"/>
                <a:cs typeface="Consolas" panose="020B0609020204030204" pitchFamily="49" charset="0"/>
              </a:rPr>
              <a:t>subject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00000"/>
              </a:lnSpc>
            </a:pP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&lt;option value="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it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noProof="1">
                <a:latin typeface="Consolas" panose="020B0609020204030204" pitchFamily="49" charset="0"/>
                <a:cs typeface="Consolas" panose="020B0609020204030204" pitchFamily="49" charset="0"/>
              </a:rPr>
              <a:t>ИТ</a:t>
            </a: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option&gt;</a:t>
            </a:r>
          </a:p>
          <a:p>
            <a:pPr>
              <a:lnSpc>
                <a:spcPct val="100000"/>
              </a:lnSpc>
            </a:pP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>
              <a:lnSpc>
                <a:spcPct val="100000"/>
              </a:lnSpc>
            </a:pP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&lt;/select&gt;</a:t>
            </a:r>
            <a:b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&lt;button type="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submit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noProof="1">
                <a:latin typeface="Consolas" panose="020B0609020204030204" pitchFamily="49" charset="0"/>
                <a:cs typeface="Consolas" panose="020B0609020204030204" pitchFamily="49" charset="0"/>
              </a:rPr>
              <a:t>Изпрати</a:t>
            </a: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button&gt;</a:t>
            </a:r>
          </a:p>
          <a:p>
            <a:pPr>
              <a:lnSpc>
                <a:spcPct val="100000"/>
              </a:lnSpc>
            </a:pP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&lt;button type="</a:t>
            </a:r>
            <a:r>
              <a:rPr lang="en-GB" b="1" noProof="1">
                <a:latin typeface="Consolas" panose="020B0609020204030204" pitchFamily="49" charset="0"/>
                <a:cs typeface="Consolas" panose="020B0609020204030204" pitchFamily="49" charset="0"/>
              </a:rPr>
              <a:t>reset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noProof="1">
                <a:latin typeface="Consolas" panose="020B0609020204030204" pitchFamily="49" charset="0"/>
                <a:cs typeface="Consolas" panose="020B0609020204030204" pitchFamily="49" charset="0"/>
              </a:rPr>
              <a:t>Изчисти</a:t>
            </a:r>
            <a:r>
              <a:rPr lang="bg-BG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button&gt;</a:t>
            </a:r>
          </a:p>
          <a:p>
            <a:pPr>
              <a:lnSpc>
                <a:spcPct val="100000"/>
              </a:lnSpc>
            </a:pPr>
            <a:r>
              <a:rPr lang="en-GB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&lt;/form&gt;</a:t>
            </a:r>
            <a:endParaRPr lang="en-US" sz="16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F4B2CE-9B6F-2E0B-DD9A-9CE3D24B0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7250" y="1134000"/>
            <a:ext cx="3127500" cy="52125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3" name="Arrow: Right 10">
            <a:extLst>
              <a:ext uri="{FF2B5EF4-FFF2-40B4-BE49-F238E27FC236}">
                <a16:creationId xmlns:a16="http://schemas.microsoft.com/office/drawing/2014/main" id="{A0B83B1B-A7B8-F106-4CBB-B9DFD6305ED4}"/>
              </a:ext>
            </a:extLst>
          </p:cNvPr>
          <p:cNvSpPr/>
          <p:nvPr/>
        </p:nvSpPr>
        <p:spPr>
          <a:xfrm>
            <a:off x="8121000" y="3114000"/>
            <a:ext cx="945000" cy="81674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29263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000" dirty="0"/>
              <a:t>Вграждане на мултимедия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Аудио и видео</a:t>
            </a:r>
            <a:endParaRPr lang="en-US" sz="5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C15130-CD84-221C-0F18-B7B8A0B16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5184" y="1303526"/>
            <a:ext cx="1361632" cy="271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&lt;audio&gt;&lt;/audio&gt;</a:t>
            </a:r>
            <a:endParaRPr lang="bg-BG" sz="36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Добавя </a:t>
            </a:r>
            <a:r>
              <a:rPr lang="bg-BG" sz="3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аудио съдържание 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уеб страницата</a:t>
            </a:r>
          </a:p>
          <a:p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Аудио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F30FB62-5203-1525-3EBD-65DCD4A2EFA0}"/>
              </a:ext>
            </a:extLst>
          </p:cNvPr>
          <p:cNvSpPr txBox="1">
            <a:spLocks/>
          </p:cNvSpPr>
          <p:nvPr/>
        </p:nvSpPr>
        <p:spPr>
          <a:xfrm>
            <a:off x="471000" y="4194000"/>
            <a:ext cx="10980000" cy="138499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&lt;audio controls&gt;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&lt;source src="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audio.mp3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type="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audio/mpeg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&lt;/audio&gt;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EF643FE2-8B02-A561-C658-AB9480AE2331}"/>
              </a:ext>
            </a:extLst>
          </p:cNvPr>
          <p:cNvSpPr/>
          <p:nvPr/>
        </p:nvSpPr>
        <p:spPr bwMode="auto">
          <a:xfrm>
            <a:off x="471000" y="2728452"/>
            <a:ext cx="7065000" cy="994372"/>
          </a:xfrm>
          <a:prstGeom prst="wedgeRoundRectCallout">
            <a:avLst>
              <a:gd name="adj1" fmla="val -20103"/>
              <a:gd name="adj2" fmla="val 10152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Атрибутът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добавя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бутони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възпроизвеждане, пауза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регулиране </a:t>
            </a:r>
            <a:r>
              <a:rPr lang="bg-BG" sz="2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звука</a:t>
            </a:r>
            <a:endParaRPr lang="en-BG" sz="26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085397-CCB3-3F24-DA88-65DF82E75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9121" y="5364000"/>
            <a:ext cx="5093657" cy="109269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0694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video&gt;&lt;/video&gt;</a:t>
            </a:r>
          </a:p>
          <a:p>
            <a:pPr lvl="1"/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Добавя </a:t>
            </a:r>
            <a:r>
              <a:rPr lang="bg-BG" sz="3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видео съдържание 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в </a:t>
            </a:r>
            <a:r>
              <a:rPr lang="bg-BG" sz="3400" b="1" dirty="0">
                <a:latin typeface="Calibri" panose="020F0502020204030204" pitchFamily="34" charset="0"/>
                <a:cs typeface="Calibri" panose="020F0502020204030204" pitchFamily="34" charset="0"/>
              </a:rPr>
              <a:t>уеб страницата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Видео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F30FB62-5203-1525-3EBD-65DCD4A2EFA0}"/>
              </a:ext>
            </a:extLst>
          </p:cNvPr>
          <p:cNvSpPr txBox="1">
            <a:spLocks/>
          </p:cNvSpPr>
          <p:nvPr/>
        </p:nvSpPr>
        <p:spPr>
          <a:xfrm>
            <a:off x="490982" y="3069000"/>
            <a:ext cx="10980000" cy="138499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&lt;video width="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400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height="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200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controls&gt;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&lt;source src="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video.mp4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type="</a:t>
            </a:r>
            <a:r>
              <a:rPr lang="en-GB" sz="2800" b="1" noProof="1">
                <a:latin typeface="Consolas" panose="020B0609020204030204" pitchFamily="49" charset="0"/>
                <a:cs typeface="Consolas" panose="020B0609020204030204" pitchFamily="49" charset="0"/>
              </a:rPr>
              <a:t>video/mp4</a:t>
            </a: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>
              <a:lnSpc>
                <a:spcPct val="100000"/>
              </a:lnSpc>
            </a:pPr>
            <a:r>
              <a:rPr lang="en-GB" sz="28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&lt;/video&gt;</a:t>
            </a: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5E422F-A249-F608-5880-BB86DAB75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6000" y="4050860"/>
            <a:ext cx="4541424" cy="260464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4796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sz="4000" dirty="0"/>
              <a:t>HTML </a:t>
            </a:r>
            <a:r>
              <a:rPr lang="bg-BG" sz="4000" dirty="0"/>
              <a:t>уеб страница с основни елементи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70126B-E7B7-8122-EB34-F1F3E1F840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5278" y="1494000"/>
            <a:ext cx="2141443" cy="2385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323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Нека създадем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HTML </a:t>
            </a:r>
            <a:r>
              <a:rPr lang="bg-BG" sz="3200" b="1" dirty="0">
                <a:solidFill>
                  <a:schemeClr val="bg1"/>
                </a:solidFill>
              </a:rPr>
              <a:t>уеб страница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dirty="0"/>
              <a:t>с</a:t>
            </a:r>
            <a:r>
              <a:rPr lang="bg-BG" sz="3200" dirty="0"/>
              <a:t> </a:t>
            </a:r>
            <a:r>
              <a:rPr lang="bg-BG" sz="3200" b="1" dirty="0"/>
              <a:t>научените елементи</a:t>
            </a:r>
            <a:endParaRPr lang="bg-BG" sz="3200" dirty="0"/>
          </a:p>
          <a:p>
            <a:r>
              <a:rPr lang="bg-BG" sz="3200" dirty="0"/>
              <a:t>Отваряме </a:t>
            </a:r>
            <a:r>
              <a:rPr lang="bg-BG" sz="3200" b="1" dirty="0">
                <a:solidFill>
                  <a:schemeClr val="bg1"/>
                </a:solidFill>
              </a:rPr>
              <a:t>текстов редактор </a:t>
            </a:r>
            <a:r>
              <a:rPr lang="bg-BG" sz="3200" dirty="0"/>
              <a:t>по избор, напр. </a:t>
            </a:r>
            <a:r>
              <a:rPr lang="en-US" sz="3200" b="1" dirty="0"/>
              <a:t>VS Code</a:t>
            </a:r>
            <a:endParaRPr lang="bg-BG" sz="3200" dirty="0"/>
          </a:p>
          <a:p>
            <a:r>
              <a:rPr lang="bg-BG" sz="3200" dirty="0"/>
              <a:t>Създаваме </a:t>
            </a:r>
            <a:r>
              <a:rPr lang="bg-BG" sz="3200" b="1" dirty="0"/>
              <a:t>нов файл</a:t>
            </a:r>
            <a:r>
              <a:rPr lang="en-US" sz="3200" b="1" dirty="0"/>
              <a:t> </a:t>
            </a:r>
            <a:r>
              <a:rPr lang="bg-BG" sz="3200" dirty="0"/>
              <a:t>с </a:t>
            </a:r>
            <a:r>
              <a:rPr lang="bg-BG" sz="3200" b="1" dirty="0"/>
              <a:t>разширение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US" sz="3200" dirty="0"/>
              <a:t>, </a:t>
            </a:r>
            <a:r>
              <a:rPr lang="bg-BG" sz="3200" dirty="0"/>
              <a:t>напр. "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index.html</a:t>
            </a:r>
            <a:r>
              <a:rPr lang="bg-BG" sz="3200" dirty="0"/>
              <a:t>"</a:t>
            </a:r>
            <a:endParaRPr lang="en-US" sz="3200" dirty="0"/>
          </a:p>
          <a:p>
            <a:endParaRPr lang="bg-B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първа </a:t>
            </a:r>
            <a:r>
              <a:rPr lang="en-US" dirty="0"/>
              <a:t>HTML </a:t>
            </a:r>
            <a:r>
              <a:rPr lang="bg-BG" dirty="0"/>
              <a:t>уеб страница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A835D8-78BB-2B73-CA80-09155067D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092" y="3429000"/>
            <a:ext cx="4638849" cy="311213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Arrow: Right 10">
            <a:extLst>
              <a:ext uri="{FF2B5EF4-FFF2-40B4-BE49-F238E27FC236}">
                <a16:creationId xmlns:a16="http://schemas.microsoft.com/office/drawing/2014/main" id="{B4926844-0815-12E5-A27B-82107F320BB2}"/>
              </a:ext>
            </a:extLst>
          </p:cNvPr>
          <p:cNvSpPr/>
          <p:nvPr/>
        </p:nvSpPr>
        <p:spPr>
          <a:xfrm>
            <a:off x="5308114" y="4311591"/>
            <a:ext cx="1326224" cy="1215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E1E217-8CD6-B9C1-839F-7CA74255C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000" y="3363022"/>
            <a:ext cx="4615361" cy="311213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6510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3FD1-0EFB-1EFC-AFE1-9B8F9A80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Разписваме основните </a:t>
            </a:r>
            <a:r>
              <a:rPr lang="bg-BG" sz="3000" b="1" dirty="0">
                <a:solidFill>
                  <a:schemeClr val="bg1"/>
                </a:solidFill>
              </a:rPr>
              <a:t>структурни тагове</a:t>
            </a:r>
          </a:p>
          <a:p>
            <a:r>
              <a:rPr lang="bg-BG" sz="3000" dirty="0"/>
              <a:t>Добавяме </a:t>
            </a:r>
            <a:r>
              <a:rPr lang="bg-BG" sz="3000" b="1" dirty="0">
                <a:solidFill>
                  <a:schemeClr val="bg1"/>
                </a:solidFill>
              </a:rPr>
              <a:t>заглавие</a:t>
            </a:r>
            <a:endParaRPr lang="en-US" sz="3000" b="1" dirty="0">
              <a:solidFill>
                <a:schemeClr val="bg1"/>
              </a:solidFill>
            </a:endParaRPr>
          </a:p>
          <a:p>
            <a:r>
              <a:rPr lang="bg-BG" sz="3000" dirty="0"/>
              <a:t>Добавяме</a:t>
            </a:r>
            <a:r>
              <a:rPr lang="bg-BG" sz="3000" b="1" dirty="0">
                <a:solidFill>
                  <a:schemeClr val="bg1"/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dirty="0"/>
              <a:t>за</a:t>
            </a:r>
            <a:r>
              <a:rPr lang="bg-BG" sz="3000" b="1" dirty="0">
                <a:solidFill>
                  <a:schemeClr val="bg1"/>
                </a:solidFill>
              </a:rPr>
              <a:t> </a:t>
            </a:r>
            <a:r>
              <a:rPr lang="bg-BG" sz="3000" b="1" dirty="0"/>
              <a:t>основното съдържание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основна структура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569906" y="3031572"/>
            <a:ext cx="9511594" cy="369331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&lt;!DOCTYPE html&gt;</a:t>
            </a:r>
          </a:p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</a:p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</a:p>
          <a:p>
            <a:pPr>
              <a:lnSpc>
                <a:spcPct val="100000"/>
              </a:lnSpc>
            </a:pPr>
            <a:r>
              <a:rPr lang="en-GB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&lt;title&gt;</a:t>
            </a:r>
            <a:r>
              <a:rPr lang="bg-BG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Основни H</a:t>
            </a:r>
            <a:r>
              <a:rPr lang="en-US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TML </a:t>
            </a:r>
            <a:r>
              <a:rPr lang="bg-BG" sz="2600" b="1" noProof="1">
                <a:latin typeface="Consolas" panose="020B0609020204030204" pitchFamily="49" charset="0"/>
                <a:cs typeface="Consolas" panose="020B0609020204030204" pitchFamily="49" charset="0"/>
              </a:rPr>
              <a:t>елементи</a:t>
            </a:r>
            <a:r>
              <a:rPr lang="bg-BG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title&gt;</a:t>
            </a:r>
          </a:p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&lt;/head&gt;</a:t>
            </a:r>
          </a:p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</a:p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&lt;main&gt;&lt;/main&gt;</a:t>
            </a:r>
          </a:p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&lt;/body&gt;</a:t>
            </a:r>
          </a:p>
          <a:p>
            <a:pPr>
              <a:lnSpc>
                <a:spcPct val="100000"/>
              </a:lnSpc>
            </a:pPr>
            <a:r>
              <a:rPr lang="en-GB" sz="2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8432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3FD1-0EFB-1EFC-AFE1-9B8F9A80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Започваме да добавяме </a:t>
            </a:r>
            <a:r>
              <a:rPr lang="bg-BG" sz="3200" b="1" dirty="0"/>
              <a:t>съдържане</a:t>
            </a:r>
            <a:endParaRPr lang="bg-BG" sz="32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bg-BG" sz="3200" dirty="0"/>
              <a:t>Добавяме </a:t>
            </a:r>
            <a:r>
              <a:rPr lang="bg-BG" sz="3200" b="1" dirty="0">
                <a:solidFill>
                  <a:schemeClr val="bg1"/>
                </a:solidFill>
              </a:rPr>
              <a:t>текст</a:t>
            </a:r>
            <a:endParaRPr lang="en-BG" sz="32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текст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381000" y="2690571"/>
            <a:ext cx="11183124" cy="381642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&lt;section&gt;</a:t>
            </a:r>
          </a:p>
          <a:p>
            <a:pPr lvl="1"/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&lt;h1&gt;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Основни 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HTML 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елементи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h1&gt;</a:t>
            </a:r>
          </a:p>
          <a:p>
            <a:pPr lvl="1"/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1. 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Текст и форматиране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  <a:b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</a:p>
          <a:p>
            <a:pPr lvl="1"/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Това е 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strong&gt;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важен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strong&gt; 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текст, това е 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em&gt;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акцент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em&gt;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vl="1"/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а това е 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b&gt;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само удебелен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b&gt; 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и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i&gt;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само курсив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i&gt;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lvl="1"/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&lt;/p&gt;</a:t>
            </a:r>
            <a:b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&lt;h3&gt;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Заглавие ниво 3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h3&gt;</a:t>
            </a:r>
          </a:p>
          <a:p>
            <a:pPr lvl="1"/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Параграф с кратко описание на съдържанието.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  <a:b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&lt;hr&gt;</a:t>
            </a:r>
          </a:p>
          <a:p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&lt;/section&gt;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B574E9-8B99-998B-09E0-5A9E2087B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34136" y="1719000"/>
            <a:ext cx="5078906" cy="236686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9806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3FD1-0EFB-1EFC-AFE1-9B8F9A80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Добавяме </a:t>
            </a:r>
            <a:r>
              <a:rPr lang="bg-BG" sz="3200" b="1" dirty="0">
                <a:solidFill>
                  <a:schemeClr val="bg1"/>
                </a:solidFill>
              </a:rPr>
              <a:t>хипервръзка</a:t>
            </a:r>
            <a:r>
              <a:rPr lang="bg-BG" sz="3200" dirty="0"/>
              <a:t>, която се </a:t>
            </a:r>
            <a:r>
              <a:rPr lang="bg-BG" sz="3200" b="1" dirty="0"/>
              <a:t>отваря</a:t>
            </a:r>
            <a:r>
              <a:rPr lang="bg-BG" sz="3200" dirty="0"/>
              <a:t> в </a:t>
            </a:r>
            <a:r>
              <a:rPr lang="bg-BG" sz="3200" b="1" dirty="0"/>
              <a:t>нов таб</a:t>
            </a:r>
            <a:endParaRPr lang="en-BG" sz="32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хипервръзка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504438" y="2306427"/>
            <a:ext cx="11183124" cy="34778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&lt;section&gt;</a:t>
            </a:r>
          </a:p>
          <a:p>
            <a:pPr lvl="1"/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2. 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Хипервръзки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pPr lvl="1"/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</a:p>
          <a:p>
            <a:pPr lvl="1"/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Посети:</a:t>
            </a:r>
          </a:p>
          <a:p>
            <a:pPr lvl="1"/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href=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  <a:hlinkClick r:id="rId2"/>
              </a:rPr>
              <a:t>https://www.w3schools.com/</a:t>
            </a:r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target="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_blank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W3Schools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&lt;/a&gt;</a:t>
            </a:r>
          </a:p>
          <a:p>
            <a:pPr lvl="1"/>
            <a:r>
              <a:rPr lang="en-GB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bg-BG" sz="2200" b="1" noProof="1">
                <a:latin typeface="Consolas" panose="020B0609020204030204" pitchFamily="49" charset="0"/>
                <a:cs typeface="Consolas" panose="020B0609020204030204" pitchFamily="49" charset="0"/>
              </a:rPr>
              <a:t>отваря се в нов таб).</a:t>
            </a:r>
          </a:p>
          <a:p>
            <a:pPr lvl="1"/>
            <a:r>
              <a:rPr lang="bg-BG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 lvl="1"/>
            <a:b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&lt;hr&gt;</a:t>
            </a:r>
          </a:p>
          <a:p>
            <a:pPr>
              <a:lnSpc>
                <a:spcPct val="100000"/>
              </a:lnSpc>
            </a:pPr>
            <a:r>
              <a:rPr lang="en-GB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&lt;/section&gt;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EC6764-F2CC-442F-6D3C-5D9E727A7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258086"/>
            <a:ext cx="5174333" cy="195394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1434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3FD1-0EFB-1EFC-AFE1-9B8F9A80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Добавяме </a:t>
            </a:r>
            <a:r>
              <a:rPr lang="bg-BG" sz="3200" b="1" dirty="0">
                <a:solidFill>
                  <a:schemeClr val="bg1"/>
                </a:solidFill>
              </a:rPr>
              <a:t>изображение</a:t>
            </a:r>
            <a:endParaRPr lang="en-BG" sz="32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изображение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437318" y="2400436"/>
            <a:ext cx="11183124" cy="304698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&lt;section&gt;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3. 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Изображения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Пример с изображение: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&lt;img src="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cat-image.jpg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alt="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Снимка на </a:t>
            </a:r>
            <a:r>
              <a:rPr lang="en-US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ко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тка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260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height="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400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</a:p>
          <a:p>
            <a:pPr lvl="1"/>
            <a:b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&lt;hr&gt;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&lt;/section&gt;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095334-FEA8-FD61-20A1-3849B98B0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1065" y="1584000"/>
            <a:ext cx="3047030" cy="43144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09DC86AF-7822-C1D8-ABE7-24C2C06A7E73}"/>
              </a:ext>
            </a:extLst>
          </p:cNvPr>
          <p:cNvSpPr/>
          <p:nvPr/>
        </p:nvSpPr>
        <p:spPr bwMode="auto">
          <a:xfrm>
            <a:off x="1776000" y="5541922"/>
            <a:ext cx="4995000" cy="976439"/>
          </a:xfrm>
          <a:prstGeom prst="wedgeRoundRectCallout">
            <a:avLst>
              <a:gd name="adj1" fmla="val -27989"/>
              <a:gd name="adj2" fmla="val -22164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Заменяме</a:t>
            </a: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</a:t>
            </a:r>
            <a:r>
              <a:rPr lang="bg-BG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реален файл</a:t>
            </a:r>
            <a:r>
              <a:rPr lang="en-GB" sz="24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 същата директория на </a:t>
            </a:r>
            <a:r>
              <a:rPr lang="en-GB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html </a:t>
            </a:r>
            <a:r>
              <a:rPr lang="bg-BG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файла</a:t>
            </a:r>
            <a:endParaRPr lang="en-BG" sz="24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513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3FD1-0EFB-1EFC-AFE1-9B8F9A80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Добавяме </a:t>
            </a:r>
            <a:r>
              <a:rPr lang="bg-BG" sz="2800" b="1" dirty="0"/>
              <a:t>неподреден</a:t>
            </a:r>
            <a:r>
              <a:rPr lang="bg-BG" sz="2800" dirty="0"/>
              <a:t> и </a:t>
            </a:r>
            <a:r>
              <a:rPr lang="bg-BG" sz="2800" b="1" dirty="0"/>
              <a:t>подреден</a:t>
            </a:r>
            <a:r>
              <a:rPr lang="bg-BG" sz="2800" dirty="0"/>
              <a:t> </a:t>
            </a:r>
            <a:r>
              <a:rPr lang="bg-BG" sz="2800" b="1" dirty="0">
                <a:solidFill>
                  <a:schemeClr val="bg1"/>
                </a:solidFill>
              </a:rPr>
              <a:t>списък</a:t>
            </a:r>
            <a:endParaRPr lang="en-BG" sz="28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списъци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457960" y="1756464"/>
            <a:ext cx="11183124" cy="501675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&lt;section&gt;</a:t>
            </a:r>
          </a:p>
          <a:p>
            <a:pPr lvl="1"/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4. 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Списъци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  <a:b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&lt;h3&gt;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Неподреден списък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h3&gt;</a:t>
            </a:r>
          </a:p>
          <a:p>
            <a:pPr lvl="1"/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&lt;ul&gt;</a:t>
            </a:r>
          </a:p>
          <a:p>
            <a:pPr lvl="1"/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&lt;li&gt;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&lt;/li&gt;</a:t>
            </a:r>
          </a:p>
          <a:p>
            <a:pPr lvl="1"/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&lt;li&gt;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CSS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&lt;/li&gt;</a:t>
            </a:r>
          </a:p>
          <a:p>
            <a:pPr lvl="1"/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&lt;li&gt;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JavaScript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&lt;/li&gt;</a:t>
            </a:r>
          </a:p>
          <a:p>
            <a:pPr lvl="1"/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&lt;/ul&gt;</a:t>
            </a:r>
            <a:b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&lt;h3&gt;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Подреден списък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h3&gt;</a:t>
            </a:r>
          </a:p>
          <a:p>
            <a:pPr lvl="1"/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&lt;ol&gt;</a:t>
            </a:r>
          </a:p>
          <a:p>
            <a:pPr lvl="1"/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&lt;li&gt;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Създай файл </a:t>
            </a:r>
            <a:r>
              <a:rPr lang="en-GB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index.html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&lt;/li&gt;</a:t>
            </a:r>
          </a:p>
          <a:p>
            <a:pPr lvl="1"/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&lt;li&gt;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Напиши структурата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</a:p>
          <a:p>
            <a:pPr lvl="1"/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&lt;li&gt;</a:t>
            </a:r>
            <a:r>
              <a:rPr lang="bg-BG" sz="2000" b="1" noProof="1">
                <a:latin typeface="Consolas" panose="020B0609020204030204" pitchFamily="49" charset="0"/>
                <a:cs typeface="Consolas" panose="020B0609020204030204" pitchFamily="49" charset="0"/>
              </a:rPr>
              <a:t>Запази и отвори в браузър</a:t>
            </a:r>
            <a:r>
              <a:rPr lang="bg-BG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li&gt;</a:t>
            </a:r>
          </a:p>
          <a:p>
            <a:pPr lvl="1"/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&lt;/ol&gt;</a:t>
            </a:r>
            <a:b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&lt;hr&gt;</a:t>
            </a:r>
          </a:p>
          <a:p>
            <a:pPr>
              <a:lnSpc>
                <a:spcPct val="100000"/>
              </a:lnSpc>
            </a:pPr>
            <a:r>
              <a:rPr lang="en-GB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&lt;/section&gt;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EDE9F8-BCC3-66EC-13D0-FE6084C88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6000" y="1866998"/>
            <a:ext cx="4095700" cy="482646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0522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3FD1-0EFB-1EFC-AFE1-9B8F9A80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Добавяме </a:t>
            </a:r>
            <a:r>
              <a:rPr lang="bg-BG" sz="3600" b="1" dirty="0">
                <a:solidFill>
                  <a:schemeClr val="bg1"/>
                </a:solidFill>
              </a:rPr>
              <a:t>таблица</a:t>
            </a:r>
            <a:endParaRPr lang="en-BG" sz="36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таблица</a:t>
            </a:r>
            <a:r>
              <a:rPr lang="en-US" dirty="0"/>
              <a:t> (1)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504438" y="2079000"/>
            <a:ext cx="11183124" cy="452431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&lt;section&gt;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5. 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Таблици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&lt;table border="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cellpadding="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&lt;tr&gt;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&lt;th&gt;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Елемент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&lt;th&gt;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Предназначение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&lt;/tr&gt;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&lt;tr&gt;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&lt;td&gt;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&amp;lt;h1&amp;gt;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&lt;/td&gt;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&lt;td&gt;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Основно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заглавие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td&gt;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&lt;/tr&gt;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5A5021-25B0-F379-A5E1-0ECFB4CCBE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01000" y="2962337"/>
            <a:ext cx="3960700" cy="199634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912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таблица</a:t>
            </a:r>
            <a:r>
              <a:rPr lang="en-US" dirty="0"/>
              <a:t> (2)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504438" y="1534332"/>
            <a:ext cx="11183124" cy="489364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&lt;tr&gt;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&lt;td&gt;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&amp;lt;p&amp;gt;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&lt;/td&gt;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&lt;td&gt;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Параграф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td&gt;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&lt;/tr&gt;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&lt;tr&gt;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&lt;td&gt;</a:t>
            </a:r>
            <a:r>
              <a:rPr lang="en-GB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&amp;lt;a&amp;gt;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&lt;/td&gt;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&lt;td&gt;</a:t>
            </a:r>
            <a:r>
              <a:rPr lang="bg-BG" sz="2400" b="1" noProof="1">
                <a:latin typeface="Consolas" panose="020B0609020204030204" pitchFamily="49" charset="0"/>
                <a:cs typeface="Consolas" panose="020B0609020204030204" pitchFamily="49" charset="0"/>
              </a:rPr>
              <a:t>Хипервръзка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td&gt;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&lt;/tr&gt;</a:t>
            </a:r>
          </a:p>
          <a:p>
            <a:pPr lvl="1"/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&lt;/table&gt;</a:t>
            </a:r>
          </a:p>
          <a:p>
            <a:pPr lvl="1"/>
            <a:b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&lt;hr&gt;</a:t>
            </a:r>
          </a:p>
          <a:p>
            <a:pPr>
              <a:lnSpc>
                <a:spcPct val="100000"/>
              </a:lnSpc>
            </a:pPr>
            <a:r>
              <a:rPr lang="en-GB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&lt;/section&gt;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958274-C660-433D-FF9B-976D379B4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1000" y="2247323"/>
            <a:ext cx="3960700" cy="346766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950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3FD1-0EFB-1EFC-AFE1-9B8F9A80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Добавяме </a:t>
            </a:r>
            <a:r>
              <a:rPr lang="bg-BG" sz="3600" b="1" dirty="0">
                <a:solidFill>
                  <a:schemeClr val="bg1"/>
                </a:solidFill>
              </a:rPr>
              <a:t>форма</a:t>
            </a:r>
            <a:r>
              <a:rPr lang="bg-BG" sz="3600" dirty="0"/>
              <a:t> с </a:t>
            </a:r>
            <a:r>
              <a:rPr lang="bg-BG" sz="3600" b="1" dirty="0">
                <a:solidFill>
                  <a:schemeClr val="bg1"/>
                </a:solidFill>
              </a:rPr>
              <a:t>полета</a:t>
            </a:r>
            <a:r>
              <a:rPr lang="bg-BG" sz="3600" dirty="0"/>
              <a:t> за </a:t>
            </a:r>
            <a:r>
              <a:rPr lang="bg-BG" sz="3600" b="1" dirty="0"/>
              <a:t>въвеждане</a:t>
            </a:r>
            <a:r>
              <a:rPr lang="bg-BG" sz="3600" dirty="0"/>
              <a:t> на </a:t>
            </a:r>
            <a:r>
              <a:rPr lang="bg-BG" sz="3600" b="1" dirty="0"/>
              <a:t>данни</a:t>
            </a:r>
            <a:endParaRPr lang="en-BG" sz="36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форма</a:t>
            </a:r>
            <a:r>
              <a:rPr lang="en-US" dirty="0"/>
              <a:t> (1)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122579" y="2444662"/>
            <a:ext cx="11946842" cy="369331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&lt;section&gt;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6. 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Форми и въвеждане на данни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pPr lvl="1"/>
            <a:b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&lt;form&gt;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&lt;label for="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Име: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&lt;input type="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placeholder="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Въведи име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</a:p>
          <a:p>
            <a:pPr lvl="1"/>
            <a:b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label for="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password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Парола: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&lt;input type="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password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password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placeholder="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Въведи парола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  <a:endParaRPr lang="en-US" b="1" dirty="0">
              <a:solidFill>
                <a:schemeClr val="bg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bg-BG" b="1" dirty="0">
              <a:solidFill>
                <a:schemeClr val="bg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label for="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Съобщение: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&lt;textarea rows="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cols="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35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placeholder="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Напиши нещо...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textarea&gt;</a:t>
            </a:r>
          </a:p>
          <a:p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FA67C7-F8C1-74AB-7B4B-380BBAF03F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06000" y="1841752"/>
            <a:ext cx="3188786" cy="28307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1997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форма</a:t>
            </a:r>
            <a:r>
              <a:rPr lang="en-US" dirty="0"/>
              <a:t> (2)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190406" y="1224000"/>
            <a:ext cx="11183124" cy="563231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	&lt;p&gt;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Отметки (може повече от една):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&lt;input type="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checkbox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value="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"/&gt;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&lt;label for="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&lt;/label&gt;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&lt;input type="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checkbox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css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value="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css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"/&gt;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&lt;label for="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css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CSS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&lt;/label&gt;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&lt;input type="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checkbox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value="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"/&gt;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&lt;label for="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&lt;/label&gt;</a:t>
            </a:r>
          </a:p>
          <a:p>
            <a:pPr lvl="1"/>
            <a:b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&lt;p&gt;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Радио бутони (само един избор):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&lt;input type="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radio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beginner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name="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level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beginner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&lt;label for="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beginner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Начинаещ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&lt;input type="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radio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intermediate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name="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level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intermediate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&lt;label for="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intermediate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Средно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ниво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&lt;input type="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radio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id="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advanced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name="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level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advanced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&lt;label for="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advanced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Напреднал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label&gt;</a:t>
            </a:r>
          </a:p>
          <a:p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GB" b="1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FA67C7-F8C1-74AB-7B4B-380BBAF03F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19614" y="1454566"/>
            <a:ext cx="3917123" cy="505243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668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форма</a:t>
            </a:r>
            <a:r>
              <a:rPr lang="en-US" dirty="0"/>
              <a:t> (3)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504438" y="1674000"/>
            <a:ext cx="11183124" cy="424731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	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label for="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town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Падащо меню: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&lt;select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id</a:t>
            </a:r>
            <a:r>
              <a:rPr lang="en-US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town</a:t>
            </a:r>
            <a:r>
              <a:rPr lang="en-US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&lt;option value=""&gt;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Избери град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option&gt;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&lt;option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value="</a:t>
            </a:r>
            <a:r>
              <a:rPr lang="en-US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sofia</a:t>
            </a:r>
            <a:r>
              <a:rPr lang="en-US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София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option&gt;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&lt;option value="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plovdiv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Пловдив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option&gt;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&lt;option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varna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Варна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option&gt;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&lt;/select&gt;</a:t>
            </a:r>
          </a:p>
          <a:p>
            <a:pPr lvl="1"/>
            <a:b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&lt;button type="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submit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Изпрати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button&gt;</a:t>
            </a:r>
          </a:p>
          <a:p>
            <a:pPr lvl="1"/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&lt;button type="</a:t>
            </a:r>
            <a:r>
              <a:rPr lang="en-GB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reset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bg-BG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Изчисти</a:t>
            </a:r>
            <a:r>
              <a:rPr lang="bg-BG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button&gt;</a:t>
            </a:r>
          </a:p>
          <a:p>
            <a:pPr lvl="1"/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&lt;/form&gt;</a:t>
            </a:r>
          </a:p>
          <a:p>
            <a:pPr lvl="1"/>
            <a:b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&lt;hr&gt;</a:t>
            </a:r>
          </a:p>
          <a:p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&lt;/section&gt;</a:t>
            </a:r>
            <a:endParaRPr lang="en-GB" b="1" dirty="0">
              <a:solidFill>
                <a:schemeClr val="bg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FA67C7-F8C1-74AB-7B4B-380BBAF03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6000" y="1352249"/>
            <a:ext cx="3120190" cy="516781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817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3FD1-0EFB-1EFC-AFE1-9B8F9A80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Добавяме </a:t>
            </a:r>
            <a:r>
              <a:rPr lang="bg-BG" sz="2800" b="1" dirty="0">
                <a:solidFill>
                  <a:schemeClr val="bg1"/>
                </a:solidFill>
              </a:rPr>
              <a:t>аудио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видео</a:t>
            </a:r>
            <a:endParaRPr lang="en-BG" sz="28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аудио и видео</a:t>
            </a:r>
            <a:endParaRPr lang="en-BG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A609220-24EE-C88B-3336-0CF0FFB3A20C}"/>
              </a:ext>
            </a:extLst>
          </p:cNvPr>
          <p:cNvSpPr txBox="1">
            <a:spLocks/>
          </p:cNvSpPr>
          <p:nvPr/>
        </p:nvSpPr>
        <p:spPr>
          <a:xfrm>
            <a:off x="457960" y="1772781"/>
            <a:ext cx="11183124" cy="493981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&lt;section&gt;</a:t>
            </a:r>
          </a:p>
          <a:p>
            <a:pPr lvl="1"/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&lt;h2&gt;</a:t>
            </a:r>
            <a:r>
              <a:rPr lang="en-GB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7. </a:t>
            </a:r>
            <a:r>
              <a:rPr lang="bg-BG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Аудио и видео</a:t>
            </a:r>
            <a:r>
              <a:rPr lang="bg-BG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h2&gt;</a:t>
            </a:r>
          </a:p>
          <a:p>
            <a:pPr lvl="1"/>
            <a:b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&lt;h3&gt;</a:t>
            </a:r>
            <a:r>
              <a:rPr lang="bg-BG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Аудио</a:t>
            </a:r>
            <a:r>
              <a:rPr lang="bg-BG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h3&gt;</a:t>
            </a:r>
          </a:p>
          <a:p>
            <a:pPr lvl="1"/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&lt;audio controls&gt;</a:t>
            </a:r>
          </a:p>
          <a:p>
            <a:pPr lvl="1"/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&lt;source src="</a:t>
            </a:r>
            <a:r>
              <a:rPr lang="en-GB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happy-music.mp3</a:t>
            </a:r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type="</a:t>
            </a:r>
            <a:r>
              <a:rPr lang="en-GB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audio/mpeg</a:t>
            </a:r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</a:p>
          <a:p>
            <a:pPr lvl="1"/>
            <a:r>
              <a:rPr lang="bg-BG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Вашият браузър не поддържа </a:t>
            </a:r>
            <a:r>
              <a:rPr lang="en-GB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audio.</a:t>
            </a:r>
          </a:p>
          <a:p>
            <a:pPr lvl="1"/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&lt;/audio&gt;</a:t>
            </a:r>
          </a:p>
          <a:p>
            <a:pPr lvl="1"/>
            <a:b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&lt;h3&gt;</a:t>
            </a:r>
            <a:r>
              <a:rPr lang="bg-BG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Видео</a:t>
            </a:r>
            <a:r>
              <a:rPr lang="bg-BG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h3&gt;</a:t>
            </a:r>
          </a:p>
          <a:p>
            <a:pPr lvl="1"/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&lt;video width="</a:t>
            </a:r>
            <a:r>
              <a:rPr lang="en-GB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320</a:t>
            </a:r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“ height="</a:t>
            </a:r>
            <a:r>
              <a:rPr lang="en-GB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200</a:t>
            </a:r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controls&gt;</a:t>
            </a:r>
          </a:p>
          <a:p>
            <a:pPr lvl="1"/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&lt;source src="</a:t>
            </a:r>
            <a:r>
              <a:rPr lang="en-GB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dog-video.mp4</a:t>
            </a:r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type="</a:t>
            </a:r>
            <a:r>
              <a:rPr lang="en-GB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video/mp4</a:t>
            </a:r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</a:p>
          <a:p>
            <a:pPr lvl="1"/>
            <a:r>
              <a:rPr lang="bg-BG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Вашият браузър не поддържа </a:t>
            </a:r>
            <a:r>
              <a:rPr lang="en-GB" sz="2100" b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video.</a:t>
            </a:r>
          </a:p>
          <a:p>
            <a:pPr lvl="1"/>
            <a:r>
              <a:rPr lang="en-GB" sz="2100" b="1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&lt;/video&gt;</a:t>
            </a:r>
          </a:p>
          <a:p>
            <a:r>
              <a:rPr lang="en-GB" sz="21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&lt;/section&gt;</a:t>
            </a:r>
            <a:endParaRPr lang="en-GB" sz="2100" b="1" dirty="0">
              <a:solidFill>
                <a:schemeClr val="bg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9AE9C0-0B62-7DD7-61B5-98D7EE097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6000" y="1944000"/>
            <a:ext cx="3472642" cy="420926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7108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45D1D9-9C82-E343-7B5B-E9A2A9CA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54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32B02F-F82F-BE40-5EB1-E23ED6F2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B412D7-0989-4DAB-3012-392FD2DD03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2400" dirty="0"/>
              <a:t>Запазваме </a:t>
            </a:r>
            <a:r>
              <a:rPr lang="bg-BG" sz="2400" b="1" dirty="0"/>
              <a:t>промените</a:t>
            </a:r>
            <a:r>
              <a:rPr lang="bg-BG" sz="2400" dirty="0"/>
              <a:t> във </a:t>
            </a:r>
            <a:r>
              <a:rPr lang="bg-BG" sz="2400" b="1" dirty="0"/>
              <a:t>файла</a:t>
            </a:r>
            <a:endParaRPr lang="bg-BG" sz="2400" dirty="0"/>
          </a:p>
          <a:p>
            <a:r>
              <a:rPr lang="bg-BG" sz="2400" dirty="0"/>
              <a:t>Отваряме </a:t>
            </a:r>
            <a:r>
              <a:rPr lang="bg-BG" sz="2400" b="1" dirty="0">
                <a:solidFill>
                  <a:schemeClr val="bg1"/>
                </a:solidFill>
              </a:rPr>
              <a:t>файла</a:t>
            </a:r>
            <a:r>
              <a:rPr lang="bg-BG" sz="2400" dirty="0"/>
              <a:t> в </a:t>
            </a:r>
            <a:r>
              <a:rPr lang="bg-BG" sz="2400" b="1" dirty="0"/>
              <a:t>уеб браузър</a:t>
            </a:r>
            <a:endParaRPr lang="en-BG" sz="2400" b="1" dirty="0"/>
          </a:p>
          <a:p>
            <a:endParaRPr lang="en-B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8DF9E-F446-933A-96B8-EC49AA729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0232" y="1402581"/>
            <a:ext cx="4270852" cy="525291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607FEA-DA2F-38CB-ADFB-9E2A05FC5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0698" y="2380500"/>
            <a:ext cx="3291071" cy="427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Arrow: Right 10">
            <a:extLst>
              <a:ext uri="{FF2B5EF4-FFF2-40B4-BE49-F238E27FC236}">
                <a16:creationId xmlns:a16="http://schemas.microsoft.com/office/drawing/2014/main" id="{433DCCA0-EB87-695A-5FF9-06156313F2AE}"/>
              </a:ext>
            </a:extLst>
          </p:cNvPr>
          <p:cNvSpPr/>
          <p:nvPr/>
        </p:nvSpPr>
        <p:spPr>
          <a:xfrm>
            <a:off x="5597504" y="3858355"/>
            <a:ext cx="1326224" cy="1215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94039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rmAutofit fontScale="70000" lnSpcReduction="20000"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2800" b="1" dirty="0"/>
              <a:t>Заглавия </a:t>
            </a:r>
            <a:r>
              <a:rPr lang="en-US" sz="2800" dirty="0"/>
              <a:t>==</a:t>
            </a:r>
            <a:r>
              <a:rPr lang="bg-BG" sz="2800" dirty="0"/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&lt;h1&gt;&lt;/h1&gt;</a:t>
            </a:r>
            <a:r>
              <a:rPr lang="bg-BG" sz="2800" dirty="0"/>
              <a:t> –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&lt;h6&gt;&lt;/h6&gt;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800" b="1" dirty="0"/>
              <a:t>параграфи </a:t>
            </a:r>
            <a:r>
              <a:rPr lang="en-US" sz="2800" dirty="0"/>
              <a:t>==</a:t>
            </a:r>
            <a:r>
              <a:rPr lang="bg-BG" sz="2800" dirty="0"/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&lt;p&gt;&lt;/p&gt;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/>
              <a:t>Хипервръзки </a:t>
            </a:r>
            <a:r>
              <a:rPr lang="en-US" sz="2800" dirty="0"/>
              <a:t>==</a:t>
            </a:r>
            <a:r>
              <a:rPr lang="bg-BG" sz="2800" dirty="0"/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&lt;a&gt;&lt;/a&gt;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 изображения </a:t>
            </a:r>
            <a:r>
              <a:rPr lang="en-US" sz="2800" dirty="0"/>
              <a:t>==</a:t>
            </a:r>
            <a:r>
              <a:rPr lang="bg-BG" sz="2800" dirty="0"/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mg&gt;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/>
              <a:t>Неподреден списък </a:t>
            </a:r>
            <a:r>
              <a:rPr lang="en-US" sz="2800" dirty="0"/>
              <a:t>==</a:t>
            </a:r>
            <a:r>
              <a:rPr lang="bg-BG" sz="2800" dirty="0"/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&lt;ul&gt;&lt;/ul&gt;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/>
              <a:t>Подреден списък </a:t>
            </a:r>
            <a:r>
              <a:rPr lang="en-US" sz="2800" dirty="0"/>
              <a:t>==</a:t>
            </a:r>
            <a:r>
              <a:rPr lang="bg-BG" sz="2800" dirty="0"/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&lt;ol&gt;&lt;/ol&gt;</a:t>
            </a:r>
            <a:endParaRPr lang="bg-BG" sz="28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/>
              <a:t>Таблица </a:t>
            </a:r>
            <a:r>
              <a:rPr lang="en-US" sz="2800" dirty="0"/>
              <a:t>==</a:t>
            </a:r>
            <a:r>
              <a:rPr lang="bg-BG" sz="2800" dirty="0"/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&lt;table&gt;&lt;/table&gt;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/>
              <a:t>Въвеждане на текст </a:t>
            </a:r>
            <a:r>
              <a:rPr lang="en-US" sz="2800" dirty="0"/>
              <a:t>==</a:t>
            </a:r>
            <a:r>
              <a:rPr lang="bg-BG" sz="2800" dirty="0"/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&lt;input&gt;</a:t>
            </a:r>
            <a:endParaRPr lang="bg-BG" sz="28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Етикети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==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&lt;label&gt;&lt;/label&gt;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Отметки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==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"checkbox"&gt;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радио бутони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==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type="radio"&gt;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Бутони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==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&lt;button&gt;&lt;/button&gt;</a:t>
            </a:r>
            <a:endParaRPr lang="bg-BG" sz="28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Падащо меню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==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&lt;select&gt;&lt;/select&gt;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Форми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==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&lt;form&gt;&lt;/form&gt;</a:t>
            </a:r>
            <a:endParaRPr lang="bg-BG" sz="28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60363" indent="-360363" fontAlgn="base">
              <a:buClr>
                <a:schemeClr val="bg2"/>
              </a:buClr>
            </a:pP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Аудио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==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&lt;audio&gt;&lt;/audio&gt; </a:t>
            </a:r>
            <a:r>
              <a:rPr lang="bg-BG" sz="2800" dirty="0">
                <a:latin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bg-BG" sz="2800" b="1" dirty="0">
                <a:latin typeface="Calibri" panose="020F0502020204030204" pitchFamily="34" charset="0"/>
                <a:cs typeface="Calibri" panose="020F0502020204030204" pitchFamily="34" charset="0"/>
              </a:rPr>
              <a:t> видео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==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"/>
                <a:cs typeface="Calibri" panose="020F0502020204030204" pitchFamily="34" charset="0"/>
              </a:rPr>
              <a:t>&lt;video&gt;&lt;/video&gt;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"/>
                <a:cs typeface="Calibri" panose="020F0502020204030204" pitchFamily="34" charset="0"/>
              </a:rPr>
              <a:t> </a:t>
            </a:r>
          </a:p>
          <a:p>
            <a:pPr marL="360363" indent="-360363" fontAlgn="base">
              <a:buClr>
                <a:schemeClr val="bg2"/>
              </a:buClr>
            </a:pPr>
            <a:endParaRPr lang="bg-BG" sz="28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60363" indent="-360363" fontAlgn="base">
              <a:buClr>
                <a:schemeClr val="bg2"/>
              </a:buClr>
            </a:pP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56307</TotalTime>
  <Words>3841</Words>
  <Application>Microsoft Macintosh PowerPoint</Application>
  <PresentationFormat>Widescreen</PresentationFormat>
  <Paragraphs>537</Paragraphs>
  <Slides>57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Consolas</vt:lpstr>
      <vt:lpstr>Wingdings</vt:lpstr>
      <vt:lpstr>SoftUni</vt:lpstr>
      <vt:lpstr>Основни HTML елементи</vt:lpstr>
      <vt:lpstr>Съдържание</vt:lpstr>
      <vt:lpstr>Текст и форматиране</vt:lpstr>
      <vt:lpstr>Заглавия</vt:lpstr>
      <vt:lpstr>Параграфи</vt:lpstr>
      <vt:lpstr>Текстове и параграфи – Пример</vt:lpstr>
      <vt:lpstr>Форматиране на текст (1)</vt:lpstr>
      <vt:lpstr>Получерен vs. важен текст</vt:lpstr>
      <vt:lpstr>Форматиране на текст (2)</vt:lpstr>
      <vt:lpstr>Форматиране на текст – Пример</vt:lpstr>
      <vt:lpstr>Eскейпване на символи</vt:lpstr>
      <vt:lpstr>Коментари</vt:lpstr>
      <vt:lpstr>Хипервръзки и изображения</vt:lpstr>
      <vt:lpstr>Хипервръзки (Links)</vt:lpstr>
      <vt:lpstr>Вътрешни хипервръзки (Navigation Links)</vt:lpstr>
      <vt:lpstr>Вътрешни хипервръзки (Navigation Links) – Пример</vt:lpstr>
      <vt:lpstr>Линк към имейл адрес</vt:lpstr>
      <vt:lpstr>Изображения</vt:lpstr>
      <vt:lpstr>Хипервръзки и изображения – Пример</vt:lpstr>
      <vt:lpstr>Списъци и таблици</vt:lpstr>
      <vt:lpstr>Неподреден списък</vt:lpstr>
      <vt:lpstr>Неподреден списък – Пример</vt:lpstr>
      <vt:lpstr>Подреден списък</vt:lpstr>
      <vt:lpstr>Подреден списък – Пример</vt:lpstr>
      <vt:lpstr>Таблици</vt:lpstr>
      <vt:lpstr>Таблици – Пример</vt:lpstr>
      <vt:lpstr>Форми и въвеждане на данни</vt:lpstr>
      <vt:lpstr>Форми и въвеждане на данни</vt:lpstr>
      <vt:lpstr>Полета за въвеждане на текст</vt:lpstr>
      <vt:lpstr>Етикети (Labels)</vt:lpstr>
      <vt:lpstr>Полета за въвеждане на текст – Пример</vt:lpstr>
      <vt:lpstr>Отметки (Checkbox)</vt:lpstr>
      <vt:lpstr>Радио бутони (Radio buttons)</vt:lpstr>
      <vt:lpstr>Бутони</vt:lpstr>
      <vt:lpstr>Падащо меню (Select)</vt:lpstr>
      <vt:lpstr>Форми (Forms)</vt:lpstr>
      <vt:lpstr>Форми (Forms) – Пример</vt:lpstr>
      <vt:lpstr>Аудио и видео</vt:lpstr>
      <vt:lpstr>Аудио</vt:lpstr>
      <vt:lpstr>Видео</vt:lpstr>
      <vt:lpstr>Пример</vt:lpstr>
      <vt:lpstr>Създаване на първа HTML уеб страница</vt:lpstr>
      <vt:lpstr>Добавяне на основна структура</vt:lpstr>
      <vt:lpstr>Добавяне на текст</vt:lpstr>
      <vt:lpstr>Добавяне на хипервръзка</vt:lpstr>
      <vt:lpstr>Добавяне на изображение</vt:lpstr>
      <vt:lpstr>Добавяне на списъци</vt:lpstr>
      <vt:lpstr>Добавяне на таблица (1)</vt:lpstr>
      <vt:lpstr>Добавяне на таблица (2)</vt:lpstr>
      <vt:lpstr>Добавяне на форма (1)</vt:lpstr>
      <vt:lpstr>Добавяне на форма (2)</vt:lpstr>
      <vt:lpstr>Добавяне на форма (3)</vt:lpstr>
      <vt:lpstr>Добавяне на аудио и видео</vt:lpstr>
      <vt:lpstr>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Основни HTML елементи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516</cp:revision>
  <dcterms:created xsi:type="dcterms:W3CDTF">2018-05-23T13:08:44Z</dcterms:created>
  <dcterms:modified xsi:type="dcterms:W3CDTF">2026-09-04T11:57:49Z</dcterms:modified>
  <cp:category/>
</cp:coreProperties>
</file>