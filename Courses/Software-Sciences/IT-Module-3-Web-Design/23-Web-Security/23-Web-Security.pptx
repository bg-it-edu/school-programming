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5" r:id="rId1"/>
  </p:sldMasterIdLst>
  <p:notesMasterIdLst>
    <p:notesMasterId r:id="rId25"/>
  </p:notesMasterIdLst>
  <p:handoutMasterIdLst>
    <p:handoutMasterId r:id="rId26"/>
  </p:handoutMasterIdLst>
  <p:sldIdLst>
    <p:sldId id="503" r:id="rId2"/>
    <p:sldId id="276" r:id="rId3"/>
    <p:sldId id="353" r:id="rId4"/>
    <p:sldId id="497" r:id="rId5"/>
    <p:sldId id="916" r:id="rId6"/>
    <p:sldId id="926" r:id="rId7"/>
    <p:sldId id="917" r:id="rId8"/>
    <p:sldId id="925" r:id="rId9"/>
    <p:sldId id="918" r:id="rId10"/>
    <p:sldId id="610" r:id="rId11"/>
    <p:sldId id="902" r:id="rId12"/>
    <p:sldId id="919" r:id="rId13"/>
    <p:sldId id="927" r:id="rId14"/>
    <p:sldId id="928" r:id="rId15"/>
    <p:sldId id="921" r:id="rId16"/>
    <p:sldId id="922" r:id="rId17"/>
    <p:sldId id="654" r:id="rId18"/>
    <p:sldId id="881" r:id="rId19"/>
    <p:sldId id="923" r:id="rId20"/>
    <p:sldId id="929" r:id="rId21"/>
    <p:sldId id="633" r:id="rId22"/>
    <p:sldId id="504" r:id="rId23"/>
    <p:sldId id="505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ъведение" id="{A0C7653D-1924-4F56-9E27-AA2B21F1DA92}">
          <p14:sldIdLst>
            <p14:sldId id="503"/>
            <p14:sldId id="276"/>
          </p14:sldIdLst>
        </p14:section>
        <p14:section name="Рискове и методи на защита" id="{66DCFE1F-60FD-44F2-BE82-706DDBC14898}">
          <p14:sldIdLst>
            <p14:sldId id="353"/>
            <p14:sldId id="497"/>
            <p14:sldId id="916"/>
            <p14:sldId id="926"/>
            <p14:sldId id="917"/>
            <p14:sldId id="925"/>
            <p14:sldId id="918"/>
          </p14:sldIdLst>
        </p14:section>
        <p14:section name="Резервни копия" id="{EB44CA50-B176-0C4C-B0D0-5459023C7783}">
          <p14:sldIdLst>
            <p14:sldId id="610"/>
            <p14:sldId id="902"/>
            <p14:sldId id="919"/>
            <p14:sldId id="927"/>
            <p14:sldId id="928"/>
            <p14:sldId id="921"/>
            <p14:sldId id="922"/>
          </p14:sldIdLst>
        </p14:section>
        <p14:section name="Демо" id="{276EAB92-AF41-DD42-AFD3-D1ABB239E1A7}">
          <p14:sldIdLst>
            <p14:sldId id="654"/>
            <p14:sldId id="881"/>
            <p14:sldId id="923"/>
            <p14:sldId id="929"/>
          </p14:sldIdLst>
        </p14:section>
        <p14:section name="Заключение" id="{E19D07F1-86E2-47E9-B2AB-7ADC4F89DC12}">
          <p14:sldIdLst>
            <p14:sldId id="633"/>
            <p14:sldId id="504"/>
            <p14:sldId id="50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84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B4BF2F8-D32F-9387-A6CE-368ED6EFDCF0}" name="Zaraliev" initials="KZ" userId="S::Zaraliev@students.softuni.bg::e1c6524a-140e-4108-9ad5-216363431969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C" initials="P" lastIdx="8" clrIdx="0">
    <p:extLst>
      <p:ext uri="{19B8F6BF-5375-455C-9EA6-DF929625EA0E}">
        <p15:presenceInfo xmlns:p15="http://schemas.microsoft.com/office/powerpoint/2012/main" userId="PC" providerId="None"/>
      </p:ext>
    </p:extLst>
  </p:cmAuthor>
  <p:cmAuthor id="2" name="Mirela Damyanova" initials="MD" lastIdx="6" clrIdx="1">
    <p:extLst>
      <p:ext uri="{19B8F6BF-5375-455C-9EA6-DF929625EA0E}">
        <p15:presenceInfo xmlns:p15="http://schemas.microsoft.com/office/powerpoint/2012/main" userId="Mirela Damyanova" providerId="None"/>
      </p:ext>
    </p:extLst>
  </p:cmAuthor>
  <p:cmAuthor id="3" name="Zaraliev" initials="KZ" lastIdx="1" clrIdx="2">
    <p:extLst>
      <p:ext uri="{19B8F6BF-5375-455C-9EA6-DF929625EA0E}">
        <p15:presenceInfo xmlns:p15="http://schemas.microsoft.com/office/powerpoint/2012/main" userId="S::Zaraliev@students.softuni.bg::e1c6524a-140e-4108-9ad5-216363431969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9100"/>
    <a:srgbClr val="234465"/>
    <a:srgbClr val="ADB4C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–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505E3EF-67EA-436B-97B2-0124C06EBD24}" styleName="Medium Style 4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16D9F66E-5EB9-4882-86FB-DCBF35E3C3E4}" styleName="Medium Style 4 –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22838BEF-8BB2-4498-84A7-C5851F593DF1}" styleName="Medium Style 4 –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79" autoAdjust="0"/>
    <p:restoredTop sz="95274" autoAdjust="0"/>
  </p:normalViewPr>
  <p:slideViewPr>
    <p:cSldViewPr showGuides="1">
      <p:cViewPr>
        <p:scale>
          <a:sx n="66" d="100"/>
          <a:sy n="66" d="100"/>
        </p:scale>
        <p:origin x="1190" y="600"/>
      </p:cViewPr>
      <p:guideLst>
        <p:guide orient="horz" pos="2184"/>
        <p:guide pos="3840"/>
      </p:guideLst>
    </p:cSldViewPr>
  </p:slideViewPr>
  <p:outlineViewPr>
    <p:cViewPr>
      <p:scale>
        <a:sx n="33" d="100"/>
        <a:sy n="33" d="100"/>
      </p:scale>
      <p:origin x="0" y="-9989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8" d="100"/>
        <a:sy n="128" d="100"/>
      </p:scale>
      <p:origin x="0" y="-6566"/>
    </p:cViewPr>
  </p:sorterViewPr>
  <p:notesViewPr>
    <p:cSldViewPr>
      <p:cViewPr varScale="1">
        <p:scale>
          <a:sx n="60" d="100"/>
          <a:sy n="60" d="100"/>
        </p:scale>
        <p:origin x="3187" y="48"/>
      </p:cViewPr>
      <p:guideLst/>
    </p:cSldViewPr>
  </p:notesViewPr>
  <p:gridSpacing cx="45000" cy="450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8/10/relationships/authors" Target="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commentAuthors" Target="commentAuthors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hyperlink" Target="https://softuni.org/" TargetMode="External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6F20103-83CC-4A54-8FDE-9D37FC2629C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A53962-26EF-44E4-9E69-61B1727AB1C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087215-0C8F-4762-A664-737A353EC9A4}" type="datetimeFigureOut">
              <a:rPr lang="bg-BG" smtClean="0"/>
              <a:t>28.8.2026 г.</a:t>
            </a:fld>
            <a:endParaRPr lang="bg-B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A6967E-448F-4887-8FCB-34482EFBCC7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-1" y="8892000"/>
            <a:ext cx="6443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bg-BG" sz="1100" dirty="0"/>
              <a:t>Работна група </a:t>
            </a:r>
            <a:r>
              <a:rPr lang="ru-RU" sz="1100" dirty="0"/>
              <a:t>"Образование по програмиране и ИТ</a:t>
            </a:r>
            <a:r>
              <a:rPr lang="bg-BG" sz="1100" dirty="0"/>
              <a:t>", с подкрепата на </a:t>
            </a:r>
            <a:r>
              <a:rPr lang="en-US" sz="1100" dirty="0">
                <a:hlinkClick r:id="rId2"/>
              </a:rPr>
              <a:t>SoftUni</a:t>
            </a:r>
            <a:endParaRPr lang="en-US" sz="11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6554C2-DDBA-40E2-9536-53A07EC5027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443999" y="8892000"/>
            <a:ext cx="412413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C318AE-53F9-47EA-B5FE-E9473933AF11}" type="slidenum">
              <a:rPr lang="bg-BG" smtClean="0"/>
              <a:t>‹#›</a:t>
            </a:fld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4150602968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hyperlink" Target="https://softuni.org/" TargetMode="External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D84649-876A-46C9-8472-14CB09C070D8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488999" y="8892000"/>
            <a:ext cx="367414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F067CD-8E6B-4360-9AA8-C5DF2A48A6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C3A49B-3196-44DF-AC28-085C72EFBFF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892000"/>
            <a:ext cx="6488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/>
            </a:lvl1pPr>
          </a:lstStyle>
          <a:p>
            <a:r>
              <a:rPr lang="bg-BG" sz="1100" dirty="0"/>
              <a:t>Работна група </a:t>
            </a:r>
            <a:r>
              <a:rPr lang="bg-BG" dirty="0"/>
              <a:t>"Образование по програмиране и ИТ"</a:t>
            </a:r>
            <a:r>
              <a:rPr lang="bg-BG" sz="1100" dirty="0"/>
              <a:t>, с подкрепата на </a:t>
            </a:r>
            <a:r>
              <a:rPr lang="en-US" sz="1100" dirty="0">
                <a:hlinkClick r:id="rId2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530847692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EBA5BD7-F043-4D1B-AA17-CD412FC534DE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8" name="Slide Image Placeholder 7">
            <a:extLst>
              <a:ext uri="{FF2B5EF4-FFF2-40B4-BE49-F238E27FC236}">
                <a16:creationId xmlns:a16="http://schemas.microsoft.com/office/drawing/2014/main" id="{78811095-27E9-49AB-972B-D4E20B3963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9" name="Notes Placeholder 8">
            <a:extLst>
              <a:ext uri="{FF2B5EF4-FFF2-40B4-BE49-F238E27FC236}">
                <a16:creationId xmlns:a16="http://schemas.microsoft.com/office/drawing/2014/main" id="{E923224B-0CC3-475A-8628-8A90751AE6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288A3F3-90B1-4930-8D00-5603BDABEF1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44894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>
            <a:extLst>
              <a:ext uri="{FF2B5EF4-FFF2-40B4-BE49-F238E27FC236}">
                <a16:creationId xmlns:a16="http://schemas.microsoft.com/office/drawing/2014/main" id="{A1F0B3C6-2E53-4CA3-86D1-53D46EC352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5" name="Notes Placeholder 14">
            <a:extLst>
              <a:ext uri="{FF2B5EF4-FFF2-40B4-BE49-F238E27FC236}">
                <a16:creationId xmlns:a16="http://schemas.microsoft.com/office/drawing/2014/main" id="{149CC699-A079-49A5-A4D6-73B7F849A7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121F4233-7E9A-40D2-9066-2DB14E2FA5AD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18F1DFF-B3E7-4ABF-97EE-0BBF3A961EC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85307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10985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925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7714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94840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smtClean="0"/>
              <a:t>15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bg-BG" sz="1100"/>
              <a:t>Работна група </a:t>
            </a:r>
            <a:r>
              <a:rPr lang="bg-BG"/>
              <a:t>"Образование по програмиране и ИТ"</a:t>
            </a:r>
            <a:r>
              <a:rPr lang="bg-BG" sz="1100"/>
              <a:t>, с подкрепата на </a:t>
            </a:r>
            <a:r>
              <a:rPr lang="en-US" sz="1100">
                <a:hlinkClick r:id="rId3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1151386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49941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65F1CA9-65DC-416B-8882-B3A5E415CE67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5" name="Footer Placeholder 7">
            <a:extLst>
              <a:ext uri="{FF2B5EF4-FFF2-40B4-BE49-F238E27FC236}">
                <a16:creationId xmlns:a16="http://schemas.microsoft.com/office/drawing/2014/main" id="{43FAF785-0C8D-730E-8E59-68198DC82CE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892000"/>
            <a:ext cx="6488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/>
            </a:lvl1pPr>
          </a:lstStyle>
          <a:p>
            <a:r>
              <a:rPr lang="bg-BG" sz="1100" dirty="0"/>
              <a:t>Работна група </a:t>
            </a:r>
            <a:r>
              <a:rPr lang="bg-BG" dirty="0"/>
              <a:t>"Образование по програмиране и ИТ"</a:t>
            </a:r>
            <a:r>
              <a:rPr lang="bg-BG" sz="1100" dirty="0"/>
              <a:t>, с подкрепата на </a:t>
            </a:r>
            <a:r>
              <a:rPr lang="en-US" sz="1100" dirty="0">
                <a:hlinkClick r:id="rId3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6893447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049B984-F964-47FF-8179-0A3007CE21CD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059BE0-D868-413B-AAA1-1CC88D1F52C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659037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27548A-4D3C-449B-81A5-FA4BE4628490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472CE7-61C1-4B7B-B0C8-5A45F017871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88444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hyperlink" Target="http://creativecommons.org/licenses/by-nc-sa/4.0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Bottom">
            <a:extLst>
              <a:ext uri="{FF2B5EF4-FFF2-40B4-BE49-F238E27FC236}">
                <a16:creationId xmlns:a16="http://schemas.microsoft.com/office/drawing/2014/main" id="{6854D183-0374-4B3E-B2CE-32F308A81591}"/>
              </a:ext>
            </a:extLst>
          </p:cNvPr>
          <p:cNvSpPr/>
          <p:nvPr userDrawn="1"/>
        </p:nvSpPr>
        <p:spPr>
          <a:xfrm>
            <a:off x="0" y="6702676"/>
            <a:ext cx="12195176" cy="15532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3" name="Picture Placeholder Title Image">
            <a:extLst>
              <a:ext uri="{FF2B5EF4-FFF2-40B4-BE49-F238E27FC236}">
                <a16:creationId xmlns:a16="http://schemas.microsoft.com/office/drawing/2014/main" id="{A04D819A-89E2-4714-8C56-1838BF467EF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90123" y="3400017"/>
            <a:ext cx="5248260" cy="2188983"/>
          </a:xfrm>
        </p:spPr>
        <p:txBody>
          <a:bodyPr/>
          <a:lstStyle>
            <a:lvl1pPr marL="0" indent="0" algn="ctr" latinLnBrk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10" name="Company Web Site">
            <a:extLst>
              <a:ext uri="{FF2B5EF4-FFF2-40B4-BE49-F238E27FC236}">
                <a16:creationId xmlns:a16="http://schemas.microsoft.com/office/drawing/2014/main" id="{0B99B1EE-62FA-4AA4-920C-D444D6C0B77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90120" y="6086106"/>
            <a:ext cx="5248260" cy="341313"/>
          </a:xfrm>
        </p:spPr>
        <p:txBody>
          <a:bodyPr lIns="36000" rIns="36000" anchor="ctr" anchorCtr="0">
            <a:noAutofit/>
          </a:bodyPr>
          <a:lstStyle>
            <a:lvl1pPr marL="0" indent="0" algn="r">
              <a:buNone/>
              <a:defRPr sz="1800"/>
            </a:lvl1pPr>
          </a:lstStyle>
          <a:p>
            <a:pPr lvl="0"/>
            <a:r>
              <a:rPr lang="en-US" dirty="0"/>
              <a:t>https://softuni.foundation  </a:t>
            </a:r>
          </a:p>
        </p:txBody>
      </p:sp>
      <p:sp>
        <p:nvSpPr>
          <p:cNvPr id="6" name="Company Name">
            <a:extLst>
              <a:ext uri="{FF2B5EF4-FFF2-40B4-BE49-F238E27FC236}">
                <a16:creationId xmlns:a16="http://schemas.microsoft.com/office/drawing/2014/main" id="{2A76510A-0BAE-A827-E77C-BE88E38F52A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390122" y="5698189"/>
            <a:ext cx="5248260" cy="374236"/>
          </a:xfrm>
        </p:spPr>
        <p:txBody>
          <a:bodyPr lIns="36000" rIns="36000" anchor="ctr" anchorCtr="0">
            <a:normAutofit/>
          </a:bodyPr>
          <a:lstStyle>
            <a:lvl1pPr marL="0" indent="0" algn="r">
              <a:buNone/>
              <a:defRPr sz="2000" b="1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lvl="0"/>
            <a:r>
              <a:rPr lang="en-US" dirty="0"/>
              <a:t>SoftUni Foundation</a:t>
            </a:r>
          </a:p>
        </p:txBody>
      </p:sp>
      <p:sp>
        <p:nvSpPr>
          <p:cNvPr id="31" name="Author Position">
            <a:extLst>
              <a:ext uri="{FF2B5EF4-FFF2-40B4-BE49-F238E27FC236}">
                <a16:creationId xmlns:a16="http://schemas.microsoft.com/office/drawing/2014/main" id="{3E6B87B7-9D33-4EBB-BD4F-C0436BA3FD7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534045" y="6085863"/>
            <a:ext cx="4751953" cy="341556"/>
          </a:xfrm>
          <a:prstGeom prst="rect">
            <a:avLst/>
          </a:prstGeom>
          <a:noFill/>
          <a:effectLst/>
        </p:spPr>
        <p:txBody>
          <a:bodyPr wrap="square" lIns="36000" tIns="36000" rIns="36000" bIns="36000" rtlCol="0" anchor="ctr" anchorCtr="0">
            <a:noAutofit/>
          </a:bodyPr>
          <a:lstStyle>
            <a:lvl1pPr marL="0" indent="0" algn="l" rtl="0" fontAlgn="base" latinLnBrk="0">
              <a:spcBef>
                <a:spcPct val="0"/>
              </a:spcBef>
              <a:spcAft>
                <a:spcPct val="0"/>
              </a:spcAft>
              <a:buNone/>
              <a:defRPr lang="en-US" sz="1800" b="0" kern="1200" dirty="0" smtClean="0">
                <a:solidFill>
                  <a:schemeClr val="tx1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URL</a:t>
            </a:r>
          </a:p>
        </p:txBody>
      </p:sp>
      <p:sp>
        <p:nvSpPr>
          <p:cNvPr id="30" name="Author Name">
            <a:extLst>
              <a:ext uri="{FF2B5EF4-FFF2-40B4-BE49-F238E27FC236}">
                <a16:creationId xmlns:a16="http://schemas.microsoft.com/office/drawing/2014/main" id="{2EA92DCA-4DB5-4D03-ACD3-A6A296592D0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auto">
          <a:xfrm>
            <a:off x="534046" y="5251106"/>
            <a:ext cx="4751954" cy="724904"/>
          </a:xfrm>
          <a:prstGeom prst="rect">
            <a:avLst/>
          </a:prstGeom>
          <a:noFill/>
          <a:effectLst/>
        </p:spPr>
        <p:txBody>
          <a:bodyPr wrap="square" lIns="36000" tIns="36000" rIns="36000" bIns="36000" rtlCol="0" anchor="ctr" anchorCtr="0">
            <a:noAutofit/>
          </a:bodyPr>
          <a:lstStyle>
            <a:lvl1pPr marL="0" indent="0" algn="l" rtl="0" fontAlgn="base" latinLnBrk="0">
              <a:spcBef>
                <a:spcPct val="0"/>
              </a:spcBef>
              <a:spcAft>
                <a:spcPct val="0"/>
              </a:spcAft>
              <a:buNone/>
              <a:defRPr lang="en-US" sz="2000" b="1" kern="1200" dirty="0" smtClean="0">
                <a:solidFill>
                  <a:schemeClr val="tx1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Authors</a:t>
            </a:r>
          </a:p>
        </p:txBody>
      </p:sp>
      <p:sp>
        <p:nvSpPr>
          <p:cNvPr id="43" name="Presentation Subtitle">
            <a:extLst>
              <a:ext uri="{FF2B5EF4-FFF2-40B4-BE49-F238E27FC236}">
                <a16:creationId xmlns:a16="http://schemas.microsoft.com/office/drawing/2014/main" id="{37BDB812-1395-4B02-ABCF-6A331EEE23E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54746" y="1402942"/>
            <a:ext cx="11083636" cy="1306057"/>
          </a:xfrm>
        </p:spPr>
        <p:txBody>
          <a:bodyPr anchor="t" anchorCtr="0">
            <a:normAutofit/>
          </a:bodyPr>
          <a:lstStyle>
            <a:lvl1pPr marL="0" indent="0" algn="ctr" latinLnBrk="0">
              <a:buNone/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Presentation Subtitle</a:t>
            </a:r>
          </a:p>
        </p:txBody>
      </p:sp>
      <p:sp>
        <p:nvSpPr>
          <p:cNvPr id="2" name="Presentation Title">
            <a:extLst>
              <a:ext uri="{FF2B5EF4-FFF2-40B4-BE49-F238E27FC236}">
                <a16:creationId xmlns:a16="http://schemas.microsoft.com/office/drawing/2014/main" id="{A4DF3AB8-E6E3-4FCE-8A4A-ECD147720A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746" y="321501"/>
            <a:ext cx="11083636" cy="971589"/>
          </a:xfrm>
        </p:spPr>
        <p:txBody>
          <a:bodyPr>
            <a:normAutofit/>
          </a:bodyPr>
          <a:lstStyle>
            <a:lvl1pPr algn="ctr" latinLnBrk="0">
              <a:defRPr sz="5400"/>
            </a:lvl1pPr>
          </a:lstStyle>
          <a:p>
            <a:r>
              <a:rPr lang="en-US" noProof="0" dirty="0"/>
              <a:t>Presentation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24D0DB3-F60A-469B-7831-209CB666CCE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549" y="4325954"/>
            <a:ext cx="2538082" cy="633046"/>
          </a:xfrm>
          <a:prstGeom prst="rect">
            <a:avLst/>
          </a:prstGeom>
        </p:spPr>
      </p:pic>
      <p:pic>
        <p:nvPicPr>
          <p:cNvPr id="5" name="Picture 4" title="CC-BY-NC-SA License">
            <a:hlinkClick r:id="rId3" tooltip="This work is licensed under the &quot;Creative Commons Attribution-NonCommercial-ShareAlike 4.0 International&quot; license"/>
            <a:extLst>
              <a:ext uri="{FF2B5EF4-FFF2-40B4-BE49-F238E27FC236}">
                <a16:creationId xmlns:a16="http://schemas.microsoft.com/office/drawing/2014/main" id="{2D40731C-0303-A69D-63FD-E048A73CA59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682" y="4321352"/>
            <a:ext cx="1809336" cy="633045"/>
          </a:xfrm>
          <a:prstGeom prst="roundRect">
            <a:avLst>
              <a:gd name="adj" fmla="val 3940"/>
            </a:avLst>
          </a:prstGeom>
          <a:solidFill>
            <a:srgbClr val="231F20">
              <a:alpha val="50000"/>
            </a:srgbClr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06541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Center Icon"/>
          <p:cNvSpPr>
            <a:spLocks noChangeAspect="1"/>
          </p:cNvSpPr>
          <p:nvPr/>
        </p:nvSpPr>
        <p:spPr>
          <a:xfrm>
            <a:off x="4319736" y="867751"/>
            <a:ext cx="3552529" cy="355252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Subtitle"/>
          <p:cNvSpPr>
            <a:spLocks noGrp="1"/>
          </p:cNvSpPr>
          <p:nvPr>
            <p:ph type="subTitle" sz="quarter" idx="11" hasCustomPrompt="1"/>
          </p:nvPr>
        </p:nvSpPr>
        <p:spPr>
          <a:xfrm>
            <a:off x="615109" y="5585916"/>
            <a:ext cx="10961783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3998" b="0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Subtitle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 sz="quarter" idx="10" hasCustomPrompt="1"/>
          </p:nvPr>
        </p:nvSpPr>
        <p:spPr>
          <a:xfrm>
            <a:off x="615109" y="4704825"/>
            <a:ext cx="10961783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5396" b="1" baseline="0">
                <a:solidFill>
                  <a:schemeClr val="tx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Title</a:t>
            </a:r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5292164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">
            <a:extLst>
              <a:ext uri="{FF2B5EF4-FFF2-40B4-BE49-F238E27FC236}">
                <a16:creationId xmlns:a16="http://schemas.microsoft.com/office/drawing/2014/main" id="{C1780DB1-0AF0-4108-AFE1-9DA99F0DBC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3" name="Slide Body Text">
            <a:extLst>
              <a:ext uri="{FF2B5EF4-FFF2-40B4-BE49-F238E27FC236}">
                <a16:creationId xmlns:a16="http://schemas.microsoft.com/office/drawing/2014/main" id="{5A9D2960-6D42-439F-82E8-812822013A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2" y="1196125"/>
            <a:ext cx="11818096" cy="5528766"/>
          </a:xfrm>
        </p:spPr>
        <p:txBody>
          <a:bodyPr/>
          <a:lstStyle>
            <a:lvl1pPr latinLnBrk="0">
              <a:buClr>
                <a:schemeClr val="tx1"/>
              </a:buClr>
              <a:defRPr/>
            </a:lvl1pPr>
            <a:lvl2pPr latinLnBrk="0">
              <a:buClr>
                <a:schemeClr val="tx1"/>
              </a:buClr>
              <a:defRPr/>
            </a:lvl2pPr>
            <a:lvl3pPr latinLnBrk="0">
              <a:buClr>
                <a:schemeClr val="tx1"/>
              </a:buClr>
              <a:defRPr/>
            </a:lvl3pPr>
            <a:lvl4pPr latinLnBrk="0">
              <a:buClr>
                <a:schemeClr val="tx1"/>
              </a:buClr>
              <a:defRPr/>
            </a:lvl4pPr>
            <a:lvl5pPr latinLnBrk="0">
              <a:buClr>
                <a:schemeClr val="tx1"/>
              </a:buClr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Rectangle Top">
            <a:extLst>
              <a:ext uri="{FF2B5EF4-FFF2-40B4-BE49-F238E27FC236}">
                <a16:creationId xmlns:a16="http://schemas.microsoft.com/office/drawing/2014/main" id="{391AFA4E-7870-4561-A1B8-AC956B0C8931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19B5B676-7892-440F-8191-7109B2C598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9A1D0F-F579-6A3C-C698-4E2E7F1AB2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29707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portant Conce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0020EB61-2079-41A3-B356-B1D8D48D7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6" name="Rectangle Left"/>
          <p:cNvSpPr/>
          <p:nvPr/>
        </p:nvSpPr>
        <p:spPr>
          <a:xfrm>
            <a:off x="0" y="0"/>
            <a:ext cx="115383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3074" name="Picture Bulb" descr="Bul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35205" y="1792355"/>
            <a:ext cx="1830304" cy="4062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Body Text">
            <a:extLst>
              <a:ext uri="{FF2B5EF4-FFF2-40B4-BE49-F238E27FC236}">
                <a16:creationId xmlns:a16="http://schemas.microsoft.com/office/drawing/2014/main" id="{CB4CB13C-66A1-466B-A6C1-B0BABF5CFE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66000" y="1121143"/>
            <a:ext cx="10129234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8" name="Slide Title">
            <a:extLst>
              <a:ext uri="{FF2B5EF4-FFF2-40B4-BE49-F238E27FC236}">
                <a16:creationId xmlns:a16="http://schemas.microsoft.com/office/drawing/2014/main" id="{E2DA9691-CDF5-499C-94BB-AAA61DAC1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6956" y="100750"/>
            <a:ext cx="916404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8CA5371-2597-CF8F-1859-22639580743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5307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portant Exa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1865BF6B-7F07-4E9C-879F-80E36EEB34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2" name="Rectangle Left">
            <a:extLst>
              <a:ext uri="{FF2B5EF4-FFF2-40B4-BE49-F238E27FC236}">
                <a16:creationId xmlns:a16="http://schemas.microsoft.com/office/drawing/2014/main" id="{345FB1C8-7F66-4D5C-ACCE-AE919936BCFD}"/>
              </a:ext>
            </a:extLst>
          </p:cNvPr>
          <p:cNvSpPr/>
          <p:nvPr/>
        </p:nvSpPr>
        <p:spPr>
          <a:xfrm>
            <a:off x="0" y="0"/>
            <a:ext cx="115383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3074" name="Picture Bulb" descr="Bul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520027" y="3314704"/>
            <a:ext cx="1260665" cy="2797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Slide Body Text">
            <a:extLst>
              <a:ext uri="{FF2B5EF4-FFF2-40B4-BE49-F238E27FC236}">
                <a16:creationId xmlns:a16="http://schemas.microsoft.com/office/drawing/2014/main" id="{6157C8DE-E0AF-422B-BBB1-F0AF1264B5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673561" y="1121143"/>
            <a:ext cx="10321675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0D5CC956-5C4A-44BE-8F8B-327FAFA51E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6956" y="100750"/>
            <a:ext cx="916404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37AF1B9-D67A-246A-86B6-E28F19C5239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9651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F0B8C963-1813-4B69-AD27-6D02EBBBB5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3" name="Rectangle Left">
            <a:extLst>
              <a:ext uri="{FF2B5EF4-FFF2-40B4-BE49-F238E27FC236}">
                <a16:creationId xmlns:a16="http://schemas.microsoft.com/office/drawing/2014/main" id="{345FB1C8-7F66-4D5C-ACCE-AE919936BCFD}"/>
              </a:ext>
            </a:extLst>
          </p:cNvPr>
          <p:cNvSpPr/>
          <p:nvPr userDrawn="1"/>
        </p:nvSpPr>
        <p:spPr>
          <a:xfrm>
            <a:off x="0" y="0"/>
            <a:ext cx="429471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4" name="Picture Bulb" descr="Bulb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56000" y="5098868"/>
            <a:ext cx="779209" cy="1729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Body Text">
            <a:extLst>
              <a:ext uri="{FF2B5EF4-FFF2-40B4-BE49-F238E27FC236}">
                <a16:creationId xmlns:a16="http://schemas.microsoft.com/office/drawing/2014/main" id="{7296EDA7-D37D-4B31-A888-371F0804124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5176" y="1121143"/>
            <a:ext cx="11410061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55A88B09-3557-48A3-BF27-42699C2692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177" y="100750"/>
            <a:ext cx="987582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C2C375B-43BF-D1DD-F160-1500A111885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5625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urce Code Exa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">
            <a:extLst>
              <a:ext uri="{FF2B5EF4-FFF2-40B4-BE49-F238E27FC236}">
                <a16:creationId xmlns:a16="http://schemas.microsoft.com/office/drawing/2014/main" id="{509D954E-A844-4072-A556-DE584BEB93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9" name="Rectangle Top">
            <a:extLst>
              <a:ext uri="{FF2B5EF4-FFF2-40B4-BE49-F238E27FC236}">
                <a16:creationId xmlns:a16="http://schemas.microsoft.com/office/drawing/2014/main" id="{A15CE03A-0933-4E5D-9EA1-718D4F802FFC}"/>
              </a:ext>
            </a:extLst>
          </p:cNvPr>
          <p:cNvSpPr/>
          <p:nvPr userDrawn="1"/>
        </p:nvSpPr>
        <p:spPr>
          <a:xfrm>
            <a:off x="0" y="1311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2" name="Slide Body Text">
            <a:extLst>
              <a:ext uri="{FF2B5EF4-FFF2-40B4-BE49-F238E27FC236}">
                <a16:creationId xmlns:a16="http://schemas.microsoft.com/office/drawing/2014/main" id="{B608ED73-CE88-49E4-8BFC-DBD6E9AE6B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6" y="1206668"/>
            <a:ext cx="11804831" cy="5550582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This is a code example</a:t>
            </a:r>
          </a:p>
        </p:txBody>
      </p:sp>
      <p:sp>
        <p:nvSpPr>
          <p:cNvPr id="4" name="Code Box">
            <a:extLst>
              <a:ext uri="{FF2B5EF4-FFF2-40B4-BE49-F238E27FC236}">
                <a16:creationId xmlns:a16="http://schemas.microsoft.com/office/drawing/2014/main" id="{F4E021E9-D6DB-4272-8C9F-CEF4940FDC1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74683" y="2034000"/>
            <a:ext cx="10836275" cy="2237893"/>
          </a:xfrm>
          <a:solidFill>
            <a:schemeClr val="accent6">
              <a:lumMod val="75000"/>
              <a:alpha val="15000"/>
            </a:schemeClr>
          </a:solidFill>
          <a:ln w="12700">
            <a:solidFill>
              <a:schemeClr val="tx1">
                <a:lumMod val="50000"/>
              </a:schemeClr>
            </a:solidFill>
          </a:ln>
        </p:spPr>
        <p:txBody>
          <a:bodyPr vert="horz" wrap="square" lIns="144000" tIns="108000" rIns="144000" bIns="108000" rtlCol="0">
            <a:spAutoFit/>
          </a:bodyPr>
          <a:lstStyle>
            <a:lvl1pPr>
              <a:buNone/>
              <a:defRPr lang="en-US" sz="2800" b="1" smtClean="0">
                <a:latin typeface="Consolas" pitchFamily="49" charset="0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Source code box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</p:txBody>
      </p:sp>
      <p:sp>
        <p:nvSpPr>
          <p:cNvPr id="11" name="Slide Title">
            <a:extLst>
              <a:ext uri="{FF2B5EF4-FFF2-40B4-BE49-F238E27FC236}">
                <a16:creationId xmlns:a16="http://schemas.microsoft.com/office/drawing/2014/main" id="{47D60833-F0A9-4F29-8C06-A963A7C8BE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5" y="100750"/>
            <a:ext cx="10239658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B69A4E8-9221-8F79-65B4-BF9AA7F87DD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08298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Center Icon"/>
          <p:cNvSpPr>
            <a:spLocks noChangeAspect="1"/>
          </p:cNvSpPr>
          <p:nvPr/>
        </p:nvSpPr>
        <p:spPr>
          <a:xfrm>
            <a:off x="831000" y="1091471"/>
            <a:ext cx="3552529" cy="355252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Subtitle"/>
          <p:cNvSpPr>
            <a:spLocks noGrp="1"/>
          </p:cNvSpPr>
          <p:nvPr>
            <p:ph type="subTitle" sz="quarter" idx="11" hasCustomPrompt="1"/>
          </p:nvPr>
        </p:nvSpPr>
        <p:spPr>
          <a:xfrm>
            <a:off x="5241000" y="3338387"/>
            <a:ext cx="6065892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3998" b="0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Subtitle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 sz="quarter" idx="10" hasCustomPrompt="1"/>
          </p:nvPr>
        </p:nvSpPr>
        <p:spPr>
          <a:xfrm>
            <a:off x="5241000" y="1471047"/>
            <a:ext cx="6065892" cy="175433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5396" b="1" baseline="0">
                <a:solidFill>
                  <a:schemeClr val="tx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Title</a:t>
            </a:r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4239197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">
            <a:extLst>
              <a:ext uri="{FF2B5EF4-FFF2-40B4-BE49-F238E27FC236}">
                <a16:creationId xmlns:a16="http://schemas.microsoft.com/office/drawing/2014/main" id="{39DDE17E-5472-41F3-AF5F-54DFF10DC6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23" name="Slide Body Text">
            <a:extLst>
              <a:ext uri="{FF2B5EF4-FFF2-40B4-BE49-F238E27FC236}">
                <a16:creationId xmlns:a16="http://schemas.microsoft.com/office/drawing/2014/main" id="{889D93F4-ABFA-46BF-8E5D-FE6562ACB20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6766" y="1371604"/>
            <a:ext cx="11781606" cy="5207396"/>
          </a:xfrm>
        </p:spPr>
        <p:txBody>
          <a:bodyPr>
            <a:normAutofit/>
          </a:bodyPr>
          <a:lstStyle>
            <a:lvl1pPr marL="514042" indent="-514042" latinLnBrk="0">
              <a:buFont typeface="+mj-lt"/>
              <a:buAutoNum type="arabicPeriod"/>
              <a:defRPr sz="3600">
                <a:solidFill>
                  <a:schemeClr val="tx1"/>
                </a:solidFill>
              </a:defRPr>
            </a:lvl1pPr>
            <a:lvl2pPr>
              <a:defRPr sz="3400"/>
            </a:lvl2pPr>
          </a:lstStyle>
          <a:p>
            <a:pPr lvl="0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0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0"/>
            <a:r>
              <a:rPr lang="en-US" noProof="0" dirty="0"/>
              <a:t>…</a:t>
            </a:r>
          </a:p>
        </p:txBody>
      </p:sp>
      <p:sp>
        <p:nvSpPr>
          <p:cNvPr id="8" name="Rectangle Top">
            <a:extLst>
              <a:ext uri="{FF2B5EF4-FFF2-40B4-BE49-F238E27FC236}">
                <a16:creationId xmlns:a16="http://schemas.microsoft.com/office/drawing/2014/main" id="{930E0800-9260-4369-8330-8264DD33C5CE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357D7BE1-6358-42CC-94F3-7BCDD91DCB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Table of Contents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D808AB-EC49-1578-0005-D58D2A365AA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8724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Bottom"/>
          <p:cNvSpPr/>
          <p:nvPr/>
        </p:nvSpPr>
        <p:spPr>
          <a:xfrm>
            <a:off x="2" y="6264000"/>
            <a:ext cx="12192000" cy="594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856" tIns="60928" rIns="121856" bIns="6092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6750ECE4-94E0-469B-B8E4-562792823B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462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solidFill>
                  <a:schemeClr val="bg2"/>
                </a:solidFill>
              </a:defRPr>
            </a:lvl1pPr>
          </a:lstStyle>
          <a:p>
            <a:fld id="{2BF067CD-8E6B-4360-9AA8-C5DF2A48A6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Oval Logo Holder"/>
          <p:cNvSpPr/>
          <p:nvPr/>
        </p:nvSpPr>
        <p:spPr>
          <a:xfrm>
            <a:off x="5161650" y="4824665"/>
            <a:ext cx="1868701" cy="1868701"/>
          </a:xfrm>
          <a:prstGeom prst="ellipse">
            <a:avLst/>
          </a:prstGeom>
          <a:solidFill>
            <a:schemeClr val="tx2"/>
          </a:solidFill>
          <a:ln w="635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0" name="Text Placeholder Right">
            <a:extLst>
              <a:ext uri="{FF2B5EF4-FFF2-40B4-BE49-F238E27FC236}">
                <a16:creationId xmlns:a16="http://schemas.microsoft.com/office/drawing/2014/main" id="{AF69A59F-C564-4A04-B1CC-31C26149999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56000" y="1195931"/>
            <a:ext cx="5545597" cy="4957073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9" name="Text Placeholder Left">
            <a:extLst>
              <a:ext uri="{FF2B5EF4-FFF2-40B4-BE49-F238E27FC236}">
                <a16:creationId xmlns:a16="http://schemas.microsoft.com/office/drawing/2014/main" id="{C8A626D2-456B-41EF-9818-EA8DD7E314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2" y="1195931"/>
            <a:ext cx="5545598" cy="4957073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Rectangle Top">
            <a:extLst>
              <a:ext uri="{FF2B5EF4-FFF2-40B4-BE49-F238E27FC236}">
                <a16:creationId xmlns:a16="http://schemas.microsoft.com/office/drawing/2014/main" id="{E03301DA-D0AF-46FD-8740-2F761250203A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5" name="Slide Title">
            <a:extLst>
              <a:ext uri="{FF2B5EF4-FFF2-40B4-BE49-F238E27FC236}">
                <a16:creationId xmlns:a16="http://schemas.microsoft.com/office/drawing/2014/main" id="{EA9A94D1-F9F6-4D7B-85E3-896A987B6A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5" y="100750"/>
            <a:ext cx="10270595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C9792D8-D354-4699-B7D6-B8CB7F77594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8753" y="5340443"/>
            <a:ext cx="1334859" cy="98286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6351E19-25DA-EAD2-9FBE-358B6135D72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4033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">
            <a:extLst>
              <a:ext uri="{FF2B5EF4-FFF2-40B4-BE49-F238E27FC236}">
                <a16:creationId xmlns:a16="http://schemas.microsoft.com/office/drawing/2014/main" id="{F888EE71-82B3-40F1-A63F-7417422FB4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444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14" name="Text Placeholder Body">
            <a:extLst>
              <a:ext uri="{FF2B5EF4-FFF2-40B4-BE49-F238E27FC236}">
                <a16:creationId xmlns:a16="http://schemas.microsoft.com/office/drawing/2014/main" id="{A2ABE920-240F-4CF6-AD45-23ED489FAD6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69002" y="1353866"/>
            <a:ext cx="7426234" cy="5219931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Picture Placeholder Left"/>
          <p:cNvSpPr>
            <a:spLocks noGrp="1"/>
          </p:cNvSpPr>
          <p:nvPr>
            <p:ph type="pic" idx="1" hasCustomPrompt="1"/>
          </p:nvPr>
        </p:nvSpPr>
        <p:spPr>
          <a:xfrm>
            <a:off x="190405" y="1355077"/>
            <a:ext cx="3889373" cy="536640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anchor="ctr"/>
          <a:lstStyle>
            <a:lvl1pPr marL="0" indent="0" algn="ctr" latinLnBrk="0">
              <a:buNone/>
              <a:defRPr sz="2131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  <a:lvl2pPr marL="609219" indent="0">
              <a:buNone/>
              <a:defRPr sz="3731"/>
            </a:lvl2pPr>
            <a:lvl3pPr marL="1218438" indent="0">
              <a:buNone/>
              <a:defRPr sz="3198"/>
            </a:lvl3pPr>
            <a:lvl4pPr marL="1827657" indent="0">
              <a:buNone/>
              <a:defRPr sz="2665"/>
            </a:lvl4pPr>
            <a:lvl5pPr marL="2436876" indent="0">
              <a:buNone/>
              <a:defRPr sz="2665"/>
            </a:lvl5pPr>
            <a:lvl6pPr marL="3046096" indent="0">
              <a:buNone/>
              <a:defRPr sz="2665"/>
            </a:lvl6pPr>
            <a:lvl7pPr marL="3655315" indent="0">
              <a:buNone/>
              <a:defRPr sz="2665"/>
            </a:lvl7pPr>
            <a:lvl8pPr marL="4264533" indent="0">
              <a:buNone/>
              <a:defRPr sz="2665"/>
            </a:lvl8pPr>
            <a:lvl9pPr marL="4873752" indent="0">
              <a:buNone/>
              <a:defRPr sz="2665"/>
            </a:lvl9pPr>
          </a:lstStyle>
          <a:p>
            <a:r>
              <a:rPr lang="en-US" altLang="ko-KR" noProof="0"/>
              <a:t>Your Picture Here</a:t>
            </a:r>
          </a:p>
        </p:txBody>
      </p:sp>
      <p:sp>
        <p:nvSpPr>
          <p:cNvPr id="3" name="Rectangle Left Second"/>
          <p:cNvSpPr/>
          <p:nvPr/>
        </p:nvSpPr>
        <p:spPr>
          <a:xfrm>
            <a:off x="4127777" y="1748999"/>
            <a:ext cx="240001" cy="3360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2" name="Rectangle Left First"/>
          <p:cNvSpPr/>
          <p:nvPr/>
        </p:nvSpPr>
        <p:spPr>
          <a:xfrm>
            <a:off x="4079775" y="1355073"/>
            <a:ext cx="48001" cy="550292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0" name="Rectangle Down">
            <a:extLst>
              <a:ext uri="{FF2B5EF4-FFF2-40B4-BE49-F238E27FC236}">
                <a16:creationId xmlns:a16="http://schemas.microsoft.com/office/drawing/2014/main" id="{E9B994EC-35A8-4A11-98CB-25DC28852F94}"/>
              </a:ext>
            </a:extLst>
          </p:cNvPr>
          <p:cNvSpPr/>
          <p:nvPr/>
        </p:nvSpPr>
        <p:spPr>
          <a:xfrm>
            <a:off x="2" y="6721482"/>
            <a:ext cx="12192000" cy="13651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Rectangle Top">
            <a:extLst>
              <a:ext uri="{FF2B5EF4-FFF2-40B4-BE49-F238E27FC236}">
                <a16:creationId xmlns:a16="http://schemas.microsoft.com/office/drawing/2014/main" id="{274B8F05-DFCE-47BD-BAFD-DF93E1A63BDD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3F218E34-55D7-4290-BFE4-80F31F9415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F3DB3E-BDAA-8201-9A01-2F52640A84C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019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s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Bottom">
            <a:extLst>
              <a:ext uri="{FF2B5EF4-FFF2-40B4-BE49-F238E27FC236}">
                <a16:creationId xmlns:a16="http://schemas.microsoft.com/office/drawing/2014/main" id="{550A59F9-9A9D-4956-95B4-F78CC0DB1D59}"/>
              </a:ext>
            </a:extLst>
          </p:cNvPr>
          <p:cNvSpPr/>
          <p:nvPr userDrawn="1"/>
        </p:nvSpPr>
        <p:spPr>
          <a:xfrm>
            <a:off x="0" y="6371332"/>
            <a:ext cx="12195176" cy="48723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107753B-8639-4399-B782-EE5377184D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6988" y="1461842"/>
            <a:ext cx="10731663" cy="3047158"/>
          </a:xfrm>
        </p:spPr>
        <p:txBody>
          <a:bodyPr>
            <a:normAutofit/>
          </a:bodyPr>
          <a:lstStyle>
            <a:lvl1pPr algn="ctr">
              <a:defRPr sz="13800"/>
            </a:lvl1pPr>
          </a:lstStyle>
          <a:p>
            <a:r>
              <a:rPr lang="bg-BG" dirty="0"/>
              <a:t>Въпроси?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20612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gray"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Body Text">
            <a:extLst>
              <a:ext uri="{FF2B5EF4-FFF2-40B4-BE49-F238E27FC236}">
                <a16:creationId xmlns:a16="http://schemas.microsoft.com/office/drawing/2014/main" id="{90CBFB32-9F46-4F2F-8A54-9EE8BED278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0404" y="1138844"/>
            <a:ext cx="11804830" cy="5530156"/>
          </a:xfrm>
          <a:prstGeom prst="rect">
            <a:avLst/>
          </a:prstGeom>
        </p:spPr>
        <p:txBody>
          <a:bodyPr vert="horz" lIns="108000" tIns="36000" rIns="108000" bIns="36000" rtlCol="0">
            <a:normAutofit/>
          </a:bodyPr>
          <a:lstStyle/>
          <a:p>
            <a:pPr lvl="0"/>
            <a:r>
              <a:rPr lang="en-US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10" name="Slide Title">
            <a:extLst>
              <a:ext uri="{FF2B5EF4-FFF2-40B4-BE49-F238E27FC236}">
                <a16:creationId xmlns:a16="http://schemas.microsoft.com/office/drawing/2014/main" id="{B770C392-3003-4C35-9625-BB041F825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5" y="100750"/>
            <a:ext cx="11804829" cy="882654"/>
          </a:xfrm>
          <a:prstGeom prst="rect">
            <a:avLst/>
          </a:prstGeom>
        </p:spPr>
        <p:txBody>
          <a:bodyPr vert="horz" lIns="108000" tIns="36000" rIns="108000" bIns="36000" rtlCol="0" anchor="ctr" anchorCtr="0">
            <a:normAutofit/>
          </a:bodyPr>
          <a:lstStyle/>
          <a:p>
            <a:r>
              <a:rPr lang="en-US" dirty="0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6789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89" r:id="rId2"/>
    <p:sldLayoutId id="2147483681" r:id="rId3"/>
    <p:sldLayoutId id="2147483679" r:id="rId4"/>
    <p:sldLayoutId id="2147483680" r:id="rId5"/>
    <p:sldLayoutId id="2147483688" r:id="rId6"/>
    <p:sldLayoutId id="2147483684" r:id="rId7"/>
    <p:sldLayoutId id="2147483690" r:id="rId8"/>
    <p:sldLayoutId id="2147483677" r:id="rId9"/>
    <p:sldLayoutId id="2147483683" r:id="rId10"/>
    <p:sldLayoutId id="2147483685" r:id="rId11"/>
    <p:sldLayoutId id="2147483686" r:id="rId12"/>
  </p:sldLayoutIdLst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hf hdr="0" ftr="0" dt="0"/>
  <p:txStyles>
    <p:titleStyle>
      <a:lvl1pPr algn="l" defTabSz="1218438" rtl="0" eaLnBrk="1" latinLnBrk="0" hangingPunct="1">
        <a:spcBef>
          <a:spcPct val="0"/>
        </a:spcBef>
        <a:buNone/>
        <a:defRPr sz="3998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363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3398" kern="1200">
          <a:solidFill>
            <a:schemeClr val="tx1"/>
          </a:solidFill>
          <a:latin typeface="+mn-lt"/>
          <a:ea typeface="+mn-ea"/>
          <a:cs typeface="+mn-cs"/>
        </a:defRPr>
      </a:lvl1pPr>
      <a:lvl2pPr marL="803275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3198" kern="1200">
          <a:solidFill>
            <a:schemeClr val="tx1"/>
          </a:solidFill>
          <a:latin typeface="+mn-lt"/>
          <a:ea typeface="+mn-ea"/>
          <a:cs typeface="+mn-cs"/>
        </a:defRPr>
      </a:lvl2pPr>
      <a:lvl3pPr marL="1255713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998" kern="1200">
          <a:solidFill>
            <a:schemeClr val="tx1"/>
          </a:solidFill>
          <a:latin typeface="+mn-lt"/>
          <a:ea typeface="+mn-ea"/>
          <a:cs typeface="+mn-cs"/>
        </a:defRPr>
      </a:lvl3pPr>
      <a:lvl4pPr marL="1700213" indent="-352425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798" kern="1200">
          <a:solidFill>
            <a:schemeClr val="tx1"/>
          </a:solidFill>
          <a:latin typeface="+mn-lt"/>
          <a:ea typeface="+mn-ea"/>
          <a:cs typeface="+mn-cs"/>
        </a:defRPr>
      </a:lvl4pPr>
      <a:lvl5pPr marL="2058988" indent="-266700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598" kern="1200">
          <a:solidFill>
            <a:schemeClr val="tx1"/>
          </a:solidFill>
          <a:latin typeface="+mn-lt"/>
          <a:ea typeface="+mn-ea"/>
          <a:cs typeface="+mn-cs"/>
        </a:defRPr>
      </a:lvl5pPr>
      <a:lvl6pPr marL="3350704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6pPr>
      <a:lvl7pPr marL="3959924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7pPr>
      <a:lvl8pPr marL="4569143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8pPr>
      <a:lvl9pPr marL="5178362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1pPr>
      <a:lvl2pPr marL="609219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2pPr>
      <a:lvl3pPr marL="1218438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3pPr>
      <a:lvl4pPr marL="1827657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4pPr>
      <a:lvl5pPr marL="2436876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5pPr>
      <a:lvl6pPr marL="3046096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6pPr>
      <a:lvl7pPr marL="3655315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7pPr>
      <a:lvl8pPr marL="4264533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8pPr>
      <a:lvl9pPr marL="4873752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1843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G-IT-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9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G-IT-Edu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.png"/><Relationship Id="rId5" Type="http://schemas.openxmlformats.org/officeDocument/2006/relationships/hyperlink" Target="http://creativecommons.org/licenses/by-nc-sa/4.0/" TargetMode="External"/><Relationship Id="rId4" Type="http://schemas.openxmlformats.org/officeDocument/2006/relationships/hyperlink" Target="https://github.com/BG-IT-Edu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uthor Name">
            <a:extLst>
              <a:ext uri="{FF2B5EF4-FFF2-40B4-BE49-F238E27FC236}">
                <a16:creationId xmlns:a16="http://schemas.microsoft.com/office/drawing/2014/main" id="{FA396BB6-2053-4690-9672-BC528007D37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390120" y="6086106"/>
            <a:ext cx="5248260" cy="341313"/>
          </a:xfrm>
        </p:spPr>
        <p:txBody>
          <a:bodyPr>
            <a:normAutofit lnSpcReduction="10000"/>
          </a:bodyPr>
          <a:lstStyle/>
          <a:p>
            <a:r>
              <a:rPr lang="bg-BG" dirty="0"/>
              <a:t>Софтуерни и хардуерни науки</a:t>
            </a:r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8DE66249-1FBD-414B-AF0D-550F7312AF7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390122" y="5698189"/>
            <a:ext cx="5248260" cy="374236"/>
          </a:xfrm>
        </p:spPr>
        <p:txBody>
          <a:bodyPr>
            <a:normAutofit lnSpcReduction="10000"/>
          </a:bodyPr>
          <a:lstStyle/>
          <a:p>
            <a:r>
              <a:rPr lang="bg-BG" dirty="0"/>
              <a:t>Курс </a:t>
            </a:r>
            <a:r>
              <a:rPr lang="en-US" dirty="0"/>
              <a:t>"</a:t>
            </a:r>
            <a:r>
              <a:rPr lang="bg-BG" dirty="0"/>
              <a:t>Информационни технологии"</a:t>
            </a:r>
            <a:endParaRPr lang="en-US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520F80DC-BAF0-05EE-2BC1-37C2321904F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34045" y="6085863"/>
            <a:ext cx="4751953" cy="341556"/>
          </a:xfrm>
        </p:spPr>
        <p:txBody>
          <a:bodyPr>
            <a:normAutofit lnSpcReduction="10000"/>
          </a:bodyPr>
          <a:lstStyle/>
          <a:p>
            <a:r>
              <a:rPr lang="en-US" dirty="0">
                <a:hlinkClick r:id="rId3"/>
              </a:rPr>
              <a:t>https://github.com/BG-IT-Edu</a:t>
            </a:r>
            <a:endParaRPr lang="en-US" dirty="0"/>
          </a:p>
        </p:txBody>
      </p:sp>
      <p:sp>
        <p:nvSpPr>
          <p:cNvPr id="40" name="Text Placeholder 39">
            <a:extLst>
              <a:ext uri="{FF2B5EF4-FFF2-40B4-BE49-F238E27FC236}">
                <a16:creationId xmlns:a16="http://schemas.microsoft.com/office/drawing/2014/main" id="{E4D839B2-02D1-883A-3CE0-7CF25557FB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34046" y="5251106"/>
            <a:ext cx="4751954" cy="724904"/>
          </a:xfrm>
        </p:spPr>
        <p:txBody>
          <a:bodyPr>
            <a:normAutofit/>
          </a:bodyPr>
          <a:lstStyle/>
          <a:p>
            <a:r>
              <a:rPr lang="bg-BG" dirty="0"/>
              <a:t>Проект "Отворено учебно съдържание по програмиране и ИТ", СофтУни Фондация </a:t>
            </a:r>
          </a:p>
        </p:txBody>
      </p:sp>
      <p:sp>
        <p:nvSpPr>
          <p:cNvPr id="3" name="Presentation Subtitle">
            <a:extLst>
              <a:ext uri="{FF2B5EF4-FFF2-40B4-BE49-F238E27FC236}">
                <a16:creationId xmlns:a16="http://schemas.microsoft.com/office/drawing/2014/main" id="{A004DC04-DA2A-41C0-8578-4B8D2F08EA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4746" y="1402942"/>
            <a:ext cx="11083636" cy="971589"/>
          </a:xfrm>
        </p:spPr>
        <p:txBody>
          <a:bodyPr>
            <a:noAutofit/>
          </a:bodyPr>
          <a:lstStyle/>
          <a:p>
            <a:r>
              <a:rPr lang="bg-BG" sz="3200" dirty="0"/>
              <a:t>Рискове, методи на защита и резервни копия</a:t>
            </a:r>
          </a:p>
        </p:txBody>
      </p:sp>
      <p:sp>
        <p:nvSpPr>
          <p:cNvPr id="2" name="Presentation Title">
            <a:extLst>
              <a:ext uri="{FF2B5EF4-FFF2-40B4-BE49-F238E27FC236}">
                <a16:creationId xmlns:a16="http://schemas.microsoft.com/office/drawing/2014/main" id="{37F91798-9AD5-4209-8887-958029548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4746" y="321501"/>
            <a:ext cx="11083636" cy="971589"/>
          </a:xfrm>
        </p:spPr>
        <p:txBody>
          <a:bodyPr>
            <a:noAutofit/>
          </a:bodyPr>
          <a:lstStyle/>
          <a:p>
            <a:r>
              <a:rPr lang="bg-BG" sz="5600" b="1" i="0" dirty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Повишаване на сигурността в уеб</a:t>
            </a:r>
            <a:endParaRPr lang="en-US" sz="5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9C89CDB-9A69-7B24-74E6-10BF87DE1C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1007" y="3056137"/>
            <a:ext cx="1819960" cy="849053"/>
          </a:xfrm>
          <a:prstGeom prst="rect">
            <a:avLst/>
          </a:prstGeom>
        </p:spPr>
      </p:pic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445C0712-B71F-D8C6-888A-9B0F890ACE6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934" b="12934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6664053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597"/>
    </mc:Choice>
    <mc:Fallback xmlns="">
      <p:transition spd="slow" advTm="2597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6A760D59-0056-4F39-B077-DBDBE3D2927E}"/>
              </a:ext>
            </a:extLst>
          </p:cNvPr>
          <p:cNvSpPr txBox="1">
            <a:spLocks/>
          </p:cNvSpPr>
          <p:nvPr/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BF067CD-8E6B-4360-9AA8-C5DF2A48A6D1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444419" name="Slide Body"/>
          <p:cNvSpPr>
            <a:spLocks noGrp="1" noChangeArrowheads="1"/>
          </p:cNvSpPr>
          <p:nvPr>
            <p:ph type="body" sz="quarter" idx="13"/>
          </p:nvPr>
        </p:nvSpPr>
        <p:spPr>
          <a:xfrm>
            <a:off x="196766" y="1371604"/>
            <a:ext cx="11781606" cy="5207396"/>
          </a:xfrm>
        </p:spPr>
        <p:txBody>
          <a:bodyPr>
            <a:normAutofit/>
          </a:bodyPr>
          <a:lstStyle/>
          <a:p>
            <a:pPr>
              <a:buClr>
                <a:schemeClr val="tx1"/>
              </a:buClr>
            </a:pPr>
            <a:r>
              <a:rPr lang="bg-BG" sz="3800" dirty="0">
                <a:solidFill>
                  <a:schemeClr val="bg1"/>
                </a:solidFill>
              </a:rPr>
              <a:t>​</a:t>
            </a:r>
            <a:r>
              <a:rPr lang="bg-BG" sz="3800" b="1" dirty="0">
                <a:solidFill>
                  <a:schemeClr val="bg1"/>
                </a:solidFill>
              </a:rPr>
              <a:t>Рискове и методи на защита</a:t>
            </a:r>
          </a:p>
          <a:p>
            <a:pPr lvl="1">
              <a:buClr>
                <a:schemeClr val="tx1"/>
              </a:buClr>
            </a:pPr>
            <a:r>
              <a:rPr lang="bg-BG" sz="3600" b="1" dirty="0"/>
              <a:t>Рискове</a:t>
            </a:r>
            <a:r>
              <a:rPr lang="bg-BG" sz="3600" dirty="0"/>
              <a:t> при </a:t>
            </a:r>
            <a:r>
              <a:rPr lang="bg-BG" sz="3600" b="1" dirty="0"/>
              <a:t>използване</a:t>
            </a:r>
            <a:r>
              <a:rPr lang="bg-BG" sz="3600" dirty="0"/>
              <a:t> на </a:t>
            </a:r>
            <a:r>
              <a:rPr lang="en-US" sz="3600" b="1" dirty="0"/>
              <a:t>CMS</a:t>
            </a:r>
            <a:endParaRPr lang="bg-BG" sz="3600" b="1" dirty="0"/>
          </a:p>
          <a:p>
            <a:pPr lvl="1">
              <a:buClr>
                <a:schemeClr val="tx1"/>
              </a:buClr>
            </a:pPr>
            <a:r>
              <a:rPr lang="bg-BG" sz="3600" b="1" dirty="0"/>
              <a:t>Методи</a:t>
            </a:r>
            <a:r>
              <a:rPr lang="bg-BG" sz="3600" dirty="0"/>
              <a:t> за </a:t>
            </a:r>
            <a:r>
              <a:rPr lang="bg-BG" sz="3600" b="1" dirty="0"/>
              <a:t>защита</a:t>
            </a:r>
            <a:r>
              <a:rPr lang="bg-BG" sz="3600" dirty="0"/>
              <a:t> на </a:t>
            </a:r>
            <a:r>
              <a:rPr lang="en-US" sz="3600" b="1" dirty="0"/>
              <a:t>CMS </a:t>
            </a:r>
            <a:r>
              <a:rPr lang="bg-BG" sz="3600" b="1" dirty="0"/>
              <a:t>сайт</a:t>
            </a:r>
            <a:endParaRPr lang="bg-BG" sz="3600" b="1" dirty="0">
              <a:solidFill>
                <a:schemeClr val="bg1"/>
              </a:solidFill>
            </a:endParaRPr>
          </a:p>
          <a:p>
            <a:pPr>
              <a:buClr>
                <a:schemeClr val="tx1"/>
              </a:buClr>
            </a:pPr>
            <a:r>
              <a:rPr lang="bg-BG" sz="3800" dirty="0">
                <a:solidFill>
                  <a:schemeClr val="bg1"/>
                </a:solidFill>
              </a:rPr>
              <a:t>​</a:t>
            </a:r>
            <a:r>
              <a:rPr lang="bg-BG" sz="3800" b="1" dirty="0">
                <a:solidFill>
                  <a:schemeClr val="bg1"/>
                </a:solidFill>
              </a:rPr>
              <a:t>Резервни копия</a:t>
            </a:r>
            <a:endParaRPr lang="en-US" sz="3800" b="1" dirty="0">
              <a:solidFill>
                <a:schemeClr val="bg1"/>
              </a:solidFill>
            </a:endParaRPr>
          </a:p>
          <a:p>
            <a:pPr lvl="1">
              <a:buClr>
                <a:schemeClr val="tx1"/>
              </a:buClr>
            </a:pPr>
            <a:r>
              <a:rPr lang="bg-BG" sz="3600" b="1" dirty="0"/>
              <a:t>Методи</a:t>
            </a:r>
            <a:r>
              <a:rPr lang="bg-BG" sz="3600" dirty="0"/>
              <a:t> за </a:t>
            </a:r>
            <a:r>
              <a:rPr lang="bg-BG" sz="3600" b="1" dirty="0"/>
              <a:t>резервно копие </a:t>
            </a:r>
            <a:r>
              <a:rPr lang="bg-BG" sz="3600" dirty="0"/>
              <a:t>в </a:t>
            </a:r>
            <a:r>
              <a:rPr lang="en-GB" sz="3600" b="1" dirty="0"/>
              <a:t>WordPress</a:t>
            </a:r>
            <a:endParaRPr lang="bg-BG" sz="3600" b="1" dirty="0"/>
          </a:p>
          <a:p>
            <a:pPr lvl="1">
              <a:buClr>
                <a:schemeClr val="tx1"/>
              </a:buClr>
            </a:pPr>
            <a:r>
              <a:rPr lang="bg-BG" sz="3600" b="1" dirty="0"/>
              <a:t>Правила</a:t>
            </a:r>
            <a:r>
              <a:rPr lang="bg-BG" sz="3600" dirty="0"/>
              <a:t> за </a:t>
            </a:r>
            <a:r>
              <a:rPr lang="bg-BG" sz="3600" b="1" dirty="0"/>
              <a:t>съхранение</a:t>
            </a:r>
            <a:r>
              <a:rPr lang="bg-BG" sz="3600" dirty="0"/>
              <a:t> на </a:t>
            </a:r>
            <a:r>
              <a:rPr lang="bg-BG" sz="3600" b="1" dirty="0"/>
              <a:t>копия</a:t>
            </a:r>
            <a:endParaRPr lang="en-US" sz="3600" b="1" dirty="0"/>
          </a:p>
          <a:p>
            <a:pPr>
              <a:buClr>
                <a:schemeClr val="tx1"/>
              </a:buClr>
            </a:pPr>
            <a:r>
              <a:rPr lang="en-US" sz="4000" dirty="0">
                <a:solidFill>
                  <a:schemeClr val="bg1"/>
                </a:solidFill>
              </a:rPr>
              <a:t>​</a:t>
            </a:r>
            <a:r>
              <a:rPr lang="bg-BG" sz="4000" dirty="0">
                <a:highlight>
                  <a:srgbClr val="FFFF00"/>
                </a:highlight>
              </a:rPr>
              <a:t>​​​</a:t>
            </a:r>
            <a:r>
              <a:rPr lang="bg-BG" sz="4000" b="1" dirty="0"/>
              <a:t>Пример: </a:t>
            </a:r>
            <a:r>
              <a:rPr lang="bg-BG" sz="4000" dirty="0"/>
              <a:t>Резервно копие на </a:t>
            </a:r>
            <a:r>
              <a:rPr lang="en-US" sz="4000" dirty="0"/>
              <a:t>WordPress</a:t>
            </a:r>
            <a:r>
              <a:rPr lang="bg-BG" sz="4000" dirty="0"/>
              <a:t> сайт</a:t>
            </a:r>
          </a:p>
        </p:txBody>
      </p:sp>
      <p:sp>
        <p:nvSpPr>
          <p:cNvPr id="444418" name="Slide Title"/>
          <p:cNvSpPr>
            <a:spLocks noGrp="1" noChangeArrowheads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/>
              <a:t>Съдържание</a:t>
            </a:r>
            <a:endParaRPr lang="bg-BG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469869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6605"/>
    </mc:Choice>
    <mc:Fallback xmlns="">
      <p:transition spd="slow" advClick="0" advTm="6605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400" dirty="0"/>
              <a:t>Повишаване на сигурността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Рискове и методи на защита</a:t>
            </a:r>
            <a:endParaRPr lang="en-US" sz="6000" dirty="0"/>
          </a:p>
        </p:txBody>
      </p:sp>
      <p:pic>
        <p:nvPicPr>
          <p:cNvPr id="2" name="Picture 1" descr="a_clean_glossy_3d_isometric_like_vector_3d_illust_batch_3.png">
            <a:extLst>
              <a:ext uri="{FF2B5EF4-FFF2-40B4-BE49-F238E27FC236}">
                <a16:creationId xmlns:a16="http://schemas.microsoft.com/office/drawing/2014/main" id="{19689F0F-0255-3F5F-731F-06B12238C5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6000" y="1269000"/>
            <a:ext cx="2700000" cy="27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21944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7539323" cy="5528766"/>
          </a:xfrm>
        </p:spPr>
        <p:txBody>
          <a:bodyPr>
            <a:normAutofit/>
          </a:bodyPr>
          <a:lstStyle/>
          <a:p>
            <a:r>
              <a:rPr lang="bg-BG" sz="2800" b="1" dirty="0"/>
              <a:t>Съдържанието</a:t>
            </a:r>
            <a:r>
              <a:rPr lang="bg-BG" sz="2800" dirty="0"/>
              <a:t>, </a:t>
            </a:r>
            <a:r>
              <a:rPr lang="bg-BG" sz="2800" b="1" dirty="0"/>
              <a:t>потребителите</a:t>
            </a:r>
            <a:r>
              <a:rPr lang="bg-BG" sz="2800" dirty="0"/>
              <a:t>, </a:t>
            </a:r>
            <a:r>
              <a:rPr lang="bg-BG" sz="2800" b="1" dirty="0"/>
              <a:t>темите</a:t>
            </a:r>
            <a:r>
              <a:rPr lang="bg-BG" sz="2800" dirty="0"/>
              <a:t> и </a:t>
            </a:r>
            <a:r>
              <a:rPr lang="bg-BG" sz="2800" b="1" dirty="0"/>
              <a:t>добавките</a:t>
            </a:r>
            <a:r>
              <a:rPr lang="bg-BG" sz="2800" dirty="0"/>
              <a:t> се </a:t>
            </a:r>
            <a:r>
              <a:rPr lang="bg-BG" sz="2800" b="1" dirty="0">
                <a:solidFill>
                  <a:schemeClr val="bg1"/>
                </a:solidFill>
              </a:rPr>
              <a:t>управляват</a:t>
            </a:r>
            <a:r>
              <a:rPr lang="bg-BG" sz="2800" dirty="0"/>
              <a:t> от </a:t>
            </a:r>
            <a:r>
              <a:rPr lang="bg-BG" sz="2800" b="1" dirty="0">
                <a:solidFill>
                  <a:schemeClr val="bg1"/>
                </a:solidFill>
              </a:rPr>
              <a:t>едно място</a:t>
            </a:r>
          </a:p>
          <a:p>
            <a:r>
              <a:rPr lang="bg-BG" sz="2800" b="1" dirty="0"/>
              <a:t>Публичният код </a:t>
            </a:r>
            <a:r>
              <a:rPr lang="bg-BG" sz="2800" dirty="0"/>
              <a:t>и </a:t>
            </a:r>
            <a:r>
              <a:rPr lang="bg-BG" sz="2800" b="1" dirty="0"/>
              <a:t>популярността</a:t>
            </a:r>
            <a:r>
              <a:rPr lang="bg-BG" sz="2800" dirty="0"/>
              <a:t> на </a:t>
            </a:r>
            <a:r>
              <a:rPr lang="bg-BG" sz="2800" b="1" dirty="0"/>
              <a:t>системата</a:t>
            </a:r>
            <a:r>
              <a:rPr lang="bg-BG" sz="2800" dirty="0"/>
              <a:t> </a:t>
            </a:r>
            <a:r>
              <a:rPr lang="bg-BG" sz="2800" b="1" dirty="0">
                <a:solidFill>
                  <a:schemeClr val="bg1"/>
                </a:solidFill>
              </a:rPr>
              <a:t>улесняват</a:t>
            </a:r>
            <a:r>
              <a:rPr lang="bg-BG" sz="2800" dirty="0"/>
              <a:t> </a:t>
            </a:r>
            <a:r>
              <a:rPr lang="bg-BG" sz="2800" b="1" dirty="0"/>
              <a:t>намирането</a:t>
            </a:r>
            <a:r>
              <a:rPr lang="bg-BG" sz="2800" dirty="0"/>
              <a:t> на </a:t>
            </a:r>
            <a:r>
              <a:rPr lang="bg-BG" sz="2800" b="1" dirty="0">
                <a:solidFill>
                  <a:schemeClr val="bg1"/>
                </a:solidFill>
              </a:rPr>
              <a:t>известни слабости</a:t>
            </a:r>
          </a:p>
          <a:p>
            <a:r>
              <a:rPr lang="bg-BG" sz="2800" b="1" dirty="0">
                <a:solidFill>
                  <a:schemeClr val="bg1"/>
                </a:solidFill>
              </a:rPr>
              <a:t>Остарели компоненти </a:t>
            </a:r>
            <a:r>
              <a:rPr lang="bg-BG" sz="2800" dirty="0"/>
              <a:t>или </a:t>
            </a:r>
            <a:r>
              <a:rPr lang="bg-BG" sz="2800" b="1" dirty="0">
                <a:solidFill>
                  <a:schemeClr val="bg1"/>
                </a:solidFill>
              </a:rPr>
              <a:t>неправилни настройки</a:t>
            </a:r>
            <a:r>
              <a:rPr lang="bg-BG" sz="2800" dirty="0"/>
              <a:t> могат да доведат до </a:t>
            </a:r>
            <a:r>
              <a:rPr lang="bg-BG" sz="2800" b="1" dirty="0"/>
              <a:t>проблем</a:t>
            </a:r>
          </a:p>
          <a:p>
            <a:r>
              <a:rPr lang="bg-BG" sz="2800" b="1" dirty="0"/>
              <a:t>Рискът</a:t>
            </a:r>
            <a:r>
              <a:rPr lang="bg-BG" sz="2800" dirty="0"/>
              <a:t> се </a:t>
            </a:r>
            <a:r>
              <a:rPr lang="bg-BG" sz="2800" b="1" dirty="0"/>
              <a:t>увеличава</a:t>
            </a:r>
            <a:r>
              <a:rPr lang="bg-BG" sz="2800" dirty="0"/>
              <a:t> при </a:t>
            </a:r>
            <a:r>
              <a:rPr lang="bg-BG" sz="2800" b="1" dirty="0">
                <a:solidFill>
                  <a:schemeClr val="bg1"/>
                </a:solidFill>
              </a:rPr>
              <a:t>много потребители </a:t>
            </a:r>
            <a:r>
              <a:rPr lang="bg-BG" sz="2800" dirty="0"/>
              <a:t>и </a:t>
            </a:r>
            <a:r>
              <a:rPr lang="bg-BG" sz="2800" b="1" dirty="0">
                <a:solidFill>
                  <a:schemeClr val="bg1"/>
                </a:solidFill>
              </a:rPr>
              <a:t>недостатъчна поддръжка</a:t>
            </a:r>
          </a:p>
          <a:p>
            <a:endParaRPr lang="bg-BG" sz="2800" b="1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Рискове при използване на </a:t>
            </a:r>
            <a:r>
              <a:rPr lang="en-US" dirty="0"/>
              <a:t>CMS</a:t>
            </a:r>
          </a:p>
        </p:txBody>
      </p:sp>
      <p:pic>
        <p:nvPicPr>
          <p:cNvPr id="3" name="Picture 2" descr="a_colorful_3d_isometric_3d_styled_cybersecurity_wa_batch_2.png">
            <a:extLst>
              <a:ext uri="{FF2B5EF4-FFF2-40B4-BE49-F238E27FC236}">
                <a16:creationId xmlns:a16="http://schemas.microsoft.com/office/drawing/2014/main" id="{B94CE88D-4B81-8168-10C3-ECFD9709E2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9725" y="2933783"/>
            <a:ext cx="3845168" cy="3845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69551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D0198E8-675F-BC3F-3947-3C5B0E6F60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5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8C5A8B-F2EC-68B1-F209-07CC2CBF01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710598" cy="5528766"/>
          </a:xfrm>
        </p:spPr>
        <p:txBody>
          <a:bodyPr>
            <a:normAutofit/>
          </a:bodyPr>
          <a:lstStyle/>
          <a:p>
            <a:r>
              <a:rPr lang="bg-BG" sz="2800" b="1" dirty="0">
                <a:solidFill>
                  <a:schemeClr val="bg1"/>
                </a:solidFill>
              </a:rPr>
              <a:t>Слаби пароли </a:t>
            </a:r>
            <a:r>
              <a:rPr lang="bg-BG" sz="2800" dirty="0"/>
              <a:t>и </a:t>
            </a:r>
            <a:r>
              <a:rPr lang="bg-BG" sz="2800" b="1" dirty="0">
                <a:solidFill>
                  <a:schemeClr val="bg1"/>
                </a:solidFill>
              </a:rPr>
              <a:t>споделени профили</a:t>
            </a:r>
          </a:p>
          <a:p>
            <a:r>
              <a:rPr lang="bg-BG" sz="2800" b="1" dirty="0">
                <a:solidFill>
                  <a:schemeClr val="bg1"/>
                </a:solidFill>
              </a:rPr>
              <a:t>Стари версии </a:t>
            </a:r>
            <a:r>
              <a:rPr lang="bg-BG" sz="2800" dirty="0"/>
              <a:t>на </a:t>
            </a:r>
            <a:r>
              <a:rPr lang="en-GB" sz="2800" b="1" dirty="0"/>
              <a:t>WordPress</a:t>
            </a:r>
            <a:r>
              <a:rPr lang="en-GB" sz="2800" dirty="0"/>
              <a:t>, </a:t>
            </a:r>
            <a:r>
              <a:rPr lang="bg-BG" sz="2800" b="1" dirty="0"/>
              <a:t>теми</a:t>
            </a:r>
            <a:r>
              <a:rPr lang="bg-BG" sz="2800" dirty="0"/>
              <a:t> и </a:t>
            </a:r>
            <a:r>
              <a:rPr lang="bg-BG" sz="2800" b="1" dirty="0"/>
              <a:t>добавки</a:t>
            </a:r>
          </a:p>
          <a:p>
            <a:r>
              <a:rPr lang="bg-BG" sz="2800" b="1" dirty="0">
                <a:solidFill>
                  <a:schemeClr val="bg1"/>
                </a:solidFill>
              </a:rPr>
              <a:t>Ненужни </a:t>
            </a:r>
            <a:r>
              <a:rPr lang="bg-BG" sz="2800" b="1" dirty="0"/>
              <a:t>добавки</a:t>
            </a:r>
            <a:r>
              <a:rPr lang="bg-BG" sz="2800" b="1" dirty="0">
                <a:solidFill>
                  <a:schemeClr val="bg1"/>
                </a:solidFill>
              </a:rPr>
              <a:t> </a:t>
            </a:r>
            <a:r>
              <a:rPr lang="bg-BG" sz="2800" dirty="0"/>
              <a:t>или </a:t>
            </a:r>
            <a:r>
              <a:rPr lang="bg-BG" sz="2800" b="1" dirty="0"/>
              <a:t>компоненти</a:t>
            </a:r>
            <a:r>
              <a:rPr lang="bg-BG" sz="2800" dirty="0"/>
              <a:t> от </a:t>
            </a:r>
            <a:r>
              <a:rPr lang="bg-BG" sz="2800" b="1" dirty="0">
                <a:solidFill>
                  <a:schemeClr val="bg1"/>
                </a:solidFill>
              </a:rPr>
              <a:t>ненадежден източник</a:t>
            </a:r>
          </a:p>
          <a:p>
            <a:r>
              <a:rPr lang="bg-BG" sz="2800" b="1" dirty="0">
                <a:solidFill>
                  <a:schemeClr val="bg1"/>
                </a:solidFill>
              </a:rPr>
              <a:t>Липса</a:t>
            </a:r>
            <a:r>
              <a:rPr lang="bg-BG" sz="2800" dirty="0"/>
              <a:t> на </a:t>
            </a:r>
            <a:r>
              <a:rPr lang="bg-BG" sz="2800" b="1" dirty="0"/>
              <a:t>резервно копие </a:t>
            </a:r>
            <a:r>
              <a:rPr lang="bg-BG" sz="2800" dirty="0"/>
              <a:t>преди </a:t>
            </a:r>
            <a:r>
              <a:rPr lang="bg-BG" sz="2800" b="1" dirty="0"/>
              <a:t>промяна</a:t>
            </a:r>
            <a:r>
              <a:rPr lang="bg-BG" sz="2800" dirty="0"/>
              <a:t>, </a:t>
            </a:r>
            <a:r>
              <a:rPr lang="bg-BG" sz="2800" b="1" dirty="0"/>
              <a:t>актуализация</a:t>
            </a:r>
            <a:r>
              <a:rPr lang="bg-BG" sz="2800" dirty="0"/>
              <a:t> или </a:t>
            </a:r>
            <a:r>
              <a:rPr lang="bg-BG" sz="2800" b="1" dirty="0"/>
              <a:t>инсталиране</a:t>
            </a:r>
            <a:r>
              <a:rPr lang="bg-BG" sz="2800" dirty="0"/>
              <a:t> на </a:t>
            </a:r>
            <a:r>
              <a:rPr lang="bg-BG" sz="2800" b="1" dirty="0"/>
              <a:t>добавка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FCF43E8-B36C-9183-3BAD-13092EAF3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Основни източници на риск</a:t>
            </a:r>
            <a:endParaRPr lang="en-BG" dirty="0"/>
          </a:p>
        </p:txBody>
      </p:sp>
      <p:pic>
        <p:nvPicPr>
          <p:cNvPr id="5" name="Picture 4" descr="a_clean_glossy_3d_isometric_illustration_style_co_5_batch_5.png">
            <a:extLst>
              <a:ext uri="{FF2B5EF4-FFF2-40B4-BE49-F238E27FC236}">
                <a16:creationId xmlns:a16="http://schemas.microsoft.com/office/drawing/2014/main" id="{903CB2D0-5E62-830D-9432-53D5A5A520E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2791"/>
          <a:stretch/>
        </p:blipFill>
        <p:spPr>
          <a:xfrm>
            <a:off x="4416302" y="3688950"/>
            <a:ext cx="3110828" cy="302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16792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5E211A3-4808-090D-2019-4C75945334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6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7D7DFD-B024-BA5D-5DA9-A396E287D1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b="1" dirty="0">
                <a:solidFill>
                  <a:schemeClr val="bg1"/>
                </a:solidFill>
              </a:rPr>
              <a:t>Неоторизиран достъп </a:t>
            </a:r>
            <a:r>
              <a:rPr lang="bg-BG" dirty="0"/>
              <a:t>до </a:t>
            </a:r>
            <a:r>
              <a:rPr lang="bg-BG" b="1" dirty="0"/>
              <a:t>административния панел</a:t>
            </a:r>
          </a:p>
          <a:p>
            <a:r>
              <a:rPr lang="bg-BG" b="1" dirty="0">
                <a:solidFill>
                  <a:schemeClr val="bg1"/>
                </a:solidFill>
              </a:rPr>
              <a:t>Промяна</a:t>
            </a:r>
            <a:r>
              <a:rPr lang="bg-BG" dirty="0"/>
              <a:t> или </a:t>
            </a:r>
            <a:r>
              <a:rPr lang="bg-BG" b="1" dirty="0">
                <a:solidFill>
                  <a:schemeClr val="bg1"/>
                </a:solidFill>
              </a:rPr>
              <a:t>изтриване</a:t>
            </a:r>
            <a:r>
              <a:rPr lang="bg-BG" dirty="0"/>
              <a:t> на </a:t>
            </a:r>
            <a:r>
              <a:rPr lang="bg-BG" b="1" dirty="0"/>
              <a:t>съдържание</a:t>
            </a:r>
          </a:p>
          <a:p>
            <a:r>
              <a:rPr lang="bg-BG" b="1" dirty="0">
                <a:solidFill>
                  <a:schemeClr val="bg1"/>
                </a:solidFill>
              </a:rPr>
              <a:t>Спиране</a:t>
            </a:r>
            <a:r>
              <a:rPr lang="bg-BG" dirty="0"/>
              <a:t> или </a:t>
            </a:r>
            <a:r>
              <a:rPr lang="bg-BG" b="1" dirty="0">
                <a:solidFill>
                  <a:schemeClr val="bg1"/>
                </a:solidFill>
              </a:rPr>
              <a:t>забавяне</a:t>
            </a:r>
            <a:r>
              <a:rPr lang="bg-BG" dirty="0"/>
              <a:t> на </a:t>
            </a:r>
            <a:r>
              <a:rPr lang="bg-BG" b="1" dirty="0"/>
              <a:t>уеб сайта</a:t>
            </a:r>
          </a:p>
          <a:p>
            <a:r>
              <a:rPr lang="bg-BG" b="1" dirty="0">
                <a:solidFill>
                  <a:schemeClr val="bg1"/>
                </a:solidFill>
              </a:rPr>
              <a:t>Загуба на информация </a:t>
            </a:r>
            <a:r>
              <a:rPr lang="bg-BG" dirty="0"/>
              <a:t>и </a:t>
            </a:r>
            <a:r>
              <a:rPr lang="bg-BG" b="1" dirty="0"/>
              <a:t>доверие</a:t>
            </a:r>
            <a:r>
              <a:rPr lang="bg-BG" dirty="0"/>
              <a:t> към </a:t>
            </a:r>
            <a:r>
              <a:rPr lang="bg-BG" b="1" dirty="0"/>
              <a:t>уеб сайта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1947260-3189-E5BF-8D8F-CF4623D4D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sz="4000" b="1" dirty="0">
                <a:latin typeface="Calibri"/>
              </a:rPr>
              <a:t>Последици от проблем със сигурността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1D5C6FD-CDE0-7B1C-BA7D-8448254B693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769"/>
          <a:stretch/>
        </p:blipFill>
        <p:spPr>
          <a:xfrm>
            <a:off x="3621059" y="3834203"/>
            <a:ext cx="4701314" cy="2890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82632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65BA703-FD66-228C-F6E7-78E8E55E06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7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85EEAF-DFC4-AEFB-4589-9A215AD7416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665598" cy="5528766"/>
          </a:xfrm>
        </p:spPr>
        <p:txBody>
          <a:bodyPr>
            <a:normAutofit/>
          </a:bodyPr>
          <a:lstStyle/>
          <a:p>
            <a:r>
              <a:rPr lang="bg-BG" sz="3000" b="1" dirty="0"/>
              <a:t>Защита</a:t>
            </a:r>
            <a:r>
              <a:rPr lang="bg-BG" sz="3000" dirty="0"/>
              <a:t> на </a:t>
            </a:r>
            <a:r>
              <a:rPr lang="bg-BG" sz="3000" b="1" dirty="0"/>
              <a:t>административния панел </a:t>
            </a:r>
            <a:r>
              <a:rPr lang="bg-BG" sz="3000" dirty="0"/>
              <a:t>чрез </a:t>
            </a:r>
            <a:r>
              <a:rPr lang="bg-BG" sz="3000" b="1" dirty="0">
                <a:solidFill>
                  <a:schemeClr val="bg1"/>
                </a:solidFill>
              </a:rPr>
              <a:t>силни пароли </a:t>
            </a:r>
            <a:r>
              <a:rPr lang="bg-BG" sz="3000" dirty="0"/>
              <a:t>и </a:t>
            </a:r>
            <a:r>
              <a:rPr lang="bg-BG" sz="3000" b="1" dirty="0">
                <a:solidFill>
                  <a:schemeClr val="bg1"/>
                </a:solidFill>
              </a:rPr>
              <a:t>ограничен достъп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Редовно актуализиране </a:t>
            </a:r>
            <a:r>
              <a:rPr lang="bg-BG" sz="3000" dirty="0"/>
              <a:t>на </a:t>
            </a:r>
            <a:r>
              <a:rPr lang="en-US" sz="3000" b="1" dirty="0"/>
              <a:t>CMS</a:t>
            </a:r>
            <a:r>
              <a:rPr lang="bg-BG" sz="3000" dirty="0"/>
              <a:t>, </a:t>
            </a:r>
            <a:r>
              <a:rPr lang="bg-BG" sz="3000" b="1" dirty="0"/>
              <a:t>темите</a:t>
            </a:r>
            <a:r>
              <a:rPr lang="bg-BG" sz="3000" dirty="0"/>
              <a:t> и </a:t>
            </a:r>
            <a:r>
              <a:rPr lang="bg-BG" sz="3000" b="1" dirty="0"/>
              <a:t>добавките</a:t>
            </a:r>
          </a:p>
          <a:p>
            <a:r>
              <a:rPr lang="bg-BG" sz="3000" b="1" dirty="0"/>
              <a:t>Инсталиране</a:t>
            </a:r>
            <a:r>
              <a:rPr lang="bg-BG" sz="3000" dirty="0"/>
              <a:t> </a:t>
            </a:r>
            <a:r>
              <a:rPr lang="bg-BG" sz="3000" b="1" dirty="0"/>
              <a:t>само </a:t>
            </a:r>
            <a:r>
              <a:rPr lang="bg-BG" sz="3000" dirty="0"/>
              <a:t>на</a:t>
            </a:r>
            <a:r>
              <a:rPr lang="bg-BG" sz="3000" b="1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нужни</a:t>
            </a:r>
            <a:r>
              <a:rPr lang="bg-BG" sz="3000" b="1" dirty="0"/>
              <a:t> </a:t>
            </a:r>
            <a:r>
              <a:rPr lang="bg-BG" sz="3000" dirty="0"/>
              <a:t>и </a:t>
            </a:r>
            <a:r>
              <a:rPr lang="bg-BG" sz="3000" b="1" dirty="0">
                <a:solidFill>
                  <a:schemeClr val="bg1"/>
                </a:solidFill>
              </a:rPr>
              <a:t>надеждни</a:t>
            </a:r>
            <a:r>
              <a:rPr lang="bg-BG" sz="3000" dirty="0"/>
              <a:t> </a:t>
            </a:r>
            <a:r>
              <a:rPr lang="bg-BG" sz="3000" b="1" dirty="0"/>
              <a:t>компоненти</a:t>
            </a:r>
          </a:p>
          <a:p>
            <a:r>
              <a:rPr lang="bg-BG" sz="3000" b="1" dirty="0"/>
              <a:t>Създаване</a:t>
            </a:r>
            <a:r>
              <a:rPr lang="bg-BG" sz="3000" dirty="0"/>
              <a:t> на </a:t>
            </a:r>
            <a:r>
              <a:rPr lang="bg-BG" sz="3000" b="1" dirty="0">
                <a:solidFill>
                  <a:schemeClr val="bg1"/>
                </a:solidFill>
              </a:rPr>
              <a:t>резервно копие</a:t>
            </a:r>
            <a:r>
              <a:rPr lang="bg-BG" sz="3000" dirty="0"/>
              <a:t> преди </a:t>
            </a:r>
            <a:r>
              <a:rPr lang="bg-BG" sz="3000" b="1" dirty="0"/>
              <a:t>важни промени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0CCC30E-335D-9FB8-2BC1-E9F7C5041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Методи за защита на </a:t>
            </a:r>
            <a:r>
              <a:rPr lang="en-US" dirty="0"/>
              <a:t>CMS </a:t>
            </a:r>
            <a:r>
              <a:rPr lang="bg-BG" dirty="0"/>
              <a:t>сайт</a:t>
            </a:r>
            <a:endParaRPr lang="en-BG" dirty="0"/>
          </a:p>
        </p:txBody>
      </p:sp>
      <p:pic>
        <p:nvPicPr>
          <p:cNvPr id="5" name="Picture 4" descr="a_high_quality_3d_isometric_vector_illustration_on_6_batch_6.png">
            <a:extLst>
              <a:ext uri="{FF2B5EF4-FFF2-40B4-BE49-F238E27FC236}">
                <a16:creationId xmlns:a16="http://schemas.microsoft.com/office/drawing/2014/main" id="{3733486E-4FE5-15A1-4E86-B91DD41ABB7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4604"/>
          <a:stretch/>
        </p:blipFill>
        <p:spPr>
          <a:xfrm>
            <a:off x="4596000" y="3960508"/>
            <a:ext cx="2999999" cy="2861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45299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C188BB7-C4E6-D29B-7472-4E6B2C5095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8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6AB2D8-E3E0-175B-35E7-6FB19B8E628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000" b="1" dirty="0">
                <a:solidFill>
                  <a:schemeClr val="bg1"/>
                </a:solidFill>
              </a:rPr>
              <a:t>Актуализациите</a:t>
            </a:r>
            <a:r>
              <a:rPr lang="bg-BG" sz="3000" dirty="0"/>
              <a:t> </a:t>
            </a:r>
            <a:r>
              <a:rPr lang="bg-BG" sz="3000" b="1" dirty="0"/>
              <a:t>премахват</a:t>
            </a:r>
            <a:r>
              <a:rPr lang="bg-BG" sz="3000" dirty="0"/>
              <a:t> </a:t>
            </a:r>
            <a:r>
              <a:rPr lang="bg-BG" sz="3000" b="1" dirty="0"/>
              <a:t>открити </a:t>
            </a:r>
            <a:r>
              <a:rPr lang="bg-BG" sz="3000" b="1" dirty="0">
                <a:solidFill>
                  <a:schemeClr val="bg1"/>
                </a:solidFill>
              </a:rPr>
              <a:t>слабости</a:t>
            </a:r>
            <a:r>
              <a:rPr lang="bg-BG" sz="3000" b="1" dirty="0"/>
              <a:t> </a:t>
            </a:r>
            <a:r>
              <a:rPr lang="bg-BG" sz="3000" dirty="0"/>
              <a:t>и </a:t>
            </a:r>
            <a:r>
              <a:rPr lang="bg-BG" sz="3000" b="1" dirty="0">
                <a:solidFill>
                  <a:schemeClr val="bg1"/>
                </a:solidFill>
              </a:rPr>
              <a:t>грешки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Преди актуализация </a:t>
            </a:r>
            <a:r>
              <a:rPr lang="bg-BG" sz="3000" b="1" dirty="0"/>
              <a:t>се създава </a:t>
            </a:r>
            <a:r>
              <a:rPr lang="bg-BG" sz="3000" b="1" dirty="0">
                <a:solidFill>
                  <a:schemeClr val="bg1"/>
                </a:solidFill>
              </a:rPr>
              <a:t>резервно копие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След актуализация </a:t>
            </a:r>
            <a:r>
              <a:rPr lang="bg-BG" sz="3000" b="1" dirty="0"/>
              <a:t>се проверяват </a:t>
            </a:r>
            <a:r>
              <a:rPr lang="bg-BG" sz="3000" b="1" dirty="0">
                <a:solidFill>
                  <a:schemeClr val="bg1"/>
                </a:solidFill>
              </a:rPr>
              <a:t>публичната част </a:t>
            </a:r>
            <a:r>
              <a:rPr lang="bg-BG" sz="3000" dirty="0"/>
              <a:t>и </a:t>
            </a:r>
            <a:r>
              <a:rPr lang="bg-BG" sz="3000" b="1" dirty="0">
                <a:solidFill>
                  <a:schemeClr val="bg1"/>
                </a:solidFill>
              </a:rPr>
              <a:t>административният панел</a:t>
            </a:r>
          </a:p>
          <a:p>
            <a:r>
              <a:rPr lang="bg-BG" sz="3000" b="1" dirty="0"/>
              <a:t>Ненужните теми </a:t>
            </a:r>
            <a:r>
              <a:rPr lang="bg-BG" sz="3000" dirty="0"/>
              <a:t>и </a:t>
            </a:r>
            <a:r>
              <a:rPr lang="bg-BG" sz="3000" b="1" dirty="0"/>
              <a:t>добавки</a:t>
            </a:r>
            <a:r>
              <a:rPr lang="bg-BG" sz="3000" dirty="0"/>
              <a:t> се </a:t>
            </a:r>
            <a:r>
              <a:rPr lang="bg-BG" sz="3000" b="1" dirty="0"/>
              <a:t>деактивират</a:t>
            </a:r>
            <a:r>
              <a:rPr lang="bg-BG" sz="3000" dirty="0"/>
              <a:t> и </a:t>
            </a:r>
            <a:r>
              <a:rPr lang="bg-BG" sz="3000" b="1" dirty="0"/>
              <a:t>премахват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5794BD0-DA0B-D838-620B-894BD2AC9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Актуализации и поддръжка</a:t>
            </a:r>
            <a:endParaRPr lang="en-BG" dirty="0"/>
          </a:p>
        </p:txBody>
      </p:sp>
      <p:pic>
        <p:nvPicPr>
          <p:cNvPr id="5" name="Picture 4" descr="a_colorful_3d_isometric_rounded_vector_illustratio_batch_4.png">
            <a:extLst>
              <a:ext uri="{FF2B5EF4-FFF2-40B4-BE49-F238E27FC236}">
                <a16:creationId xmlns:a16="http://schemas.microsoft.com/office/drawing/2014/main" id="{FEB95CA0-566A-59C1-5C85-BF0251AAE3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5759" y="4090817"/>
            <a:ext cx="2700482" cy="2700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8330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AA892E7-6B06-2D1A-C5DF-520BA78CE6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9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BB688E-B0E9-7564-489A-107BDFC9951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2800" b="1" dirty="0"/>
              <a:t>Всеки потребител </a:t>
            </a:r>
            <a:r>
              <a:rPr lang="bg-BG" sz="2800" dirty="0"/>
              <a:t>използва </a:t>
            </a:r>
            <a:r>
              <a:rPr lang="bg-BG" sz="2800" b="1" dirty="0">
                <a:solidFill>
                  <a:schemeClr val="bg1"/>
                </a:solidFill>
              </a:rPr>
              <a:t>собствен профил</a:t>
            </a:r>
          </a:p>
          <a:p>
            <a:r>
              <a:rPr lang="bg-BG" sz="2800" b="1" dirty="0">
                <a:solidFill>
                  <a:schemeClr val="bg1"/>
                </a:solidFill>
              </a:rPr>
              <a:t>Администраторски права </a:t>
            </a:r>
            <a:r>
              <a:rPr lang="bg-BG" sz="2800" dirty="0"/>
              <a:t>се </a:t>
            </a:r>
            <a:r>
              <a:rPr lang="bg-BG" sz="2800" b="1" dirty="0"/>
              <a:t>дават</a:t>
            </a:r>
            <a:r>
              <a:rPr lang="bg-BG" sz="2800" dirty="0"/>
              <a:t> </a:t>
            </a:r>
            <a:r>
              <a:rPr lang="bg-BG" sz="2800" b="1" dirty="0"/>
              <a:t>само</a:t>
            </a:r>
            <a:r>
              <a:rPr lang="bg-BG" sz="2800" dirty="0"/>
              <a:t> при </a:t>
            </a:r>
            <a:r>
              <a:rPr lang="bg-BG" sz="2800" b="1" dirty="0">
                <a:solidFill>
                  <a:schemeClr val="bg1"/>
                </a:solidFill>
              </a:rPr>
              <a:t>необходимост</a:t>
            </a:r>
          </a:p>
          <a:p>
            <a:r>
              <a:rPr lang="bg-BG" sz="2800" b="1" dirty="0"/>
              <a:t>Паролите</a:t>
            </a:r>
            <a:r>
              <a:rPr lang="bg-BG" sz="2800" dirty="0"/>
              <a:t> са </a:t>
            </a:r>
            <a:r>
              <a:rPr lang="bg-BG" sz="2800" b="1" dirty="0">
                <a:solidFill>
                  <a:schemeClr val="bg1"/>
                </a:solidFill>
              </a:rPr>
              <a:t>дълги</a:t>
            </a:r>
            <a:r>
              <a:rPr lang="bg-BG" sz="2800" dirty="0"/>
              <a:t>, </a:t>
            </a:r>
            <a:r>
              <a:rPr lang="bg-BG" sz="2800" b="1" dirty="0">
                <a:solidFill>
                  <a:schemeClr val="bg1"/>
                </a:solidFill>
              </a:rPr>
              <a:t>различни</a:t>
            </a:r>
            <a:r>
              <a:rPr lang="bg-BG" sz="2800" dirty="0"/>
              <a:t> и </a:t>
            </a:r>
            <a:r>
              <a:rPr lang="bg-BG" sz="2800" b="1" dirty="0">
                <a:solidFill>
                  <a:schemeClr val="bg1"/>
                </a:solidFill>
              </a:rPr>
              <a:t>трудни</a:t>
            </a:r>
            <a:r>
              <a:rPr lang="bg-BG" sz="2800" dirty="0"/>
              <a:t> </a:t>
            </a:r>
            <a:r>
              <a:rPr lang="bg-BG" sz="2800" b="1" dirty="0">
                <a:solidFill>
                  <a:schemeClr val="bg1"/>
                </a:solidFill>
              </a:rPr>
              <a:t>за отгатване</a:t>
            </a:r>
          </a:p>
          <a:p>
            <a:r>
              <a:rPr lang="bg-BG" sz="2800" b="1" dirty="0"/>
              <a:t>Неактивните потребители </a:t>
            </a:r>
            <a:r>
              <a:rPr lang="bg-BG" sz="2800" dirty="0"/>
              <a:t>се </a:t>
            </a:r>
            <a:r>
              <a:rPr lang="bg-BG" sz="2800" b="1" dirty="0">
                <a:solidFill>
                  <a:schemeClr val="bg1"/>
                </a:solidFill>
              </a:rPr>
              <a:t>преглеждат</a:t>
            </a:r>
            <a:r>
              <a:rPr lang="bg-BG" sz="2800" dirty="0"/>
              <a:t> и </a:t>
            </a:r>
            <a:r>
              <a:rPr lang="bg-BG" sz="2800" b="1" dirty="0">
                <a:solidFill>
                  <a:schemeClr val="bg1"/>
                </a:solidFill>
              </a:rPr>
              <a:t>премахват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5CF37B2-317A-726B-91B4-66EE9A3AE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Потребители и права за достъп</a:t>
            </a:r>
            <a:endParaRPr lang="en-BG" dirty="0"/>
          </a:p>
        </p:txBody>
      </p:sp>
      <p:pic>
        <p:nvPicPr>
          <p:cNvPr id="5" name="Picture 4" descr="a_clean_colorful_3d_isometric_3d_rendered_cyberse_batch_5.png">
            <a:extLst>
              <a:ext uri="{FF2B5EF4-FFF2-40B4-BE49-F238E27FC236}">
                <a16:creationId xmlns:a16="http://schemas.microsoft.com/office/drawing/2014/main" id="{36063C83-9333-E155-A87D-62E11515D1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3500" y="3730373"/>
            <a:ext cx="2925000" cy="292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74326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000" dirty="0"/>
              <a:t>Значение, съдържание и методи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4400" dirty="0"/>
              <a:t>Резервни копия</a:t>
            </a:r>
            <a:endParaRPr lang="en-US" sz="4400" dirty="0"/>
          </a:p>
        </p:txBody>
      </p:sp>
      <p:pic>
        <p:nvPicPr>
          <p:cNvPr id="2" name="Picture 1" descr="a_clean_3d_style_vector_illustration_icon_scene_on_batch_6.png">
            <a:extLst>
              <a:ext uri="{FF2B5EF4-FFF2-40B4-BE49-F238E27FC236}">
                <a16:creationId xmlns:a16="http://schemas.microsoft.com/office/drawing/2014/main" id="{BA9CE766-6A79-A623-DE68-D6DC33C9EC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1000" y="1224000"/>
            <a:ext cx="2970000" cy="297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221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562628" cy="5528766"/>
          </a:xfrm>
        </p:spPr>
        <p:txBody>
          <a:bodyPr>
            <a:normAutofit/>
          </a:bodyPr>
          <a:lstStyle/>
          <a:p>
            <a:r>
              <a:rPr lang="bg-BG" sz="3000" b="1" dirty="0">
                <a:solidFill>
                  <a:schemeClr val="bg1"/>
                </a:solidFill>
              </a:rPr>
              <a:t>Резервно копие </a:t>
            </a:r>
            <a:r>
              <a:rPr lang="bg-BG" sz="3000" b="1" dirty="0"/>
              <a:t>(</a:t>
            </a:r>
            <a:r>
              <a:rPr lang="en-GB" sz="3000" b="1" dirty="0"/>
              <a:t>backup / </a:t>
            </a:r>
            <a:r>
              <a:rPr lang="bg-BG" sz="3000" b="1" dirty="0"/>
              <a:t>бекъп) </a:t>
            </a:r>
            <a:r>
              <a:rPr lang="bg-BG" sz="3000" dirty="0"/>
              <a:t>е </a:t>
            </a:r>
            <a:r>
              <a:rPr lang="bg-BG" sz="3000" b="1" dirty="0">
                <a:solidFill>
                  <a:schemeClr val="bg1"/>
                </a:solidFill>
              </a:rPr>
              <a:t>запазена версия </a:t>
            </a:r>
            <a:r>
              <a:rPr lang="bg-BG" sz="3000" dirty="0"/>
              <a:t>на</a:t>
            </a:r>
            <a:r>
              <a:rPr lang="en-US" sz="3000" dirty="0"/>
              <a:t> </a:t>
            </a:r>
            <a:r>
              <a:rPr lang="bg-BG" sz="3000" b="1" dirty="0"/>
              <a:t>уеб сайта </a:t>
            </a:r>
            <a:r>
              <a:rPr lang="bg-BG" sz="3000" dirty="0"/>
              <a:t>или на </a:t>
            </a:r>
            <a:r>
              <a:rPr lang="bg-BG" sz="3000" b="1" dirty="0">
                <a:solidFill>
                  <a:schemeClr val="bg1"/>
                </a:solidFill>
              </a:rPr>
              <a:t>част</a:t>
            </a:r>
            <a:r>
              <a:rPr lang="bg-BG" sz="3000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от него</a:t>
            </a:r>
          </a:p>
          <a:p>
            <a:r>
              <a:rPr lang="bg-BG" sz="3000" dirty="0"/>
              <a:t>Използва се при </a:t>
            </a:r>
            <a:r>
              <a:rPr lang="bg-BG" sz="3000" b="1" dirty="0"/>
              <a:t>грешка</a:t>
            </a:r>
            <a:r>
              <a:rPr lang="bg-BG" sz="3000" dirty="0"/>
              <a:t>, </a:t>
            </a:r>
            <a:r>
              <a:rPr lang="bg-BG" sz="3000" b="1" dirty="0"/>
              <a:t>загуба на данни</a:t>
            </a:r>
            <a:r>
              <a:rPr lang="bg-BG" sz="3000" dirty="0"/>
              <a:t> или </a:t>
            </a:r>
            <a:r>
              <a:rPr lang="bg-BG" sz="3000" b="1" dirty="0"/>
              <a:t>неуспешна актуализация</a:t>
            </a:r>
          </a:p>
          <a:p>
            <a:r>
              <a:rPr lang="bg-BG" sz="3000" dirty="0"/>
              <a:t>Позволява </a:t>
            </a:r>
            <a:r>
              <a:rPr lang="bg-BG" sz="3000" b="1" dirty="0">
                <a:solidFill>
                  <a:schemeClr val="bg1"/>
                </a:solidFill>
              </a:rPr>
              <a:t>възстановяване </a:t>
            </a:r>
            <a:r>
              <a:rPr lang="bg-BG" sz="3000" dirty="0"/>
              <a:t>до </a:t>
            </a:r>
            <a:r>
              <a:rPr lang="bg-BG" sz="3000" b="1" dirty="0"/>
              <a:t>по-ранно работещо състояние</a:t>
            </a:r>
          </a:p>
          <a:p>
            <a:r>
              <a:rPr lang="bg-BG" sz="3000" dirty="0"/>
              <a:t>Създава се </a:t>
            </a:r>
            <a:r>
              <a:rPr lang="bg-BG" sz="3000" b="1" dirty="0"/>
              <a:t>редовно</a:t>
            </a:r>
            <a:r>
              <a:rPr lang="bg-BG" sz="3000" dirty="0"/>
              <a:t> и </a:t>
            </a:r>
            <a:r>
              <a:rPr lang="bg-BG" sz="3000" b="1" dirty="0"/>
              <a:t>преди важни промени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Резервно копие на уеб сайт</a:t>
            </a:r>
            <a:endParaRPr lang="en-US" dirty="0"/>
          </a:p>
        </p:txBody>
      </p:sp>
      <p:pic>
        <p:nvPicPr>
          <p:cNvPr id="2" name="Picture 1" descr="a_clean_3d_isometric_ish_glossy_vector_illustrat_10_batch_10.png">
            <a:extLst>
              <a:ext uri="{FF2B5EF4-FFF2-40B4-BE49-F238E27FC236}">
                <a16:creationId xmlns:a16="http://schemas.microsoft.com/office/drawing/2014/main" id="{1CD157F0-223F-0EA3-2F39-936E5DB9432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6245"/>
          <a:stretch/>
        </p:blipFill>
        <p:spPr>
          <a:xfrm>
            <a:off x="4782779" y="4574626"/>
            <a:ext cx="2377874" cy="2229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96585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D0DFDC2-910D-93A0-1B46-2F26FB0C86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12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6F0DBA-A375-B3BE-D382-82D0994D5A3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000" b="1" dirty="0">
                <a:solidFill>
                  <a:schemeClr val="bg1"/>
                </a:solidFill>
              </a:rPr>
              <a:t>Съдържание</a:t>
            </a:r>
          </a:p>
          <a:p>
            <a:pPr lvl="1"/>
            <a:r>
              <a:rPr lang="bg-BG" sz="2800" b="1" dirty="0"/>
              <a:t>Публикации</a:t>
            </a:r>
            <a:r>
              <a:rPr lang="bg-BG" sz="2800" dirty="0"/>
              <a:t>, </a:t>
            </a:r>
            <a:r>
              <a:rPr lang="bg-BG" sz="2800" b="1" dirty="0"/>
              <a:t>страници</a:t>
            </a:r>
            <a:r>
              <a:rPr lang="bg-BG" sz="2800" dirty="0"/>
              <a:t>, </a:t>
            </a:r>
            <a:r>
              <a:rPr lang="bg-BG" sz="2800" b="1" dirty="0"/>
              <a:t>коментари</a:t>
            </a:r>
            <a:r>
              <a:rPr lang="bg-BG" sz="2800" dirty="0"/>
              <a:t>, </a:t>
            </a:r>
            <a:r>
              <a:rPr lang="bg-BG" sz="2800" b="1" dirty="0"/>
              <a:t>категории</a:t>
            </a:r>
            <a:r>
              <a:rPr lang="bg-BG" sz="2800" dirty="0"/>
              <a:t> и </a:t>
            </a:r>
            <a:r>
              <a:rPr lang="bg-BG" sz="2800" b="1" dirty="0"/>
              <a:t>етикети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Медийни файлове</a:t>
            </a:r>
          </a:p>
          <a:p>
            <a:pPr lvl="1"/>
            <a:r>
              <a:rPr lang="bg-BG" sz="2800" b="1" dirty="0"/>
              <a:t>Изображения</a:t>
            </a:r>
            <a:r>
              <a:rPr lang="bg-BG" sz="2800" dirty="0"/>
              <a:t>, </a:t>
            </a:r>
            <a:r>
              <a:rPr lang="bg-BG" sz="2800" b="1" dirty="0"/>
              <a:t>документи</a:t>
            </a:r>
            <a:r>
              <a:rPr lang="bg-BG" sz="2800" dirty="0"/>
              <a:t> и </a:t>
            </a:r>
            <a:r>
              <a:rPr lang="bg-BG" sz="2800" b="1" dirty="0"/>
              <a:t>други ресурси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Файлове на сайта</a:t>
            </a:r>
          </a:p>
          <a:p>
            <a:pPr lvl="1"/>
            <a:r>
              <a:rPr lang="bg-BG" sz="2800" b="1" dirty="0"/>
              <a:t>Тема</a:t>
            </a:r>
            <a:r>
              <a:rPr lang="bg-BG" sz="2800" dirty="0"/>
              <a:t>, </a:t>
            </a:r>
            <a:r>
              <a:rPr lang="bg-BG" sz="2800" b="1" dirty="0"/>
              <a:t>добавки</a:t>
            </a:r>
            <a:r>
              <a:rPr lang="bg-BG" sz="2800" dirty="0"/>
              <a:t> и </a:t>
            </a:r>
            <a:r>
              <a:rPr lang="bg-BG" sz="2800" b="1" dirty="0"/>
              <a:t>качени файлове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База данни</a:t>
            </a:r>
          </a:p>
          <a:p>
            <a:pPr lvl="1"/>
            <a:r>
              <a:rPr lang="bg-BG" sz="2800" b="1" dirty="0"/>
              <a:t>Настройки</a:t>
            </a:r>
            <a:r>
              <a:rPr lang="bg-BG" sz="2800" dirty="0"/>
              <a:t>, </a:t>
            </a:r>
            <a:r>
              <a:rPr lang="bg-BG" sz="2800" b="1" dirty="0"/>
              <a:t>потребители</a:t>
            </a:r>
            <a:r>
              <a:rPr lang="bg-BG" sz="2800" dirty="0"/>
              <a:t> и </a:t>
            </a:r>
            <a:r>
              <a:rPr lang="bg-BG" sz="2800" b="1" dirty="0"/>
              <a:t>записано съдържание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40FF1F6-9A26-B2A1-2B5B-C9D67A67E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Съдържание на резервното копие</a:t>
            </a:r>
            <a:endParaRPr lang="en-BG" dirty="0"/>
          </a:p>
        </p:txBody>
      </p:sp>
      <p:pic>
        <p:nvPicPr>
          <p:cNvPr id="5" name="Picture 4" descr="a_clean_colorful_3d_vector_isometric_like_infogra_batch_9.png">
            <a:extLst>
              <a:ext uri="{FF2B5EF4-FFF2-40B4-BE49-F238E27FC236}">
                <a16:creationId xmlns:a16="http://schemas.microsoft.com/office/drawing/2014/main" id="{EAA60FE6-9679-12D0-2868-6D30F23688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0192" y="4050407"/>
            <a:ext cx="2740892" cy="2740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79398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6820DB4-B667-E181-A233-FD2DFB1442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13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56AB00-C8FF-62C7-002A-57D0E8E4A5B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b="1" dirty="0"/>
              <a:t>Запазва</a:t>
            </a:r>
            <a:r>
              <a:rPr lang="bg-BG" dirty="0"/>
              <a:t> </a:t>
            </a:r>
            <a:r>
              <a:rPr lang="bg-BG" b="1" dirty="0">
                <a:solidFill>
                  <a:schemeClr val="bg1"/>
                </a:solidFill>
              </a:rPr>
              <a:t>публикации</a:t>
            </a:r>
            <a:r>
              <a:rPr lang="bg-BG" dirty="0"/>
              <a:t>, </a:t>
            </a:r>
            <a:r>
              <a:rPr lang="bg-BG" b="1" dirty="0">
                <a:solidFill>
                  <a:schemeClr val="bg1"/>
                </a:solidFill>
              </a:rPr>
              <a:t>страници</a:t>
            </a:r>
            <a:r>
              <a:rPr lang="bg-BG" dirty="0"/>
              <a:t>, </a:t>
            </a:r>
            <a:r>
              <a:rPr lang="bg-BG" b="1" dirty="0">
                <a:solidFill>
                  <a:schemeClr val="bg1"/>
                </a:solidFill>
              </a:rPr>
              <a:t>коментари</a:t>
            </a:r>
            <a:r>
              <a:rPr lang="bg-BG" dirty="0"/>
              <a:t>, </a:t>
            </a:r>
            <a:r>
              <a:rPr lang="bg-BG" b="1" dirty="0">
                <a:solidFill>
                  <a:schemeClr val="bg1"/>
                </a:solidFill>
              </a:rPr>
              <a:t>категории</a:t>
            </a:r>
            <a:r>
              <a:rPr lang="bg-BG" dirty="0"/>
              <a:t> и </a:t>
            </a:r>
            <a:r>
              <a:rPr lang="bg-BG" b="1" dirty="0">
                <a:solidFill>
                  <a:schemeClr val="bg1"/>
                </a:solidFill>
              </a:rPr>
              <a:t>етикети</a:t>
            </a:r>
          </a:p>
          <a:p>
            <a:r>
              <a:rPr lang="bg-BG" dirty="0"/>
              <a:t>Създава </a:t>
            </a:r>
            <a:r>
              <a:rPr lang="bg-BG" b="1" dirty="0">
                <a:solidFill>
                  <a:schemeClr val="bg1"/>
                </a:solidFill>
              </a:rPr>
              <a:t>файл</a:t>
            </a:r>
            <a:r>
              <a:rPr lang="bg-BG" dirty="0"/>
              <a:t>, който </a:t>
            </a:r>
            <a:r>
              <a:rPr lang="bg-BG" b="1" dirty="0"/>
              <a:t>може да се използва </a:t>
            </a:r>
            <a:r>
              <a:rPr lang="bg-BG" dirty="0"/>
              <a:t>при </a:t>
            </a:r>
            <a:r>
              <a:rPr lang="bg-BG" b="1" dirty="0">
                <a:solidFill>
                  <a:schemeClr val="bg1"/>
                </a:solidFill>
              </a:rPr>
              <a:t>импорт</a:t>
            </a:r>
          </a:p>
          <a:p>
            <a:r>
              <a:rPr lang="bg-BG" b="1" dirty="0">
                <a:solidFill>
                  <a:schemeClr val="bg1"/>
                </a:solidFill>
              </a:rPr>
              <a:t>Не включва </a:t>
            </a:r>
            <a:r>
              <a:rPr lang="bg-BG" b="1" dirty="0"/>
              <a:t>всички файлове</a:t>
            </a:r>
            <a:r>
              <a:rPr lang="bg-BG" dirty="0"/>
              <a:t>, </a:t>
            </a:r>
            <a:r>
              <a:rPr lang="bg-BG" b="1" dirty="0"/>
              <a:t>тема</a:t>
            </a:r>
            <a:r>
              <a:rPr lang="bg-BG" dirty="0"/>
              <a:t>, </a:t>
            </a:r>
            <a:r>
              <a:rPr lang="bg-BG" b="1" dirty="0"/>
              <a:t>добавки</a:t>
            </a:r>
            <a:r>
              <a:rPr lang="bg-BG" dirty="0"/>
              <a:t> и </a:t>
            </a:r>
            <a:r>
              <a:rPr lang="bg-BG" b="1" dirty="0"/>
              <a:t>база данни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8434E62-1238-C860-27D4-C4C59AD99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Експорт на съдържание</a:t>
            </a:r>
            <a:endParaRPr lang="en-BG" dirty="0"/>
          </a:p>
        </p:txBody>
      </p:sp>
      <p:pic>
        <p:nvPicPr>
          <p:cNvPr id="5" name="Picture 4" descr="isometric_wordpress_content_export_interface.png">
            <a:extLst>
              <a:ext uri="{FF2B5EF4-FFF2-40B4-BE49-F238E27FC236}">
                <a16:creationId xmlns:a16="http://schemas.microsoft.com/office/drawing/2014/main" id="{707D04A7-F558-D28E-C215-1BB8058794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4441" y="3850340"/>
            <a:ext cx="2874551" cy="2874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96528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DC22006-A051-2BBA-A909-4C941480D8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14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4D3149-8D3D-F06F-AD90-C12EFAAF0F8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2800" b="1" dirty="0"/>
              <a:t>Включва</a:t>
            </a:r>
            <a:r>
              <a:rPr lang="bg-BG" sz="2800" dirty="0"/>
              <a:t> </a:t>
            </a:r>
            <a:r>
              <a:rPr lang="bg-BG" sz="2800" b="1" dirty="0">
                <a:solidFill>
                  <a:schemeClr val="bg1"/>
                </a:solidFill>
              </a:rPr>
              <a:t>файловете</a:t>
            </a:r>
            <a:r>
              <a:rPr lang="bg-BG" sz="2800" dirty="0"/>
              <a:t> на </a:t>
            </a:r>
            <a:r>
              <a:rPr lang="bg-BG" sz="2800" b="1" dirty="0"/>
              <a:t>уеб</a:t>
            </a:r>
            <a:r>
              <a:rPr lang="bg-BG" sz="2800" dirty="0"/>
              <a:t> </a:t>
            </a:r>
            <a:r>
              <a:rPr lang="bg-BG" sz="2800" b="1" dirty="0"/>
              <a:t>сайта</a:t>
            </a:r>
            <a:r>
              <a:rPr lang="bg-BG" sz="2800" dirty="0"/>
              <a:t> и </a:t>
            </a:r>
            <a:r>
              <a:rPr lang="bg-BG" sz="2800" b="1" dirty="0"/>
              <a:t>базата данни</a:t>
            </a:r>
          </a:p>
          <a:p>
            <a:r>
              <a:rPr lang="bg-BG" sz="2800" dirty="0"/>
              <a:t>Създава се чрез </a:t>
            </a:r>
            <a:r>
              <a:rPr lang="bg-BG" sz="2800" b="1" dirty="0">
                <a:solidFill>
                  <a:schemeClr val="bg1"/>
                </a:solidFill>
              </a:rPr>
              <a:t>хостинг панел</a:t>
            </a:r>
            <a:r>
              <a:rPr lang="bg-BG" sz="2800" dirty="0"/>
              <a:t>, </a:t>
            </a:r>
            <a:r>
              <a:rPr lang="bg-BG" sz="2800" b="1" dirty="0">
                <a:solidFill>
                  <a:schemeClr val="bg1"/>
                </a:solidFill>
              </a:rPr>
              <a:t>специализиран инструмент </a:t>
            </a:r>
            <a:r>
              <a:rPr lang="bg-BG" sz="2800" dirty="0"/>
              <a:t>или </a:t>
            </a:r>
            <a:r>
              <a:rPr lang="bg-BG" sz="2800" b="1" dirty="0">
                <a:solidFill>
                  <a:schemeClr val="bg1"/>
                </a:solidFill>
              </a:rPr>
              <a:t>добавка</a:t>
            </a:r>
          </a:p>
          <a:p>
            <a:r>
              <a:rPr lang="bg-BG" sz="2800" dirty="0"/>
              <a:t>Подходящо е за </a:t>
            </a:r>
            <a:r>
              <a:rPr lang="bg-BG" sz="2800" b="1" dirty="0"/>
              <a:t>възстановяване на целия уеб сайт</a:t>
            </a:r>
          </a:p>
          <a:p>
            <a:r>
              <a:rPr lang="bg-BG" sz="2800" dirty="0"/>
              <a:t>Изисква </a:t>
            </a:r>
            <a:r>
              <a:rPr lang="bg-BG" sz="2800" b="1" dirty="0">
                <a:solidFill>
                  <a:schemeClr val="bg1"/>
                </a:solidFill>
              </a:rPr>
              <a:t>достъп до средата</a:t>
            </a:r>
            <a:r>
              <a:rPr lang="bg-BG" sz="2800" dirty="0"/>
              <a:t>, в която е </a:t>
            </a:r>
            <a:r>
              <a:rPr lang="bg-BG" sz="2800" b="1" dirty="0"/>
              <a:t>инсталиран</a:t>
            </a:r>
            <a:r>
              <a:rPr lang="bg-BG" sz="2800" dirty="0"/>
              <a:t> </a:t>
            </a:r>
            <a:r>
              <a:rPr lang="bg-BG" sz="2800" b="1" dirty="0"/>
              <a:t>уеб сайтът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C0B71EA-D704-4A67-49F1-B46C9E5CF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Пълно резервно копие</a:t>
            </a:r>
            <a:endParaRPr lang="en-BG" dirty="0"/>
          </a:p>
        </p:txBody>
      </p:sp>
      <p:pic>
        <p:nvPicPr>
          <p:cNvPr id="5" name="Picture 4" descr="full_backup_vs_content_export.png">
            <a:extLst>
              <a:ext uri="{FF2B5EF4-FFF2-40B4-BE49-F238E27FC236}">
                <a16:creationId xmlns:a16="http://schemas.microsoft.com/office/drawing/2014/main" id="{34F11F03-285B-237B-B91F-1C21E06BC40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7187"/>
          <a:stretch/>
        </p:blipFill>
        <p:spPr>
          <a:xfrm>
            <a:off x="4306000" y="3441758"/>
            <a:ext cx="3580000" cy="3322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8541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3B42BDB-DBBB-B0E0-2391-751B7F1033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15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4DADFD-984B-D29E-51BD-FB969EB67D8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000" b="1" dirty="0">
                <a:solidFill>
                  <a:schemeClr val="bg1"/>
                </a:solidFill>
              </a:rPr>
              <a:t>Копията</a:t>
            </a:r>
            <a:r>
              <a:rPr lang="bg-BG" sz="3000" dirty="0"/>
              <a:t> се </a:t>
            </a:r>
            <a:r>
              <a:rPr lang="bg-BG" sz="3000" b="1" dirty="0"/>
              <a:t>създават </a:t>
            </a:r>
            <a:r>
              <a:rPr lang="bg-BG" sz="3000" dirty="0"/>
              <a:t>според </a:t>
            </a:r>
            <a:r>
              <a:rPr lang="bg-BG" sz="3000" b="1" dirty="0"/>
              <a:t>честотата</a:t>
            </a:r>
            <a:r>
              <a:rPr lang="bg-BG" sz="3000" dirty="0"/>
              <a:t> на </a:t>
            </a:r>
            <a:r>
              <a:rPr lang="bg-BG" sz="3000" b="1" dirty="0"/>
              <a:t>промените</a:t>
            </a:r>
          </a:p>
          <a:p>
            <a:r>
              <a:rPr lang="bg-BG" sz="3000" b="1" dirty="0"/>
              <a:t>Съхраняват се </a:t>
            </a:r>
            <a:r>
              <a:rPr lang="bg-BG" sz="3000" dirty="0"/>
              <a:t>на </a:t>
            </a:r>
            <a:r>
              <a:rPr lang="bg-BG" sz="3000" b="1" dirty="0">
                <a:solidFill>
                  <a:schemeClr val="bg1"/>
                </a:solidFill>
              </a:rPr>
              <a:t>различно място </a:t>
            </a:r>
            <a:r>
              <a:rPr lang="bg-BG" sz="3000" dirty="0"/>
              <a:t>от самия </a:t>
            </a:r>
            <a:r>
              <a:rPr lang="bg-BG" sz="3000" b="1" dirty="0"/>
              <a:t>уеб сайт</a:t>
            </a:r>
          </a:p>
          <a:p>
            <a:r>
              <a:rPr lang="bg-BG" sz="3000" b="1" dirty="0"/>
              <a:t>Файловете</a:t>
            </a:r>
            <a:r>
              <a:rPr lang="bg-BG" sz="3000" dirty="0"/>
              <a:t> се </a:t>
            </a:r>
            <a:r>
              <a:rPr lang="bg-BG" sz="3000" b="1" dirty="0"/>
              <a:t>именуват</a:t>
            </a:r>
            <a:r>
              <a:rPr lang="bg-BG" sz="3000" dirty="0"/>
              <a:t> ясно с </a:t>
            </a:r>
            <a:r>
              <a:rPr lang="bg-BG" sz="3000" b="1" dirty="0">
                <a:solidFill>
                  <a:schemeClr val="bg1"/>
                </a:solidFill>
              </a:rPr>
              <a:t>дата</a:t>
            </a:r>
            <a:r>
              <a:rPr lang="bg-BG" sz="3000" dirty="0"/>
              <a:t> и </a:t>
            </a:r>
            <a:r>
              <a:rPr lang="bg-BG" sz="3000" b="1" dirty="0">
                <a:solidFill>
                  <a:schemeClr val="bg1"/>
                </a:solidFill>
              </a:rPr>
              <a:t>име</a:t>
            </a:r>
            <a:r>
              <a:rPr lang="bg-BG" sz="3000" dirty="0"/>
              <a:t> на </a:t>
            </a:r>
            <a:r>
              <a:rPr lang="bg-BG" sz="3000" b="1" dirty="0"/>
              <a:t>уеб сайта</a:t>
            </a:r>
          </a:p>
          <a:p>
            <a:r>
              <a:rPr lang="bg-BG" sz="3000" b="1" dirty="0"/>
              <a:t>Периодично</a:t>
            </a:r>
            <a:r>
              <a:rPr lang="bg-BG" sz="3000" dirty="0"/>
              <a:t> се </a:t>
            </a:r>
            <a:r>
              <a:rPr lang="bg-BG" sz="3000" b="1" dirty="0"/>
              <a:t>проверява</a:t>
            </a:r>
            <a:r>
              <a:rPr lang="bg-BG" sz="3000" dirty="0"/>
              <a:t> дали </a:t>
            </a:r>
            <a:r>
              <a:rPr lang="bg-BG" sz="3000" b="1" dirty="0"/>
              <a:t>копието</a:t>
            </a:r>
            <a:r>
              <a:rPr lang="bg-BG" sz="3000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може да се използва</a:t>
            </a:r>
          </a:p>
          <a:p>
            <a:r>
              <a:rPr lang="bg-BG" sz="3000" b="1" dirty="0"/>
              <a:t>Достъпът до архивите </a:t>
            </a:r>
            <a:r>
              <a:rPr lang="bg-BG" sz="3000" b="1" dirty="0">
                <a:solidFill>
                  <a:schemeClr val="bg1"/>
                </a:solidFill>
              </a:rPr>
              <a:t>се ограничава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996D334-0625-B1B3-300F-C7E689DBFC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Правила за съхранение на копия</a:t>
            </a:r>
            <a:endParaRPr lang="en-BG" dirty="0"/>
          </a:p>
        </p:txBody>
      </p:sp>
      <p:pic>
        <p:nvPicPr>
          <p:cNvPr id="5" name="Picture 4" descr="a_clean_3d_glossy_vector_isometric_style_icon_illu_batch_8.png">
            <a:extLst>
              <a:ext uri="{FF2B5EF4-FFF2-40B4-BE49-F238E27FC236}">
                <a16:creationId xmlns:a16="http://schemas.microsoft.com/office/drawing/2014/main" id="{7211A739-30E6-F6F0-D824-3B5E0C541D8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7042"/>
          <a:stretch/>
        </p:blipFill>
        <p:spPr>
          <a:xfrm>
            <a:off x="4656000" y="4087280"/>
            <a:ext cx="2880000" cy="2677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0525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5895532-2E95-240C-7CEA-ABA3C9287D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16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570EF4-1D26-E416-7761-E6F3C245A38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92500" lnSpcReduction="10000"/>
          </a:bodyPr>
          <a:lstStyle/>
          <a:p>
            <a:r>
              <a:rPr lang="bg-BG" sz="3000" b="1" dirty="0"/>
              <a:t>[</a:t>
            </a:r>
            <a:r>
              <a:rPr lang="en-GB" sz="3000" b="1" dirty="0">
                <a:solidFill>
                  <a:schemeClr val="bg1"/>
                </a:solidFill>
              </a:rPr>
              <a:t>Tools</a:t>
            </a:r>
            <a:r>
              <a:rPr lang="en-GB" sz="3000" b="1" dirty="0"/>
              <a:t>]</a:t>
            </a:r>
            <a:r>
              <a:rPr lang="en-GB" sz="3000" b="1" dirty="0">
                <a:solidFill>
                  <a:schemeClr val="bg1"/>
                </a:solidFill>
              </a:rPr>
              <a:t> </a:t>
            </a:r>
            <a:r>
              <a:rPr lang="en-GB" sz="3000" b="1" dirty="0"/>
              <a:t>→</a:t>
            </a:r>
            <a:r>
              <a:rPr lang="en-GB" sz="3000" b="1" dirty="0">
                <a:solidFill>
                  <a:schemeClr val="bg1"/>
                </a:solidFill>
              </a:rPr>
              <a:t> </a:t>
            </a:r>
            <a:r>
              <a:rPr lang="en-GB" sz="3000" b="1" dirty="0"/>
              <a:t>[</a:t>
            </a:r>
            <a:r>
              <a:rPr lang="en-GB" sz="3000" b="1" dirty="0">
                <a:solidFill>
                  <a:schemeClr val="bg1"/>
                </a:solidFill>
              </a:rPr>
              <a:t>Export</a:t>
            </a:r>
            <a:r>
              <a:rPr lang="en-GB" sz="3000" b="1" dirty="0"/>
              <a:t>]</a:t>
            </a:r>
            <a:endParaRPr lang="bg-BG" sz="3000" b="1" dirty="0"/>
          </a:p>
          <a:p>
            <a:pPr lvl="1"/>
            <a:r>
              <a:rPr lang="bg-BG" sz="2800" b="1" dirty="0"/>
              <a:t>Копие</a:t>
            </a:r>
            <a:r>
              <a:rPr lang="bg-BG" sz="2800" dirty="0"/>
              <a:t> на </a:t>
            </a:r>
            <a:r>
              <a:rPr lang="bg-BG" sz="2800" b="1" dirty="0"/>
              <a:t>съдържанието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Хостинг панел</a:t>
            </a:r>
          </a:p>
          <a:p>
            <a:pPr lvl="1"/>
            <a:r>
              <a:rPr lang="bg-BG" sz="2800" b="1" dirty="0"/>
              <a:t>Копие</a:t>
            </a:r>
            <a:r>
              <a:rPr lang="bg-BG" sz="2800" dirty="0"/>
              <a:t> на </a:t>
            </a:r>
            <a:r>
              <a:rPr lang="bg-BG" sz="2800" b="1" dirty="0"/>
              <a:t>файлове</a:t>
            </a:r>
            <a:r>
              <a:rPr lang="bg-BG" sz="2800" dirty="0"/>
              <a:t> и </a:t>
            </a:r>
            <a:r>
              <a:rPr lang="bg-BG" sz="2800" b="1" dirty="0"/>
              <a:t>база данни</a:t>
            </a:r>
          </a:p>
          <a:p>
            <a:r>
              <a:rPr lang="en-GB" sz="3000" b="1" dirty="0">
                <a:solidFill>
                  <a:schemeClr val="bg1"/>
                </a:solidFill>
              </a:rPr>
              <a:t>File Manager </a:t>
            </a:r>
            <a:r>
              <a:rPr lang="bg-BG" sz="3000" dirty="0"/>
              <a:t>или </a:t>
            </a:r>
            <a:r>
              <a:rPr lang="en-GB" sz="3000" b="1" dirty="0">
                <a:solidFill>
                  <a:schemeClr val="bg1"/>
                </a:solidFill>
              </a:rPr>
              <a:t>FTP</a:t>
            </a:r>
            <a:endParaRPr lang="bg-BG" sz="3000" b="1" dirty="0">
              <a:solidFill>
                <a:schemeClr val="bg1"/>
              </a:solidFill>
            </a:endParaRPr>
          </a:p>
          <a:p>
            <a:pPr lvl="1"/>
            <a:r>
              <a:rPr lang="bg-BG" sz="2800" b="1" dirty="0"/>
              <a:t>Копие</a:t>
            </a:r>
            <a:r>
              <a:rPr lang="bg-BG" sz="2800" dirty="0"/>
              <a:t> на </a:t>
            </a:r>
            <a:r>
              <a:rPr lang="bg-BG" sz="2800" b="1" dirty="0"/>
              <a:t>файловете</a:t>
            </a:r>
            <a:r>
              <a:rPr lang="bg-BG" sz="2800" dirty="0"/>
              <a:t> на </a:t>
            </a:r>
            <a:r>
              <a:rPr lang="bg-BG" sz="2800" b="1" dirty="0"/>
              <a:t>уеб сайта</a:t>
            </a:r>
          </a:p>
          <a:p>
            <a:r>
              <a:rPr lang="en-GB" sz="3000" b="1" dirty="0">
                <a:solidFill>
                  <a:schemeClr val="bg1"/>
                </a:solidFill>
              </a:rPr>
              <a:t>phpMyAdmin</a:t>
            </a:r>
            <a:r>
              <a:rPr lang="en-GB" sz="3000" dirty="0"/>
              <a:t> </a:t>
            </a:r>
            <a:r>
              <a:rPr lang="bg-BG" sz="3000" dirty="0"/>
              <a:t>или </a:t>
            </a:r>
            <a:r>
              <a:rPr lang="bg-BG" sz="3000" b="1" dirty="0">
                <a:solidFill>
                  <a:schemeClr val="bg1"/>
                </a:solidFill>
              </a:rPr>
              <a:t>инструмент за база данни</a:t>
            </a:r>
          </a:p>
          <a:p>
            <a:pPr lvl="1"/>
            <a:r>
              <a:rPr lang="bg-BG" sz="2800" b="1" dirty="0"/>
              <a:t>Копие</a:t>
            </a:r>
            <a:r>
              <a:rPr lang="bg-BG" sz="2800" dirty="0"/>
              <a:t> на </a:t>
            </a:r>
            <a:r>
              <a:rPr lang="bg-BG" sz="2800" b="1" dirty="0"/>
              <a:t>базата данни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Специализирана добавка</a:t>
            </a:r>
          </a:p>
          <a:p>
            <a:pPr lvl="1"/>
            <a:r>
              <a:rPr lang="bg-BG" sz="2800" b="1" dirty="0"/>
              <a:t>Автоматизиране </a:t>
            </a:r>
            <a:r>
              <a:rPr lang="bg-BG" sz="2800" dirty="0"/>
              <a:t>на</a:t>
            </a:r>
            <a:r>
              <a:rPr lang="bg-BG" sz="2800" b="1" dirty="0"/>
              <a:t> архивите</a:t>
            </a:r>
            <a:r>
              <a:rPr lang="bg-BG" sz="2800" dirty="0"/>
              <a:t> при </a:t>
            </a:r>
            <a:r>
              <a:rPr lang="bg-BG" sz="2800" b="1" dirty="0"/>
              <a:t>подходяща среда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FAF6F1C-BC1D-B3D1-FEE0-1C9D4F9109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Методи за резервно копие в </a:t>
            </a:r>
            <a:r>
              <a:rPr lang="en-US" dirty="0"/>
              <a:t>WordPress</a:t>
            </a:r>
            <a:endParaRPr lang="en-BG" dirty="0"/>
          </a:p>
        </p:txBody>
      </p:sp>
      <p:pic>
        <p:nvPicPr>
          <p:cNvPr id="5" name="Picture 4" descr="a_highly_detailed_glossy_3d_style_digital_illustra_batch_7.png">
            <a:extLst>
              <a:ext uri="{FF2B5EF4-FFF2-40B4-BE49-F238E27FC236}">
                <a16:creationId xmlns:a16="http://schemas.microsoft.com/office/drawing/2014/main" id="{7A37290A-0D9B-9FEA-BCD6-B6E108D2BC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2440" y="3132414"/>
            <a:ext cx="3632031" cy="363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07272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000" dirty="0"/>
              <a:t>Резервно копие на </a:t>
            </a:r>
            <a:r>
              <a:rPr lang="en-US" sz="4000" dirty="0"/>
              <a:t>WordPress</a:t>
            </a:r>
            <a:r>
              <a:rPr lang="bg-BG" sz="4000" dirty="0"/>
              <a:t> сайт</a:t>
            </a:r>
            <a:endParaRPr lang="bg-BG" sz="4800" dirty="0"/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Пример</a:t>
            </a:r>
            <a:endParaRPr lang="en-US" sz="5200" dirty="0"/>
          </a:p>
        </p:txBody>
      </p:sp>
      <p:pic>
        <p:nvPicPr>
          <p:cNvPr id="2" name="Picture 1" descr="a_clean_isometric_3d_vector_illustration_on_a_tran_12_batch_2.png">
            <a:extLst>
              <a:ext uri="{FF2B5EF4-FFF2-40B4-BE49-F238E27FC236}">
                <a16:creationId xmlns:a16="http://schemas.microsoft.com/office/drawing/2014/main" id="{3C3F9043-8851-A0D8-CF80-2EAEE99CC1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1000" y="1224000"/>
            <a:ext cx="2969999" cy="2969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851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C516F16-CA67-6D94-E034-8AB3737692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18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65E27E-ECD7-A588-E955-6399E7CB064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2800" dirty="0"/>
              <a:t>Влизаме в </a:t>
            </a:r>
            <a:r>
              <a:rPr lang="bg-BG" sz="2800" b="1" dirty="0">
                <a:solidFill>
                  <a:schemeClr val="bg1"/>
                </a:solidFill>
              </a:rPr>
              <a:t>административния панел</a:t>
            </a:r>
            <a:r>
              <a:rPr lang="bg-BG" sz="2800" dirty="0">
                <a:solidFill>
                  <a:schemeClr val="bg1"/>
                </a:solidFill>
              </a:rPr>
              <a:t> </a:t>
            </a:r>
            <a:r>
              <a:rPr lang="bg-BG" sz="2800" dirty="0"/>
              <a:t>на</a:t>
            </a:r>
            <a:r>
              <a:rPr lang="en-US" sz="2800" dirty="0"/>
              <a:t> </a:t>
            </a:r>
            <a:r>
              <a:rPr lang="en-US" sz="2800" b="1" dirty="0"/>
              <a:t>WordPress</a:t>
            </a:r>
            <a:endParaRPr lang="bg-BG" sz="2800" b="1" dirty="0"/>
          </a:p>
          <a:p>
            <a:r>
              <a:rPr lang="bg-BG" sz="2800" dirty="0"/>
              <a:t>Отваряме </a:t>
            </a:r>
            <a:r>
              <a:rPr lang="bg-BG" sz="2800" b="1" dirty="0"/>
              <a:t>[</a:t>
            </a:r>
            <a:r>
              <a:rPr lang="en-US" sz="2800" b="1" dirty="0">
                <a:solidFill>
                  <a:schemeClr val="bg1"/>
                </a:solidFill>
              </a:rPr>
              <a:t>Tools</a:t>
            </a:r>
            <a:r>
              <a:rPr lang="en-US" sz="2800" b="1" dirty="0"/>
              <a:t>] → [</a:t>
            </a:r>
            <a:r>
              <a:rPr lang="en-US" sz="2800" b="1" dirty="0">
                <a:solidFill>
                  <a:schemeClr val="bg1"/>
                </a:solidFill>
              </a:rPr>
              <a:t>Export</a:t>
            </a:r>
            <a:r>
              <a:rPr lang="en-US" sz="2800" b="1" dirty="0"/>
              <a:t>]</a:t>
            </a:r>
          </a:p>
          <a:p>
            <a:r>
              <a:rPr lang="bg-BG" sz="2800" dirty="0"/>
              <a:t>Избираме </a:t>
            </a:r>
            <a:r>
              <a:rPr lang="bg-BG" sz="2800" b="1" dirty="0">
                <a:solidFill>
                  <a:schemeClr val="bg1"/>
                </a:solidFill>
              </a:rPr>
              <a:t>кое съдържание </a:t>
            </a:r>
            <a:r>
              <a:rPr lang="bg-BG" sz="2800" dirty="0"/>
              <a:t>да се </a:t>
            </a:r>
            <a:r>
              <a:rPr lang="bg-BG" sz="2800" b="1" dirty="0"/>
              <a:t>експортира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37E1090-5368-3467-77F6-0CCF23C94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bg-BG" sz="4000" dirty="0"/>
              <a:t>Резервно копие на </a:t>
            </a:r>
            <a:r>
              <a:rPr lang="en-US" sz="4000" dirty="0"/>
              <a:t>WordPress</a:t>
            </a:r>
            <a:r>
              <a:rPr lang="bg-BG" sz="4000" dirty="0"/>
              <a:t> сайт </a:t>
            </a:r>
            <a:r>
              <a:rPr lang="en-US" sz="4000" dirty="0"/>
              <a:t>(1)</a:t>
            </a:r>
            <a:endParaRPr lang="bg-BG" sz="4800" dirty="0"/>
          </a:p>
        </p:txBody>
      </p:sp>
      <p:sp>
        <p:nvSpPr>
          <p:cNvPr id="9" name="Arrow: Right 10">
            <a:extLst>
              <a:ext uri="{FF2B5EF4-FFF2-40B4-BE49-F238E27FC236}">
                <a16:creationId xmlns:a16="http://schemas.microsoft.com/office/drawing/2014/main" id="{7776C010-DA42-903D-3C47-507343C87FF8}"/>
              </a:ext>
            </a:extLst>
          </p:cNvPr>
          <p:cNvSpPr/>
          <p:nvPr/>
        </p:nvSpPr>
        <p:spPr>
          <a:xfrm>
            <a:off x="5086417" y="4408389"/>
            <a:ext cx="1083479" cy="908994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B764233-5D16-4398-5F2B-77CABA645A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071" y="3815136"/>
            <a:ext cx="4330700" cy="209550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0D11115-92C5-1E12-216F-818F0915CE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9614" y="3070272"/>
            <a:ext cx="4623939" cy="3585228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7805997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5054369-2E2F-1FB8-132D-D12D2BD931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19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9F68C7-3B54-58B0-6238-44E905CE8AD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2800" dirty="0"/>
              <a:t>Избираме </a:t>
            </a:r>
            <a:r>
              <a:rPr lang="en-US" sz="2800" b="1" dirty="0"/>
              <a:t>[</a:t>
            </a:r>
            <a:r>
              <a:rPr lang="en-US" sz="2800" b="1" dirty="0">
                <a:solidFill>
                  <a:schemeClr val="bg1"/>
                </a:solidFill>
              </a:rPr>
              <a:t>All Content</a:t>
            </a:r>
            <a:r>
              <a:rPr lang="en-US" sz="2800" b="1" dirty="0"/>
              <a:t>] </a:t>
            </a:r>
            <a:r>
              <a:rPr lang="bg-BG" sz="2800" dirty="0"/>
              <a:t>и</a:t>
            </a:r>
            <a:r>
              <a:rPr lang="en-US" sz="2800" dirty="0"/>
              <a:t> </a:t>
            </a:r>
            <a:r>
              <a:rPr lang="en-US" sz="2800" b="1" dirty="0"/>
              <a:t>[</a:t>
            </a:r>
            <a:r>
              <a:rPr lang="en-US" sz="2800" b="1" dirty="0">
                <a:solidFill>
                  <a:schemeClr val="bg1"/>
                </a:solidFill>
              </a:rPr>
              <a:t>Download Export File</a:t>
            </a:r>
            <a:r>
              <a:rPr lang="en-US" sz="2800" b="1" dirty="0"/>
              <a:t>]</a:t>
            </a:r>
          </a:p>
          <a:p>
            <a:r>
              <a:rPr lang="bg-BG" sz="2800" b="1" dirty="0"/>
              <a:t>Файлът</a:t>
            </a:r>
            <a:r>
              <a:rPr lang="bg-BG" sz="2800" dirty="0"/>
              <a:t> </a:t>
            </a:r>
            <a:r>
              <a:rPr lang="bg-BG" sz="2800" b="1" dirty="0">
                <a:solidFill>
                  <a:schemeClr val="bg1"/>
                </a:solidFill>
              </a:rPr>
              <a:t>се записва локално </a:t>
            </a:r>
            <a:r>
              <a:rPr lang="bg-BG" sz="2800" dirty="0"/>
              <a:t>на </a:t>
            </a:r>
            <a:r>
              <a:rPr lang="bg-BG" sz="2800" b="1" dirty="0"/>
              <a:t>компютъра</a:t>
            </a:r>
            <a:endParaRPr lang="en-BG" sz="2800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9673C7F-F04D-84DB-96CD-D3618DB96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sz="4000" dirty="0"/>
              <a:t>Резервно копие на </a:t>
            </a:r>
            <a:r>
              <a:rPr lang="en-US" sz="4000" dirty="0"/>
              <a:t>WordPress</a:t>
            </a:r>
            <a:r>
              <a:rPr lang="bg-BG" sz="4000" dirty="0"/>
              <a:t> сайт </a:t>
            </a:r>
            <a:r>
              <a:rPr lang="en-US" sz="4000" dirty="0"/>
              <a:t>(2)</a:t>
            </a:r>
            <a:endParaRPr lang="en-B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9F61F45-2441-4128-4D39-94D9CF9B2B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000" y="2479463"/>
            <a:ext cx="4040409" cy="4155596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ED9E532-95D2-1A7D-A648-E0B4215FEC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2836" y="3960508"/>
            <a:ext cx="4600194" cy="810097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sp>
        <p:nvSpPr>
          <p:cNvPr id="11" name="Arrow: Right 10">
            <a:extLst>
              <a:ext uri="{FF2B5EF4-FFF2-40B4-BE49-F238E27FC236}">
                <a16:creationId xmlns:a16="http://schemas.microsoft.com/office/drawing/2014/main" id="{D9496F81-D0D5-56E7-C798-24181F088BFC}"/>
              </a:ext>
            </a:extLst>
          </p:cNvPr>
          <p:cNvSpPr/>
          <p:nvPr/>
        </p:nvSpPr>
        <p:spPr>
          <a:xfrm>
            <a:off x="5357883" y="3911059"/>
            <a:ext cx="1083479" cy="908994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</p:spTree>
    <p:extLst>
      <p:ext uri="{BB962C8B-B14F-4D97-AF65-F5344CB8AC3E}">
        <p14:creationId xmlns:p14="http://schemas.microsoft.com/office/powerpoint/2010/main" val="38854959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C38286B-6B80-DFC1-EDB8-A00A66DACA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20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0FC5E8-7DF2-43BA-5170-F47685D3668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5400" dirty="0">
                <a:highlight>
                  <a:srgbClr val="FFFF00"/>
                </a:highlight>
              </a:rPr>
              <a:t>Да покажеш и как възтановяваш стара версия от бекъп</a:t>
            </a:r>
            <a:endParaRPr lang="en-GB" sz="5400" dirty="0">
              <a:highlight>
                <a:srgbClr val="FFFF00"/>
              </a:highlight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B081DF9-9D41-E0BE-991E-C5F23A25F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96022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Summary Box Group">
            <a:extLst>
              <a:ext uri="{FF2B5EF4-FFF2-40B4-BE49-F238E27FC236}">
                <a16:creationId xmlns:a16="http://schemas.microsoft.com/office/drawing/2014/main" id="{EBAFE522-EB7D-4931-A015-9A7E8A98517D}"/>
              </a:ext>
            </a:extLst>
          </p:cNvPr>
          <p:cNvGrpSpPr/>
          <p:nvPr/>
        </p:nvGrpSpPr>
        <p:grpSpPr>
          <a:xfrm>
            <a:off x="190406" y="1360993"/>
            <a:ext cx="11562624" cy="5394328"/>
            <a:chOff x="472011" y="1508786"/>
            <a:chExt cx="3799787" cy="4865561"/>
          </a:xfrm>
        </p:grpSpPr>
        <p:sp>
          <p:nvSpPr>
            <p:cNvPr id="10" name="Rounded Rectangle Blue">
              <a:extLst>
                <a:ext uri="{FF2B5EF4-FFF2-40B4-BE49-F238E27FC236}">
                  <a16:creationId xmlns:a16="http://schemas.microsoft.com/office/drawing/2014/main" id="{18F78F23-3D09-4B63-8DF9-D49CFBB145EE}"/>
                </a:ext>
              </a:extLst>
            </p:cNvPr>
            <p:cNvSpPr/>
            <p:nvPr/>
          </p:nvSpPr>
          <p:spPr>
            <a:xfrm>
              <a:off x="472011" y="1508786"/>
              <a:ext cx="3799787" cy="4865561"/>
            </a:xfrm>
            <a:prstGeom prst="roundRect">
              <a:avLst>
                <a:gd name="adj" fmla="val 3968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/>
            </a:p>
          </p:txBody>
        </p:sp>
        <p:sp>
          <p:nvSpPr>
            <p:cNvPr id="11" name="Rounded Rectangle Left">
              <a:extLst>
                <a:ext uri="{FF2B5EF4-FFF2-40B4-BE49-F238E27FC236}">
                  <a16:creationId xmlns:a16="http://schemas.microsoft.com/office/drawing/2014/main" id="{F12C06CE-2BBE-46C2-B718-813794C58DF9}"/>
                </a:ext>
              </a:extLst>
            </p:cNvPr>
            <p:cNvSpPr/>
            <p:nvPr/>
          </p:nvSpPr>
          <p:spPr>
            <a:xfrm>
              <a:off x="546866" y="1696737"/>
              <a:ext cx="81601" cy="4489658"/>
            </a:xfrm>
            <a:prstGeom prst="roundRect">
              <a:avLst>
                <a:gd name="adj" fmla="val 50000"/>
              </a:avLst>
            </a:prstGeom>
            <a:solidFill>
              <a:schemeClr val="bg2">
                <a:alpha val="4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bg1"/>
                </a:solidFill>
              </a:endParaRPr>
            </a:p>
          </p:txBody>
        </p:sp>
        <p:sp>
          <p:nvSpPr>
            <p:cNvPr id="12" name="Half Frame Top Right">
              <a:extLst>
                <a:ext uri="{FF2B5EF4-FFF2-40B4-BE49-F238E27FC236}">
                  <a16:creationId xmlns:a16="http://schemas.microsoft.com/office/drawing/2014/main" id="{66CDBB1E-AF3C-43FC-9F34-2DD691F81726}"/>
                </a:ext>
              </a:extLst>
            </p:cNvPr>
            <p:cNvSpPr/>
            <p:nvPr/>
          </p:nvSpPr>
          <p:spPr>
            <a:xfrm rot="5400000">
              <a:off x="3742559" y="1912372"/>
              <a:ext cx="669775" cy="238503"/>
            </a:xfrm>
            <a:prstGeom prst="halfFrame">
              <a:avLst>
                <a:gd name="adj1" fmla="val 23728"/>
                <a:gd name="adj2" fmla="val 24642"/>
              </a:avLst>
            </a:prstGeom>
            <a:solidFill>
              <a:schemeClr val="bg2">
                <a:alpha val="2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tx1"/>
                </a:solidFill>
              </a:endParaRPr>
            </a:p>
          </p:txBody>
        </p:sp>
      </p:grpSp>
      <p:sp>
        <p:nvSpPr>
          <p:cNvPr id="14" name="Text Placeholder Body">
            <a:extLst>
              <a:ext uri="{FF2B5EF4-FFF2-40B4-BE49-F238E27FC236}">
                <a16:creationId xmlns:a16="http://schemas.microsoft.com/office/drawing/2014/main" id="{0E49D336-45B6-44D3-97C4-E28F8DEA202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97877" y="1676785"/>
            <a:ext cx="10826625" cy="4977574"/>
          </a:xfrm>
        </p:spPr>
        <p:txBody>
          <a:bodyPr>
            <a:noAutofit/>
          </a:bodyPr>
          <a:lstStyle>
            <a:lvl1pPr marL="514350" indent="-514350">
              <a:buFont typeface="Wingdings" panose="05000000000000000000" pitchFamily="2" charset="2"/>
              <a:buChar char="§"/>
              <a:defRPr>
                <a:solidFill>
                  <a:schemeClr val="bg2"/>
                </a:solidFill>
              </a:defRPr>
            </a:lvl1pPr>
            <a:lvl2pPr marL="1123935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2pPr>
            <a:lvl3pPr marL="1733520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3pPr>
            <a:lvl4pPr marL="2343105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4pPr>
            <a:lvl5pPr marL="2952689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5pPr>
          </a:lstStyle>
          <a:p>
            <a:pPr marL="360363" indent="-360363" fontAlgn="base">
              <a:buClr>
                <a:schemeClr val="bg2"/>
              </a:buClr>
            </a:pPr>
            <a:r>
              <a:rPr lang="en-GB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CMS </a:t>
            </a: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сайтът </a:t>
            </a:r>
            <a:r>
              <a:rPr lang="bg-BG" sz="3000" dirty="0"/>
              <a:t>изисква </a:t>
            </a:r>
            <a:r>
              <a:rPr lang="bg-BG" sz="3000" b="1" dirty="0"/>
              <a:t>редовна поддръжка </a:t>
            </a:r>
            <a:r>
              <a:rPr lang="bg-BG" sz="3000" dirty="0"/>
              <a:t>и </a:t>
            </a:r>
            <a:r>
              <a:rPr lang="bg-BG" sz="3000" b="1" dirty="0"/>
              <a:t>контрол</a:t>
            </a:r>
            <a:r>
              <a:rPr lang="bg-BG" sz="3000" dirty="0"/>
              <a:t> на </a:t>
            </a:r>
            <a:r>
              <a:rPr lang="bg-BG" sz="3000" b="1" dirty="0"/>
              <a:t>достъпа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bg-BG" sz="3000" dirty="0"/>
              <a:t>Основните </a:t>
            </a:r>
            <a:r>
              <a:rPr lang="bg-BG" sz="3000" b="1" dirty="0"/>
              <a:t>методи за защита </a:t>
            </a:r>
            <a:r>
              <a:rPr lang="bg-BG" sz="3000" dirty="0"/>
              <a:t>включват </a:t>
            </a: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актуализации</a:t>
            </a:r>
            <a:r>
              <a:rPr lang="bg-BG" sz="3000" dirty="0"/>
              <a:t>,</a:t>
            </a: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силни пароли</a:t>
            </a:r>
            <a:r>
              <a:rPr lang="bg-BG" sz="3000" dirty="0"/>
              <a:t>,</a:t>
            </a: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ограничени права </a:t>
            </a:r>
            <a:r>
              <a:rPr lang="bg-BG" sz="3000" dirty="0"/>
              <a:t>и</a:t>
            </a: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надеждни инструменти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Резервното копие </a:t>
            </a:r>
            <a:r>
              <a:rPr lang="bg-BG" sz="3000" b="1" dirty="0"/>
              <a:t>намалява риска </a:t>
            </a:r>
            <a:r>
              <a:rPr lang="bg-BG" sz="3000" dirty="0"/>
              <a:t>от </a:t>
            </a:r>
            <a:r>
              <a:rPr lang="bg-BG" sz="3000" b="1" dirty="0"/>
              <a:t>загуба</a:t>
            </a:r>
            <a:r>
              <a:rPr lang="bg-BG" sz="3000" dirty="0"/>
              <a:t> на </a:t>
            </a:r>
            <a:r>
              <a:rPr lang="bg-BG" sz="3000" b="1" dirty="0"/>
              <a:t>съдържание</a:t>
            </a:r>
            <a:r>
              <a:rPr lang="bg-BG" sz="3000" dirty="0"/>
              <a:t> и </a:t>
            </a:r>
            <a:r>
              <a:rPr lang="bg-BG" sz="3000" b="1" dirty="0"/>
              <a:t>настройки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bg-BG" sz="3000" dirty="0"/>
              <a:t>Пълното</a:t>
            </a: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резервно копие </a:t>
            </a:r>
            <a:r>
              <a:rPr lang="bg-BG" sz="3000" dirty="0"/>
              <a:t>включва</a:t>
            </a: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файлове </a:t>
            </a:r>
            <a:r>
              <a:rPr lang="bg-BG" sz="3000" dirty="0"/>
              <a:t>и</a:t>
            </a: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база данни </a:t>
            </a:r>
            <a:r>
              <a:rPr lang="bg-BG" sz="3000" dirty="0"/>
              <a:t>и зависи от </a:t>
            </a:r>
            <a:r>
              <a:rPr lang="bg-BG" sz="3000" b="1" dirty="0"/>
              <a:t>средата </a:t>
            </a:r>
            <a:r>
              <a:rPr lang="bg-BG" sz="3000" dirty="0"/>
              <a:t>на</a:t>
            </a:r>
            <a:r>
              <a:rPr lang="bg-BG" sz="3000" b="1" dirty="0"/>
              <a:t> сайта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Обобщение</a:t>
            </a:r>
            <a:endParaRPr lang="en-US" dirty="0"/>
          </a:p>
        </p:txBody>
      </p:sp>
      <p:sp>
        <p:nvSpPr>
          <p:cNvPr id="2" name="Slide Number">
            <a:extLst>
              <a:ext uri="{FF2B5EF4-FFF2-40B4-BE49-F238E27FC236}">
                <a16:creationId xmlns:a16="http://schemas.microsoft.com/office/drawing/2014/main" id="{E369AAE7-BDDC-FE11-A61E-E20F7F6632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21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23049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Title">
            <a:extLst>
              <a:ext uri="{FF2B5EF4-FFF2-40B4-BE49-F238E27FC236}">
                <a16:creationId xmlns:a16="http://schemas.microsoft.com/office/drawing/2014/main" id="{FA0703FC-0F8F-4C80-A615-E4B381EC0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Въпроси</a:t>
            </a:r>
            <a:r>
              <a:rPr lang="en-US" dirty="0"/>
              <a:t>?</a:t>
            </a:r>
          </a:p>
        </p:txBody>
      </p:sp>
      <p:sp>
        <p:nvSpPr>
          <p:cNvPr id="2" name="Rectangle Bottom Copyright">
            <a:extLst>
              <a:ext uri="{FF2B5EF4-FFF2-40B4-BE49-F238E27FC236}">
                <a16:creationId xmlns:a16="http://schemas.microsoft.com/office/drawing/2014/main" id="{664812A4-2991-44D1-BFE9-32E55AADF8A5}"/>
              </a:ext>
            </a:extLst>
          </p:cNvPr>
          <p:cNvSpPr/>
          <p:nvPr/>
        </p:nvSpPr>
        <p:spPr>
          <a:xfrm>
            <a:off x="111000" y="6454758"/>
            <a:ext cx="11970000" cy="304242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Проект "</a:t>
            </a:r>
            <a:r>
              <a:rPr lang="bg-BG" sz="1600" dirty="0">
                <a:solidFill>
                  <a:schemeClr val="bg1">
                    <a:lumMod val="20000"/>
                    <a:lumOff val="8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Отворено учебно съдържание по програмиране и ИТ</a:t>
            </a: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", СофтУни Фондация (лиценз </a:t>
            </a:r>
            <a:r>
              <a:rPr lang="en-US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CC-BY-NC-SA</a:t>
            </a: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)</a:t>
            </a:r>
            <a:endParaRPr lang="bg-BG" sz="2400" dirty="0">
              <a:solidFill>
                <a:schemeClr val="bg2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2534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F48C3C93-90A1-4D31-BEA6-B54D1106CE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2" name="Slide Body">
            <a:extLst>
              <a:ext uri="{FF2B5EF4-FFF2-40B4-BE49-F238E27FC236}">
                <a16:creationId xmlns:a16="http://schemas.microsoft.com/office/drawing/2014/main" id="{980F49B1-E4BE-4389-A747-7AB9B71AD92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269001"/>
            <a:ext cx="9865598" cy="2474999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bg-BG" sz="3200" dirty="0"/>
              <a:t>Този курс</a:t>
            </a:r>
            <a:r>
              <a:rPr lang="en-US" sz="3200" dirty="0"/>
              <a:t> (</a:t>
            </a:r>
            <a:r>
              <a:rPr lang="bg-BG" sz="3200" dirty="0"/>
              <a:t>презентации, примери, демонстрационен код, упражнения, домашни, видео и други активи</a:t>
            </a:r>
            <a:r>
              <a:rPr lang="en-US" sz="3200" dirty="0"/>
              <a:t>) </a:t>
            </a:r>
            <a:r>
              <a:rPr lang="bg-BG" sz="3200" dirty="0"/>
              <a:t>представлява</a:t>
            </a:r>
            <a:r>
              <a:rPr lang="en-US" sz="3200" dirty="0"/>
              <a:t> </a:t>
            </a:r>
            <a:r>
              <a:rPr lang="bg-BG" sz="3200" b="1" dirty="0"/>
              <a:t>свободно учебно съдържание </a:t>
            </a:r>
            <a:r>
              <a:rPr lang="bg-BG" sz="3200" dirty="0"/>
              <a:t>и се разпространява под свободен лиценз </a:t>
            </a:r>
            <a:r>
              <a:rPr lang="en-US" sz="3200" b="1" dirty="0"/>
              <a:t>CC-BY-NC-SA</a:t>
            </a:r>
            <a:endParaRPr lang="bg-BG" sz="3200" dirty="0"/>
          </a:p>
        </p:txBody>
      </p:sp>
      <p:pic>
        <p:nvPicPr>
          <p:cNvPr id="6" name="Picture License" descr="License">
            <a:extLst>
              <a:ext uri="{FF2B5EF4-FFF2-40B4-BE49-F238E27FC236}">
                <a16:creationId xmlns:a16="http://schemas.microsoft.com/office/drawing/2014/main" id="{82BA520F-A037-4E01-AA18-27D9F1E930A6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6175" y="1440120"/>
            <a:ext cx="1198986" cy="1268880"/>
          </a:xfrm>
          <a:prstGeom prst="rect">
            <a:avLst/>
          </a:prstGeom>
        </p:spPr>
      </p:pic>
      <p:sp>
        <p:nvSpPr>
          <p:cNvPr id="3" name="Slide Title">
            <a:extLst>
              <a:ext uri="{FF2B5EF4-FFF2-40B4-BE49-F238E27FC236}">
                <a16:creationId xmlns:a16="http://schemas.microsoft.com/office/drawing/2014/main" id="{E5F1FB41-80C3-4816-BC47-CCC50632E6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Лиценз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18DF19-B750-4C88-975B-661A6BF61F5E}"/>
              </a:ext>
            </a:extLst>
          </p:cNvPr>
          <p:cNvSpPr txBox="1"/>
          <p:nvPr/>
        </p:nvSpPr>
        <p:spPr>
          <a:xfrm>
            <a:off x="190401" y="3927519"/>
            <a:ext cx="11710599" cy="1979644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pPr marL="360363" indent="-360363" defTabSz="1218438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/>
            </a:pPr>
            <a:r>
              <a:rPr lang="bg-BG" sz="3200" dirty="0"/>
              <a:t>Проект "</a:t>
            </a:r>
            <a:r>
              <a:rPr lang="bg-BG" sz="3200" b="1" dirty="0"/>
              <a:t>Отворено учебно съдържание по програмиране и ИТ</a:t>
            </a:r>
            <a:r>
              <a:rPr lang="bg-BG" sz="3200" dirty="0"/>
              <a:t>" към Фондация "Софтуерен университет"</a:t>
            </a:r>
            <a:r>
              <a:rPr lang="en-US" sz="3200" dirty="0"/>
              <a:t>:</a:t>
            </a:r>
            <a:endParaRPr lang="bg-BG" sz="3200" dirty="0"/>
          </a:p>
          <a:p>
            <a:pPr marL="817563" lvl="1" indent="-360363" defTabSz="1218438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234465"/>
                </a:solidFill>
                <a:effectLst/>
                <a:uLnTx/>
                <a:uFillTx/>
                <a:latin typeface="Calibri"/>
                <a:ea typeface="+mn-ea"/>
                <a:cs typeface="+mn-cs"/>
                <a:hlinkClick r:id="rId4"/>
              </a:rPr>
              <a:t>https://github.com/BG-IT-Edu</a:t>
            </a:r>
            <a:endParaRPr kumimoji="0" lang="bg-BG" sz="3200" b="0" i="0" u="none" strike="noStrike" kern="1200" cap="none" spc="0" normalizeH="0" baseline="0" noProof="0" dirty="0">
              <a:ln>
                <a:noFill/>
              </a:ln>
              <a:solidFill>
                <a:srgbClr val="234465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7" name="Picture 6" title="CC-BY-NC-SA License">
            <a:hlinkClick r:id="rId5" tooltip="This work is licensed under the &quot;Creative Commons Attribution-NonCommercial-ShareAlike 4.0 International&quot; license"/>
            <a:extLst>
              <a:ext uri="{FF2B5EF4-FFF2-40B4-BE49-F238E27FC236}">
                <a16:creationId xmlns:a16="http://schemas.microsoft.com/office/drawing/2014/main" id="{F6C77C47-F7D8-A176-5C69-7FDE5C7E80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31000" y="2908593"/>
            <a:ext cx="1989336" cy="696022"/>
          </a:xfrm>
          <a:prstGeom prst="roundRect">
            <a:avLst>
              <a:gd name="adj" fmla="val 3940"/>
            </a:avLst>
          </a:prstGeom>
          <a:solidFill>
            <a:srgbClr val="231F20">
              <a:alpha val="50000"/>
            </a:srgbClr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79276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8|0.4|0.3|0.5|0.3|0.3|0.4|0.4"/>
</p:tagLst>
</file>

<file path=ppt/theme/theme1.xml><?xml version="1.0" encoding="utf-8"?>
<a:theme xmlns:a="http://schemas.openxmlformats.org/drawingml/2006/main" name="SoftUni">
  <a:themeElements>
    <a:clrScheme name="Custom 2">
      <a:dk1>
        <a:srgbClr val="234465"/>
      </a:dk1>
      <a:lt1>
        <a:srgbClr val="BF7800"/>
      </a:lt1>
      <a:dk2>
        <a:srgbClr val="234465"/>
      </a:dk2>
      <a:lt2>
        <a:srgbClr val="FFFFFF"/>
      </a:lt2>
      <a:accent1>
        <a:srgbClr val="FFA000"/>
      </a:accent1>
      <a:accent2>
        <a:srgbClr val="00B050"/>
      </a:accent2>
      <a:accent3>
        <a:srgbClr val="44A9F8"/>
      </a:accent3>
      <a:accent4>
        <a:srgbClr val="7030A0"/>
      </a:accent4>
      <a:accent5>
        <a:srgbClr val="67748E"/>
      </a:accent5>
      <a:accent6>
        <a:srgbClr val="F4F5F7"/>
      </a:accent6>
      <a:hlink>
        <a:srgbClr val="BF7800"/>
      </a:hlink>
      <a:folHlink>
        <a:srgbClr val="EF9511"/>
      </a:folHlink>
    </a:clrScheme>
    <a:fontScheme name="SoftUni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dk2">
            <a:alpha val="80000"/>
          </a:schemeClr>
        </a:solidFill>
        <a:ln w="19050">
          <a:solidFill>
            <a:schemeClr val="tx1">
              <a:lumMod val="75000"/>
              <a:alpha val="80000"/>
            </a:schemeClr>
          </a:solidFill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2800" b="1" dirty="0">
            <a:solidFill>
              <a:srgbClr val="FFFFFF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defRPr>
        </a:defPPr>
      </a:lstStyle>
      <a:style>
        <a:lnRef idx="2">
          <a:schemeClr val="accent1">
            <a:shade val="50000"/>
          </a:schemeClr>
        </a:lnRef>
        <a:fillRef idx="1001">
          <a:schemeClr val="dk2"/>
        </a:fillRef>
        <a:effectRef idx="0">
          <a:schemeClr val="accent1"/>
        </a:effectRef>
        <a:fontRef idx="minor">
          <a:schemeClr val="lt1"/>
        </a:fontRef>
      </a:style>
    </a:spDef>
    <a:txDef>
      <a:spPr>
        <a:solidFill>
          <a:schemeClr val="accent6">
            <a:lumMod val="75000"/>
            <a:alpha val="15000"/>
          </a:schemeClr>
        </a:solidFill>
        <a:ln w="12700">
          <a:solidFill>
            <a:schemeClr val="tx1">
              <a:lumMod val="75000"/>
            </a:schemeClr>
          </a:solidFill>
        </a:ln>
      </a:spPr>
      <a:bodyPr vert="horz" wrap="square" lIns="144000" tIns="108000" rIns="144000" bIns="108000" rtlCol="0">
        <a:spAutoFit/>
      </a:bodyPr>
      <a:lstStyle>
        <a:defPPr algn="l" eaLnBrk="0" hangingPunct="0">
          <a:lnSpc>
            <a:spcPct val="110000"/>
          </a:lnSpc>
          <a:buClr>
            <a:schemeClr val="accent5">
              <a:lumMod val="40000"/>
              <a:lumOff val="60000"/>
            </a:schemeClr>
          </a:buClr>
          <a:buSzPct val="70000"/>
          <a:defRPr sz="24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SoftUni" id="{D61FAD9B-6E74-4E03-BFE4-B363D484F1DA}" vid="{7089C1A3-635B-4B03-A017-DAF10A3A396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62620</TotalTime>
  <Words>994</Words>
  <Application>Microsoft Office PowerPoint</Application>
  <PresentationFormat>Widescreen</PresentationFormat>
  <Paragraphs>149</Paragraphs>
  <Slides>23</Slides>
  <Notes>11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Arial</vt:lpstr>
      <vt:lpstr>Calibri</vt:lpstr>
      <vt:lpstr>Consolas</vt:lpstr>
      <vt:lpstr>Wingdings</vt:lpstr>
      <vt:lpstr>SoftUni</vt:lpstr>
      <vt:lpstr>Повишаване на сигурността в уеб</vt:lpstr>
      <vt:lpstr>Съдържание</vt:lpstr>
      <vt:lpstr>Рискове и методи на защита</vt:lpstr>
      <vt:lpstr>Рискове при използване на CMS</vt:lpstr>
      <vt:lpstr>Основни източници на риск</vt:lpstr>
      <vt:lpstr>Последици от проблем със сигурността</vt:lpstr>
      <vt:lpstr>Методи за защита на CMS сайт</vt:lpstr>
      <vt:lpstr>Актуализации и поддръжка</vt:lpstr>
      <vt:lpstr>Потребители и права за достъп</vt:lpstr>
      <vt:lpstr>Резервни копия</vt:lpstr>
      <vt:lpstr>Резервно копие на уеб сайт</vt:lpstr>
      <vt:lpstr>Съдържание на резервното копие</vt:lpstr>
      <vt:lpstr>Експорт на съдържание</vt:lpstr>
      <vt:lpstr>Пълно резервно копие</vt:lpstr>
      <vt:lpstr>Правила за съхранение на копия</vt:lpstr>
      <vt:lpstr>Методи за резервно копие в WordPress</vt:lpstr>
      <vt:lpstr>Пример</vt:lpstr>
      <vt:lpstr>Резервно копие на WordPress сайт (1)</vt:lpstr>
      <vt:lpstr>Резервно копие на WordPress сайт (2)</vt:lpstr>
      <vt:lpstr>PowerPoint Presentation</vt:lpstr>
      <vt:lpstr>Обобщение</vt:lpstr>
      <vt:lpstr>Въпроси?</vt:lpstr>
      <vt:lpstr>Лиценз</vt:lpstr>
    </vt:vector>
  </TitlesOfParts>
  <Manager/>
  <Company>BG-IT-Edu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Повишаване на сигурността в уеб</dc:title>
  <dc:subject>Модул 3: Информационни технологии</dc:subject>
  <dc:creator>BG-IT-Edu</dc:creator>
  <cp:keywords>programming; training; course</cp:keywords>
  <dc:description>Open Programming and IT Courseware for IT Teachers (BG-IT-Edu): https://github.com/BG-IT-Edu
With the kind support of SoftUni: https://softuni.bg</dc:description>
  <cp:lastModifiedBy>Zaraliev</cp:lastModifiedBy>
  <cp:revision>483</cp:revision>
  <dcterms:created xsi:type="dcterms:W3CDTF">2018-05-23T13:08:44Z</dcterms:created>
  <dcterms:modified xsi:type="dcterms:W3CDTF">2026-08-28T09:46:19Z</dcterms:modified>
  <cp:category/>
</cp:coreProperties>
</file>