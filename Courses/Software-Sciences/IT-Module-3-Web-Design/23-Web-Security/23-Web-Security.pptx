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handoutMasterIdLst>
    <p:handoutMasterId r:id="rId28"/>
  </p:handoutMasterIdLst>
  <p:sldIdLst>
    <p:sldId id="503" r:id="rId2"/>
    <p:sldId id="276" r:id="rId3"/>
    <p:sldId id="353" r:id="rId4"/>
    <p:sldId id="497" r:id="rId5"/>
    <p:sldId id="916" r:id="rId6"/>
    <p:sldId id="926" r:id="rId7"/>
    <p:sldId id="917" r:id="rId8"/>
    <p:sldId id="925" r:id="rId9"/>
    <p:sldId id="918" r:id="rId10"/>
    <p:sldId id="610" r:id="rId11"/>
    <p:sldId id="902" r:id="rId12"/>
    <p:sldId id="919" r:id="rId13"/>
    <p:sldId id="927" r:id="rId14"/>
    <p:sldId id="928" r:id="rId15"/>
    <p:sldId id="921" r:id="rId16"/>
    <p:sldId id="922" r:id="rId17"/>
    <p:sldId id="654" r:id="rId18"/>
    <p:sldId id="881" r:id="rId19"/>
    <p:sldId id="923" r:id="rId20"/>
    <p:sldId id="929" r:id="rId21"/>
    <p:sldId id="930" r:id="rId22"/>
    <p:sldId id="931" r:id="rId23"/>
    <p:sldId id="633" r:id="rId24"/>
    <p:sldId id="504" r:id="rId25"/>
    <p:sldId id="50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Рискове и методи на защита" id="{66DCFE1F-60FD-44F2-BE82-706DDBC14898}">
          <p14:sldIdLst>
            <p14:sldId id="353"/>
            <p14:sldId id="497"/>
            <p14:sldId id="916"/>
            <p14:sldId id="926"/>
            <p14:sldId id="917"/>
            <p14:sldId id="925"/>
            <p14:sldId id="918"/>
          </p14:sldIdLst>
        </p14:section>
        <p14:section name="Резервни копия" id="{EB44CA50-B176-0C4C-B0D0-5459023C7783}">
          <p14:sldIdLst>
            <p14:sldId id="610"/>
            <p14:sldId id="902"/>
            <p14:sldId id="919"/>
            <p14:sldId id="927"/>
            <p14:sldId id="928"/>
            <p14:sldId id="921"/>
            <p14:sldId id="922"/>
          </p14:sldIdLst>
        </p14:section>
        <p14:section name="Демо" id="{276EAB92-AF41-DD42-AFD3-D1ABB239E1A7}">
          <p14:sldIdLst>
            <p14:sldId id="654"/>
            <p14:sldId id="881"/>
            <p14:sldId id="923"/>
            <p14:sldId id="929"/>
            <p14:sldId id="930"/>
            <p14:sldId id="931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5274" autoAdjust="0"/>
  </p:normalViewPr>
  <p:slideViewPr>
    <p:cSldViewPr showGuides="1">
      <p:cViewPr varScale="1">
        <p:scale>
          <a:sx n="108" d="100"/>
          <a:sy n="108" d="100"/>
        </p:scale>
        <p:origin x="360" y="18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8" d="100"/>
        <a:sy n="128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84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5138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200" dirty="0"/>
              <a:t>Рискове, методи на защита и резервни копия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5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Повишаване на сигурността в уеб</a:t>
            </a:r>
            <a:endParaRPr lang="en-US" sz="5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45C0712-B71F-D8C6-888A-9B0F890ACE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4" b="129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Рискове и методи на защита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Рискове</a:t>
            </a:r>
            <a:r>
              <a:rPr lang="bg-BG" sz="3600" dirty="0"/>
              <a:t> при </a:t>
            </a:r>
            <a:r>
              <a:rPr lang="bg-BG" sz="3600" b="1" dirty="0"/>
              <a:t>използване</a:t>
            </a:r>
            <a:r>
              <a:rPr lang="bg-BG" sz="3600" dirty="0"/>
              <a:t> на </a:t>
            </a:r>
            <a:r>
              <a:rPr lang="en-US" sz="3600" b="1" dirty="0"/>
              <a:t>CMS</a:t>
            </a:r>
            <a:endParaRPr lang="bg-BG" sz="36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Методи</a:t>
            </a:r>
            <a:r>
              <a:rPr lang="bg-BG" sz="3600" dirty="0"/>
              <a:t> за </a:t>
            </a:r>
            <a:r>
              <a:rPr lang="bg-BG" sz="3600" b="1" dirty="0"/>
              <a:t>защита</a:t>
            </a:r>
            <a:r>
              <a:rPr lang="bg-BG" sz="3600" dirty="0"/>
              <a:t> на </a:t>
            </a:r>
            <a:r>
              <a:rPr lang="en-US" sz="3600" b="1" dirty="0"/>
              <a:t>CMS </a:t>
            </a:r>
            <a:r>
              <a:rPr lang="bg-BG" sz="3600" b="1" dirty="0"/>
              <a:t>сайт</a:t>
            </a:r>
            <a:endParaRPr lang="bg-BG" sz="36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Резервни копия</a:t>
            </a:r>
            <a:endParaRPr lang="en-US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Методи</a:t>
            </a:r>
            <a:r>
              <a:rPr lang="bg-BG" sz="3600" dirty="0"/>
              <a:t> за </a:t>
            </a:r>
            <a:r>
              <a:rPr lang="bg-BG" sz="3600" b="1" dirty="0"/>
              <a:t>резервно копие </a:t>
            </a:r>
            <a:r>
              <a:rPr lang="bg-BG" sz="3600" dirty="0"/>
              <a:t>в </a:t>
            </a:r>
            <a:r>
              <a:rPr lang="en-GB" sz="3600" b="1" dirty="0"/>
              <a:t>WordPress</a:t>
            </a:r>
            <a:endParaRPr lang="bg-BG" sz="36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Правила</a:t>
            </a:r>
            <a:r>
              <a:rPr lang="bg-BG" sz="3600" dirty="0"/>
              <a:t> за </a:t>
            </a:r>
            <a:r>
              <a:rPr lang="bg-BG" sz="3600" b="1" dirty="0"/>
              <a:t>съхранение</a:t>
            </a:r>
            <a:r>
              <a:rPr lang="bg-BG" sz="3600" dirty="0"/>
              <a:t> на </a:t>
            </a:r>
            <a:r>
              <a:rPr lang="bg-BG" sz="3600" b="1" dirty="0"/>
              <a:t>копия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4000" b="1" dirty="0"/>
              <a:t>Пример: </a:t>
            </a:r>
            <a:r>
              <a:rPr lang="bg-BG" sz="4000" dirty="0"/>
              <a:t>Резервно копие на </a:t>
            </a:r>
            <a:r>
              <a:rPr lang="en-US" sz="4000" dirty="0"/>
              <a:t>WordPress</a:t>
            </a:r>
            <a:r>
              <a:rPr lang="bg-BG" sz="4000" dirty="0"/>
              <a:t> 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Повишаване на сигурността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Рискове и методи на защита</a:t>
            </a:r>
            <a:endParaRPr lang="en-US" sz="6000" dirty="0"/>
          </a:p>
        </p:txBody>
      </p:sp>
      <p:pic>
        <p:nvPicPr>
          <p:cNvPr id="2" name="Picture 1" descr="a_clean_glossy_3d_isometric_like_vector_3d_illust_batch_3.png">
            <a:extLst>
              <a:ext uri="{FF2B5EF4-FFF2-40B4-BE49-F238E27FC236}">
                <a16:creationId xmlns:a16="http://schemas.microsoft.com/office/drawing/2014/main" id="{19689F0F-0255-3F5F-731F-06B12238C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000" y="1269000"/>
            <a:ext cx="2700000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39323" cy="5528766"/>
          </a:xfrm>
        </p:spPr>
        <p:txBody>
          <a:bodyPr>
            <a:normAutofit/>
          </a:bodyPr>
          <a:lstStyle/>
          <a:p>
            <a:r>
              <a:rPr lang="bg-BG" sz="2800" b="1" dirty="0"/>
              <a:t>Съдържанието</a:t>
            </a:r>
            <a:r>
              <a:rPr lang="bg-BG" sz="2800" dirty="0"/>
              <a:t>, </a:t>
            </a:r>
            <a:r>
              <a:rPr lang="bg-BG" sz="2800" b="1" dirty="0"/>
              <a:t>потребителите</a:t>
            </a:r>
            <a:r>
              <a:rPr lang="bg-BG" sz="2800" dirty="0"/>
              <a:t>, </a:t>
            </a:r>
            <a:r>
              <a:rPr lang="bg-BG" sz="2800" b="1" dirty="0"/>
              <a:t>темите</a:t>
            </a:r>
            <a:r>
              <a:rPr lang="bg-BG" sz="2800" dirty="0"/>
              <a:t> и </a:t>
            </a:r>
            <a:r>
              <a:rPr lang="bg-BG" sz="2800" b="1" dirty="0"/>
              <a:t>добавките</a:t>
            </a:r>
            <a:r>
              <a:rPr lang="bg-BG" sz="2800" dirty="0"/>
              <a:t> се </a:t>
            </a:r>
            <a:r>
              <a:rPr lang="bg-BG" sz="2800" b="1" dirty="0">
                <a:solidFill>
                  <a:schemeClr val="bg1"/>
                </a:solidFill>
              </a:rPr>
              <a:t>управляват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едно място</a:t>
            </a:r>
          </a:p>
          <a:p>
            <a:r>
              <a:rPr lang="bg-BG" sz="2800" b="1" dirty="0"/>
              <a:t>Публичният код </a:t>
            </a:r>
            <a:r>
              <a:rPr lang="bg-BG" sz="2800" dirty="0"/>
              <a:t>и </a:t>
            </a:r>
            <a:r>
              <a:rPr lang="bg-BG" sz="2800" b="1" dirty="0"/>
              <a:t>популярността</a:t>
            </a:r>
            <a:r>
              <a:rPr lang="bg-BG" sz="2800" dirty="0"/>
              <a:t> на </a:t>
            </a:r>
            <a:r>
              <a:rPr lang="bg-BG" sz="2800" b="1" dirty="0"/>
              <a:t>системата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улесняват</a:t>
            </a:r>
            <a:r>
              <a:rPr lang="bg-BG" sz="2800" dirty="0"/>
              <a:t> </a:t>
            </a:r>
            <a:r>
              <a:rPr lang="bg-BG" sz="2800" b="1" dirty="0"/>
              <a:t>намирането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известни слабости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Остарели компоненти </a:t>
            </a:r>
            <a:r>
              <a:rPr lang="bg-BG" sz="2800" dirty="0"/>
              <a:t>или </a:t>
            </a:r>
            <a:r>
              <a:rPr lang="bg-BG" sz="2800" b="1" dirty="0">
                <a:solidFill>
                  <a:schemeClr val="bg1"/>
                </a:solidFill>
              </a:rPr>
              <a:t>неправилни настройки</a:t>
            </a:r>
            <a:r>
              <a:rPr lang="bg-BG" sz="2800" dirty="0"/>
              <a:t> могат да доведат до </a:t>
            </a:r>
            <a:r>
              <a:rPr lang="bg-BG" sz="2800" b="1" dirty="0"/>
              <a:t>проблем</a:t>
            </a:r>
          </a:p>
          <a:p>
            <a:r>
              <a:rPr lang="bg-BG" sz="2800" b="1" dirty="0"/>
              <a:t>Рискът</a:t>
            </a:r>
            <a:r>
              <a:rPr lang="bg-BG" sz="2800" dirty="0"/>
              <a:t> се </a:t>
            </a:r>
            <a:r>
              <a:rPr lang="bg-BG" sz="2800" b="1" dirty="0"/>
              <a:t>увеличава</a:t>
            </a:r>
            <a:r>
              <a:rPr lang="bg-BG" sz="2800" dirty="0"/>
              <a:t> при </a:t>
            </a:r>
            <a:r>
              <a:rPr lang="bg-BG" sz="2800" b="1" dirty="0">
                <a:solidFill>
                  <a:schemeClr val="bg1"/>
                </a:solidFill>
              </a:rPr>
              <a:t>много потребители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недостатъчна поддръжка</a:t>
            </a:r>
          </a:p>
          <a:p>
            <a:endParaRPr lang="bg-BG" sz="28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Рискове при използване на </a:t>
            </a:r>
            <a:r>
              <a:rPr lang="en-US" dirty="0"/>
              <a:t>CMS</a:t>
            </a:r>
          </a:p>
        </p:txBody>
      </p:sp>
      <p:pic>
        <p:nvPicPr>
          <p:cNvPr id="3" name="Picture 2" descr="a_colorful_3d_isometric_3d_styled_cybersecurity_wa_batch_2.png">
            <a:extLst>
              <a:ext uri="{FF2B5EF4-FFF2-40B4-BE49-F238E27FC236}">
                <a16:creationId xmlns:a16="http://schemas.microsoft.com/office/drawing/2014/main" id="{B94CE88D-4B81-8168-10C3-ECFD9709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725" y="2933783"/>
            <a:ext cx="3845168" cy="38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198E8-675F-BC3F-3947-3C5B0E6F6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5A8B-F2EC-68B1-F209-07CC2CBF01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710598" cy="5528766"/>
          </a:xfrm>
        </p:spPr>
        <p:txBody>
          <a:bodyPr>
            <a:normAutofit/>
          </a:bodyPr>
          <a:lstStyle/>
          <a:p>
            <a:r>
              <a:rPr lang="bg-BG" sz="2800" b="1" dirty="0">
                <a:solidFill>
                  <a:schemeClr val="bg1"/>
                </a:solidFill>
              </a:rPr>
              <a:t>Слаби пароли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споделени профили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Стари версии </a:t>
            </a:r>
            <a:r>
              <a:rPr lang="bg-BG" sz="2800" dirty="0"/>
              <a:t>на </a:t>
            </a:r>
            <a:r>
              <a:rPr lang="en-GB" sz="2800" b="1" dirty="0"/>
              <a:t>WordPress</a:t>
            </a:r>
            <a:r>
              <a:rPr lang="en-GB" sz="2800" dirty="0"/>
              <a:t>, </a:t>
            </a:r>
            <a:r>
              <a:rPr lang="bg-BG" sz="2800" b="1" dirty="0"/>
              <a:t>теми</a:t>
            </a:r>
            <a:r>
              <a:rPr lang="bg-BG" sz="2800" dirty="0"/>
              <a:t> и </a:t>
            </a:r>
            <a:r>
              <a:rPr lang="bg-BG" sz="2800" b="1" dirty="0"/>
              <a:t>добавки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Ненужни </a:t>
            </a:r>
            <a:r>
              <a:rPr lang="bg-BG" sz="2800" b="1" dirty="0"/>
              <a:t>добавки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dirty="0"/>
              <a:t>или </a:t>
            </a:r>
            <a:r>
              <a:rPr lang="bg-BG" sz="2800" b="1" dirty="0"/>
              <a:t>компоненти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ненадежден източник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Липса</a:t>
            </a:r>
            <a:r>
              <a:rPr lang="bg-BG" sz="2800" dirty="0"/>
              <a:t> на </a:t>
            </a:r>
            <a:r>
              <a:rPr lang="bg-BG" sz="2800" b="1" dirty="0"/>
              <a:t>резервно копие </a:t>
            </a:r>
            <a:r>
              <a:rPr lang="bg-BG" sz="2800" dirty="0"/>
              <a:t>преди </a:t>
            </a:r>
            <a:r>
              <a:rPr lang="bg-BG" sz="2800" b="1" dirty="0"/>
              <a:t>промяна</a:t>
            </a:r>
            <a:r>
              <a:rPr lang="bg-BG" sz="2800" dirty="0"/>
              <a:t>, </a:t>
            </a:r>
            <a:r>
              <a:rPr lang="bg-BG" sz="2800" b="1" dirty="0"/>
              <a:t>актуализация</a:t>
            </a:r>
            <a:r>
              <a:rPr lang="bg-BG" sz="2800" dirty="0"/>
              <a:t> или </a:t>
            </a:r>
            <a:r>
              <a:rPr lang="bg-BG" sz="2800" b="1" dirty="0"/>
              <a:t>инсталиране</a:t>
            </a:r>
            <a:r>
              <a:rPr lang="bg-BG" sz="2800" dirty="0"/>
              <a:t> на </a:t>
            </a:r>
            <a:r>
              <a:rPr lang="bg-BG" sz="2800" b="1" dirty="0"/>
              <a:t>добавка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CF43E8-B36C-9183-3BAD-13092EAF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източници на риск</a:t>
            </a:r>
            <a:endParaRPr lang="en-BG" dirty="0"/>
          </a:p>
        </p:txBody>
      </p:sp>
      <p:pic>
        <p:nvPicPr>
          <p:cNvPr id="5" name="Picture 4" descr="a_clean_glossy_3d_isometric_illustration_style_co_5_batch_5.png">
            <a:extLst>
              <a:ext uri="{FF2B5EF4-FFF2-40B4-BE49-F238E27FC236}">
                <a16:creationId xmlns:a16="http://schemas.microsoft.com/office/drawing/2014/main" id="{903CB2D0-5E62-830D-9432-53D5A5A520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91"/>
          <a:stretch/>
        </p:blipFill>
        <p:spPr>
          <a:xfrm>
            <a:off x="4416302" y="3688950"/>
            <a:ext cx="3110828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7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E211A3-4808-090D-2019-4C7594533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D7DFD-B024-BA5D-5DA9-A396E287D1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Неоторизиран достъп </a:t>
            </a:r>
            <a:r>
              <a:rPr lang="bg-BG" dirty="0"/>
              <a:t>до </a:t>
            </a:r>
            <a:r>
              <a:rPr lang="bg-BG" b="1" dirty="0"/>
              <a:t>административния панел</a:t>
            </a:r>
          </a:p>
          <a:p>
            <a:r>
              <a:rPr lang="bg-BG" b="1" dirty="0">
                <a:solidFill>
                  <a:schemeClr val="bg1"/>
                </a:solidFill>
              </a:rPr>
              <a:t>Промяна</a:t>
            </a:r>
            <a:r>
              <a:rPr lang="bg-BG" dirty="0"/>
              <a:t> или </a:t>
            </a:r>
            <a:r>
              <a:rPr lang="bg-BG" b="1" dirty="0">
                <a:solidFill>
                  <a:schemeClr val="bg1"/>
                </a:solidFill>
              </a:rPr>
              <a:t>изтриване</a:t>
            </a:r>
            <a:r>
              <a:rPr lang="bg-BG" dirty="0"/>
              <a:t> на </a:t>
            </a:r>
            <a:r>
              <a:rPr lang="bg-BG" b="1" dirty="0"/>
              <a:t>съдържание</a:t>
            </a:r>
          </a:p>
          <a:p>
            <a:r>
              <a:rPr lang="bg-BG" b="1" dirty="0">
                <a:solidFill>
                  <a:schemeClr val="bg1"/>
                </a:solidFill>
              </a:rPr>
              <a:t>Спиране</a:t>
            </a:r>
            <a:r>
              <a:rPr lang="bg-BG" dirty="0"/>
              <a:t> или </a:t>
            </a:r>
            <a:r>
              <a:rPr lang="bg-BG" b="1" dirty="0">
                <a:solidFill>
                  <a:schemeClr val="bg1"/>
                </a:solidFill>
              </a:rPr>
              <a:t>забавяне</a:t>
            </a:r>
            <a:r>
              <a:rPr lang="bg-BG" dirty="0"/>
              <a:t> на </a:t>
            </a:r>
            <a:r>
              <a:rPr lang="bg-BG" b="1" dirty="0"/>
              <a:t>уеб сайта</a:t>
            </a:r>
          </a:p>
          <a:p>
            <a:r>
              <a:rPr lang="bg-BG" b="1" dirty="0">
                <a:solidFill>
                  <a:schemeClr val="bg1"/>
                </a:solidFill>
              </a:rPr>
              <a:t>Загуба на информация </a:t>
            </a:r>
            <a:r>
              <a:rPr lang="bg-BG" dirty="0"/>
              <a:t>и </a:t>
            </a:r>
            <a:r>
              <a:rPr lang="bg-BG" b="1" dirty="0"/>
              <a:t>доверие</a:t>
            </a:r>
            <a:r>
              <a:rPr lang="bg-BG" dirty="0"/>
              <a:t> към </a:t>
            </a:r>
            <a:r>
              <a:rPr lang="bg-BG" b="1" dirty="0"/>
              <a:t>уеб сайта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947260-3189-E5BF-8D8F-CF4623D4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b="1" dirty="0">
                <a:latin typeface="Calibri"/>
              </a:rPr>
              <a:t>Последици от проблем със сигурността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5C6FD-CDE0-7B1C-BA7D-8448254B69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69"/>
          <a:stretch/>
        </p:blipFill>
        <p:spPr>
          <a:xfrm>
            <a:off x="3621059" y="3834203"/>
            <a:ext cx="4701314" cy="28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BA703-FD66-228C-F6E7-78E8E55E0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5EEAF-DFC4-AEFB-4589-9A215AD741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66559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Защита</a:t>
            </a:r>
            <a:r>
              <a:rPr lang="bg-BG" sz="3000" dirty="0"/>
              <a:t> на </a:t>
            </a:r>
            <a:r>
              <a:rPr lang="bg-BG" sz="3000" b="1" dirty="0"/>
              <a:t>административния панел </a:t>
            </a:r>
            <a:r>
              <a:rPr lang="bg-BG" sz="3000" dirty="0"/>
              <a:t>чрез </a:t>
            </a:r>
            <a:r>
              <a:rPr lang="bg-BG" sz="3000" b="1" dirty="0">
                <a:solidFill>
                  <a:schemeClr val="bg1"/>
                </a:solidFill>
              </a:rPr>
              <a:t>силни пароли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ограничен достъп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Редовно актуализиране </a:t>
            </a:r>
            <a:r>
              <a:rPr lang="bg-BG" sz="3000" dirty="0"/>
              <a:t>на </a:t>
            </a:r>
            <a:r>
              <a:rPr lang="en-US" sz="3000" b="1" dirty="0"/>
              <a:t>CMS</a:t>
            </a:r>
            <a:r>
              <a:rPr lang="bg-BG" sz="3000" dirty="0"/>
              <a:t>, </a:t>
            </a:r>
            <a:r>
              <a:rPr lang="bg-BG" sz="3000" b="1" dirty="0"/>
              <a:t>темите</a:t>
            </a:r>
            <a:r>
              <a:rPr lang="bg-BG" sz="3000" dirty="0"/>
              <a:t> и </a:t>
            </a:r>
            <a:r>
              <a:rPr lang="bg-BG" sz="3000" b="1" dirty="0"/>
              <a:t>добавките</a:t>
            </a:r>
          </a:p>
          <a:p>
            <a:r>
              <a:rPr lang="bg-BG" sz="3000" b="1" dirty="0"/>
              <a:t>Инсталиране</a:t>
            </a:r>
            <a:r>
              <a:rPr lang="bg-BG" sz="3000" dirty="0"/>
              <a:t> </a:t>
            </a:r>
            <a:r>
              <a:rPr lang="bg-BG" sz="3000" b="1" dirty="0"/>
              <a:t>само </a:t>
            </a:r>
            <a:r>
              <a:rPr lang="bg-BG" sz="3000" dirty="0"/>
              <a:t>на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нужни</a:t>
            </a:r>
            <a:r>
              <a:rPr lang="bg-BG" sz="3000" b="1" dirty="0"/>
              <a:t>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надеждни</a:t>
            </a:r>
            <a:r>
              <a:rPr lang="bg-BG" sz="3000" dirty="0"/>
              <a:t> </a:t>
            </a:r>
            <a:r>
              <a:rPr lang="bg-BG" sz="3000" b="1" dirty="0"/>
              <a:t>компоненти</a:t>
            </a:r>
          </a:p>
          <a:p>
            <a:r>
              <a:rPr lang="bg-BG" sz="3000" b="1" dirty="0"/>
              <a:t>Създаване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резервно копие</a:t>
            </a:r>
            <a:r>
              <a:rPr lang="bg-BG" sz="3000" dirty="0"/>
              <a:t> преди </a:t>
            </a:r>
            <a:r>
              <a:rPr lang="bg-BG" sz="3000" b="1" dirty="0"/>
              <a:t>важни промени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CCC30E-335D-9FB8-2BC1-E9F7C504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Методи за защита на </a:t>
            </a:r>
            <a:r>
              <a:rPr lang="en-US" dirty="0"/>
              <a:t>CMS </a:t>
            </a:r>
            <a:r>
              <a:rPr lang="bg-BG" dirty="0"/>
              <a:t>сайт</a:t>
            </a:r>
            <a:endParaRPr lang="en-BG" dirty="0"/>
          </a:p>
        </p:txBody>
      </p:sp>
      <p:pic>
        <p:nvPicPr>
          <p:cNvPr id="5" name="Picture 4" descr="a_high_quality_3d_isometric_vector_illustration_on_6_batch_6.png">
            <a:extLst>
              <a:ext uri="{FF2B5EF4-FFF2-40B4-BE49-F238E27FC236}">
                <a16:creationId xmlns:a16="http://schemas.microsoft.com/office/drawing/2014/main" id="{3733486E-4FE5-15A1-4E86-B91DD41ABB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04"/>
          <a:stretch/>
        </p:blipFill>
        <p:spPr>
          <a:xfrm>
            <a:off x="4596000" y="3960508"/>
            <a:ext cx="2999999" cy="28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2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188BB7-C4E6-D29B-7472-4E6B2C5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AB2D8-E3E0-175B-35E7-6FB19B8E6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Актуализациите</a:t>
            </a:r>
            <a:r>
              <a:rPr lang="bg-BG" sz="3000" dirty="0"/>
              <a:t> </a:t>
            </a:r>
            <a:r>
              <a:rPr lang="bg-BG" sz="3000" b="1" dirty="0"/>
              <a:t>премахват</a:t>
            </a:r>
            <a:r>
              <a:rPr lang="bg-BG" sz="3000" dirty="0"/>
              <a:t> </a:t>
            </a:r>
            <a:r>
              <a:rPr lang="bg-BG" sz="3000" b="1" dirty="0"/>
              <a:t>открити </a:t>
            </a:r>
            <a:r>
              <a:rPr lang="bg-BG" sz="3000" b="1" dirty="0">
                <a:solidFill>
                  <a:schemeClr val="bg1"/>
                </a:solidFill>
              </a:rPr>
              <a:t>слабости</a:t>
            </a:r>
            <a:r>
              <a:rPr lang="bg-BG" sz="3000" b="1" dirty="0"/>
              <a:t>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грешки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Преди актуализация </a:t>
            </a:r>
            <a:r>
              <a:rPr lang="bg-BG" sz="3000" b="1" dirty="0"/>
              <a:t>се създава </a:t>
            </a:r>
            <a:r>
              <a:rPr lang="bg-BG" sz="3000" b="1" dirty="0">
                <a:solidFill>
                  <a:schemeClr val="bg1"/>
                </a:solidFill>
              </a:rPr>
              <a:t>резервно копие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След актуализация </a:t>
            </a:r>
            <a:r>
              <a:rPr lang="bg-BG" sz="3000" b="1" dirty="0"/>
              <a:t>се проверяват </a:t>
            </a:r>
            <a:r>
              <a:rPr lang="bg-BG" sz="3000" b="1" dirty="0">
                <a:solidFill>
                  <a:schemeClr val="bg1"/>
                </a:solidFill>
              </a:rPr>
              <a:t>публичната част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административният панел</a:t>
            </a:r>
          </a:p>
          <a:p>
            <a:r>
              <a:rPr lang="bg-BG" sz="3000" b="1" dirty="0"/>
              <a:t>Ненужните теми </a:t>
            </a:r>
            <a:r>
              <a:rPr lang="bg-BG" sz="3000" dirty="0"/>
              <a:t>и </a:t>
            </a:r>
            <a:r>
              <a:rPr lang="bg-BG" sz="3000" b="1" dirty="0"/>
              <a:t>добавки</a:t>
            </a:r>
            <a:r>
              <a:rPr lang="bg-BG" sz="3000" dirty="0"/>
              <a:t> се </a:t>
            </a:r>
            <a:r>
              <a:rPr lang="bg-BG" sz="3000" b="1" dirty="0"/>
              <a:t>деактивират</a:t>
            </a:r>
            <a:r>
              <a:rPr lang="bg-BG" sz="3000" dirty="0"/>
              <a:t> и </a:t>
            </a:r>
            <a:r>
              <a:rPr lang="bg-BG" sz="3000" b="1" dirty="0"/>
              <a:t>премахват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794BD0-DA0B-D838-620B-894BD2AC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Актуализации и поддръжка</a:t>
            </a:r>
            <a:endParaRPr lang="en-BG" dirty="0"/>
          </a:p>
        </p:txBody>
      </p:sp>
      <p:pic>
        <p:nvPicPr>
          <p:cNvPr id="5" name="Picture 4" descr="a_colorful_3d_isometric_rounded_vector_illustratio_batch_4.png">
            <a:extLst>
              <a:ext uri="{FF2B5EF4-FFF2-40B4-BE49-F238E27FC236}">
                <a16:creationId xmlns:a16="http://schemas.microsoft.com/office/drawing/2014/main" id="{FEB95CA0-566A-59C1-5C85-BF0251AA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59" y="4090817"/>
            <a:ext cx="2700482" cy="270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892E7-6B06-2D1A-C5DF-520BA78CE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B688E-B0E9-7564-489A-107BDFC995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/>
              <a:t>Всеки потребител </a:t>
            </a:r>
            <a:r>
              <a:rPr lang="bg-BG" sz="2800" dirty="0"/>
              <a:t>използва </a:t>
            </a:r>
            <a:r>
              <a:rPr lang="bg-BG" sz="2800" b="1" dirty="0">
                <a:solidFill>
                  <a:schemeClr val="bg1"/>
                </a:solidFill>
              </a:rPr>
              <a:t>собствен профил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Администраторски права </a:t>
            </a:r>
            <a:r>
              <a:rPr lang="bg-BG" sz="2800" dirty="0"/>
              <a:t>се </a:t>
            </a:r>
            <a:r>
              <a:rPr lang="bg-BG" sz="2800" b="1" dirty="0"/>
              <a:t>дават</a:t>
            </a:r>
            <a:r>
              <a:rPr lang="bg-BG" sz="2800" dirty="0"/>
              <a:t> </a:t>
            </a:r>
            <a:r>
              <a:rPr lang="bg-BG" sz="2800" b="1" dirty="0"/>
              <a:t>само</a:t>
            </a:r>
            <a:r>
              <a:rPr lang="bg-BG" sz="2800" dirty="0"/>
              <a:t> при </a:t>
            </a:r>
            <a:r>
              <a:rPr lang="bg-BG" sz="2800" b="1" dirty="0">
                <a:solidFill>
                  <a:schemeClr val="bg1"/>
                </a:solidFill>
              </a:rPr>
              <a:t>необходимост</a:t>
            </a:r>
          </a:p>
          <a:p>
            <a:r>
              <a:rPr lang="bg-BG" sz="2800" b="1" dirty="0"/>
              <a:t>Паролите</a:t>
            </a:r>
            <a:r>
              <a:rPr lang="bg-BG" sz="2800" dirty="0"/>
              <a:t> са </a:t>
            </a:r>
            <a:r>
              <a:rPr lang="bg-BG" sz="2800" b="1" dirty="0">
                <a:solidFill>
                  <a:schemeClr val="bg1"/>
                </a:solidFill>
              </a:rPr>
              <a:t>дълги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различни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трудни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за отгатване</a:t>
            </a:r>
          </a:p>
          <a:p>
            <a:r>
              <a:rPr lang="bg-BG" sz="2800" b="1" dirty="0"/>
              <a:t>Неактивните потребители </a:t>
            </a:r>
            <a:r>
              <a:rPr lang="bg-BG" sz="2800" dirty="0"/>
              <a:t>се </a:t>
            </a:r>
            <a:r>
              <a:rPr lang="bg-BG" sz="2800" b="1" dirty="0">
                <a:solidFill>
                  <a:schemeClr val="bg1"/>
                </a:solidFill>
              </a:rPr>
              <a:t>преглеждат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премахват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CF37B2-317A-726B-91B4-66EE9A3A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Потребители и права за достъп</a:t>
            </a:r>
            <a:endParaRPr lang="en-BG" dirty="0"/>
          </a:p>
        </p:txBody>
      </p:sp>
      <p:pic>
        <p:nvPicPr>
          <p:cNvPr id="5" name="Picture 4" descr="a_clean_colorful_3d_isometric_3d_rendered_cyberse_batch_5.png">
            <a:extLst>
              <a:ext uri="{FF2B5EF4-FFF2-40B4-BE49-F238E27FC236}">
                <a16:creationId xmlns:a16="http://schemas.microsoft.com/office/drawing/2014/main" id="{36063C83-9333-E155-A87D-62E11515D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00" y="3730373"/>
            <a:ext cx="2925000" cy="29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3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Значение, съдържание и методи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Резервни копия</a:t>
            </a:r>
            <a:endParaRPr lang="en-US" sz="4400" dirty="0"/>
          </a:p>
        </p:txBody>
      </p:sp>
      <p:pic>
        <p:nvPicPr>
          <p:cNvPr id="2" name="Picture 1" descr="a_clean_3d_style_vector_illustration_icon_scene_on_batch_6.png">
            <a:extLst>
              <a:ext uri="{FF2B5EF4-FFF2-40B4-BE49-F238E27FC236}">
                <a16:creationId xmlns:a16="http://schemas.microsoft.com/office/drawing/2014/main" id="{BA9CE766-6A79-A623-DE68-D6DC33C9E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000" y="1224000"/>
            <a:ext cx="2970000" cy="29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Резервно копие </a:t>
            </a:r>
            <a:r>
              <a:rPr lang="bg-BG" sz="3000" b="1" dirty="0"/>
              <a:t>(</a:t>
            </a:r>
            <a:r>
              <a:rPr lang="en-GB" sz="3000" b="1" dirty="0"/>
              <a:t>backup / </a:t>
            </a:r>
            <a:r>
              <a:rPr lang="bg-BG" sz="3000" b="1" dirty="0"/>
              <a:t>бекъп)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запазена версия </a:t>
            </a:r>
            <a:r>
              <a:rPr lang="bg-BG" sz="3000" dirty="0"/>
              <a:t>на</a:t>
            </a:r>
            <a:r>
              <a:rPr lang="en-US" sz="3000" dirty="0"/>
              <a:t> </a:t>
            </a:r>
            <a:r>
              <a:rPr lang="bg-BG" sz="3000" b="1" dirty="0"/>
              <a:t>уеб сайта </a:t>
            </a:r>
            <a:r>
              <a:rPr lang="bg-BG" sz="3000" dirty="0"/>
              <a:t>или на </a:t>
            </a:r>
            <a:r>
              <a:rPr lang="bg-BG" sz="3000" b="1" dirty="0">
                <a:solidFill>
                  <a:schemeClr val="bg1"/>
                </a:solidFill>
              </a:rPr>
              <a:t>част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от него</a:t>
            </a:r>
          </a:p>
          <a:p>
            <a:r>
              <a:rPr lang="bg-BG" sz="3000" dirty="0"/>
              <a:t>Използва се при </a:t>
            </a:r>
            <a:r>
              <a:rPr lang="bg-BG" sz="3000" b="1" dirty="0"/>
              <a:t>грешка</a:t>
            </a:r>
            <a:r>
              <a:rPr lang="bg-BG" sz="3000" dirty="0"/>
              <a:t>, </a:t>
            </a:r>
            <a:r>
              <a:rPr lang="bg-BG" sz="3000" b="1" dirty="0"/>
              <a:t>загуба на данни</a:t>
            </a:r>
            <a:r>
              <a:rPr lang="bg-BG" sz="3000" dirty="0"/>
              <a:t> или </a:t>
            </a:r>
            <a:r>
              <a:rPr lang="bg-BG" sz="3000" b="1" dirty="0"/>
              <a:t>неуспешна актуализация</a:t>
            </a:r>
          </a:p>
          <a:p>
            <a:r>
              <a:rPr lang="bg-BG" sz="3000" dirty="0"/>
              <a:t>Позволява </a:t>
            </a:r>
            <a:r>
              <a:rPr lang="bg-BG" sz="3000" b="1" dirty="0">
                <a:solidFill>
                  <a:schemeClr val="bg1"/>
                </a:solidFill>
              </a:rPr>
              <a:t>възстановяване </a:t>
            </a:r>
            <a:r>
              <a:rPr lang="bg-BG" sz="3000" dirty="0"/>
              <a:t>до </a:t>
            </a:r>
            <a:r>
              <a:rPr lang="bg-BG" sz="3000" b="1" dirty="0"/>
              <a:t>по-ранно работещо състояние</a:t>
            </a:r>
          </a:p>
          <a:p>
            <a:r>
              <a:rPr lang="bg-BG" sz="3000" dirty="0"/>
              <a:t>Създава се </a:t>
            </a:r>
            <a:r>
              <a:rPr lang="bg-BG" sz="3000" b="1" dirty="0"/>
              <a:t>редовно</a:t>
            </a:r>
            <a:r>
              <a:rPr lang="bg-BG" sz="3000" dirty="0"/>
              <a:t> и </a:t>
            </a:r>
            <a:r>
              <a:rPr lang="bg-BG" sz="3000" b="1" dirty="0"/>
              <a:t>преди важни промени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Резервно копие на уеб сайт</a:t>
            </a:r>
            <a:endParaRPr lang="en-US" dirty="0"/>
          </a:p>
        </p:txBody>
      </p:sp>
      <p:pic>
        <p:nvPicPr>
          <p:cNvPr id="2" name="Picture 1" descr="a_clean_3d_isometric_ish_glossy_vector_illustrat_10_batch_10.png">
            <a:extLst>
              <a:ext uri="{FF2B5EF4-FFF2-40B4-BE49-F238E27FC236}">
                <a16:creationId xmlns:a16="http://schemas.microsoft.com/office/drawing/2014/main" id="{1CD157F0-223F-0EA3-2F39-936E5DB943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245"/>
          <a:stretch/>
        </p:blipFill>
        <p:spPr>
          <a:xfrm>
            <a:off x="4782779" y="4574626"/>
            <a:ext cx="2377874" cy="222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DFDC2-910D-93A0-1B46-2F26FB0C8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F0DBA-A375-B3BE-D382-82D0994D5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Съдържание</a:t>
            </a:r>
          </a:p>
          <a:p>
            <a:pPr lvl="1"/>
            <a:r>
              <a:rPr lang="bg-BG" sz="2800" b="1" dirty="0"/>
              <a:t>Публикации</a:t>
            </a:r>
            <a:r>
              <a:rPr lang="bg-BG" sz="2800" dirty="0"/>
              <a:t>, </a:t>
            </a:r>
            <a:r>
              <a:rPr lang="bg-BG" sz="2800" b="1" dirty="0"/>
              <a:t>страници</a:t>
            </a:r>
            <a:r>
              <a:rPr lang="bg-BG" sz="2800" dirty="0"/>
              <a:t>, </a:t>
            </a:r>
            <a:r>
              <a:rPr lang="bg-BG" sz="2800" b="1" dirty="0"/>
              <a:t>коментари</a:t>
            </a:r>
            <a:r>
              <a:rPr lang="bg-BG" sz="2800" dirty="0"/>
              <a:t>, </a:t>
            </a:r>
            <a:r>
              <a:rPr lang="bg-BG" sz="2800" b="1" dirty="0"/>
              <a:t>категории</a:t>
            </a:r>
            <a:r>
              <a:rPr lang="bg-BG" sz="2800" dirty="0"/>
              <a:t> и </a:t>
            </a:r>
            <a:r>
              <a:rPr lang="bg-BG" sz="2800" b="1" dirty="0"/>
              <a:t>етикети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Медийни файлове</a:t>
            </a:r>
          </a:p>
          <a:p>
            <a:pPr lvl="1"/>
            <a:r>
              <a:rPr lang="bg-BG" sz="2800" b="1" dirty="0"/>
              <a:t>Изображения</a:t>
            </a:r>
            <a:r>
              <a:rPr lang="bg-BG" sz="2800" dirty="0"/>
              <a:t>, </a:t>
            </a:r>
            <a:r>
              <a:rPr lang="bg-BG" sz="2800" b="1" dirty="0"/>
              <a:t>документи</a:t>
            </a:r>
            <a:r>
              <a:rPr lang="bg-BG" sz="2800" dirty="0"/>
              <a:t> и </a:t>
            </a:r>
            <a:r>
              <a:rPr lang="bg-BG" sz="2800" b="1" dirty="0"/>
              <a:t>други ресурси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Файлове на сайта</a:t>
            </a:r>
          </a:p>
          <a:p>
            <a:pPr lvl="1"/>
            <a:r>
              <a:rPr lang="bg-BG" sz="2800" b="1" dirty="0"/>
              <a:t>Тема</a:t>
            </a:r>
            <a:r>
              <a:rPr lang="bg-BG" sz="2800" dirty="0"/>
              <a:t>, </a:t>
            </a:r>
            <a:r>
              <a:rPr lang="bg-BG" sz="2800" b="1" dirty="0"/>
              <a:t>добавки</a:t>
            </a:r>
            <a:r>
              <a:rPr lang="bg-BG" sz="2800" dirty="0"/>
              <a:t> и </a:t>
            </a:r>
            <a:r>
              <a:rPr lang="bg-BG" sz="2800" b="1" dirty="0"/>
              <a:t>качени файлове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База данни</a:t>
            </a:r>
          </a:p>
          <a:p>
            <a:pPr lvl="1"/>
            <a:r>
              <a:rPr lang="bg-BG" sz="2800" b="1" dirty="0"/>
              <a:t>Настройки</a:t>
            </a:r>
            <a:r>
              <a:rPr lang="bg-BG" sz="2800" dirty="0"/>
              <a:t>, </a:t>
            </a:r>
            <a:r>
              <a:rPr lang="bg-BG" sz="2800" b="1" dirty="0"/>
              <a:t>потребители</a:t>
            </a:r>
            <a:r>
              <a:rPr lang="bg-BG" sz="2800" dirty="0"/>
              <a:t> и </a:t>
            </a:r>
            <a:r>
              <a:rPr lang="bg-BG" sz="2800" b="1" dirty="0"/>
              <a:t>записано съдържание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0FF1F6-9A26-B2A1-2B5B-C9D67A67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резервното копие</a:t>
            </a:r>
            <a:endParaRPr lang="en-BG" dirty="0"/>
          </a:p>
        </p:txBody>
      </p:sp>
      <p:pic>
        <p:nvPicPr>
          <p:cNvPr id="5" name="Picture 4" descr="a_clean_colorful_3d_vector_isometric_like_infogra_batch_9.png">
            <a:extLst>
              <a:ext uri="{FF2B5EF4-FFF2-40B4-BE49-F238E27FC236}">
                <a16:creationId xmlns:a16="http://schemas.microsoft.com/office/drawing/2014/main" id="{EAA60FE6-9679-12D0-2868-6D30F236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192" y="4050407"/>
            <a:ext cx="2740892" cy="274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3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20DB4-B667-E181-A233-FD2DFB144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6AB00-C8FF-62C7-002A-57D0E8E4A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Запазва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публикации</a:t>
            </a:r>
            <a:r>
              <a:rPr lang="bg-BG" dirty="0"/>
              <a:t>, </a:t>
            </a:r>
            <a:r>
              <a:rPr lang="bg-BG" b="1" dirty="0">
                <a:solidFill>
                  <a:schemeClr val="bg1"/>
                </a:solidFill>
              </a:rPr>
              <a:t>страници</a:t>
            </a:r>
            <a:r>
              <a:rPr lang="bg-BG" dirty="0"/>
              <a:t>, </a:t>
            </a:r>
            <a:r>
              <a:rPr lang="bg-BG" b="1" dirty="0">
                <a:solidFill>
                  <a:schemeClr val="bg1"/>
                </a:solidFill>
              </a:rPr>
              <a:t>коментари</a:t>
            </a:r>
            <a:r>
              <a:rPr lang="bg-BG" dirty="0"/>
              <a:t>, </a:t>
            </a:r>
            <a:r>
              <a:rPr lang="bg-BG" b="1" dirty="0">
                <a:solidFill>
                  <a:schemeClr val="bg1"/>
                </a:solidFill>
              </a:rPr>
              <a:t>категории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етикети</a:t>
            </a:r>
          </a:p>
          <a:p>
            <a:r>
              <a:rPr lang="bg-BG" dirty="0"/>
              <a:t>Създава </a:t>
            </a:r>
            <a:r>
              <a:rPr lang="bg-BG" b="1" dirty="0">
                <a:solidFill>
                  <a:schemeClr val="bg1"/>
                </a:solidFill>
              </a:rPr>
              <a:t>файл</a:t>
            </a:r>
            <a:r>
              <a:rPr lang="bg-BG" dirty="0"/>
              <a:t>, който </a:t>
            </a:r>
            <a:r>
              <a:rPr lang="bg-BG" b="1" dirty="0"/>
              <a:t>може да се използва </a:t>
            </a:r>
            <a:r>
              <a:rPr lang="bg-BG" dirty="0"/>
              <a:t>при </a:t>
            </a:r>
            <a:r>
              <a:rPr lang="bg-BG" b="1" dirty="0">
                <a:solidFill>
                  <a:schemeClr val="bg1"/>
                </a:solidFill>
              </a:rPr>
              <a:t>импорт</a:t>
            </a:r>
          </a:p>
          <a:p>
            <a:r>
              <a:rPr lang="bg-BG" b="1" dirty="0">
                <a:solidFill>
                  <a:schemeClr val="bg1"/>
                </a:solidFill>
              </a:rPr>
              <a:t>Не включва </a:t>
            </a:r>
            <a:r>
              <a:rPr lang="bg-BG" b="1" dirty="0"/>
              <a:t>всички файлове</a:t>
            </a:r>
            <a:r>
              <a:rPr lang="bg-BG" dirty="0"/>
              <a:t>, </a:t>
            </a:r>
            <a:r>
              <a:rPr lang="bg-BG" b="1" dirty="0"/>
              <a:t>тема</a:t>
            </a:r>
            <a:r>
              <a:rPr lang="bg-BG" dirty="0"/>
              <a:t>, </a:t>
            </a:r>
            <a:r>
              <a:rPr lang="bg-BG" b="1" dirty="0"/>
              <a:t>добавки</a:t>
            </a:r>
            <a:r>
              <a:rPr lang="bg-BG" dirty="0"/>
              <a:t> и </a:t>
            </a:r>
            <a:r>
              <a:rPr lang="bg-BG" b="1" dirty="0"/>
              <a:t>база данни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434E62-1238-C860-27D4-C4C59AD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Експорт на съдържание</a:t>
            </a:r>
            <a:endParaRPr lang="en-BG" dirty="0"/>
          </a:p>
        </p:txBody>
      </p:sp>
      <p:pic>
        <p:nvPicPr>
          <p:cNvPr id="5" name="Picture 4" descr="isometric_wordpress_content_export_interface.png">
            <a:extLst>
              <a:ext uri="{FF2B5EF4-FFF2-40B4-BE49-F238E27FC236}">
                <a16:creationId xmlns:a16="http://schemas.microsoft.com/office/drawing/2014/main" id="{707D04A7-F558-D28E-C215-1BB80587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441" y="3850340"/>
            <a:ext cx="2874551" cy="287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C22006-A051-2BBA-A909-4C941480D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3149-8D3D-F06F-AD90-C12EFAAF0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/>
              <a:t>Включва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файловете</a:t>
            </a:r>
            <a:r>
              <a:rPr lang="bg-BG" sz="2800" dirty="0"/>
              <a:t> на </a:t>
            </a:r>
            <a:r>
              <a:rPr lang="bg-BG" sz="2800" b="1" dirty="0"/>
              <a:t>уеб</a:t>
            </a:r>
            <a:r>
              <a:rPr lang="bg-BG" sz="2800" dirty="0"/>
              <a:t> </a:t>
            </a:r>
            <a:r>
              <a:rPr lang="bg-BG" sz="2800" b="1" dirty="0"/>
              <a:t>сайта</a:t>
            </a:r>
            <a:r>
              <a:rPr lang="bg-BG" sz="2800" dirty="0"/>
              <a:t> и </a:t>
            </a:r>
            <a:r>
              <a:rPr lang="bg-BG" sz="2800" b="1" dirty="0"/>
              <a:t>базата данни</a:t>
            </a:r>
          </a:p>
          <a:p>
            <a:r>
              <a:rPr lang="bg-BG" sz="2800" dirty="0"/>
              <a:t>Създава се чрез </a:t>
            </a:r>
            <a:r>
              <a:rPr lang="bg-BG" sz="2800" b="1" dirty="0">
                <a:solidFill>
                  <a:schemeClr val="bg1"/>
                </a:solidFill>
              </a:rPr>
              <a:t>хостинг панел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специализиран инструмент </a:t>
            </a:r>
            <a:r>
              <a:rPr lang="bg-BG" sz="2800" dirty="0"/>
              <a:t>или </a:t>
            </a:r>
            <a:r>
              <a:rPr lang="bg-BG" sz="2800" b="1" dirty="0">
                <a:solidFill>
                  <a:schemeClr val="bg1"/>
                </a:solidFill>
              </a:rPr>
              <a:t>добавка</a:t>
            </a:r>
          </a:p>
          <a:p>
            <a:r>
              <a:rPr lang="bg-BG" sz="2800" dirty="0"/>
              <a:t>Подходящо е за </a:t>
            </a:r>
            <a:r>
              <a:rPr lang="bg-BG" sz="2800" b="1" dirty="0"/>
              <a:t>възстановяване на целия уеб сайт</a:t>
            </a:r>
          </a:p>
          <a:p>
            <a:r>
              <a:rPr lang="bg-BG" sz="2800" dirty="0"/>
              <a:t>Изисква </a:t>
            </a:r>
            <a:r>
              <a:rPr lang="bg-BG" sz="2800" b="1" dirty="0">
                <a:solidFill>
                  <a:schemeClr val="bg1"/>
                </a:solidFill>
              </a:rPr>
              <a:t>достъп до средата</a:t>
            </a:r>
            <a:r>
              <a:rPr lang="bg-BG" sz="2800" dirty="0"/>
              <a:t>, в която е </a:t>
            </a:r>
            <a:r>
              <a:rPr lang="bg-BG" sz="2800" b="1" dirty="0"/>
              <a:t>инсталиран</a:t>
            </a:r>
            <a:r>
              <a:rPr lang="bg-BG" sz="2800" dirty="0"/>
              <a:t> </a:t>
            </a:r>
            <a:r>
              <a:rPr lang="bg-BG" sz="2800" b="1" dirty="0"/>
              <a:t>уеб сайтът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B71EA-D704-4A67-49F1-B46C9E5C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Пълно резервно копие</a:t>
            </a:r>
            <a:endParaRPr lang="en-BG" dirty="0"/>
          </a:p>
        </p:txBody>
      </p:sp>
      <p:pic>
        <p:nvPicPr>
          <p:cNvPr id="5" name="Picture 4" descr="full_backup_vs_content_export.png">
            <a:extLst>
              <a:ext uri="{FF2B5EF4-FFF2-40B4-BE49-F238E27FC236}">
                <a16:creationId xmlns:a16="http://schemas.microsoft.com/office/drawing/2014/main" id="{34F11F03-285B-237B-B91F-1C21E06BC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87"/>
          <a:stretch/>
        </p:blipFill>
        <p:spPr>
          <a:xfrm>
            <a:off x="4306000" y="3441758"/>
            <a:ext cx="3580000" cy="332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B42BDB-DBBB-B0E0-2391-751B7F103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DADFD-984B-D29E-51BD-FB969EB67D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Копията</a:t>
            </a:r>
            <a:r>
              <a:rPr lang="bg-BG" sz="3000" dirty="0"/>
              <a:t> се </a:t>
            </a:r>
            <a:r>
              <a:rPr lang="bg-BG" sz="3000" b="1" dirty="0"/>
              <a:t>създават </a:t>
            </a:r>
            <a:r>
              <a:rPr lang="bg-BG" sz="3000" dirty="0"/>
              <a:t>според </a:t>
            </a:r>
            <a:r>
              <a:rPr lang="bg-BG" sz="3000" b="1" dirty="0"/>
              <a:t>честотата</a:t>
            </a:r>
            <a:r>
              <a:rPr lang="bg-BG" sz="3000" dirty="0"/>
              <a:t> на </a:t>
            </a:r>
            <a:r>
              <a:rPr lang="bg-BG" sz="3000" b="1" dirty="0"/>
              <a:t>промените</a:t>
            </a:r>
          </a:p>
          <a:p>
            <a:r>
              <a:rPr lang="bg-BG" sz="3000" b="1" dirty="0"/>
              <a:t>Съхраняват се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различно място </a:t>
            </a:r>
            <a:r>
              <a:rPr lang="bg-BG" sz="3000" dirty="0"/>
              <a:t>от самия </a:t>
            </a:r>
            <a:r>
              <a:rPr lang="bg-BG" sz="3000" b="1" dirty="0"/>
              <a:t>уеб сайт</a:t>
            </a:r>
          </a:p>
          <a:p>
            <a:r>
              <a:rPr lang="bg-BG" sz="3000" b="1" dirty="0"/>
              <a:t>Файловете</a:t>
            </a:r>
            <a:r>
              <a:rPr lang="bg-BG" sz="3000" dirty="0"/>
              <a:t> се </a:t>
            </a:r>
            <a:r>
              <a:rPr lang="bg-BG" sz="3000" b="1" dirty="0"/>
              <a:t>именуват</a:t>
            </a:r>
            <a:r>
              <a:rPr lang="bg-BG" sz="3000" dirty="0"/>
              <a:t> ясно с </a:t>
            </a:r>
            <a:r>
              <a:rPr lang="bg-BG" sz="3000" b="1" dirty="0">
                <a:solidFill>
                  <a:schemeClr val="bg1"/>
                </a:solidFill>
              </a:rPr>
              <a:t>дата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име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b="1" dirty="0"/>
              <a:t>Периодично</a:t>
            </a:r>
            <a:r>
              <a:rPr lang="bg-BG" sz="3000" dirty="0"/>
              <a:t> се </a:t>
            </a:r>
            <a:r>
              <a:rPr lang="bg-BG" sz="3000" b="1" dirty="0"/>
              <a:t>проверява</a:t>
            </a:r>
            <a:r>
              <a:rPr lang="bg-BG" sz="3000" dirty="0"/>
              <a:t> дали </a:t>
            </a:r>
            <a:r>
              <a:rPr lang="bg-BG" sz="3000" b="1" dirty="0"/>
              <a:t>копието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може да се използва</a:t>
            </a:r>
          </a:p>
          <a:p>
            <a:r>
              <a:rPr lang="bg-BG" sz="3000" b="1" dirty="0"/>
              <a:t>Достъпът до архивите </a:t>
            </a:r>
            <a:r>
              <a:rPr lang="bg-BG" sz="3000" b="1" dirty="0">
                <a:solidFill>
                  <a:schemeClr val="bg1"/>
                </a:solidFill>
              </a:rPr>
              <a:t>се ограничава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96D334-0625-B1B3-300F-C7E689DB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 за съхранение на копия</a:t>
            </a:r>
            <a:endParaRPr lang="en-BG" dirty="0"/>
          </a:p>
        </p:txBody>
      </p:sp>
      <p:pic>
        <p:nvPicPr>
          <p:cNvPr id="5" name="Picture 4" descr="a_clean_3d_glossy_vector_isometric_style_icon_illu_batch_8.png">
            <a:extLst>
              <a:ext uri="{FF2B5EF4-FFF2-40B4-BE49-F238E27FC236}">
                <a16:creationId xmlns:a16="http://schemas.microsoft.com/office/drawing/2014/main" id="{7211A739-30E6-F6F0-D824-3B5E0C541D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42"/>
          <a:stretch/>
        </p:blipFill>
        <p:spPr>
          <a:xfrm>
            <a:off x="4656000" y="4087280"/>
            <a:ext cx="2880000" cy="267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2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895532-2E95-240C-7CEA-ABA3C9287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70EF4-1D26-E416-7761-E6F3C245A3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Tools</a:t>
            </a:r>
            <a:r>
              <a:rPr lang="en-GB" sz="3000" b="1" dirty="0"/>
              <a:t>]</a:t>
            </a:r>
            <a:r>
              <a:rPr lang="en-GB" sz="3000" b="1" dirty="0">
                <a:solidFill>
                  <a:schemeClr val="bg1"/>
                </a:solidFill>
              </a:rPr>
              <a:t> </a:t>
            </a:r>
            <a:r>
              <a:rPr lang="en-GB" sz="3000" b="1" dirty="0"/>
              <a:t>→</a:t>
            </a:r>
            <a:r>
              <a:rPr lang="en-GB" sz="3000" b="1" dirty="0">
                <a:solidFill>
                  <a:schemeClr val="bg1"/>
                </a:solidFill>
              </a:rPr>
              <a:t> </a:t>
            </a:r>
            <a:r>
              <a:rPr lang="en-GB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Export</a:t>
            </a:r>
            <a:r>
              <a:rPr lang="en-GB" sz="3000" b="1" dirty="0"/>
              <a:t>]</a:t>
            </a:r>
            <a:endParaRPr lang="bg-BG" sz="3000" b="1" dirty="0"/>
          </a:p>
          <a:p>
            <a:pPr lvl="1"/>
            <a:r>
              <a:rPr lang="bg-BG" sz="2800" b="1" dirty="0"/>
              <a:t>Копие</a:t>
            </a:r>
            <a:r>
              <a:rPr lang="bg-BG" sz="2800" dirty="0"/>
              <a:t> на </a:t>
            </a:r>
            <a:r>
              <a:rPr lang="bg-BG" sz="2800" b="1" dirty="0"/>
              <a:t>съдържанието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Хостинг панел</a:t>
            </a:r>
          </a:p>
          <a:p>
            <a:pPr lvl="1"/>
            <a:r>
              <a:rPr lang="bg-BG" sz="2800" b="1" dirty="0"/>
              <a:t>Копие</a:t>
            </a:r>
            <a:r>
              <a:rPr lang="bg-BG" sz="2800" dirty="0"/>
              <a:t> на </a:t>
            </a:r>
            <a:r>
              <a:rPr lang="bg-BG" sz="2800" b="1" dirty="0"/>
              <a:t>файлове</a:t>
            </a:r>
            <a:r>
              <a:rPr lang="bg-BG" sz="2800" dirty="0"/>
              <a:t> и </a:t>
            </a:r>
            <a:r>
              <a:rPr lang="bg-BG" sz="2800" b="1" dirty="0"/>
              <a:t>база данни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File Manager </a:t>
            </a:r>
            <a:r>
              <a:rPr lang="bg-BG" sz="3000" dirty="0"/>
              <a:t>или </a:t>
            </a:r>
            <a:r>
              <a:rPr lang="en-GB" sz="3000" b="1" dirty="0">
                <a:solidFill>
                  <a:schemeClr val="bg1"/>
                </a:solidFill>
              </a:rPr>
              <a:t>FTP</a:t>
            </a:r>
            <a:endParaRPr lang="bg-BG" sz="3000" b="1" dirty="0">
              <a:solidFill>
                <a:schemeClr val="bg1"/>
              </a:solidFill>
            </a:endParaRPr>
          </a:p>
          <a:p>
            <a:pPr lvl="1"/>
            <a:r>
              <a:rPr lang="bg-BG" sz="2800" b="1" dirty="0"/>
              <a:t>Копие</a:t>
            </a:r>
            <a:r>
              <a:rPr lang="bg-BG" sz="2800" dirty="0"/>
              <a:t> на </a:t>
            </a:r>
            <a:r>
              <a:rPr lang="bg-BG" sz="2800" b="1" dirty="0"/>
              <a:t>файловете</a:t>
            </a:r>
            <a:r>
              <a:rPr lang="bg-BG" sz="2800" dirty="0"/>
              <a:t> на </a:t>
            </a:r>
            <a:r>
              <a:rPr lang="bg-BG" sz="2800" b="1" dirty="0"/>
              <a:t>уеб сайта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phpMyAdmin</a:t>
            </a:r>
            <a:r>
              <a:rPr lang="en-GB" sz="3000" dirty="0"/>
              <a:t> </a:t>
            </a:r>
            <a:r>
              <a:rPr lang="bg-BG" sz="3000" dirty="0"/>
              <a:t>или </a:t>
            </a:r>
            <a:r>
              <a:rPr lang="bg-BG" sz="3000" b="1" dirty="0">
                <a:solidFill>
                  <a:schemeClr val="bg1"/>
                </a:solidFill>
              </a:rPr>
              <a:t>инструмент за база данни</a:t>
            </a:r>
          </a:p>
          <a:p>
            <a:pPr lvl="1"/>
            <a:r>
              <a:rPr lang="bg-BG" sz="2800" b="1" dirty="0"/>
              <a:t>Копие</a:t>
            </a:r>
            <a:r>
              <a:rPr lang="bg-BG" sz="2800" dirty="0"/>
              <a:t> на </a:t>
            </a:r>
            <a:r>
              <a:rPr lang="bg-BG" sz="2800" b="1" dirty="0"/>
              <a:t>базата данни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Специализирана добавка</a:t>
            </a:r>
          </a:p>
          <a:p>
            <a:pPr lvl="1"/>
            <a:r>
              <a:rPr lang="bg-BG" sz="2800" b="1" dirty="0"/>
              <a:t>Автоматизиране </a:t>
            </a:r>
            <a:r>
              <a:rPr lang="bg-BG" sz="2800" dirty="0"/>
              <a:t>на</a:t>
            </a:r>
            <a:r>
              <a:rPr lang="bg-BG" sz="2800" b="1" dirty="0"/>
              <a:t> архивите</a:t>
            </a:r>
            <a:r>
              <a:rPr lang="bg-BG" sz="2800" dirty="0"/>
              <a:t> при </a:t>
            </a:r>
            <a:r>
              <a:rPr lang="bg-BG" sz="2800" b="1" dirty="0"/>
              <a:t>подходяща среда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AF6F1C-BC1D-B3D1-FEE0-1C9D4F9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Методи за резервно копие в </a:t>
            </a:r>
            <a:r>
              <a:rPr lang="en-US" dirty="0"/>
              <a:t>WordPress</a:t>
            </a:r>
            <a:endParaRPr lang="en-BG" dirty="0"/>
          </a:p>
        </p:txBody>
      </p:sp>
      <p:pic>
        <p:nvPicPr>
          <p:cNvPr id="5" name="Picture 4" descr="a_highly_detailed_glossy_3d_style_digital_illustra_batch_7.png">
            <a:extLst>
              <a:ext uri="{FF2B5EF4-FFF2-40B4-BE49-F238E27FC236}">
                <a16:creationId xmlns:a16="http://schemas.microsoft.com/office/drawing/2014/main" id="{7A37290A-0D9B-9FEA-BCD6-B6E108D2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440" y="3132414"/>
            <a:ext cx="3632031" cy="363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2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Резервно копие на </a:t>
            </a:r>
            <a:r>
              <a:rPr lang="en-US" sz="4000" dirty="0"/>
              <a:t>WordPress</a:t>
            </a:r>
            <a:r>
              <a:rPr lang="bg-BG" sz="4000" dirty="0"/>
              <a:t> сайт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2" name="Picture 1" descr="a_clean_isometric_3d_vector_illustration_on_a_tran_12_batch_2.png">
            <a:extLst>
              <a:ext uri="{FF2B5EF4-FFF2-40B4-BE49-F238E27FC236}">
                <a16:creationId xmlns:a16="http://schemas.microsoft.com/office/drawing/2014/main" id="{3C3F9043-8851-A0D8-CF80-2EAEE99CC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000" y="1224000"/>
            <a:ext cx="2969999" cy="29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Влизаме в </a:t>
            </a:r>
            <a:r>
              <a:rPr lang="bg-BG" sz="2800" b="1" dirty="0">
                <a:solidFill>
                  <a:schemeClr val="bg1"/>
                </a:solidFill>
              </a:rPr>
              <a:t>административния панел</a:t>
            </a:r>
            <a:r>
              <a:rPr lang="bg-BG" sz="2800" dirty="0">
                <a:solidFill>
                  <a:schemeClr val="bg1"/>
                </a:solidFill>
              </a:rPr>
              <a:t> </a:t>
            </a:r>
            <a:r>
              <a:rPr lang="bg-BG" sz="2800" dirty="0"/>
              <a:t>на</a:t>
            </a:r>
            <a:r>
              <a:rPr lang="en-US" sz="2800" dirty="0"/>
              <a:t> </a:t>
            </a:r>
            <a:r>
              <a:rPr lang="en-US" sz="2800" b="1" dirty="0"/>
              <a:t>WordPress</a:t>
            </a:r>
            <a:endParaRPr lang="bg-BG" sz="2800" b="1" dirty="0"/>
          </a:p>
          <a:p>
            <a:r>
              <a:rPr lang="bg-BG" sz="2800" dirty="0"/>
              <a:t>Отваряме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Tools</a:t>
            </a:r>
            <a:r>
              <a:rPr lang="en-US" sz="2800" b="1" dirty="0"/>
              <a:t>] → [</a:t>
            </a:r>
            <a:r>
              <a:rPr lang="en-US" sz="2800" b="1" dirty="0">
                <a:solidFill>
                  <a:schemeClr val="bg1"/>
                </a:solidFill>
              </a:rPr>
              <a:t>Export</a:t>
            </a:r>
            <a:r>
              <a:rPr lang="en-US" sz="2800" b="1" dirty="0"/>
              <a:t>]</a:t>
            </a:r>
          </a:p>
          <a:p>
            <a:r>
              <a:rPr lang="bg-BG" sz="2800" dirty="0"/>
              <a:t>Избираме </a:t>
            </a:r>
            <a:r>
              <a:rPr lang="bg-BG" sz="2800" b="1" dirty="0">
                <a:solidFill>
                  <a:schemeClr val="bg1"/>
                </a:solidFill>
              </a:rPr>
              <a:t>кое съдържание </a:t>
            </a:r>
            <a:r>
              <a:rPr lang="bg-BG" sz="2800" dirty="0"/>
              <a:t>да се </a:t>
            </a:r>
            <a:r>
              <a:rPr lang="bg-BG" sz="2800" b="1" dirty="0"/>
              <a:t>експортира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Експортиране на съдържание от </a:t>
            </a:r>
            <a:r>
              <a:rPr lang="en-US" sz="3200" dirty="0"/>
              <a:t>WordPress </a:t>
            </a:r>
            <a:r>
              <a:rPr lang="bg-BG" sz="3200" dirty="0"/>
              <a:t>сайт </a:t>
            </a:r>
            <a:r>
              <a:rPr lang="en-US" sz="3200" dirty="0"/>
              <a:t>(1)</a:t>
            </a:r>
            <a:endParaRPr lang="bg-BG" sz="4000" dirty="0"/>
          </a:p>
        </p:txBody>
      </p:sp>
      <p:sp>
        <p:nvSpPr>
          <p:cNvPr id="9" name="Arrow: Right 10">
            <a:extLst>
              <a:ext uri="{FF2B5EF4-FFF2-40B4-BE49-F238E27FC236}">
                <a16:creationId xmlns:a16="http://schemas.microsoft.com/office/drawing/2014/main" id="{7776C010-DA42-903D-3C47-507343C87FF8}"/>
              </a:ext>
            </a:extLst>
          </p:cNvPr>
          <p:cNvSpPr/>
          <p:nvPr/>
        </p:nvSpPr>
        <p:spPr>
          <a:xfrm>
            <a:off x="5086417" y="4408389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64233-5D16-4398-5F2B-77CABA645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71" y="3815136"/>
            <a:ext cx="4330700" cy="2095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D11115-92C5-1E12-216F-818F0915C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614" y="3070272"/>
            <a:ext cx="4623939" cy="358522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54369-2E2F-1FB8-132D-D12D2BD93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F68C7-3B54-58B0-6238-44E905CE8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All Content</a:t>
            </a:r>
            <a:r>
              <a:rPr lang="en-US" sz="2800" b="1" dirty="0"/>
              <a:t>] </a:t>
            </a:r>
            <a:r>
              <a:rPr lang="bg-BG" sz="2800" dirty="0"/>
              <a:t>и</a:t>
            </a:r>
            <a:r>
              <a:rPr lang="en-US" sz="2800" dirty="0"/>
              <a:t>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Download Export File</a:t>
            </a:r>
            <a:r>
              <a:rPr lang="en-US" sz="2800" b="1" dirty="0"/>
              <a:t>]</a:t>
            </a:r>
          </a:p>
          <a:p>
            <a:r>
              <a:rPr lang="bg-BG" sz="2800" b="1" dirty="0"/>
              <a:t>Файлът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се записва локално </a:t>
            </a:r>
            <a:r>
              <a:rPr lang="bg-BG" sz="2800" dirty="0"/>
              <a:t>на </a:t>
            </a:r>
            <a:r>
              <a:rPr lang="bg-BG" sz="2800" b="1" dirty="0"/>
              <a:t>компютъра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673C7F-F04D-84DB-96CD-D3618DB9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Експортиране на съдържание от </a:t>
            </a:r>
            <a:r>
              <a:rPr lang="en-US" sz="3200" dirty="0"/>
              <a:t>WordPress </a:t>
            </a:r>
            <a:r>
              <a:rPr lang="bg-BG" sz="3200" dirty="0"/>
              <a:t>сайт </a:t>
            </a:r>
            <a:r>
              <a:rPr lang="en-US" sz="3200" dirty="0"/>
              <a:t>(</a:t>
            </a:r>
            <a:r>
              <a:rPr lang="bg-BG" sz="3200" dirty="0"/>
              <a:t>2</a:t>
            </a:r>
            <a:r>
              <a:rPr lang="en-US" sz="3200" dirty="0"/>
              <a:t>)</a:t>
            </a:r>
            <a:endParaRPr lang="en-BG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F61F45-2441-4128-4D39-94D9CF9B2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00" y="2479463"/>
            <a:ext cx="4040409" cy="41555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D9E532-95D2-1A7D-A648-E0B4215FE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836" y="3960508"/>
            <a:ext cx="4600194" cy="8100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9496F81-D0D5-56E7-C798-24181F088BFC}"/>
              </a:ext>
            </a:extLst>
          </p:cNvPr>
          <p:cNvSpPr/>
          <p:nvPr/>
        </p:nvSpPr>
        <p:spPr>
          <a:xfrm>
            <a:off x="5357883" y="3911059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88549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8286B-6B80-DFC1-EDB8-A00A66DAC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FC5E8-7DF2-43BA-5170-F47685D36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Влизаме в </a:t>
            </a:r>
            <a:r>
              <a:rPr lang="bg-BG" sz="2800" b="1" dirty="0">
                <a:solidFill>
                  <a:schemeClr val="bg1"/>
                </a:solidFill>
              </a:rPr>
              <a:t>административния панел</a:t>
            </a:r>
            <a:r>
              <a:rPr lang="bg-BG" sz="2800" dirty="0">
                <a:solidFill>
                  <a:schemeClr val="bg1"/>
                </a:solidFill>
              </a:rPr>
              <a:t> </a:t>
            </a:r>
            <a:r>
              <a:rPr lang="bg-BG" sz="2800" dirty="0"/>
              <a:t>на</a:t>
            </a:r>
            <a:r>
              <a:rPr lang="en-US" sz="2800" dirty="0"/>
              <a:t> </a:t>
            </a:r>
            <a:r>
              <a:rPr lang="en-US" sz="2800" b="1" dirty="0"/>
              <a:t>WordPress</a:t>
            </a:r>
            <a:endParaRPr lang="bg-BG" sz="2800" b="1" dirty="0"/>
          </a:p>
          <a:p>
            <a:r>
              <a:rPr lang="bg-BG" sz="2800" dirty="0"/>
              <a:t>Отваряме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Tools</a:t>
            </a:r>
            <a:r>
              <a:rPr lang="en-US" sz="2800" b="1" dirty="0"/>
              <a:t>] → [</a:t>
            </a:r>
            <a:r>
              <a:rPr lang="en-US" sz="2800" b="1" dirty="0">
                <a:solidFill>
                  <a:schemeClr val="bg1"/>
                </a:solidFill>
              </a:rPr>
              <a:t>Import</a:t>
            </a:r>
            <a:r>
              <a:rPr lang="en-US" sz="2800" b="1" dirty="0"/>
              <a:t>]</a:t>
            </a:r>
          </a:p>
          <a:p>
            <a:r>
              <a:rPr lang="bg-BG" sz="2800" dirty="0"/>
              <a:t>Избираме</a:t>
            </a:r>
            <a:r>
              <a:rPr lang="bg-BG" sz="2800" b="1" dirty="0"/>
              <a:t> [</a:t>
            </a:r>
            <a:r>
              <a:rPr lang="en-GB" sz="2800" b="1" dirty="0">
                <a:solidFill>
                  <a:schemeClr val="bg1"/>
                </a:solidFill>
              </a:rPr>
              <a:t>Run Importer</a:t>
            </a:r>
            <a:r>
              <a:rPr lang="en-GB" sz="2800" b="1" dirty="0"/>
              <a:t>]</a:t>
            </a:r>
            <a:endParaRPr lang="en-GB" sz="5400" dirty="0">
              <a:highlight>
                <a:srgbClr val="FFFF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081DF9-9D41-E0BE-991E-C5F23A25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Импортиране на съдържание в </a:t>
            </a:r>
            <a:r>
              <a:rPr lang="en-US" sz="3200" dirty="0"/>
              <a:t>WordPress </a:t>
            </a:r>
            <a:r>
              <a:rPr lang="bg-BG" sz="3200" dirty="0"/>
              <a:t>сайт </a:t>
            </a:r>
            <a:r>
              <a:rPr lang="en-US" sz="3200" dirty="0"/>
              <a:t>(</a:t>
            </a:r>
            <a:r>
              <a:rPr lang="bg-BG" sz="3200" dirty="0"/>
              <a:t>1</a:t>
            </a:r>
            <a:r>
              <a:rPr lang="en-US" sz="3200" dirty="0"/>
              <a:t>)</a:t>
            </a:r>
            <a:endParaRPr lang="en-GB" sz="3200" dirty="0"/>
          </a:p>
        </p:txBody>
      </p:sp>
      <p:sp>
        <p:nvSpPr>
          <p:cNvPr id="5" name="Arrow: Right 10">
            <a:extLst>
              <a:ext uri="{FF2B5EF4-FFF2-40B4-BE49-F238E27FC236}">
                <a16:creationId xmlns:a16="http://schemas.microsoft.com/office/drawing/2014/main" id="{9AA75CB3-7AEB-5B00-7ACA-8DDEC1466296}"/>
              </a:ext>
            </a:extLst>
          </p:cNvPr>
          <p:cNvSpPr/>
          <p:nvPr/>
        </p:nvSpPr>
        <p:spPr>
          <a:xfrm>
            <a:off x="5086417" y="4408389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E72CA9-A044-A85E-2C9D-DDE1D8437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071" y="4112053"/>
            <a:ext cx="4330700" cy="15016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43B37-F1BB-A931-B860-7083BFB48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9614" y="3922424"/>
            <a:ext cx="4623939" cy="188092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960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8286B-6B80-DFC1-EDB8-A00A66DAC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FC5E8-7DF2-43BA-5170-F47685D36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Въвеждаме </a:t>
            </a:r>
            <a:r>
              <a:rPr lang="en-US" sz="2800" b="1" dirty="0">
                <a:solidFill>
                  <a:schemeClr val="bg1"/>
                </a:solidFill>
              </a:rPr>
              <a:t>URL </a:t>
            </a:r>
            <a:r>
              <a:rPr lang="bg-BG" sz="2800" b="1" dirty="0">
                <a:solidFill>
                  <a:schemeClr val="bg1"/>
                </a:solidFill>
              </a:rPr>
              <a:t>адреса </a:t>
            </a:r>
            <a:r>
              <a:rPr lang="bg-BG" sz="2800" dirty="0"/>
              <a:t>на </a:t>
            </a:r>
            <a:r>
              <a:rPr lang="bg-BG" sz="2800" b="1" dirty="0"/>
              <a:t>уеб сайта </a:t>
            </a:r>
            <a:r>
              <a:rPr lang="bg-BG" sz="2800" dirty="0"/>
              <a:t>и кликаме върху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Check my site</a:t>
            </a:r>
            <a:r>
              <a:rPr lang="en-US" sz="2800" b="1" dirty="0"/>
              <a:t>]</a:t>
            </a:r>
          </a:p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Import content only</a:t>
            </a:r>
            <a:r>
              <a:rPr lang="en-US" sz="2800" b="1" dirty="0"/>
              <a:t>]</a:t>
            </a:r>
            <a:endParaRPr lang="en-GB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081DF9-9D41-E0BE-991E-C5F23A25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Импортиране на съдържание в </a:t>
            </a:r>
            <a:r>
              <a:rPr lang="en-US" sz="3200" dirty="0"/>
              <a:t>WordPress </a:t>
            </a:r>
            <a:r>
              <a:rPr lang="bg-BG" sz="3200" dirty="0"/>
              <a:t>сайт </a:t>
            </a:r>
            <a:r>
              <a:rPr lang="en-US" sz="3200" dirty="0"/>
              <a:t>(</a:t>
            </a:r>
            <a:r>
              <a:rPr lang="bg-BG" sz="3200" dirty="0"/>
              <a:t>2</a:t>
            </a:r>
            <a:r>
              <a:rPr lang="en-US" sz="3200" dirty="0"/>
              <a:t>)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9234B-0366-86CC-4055-22A8BE73E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59" y="3250314"/>
            <a:ext cx="4149843" cy="24115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05108E-4E69-3B10-B04F-31535BA7A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383" y="2709000"/>
            <a:ext cx="5359400" cy="34671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C9009EFD-7C90-021B-7067-E211504F3A45}"/>
              </a:ext>
            </a:extLst>
          </p:cNvPr>
          <p:cNvSpPr/>
          <p:nvPr/>
        </p:nvSpPr>
        <p:spPr>
          <a:xfrm>
            <a:off x="4813753" y="3988053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58578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8286B-6B80-DFC1-EDB8-A00A66DAC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FC5E8-7DF2-43BA-5170-F47685D36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Качваме </a:t>
            </a:r>
            <a:r>
              <a:rPr lang="bg-BG" sz="2800" b="1" dirty="0">
                <a:solidFill>
                  <a:schemeClr val="bg1"/>
                </a:solidFill>
              </a:rPr>
              <a:t>експортирания файл</a:t>
            </a:r>
          </a:p>
          <a:p>
            <a:r>
              <a:rPr lang="bg-BG" sz="2800" dirty="0"/>
              <a:t>Избираме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Import</a:t>
            </a:r>
            <a:r>
              <a:rPr lang="en-US" sz="2800" b="1" dirty="0"/>
              <a:t>]</a:t>
            </a:r>
            <a:endParaRPr lang="en-GB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081DF9-9D41-E0BE-991E-C5F23A25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Импортиране на съдържание в </a:t>
            </a:r>
            <a:r>
              <a:rPr lang="en-US" sz="3200" dirty="0"/>
              <a:t>WordPress </a:t>
            </a:r>
            <a:r>
              <a:rPr lang="bg-BG" sz="3200" dirty="0"/>
              <a:t>сайт </a:t>
            </a:r>
            <a:r>
              <a:rPr lang="en-US" sz="3200" dirty="0"/>
              <a:t>(3)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9234B-0366-86CC-4055-22A8BE73E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60" y="3596041"/>
            <a:ext cx="2743984" cy="17213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05108E-4E69-3B10-B04F-31535BA7A8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"/>
          <a:stretch/>
        </p:blipFill>
        <p:spPr>
          <a:xfrm>
            <a:off x="3846958" y="2855786"/>
            <a:ext cx="4498083" cy="318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6A847F-A08B-F696-F8E0-9616D97B1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582" y="3543235"/>
            <a:ext cx="2994016" cy="1872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1F8DEBB2-6294-C35F-B690-C86D4152324D}"/>
              </a:ext>
            </a:extLst>
          </p:cNvPr>
          <p:cNvSpPr/>
          <p:nvPr/>
        </p:nvSpPr>
        <p:spPr>
          <a:xfrm>
            <a:off x="2967502" y="4002214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9" name="Arrow: Right 10">
            <a:extLst>
              <a:ext uri="{FF2B5EF4-FFF2-40B4-BE49-F238E27FC236}">
                <a16:creationId xmlns:a16="http://schemas.microsoft.com/office/drawing/2014/main" id="{A9CB3F6F-0DD2-E796-39C9-9F5AD976FFB3}"/>
              </a:ext>
            </a:extLst>
          </p:cNvPr>
          <p:cNvSpPr/>
          <p:nvPr/>
        </p:nvSpPr>
        <p:spPr>
          <a:xfrm>
            <a:off x="8206788" y="4024920"/>
            <a:ext cx="1083479" cy="90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5000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en-GB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сайтът </a:t>
            </a:r>
            <a:r>
              <a:rPr lang="bg-BG" sz="3000" dirty="0"/>
              <a:t>изисква </a:t>
            </a:r>
            <a:r>
              <a:rPr lang="bg-BG" sz="3000" b="1" dirty="0"/>
              <a:t>редовна поддръжка </a:t>
            </a:r>
            <a:r>
              <a:rPr lang="bg-BG" sz="3000" dirty="0"/>
              <a:t>и </a:t>
            </a:r>
            <a:r>
              <a:rPr lang="bg-BG" sz="3000" b="1" dirty="0"/>
              <a:t>контрол</a:t>
            </a:r>
            <a:r>
              <a:rPr lang="bg-BG" sz="3000" dirty="0"/>
              <a:t> на </a:t>
            </a:r>
            <a:r>
              <a:rPr lang="bg-BG" sz="3000" b="1" dirty="0"/>
              <a:t>достъпа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dirty="0"/>
              <a:t>Основните </a:t>
            </a:r>
            <a:r>
              <a:rPr lang="bg-BG" sz="3000" b="1" dirty="0"/>
              <a:t>методи за защита </a:t>
            </a:r>
            <a:r>
              <a:rPr lang="bg-BG" sz="3000" dirty="0"/>
              <a:t>включват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актуализации</a:t>
            </a:r>
            <a:r>
              <a:rPr lang="bg-BG" sz="3000" dirty="0"/>
              <a:t>,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силни пароли</a:t>
            </a:r>
            <a:r>
              <a:rPr lang="bg-BG" sz="3000" dirty="0"/>
              <a:t>,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ограничени права </a:t>
            </a:r>
            <a:r>
              <a:rPr lang="bg-BG" sz="3000" dirty="0"/>
              <a:t>и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надеждни инструменти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Резервното копие </a:t>
            </a:r>
            <a:r>
              <a:rPr lang="bg-BG" sz="3000" b="1" dirty="0"/>
              <a:t>намалява риска </a:t>
            </a:r>
            <a:r>
              <a:rPr lang="bg-BG" sz="3000" dirty="0"/>
              <a:t>от </a:t>
            </a:r>
            <a:r>
              <a:rPr lang="bg-BG" sz="3000" b="1" dirty="0"/>
              <a:t>загуба</a:t>
            </a:r>
            <a:r>
              <a:rPr lang="bg-BG" sz="3000" dirty="0"/>
              <a:t> на </a:t>
            </a:r>
            <a:r>
              <a:rPr lang="bg-BG" sz="3000" b="1" dirty="0"/>
              <a:t>съдържание</a:t>
            </a:r>
            <a:r>
              <a:rPr lang="bg-BG" sz="3000" dirty="0"/>
              <a:t> и </a:t>
            </a:r>
            <a:r>
              <a:rPr lang="bg-BG" sz="3000" b="1" dirty="0"/>
              <a:t>настройки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dirty="0"/>
              <a:t>Пълното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резервно копие </a:t>
            </a:r>
            <a:r>
              <a:rPr lang="bg-BG" sz="3000" dirty="0"/>
              <a:t>включва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файлове </a:t>
            </a:r>
            <a:r>
              <a:rPr lang="bg-BG" sz="3000" dirty="0"/>
              <a:t>и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база данни </a:t>
            </a:r>
            <a:r>
              <a:rPr lang="bg-BG" sz="3000" dirty="0"/>
              <a:t>и зависи от </a:t>
            </a:r>
            <a:r>
              <a:rPr lang="bg-BG" sz="3000" b="1" dirty="0"/>
              <a:t>средата </a:t>
            </a:r>
            <a:r>
              <a:rPr lang="bg-BG" sz="3000" dirty="0"/>
              <a:t>на</a:t>
            </a:r>
            <a:r>
              <a:rPr lang="bg-BG" sz="3000" b="1" dirty="0"/>
              <a:t>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62637</TotalTime>
  <Words>1061</Words>
  <Application>Microsoft Macintosh PowerPoint</Application>
  <PresentationFormat>Widescreen</PresentationFormat>
  <Paragraphs>160</Paragraphs>
  <Slides>25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Wingdings</vt:lpstr>
      <vt:lpstr>SoftUni</vt:lpstr>
      <vt:lpstr>Повишаване на сигурността в уеб</vt:lpstr>
      <vt:lpstr>Съдържание</vt:lpstr>
      <vt:lpstr>Рискове и методи на защита</vt:lpstr>
      <vt:lpstr>Рискове при използване на CMS</vt:lpstr>
      <vt:lpstr>Основни източници на риск</vt:lpstr>
      <vt:lpstr>Последици от проблем със сигурността</vt:lpstr>
      <vt:lpstr>Методи за защита на CMS сайт</vt:lpstr>
      <vt:lpstr>Актуализации и поддръжка</vt:lpstr>
      <vt:lpstr>Потребители и права за достъп</vt:lpstr>
      <vt:lpstr>Резервни копия</vt:lpstr>
      <vt:lpstr>Резервно копие на уеб сайт</vt:lpstr>
      <vt:lpstr>Съдържание на резервното копие</vt:lpstr>
      <vt:lpstr>Експорт на съдържание</vt:lpstr>
      <vt:lpstr>Пълно резервно копие</vt:lpstr>
      <vt:lpstr>Правила за съхранение на копия</vt:lpstr>
      <vt:lpstr>Методи за резервно копие в WordPress</vt:lpstr>
      <vt:lpstr>Пример</vt:lpstr>
      <vt:lpstr>Експортиране на съдържание от WordPress сайт (1)</vt:lpstr>
      <vt:lpstr>Експортиране на съдържание от WordPress сайт (2)</vt:lpstr>
      <vt:lpstr>Импортиране на съдържание в WordPress сайт (1)</vt:lpstr>
      <vt:lpstr>Импортиране на съдържание в WordPress сайт (2)</vt:lpstr>
      <vt:lpstr>Импортиране на съдържание в WordPress сайт (3)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Повишаване на сигурността в уеб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486</cp:revision>
  <dcterms:created xsi:type="dcterms:W3CDTF">2018-05-23T13:08:44Z</dcterms:created>
  <dcterms:modified xsi:type="dcterms:W3CDTF">2026-09-04T12:12:50Z</dcterms:modified>
  <cp:category/>
</cp:coreProperties>
</file>