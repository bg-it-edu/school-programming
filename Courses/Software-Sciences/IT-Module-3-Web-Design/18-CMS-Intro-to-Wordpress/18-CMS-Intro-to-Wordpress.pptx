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5"/>
  </p:notesMasterIdLst>
  <p:handoutMasterIdLst>
    <p:handoutMasterId r:id="rId36"/>
  </p:handoutMasterIdLst>
  <p:sldIdLst>
    <p:sldId id="503" r:id="rId2"/>
    <p:sldId id="276" r:id="rId3"/>
    <p:sldId id="353" r:id="rId4"/>
    <p:sldId id="497" r:id="rId5"/>
    <p:sldId id="883" r:id="rId6"/>
    <p:sldId id="866" r:id="rId7"/>
    <p:sldId id="610" r:id="rId8"/>
    <p:sldId id="869" r:id="rId9"/>
    <p:sldId id="885" r:id="rId10"/>
    <p:sldId id="887" r:id="rId11"/>
    <p:sldId id="884" r:id="rId12"/>
    <p:sldId id="886" r:id="rId13"/>
    <p:sldId id="616" r:id="rId14"/>
    <p:sldId id="888" r:id="rId15"/>
    <p:sldId id="874" r:id="rId16"/>
    <p:sldId id="889" r:id="rId17"/>
    <p:sldId id="890" r:id="rId18"/>
    <p:sldId id="891" r:id="rId19"/>
    <p:sldId id="838" r:id="rId20"/>
    <p:sldId id="844" r:id="rId21"/>
    <p:sldId id="892" r:id="rId22"/>
    <p:sldId id="898" r:id="rId23"/>
    <p:sldId id="654" r:id="rId24"/>
    <p:sldId id="881" r:id="rId25"/>
    <p:sldId id="893" r:id="rId26"/>
    <p:sldId id="900" r:id="rId27"/>
    <p:sldId id="899" r:id="rId28"/>
    <p:sldId id="897" r:id="rId29"/>
    <p:sldId id="901" r:id="rId30"/>
    <p:sldId id="896" r:id="rId31"/>
    <p:sldId id="633" r:id="rId32"/>
    <p:sldId id="504" r:id="rId33"/>
    <p:sldId id="50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Уеб съдържание" id="{66DCFE1F-60FD-44F2-BE82-706DDBC14898}">
          <p14:sldIdLst>
            <p14:sldId id="353"/>
            <p14:sldId id="497"/>
            <p14:sldId id="883"/>
            <p14:sldId id="866"/>
          </p14:sldIdLst>
        </p14:section>
        <p14:section name="CMS" id="{EB44CA50-B176-0C4C-B0D0-5459023C7783}">
          <p14:sldIdLst>
            <p14:sldId id="610"/>
            <p14:sldId id="869"/>
            <p14:sldId id="885"/>
            <p14:sldId id="887"/>
            <p14:sldId id="884"/>
            <p14:sldId id="886"/>
          </p14:sldIdLst>
        </p14:section>
        <p14:section name="Архитектура на CMS" id="{2B3E1915-4BA2-9447-BC07-AE658EE7EC35}">
          <p14:sldIdLst>
            <p14:sldId id="616"/>
            <p14:sldId id="888"/>
            <p14:sldId id="874"/>
            <p14:sldId id="889"/>
            <p14:sldId id="890"/>
            <p14:sldId id="891"/>
          </p14:sldIdLst>
        </p14:section>
        <p14:section name="Въведение в WordPress" id="{23E1C1D3-C190-EF49-BBD0-D54C17EFBBA7}">
          <p14:sldIdLst>
            <p14:sldId id="838"/>
            <p14:sldId id="844"/>
            <p14:sldId id="892"/>
            <p14:sldId id="898"/>
          </p14:sldIdLst>
        </p14:section>
        <p14:section name="Демо" id="{276EAB92-AF41-DD42-AFD3-D1ABB239E1A7}">
          <p14:sldIdLst>
            <p14:sldId id="654"/>
            <p14:sldId id="881"/>
            <p14:sldId id="893"/>
            <p14:sldId id="900"/>
            <p14:sldId id="899"/>
            <p14:sldId id="897"/>
            <p14:sldId id="901"/>
            <p14:sldId id="896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6" clrIdx="1">
    <p:extLst>
      <p:ext uri="{19B8F6BF-5375-455C-9EA6-DF929625EA0E}">
        <p15:presenceInfo xmlns:p15="http://schemas.microsoft.com/office/powerpoint/2012/main" userId="Mirela Damyanova" providerId="None"/>
      </p:ext>
    </p:extLst>
  </p:cmAuthor>
  <p:cmAuthor id="3" name="Zaraliev" initials="KZ" lastIdx="1" clrIdx="2">
    <p:extLst>
      <p:ext uri="{19B8F6BF-5375-455C-9EA6-DF929625EA0E}">
        <p15:presenceInfo xmlns:p15="http://schemas.microsoft.com/office/powerpoint/2012/main" userId="S::Zaraliev@students.softuni.bg::e1c6524a-140e-4108-9ad5-2163634319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1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4" autoAdjust="0"/>
    <p:restoredTop sz="95274" autoAdjust="0"/>
  </p:normalViewPr>
  <p:slideViewPr>
    <p:cSldViewPr showGuides="1">
      <p:cViewPr varScale="1">
        <p:scale>
          <a:sx n="108" d="100"/>
          <a:sy n="108" d="100"/>
        </p:scale>
        <p:origin x="632" y="18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17.07.26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35664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947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84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www.joomla.org/" TargetMode="External"/><Relationship Id="rId7" Type="http://schemas.openxmlformats.org/officeDocument/2006/relationships/image" Target="../media/image24.png"/><Relationship Id="rId2" Type="http://schemas.openxmlformats.org/officeDocument/2006/relationships/hyperlink" Target="https://wordpress.org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hyperlink" Target="https://moodle.org/?lang=bg" TargetMode="External"/><Relationship Id="rId4" Type="http://schemas.openxmlformats.org/officeDocument/2006/relationships/hyperlink" Target="https://new.drupal.org/home" TargetMode="External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press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press.com/" TargetMode="External"/><Relationship Id="rId2" Type="http://schemas.openxmlformats.org/officeDocument/2006/relationships/hyperlink" Target="https://wordpress.org/" TargetMode="Externa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wordpress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4400" dirty="0"/>
              <a:t>Системи за управление на уеб съдържание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en-US" sz="5200" dirty="0"/>
              <a:t>CMS. </a:t>
            </a:r>
            <a:r>
              <a:rPr lang="bg-BG" sz="5200" dirty="0"/>
              <a:t>Въведение в </a:t>
            </a:r>
            <a:r>
              <a:rPr lang="en-US" sz="5200" dirty="0"/>
              <a:t>WordPress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1007" y="3056137"/>
            <a:ext cx="1819960" cy="849053"/>
          </a:xfrm>
          <a:prstGeom prst="rect">
            <a:avLst/>
          </a:prstGeom>
        </p:spPr>
      </p:pic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5A7B943-2054-66F4-2A2C-FDF92F380A9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 fontScale="62500" lnSpcReduction="20000"/>
          </a:bodyPr>
          <a:lstStyle/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bg-BG" sz="3800" b="1" dirty="0">
                <a:solidFill>
                  <a:schemeClr val="bg1"/>
                </a:solidFill>
              </a:rPr>
              <a:t>Уеб съдържание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Същност </a:t>
            </a:r>
            <a:r>
              <a:rPr lang="bg-BG" sz="3600" dirty="0"/>
              <a:t>и</a:t>
            </a:r>
            <a:r>
              <a:rPr lang="bg-BG" sz="3600" b="1" dirty="0"/>
              <a:t> видове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Етапи </a:t>
            </a:r>
            <a:r>
              <a:rPr lang="bg-BG" sz="3600" dirty="0"/>
              <a:t>при</a:t>
            </a:r>
            <a:r>
              <a:rPr lang="bg-BG" sz="3600" b="1" dirty="0"/>
              <a:t> управление</a:t>
            </a:r>
            <a:r>
              <a:rPr lang="bg-BG" sz="3600" dirty="0">
                <a:solidFill>
                  <a:schemeClr val="bg1"/>
                </a:solidFill>
              </a:rPr>
              <a:t> </a:t>
            </a:r>
            <a:r>
              <a:rPr lang="bg-BG" sz="3600" dirty="0"/>
              <a:t>на</a:t>
            </a:r>
            <a:r>
              <a:rPr lang="bg-BG" sz="3600" dirty="0">
                <a:solidFill>
                  <a:schemeClr val="bg1"/>
                </a:solidFill>
              </a:rPr>
              <a:t> </a:t>
            </a:r>
            <a:r>
              <a:rPr lang="bg-BG" sz="3600" b="1" dirty="0"/>
              <a:t>уеб съдържание</a:t>
            </a:r>
          </a:p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en-US" sz="3800" b="1" dirty="0">
                <a:solidFill>
                  <a:schemeClr val="bg1"/>
                </a:solidFill>
              </a:rPr>
              <a:t>CMS</a:t>
            </a:r>
            <a:endParaRPr lang="bg-BG" sz="3800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bg-BG" sz="3600" b="1" dirty="0"/>
              <a:t>Въведение</a:t>
            </a:r>
            <a:r>
              <a:rPr lang="bg-BG" sz="3600" dirty="0"/>
              <a:t> и </a:t>
            </a:r>
            <a:r>
              <a:rPr lang="bg-BG" sz="3600" b="1" dirty="0"/>
              <a:t>предназначение</a:t>
            </a:r>
            <a:endParaRPr lang="en-US" sz="3600" b="1" dirty="0"/>
          </a:p>
          <a:p>
            <a:pPr lvl="1">
              <a:buClr>
                <a:schemeClr val="tx1"/>
              </a:buClr>
            </a:pPr>
            <a:r>
              <a:rPr lang="bg-BG" sz="3600" b="1" dirty="0"/>
              <a:t>Предимства</a:t>
            </a:r>
            <a:r>
              <a:rPr lang="bg-BG" sz="3600" dirty="0"/>
              <a:t> и </a:t>
            </a:r>
            <a:r>
              <a:rPr lang="bg-BG" sz="3600" b="1" dirty="0"/>
              <a:t>недостатъци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Архитектура на </a:t>
            </a:r>
            <a:r>
              <a:rPr lang="en-US" sz="3800" b="1" dirty="0">
                <a:solidFill>
                  <a:schemeClr val="bg1"/>
                </a:solidFill>
              </a:rPr>
              <a:t>CMS</a:t>
            </a:r>
            <a:endParaRPr lang="bg-BG" sz="3800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bg-BG" sz="3600" b="1" dirty="0"/>
              <a:t>Клиентски слой</a:t>
            </a:r>
            <a:r>
              <a:rPr lang="bg-BG" sz="3600" dirty="0"/>
              <a:t>, </a:t>
            </a:r>
            <a:r>
              <a:rPr lang="bg-BG" sz="3600" b="1" dirty="0"/>
              <a:t>бизнес слой</a:t>
            </a:r>
            <a:r>
              <a:rPr lang="bg-BG" sz="3600" dirty="0"/>
              <a:t>, </a:t>
            </a:r>
            <a:r>
              <a:rPr lang="bg-BG" sz="3600" b="1" dirty="0"/>
              <a:t>слой за данни</a:t>
            </a:r>
            <a:endParaRPr lang="bg-BG" sz="3600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bg-BG" sz="3800" dirty="0"/>
              <a:t>​​​</a:t>
            </a:r>
            <a:r>
              <a:rPr lang="bg-BG" sz="3800" b="1" dirty="0">
                <a:solidFill>
                  <a:schemeClr val="bg1"/>
                </a:solidFill>
              </a:rPr>
              <a:t>Въведение в </a:t>
            </a:r>
            <a:r>
              <a:rPr lang="en-US" sz="3800" b="1" dirty="0">
                <a:solidFill>
                  <a:schemeClr val="bg1"/>
                </a:solidFill>
              </a:rPr>
              <a:t>WordPress</a:t>
            </a:r>
            <a:endParaRPr lang="bg-BG" sz="3800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bg-BG" sz="3600" b="1" dirty="0"/>
              <a:t>Основни възможности </a:t>
            </a:r>
            <a:r>
              <a:rPr lang="bg-BG" sz="3600" dirty="0"/>
              <a:t>и </a:t>
            </a:r>
            <a:r>
              <a:rPr lang="bg-BG" sz="3600" b="1" dirty="0"/>
              <a:t>инсталиране</a:t>
            </a:r>
            <a:endParaRPr lang="en-US" sz="3600" b="1" dirty="0"/>
          </a:p>
          <a:p>
            <a:pPr>
              <a:buClr>
                <a:schemeClr val="tx1"/>
              </a:buClr>
            </a:pPr>
            <a:r>
              <a:rPr lang="en-US" sz="4000" dirty="0">
                <a:solidFill>
                  <a:schemeClr val="bg1"/>
                </a:solidFill>
              </a:rPr>
              <a:t>​</a:t>
            </a:r>
            <a:r>
              <a:rPr lang="bg-BG" sz="4000" dirty="0">
                <a:highlight>
                  <a:srgbClr val="FFFF00"/>
                </a:highlight>
              </a:rPr>
              <a:t>​​​</a:t>
            </a:r>
            <a:r>
              <a:rPr lang="bg-BG" sz="4000" b="1" dirty="0"/>
              <a:t>Пример: </a:t>
            </a:r>
            <a:r>
              <a:rPr lang="bg-BG" sz="4000" dirty="0"/>
              <a:t>Създаване на </a:t>
            </a:r>
            <a:r>
              <a:rPr lang="en-US" sz="4000" dirty="0"/>
              <a:t>WordPress </a:t>
            </a:r>
            <a:r>
              <a:rPr lang="bg-BG" sz="4000" dirty="0"/>
              <a:t>сайт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Управление на уеб съдържание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Уеб съдържание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879FDE-AD15-7572-DB15-70698C5B1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6158" y="1629000"/>
            <a:ext cx="2639683" cy="22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Информацията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елементите</a:t>
            </a:r>
            <a:r>
              <a:rPr lang="bg-BG" sz="3000" dirty="0"/>
              <a:t>, представени в </a:t>
            </a:r>
            <a:r>
              <a:rPr lang="bg-BG" sz="3000" b="1" dirty="0"/>
              <a:t>уеб сайт</a:t>
            </a:r>
          </a:p>
          <a:p>
            <a:r>
              <a:rPr lang="bg-BG" sz="3000" dirty="0"/>
              <a:t>Представя </a:t>
            </a:r>
            <a:r>
              <a:rPr lang="bg-BG" sz="3000" b="1" dirty="0">
                <a:solidFill>
                  <a:schemeClr val="bg1"/>
                </a:solidFill>
              </a:rPr>
              <a:t>основната цел </a:t>
            </a:r>
            <a:r>
              <a:rPr lang="bg-BG" sz="3000" dirty="0"/>
              <a:t>на </a:t>
            </a:r>
            <a:r>
              <a:rPr lang="bg-BG" sz="3000" b="1" dirty="0"/>
              <a:t>уеб сайта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Уеб съдържание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484D27-D076-ACBD-EC63-9812D87854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56" r="-182"/>
          <a:stretch/>
        </p:blipFill>
        <p:spPr>
          <a:xfrm>
            <a:off x="1275108" y="2460280"/>
            <a:ext cx="9641784" cy="426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5B2034-14F2-80D7-8939-2A7D9B7AD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27C72-196F-7B39-A8F8-D592ACDA93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Текстово</a:t>
            </a:r>
          </a:p>
          <a:p>
            <a:pPr lvl="1"/>
            <a:r>
              <a:rPr lang="bg-BG" b="1" dirty="0"/>
              <a:t>Заглавия</a:t>
            </a:r>
            <a:r>
              <a:rPr lang="bg-BG" dirty="0"/>
              <a:t>, </a:t>
            </a:r>
            <a:r>
              <a:rPr lang="bg-BG" b="1" dirty="0"/>
              <a:t>параграфи</a:t>
            </a:r>
            <a:r>
              <a:rPr lang="bg-BG" dirty="0"/>
              <a:t>, </a:t>
            </a:r>
            <a:r>
              <a:rPr lang="bg-BG" b="1" dirty="0"/>
              <a:t>списъци</a:t>
            </a:r>
            <a:r>
              <a:rPr lang="bg-BG" dirty="0"/>
              <a:t>, </a:t>
            </a:r>
            <a:r>
              <a:rPr lang="bg-BG" b="1" dirty="0"/>
              <a:t>таблици</a:t>
            </a:r>
          </a:p>
          <a:p>
            <a:r>
              <a:rPr lang="bg-BG" b="1" dirty="0">
                <a:solidFill>
                  <a:schemeClr val="bg1"/>
                </a:solidFill>
              </a:rPr>
              <a:t>Графично</a:t>
            </a:r>
          </a:p>
          <a:p>
            <a:pPr lvl="1"/>
            <a:r>
              <a:rPr lang="bg-BG" b="1" dirty="0"/>
              <a:t>Изображения</a:t>
            </a:r>
            <a:r>
              <a:rPr lang="bg-BG" dirty="0"/>
              <a:t>, </a:t>
            </a:r>
            <a:r>
              <a:rPr lang="bg-BG" b="1" dirty="0"/>
              <a:t>икони</a:t>
            </a:r>
            <a:r>
              <a:rPr lang="bg-BG" dirty="0"/>
              <a:t>, </a:t>
            </a:r>
            <a:r>
              <a:rPr lang="bg-BG" b="1" dirty="0"/>
              <a:t>лога</a:t>
            </a:r>
            <a:r>
              <a:rPr lang="bg-BG" dirty="0"/>
              <a:t>, </a:t>
            </a:r>
            <a:r>
              <a:rPr lang="bg-BG" b="1" dirty="0"/>
              <a:t>схеми</a:t>
            </a:r>
          </a:p>
          <a:p>
            <a:r>
              <a:rPr lang="bg-BG" b="1" dirty="0">
                <a:solidFill>
                  <a:schemeClr val="bg1"/>
                </a:solidFill>
              </a:rPr>
              <a:t>Аудио-визуално</a:t>
            </a:r>
          </a:p>
          <a:p>
            <a:pPr lvl="1"/>
            <a:r>
              <a:rPr lang="bg-BG" b="1" dirty="0"/>
              <a:t>Аудио</a:t>
            </a:r>
            <a:r>
              <a:rPr lang="bg-BG" dirty="0"/>
              <a:t>, </a:t>
            </a:r>
            <a:r>
              <a:rPr lang="bg-BG" b="1" dirty="0"/>
              <a:t>видео</a:t>
            </a:r>
            <a:r>
              <a:rPr lang="bg-BG" dirty="0"/>
              <a:t>, </a:t>
            </a:r>
            <a:r>
              <a:rPr lang="bg-BG" b="1" dirty="0"/>
              <a:t>анимации</a:t>
            </a:r>
          </a:p>
          <a:p>
            <a:r>
              <a:rPr lang="bg-BG" b="1" dirty="0">
                <a:solidFill>
                  <a:schemeClr val="bg1"/>
                </a:solidFill>
              </a:rPr>
              <a:t>Интерактивно</a:t>
            </a:r>
          </a:p>
          <a:p>
            <a:pPr lvl="1"/>
            <a:r>
              <a:rPr lang="bg-BG" b="1" dirty="0"/>
              <a:t>Форми</a:t>
            </a:r>
            <a:r>
              <a:rPr lang="bg-BG" dirty="0"/>
              <a:t>, </a:t>
            </a:r>
            <a:r>
              <a:rPr lang="bg-BG" b="1" dirty="0"/>
              <a:t>бутони</a:t>
            </a:r>
            <a:r>
              <a:rPr lang="bg-BG" dirty="0"/>
              <a:t>, </a:t>
            </a:r>
            <a:r>
              <a:rPr lang="bg-BG" b="1" dirty="0"/>
              <a:t>менюта</a:t>
            </a:r>
            <a:r>
              <a:rPr lang="bg-BG" dirty="0"/>
              <a:t>, </a:t>
            </a:r>
            <a:r>
              <a:rPr lang="bg-BG" b="1" dirty="0"/>
              <a:t>хипервръзки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45FC12-8284-0B12-C8EC-85F0249D0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уеб съдържание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489CA-B279-4BC4-3FA0-FFF87442D9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43581" y="1196125"/>
            <a:ext cx="1507419" cy="1598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9A5CBE-382D-A11E-70C7-88C23C1CE7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65219" y="2306708"/>
            <a:ext cx="1710000" cy="15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CCA212-9D48-BB91-7C62-9D943EEACD1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77820" y="3699000"/>
            <a:ext cx="1890000" cy="154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87486B-AAC6-C7C9-5883-84110912AC2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65219" y="4702411"/>
            <a:ext cx="1890001" cy="195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8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817F22B-2B9E-69CA-015F-4F7BA14A70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1000" y="5730518"/>
            <a:ext cx="2725098" cy="80348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Създаване</a:t>
            </a:r>
          </a:p>
          <a:p>
            <a:pPr lvl="1"/>
            <a:r>
              <a:rPr lang="bg-BG" sz="2800" dirty="0"/>
              <a:t>Подготвя се </a:t>
            </a:r>
            <a:r>
              <a:rPr lang="bg-BG" sz="2800" b="1" dirty="0">
                <a:solidFill>
                  <a:schemeClr val="bg1"/>
                </a:solidFill>
              </a:rPr>
              <a:t>ново съдържание </a:t>
            </a:r>
            <a:r>
              <a:rPr lang="bg-BG" sz="2800" dirty="0"/>
              <a:t>за </a:t>
            </a:r>
            <a:r>
              <a:rPr lang="bg-BG" sz="2800" b="1" dirty="0"/>
              <a:t>уеб сайта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Редактиране</a:t>
            </a:r>
          </a:p>
          <a:p>
            <a:pPr lvl="1"/>
            <a:r>
              <a:rPr lang="bg-BG" sz="2800" b="1" dirty="0"/>
              <a:t>Текстът</a:t>
            </a:r>
            <a:r>
              <a:rPr lang="bg-BG" sz="2800" dirty="0"/>
              <a:t> и останалите</a:t>
            </a:r>
            <a:r>
              <a:rPr lang="bg-BG" sz="2800" b="1" dirty="0"/>
              <a:t> елементи</a:t>
            </a:r>
            <a:r>
              <a:rPr lang="bg-BG" sz="2800" dirty="0"/>
              <a:t> се </a:t>
            </a:r>
            <a:r>
              <a:rPr lang="bg-BG" sz="2800" b="1" dirty="0">
                <a:solidFill>
                  <a:schemeClr val="bg1"/>
                </a:solidFill>
              </a:rPr>
              <a:t>проверяват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променят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Публикуване</a:t>
            </a:r>
          </a:p>
          <a:p>
            <a:pPr lvl="1"/>
            <a:r>
              <a:rPr lang="bg-BG" sz="2800" b="1" dirty="0"/>
              <a:t>Готовото съдържание </a:t>
            </a:r>
            <a:r>
              <a:rPr lang="bg-BG" sz="2800" dirty="0"/>
              <a:t>става </a:t>
            </a:r>
            <a:r>
              <a:rPr lang="bg-BG" sz="2800" b="1" dirty="0">
                <a:solidFill>
                  <a:schemeClr val="bg1"/>
                </a:solidFill>
              </a:rPr>
              <a:t>достъпно</a:t>
            </a:r>
            <a:r>
              <a:rPr lang="bg-BG" sz="2800" dirty="0"/>
              <a:t> за </a:t>
            </a:r>
            <a:r>
              <a:rPr lang="bg-BG" sz="2800" b="1" dirty="0"/>
              <a:t>посетителите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Обновяване</a:t>
            </a:r>
          </a:p>
          <a:p>
            <a:pPr lvl="1"/>
            <a:r>
              <a:rPr lang="bg-BG" sz="2800" b="1" dirty="0"/>
              <a:t>Публикуваното съдържание </a:t>
            </a:r>
            <a:r>
              <a:rPr lang="bg-BG" sz="2800" dirty="0"/>
              <a:t>се </a:t>
            </a:r>
            <a:r>
              <a:rPr lang="bg-BG" sz="2800" b="1" dirty="0">
                <a:solidFill>
                  <a:schemeClr val="bg1"/>
                </a:solidFill>
              </a:rPr>
              <a:t>допълва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актуализира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Премахване</a:t>
            </a:r>
          </a:p>
          <a:p>
            <a:pPr lvl="1"/>
            <a:r>
              <a:rPr lang="bg-BG" sz="2800" b="1" dirty="0"/>
              <a:t>Неактуалното</a:t>
            </a:r>
            <a:r>
              <a:rPr lang="bg-BG" sz="2800" dirty="0"/>
              <a:t> или </a:t>
            </a:r>
            <a:r>
              <a:rPr lang="bg-BG" sz="2800" b="1" dirty="0"/>
              <a:t>ненужното</a:t>
            </a:r>
            <a:r>
              <a:rPr lang="bg-BG" sz="2800" dirty="0"/>
              <a:t> </a:t>
            </a:r>
            <a:r>
              <a:rPr lang="bg-BG" sz="2800" b="1" dirty="0"/>
              <a:t>съдържание</a:t>
            </a:r>
            <a:r>
              <a:rPr lang="bg-BG" sz="2800" dirty="0"/>
              <a:t> се </a:t>
            </a:r>
            <a:r>
              <a:rPr lang="bg-BG" sz="2800" b="1" dirty="0">
                <a:solidFill>
                  <a:schemeClr val="bg1"/>
                </a:solidFill>
              </a:rPr>
              <a:t>изтрива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Етапи при управление на уеб съдържание</a:t>
            </a:r>
            <a:endParaRPr lang="en-BG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88EFC2-92EA-7AF2-A2EA-A781D63034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14362" y="1224000"/>
            <a:ext cx="2694136" cy="10973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031FE4F-3061-4A6E-A45A-102CBE2645E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6902" y="2321300"/>
            <a:ext cx="2546618" cy="10973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87395C3-99F4-65C6-5C07-8B3626D78BF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36000" y="3436797"/>
            <a:ext cx="2694136" cy="11255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D93F4C4-B39A-C72F-51AF-4C36DE43CFE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53932" y="4580531"/>
            <a:ext cx="2732030" cy="112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33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Система за управление на уеб съдържание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sz="4400" dirty="0"/>
              <a:t>CMS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E6C2CA-5DB8-658B-50F8-B529194DF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6107" y="1584000"/>
            <a:ext cx="2999786" cy="2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CMS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CMS </a:t>
            </a:r>
            <a:r>
              <a:rPr lang="en-US" sz="3200" b="1" dirty="0"/>
              <a:t>(</a:t>
            </a:r>
            <a:r>
              <a:rPr lang="en-GB" sz="3200" b="1" dirty="0">
                <a:solidFill>
                  <a:schemeClr val="bg1"/>
                </a:solidFill>
              </a:rPr>
              <a:t>C</a:t>
            </a:r>
            <a:r>
              <a:rPr lang="en-GB" sz="3200" b="1" dirty="0"/>
              <a:t>ontent </a:t>
            </a:r>
            <a:r>
              <a:rPr lang="en-GB" sz="3200" b="1" dirty="0">
                <a:solidFill>
                  <a:schemeClr val="bg1"/>
                </a:solidFill>
              </a:rPr>
              <a:t>M</a:t>
            </a:r>
            <a:r>
              <a:rPr lang="en-GB" sz="3200" b="1" dirty="0"/>
              <a:t>anagement </a:t>
            </a:r>
            <a:r>
              <a:rPr lang="en-GB" sz="3200" b="1" dirty="0">
                <a:solidFill>
                  <a:schemeClr val="bg1"/>
                </a:solidFill>
              </a:rPr>
              <a:t>S</a:t>
            </a:r>
            <a:r>
              <a:rPr lang="en-GB" sz="3200" b="1" dirty="0"/>
              <a:t>ystem</a:t>
            </a:r>
            <a:r>
              <a:rPr lang="en-US" sz="3200" b="1" dirty="0"/>
              <a:t>)</a:t>
            </a:r>
            <a:endParaRPr lang="bg-BG" sz="3200" b="1" dirty="0"/>
          </a:p>
          <a:p>
            <a:pPr lvl="1"/>
            <a:r>
              <a:rPr lang="bg-BG" sz="2800" b="1" dirty="0">
                <a:solidFill>
                  <a:schemeClr val="bg1"/>
                </a:solidFill>
              </a:rPr>
              <a:t>Система</a:t>
            </a:r>
            <a:r>
              <a:rPr lang="bg-BG" sz="2800" dirty="0"/>
              <a:t> за </a:t>
            </a:r>
            <a:r>
              <a:rPr lang="bg-BG" sz="2800" b="1" dirty="0">
                <a:solidFill>
                  <a:schemeClr val="bg1"/>
                </a:solidFill>
              </a:rPr>
              <a:t>управление</a:t>
            </a:r>
            <a:r>
              <a:rPr lang="bg-BG" sz="2800" dirty="0"/>
              <a:t> на </a:t>
            </a:r>
            <a:r>
              <a:rPr lang="bg-BG" sz="2800" b="1" dirty="0"/>
              <a:t>уеб съдържание</a:t>
            </a:r>
          </a:p>
          <a:p>
            <a:pPr lvl="1"/>
            <a:r>
              <a:rPr lang="bg-BG" sz="2800" b="1" dirty="0">
                <a:solidFill>
                  <a:schemeClr val="bg1"/>
                </a:solidFill>
              </a:rPr>
              <a:t>Софтуер</a:t>
            </a:r>
            <a:r>
              <a:rPr lang="bg-BG" sz="2800" dirty="0"/>
              <a:t> за </a:t>
            </a:r>
            <a:r>
              <a:rPr lang="bg-BG" sz="2800" b="1" dirty="0">
                <a:solidFill>
                  <a:schemeClr val="bg1"/>
                </a:solidFill>
              </a:rPr>
              <a:t>създаване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поддържане</a:t>
            </a:r>
            <a:r>
              <a:rPr lang="bg-BG" sz="2800" dirty="0"/>
              <a:t> на </a:t>
            </a:r>
            <a:r>
              <a:rPr lang="bg-BG" sz="2800" b="1" dirty="0"/>
              <a:t>уеб сайтове</a:t>
            </a:r>
          </a:p>
          <a:p>
            <a:pPr lvl="1"/>
            <a:r>
              <a:rPr lang="bg-BG" sz="2800" b="1" dirty="0"/>
              <a:t>Съдържанието</a:t>
            </a:r>
            <a:r>
              <a:rPr lang="bg-BG" sz="2800" dirty="0"/>
              <a:t> се </a:t>
            </a:r>
            <a:r>
              <a:rPr lang="bg-BG" sz="2800" b="1" dirty="0"/>
              <a:t>управлява</a:t>
            </a:r>
            <a:r>
              <a:rPr lang="bg-BG" sz="2800" dirty="0"/>
              <a:t> от </a:t>
            </a:r>
            <a:r>
              <a:rPr lang="bg-BG" sz="2800" b="1" dirty="0">
                <a:solidFill>
                  <a:schemeClr val="bg1"/>
                </a:solidFill>
              </a:rPr>
              <a:t>административен панел</a:t>
            </a:r>
          </a:p>
          <a:p>
            <a:pPr lvl="1"/>
            <a:r>
              <a:rPr lang="bg-BG" sz="2800" b="1" dirty="0"/>
              <a:t>Промените</a:t>
            </a:r>
            <a:r>
              <a:rPr lang="bg-BG" sz="2800" dirty="0"/>
              <a:t> се </a:t>
            </a:r>
            <a:r>
              <a:rPr lang="bg-BG" sz="2800" b="1" dirty="0"/>
              <a:t>правят</a:t>
            </a:r>
            <a:r>
              <a:rPr lang="bg-BG" sz="2800" dirty="0"/>
              <a:t> от </a:t>
            </a:r>
            <a:r>
              <a:rPr lang="bg-BG" sz="2800" b="1" dirty="0">
                <a:solidFill>
                  <a:schemeClr val="bg1"/>
                </a:solidFill>
              </a:rPr>
              <a:t>интернет браузър</a:t>
            </a:r>
          </a:p>
          <a:p>
            <a:pPr lvl="1"/>
            <a:endParaRPr lang="bg-BG" sz="3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1E71F3-928F-2FA4-62D6-A88F7B75B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3053" y="4113754"/>
            <a:ext cx="5045894" cy="265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33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EB7D37-A46F-2235-856E-9C91DD436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86528-BDC3-53EC-C164-B913966356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При </a:t>
            </a:r>
            <a:r>
              <a:rPr lang="bg-BG" sz="3000" b="1" dirty="0"/>
              <a:t>уеб</a:t>
            </a:r>
            <a:r>
              <a:rPr lang="bg-BG" sz="3000" dirty="0"/>
              <a:t> </a:t>
            </a:r>
            <a:r>
              <a:rPr lang="bg-BG" sz="3000" b="1" dirty="0"/>
              <a:t>сайтове</a:t>
            </a:r>
            <a:r>
              <a:rPr lang="bg-BG" sz="3000" dirty="0"/>
              <a:t> с </a:t>
            </a:r>
            <a:r>
              <a:rPr lang="bg-BG" sz="3000" b="1" dirty="0">
                <a:solidFill>
                  <a:schemeClr val="bg1"/>
                </a:solidFill>
              </a:rPr>
              <a:t>често обновявано </a:t>
            </a:r>
            <a:r>
              <a:rPr lang="bg-BG" sz="3000" b="1" dirty="0"/>
              <a:t>съдържание</a:t>
            </a:r>
          </a:p>
          <a:p>
            <a:r>
              <a:rPr lang="bg-BG" sz="3000" dirty="0"/>
              <a:t>При </a:t>
            </a:r>
            <a:r>
              <a:rPr lang="bg-BG" sz="3000" b="1" dirty="0"/>
              <a:t>работа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няколко потребители</a:t>
            </a:r>
          </a:p>
          <a:p>
            <a:r>
              <a:rPr lang="bg-BG" sz="3000" dirty="0"/>
              <a:t>При </a:t>
            </a:r>
            <a:r>
              <a:rPr lang="bg-BG" sz="3000" b="1" dirty="0"/>
              <a:t>управление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голям брой страници </a:t>
            </a:r>
            <a:r>
              <a:rPr lang="bg-BG" sz="3000" dirty="0"/>
              <a:t>и </a:t>
            </a:r>
            <a:r>
              <a:rPr lang="bg-BG" sz="3000" b="1" dirty="0">
                <a:solidFill>
                  <a:schemeClr val="bg1"/>
                </a:solidFill>
              </a:rPr>
              <a:t>публикации</a:t>
            </a:r>
          </a:p>
          <a:p>
            <a:r>
              <a:rPr lang="bg-BG" sz="3000" dirty="0"/>
              <a:t>За </a:t>
            </a:r>
            <a:r>
              <a:rPr lang="bg-BG" sz="3000" b="1" dirty="0"/>
              <a:t>блогове</a:t>
            </a:r>
            <a:r>
              <a:rPr lang="bg-BG" sz="3000" dirty="0"/>
              <a:t>, </a:t>
            </a:r>
            <a:r>
              <a:rPr lang="bg-BG" sz="3000" b="1" dirty="0"/>
              <a:t>фирмени</a:t>
            </a:r>
            <a:r>
              <a:rPr lang="bg-BG" sz="3000" dirty="0"/>
              <a:t>, </a:t>
            </a:r>
            <a:r>
              <a:rPr lang="bg-BG" sz="3000" b="1" dirty="0"/>
              <a:t>новинарски</a:t>
            </a:r>
            <a:r>
              <a:rPr lang="bg-BG" sz="3000" dirty="0"/>
              <a:t> и </a:t>
            </a:r>
            <a:r>
              <a:rPr lang="bg-BG" sz="3000" b="1" dirty="0"/>
              <a:t>училищни уеб сайтове</a:t>
            </a:r>
          </a:p>
          <a:p>
            <a:r>
              <a:rPr lang="bg-BG" sz="3000" dirty="0"/>
              <a:t>За </a:t>
            </a:r>
            <a:r>
              <a:rPr lang="bg-BG" sz="3000" b="1" dirty="0"/>
              <a:t>онлайн магазини </a:t>
            </a:r>
            <a:r>
              <a:rPr lang="bg-BG" sz="3000" dirty="0"/>
              <a:t>и други </a:t>
            </a:r>
            <a:r>
              <a:rPr lang="bg-BG" sz="3000" b="1" dirty="0">
                <a:solidFill>
                  <a:schemeClr val="bg1"/>
                </a:solidFill>
              </a:rPr>
              <a:t>динамични уеб сайтове</a:t>
            </a:r>
            <a:endParaRPr lang="en-BG" sz="30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494CCA-DFE5-DB00-0451-49EC7BDD6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Предназначение на </a:t>
            </a:r>
            <a:r>
              <a:rPr lang="en-US" dirty="0"/>
              <a:t>CMS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BF26FF-75CA-2880-9191-142E9CDB11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63"/>
          <a:stretch/>
        </p:blipFill>
        <p:spPr>
          <a:xfrm>
            <a:off x="4047496" y="4254245"/>
            <a:ext cx="4097008" cy="247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32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FE5CC5-0FF7-53F8-195E-D6FE197C2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F0A8B6-23C6-3B1A-3D38-D542F21CD5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000" b="1" dirty="0"/>
              <a:t>WordPress</a:t>
            </a:r>
            <a:r>
              <a:rPr lang="en-US" sz="3000" dirty="0"/>
              <a:t> </a:t>
            </a:r>
            <a:r>
              <a:rPr lang="en-GB" sz="3200" dirty="0"/>
              <a:t>– </a:t>
            </a:r>
            <a:r>
              <a:rPr lang="en-US" sz="3200" dirty="0"/>
              <a:t>(</a:t>
            </a:r>
            <a:r>
              <a:rPr lang="en-US" sz="3200" dirty="0">
                <a:hlinkClick r:id="rId2"/>
              </a:rPr>
              <a:t>wordpress.org</a:t>
            </a:r>
            <a:r>
              <a:rPr lang="en-US" sz="3200" dirty="0"/>
              <a:t>)</a:t>
            </a:r>
            <a:endParaRPr lang="en-US" sz="3000" dirty="0"/>
          </a:p>
          <a:p>
            <a:pPr lvl="1"/>
            <a:r>
              <a:rPr lang="bg-BG" sz="2800" dirty="0"/>
              <a:t>Подходящ за </a:t>
            </a:r>
            <a:r>
              <a:rPr lang="bg-BG" sz="2800" b="1" dirty="0">
                <a:solidFill>
                  <a:schemeClr val="bg1"/>
                </a:solidFill>
              </a:rPr>
              <a:t>различни видове </a:t>
            </a:r>
            <a:r>
              <a:rPr lang="bg-BG" sz="2800" b="1" dirty="0"/>
              <a:t>уеб сайтове</a:t>
            </a:r>
          </a:p>
          <a:p>
            <a:r>
              <a:rPr lang="en-US" sz="3000" b="1" dirty="0"/>
              <a:t>Joomla</a:t>
            </a:r>
            <a:r>
              <a:rPr lang="en-US" sz="3000" dirty="0"/>
              <a:t> </a:t>
            </a:r>
            <a:r>
              <a:rPr lang="en-GB" sz="2800" dirty="0"/>
              <a:t>–</a:t>
            </a:r>
            <a:r>
              <a:rPr lang="en-US" sz="3000" dirty="0"/>
              <a:t> (</a:t>
            </a:r>
            <a:r>
              <a:rPr lang="en-US" sz="3000" dirty="0">
                <a:hlinkClick r:id="rId3"/>
              </a:rPr>
              <a:t>joomla.org</a:t>
            </a:r>
            <a:r>
              <a:rPr lang="en-US" sz="3000" dirty="0"/>
              <a:t>)</a:t>
            </a:r>
          </a:p>
          <a:p>
            <a:pPr lvl="1"/>
            <a:r>
              <a:rPr lang="bg-BG" sz="2800" dirty="0"/>
              <a:t>Използва се за </a:t>
            </a:r>
            <a:r>
              <a:rPr lang="bg-BG" sz="2800" b="1" dirty="0"/>
              <a:t>уеб сайтове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bg1"/>
                </a:solidFill>
              </a:rPr>
              <a:t>информационни портали</a:t>
            </a:r>
          </a:p>
          <a:p>
            <a:r>
              <a:rPr lang="en-US" sz="3000" b="1" dirty="0"/>
              <a:t>Drupal</a:t>
            </a:r>
            <a:r>
              <a:rPr lang="en-US" sz="3000" dirty="0"/>
              <a:t> </a:t>
            </a:r>
            <a:r>
              <a:rPr lang="en-GB" sz="2800" dirty="0"/>
              <a:t>–</a:t>
            </a:r>
            <a:r>
              <a:rPr lang="en-US" sz="3000" dirty="0"/>
              <a:t> (</a:t>
            </a:r>
            <a:r>
              <a:rPr lang="en-US" sz="3000" dirty="0">
                <a:hlinkClick r:id="rId4"/>
              </a:rPr>
              <a:t>drupal.org</a:t>
            </a:r>
            <a:r>
              <a:rPr lang="en-US" sz="3000" dirty="0"/>
              <a:t>)</a:t>
            </a:r>
          </a:p>
          <a:p>
            <a:pPr lvl="1"/>
            <a:r>
              <a:rPr lang="bg-BG" sz="2800" dirty="0"/>
              <a:t>Подходящ за </a:t>
            </a:r>
            <a:r>
              <a:rPr lang="bg-BG" sz="2800" b="1" dirty="0">
                <a:solidFill>
                  <a:schemeClr val="bg1"/>
                </a:solidFill>
              </a:rPr>
              <a:t>по</a:t>
            </a:r>
            <a:r>
              <a:rPr lang="en-US" sz="2800" b="1" dirty="0">
                <a:solidFill>
                  <a:schemeClr val="bg1"/>
                </a:solidFill>
              </a:rPr>
              <a:t>-</a:t>
            </a:r>
            <a:r>
              <a:rPr lang="bg-BG" sz="2800" b="1" dirty="0">
                <a:solidFill>
                  <a:schemeClr val="bg1"/>
                </a:solidFill>
              </a:rPr>
              <a:t>големи</a:t>
            </a:r>
            <a:r>
              <a:rPr lang="bg-BG" sz="2800" b="1" dirty="0"/>
              <a:t> уеб проекти</a:t>
            </a:r>
          </a:p>
          <a:p>
            <a:r>
              <a:rPr lang="en-US" sz="3000" b="1" dirty="0"/>
              <a:t>Moodle</a:t>
            </a:r>
            <a:r>
              <a:rPr lang="en-US" sz="3000" dirty="0"/>
              <a:t> </a:t>
            </a:r>
            <a:r>
              <a:rPr lang="en-GB" sz="2800" dirty="0"/>
              <a:t>–</a:t>
            </a:r>
            <a:r>
              <a:rPr lang="en-US" sz="3000" dirty="0"/>
              <a:t> (</a:t>
            </a:r>
            <a:r>
              <a:rPr lang="en-US" sz="3000" dirty="0">
                <a:hlinkClick r:id="rId5"/>
              </a:rPr>
              <a:t>moodle.org</a:t>
            </a:r>
            <a:r>
              <a:rPr lang="en-US" sz="3000" dirty="0"/>
              <a:t>)</a:t>
            </a:r>
          </a:p>
          <a:p>
            <a:pPr lvl="1"/>
            <a:r>
              <a:rPr lang="bg-BG" sz="2800" dirty="0"/>
              <a:t>Използва се за </a:t>
            </a:r>
            <a:r>
              <a:rPr lang="bg-BG" sz="2800" b="1" dirty="0">
                <a:solidFill>
                  <a:schemeClr val="bg1"/>
                </a:solidFill>
              </a:rPr>
              <a:t>учебно съдържание </a:t>
            </a:r>
            <a:r>
              <a:rPr lang="bg-BG" sz="2800" dirty="0"/>
              <a:t>и </a:t>
            </a:r>
            <a:r>
              <a:rPr lang="bg-BG" sz="2800" b="1" dirty="0"/>
              <a:t>онлайн курсове</a:t>
            </a:r>
            <a:endParaRPr lang="en-BG" sz="2800" b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EFB438-74D5-96D2-FAB8-2F50B664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Примери за </a:t>
            </a:r>
            <a:r>
              <a:rPr lang="en-BG" dirty="0"/>
              <a:t>CMS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784C3A-D497-0C18-FFF8-466817174D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4674" y="4824000"/>
            <a:ext cx="1449300" cy="1449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1C4CD1-C295-123B-37F8-3C70ECD666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7814" y="3789000"/>
            <a:ext cx="962182" cy="126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854623-66AE-A06C-7C2E-47BE9687F8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4238" y="2624668"/>
            <a:ext cx="1590172" cy="16086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FCD7CE-EAAC-8AA8-7148-FB7F030B6D5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18371" y="1196125"/>
            <a:ext cx="1350000" cy="137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93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CB472D-F0D1-A494-B5A0-FB2E80B80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0B76B3-4256-A073-A22C-9160443602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36000" y="1195931"/>
            <a:ext cx="6265598" cy="4957073"/>
          </a:xfrm>
        </p:spPr>
        <p:txBody>
          <a:bodyPr>
            <a:normAutofit/>
          </a:bodyPr>
          <a:lstStyle/>
          <a:p>
            <a:r>
              <a:rPr lang="bg-BG" sz="2900" b="1" dirty="0"/>
              <a:t>Недостатъци</a:t>
            </a:r>
          </a:p>
          <a:p>
            <a:pPr lvl="1"/>
            <a:r>
              <a:rPr lang="bg-BG" sz="2600" b="1" dirty="0"/>
              <a:t>Нужда</a:t>
            </a:r>
            <a:r>
              <a:rPr lang="bg-BG" sz="2600" dirty="0"/>
              <a:t> от </a:t>
            </a:r>
            <a:r>
              <a:rPr lang="bg-BG" sz="2600" b="1" dirty="0">
                <a:solidFill>
                  <a:schemeClr val="bg1"/>
                </a:solidFill>
              </a:rPr>
              <a:t>редовни актуализации</a:t>
            </a:r>
          </a:p>
          <a:p>
            <a:pPr lvl="1"/>
            <a:r>
              <a:rPr lang="bg-BG" sz="2600" b="1" dirty="0"/>
              <a:t>Зависимост</a:t>
            </a:r>
            <a:r>
              <a:rPr lang="bg-BG" sz="2600" dirty="0"/>
              <a:t> от </a:t>
            </a:r>
            <a:r>
              <a:rPr lang="bg-BG" sz="2600" b="1" dirty="0">
                <a:solidFill>
                  <a:schemeClr val="bg1"/>
                </a:solidFill>
              </a:rPr>
              <a:t>теми</a:t>
            </a:r>
            <a:r>
              <a:rPr lang="bg-BG" sz="2600" dirty="0"/>
              <a:t> и </a:t>
            </a:r>
            <a:r>
              <a:rPr lang="bg-BG" sz="2600" b="1" dirty="0">
                <a:solidFill>
                  <a:schemeClr val="bg1"/>
                </a:solidFill>
              </a:rPr>
              <a:t>добавки</a:t>
            </a:r>
          </a:p>
          <a:p>
            <a:pPr lvl="1"/>
            <a:r>
              <a:rPr lang="bg-BG" sz="2600" b="1" dirty="0"/>
              <a:t>Риск</a:t>
            </a:r>
            <a:r>
              <a:rPr lang="bg-BG" sz="2600" dirty="0"/>
              <a:t> при </a:t>
            </a:r>
            <a:r>
              <a:rPr lang="bg-BG" sz="2600" b="1" dirty="0">
                <a:solidFill>
                  <a:schemeClr val="bg1"/>
                </a:solidFill>
              </a:rPr>
              <a:t>остарели компоненти</a:t>
            </a:r>
          </a:p>
          <a:p>
            <a:pPr lvl="1">
              <a:buClr>
                <a:schemeClr val="tx1"/>
              </a:buClr>
            </a:pPr>
            <a:r>
              <a:rPr lang="bg-BG" sz="2600" b="1" dirty="0">
                <a:solidFill>
                  <a:schemeClr val="bg1"/>
                </a:solidFill>
              </a:rPr>
              <a:t>По-ограничен контрол </a:t>
            </a:r>
            <a:r>
              <a:rPr lang="bg-BG" sz="2600" dirty="0"/>
              <a:t>върху </a:t>
            </a:r>
            <a:r>
              <a:rPr lang="bg-BG" sz="2600" b="1" dirty="0"/>
              <a:t>кода</a:t>
            </a:r>
            <a:endParaRPr lang="en-BG" sz="26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172C9-6A08-089B-FA9E-6732FCFDBA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01" y="1195931"/>
            <a:ext cx="5669998" cy="4957073"/>
          </a:xfrm>
        </p:spPr>
        <p:txBody>
          <a:bodyPr>
            <a:normAutofit/>
          </a:bodyPr>
          <a:lstStyle/>
          <a:p>
            <a:r>
              <a:rPr lang="bg-BG" sz="3100" b="1" dirty="0"/>
              <a:t>Предимства</a:t>
            </a:r>
          </a:p>
          <a:p>
            <a:pPr lvl="1"/>
            <a:r>
              <a:rPr lang="bg-BG" sz="2600" b="1" dirty="0"/>
              <a:t>Лесна работа </a:t>
            </a:r>
            <a:r>
              <a:rPr lang="bg-BG" sz="2600" b="1" dirty="0">
                <a:solidFill>
                  <a:schemeClr val="bg1"/>
                </a:solidFill>
              </a:rPr>
              <a:t>без писане на код</a:t>
            </a:r>
          </a:p>
          <a:p>
            <a:pPr lvl="1">
              <a:buClr>
                <a:schemeClr val="tx1"/>
              </a:buClr>
            </a:pPr>
            <a:r>
              <a:rPr lang="bg-BG" sz="2600" b="1" dirty="0">
                <a:solidFill>
                  <a:schemeClr val="bg1"/>
                </a:solidFill>
              </a:rPr>
              <a:t>Бързо създаване </a:t>
            </a:r>
            <a:r>
              <a:rPr lang="bg-BG" sz="2600" dirty="0"/>
              <a:t>на </a:t>
            </a:r>
            <a:r>
              <a:rPr lang="bg-BG" sz="2600" b="1" dirty="0"/>
              <a:t>уеб сайт</a:t>
            </a:r>
          </a:p>
          <a:p>
            <a:pPr lvl="1"/>
            <a:r>
              <a:rPr lang="bg-BG" sz="2600" b="1" dirty="0"/>
              <a:t>Работа</a:t>
            </a:r>
            <a:r>
              <a:rPr lang="bg-BG" sz="2600" dirty="0"/>
              <a:t> на няколко </a:t>
            </a:r>
            <a:r>
              <a:rPr lang="bg-BG" sz="2600" b="1" dirty="0">
                <a:solidFill>
                  <a:schemeClr val="bg1"/>
                </a:solidFill>
              </a:rPr>
              <a:t>потребители</a:t>
            </a:r>
          </a:p>
          <a:p>
            <a:pPr lvl="1"/>
            <a:r>
              <a:rPr lang="bg-BG" sz="2600" b="1" dirty="0"/>
              <a:t>Разширяване</a:t>
            </a:r>
            <a:r>
              <a:rPr lang="bg-BG" sz="2600" dirty="0"/>
              <a:t> с </a:t>
            </a:r>
            <a:r>
              <a:rPr lang="bg-BG" sz="2600" b="1" dirty="0">
                <a:solidFill>
                  <a:schemeClr val="bg1"/>
                </a:solidFill>
              </a:rPr>
              <a:t>теми</a:t>
            </a:r>
            <a:r>
              <a:rPr lang="bg-BG" sz="2600" dirty="0"/>
              <a:t> и </a:t>
            </a:r>
            <a:r>
              <a:rPr lang="bg-BG" sz="2600" b="1" dirty="0">
                <a:solidFill>
                  <a:schemeClr val="bg1"/>
                </a:solidFill>
              </a:rPr>
              <a:t>добавки</a:t>
            </a:r>
          </a:p>
          <a:p>
            <a:pPr lvl="1"/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944944-4061-E5E2-7148-A3461233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Предимства и недостатъци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3787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EAF481-FF82-00D7-004E-5AF9569FD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C9A88B-B910-5F42-187E-574DFAB1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 </a:t>
            </a:r>
            <a:r>
              <a:rPr lang="en-GB" sz="4000" dirty="0"/>
              <a:t>–</a:t>
            </a:r>
            <a:r>
              <a:rPr lang="bg-BG" dirty="0"/>
              <a:t> Пример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0822C-6D75-9588-B4BC-F2CEEF983A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406" y="1221986"/>
            <a:ext cx="5729887" cy="5433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C922D-2C63-223A-F53C-5F0BB09A27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73229" y="1221986"/>
            <a:ext cx="4532030" cy="5541333"/>
          </a:xfrm>
          <a:prstGeom prst="rect">
            <a:avLst/>
          </a:prstGeom>
        </p:spPr>
      </p:pic>
      <p:sp>
        <p:nvSpPr>
          <p:cNvPr id="8" name="Arrow: Right 10">
            <a:extLst>
              <a:ext uri="{FF2B5EF4-FFF2-40B4-BE49-F238E27FC236}">
                <a16:creationId xmlns:a16="http://schemas.microsoft.com/office/drawing/2014/main" id="{3658EFCA-2EF7-F15F-BEBA-E0E2420E4FBB}"/>
              </a:ext>
            </a:extLst>
          </p:cNvPr>
          <p:cNvSpPr/>
          <p:nvPr/>
        </p:nvSpPr>
        <p:spPr>
          <a:xfrm>
            <a:off x="6034261" y="3497415"/>
            <a:ext cx="1125000" cy="88265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821384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400" dirty="0"/>
              <a:t>Клиентски слой, бизнес слой, слой за данни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Архитектура на </a:t>
            </a:r>
            <a:r>
              <a:rPr lang="en-US" sz="6000" dirty="0"/>
              <a:t>CMS</a:t>
            </a:r>
            <a:endParaRPr lang="en-GB" sz="6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2899F-06ED-3CD0-219C-AD990E87D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9045" y="999000"/>
            <a:ext cx="3393909" cy="339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1" y="1196125"/>
            <a:ext cx="6144401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000" dirty="0"/>
              <a:t>Разделя </a:t>
            </a:r>
            <a:r>
              <a:rPr lang="bg-BG" sz="3000" b="1" dirty="0"/>
              <a:t>системата</a:t>
            </a:r>
            <a:r>
              <a:rPr lang="bg-BG" sz="3000" dirty="0"/>
              <a:t> на</a:t>
            </a:r>
            <a:r>
              <a:rPr lang="en-US" sz="3000" dirty="0"/>
              <a:t>                  </a:t>
            </a:r>
            <a:r>
              <a:rPr lang="bg-BG" sz="3000" b="1" dirty="0">
                <a:solidFill>
                  <a:schemeClr val="bg1"/>
                </a:solidFill>
              </a:rPr>
              <a:t>три свързани слоя</a:t>
            </a:r>
          </a:p>
          <a:p>
            <a:pPr>
              <a:buClr>
                <a:schemeClr val="tx2"/>
              </a:buClr>
            </a:pPr>
            <a:r>
              <a:rPr lang="bg-BG" sz="3000" b="1" dirty="0"/>
              <a:t>Всеки слой </a:t>
            </a:r>
            <a:r>
              <a:rPr lang="bg-BG" sz="3000" dirty="0"/>
              <a:t>изпълнява </a:t>
            </a:r>
            <a:r>
              <a:rPr lang="en-US" sz="3000" dirty="0"/>
              <a:t>     </a:t>
            </a:r>
            <a:r>
              <a:rPr lang="bg-BG" sz="3000" b="1" dirty="0">
                <a:solidFill>
                  <a:schemeClr val="bg1"/>
                </a:solidFill>
              </a:rPr>
              <a:t>различна задача</a:t>
            </a:r>
          </a:p>
          <a:p>
            <a:pPr>
              <a:buClr>
                <a:schemeClr val="tx2"/>
              </a:buClr>
            </a:pPr>
            <a:r>
              <a:rPr lang="bg-BG" sz="3000" b="1" dirty="0"/>
              <a:t>Информацията</a:t>
            </a:r>
            <a:r>
              <a:rPr lang="bg-BG" sz="3000" dirty="0"/>
              <a:t> преминава </a:t>
            </a:r>
            <a:r>
              <a:rPr lang="bg-BG" sz="3000" b="1" dirty="0">
                <a:solidFill>
                  <a:schemeClr val="bg1"/>
                </a:solidFill>
              </a:rPr>
              <a:t>последователно</a:t>
            </a:r>
            <a:r>
              <a:rPr lang="bg-BG" sz="3000" dirty="0"/>
              <a:t> между </a:t>
            </a:r>
            <a:r>
              <a:rPr lang="bg-BG" sz="3000" b="1" dirty="0"/>
              <a:t>слоевете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E40675-6620-A9F2-4515-CBA7D8C6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Трислойна архитектура на </a:t>
            </a:r>
            <a:r>
              <a:rPr lang="en-US" dirty="0"/>
              <a:t>CMS</a:t>
            </a:r>
            <a:endParaRPr lang="en-B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E0048E-CFD2-6EC3-2260-D9B5F91ED6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34803" y="1289509"/>
            <a:ext cx="4639424" cy="536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9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44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000" dirty="0"/>
              <a:t>Частта от </a:t>
            </a:r>
            <a:r>
              <a:rPr lang="bg-BG" sz="3000" b="1" dirty="0"/>
              <a:t>системата</a:t>
            </a:r>
            <a:r>
              <a:rPr lang="bg-BG" sz="3000" dirty="0"/>
              <a:t>, с която </a:t>
            </a:r>
            <a:r>
              <a:rPr lang="bg-BG" sz="3000" b="1" dirty="0"/>
              <a:t>потребителят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взаимодейства</a:t>
            </a:r>
          </a:p>
          <a:p>
            <a:pPr>
              <a:buClr>
                <a:schemeClr val="tx2"/>
              </a:buClr>
            </a:pPr>
            <a:r>
              <a:rPr lang="bg-BG" sz="3000" b="1" dirty="0">
                <a:solidFill>
                  <a:schemeClr val="bg1"/>
                </a:solidFill>
              </a:rPr>
              <a:t>Потребителят</a:t>
            </a:r>
            <a:r>
              <a:rPr lang="bg-BG" sz="3000" dirty="0"/>
              <a:t> избира </a:t>
            </a:r>
            <a:r>
              <a:rPr lang="bg-BG" sz="3000" b="1" dirty="0"/>
              <a:t>действие</a:t>
            </a:r>
            <a:r>
              <a:rPr lang="bg-BG" sz="3000" dirty="0"/>
              <a:t> в </a:t>
            </a:r>
            <a:r>
              <a:rPr lang="bg-BG" sz="3000" b="1" dirty="0"/>
              <a:t>уеб страницата</a:t>
            </a:r>
          </a:p>
          <a:p>
            <a:pPr>
              <a:buClr>
                <a:schemeClr val="tx2"/>
              </a:buClr>
            </a:pPr>
            <a:r>
              <a:rPr lang="bg-BG" sz="3000" b="1" dirty="0">
                <a:solidFill>
                  <a:schemeClr val="bg1"/>
                </a:solidFill>
              </a:rPr>
              <a:t>Браузърът</a:t>
            </a:r>
            <a:r>
              <a:rPr lang="bg-BG" sz="3000" dirty="0"/>
              <a:t> изпраща </a:t>
            </a:r>
            <a:r>
              <a:rPr lang="bg-BG" sz="3000" b="1" dirty="0"/>
              <a:t>заявка</a:t>
            </a:r>
            <a:r>
              <a:rPr lang="bg-BG" sz="3000" dirty="0"/>
              <a:t> и получава </a:t>
            </a:r>
            <a:r>
              <a:rPr lang="bg-BG" sz="3000" b="1" dirty="0"/>
              <a:t>резултат</a:t>
            </a:r>
          </a:p>
          <a:p>
            <a:pPr>
              <a:buClr>
                <a:schemeClr val="tx2"/>
              </a:buClr>
            </a:pPr>
            <a:r>
              <a:rPr lang="bg-BG" sz="3000" b="1" dirty="0">
                <a:solidFill>
                  <a:schemeClr val="bg1"/>
                </a:solidFill>
              </a:rPr>
              <a:t>Уеб страницата </a:t>
            </a:r>
            <a:r>
              <a:rPr lang="bg-BG" sz="3000" dirty="0"/>
              <a:t>показва </a:t>
            </a:r>
            <a:r>
              <a:rPr lang="bg-BG" sz="3000" b="1" dirty="0"/>
              <a:t>съдържанието</a:t>
            </a:r>
            <a:r>
              <a:rPr lang="bg-BG" sz="3000" dirty="0"/>
              <a:t> на </a:t>
            </a:r>
            <a:r>
              <a:rPr lang="bg-BG" sz="3000" b="1" dirty="0"/>
              <a:t>потребителя</a:t>
            </a:r>
            <a:r>
              <a:rPr lang="bg-BG" sz="3000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E40675-6620-A9F2-4515-CBA7D8C6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Клиентски слой (</a:t>
            </a:r>
            <a:r>
              <a:rPr lang="en-US" dirty="0"/>
              <a:t>Front-End</a:t>
            </a:r>
            <a:r>
              <a:rPr lang="bg-BG" dirty="0"/>
              <a:t>)</a:t>
            </a:r>
            <a:endParaRPr lang="en-B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D9D8DF-8274-8364-5E66-3C18F97FFE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8354" y="4225499"/>
            <a:ext cx="1956499" cy="2115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62A687-7871-08F7-9100-91C58AA04F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92324" y="4540499"/>
            <a:ext cx="1440001" cy="148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F6454E-CFAD-0959-CE82-B5AD31320A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49796" y="3643381"/>
            <a:ext cx="3184018" cy="3082938"/>
          </a:xfrm>
          <a:prstGeom prst="rect">
            <a:avLst/>
          </a:prstGeom>
        </p:spPr>
      </p:pic>
      <p:sp>
        <p:nvSpPr>
          <p:cNvPr id="17" name="Arrow: Right 10">
            <a:extLst>
              <a:ext uri="{FF2B5EF4-FFF2-40B4-BE49-F238E27FC236}">
                <a16:creationId xmlns:a16="http://schemas.microsoft.com/office/drawing/2014/main" id="{699AE9B4-D333-33DE-2635-4894C17D1BD4}"/>
              </a:ext>
            </a:extLst>
          </p:cNvPr>
          <p:cNvSpPr/>
          <p:nvPr/>
        </p:nvSpPr>
        <p:spPr>
          <a:xfrm>
            <a:off x="3161029" y="4809424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9" name="Arrow: Right 10">
            <a:extLst>
              <a:ext uri="{FF2B5EF4-FFF2-40B4-BE49-F238E27FC236}">
                <a16:creationId xmlns:a16="http://schemas.microsoft.com/office/drawing/2014/main" id="{8BAA2C43-6031-5E43-5C78-11C6CDD7473C}"/>
              </a:ext>
            </a:extLst>
          </p:cNvPr>
          <p:cNvSpPr/>
          <p:nvPr/>
        </p:nvSpPr>
        <p:spPr>
          <a:xfrm>
            <a:off x="6816000" y="4809424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99469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44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000" dirty="0"/>
              <a:t>Обработва </a:t>
            </a:r>
            <a:r>
              <a:rPr lang="bg-BG" sz="3000" b="1" dirty="0">
                <a:solidFill>
                  <a:schemeClr val="bg1"/>
                </a:solidFill>
              </a:rPr>
              <a:t>заявките</a:t>
            </a:r>
            <a:r>
              <a:rPr lang="bg-BG" sz="3000" dirty="0"/>
              <a:t> от </a:t>
            </a:r>
            <a:r>
              <a:rPr lang="bg-BG" sz="3000" b="1" dirty="0"/>
              <a:t>клиентския слой</a:t>
            </a:r>
          </a:p>
          <a:p>
            <a:pPr>
              <a:buClr>
                <a:schemeClr val="tx2"/>
              </a:buClr>
            </a:pPr>
            <a:r>
              <a:rPr lang="bg-BG" sz="3000" dirty="0"/>
              <a:t>Прилага </a:t>
            </a:r>
            <a:r>
              <a:rPr lang="bg-BG" sz="3000" b="1" dirty="0">
                <a:solidFill>
                  <a:schemeClr val="bg1"/>
                </a:solidFill>
              </a:rPr>
              <a:t>правилата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проверките</a:t>
            </a:r>
            <a:r>
              <a:rPr lang="bg-BG" sz="3000" dirty="0"/>
              <a:t> на </a:t>
            </a:r>
            <a:r>
              <a:rPr lang="bg-BG" sz="3000" b="1" dirty="0"/>
              <a:t>системата</a:t>
            </a:r>
          </a:p>
          <a:p>
            <a:pPr>
              <a:buClr>
                <a:schemeClr val="tx2"/>
              </a:buClr>
            </a:pPr>
            <a:r>
              <a:rPr lang="bg-BG" sz="3000" dirty="0"/>
              <a:t>Изпраща </a:t>
            </a:r>
            <a:r>
              <a:rPr lang="bg-BG" sz="3000" b="1" dirty="0">
                <a:solidFill>
                  <a:schemeClr val="bg1"/>
                </a:solidFill>
              </a:rPr>
              <a:t>заявка</a:t>
            </a:r>
            <a:r>
              <a:rPr lang="bg-BG" sz="3000" dirty="0"/>
              <a:t> към </a:t>
            </a:r>
            <a:r>
              <a:rPr lang="bg-BG" sz="3000" b="1" dirty="0"/>
              <a:t>слоя за данни</a:t>
            </a:r>
          </a:p>
          <a:p>
            <a:pPr>
              <a:buClr>
                <a:schemeClr val="tx2"/>
              </a:buClr>
            </a:pPr>
            <a:r>
              <a:rPr lang="bg-BG" sz="3000" dirty="0"/>
              <a:t>Връща </a:t>
            </a:r>
            <a:r>
              <a:rPr lang="bg-BG" sz="3000" b="1" dirty="0"/>
              <a:t>обработения резултат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E40675-6620-A9F2-4515-CBA7D8C6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Бизнес слой</a:t>
            </a:r>
            <a:r>
              <a:rPr lang="en-US" dirty="0"/>
              <a:t> (Business Tier)</a:t>
            </a:r>
            <a:endParaRPr lang="en-B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797614F-4C5E-EE29-1B6C-618617B721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5263" y="4504653"/>
            <a:ext cx="1840106" cy="17875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326ACD-F4B7-CA6E-22B6-6AE57D7CE0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90816" y="4440485"/>
            <a:ext cx="1840106" cy="17875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5A60AE5-F38F-AE41-7E76-6511AD2B1EF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40874" y="4440485"/>
            <a:ext cx="1840106" cy="17875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E75898-5136-B9B2-C408-BB4D76303C3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96631" y="4354066"/>
            <a:ext cx="1840106" cy="1787532"/>
          </a:xfrm>
          <a:prstGeom prst="rect">
            <a:avLst/>
          </a:prstGeom>
        </p:spPr>
      </p:pic>
      <p:sp>
        <p:nvSpPr>
          <p:cNvPr id="21" name="Arrow: Right 10">
            <a:extLst>
              <a:ext uri="{FF2B5EF4-FFF2-40B4-BE49-F238E27FC236}">
                <a16:creationId xmlns:a16="http://schemas.microsoft.com/office/drawing/2014/main" id="{F4E6B7AA-8C54-00B7-851E-3F561447173F}"/>
              </a:ext>
            </a:extLst>
          </p:cNvPr>
          <p:cNvSpPr/>
          <p:nvPr/>
        </p:nvSpPr>
        <p:spPr>
          <a:xfrm>
            <a:off x="2259441" y="4924844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22" name="Arrow: Right 10">
            <a:extLst>
              <a:ext uri="{FF2B5EF4-FFF2-40B4-BE49-F238E27FC236}">
                <a16:creationId xmlns:a16="http://schemas.microsoft.com/office/drawing/2014/main" id="{88DADC99-8EDB-1F80-93DB-C146B7508D8B}"/>
              </a:ext>
            </a:extLst>
          </p:cNvPr>
          <p:cNvSpPr/>
          <p:nvPr/>
        </p:nvSpPr>
        <p:spPr>
          <a:xfrm>
            <a:off x="5487019" y="4924844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23" name="Arrow: Right 10">
            <a:extLst>
              <a:ext uri="{FF2B5EF4-FFF2-40B4-BE49-F238E27FC236}">
                <a16:creationId xmlns:a16="http://schemas.microsoft.com/office/drawing/2014/main" id="{20E2C114-D69C-41AC-C2D9-0D796F8A90B8}"/>
              </a:ext>
            </a:extLst>
          </p:cNvPr>
          <p:cNvSpPr/>
          <p:nvPr/>
        </p:nvSpPr>
        <p:spPr>
          <a:xfrm>
            <a:off x="8788851" y="4926930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38717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44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000" dirty="0"/>
              <a:t>Съхранява </a:t>
            </a:r>
            <a:r>
              <a:rPr lang="bg-BG" sz="3000" b="1" dirty="0">
                <a:solidFill>
                  <a:schemeClr val="bg1"/>
                </a:solidFill>
              </a:rPr>
              <a:t>информацията</a:t>
            </a:r>
            <a:r>
              <a:rPr lang="bg-BG" sz="3000" dirty="0"/>
              <a:t> на </a:t>
            </a:r>
            <a:r>
              <a:rPr lang="bg-BG" sz="3000" b="1" dirty="0"/>
              <a:t>системата</a:t>
            </a:r>
          </a:p>
          <a:p>
            <a:pPr>
              <a:buClr>
                <a:schemeClr val="tx2"/>
              </a:buClr>
            </a:pPr>
            <a:r>
              <a:rPr lang="bg-BG" sz="3000" dirty="0"/>
              <a:t>Работи с </a:t>
            </a:r>
            <a:r>
              <a:rPr lang="bg-BG" sz="3000" b="1" dirty="0">
                <a:solidFill>
                  <a:schemeClr val="bg1"/>
                </a:solidFill>
              </a:rPr>
              <a:t>бази данни</a:t>
            </a:r>
          </a:p>
          <a:p>
            <a:pPr>
              <a:buClr>
                <a:schemeClr val="tx2"/>
              </a:buClr>
            </a:pPr>
            <a:r>
              <a:rPr lang="bg-BG" sz="3000" b="1" dirty="0">
                <a:solidFill>
                  <a:schemeClr val="bg1"/>
                </a:solidFill>
              </a:rPr>
              <a:t>Записва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извлича</a:t>
            </a:r>
            <a:r>
              <a:rPr lang="bg-BG" sz="3000" dirty="0"/>
              <a:t> необходимите </a:t>
            </a:r>
            <a:r>
              <a:rPr lang="bg-BG" sz="3000" b="1" dirty="0"/>
              <a:t>данни</a:t>
            </a:r>
          </a:p>
          <a:p>
            <a:pPr>
              <a:buClr>
                <a:schemeClr val="tx2"/>
              </a:buClr>
            </a:pPr>
            <a:r>
              <a:rPr lang="bg-BG" sz="3000" dirty="0"/>
              <a:t>Връща </a:t>
            </a:r>
            <a:r>
              <a:rPr lang="bg-BG" sz="3000" b="1" dirty="0">
                <a:solidFill>
                  <a:schemeClr val="bg1"/>
                </a:solidFill>
              </a:rPr>
              <a:t>данните</a:t>
            </a:r>
            <a:r>
              <a:rPr lang="bg-BG" sz="3000" dirty="0"/>
              <a:t> към </a:t>
            </a:r>
            <a:r>
              <a:rPr lang="bg-BG" sz="3000" b="1" dirty="0"/>
              <a:t>бизнес слоя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E40675-6620-A9F2-4515-CBA7D8C6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Слой за данни</a:t>
            </a:r>
            <a:r>
              <a:rPr lang="en-US" dirty="0"/>
              <a:t> (Back-End)</a:t>
            </a:r>
            <a:endParaRPr lang="en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8EA145-7892-0A53-EC14-94979EAD7E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4237" y="4361523"/>
            <a:ext cx="1395000" cy="148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FDF42F-6DDC-2553-8B25-06205C6C1A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48279" y="4361523"/>
            <a:ext cx="1395000" cy="148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1635C0-CDFE-EF7D-545F-674E152DBA2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02322" y="4329000"/>
            <a:ext cx="1756083" cy="148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AACAF8-22F6-008E-DA7F-6C576465725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3954" y="4329000"/>
            <a:ext cx="1395000" cy="1485000"/>
          </a:xfrm>
          <a:prstGeom prst="rect">
            <a:avLst/>
          </a:prstGeom>
        </p:spPr>
      </p:pic>
      <p:sp>
        <p:nvSpPr>
          <p:cNvPr id="10" name="Arrow: Right 10">
            <a:extLst>
              <a:ext uri="{FF2B5EF4-FFF2-40B4-BE49-F238E27FC236}">
                <a16:creationId xmlns:a16="http://schemas.microsoft.com/office/drawing/2014/main" id="{492771C7-2C80-EAEB-A87E-0A9D83927A02}"/>
              </a:ext>
            </a:extLst>
          </p:cNvPr>
          <p:cNvSpPr/>
          <p:nvPr/>
        </p:nvSpPr>
        <p:spPr>
          <a:xfrm>
            <a:off x="1940084" y="4662624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2" name="Arrow: Right 10">
            <a:extLst>
              <a:ext uri="{FF2B5EF4-FFF2-40B4-BE49-F238E27FC236}">
                <a16:creationId xmlns:a16="http://schemas.microsoft.com/office/drawing/2014/main" id="{262FCE20-DF49-D30C-298D-B7DBD3F573AA}"/>
              </a:ext>
            </a:extLst>
          </p:cNvPr>
          <p:cNvSpPr/>
          <p:nvPr/>
        </p:nvSpPr>
        <p:spPr>
          <a:xfrm>
            <a:off x="5263773" y="4662623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3" name="Arrow: Right 10">
            <a:extLst>
              <a:ext uri="{FF2B5EF4-FFF2-40B4-BE49-F238E27FC236}">
                <a16:creationId xmlns:a16="http://schemas.microsoft.com/office/drawing/2014/main" id="{530A39DA-241E-A5B0-9F18-54D2324F11C7}"/>
              </a:ext>
            </a:extLst>
          </p:cNvPr>
          <p:cNvSpPr/>
          <p:nvPr/>
        </p:nvSpPr>
        <p:spPr>
          <a:xfrm>
            <a:off x="8815405" y="4630448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37828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576ABD-F672-7D68-BBAE-8DD6B86C2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DC8A8-0EAF-8CD5-622B-D87BEE5659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Потребителят</a:t>
            </a:r>
            <a:r>
              <a:rPr lang="bg-BG" sz="3000" dirty="0"/>
              <a:t> избира </a:t>
            </a:r>
            <a:r>
              <a:rPr lang="bg-BG" sz="3000" b="1" dirty="0"/>
              <a:t>публикация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Клиентският слой </a:t>
            </a:r>
            <a:r>
              <a:rPr lang="bg-BG" sz="3000" dirty="0"/>
              <a:t>изпраща </a:t>
            </a:r>
            <a:r>
              <a:rPr lang="bg-BG" sz="3000" b="1" dirty="0"/>
              <a:t>заявка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Бизнес слоят </a:t>
            </a:r>
            <a:r>
              <a:rPr lang="bg-BG" sz="3000" dirty="0"/>
              <a:t>обработва </a:t>
            </a:r>
            <a:r>
              <a:rPr lang="bg-BG" sz="3000" b="1" dirty="0"/>
              <a:t>заявката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Слоят за данни </a:t>
            </a:r>
            <a:r>
              <a:rPr lang="bg-BG" sz="3000" dirty="0"/>
              <a:t>извлича </a:t>
            </a:r>
            <a:r>
              <a:rPr lang="bg-BG" sz="3000" b="1" dirty="0"/>
              <a:t>информацията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Резултатът</a:t>
            </a:r>
            <a:r>
              <a:rPr lang="bg-BG" sz="3000" dirty="0"/>
              <a:t> се показва в </a:t>
            </a:r>
            <a:r>
              <a:rPr lang="bg-BG" sz="3000" b="1" dirty="0"/>
              <a:t>браузъра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00ED5B-973C-136A-F171-D61B80621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Трислойна архитектура </a:t>
            </a:r>
            <a:r>
              <a:rPr lang="en-GB" sz="4000" dirty="0"/>
              <a:t>–</a:t>
            </a:r>
            <a:r>
              <a:rPr lang="bg-BG" sz="4000" dirty="0"/>
              <a:t> Пример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45DC01-3FA5-5818-6C17-06A39D62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361" y="4566600"/>
            <a:ext cx="1845000" cy="1755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BE3AC0-E64D-4386-1A6A-497712573D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93917" y="4477003"/>
            <a:ext cx="1530000" cy="1575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181C4B-82A9-FC6F-C03B-37456208CAA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25860" y="4486535"/>
            <a:ext cx="1305000" cy="1755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C72ED2-E7CE-D639-4D0F-F48630DBB96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08008" y="4566600"/>
            <a:ext cx="1305000" cy="15750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84D385-7065-EE56-0E9E-6FA44DE8C56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92920" y="4486535"/>
            <a:ext cx="1700215" cy="1755001"/>
          </a:xfrm>
          <a:prstGeom prst="rect">
            <a:avLst/>
          </a:prstGeom>
        </p:spPr>
      </p:pic>
      <p:sp>
        <p:nvSpPr>
          <p:cNvPr id="16" name="Arrow: Right 10">
            <a:extLst>
              <a:ext uri="{FF2B5EF4-FFF2-40B4-BE49-F238E27FC236}">
                <a16:creationId xmlns:a16="http://schemas.microsoft.com/office/drawing/2014/main" id="{632CE834-F115-9240-7F9A-6F7223651EC0}"/>
              </a:ext>
            </a:extLst>
          </p:cNvPr>
          <p:cNvSpPr/>
          <p:nvPr/>
        </p:nvSpPr>
        <p:spPr>
          <a:xfrm>
            <a:off x="2035402" y="4916358"/>
            <a:ext cx="1005861" cy="81272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7" name="Arrow: Right 10">
            <a:extLst>
              <a:ext uri="{FF2B5EF4-FFF2-40B4-BE49-F238E27FC236}">
                <a16:creationId xmlns:a16="http://schemas.microsoft.com/office/drawing/2014/main" id="{E0C66D92-970A-C2B2-2689-6CD445BA69E1}"/>
              </a:ext>
            </a:extLst>
          </p:cNvPr>
          <p:cNvSpPr/>
          <p:nvPr/>
        </p:nvSpPr>
        <p:spPr>
          <a:xfrm>
            <a:off x="4671958" y="4916358"/>
            <a:ext cx="1005861" cy="81272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8" name="Arrow: Right 10">
            <a:extLst>
              <a:ext uri="{FF2B5EF4-FFF2-40B4-BE49-F238E27FC236}">
                <a16:creationId xmlns:a16="http://schemas.microsoft.com/office/drawing/2014/main" id="{7CFED908-06A1-251F-4231-EA3392DD24CD}"/>
              </a:ext>
            </a:extLst>
          </p:cNvPr>
          <p:cNvSpPr/>
          <p:nvPr/>
        </p:nvSpPr>
        <p:spPr>
          <a:xfrm>
            <a:off x="7090703" y="4916358"/>
            <a:ext cx="1005861" cy="81272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9" name="Arrow: Right 10">
            <a:extLst>
              <a:ext uri="{FF2B5EF4-FFF2-40B4-BE49-F238E27FC236}">
                <a16:creationId xmlns:a16="http://schemas.microsoft.com/office/drawing/2014/main" id="{56B3BFFC-54E9-FDF9-57CD-F511826A3BCA}"/>
              </a:ext>
            </a:extLst>
          </p:cNvPr>
          <p:cNvSpPr/>
          <p:nvPr/>
        </p:nvSpPr>
        <p:spPr>
          <a:xfrm>
            <a:off x="9434025" y="4916358"/>
            <a:ext cx="1005861" cy="81272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94117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Основни възможности и инсталиране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000" dirty="0"/>
              <a:t>Въведение в </a:t>
            </a:r>
            <a:r>
              <a:rPr lang="en-GB" sz="5000" dirty="0"/>
              <a:t>WordPress</a:t>
            </a:r>
            <a:endParaRPr lang="bg-BG" sz="5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B4DD71-76E7-BC3E-D034-61F4305F8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0375" y="1385091"/>
            <a:ext cx="2371250" cy="255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2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en-US" sz="4000" dirty="0"/>
              <a:t>WordPress</a:t>
            </a:r>
            <a:endParaRPr lang="en-US" sz="3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CDE5FA-349C-9171-5DA0-6F2931D82E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61125"/>
          </a:xfrm>
        </p:spPr>
        <p:txBody>
          <a:bodyPr/>
          <a:lstStyle/>
          <a:p>
            <a:r>
              <a:rPr lang="en-US" b="1" dirty="0"/>
              <a:t>CMS</a:t>
            </a:r>
            <a:r>
              <a:rPr lang="en-US" dirty="0"/>
              <a:t> </a:t>
            </a:r>
            <a:r>
              <a:rPr lang="bg-BG" dirty="0"/>
              <a:t>с </a:t>
            </a:r>
            <a:r>
              <a:rPr lang="bg-BG" b="1" dirty="0">
                <a:solidFill>
                  <a:schemeClr val="bg1"/>
                </a:solidFill>
              </a:rPr>
              <a:t>отворен код </a:t>
            </a:r>
            <a:r>
              <a:rPr lang="en-US" sz="3600" dirty="0"/>
              <a:t>(</a:t>
            </a:r>
            <a:r>
              <a:rPr lang="en-US" sz="3600" dirty="0">
                <a:hlinkClick r:id="rId3"/>
              </a:rPr>
              <a:t>wordpress.org</a:t>
            </a:r>
            <a:r>
              <a:rPr lang="en-US" sz="3600" dirty="0"/>
              <a:t>)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bg-BG" b="1" dirty="0"/>
              <a:t>Инсталира</a:t>
            </a:r>
            <a:r>
              <a:rPr lang="bg-BG" dirty="0"/>
              <a:t> </a:t>
            </a:r>
            <a:r>
              <a:rPr lang="bg-BG" b="1" dirty="0"/>
              <a:t>се</a:t>
            </a:r>
            <a:r>
              <a:rPr lang="bg-BG" dirty="0"/>
              <a:t> на избран </a:t>
            </a:r>
            <a:r>
              <a:rPr lang="bg-BG" b="1" dirty="0">
                <a:solidFill>
                  <a:schemeClr val="bg1"/>
                </a:solidFill>
              </a:rPr>
              <a:t>уеб хостинг</a:t>
            </a:r>
          </a:p>
          <a:p>
            <a:r>
              <a:rPr lang="bg-BG" b="1" dirty="0"/>
              <a:t>Работи</a:t>
            </a:r>
            <a:r>
              <a:rPr lang="bg-BG" dirty="0"/>
              <a:t> с </a:t>
            </a:r>
            <a:r>
              <a:rPr lang="bg-BG" b="1" dirty="0">
                <a:solidFill>
                  <a:schemeClr val="bg1"/>
                </a:solidFill>
              </a:rPr>
              <a:t>база данни</a:t>
            </a:r>
          </a:p>
          <a:p>
            <a:r>
              <a:rPr lang="bg-BG" b="1" dirty="0"/>
              <a:t>Управлява</a:t>
            </a:r>
            <a:r>
              <a:rPr lang="bg-BG" dirty="0"/>
              <a:t> се чрез </a:t>
            </a:r>
            <a:r>
              <a:rPr lang="bg-BG" b="1" dirty="0">
                <a:solidFill>
                  <a:schemeClr val="bg1"/>
                </a:solidFill>
              </a:rPr>
              <a:t>административен панел</a:t>
            </a:r>
          </a:p>
          <a:p>
            <a:r>
              <a:rPr lang="bg-BG" b="1" dirty="0"/>
              <a:t>Отваря</a:t>
            </a:r>
            <a:r>
              <a:rPr lang="bg-BG" dirty="0"/>
              <a:t> се и се </a:t>
            </a:r>
            <a:r>
              <a:rPr lang="bg-BG" b="1" dirty="0"/>
              <a:t>използва</a:t>
            </a:r>
            <a:r>
              <a:rPr lang="bg-BG" dirty="0"/>
              <a:t> от </a:t>
            </a:r>
            <a:r>
              <a:rPr lang="bg-BG" b="1" dirty="0">
                <a:solidFill>
                  <a:schemeClr val="bg1"/>
                </a:solidFill>
              </a:rPr>
              <a:t>интернет браузър</a:t>
            </a:r>
          </a:p>
          <a:p>
            <a:endParaRPr lang="en-B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9B5FC7-0CC4-B0AC-D4EF-F5DA88513BA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1000" y="4194000"/>
            <a:ext cx="2160000" cy="219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1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47CD6-C18E-E898-138F-BB9FAB744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6467-2148-F279-6952-3D73BB93B8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/>
              <a:t>Създаване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уеб страници</a:t>
            </a:r>
            <a:r>
              <a:rPr lang="bg-BG" sz="3000" b="1" dirty="0"/>
              <a:t> </a:t>
            </a:r>
            <a:r>
              <a:rPr lang="bg-BG" sz="3000" dirty="0"/>
              <a:t>и</a:t>
            </a:r>
            <a:r>
              <a:rPr lang="bg-BG" sz="3000" b="1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публикации</a:t>
            </a:r>
            <a:endParaRPr lang="en-US" sz="3000" b="1" dirty="0">
              <a:solidFill>
                <a:schemeClr val="bg1"/>
              </a:solidFill>
            </a:endParaRPr>
          </a:p>
          <a:p>
            <a:r>
              <a:rPr lang="bg-BG" sz="3000" b="1" dirty="0"/>
              <a:t>Добавяне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изображения</a:t>
            </a:r>
            <a:r>
              <a:rPr lang="bg-BG" sz="3000" b="1" dirty="0"/>
              <a:t> </a:t>
            </a:r>
            <a:r>
              <a:rPr lang="bg-BG" sz="3000" dirty="0"/>
              <a:t>и</a:t>
            </a:r>
            <a:r>
              <a:rPr lang="bg-BG" sz="3000" b="1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файлове</a:t>
            </a:r>
            <a:endParaRPr lang="en-US" sz="3000" b="1" dirty="0">
              <a:solidFill>
                <a:schemeClr val="bg1"/>
              </a:solidFill>
            </a:endParaRPr>
          </a:p>
          <a:p>
            <a:r>
              <a:rPr lang="bg-BG" sz="3000" b="1" dirty="0"/>
              <a:t>Организиране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менюта</a:t>
            </a:r>
            <a:r>
              <a:rPr lang="bg-BG" sz="3000" b="1" dirty="0"/>
              <a:t> </a:t>
            </a:r>
            <a:r>
              <a:rPr lang="bg-BG" sz="3000" dirty="0"/>
              <a:t>и</a:t>
            </a:r>
            <a:r>
              <a:rPr lang="bg-BG" sz="3000" b="1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категории</a:t>
            </a:r>
            <a:endParaRPr lang="en-US" sz="3000" b="1" dirty="0">
              <a:solidFill>
                <a:schemeClr val="bg1"/>
              </a:solidFill>
            </a:endParaRPr>
          </a:p>
          <a:p>
            <a:r>
              <a:rPr lang="bg-BG" sz="3000" b="1" dirty="0"/>
              <a:t>Управление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потребители</a:t>
            </a:r>
            <a:endParaRPr lang="en-US" sz="3000" b="1" dirty="0">
              <a:solidFill>
                <a:schemeClr val="bg1"/>
              </a:solidFill>
            </a:endParaRPr>
          </a:p>
          <a:p>
            <a:r>
              <a:rPr lang="bg-BG" sz="3000" b="1" dirty="0"/>
              <a:t>Промяна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външния вид</a:t>
            </a:r>
            <a:endParaRPr lang="en-US" sz="3000" b="1" dirty="0">
              <a:solidFill>
                <a:schemeClr val="bg1"/>
              </a:solidFill>
            </a:endParaRPr>
          </a:p>
          <a:p>
            <a:r>
              <a:rPr lang="bg-BG" sz="3000" b="1" dirty="0"/>
              <a:t>Разширяване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възможностите</a:t>
            </a:r>
            <a:r>
              <a:rPr lang="bg-BG" sz="3000" b="1" dirty="0"/>
              <a:t> </a:t>
            </a:r>
            <a:r>
              <a:rPr lang="bg-BG" sz="3000" dirty="0"/>
              <a:t>на </a:t>
            </a:r>
            <a:r>
              <a:rPr lang="bg-BG" sz="3000" b="1" dirty="0"/>
              <a:t>уеб сайта</a:t>
            </a:r>
            <a:endParaRPr lang="en-BG" sz="3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EF29ED-751B-8E42-A01E-38CF82F65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възможности на </a:t>
            </a:r>
            <a:r>
              <a:rPr lang="en-US" dirty="0"/>
              <a:t>WordPress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5AF0F-3CC6-CF30-B59D-8B90574D2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39931" y="3051579"/>
            <a:ext cx="3913099" cy="365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87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28F136-0B7E-82EE-73D1-3489C6D2A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6D558-8BA3-7E43-B63D-BD3BC1C776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6000" y="1195931"/>
            <a:ext cx="5635597" cy="4957073"/>
          </a:xfrm>
        </p:spPr>
        <p:txBody>
          <a:bodyPr>
            <a:normAutofit fontScale="92500" lnSpcReduction="10000"/>
          </a:bodyPr>
          <a:lstStyle/>
          <a:p>
            <a:r>
              <a:rPr lang="en-GB" sz="3200" dirty="0">
                <a:hlinkClick r:id="rId2"/>
              </a:rPr>
              <a:t>wordpress.org</a:t>
            </a:r>
            <a:endParaRPr lang="en-GB" sz="3200" dirty="0"/>
          </a:p>
          <a:p>
            <a:pPr lvl="1"/>
            <a:r>
              <a:rPr lang="bg-BG" sz="3000" dirty="0"/>
              <a:t>Официален </a:t>
            </a:r>
            <a:r>
              <a:rPr lang="bg-BG" sz="3000" b="1" dirty="0"/>
              <a:t>уеб сайт </a:t>
            </a:r>
            <a:r>
              <a:rPr lang="bg-BG" sz="3000" dirty="0"/>
              <a:t>на </a:t>
            </a:r>
            <a:r>
              <a:rPr lang="bg-BG" sz="3000" b="1" dirty="0">
                <a:solidFill>
                  <a:schemeClr val="bg1"/>
                </a:solidFill>
              </a:rPr>
              <a:t>софтуера</a:t>
            </a:r>
            <a:r>
              <a:rPr lang="bg-BG" sz="3000" dirty="0"/>
              <a:t> </a:t>
            </a:r>
            <a:r>
              <a:rPr lang="en-GB" sz="3000" b="1" dirty="0"/>
              <a:t>WordPress</a:t>
            </a:r>
          </a:p>
          <a:p>
            <a:pPr lvl="1"/>
            <a:r>
              <a:rPr lang="bg-BG" sz="3000" b="1" dirty="0"/>
              <a:t>Инсталира се </a:t>
            </a:r>
            <a:r>
              <a:rPr lang="bg-BG" sz="3000" dirty="0"/>
              <a:t>на </a:t>
            </a:r>
            <a:r>
              <a:rPr lang="bg-BG" sz="3000" b="1" dirty="0">
                <a:solidFill>
                  <a:schemeClr val="bg1"/>
                </a:solidFill>
              </a:rPr>
              <a:t>избран хостинг </a:t>
            </a:r>
            <a:r>
              <a:rPr lang="bg-BG" sz="3000" dirty="0"/>
              <a:t>или </a:t>
            </a:r>
            <a:r>
              <a:rPr lang="bg-BG" sz="3000" b="1" dirty="0">
                <a:solidFill>
                  <a:schemeClr val="bg1"/>
                </a:solidFill>
              </a:rPr>
              <a:t>локален сървър</a:t>
            </a:r>
            <a:endParaRPr lang="en-US" sz="3000" b="1" dirty="0">
              <a:solidFill>
                <a:schemeClr val="bg1"/>
              </a:solidFill>
            </a:endParaRPr>
          </a:p>
          <a:p>
            <a:pPr lvl="1"/>
            <a:r>
              <a:rPr lang="bg-BG" sz="3000" dirty="0"/>
              <a:t>Необходимо е </a:t>
            </a:r>
            <a:r>
              <a:rPr lang="bg-BG" sz="3000" b="1" dirty="0">
                <a:solidFill>
                  <a:schemeClr val="bg1"/>
                </a:solidFill>
              </a:rPr>
              <a:t>самостоятелно осигуряване</a:t>
            </a:r>
            <a:r>
              <a:rPr lang="bg-BG" sz="3000" dirty="0"/>
              <a:t> на </a:t>
            </a:r>
            <a:r>
              <a:rPr lang="bg-BG" sz="3000" b="1" dirty="0"/>
              <a:t>хостинг</a:t>
            </a:r>
            <a:r>
              <a:rPr lang="bg-BG" sz="3000" dirty="0"/>
              <a:t> и </a:t>
            </a:r>
            <a:r>
              <a:rPr lang="bg-BG" sz="3000" b="1" dirty="0"/>
              <a:t>домейн</a:t>
            </a:r>
            <a:endParaRPr lang="en-US" sz="3000" b="1" dirty="0"/>
          </a:p>
          <a:p>
            <a:pPr lvl="1"/>
            <a:r>
              <a:rPr lang="bg-BG" sz="3000" dirty="0"/>
              <a:t>Позволява </a:t>
            </a:r>
            <a:r>
              <a:rPr lang="bg-BG" sz="3000" b="1" dirty="0"/>
              <a:t>инсталиране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различни теми </a:t>
            </a:r>
            <a:r>
              <a:rPr lang="bg-BG" sz="3000" dirty="0"/>
              <a:t>и </a:t>
            </a:r>
            <a:r>
              <a:rPr lang="bg-BG" sz="3000" b="1" dirty="0">
                <a:solidFill>
                  <a:schemeClr val="bg1"/>
                </a:solidFill>
              </a:rPr>
              <a:t>добавки</a:t>
            </a:r>
            <a:endParaRPr lang="en-BG" sz="3000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5DAA7-B02D-1F2F-C603-B356A6E89A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5931"/>
            <a:ext cx="5275598" cy="4957073"/>
          </a:xfrm>
        </p:spPr>
        <p:txBody>
          <a:bodyPr>
            <a:normAutofit/>
          </a:bodyPr>
          <a:lstStyle/>
          <a:p>
            <a:r>
              <a:rPr lang="en-GB" sz="3000" dirty="0">
                <a:hlinkClick r:id="rId3"/>
              </a:rPr>
              <a:t>wordpress.com</a:t>
            </a:r>
            <a:endParaRPr lang="en-GB" sz="3000" dirty="0"/>
          </a:p>
          <a:p>
            <a:pPr lvl="1"/>
            <a:r>
              <a:rPr lang="bg-BG" sz="2800" b="1" dirty="0"/>
              <a:t>Готова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онлайн услуга </a:t>
            </a:r>
            <a:r>
              <a:rPr lang="bg-BG" sz="2800" dirty="0"/>
              <a:t>за </a:t>
            </a:r>
            <a:r>
              <a:rPr lang="bg-BG" sz="2800" b="1" dirty="0"/>
              <a:t>създаване</a:t>
            </a:r>
            <a:r>
              <a:rPr lang="bg-BG" sz="2800" dirty="0"/>
              <a:t> на</a:t>
            </a:r>
            <a:r>
              <a:rPr lang="en-US" sz="2800" dirty="0"/>
              <a:t> </a:t>
            </a:r>
            <a:r>
              <a:rPr lang="bg-BG" sz="2800" b="1" dirty="0"/>
              <a:t>уеб сайтове</a:t>
            </a:r>
            <a:endParaRPr lang="en-US" sz="2800" b="1" dirty="0"/>
          </a:p>
          <a:p>
            <a:pPr lvl="1">
              <a:buClr>
                <a:schemeClr val="tx1"/>
              </a:buClr>
            </a:pPr>
            <a:r>
              <a:rPr lang="bg-BG" sz="2800" b="1" dirty="0">
                <a:solidFill>
                  <a:schemeClr val="bg1"/>
                </a:solidFill>
              </a:rPr>
              <a:t>Не изисква </a:t>
            </a:r>
            <a:r>
              <a:rPr lang="bg-BG" sz="2800" dirty="0"/>
              <a:t>отделен </a:t>
            </a:r>
            <a:r>
              <a:rPr lang="bg-BG" sz="2800" b="1" dirty="0"/>
              <a:t>хостинг </a:t>
            </a:r>
            <a:r>
              <a:rPr lang="bg-BG" sz="2800" dirty="0"/>
              <a:t>и </a:t>
            </a:r>
            <a:r>
              <a:rPr lang="bg-BG" sz="2800" b="1" dirty="0"/>
              <a:t>инсталиране</a:t>
            </a:r>
            <a:endParaRPr lang="en-US" sz="2800" b="1" dirty="0"/>
          </a:p>
          <a:p>
            <a:pPr lvl="1"/>
            <a:r>
              <a:rPr lang="bg-BG" sz="2800" dirty="0"/>
              <a:t>Предлага </a:t>
            </a:r>
            <a:r>
              <a:rPr lang="bg-BG" sz="2800" b="1" dirty="0">
                <a:solidFill>
                  <a:schemeClr val="bg1"/>
                </a:solidFill>
              </a:rPr>
              <a:t>безплатен адрес </a:t>
            </a:r>
            <a:r>
              <a:rPr lang="bg-BG" sz="2800" dirty="0"/>
              <a:t>с </a:t>
            </a:r>
            <a:r>
              <a:rPr lang="bg-BG" sz="2800" b="1" dirty="0"/>
              <a:t>.</a:t>
            </a:r>
            <a:r>
              <a:rPr lang="en-GB" sz="2800" b="1" dirty="0"/>
              <a:t>wordpress.com</a:t>
            </a:r>
          </a:p>
          <a:p>
            <a:pPr lvl="1"/>
            <a:r>
              <a:rPr lang="bg-BG" sz="2800" b="1" dirty="0"/>
              <a:t>Безплатният план </a:t>
            </a:r>
            <a:r>
              <a:rPr lang="bg-BG" sz="2800" dirty="0"/>
              <a:t>включва </a:t>
            </a:r>
            <a:r>
              <a:rPr lang="bg-BG" sz="2800" b="1" dirty="0">
                <a:solidFill>
                  <a:schemeClr val="bg1"/>
                </a:solidFill>
              </a:rPr>
              <a:t>ограничен избор </a:t>
            </a:r>
            <a:r>
              <a:rPr lang="bg-BG" sz="2800" dirty="0"/>
              <a:t>от </a:t>
            </a:r>
            <a:r>
              <a:rPr lang="bg-BG" sz="2800" b="1" dirty="0"/>
              <a:t>теми</a:t>
            </a:r>
            <a:endParaRPr lang="en-BG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62FA9D-BDDB-C91A-FAFE-4BAF5404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G" dirty="0"/>
              <a:t>WordPress.com vs. WordPress.org</a:t>
            </a:r>
          </a:p>
        </p:txBody>
      </p:sp>
    </p:spTree>
    <p:extLst>
      <p:ext uri="{BB962C8B-B14F-4D97-AF65-F5344CB8AC3E}">
        <p14:creationId xmlns:p14="http://schemas.microsoft.com/office/powerpoint/2010/main" val="250731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Създаване на </a:t>
            </a:r>
            <a:r>
              <a:rPr lang="en-US" dirty="0"/>
              <a:t>WordPress </a:t>
            </a:r>
            <a:r>
              <a:rPr lang="bg-BG" dirty="0"/>
              <a:t>сайт</a:t>
            </a:r>
            <a:endParaRPr lang="bg-BG" sz="40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EDE2F2B-9FAE-83CD-B9BB-52492B2DD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3500" y="1089000"/>
            <a:ext cx="3105000" cy="31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Нека създадем </a:t>
            </a:r>
            <a:r>
              <a:rPr lang="bg-BG" sz="3000" b="1" dirty="0"/>
              <a:t>уеб сайт </a:t>
            </a:r>
            <a:r>
              <a:rPr lang="bg-BG" sz="3000" dirty="0"/>
              <a:t>с помощта на </a:t>
            </a:r>
            <a:r>
              <a:rPr lang="en-US" sz="3000" b="1" dirty="0">
                <a:solidFill>
                  <a:schemeClr val="bg1"/>
                </a:solidFill>
              </a:rPr>
              <a:t>WordPress</a:t>
            </a:r>
            <a:r>
              <a:rPr lang="bg-BG" sz="3000" dirty="0"/>
              <a:t>, например:</a:t>
            </a:r>
          </a:p>
          <a:p>
            <a:pPr lvl="1"/>
            <a:r>
              <a:rPr lang="bg-BG" sz="2800" b="1" dirty="0">
                <a:solidFill>
                  <a:schemeClr val="bg1"/>
                </a:solidFill>
              </a:rPr>
              <a:t>Вид</a:t>
            </a:r>
            <a:r>
              <a:rPr lang="bg-BG" sz="2800" dirty="0"/>
              <a:t> </a:t>
            </a:r>
            <a:r>
              <a:rPr lang="en-GB" sz="2800" dirty="0"/>
              <a:t>–</a:t>
            </a:r>
            <a:r>
              <a:rPr lang="bg-BG" sz="2800" dirty="0"/>
              <a:t> </a:t>
            </a:r>
            <a:r>
              <a:rPr lang="bg-BG" sz="2800" b="1" dirty="0"/>
              <a:t>Уеб сайт за училищен клуб</a:t>
            </a:r>
          </a:p>
          <a:p>
            <a:pPr lvl="1"/>
            <a:r>
              <a:rPr lang="bg-BG" sz="2800" b="1" dirty="0">
                <a:solidFill>
                  <a:schemeClr val="bg1"/>
                </a:solidFill>
              </a:rPr>
              <a:t>Заглавие</a:t>
            </a:r>
            <a:r>
              <a:rPr lang="bg-BG" sz="2800" dirty="0"/>
              <a:t> </a:t>
            </a:r>
            <a:r>
              <a:rPr lang="en-GB" sz="2800" dirty="0"/>
              <a:t>–</a:t>
            </a:r>
            <a:r>
              <a:rPr lang="bg-BG" sz="2800" dirty="0"/>
              <a:t> </a:t>
            </a:r>
            <a:r>
              <a:rPr lang="bg-BG" sz="2800" b="1" dirty="0"/>
              <a:t>"Зелена мисия"</a:t>
            </a:r>
          </a:p>
          <a:p>
            <a:pPr lvl="1"/>
            <a:r>
              <a:rPr lang="bg-BG" sz="2800" b="1" dirty="0">
                <a:solidFill>
                  <a:schemeClr val="bg1"/>
                </a:solidFill>
              </a:rPr>
              <a:t>Описание</a:t>
            </a:r>
            <a:r>
              <a:rPr lang="bg-BG" sz="2800" dirty="0"/>
              <a:t> </a:t>
            </a:r>
            <a:r>
              <a:rPr lang="en-GB" sz="2800" dirty="0"/>
              <a:t>–</a:t>
            </a:r>
            <a:r>
              <a:rPr lang="bg-BG" sz="2800" dirty="0"/>
              <a:t> </a:t>
            </a:r>
            <a:r>
              <a:rPr lang="bg-BG" sz="2800" b="1" dirty="0"/>
              <a:t>Училищен клуб за природа и доброволчество</a:t>
            </a:r>
            <a:endParaRPr lang="en-US" sz="2800" b="1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7E1090-5368-3467-77F6-0CCF23C9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Създаване на </a:t>
            </a:r>
            <a:r>
              <a:rPr lang="en-US" dirty="0"/>
              <a:t>WordPress </a:t>
            </a:r>
            <a:r>
              <a:rPr lang="bg-BG" dirty="0"/>
              <a:t>сайт</a:t>
            </a:r>
            <a:endParaRPr lang="en-B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D6211A-C00B-FFE8-C551-69B3CF8D1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4364" y="3599449"/>
            <a:ext cx="5535000" cy="311557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8059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938849-4693-176C-1701-3C40BF78B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7845A-29DC-D1F6-51A6-72E82457E4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900" dirty="0"/>
              <a:t>Влизаме в </a:t>
            </a:r>
            <a:r>
              <a:rPr lang="en-US" sz="2900" b="1" dirty="0"/>
              <a:t>WordPress</a:t>
            </a:r>
            <a:r>
              <a:rPr lang="en-US" sz="2900" dirty="0"/>
              <a:t> </a:t>
            </a:r>
            <a:r>
              <a:rPr lang="en-GB" sz="2900" dirty="0"/>
              <a:t>– </a:t>
            </a:r>
            <a:r>
              <a:rPr lang="en-US" sz="2900" dirty="0">
                <a:hlinkClick r:id="rId2"/>
              </a:rPr>
              <a:t>wordpress.com</a:t>
            </a:r>
            <a:r>
              <a:rPr lang="bg-BG" sz="2900" dirty="0"/>
              <a:t> и кликаме върху </a:t>
            </a:r>
            <a:r>
              <a:rPr lang="en-US" sz="2900" b="1" dirty="0"/>
              <a:t>[</a:t>
            </a:r>
            <a:r>
              <a:rPr lang="en-US" sz="2900" b="1" dirty="0">
                <a:solidFill>
                  <a:schemeClr val="bg1"/>
                </a:solidFill>
              </a:rPr>
              <a:t>Get started</a:t>
            </a:r>
            <a:r>
              <a:rPr lang="en-US" sz="2900" b="1" dirty="0"/>
              <a:t>]</a:t>
            </a:r>
          </a:p>
          <a:p>
            <a:r>
              <a:rPr lang="bg-BG" sz="2900" dirty="0"/>
              <a:t>Създаваме си </a:t>
            </a:r>
            <a:r>
              <a:rPr lang="bg-BG" sz="2900" b="1" dirty="0">
                <a:solidFill>
                  <a:schemeClr val="bg1"/>
                </a:solidFill>
              </a:rPr>
              <a:t>профил </a:t>
            </a:r>
            <a:r>
              <a:rPr lang="bg-BG" sz="2900" dirty="0"/>
              <a:t>и кликаме върху </a:t>
            </a:r>
            <a:r>
              <a:rPr lang="en-US" sz="2900" b="1" dirty="0"/>
              <a:t>[</a:t>
            </a:r>
            <a:r>
              <a:rPr lang="en-US" sz="2900" b="1" dirty="0">
                <a:solidFill>
                  <a:schemeClr val="bg1"/>
                </a:solidFill>
              </a:rPr>
              <a:t>Continue</a:t>
            </a:r>
            <a:r>
              <a:rPr lang="en-US" sz="2900" b="1" dirty="0"/>
              <a:t>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7470BA-D0DB-65E1-98A9-5A498667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</a:t>
            </a:r>
            <a:r>
              <a:rPr lang="en-US" dirty="0"/>
              <a:t>WordPress </a:t>
            </a:r>
            <a:r>
              <a:rPr lang="bg-BG" dirty="0"/>
              <a:t>сайт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F4D9BE-8EC4-A992-9573-D09537B9D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000" y="4329000"/>
            <a:ext cx="3865205" cy="94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12BED4-AFA6-547E-947B-ABCA80280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1000" y="2781739"/>
            <a:ext cx="4414797" cy="371586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Arrow: Right 10">
            <a:extLst>
              <a:ext uri="{FF2B5EF4-FFF2-40B4-BE49-F238E27FC236}">
                <a16:creationId xmlns:a16="http://schemas.microsoft.com/office/drawing/2014/main" id="{A9208DC7-B9A8-5CAD-6DD2-A9F6F304D3A8}"/>
              </a:ext>
            </a:extLst>
          </p:cNvPr>
          <p:cNvSpPr/>
          <p:nvPr/>
        </p:nvSpPr>
        <p:spPr>
          <a:xfrm>
            <a:off x="4935328" y="4326849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74017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938849-4693-176C-1701-3C40BF78B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7845A-29DC-D1F6-51A6-72E82457E4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900" dirty="0"/>
              <a:t>Задаваме </a:t>
            </a:r>
            <a:r>
              <a:rPr lang="bg-BG" sz="2900" b="1" dirty="0">
                <a:solidFill>
                  <a:schemeClr val="bg1"/>
                </a:solidFill>
              </a:rPr>
              <a:t>подходящо име </a:t>
            </a:r>
            <a:r>
              <a:rPr lang="bg-BG" sz="2900" dirty="0"/>
              <a:t>за </a:t>
            </a:r>
            <a:r>
              <a:rPr lang="bg-BG" sz="2900" b="1" dirty="0"/>
              <a:t>уеб сайта </a:t>
            </a:r>
            <a:r>
              <a:rPr lang="bg-BG" sz="2900" dirty="0"/>
              <a:t>и кликаме върху </a:t>
            </a:r>
            <a:r>
              <a:rPr lang="bg-BG" sz="2900" b="1" dirty="0"/>
              <a:t>[</a:t>
            </a:r>
            <a:r>
              <a:rPr lang="en-US" sz="2900" b="1" dirty="0">
                <a:solidFill>
                  <a:schemeClr val="bg1"/>
                </a:solidFill>
              </a:rPr>
              <a:t>Start free...</a:t>
            </a:r>
            <a:r>
              <a:rPr lang="en-US" sz="2900" b="1" dirty="0"/>
              <a:t>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7470BA-D0DB-65E1-98A9-5A498667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Задаване на име на уеб сайта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6648E8-F407-B1D5-3BFF-FD74E79C4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6000" y="1966608"/>
            <a:ext cx="6337300" cy="39878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58EEB1-FA2D-0F73-0D41-805A4A77F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6000" y="1966608"/>
            <a:ext cx="6337300" cy="39878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25772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B6D06F-33D9-26B8-CCE2-42ADE5CB2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3BBF6-F090-F5DF-6416-A2496729AE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1" y="1196125"/>
            <a:ext cx="6206068" cy="5528766"/>
          </a:xfrm>
        </p:spPr>
        <p:txBody>
          <a:bodyPr>
            <a:normAutofit/>
          </a:bodyPr>
          <a:lstStyle/>
          <a:p>
            <a:r>
              <a:rPr lang="bg-BG" sz="3000" b="1" dirty="0"/>
              <a:t>Уеб сайтът </a:t>
            </a:r>
            <a:r>
              <a:rPr lang="bg-BG" sz="3000" dirty="0"/>
              <a:t>е </a:t>
            </a:r>
            <a:r>
              <a:rPr lang="bg-BG" sz="3000" b="1" dirty="0">
                <a:solidFill>
                  <a:schemeClr val="bg1"/>
                </a:solidFill>
              </a:rPr>
              <a:t>създаден</a:t>
            </a:r>
          </a:p>
          <a:p>
            <a:r>
              <a:rPr lang="bg-BG" sz="3000" dirty="0"/>
              <a:t>Достъпваме </a:t>
            </a:r>
            <a:r>
              <a:rPr lang="bg-BG" sz="3000" b="1" dirty="0">
                <a:solidFill>
                  <a:schemeClr val="bg1"/>
                </a:solidFill>
              </a:rPr>
              <a:t>административния панел</a:t>
            </a:r>
            <a:r>
              <a:rPr lang="bg-BG" sz="3000" dirty="0"/>
              <a:t> чрез</a:t>
            </a:r>
            <a:r>
              <a:rPr lang="en-US" sz="3000" dirty="0"/>
              <a:t>:</a:t>
            </a:r>
          </a:p>
          <a:p>
            <a:pPr lvl="1"/>
            <a:r>
              <a:rPr lang="bg-BG" sz="2800" b="1" dirty="0"/>
              <a:t>[</a:t>
            </a:r>
            <a:r>
              <a:rPr lang="bg-BG" sz="2800" b="1" i="1" dirty="0"/>
              <a:t>адрес</a:t>
            </a:r>
            <a:r>
              <a:rPr lang="bg-BG" sz="2800" b="1" dirty="0"/>
              <a:t>.</a:t>
            </a:r>
            <a:r>
              <a:rPr lang="en-GB" sz="2800" b="1" dirty="0"/>
              <a:t>wordpress.com/</a:t>
            </a:r>
            <a:r>
              <a:rPr lang="en-GB" sz="2800" b="1" dirty="0">
                <a:solidFill>
                  <a:schemeClr val="bg1"/>
                </a:solidFill>
              </a:rPr>
              <a:t>wp-admin</a:t>
            </a:r>
            <a:r>
              <a:rPr lang="en-GB" sz="2800" b="1" dirty="0"/>
              <a:t>]</a:t>
            </a:r>
            <a:endParaRPr lang="en-BG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E17936-5ADD-5A3D-9E33-C08B05C1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Административен панел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D0B122-5B37-EA91-9F2A-1C99F69D0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6469" y="1512562"/>
            <a:ext cx="5605130" cy="477518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02725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98DBF0-88D5-AAFD-4CE2-6BBE23748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EF55C-5057-A75D-B408-0EA5656636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Кликаме върху </a:t>
            </a:r>
            <a:r>
              <a:rPr lang="bg-BG" sz="3000" b="1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Settings</a:t>
            </a:r>
            <a:r>
              <a:rPr lang="en-US" sz="3000" b="1" dirty="0"/>
              <a:t>] </a:t>
            </a:r>
            <a:r>
              <a:rPr lang="bg-BG" sz="3000" b="1" dirty="0"/>
              <a:t>→ </a:t>
            </a:r>
            <a:r>
              <a:rPr lang="en-US" sz="3000" b="1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General</a:t>
            </a:r>
            <a:r>
              <a:rPr lang="en-US" sz="3000" b="1" dirty="0"/>
              <a:t>]</a:t>
            </a:r>
          </a:p>
          <a:p>
            <a:r>
              <a:rPr lang="bg-BG" sz="3000" dirty="0"/>
              <a:t>Променяме </a:t>
            </a:r>
            <a:r>
              <a:rPr lang="bg-BG" sz="3000" b="1" dirty="0">
                <a:solidFill>
                  <a:schemeClr val="bg1"/>
                </a:solidFill>
              </a:rPr>
              <a:t>заглавието</a:t>
            </a:r>
            <a:r>
              <a:rPr lang="bg-BG" sz="3000" dirty="0"/>
              <a:t> на </a:t>
            </a:r>
            <a:r>
              <a:rPr lang="bg-BG" sz="3000" b="1" dirty="0"/>
              <a:t>уеб сайта</a:t>
            </a:r>
          </a:p>
          <a:p>
            <a:r>
              <a:rPr lang="bg-BG" sz="3000" dirty="0"/>
              <a:t>Променяме </a:t>
            </a:r>
            <a:r>
              <a:rPr lang="bg-BG" sz="3000" b="1" dirty="0">
                <a:solidFill>
                  <a:schemeClr val="bg1"/>
                </a:solidFill>
              </a:rPr>
              <a:t>краткото описание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99BCFA-032F-A2B2-DD87-CABBED13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Първоначални настройки (1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6ECDAE-D59E-4FA0-F14F-417DD9035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52203" y="3227359"/>
            <a:ext cx="2745000" cy="3272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0E9401-96AF-636D-D71A-B2570C7B0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9003" y="3114000"/>
            <a:ext cx="5707920" cy="18493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E39819-135B-3926-AB5B-A29AACDB03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9003" y="4963366"/>
            <a:ext cx="5707921" cy="86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72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98DBF0-88D5-AAFD-4CE2-6BBE23748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EF55C-5057-A75D-B408-0EA5656636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Избираме </a:t>
            </a:r>
            <a:r>
              <a:rPr lang="bg-BG" sz="3000" b="1" dirty="0">
                <a:solidFill>
                  <a:schemeClr val="bg1"/>
                </a:solidFill>
              </a:rPr>
              <a:t>български език </a:t>
            </a:r>
          </a:p>
          <a:p>
            <a:r>
              <a:rPr lang="bg-BG" sz="3000" dirty="0"/>
              <a:t>Избираме </a:t>
            </a:r>
            <a:r>
              <a:rPr lang="bg-BG" sz="3000" b="1" dirty="0">
                <a:solidFill>
                  <a:schemeClr val="bg1"/>
                </a:solidFill>
              </a:rPr>
              <a:t>часова зона</a:t>
            </a:r>
          </a:p>
          <a:p>
            <a:r>
              <a:rPr lang="bg-BG" sz="3000" b="1" dirty="0"/>
              <a:t>Запазваме промените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99BCFA-032F-A2B2-DD87-CABBED13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Първоначални настройки</a:t>
            </a:r>
            <a:r>
              <a:rPr lang="en-US" dirty="0"/>
              <a:t> (2)</a:t>
            </a:r>
            <a:endParaRPr lang="en-BG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674478-78E0-365C-C5C3-B1BC3D32F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5703" y="2214000"/>
            <a:ext cx="5863723" cy="11023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9C9F83-5894-9A1B-90AB-67AF77E12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5703" y="4418760"/>
            <a:ext cx="5863723" cy="11023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492820-53FC-55FA-EBBF-443B4A51C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5703" y="3316380"/>
            <a:ext cx="5863723" cy="110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58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938849-4693-176C-1701-3C40BF78B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7470BA-D0DB-65E1-98A9-5A498667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3CCCCA-B2A5-A9FB-56EA-DE98C142E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7668" y="1231142"/>
            <a:ext cx="4516664" cy="54828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07827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CMS </a:t>
            </a:r>
            <a:r>
              <a:rPr lang="bg-BG" sz="3000" b="1" dirty="0"/>
              <a:t>улеснява управлението </a:t>
            </a:r>
            <a:r>
              <a:rPr lang="bg-BG" sz="3000" dirty="0"/>
              <a:t>на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уеб съдържание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CMS </a:t>
            </a:r>
            <a:r>
              <a:rPr lang="bg-BG" sz="3000" dirty="0"/>
              <a:t>може да бъде представена чрез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три слоя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Клиентският слой </a:t>
            </a:r>
            <a:r>
              <a:rPr lang="bg-BG" sz="2800" dirty="0">
                <a:solidFill>
                  <a:schemeClr val="bg2"/>
                </a:solidFill>
              </a:rPr>
              <a:t>показва </a:t>
            </a:r>
            <a:r>
              <a:rPr lang="bg-BG" sz="2800" b="1" dirty="0">
                <a:solidFill>
                  <a:schemeClr val="bg2"/>
                </a:solidFill>
              </a:rPr>
              <a:t>съдържанието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Бизнес слоят </a:t>
            </a:r>
            <a:r>
              <a:rPr lang="bg-BG" sz="2800" dirty="0">
                <a:solidFill>
                  <a:schemeClr val="bg2"/>
                </a:solidFill>
              </a:rPr>
              <a:t>обработва</a:t>
            </a:r>
            <a:r>
              <a:rPr lang="bg-BG" sz="2800" b="1" dirty="0">
                <a:solidFill>
                  <a:schemeClr val="bg2"/>
                </a:solidFill>
              </a:rPr>
              <a:t> заявките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Слоят за данни </a:t>
            </a:r>
            <a:r>
              <a:rPr lang="bg-BG" sz="2800" dirty="0">
                <a:solidFill>
                  <a:schemeClr val="bg2"/>
                </a:solidFill>
              </a:rPr>
              <a:t>съхранява </a:t>
            </a:r>
            <a:r>
              <a:rPr lang="bg-BG" sz="2800" b="1" dirty="0">
                <a:solidFill>
                  <a:schemeClr val="bg2"/>
                </a:solidFill>
              </a:rPr>
              <a:t>информацията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WordPress </a:t>
            </a:r>
            <a:r>
              <a:rPr lang="bg-BG" sz="3000" dirty="0"/>
              <a:t>е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CMS </a:t>
            </a:r>
            <a:r>
              <a:rPr lang="bg-BG" sz="3000" dirty="0"/>
              <a:t>с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b="1" dirty="0"/>
              <a:t>отворен код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WordPress </a:t>
            </a:r>
            <a:r>
              <a:rPr lang="bg-BG" sz="3000" dirty="0"/>
              <a:t>се инсталира на </a:t>
            </a:r>
            <a:r>
              <a:rPr lang="bg-BG" sz="3000" b="1" dirty="0"/>
              <a:t>уеб хостинг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49457</TotalTime>
  <Words>1197</Words>
  <Application>Microsoft Macintosh PowerPoint</Application>
  <PresentationFormat>Widescreen</PresentationFormat>
  <Paragraphs>222</Paragraphs>
  <Slides>33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Consolas</vt:lpstr>
      <vt:lpstr>Wingdings</vt:lpstr>
      <vt:lpstr>SoftUni</vt:lpstr>
      <vt:lpstr>CMS. Въведение в WordPress</vt:lpstr>
      <vt:lpstr>Съдържание</vt:lpstr>
      <vt:lpstr>Уеб съдържание</vt:lpstr>
      <vt:lpstr>Уеб съдържание</vt:lpstr>
      <vt:lpstr>Видове уеб съдържание</vt:lpstr>
      <vt:lpstr>Етапи при управление на уеб съдържание</vt:lpstr>
      <vt:lpstr>CMS</vt:lpstr>
      <vt:lpstr>CMS</vt:lpstr>
      <vt:lpstr>Предназначение на CMS</vt:lpstr>
      <vt:lpstr>Примери за CMS</vt:lpstr>
      <vt:lpstr>Предимства и недостатъци</vt:lpstr>
      <vt:lpstr>CMS – Пример</vt:lpstr>
      <vt:lpstr>Архитектура на CMS</vt:lpstr>
      <vt:lpstr>Трислойна архитектура на CMS</vt:lpstr>
      <vt:lpstr>Клиентски слой (Front-End)</vt:lpstr>
      <vt:lpstr>Бизнес слой (Business Tier)</vt:lpstr>
      <vt:lpstr>Слой за данни (Back-End)</vt:lpstr>
      <vt:lpstr>Трислойна архитектура – Пример</vt:lpstr>
      <vt:lpstr>Въведение в WordPress</vt:lpstr>
      <vt:lpstr>WordPress</vt:lpstr>
      <vt:lpstr>Основни възможности на WordPress</vt:lpstr>
      <vt:lpstr>WordPress.com vs. WordPress.org</vt:lpstr>
      <vt:lpstr>Пример</vt:lpstr>
      <vt:lpstr>Създаване на WordPress сайт</vt:lpstr>
      <vt:lpstr>Създаване на WordPress сайт</vt:lpstr>
      <vt:lpstr>Задаване на име на уеб сайта</vt:lpstr>
      <vt:lpstr>Административен панел</vt:lpstr>
      <vt:lpstr>Първоначални настройки (1)</vt:lpstr>
      <vt:lpstr>Първоначални настройки (2)</vt:lpstr>
      <vt:lpstr>Резултат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CMS. Въведение в WordPress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423</cp:revision>
  <dcterms:created xsi:type="dcterms:W3CDTF">2018-05-23T13:08:44Z</dcterms:created>
  <dcterms:modified xsi:type="dcterms:W3CDTF">2026-07-31T08:36:45Z</dcterms:modified>
  <cp:category/>
</cp:coreProperties>
</file>