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37C_1F0789BD.xml" ContentType="application/vnd.ms-powerpoint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5"/>
  </p:notesMasterIdLst>
  <p:handoutMasterIdLst>
    <p:handoutMasterId r:id="rId36"/>
  </p:handoutMasterIdLst>
  <p:sldIdLst>
    <p:sldId id="503" r:id="rId2"/>
    <p:sldId id="276" r:id="rId3"/>
    <p:sldId id="353" r:id="rId4"/>
    <p:sldId id="497" r:id="rId5"/>
    <p:sldId id="883" r:id="rId6"/>
    <p:sldId id="866" r:id="rId7"/>
    <p:sldId id="610" r:id="rId8"/>
    <p:sldId id="869" r:id="rId9"/>
    <p:sldId id="885" r:id="rId10"/>
    <p:sldId id="887" r:id="rId11"/>
    <p:sldId id="884" r:id="rId12"/>
    <p:sldId id="886" r:id="rId13"/>
    <p:sldId id="616" r:id="rId14"/>
    <p:sldId id="888" r:id="rId15"/>
    <p:sldId id="874" r:id="rId16"/>
    <p:sldId id="889" r:id="rId17"/>
    <p:sldId id="890" r:id="rId18"/>
    <p:sldId id="891" r:id="rId19"/>
    <p:sldId id="838" r:id="rId20"/>
    <p:sldId id="844" r:id="rId21"/>
    <p:sldId id="892" r:id="rId22"/>
    <p:sldId id="898" r:id="rId23"/>
    <p:sldId id="654" r:id="rId24"/>
    <p:sldId id="881" r:id="rId25"/>
    <p:sldId id="893" r:id="rId26"/>
    <p:sldId id="900" r:id="rId27"/>
    <p:sldId id="899" r:id="rId28"/>
    <p:sldId id="897" r:id="rId29"/>
    <p:sldId id="901" r:id="rId30"/>
    <p:sldId id="896" r:id="rId31"/>
    <p:sldId id="633" r:id="rId32"/>
    <p:sldId id="504" r:id="rId33"/>
    <p:sldId id="50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A0C7653D-1924-4F56-9E27-AA2B21F1DA92}">
          <p14:sldIdLst>
            <p14:sldId id="503"/>
            <p14:sldId id="276"/>
          </p14:sldIdLst>
        </p14:section>
        <p14:section name="Уеб съдържание" id="{66DCFE1F-60FD-44F2-BE82-706DDBC14898}">
          <p14:sldIdLst>
            <p14:sldId id="353"/>
            <p14:sldId id="497"/>
            <p14:sldId id="883"/>
            <p14:sldId id="866"/>
          </p14:sldIdLst>
        </p14:section>
        <p14:section name="CMS" id="{EB44CA50-B176-0C4C-B0D0-5459023C7783}">
          <p14:sldIdLst>
            <p14:sldId id="610"/>
            <p14:sldId id="869"/>
            <p14:sldId id="885"/>
            <p14:sldId id="887"/>
            <p14:sldId id="884"/>
            <p14:sldId id="886"/>
          </p14:sldIdLst>
        </p14:section>
        <p14:section name="Архитектура на CMS" id="{2B3E1915-4BA2-9447-BC07-AE658EE7EC35}">
          <p14:sldIdLst>
            <p14:sldId id="616"/>
            <p14:sldId id="888"/>
            <p14:sldId id="874"/>
            <p14:sldId id="889"/>
            <p14:sldId id="890"/>
            <p14:sldId id="891"/>
          </p14:sldIdLst>
        </p14:section>
        <p14:section name="Въведение в WordPress" id="{23E1C1D3-C190-EF49-BBD0-D54C17EFBBA7}">
          <p14:sldIdLst>
            <p14:sldId id="838"/>
            <p14:sldId id="844"/>
            <p14:sldId id="892"/>
            <p14:sldId id="898"/>
          </p14:sldIdLst>
        </p14:section>
        <p14:section name="Демо" id="{276EAB92-AF41-DD42-AFD3-D1ABB239E1A7}">
          <p14:sldIdLst>
            <p14:sldId id="654"/>
            <p14:sldId id="881"/>
            <p14:sldId id="893"/>
            <p14:sldId id="900"/>
            <p14:sldId id="899"/>
            <p14:sldId id="897"/>
            <p14:sldId id="901"/>
            <p14:sldId id="896"/>
          </p14:sldIdLst>
        </p14:section>
        <p14:section name="Заключение" id="{E19D07F1-86E2-47E9-B2AB-7ADC4F89DC12}">
          <p14:sldIdLst>
            <p14:sldId id="633"/>
            <p14:sldId id="504"/>
            <p14:sldId id="50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B4BF2F8-D32F-9387-A6CE-368ED6EFDCF0}" name="Zaraliev" initials="KZ" userId="S::Zaraliev@students.softuni.bg::e1c6524a-140e-4108-9ad5-2163634319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C" initials="P" lastIdx="8" clrIdx="0">
    <p:extLst>
      <p:ext uri="{19B8F6BF-5375-455C-9EA6-DF929625EA0E}">
        <p15:presenceInfo xmlns:p15="http://schemas.microsoft.com/office/powerpoint/2012/main" userId="PC" providerId="None"/>
      </p:ext>
    </p:extLst>
  </p:cmAuthor>
  <p:cmAuthor id="2" name="Mirela Damyanova" initials="MD" lastIdx="6" clrIdx="1">
    <p:extLst>
      <p:ext uri="{19B8F6BF-5375-455C-9EA6-DF929625EA0E}">
        <p15:presenceInfo xmlns:p15="http://schemas.microsoft.com/office/powerpoint/2012/main" userId="Mirela Damyanova" providerId="None"/>
      </p:ext>
    </p:extLst>
  </p:cmAuthor>
  <p:cmAuthor id="3" name="Zaraliev" initials="KZ" lastIdx="1" clrIdx="2">
    <p:extLst>
      <p:ext uri="{19B8F6BF-5375-455C-9EA6-DF929625EA0E}">
        <p15:presenceInfo xmlns:p15="http://schemas.microsoft.com/office/powerpoint/2012/main" userId="S::Zaraliev@students.softuni.bg::e1c6524a-140e-4108-9ad5-21636343196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9100"/>
    <a:srgbClr val="234465"/>
    <a:srgbClr val="ADB4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16D9F66E-5EB9-4882-86FB-DCBF35E3C3E4}" styleName="Medium Style 4 –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2838BEF-8BB2-4498-84A7-C5851F593DF1}" styleName="Medium Style 4 –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29" autoAdjust="0"/>
    <p:restoredTop sz="95274" autoAdjust="0"/>
  </p:normalViewPr>
  <p:slideViewPr>
    <p:cSldViewPr showGuides="1">
      <p:cViewPr varScale="1">
        <p:scale>
          <a:sx n="105" d="100"/>
          <a:sy n="105" d="100"/>
        </p:scale>
        <p:origin x="150" y="114"/>
      </p:cViewPr>
      <p:guideLst>
        <p:guide orient="horz" pos="2184"/>
        <p:guide pos="3840"/>
      </p:guideLst>
    </p:cSldViewPr>
  </p:slideViewPr>
  <p:outlineViewPr>
    <p:cViewPr>
      <p:scale>
        <a:sx n="33" d="100"/>
        <a:sy n="33" d="100"/>
      </p:scale>
      <p:origin x="0" y="-9989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6566"/>
    </p:cViewPr>
  </p:sorterViewPr>
  <p:notesViewPr>
    <p:cSldViewPr>
      <p:cViewPr varScale="1">
        <p:scale>
          <a:sx n="60" d="100"/>
          <a:sy n="60" d="100"/>
        </p:scale>
        <p:origin x="3187" y="48"/>
      </p:cViewPr>
      <p:guideLst/>
    </p:cSldViewPr>
  </p:notes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omments/modernComment_37C_1F0789B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28DC738-D676-49C3-A47D-8ECD56A9756B}" authorId="{CB4BF2F8-D32F-9387-A6CE-368ED6EFDCF0}" created="2026-08-21T12:11:22.613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520587709" sldId="892"/>
      <ac:picMk id="5" creationId="{F035AF0F-3CC6-CF30-B59D-8B90574D2F17}"/>
    </ac:deMkLst>
    <p188:txBody>
      <a:bodyPr/>
      <a:lstStyle/>
      <a:p>
        <a:r>
          <a:rPr lang="en-GB"/>
          <a:t>Подобри качеството на снимката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6F20103-83CC-4A54-8FDE-9D37FC2629C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A53962-26EF-44E4-9E69-61B1727AB1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87215-0C8F-4762-A664-737A353EC9A4}" type="datetimeFigureOut">
              <a:rPr lang="bg-BG" smtClean="0"/>
              <a:t>21.8.2026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A6967E-448F-4887-8FCB-34482EFBCC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-1" y="8892000"/>
            <a:ext cx="6443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bg-BG" sz="1100" dirty="0"/>
              <a:t>Работна група </a:t>
            </a:r>
            <a:r>
              <a:rPr lang="ru-RU" sz="1100" dirty="0"/>
              <a:t>"Образование по програмиране и ИТ</a:t>
            </a:r>
            <a:r>
              <a:rPr lang="bg-BG" sz="1100" dirty="0"/>
              <a:t>",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6554C2-DDBA-40E2-9536-53A07EC502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443999" y="8892000"/>
            <a:ext cx="412413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C318AE-53F9-47EA-B5FE-E9473933AF11}" type="slidenum">
              <a:rPr lang="bg-BG" smtClean="0"/>
              <a:t>‹#›</a:t>
            </a:fld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15060296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hyperlink" Target="https://softuni.org/" TargetMode="Externa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D84649-876A-46C9-8472-14CB09C070D8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488999" y="8892000"/>
            <a:ext cx="367414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067CD-8E6B-4360-9AA8-C5DF2A48A6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C3A49B-3196-44DF-AC28-085C72EFBF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2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53084769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org/" TargetMode="External"/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8" name="Slide Image Placeholder 7">
            <a:extLst>
              <a:ext uri="{FF2B5EF4-FFF2-40B4-BE49-F238E27FC236}">
                <a16:creationId xmlns:a16="http://schemas.microsoft.com/office/drawing/2014/main" id="{78811095-27E9-49AB-972B-D4E20B396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9" name="Notes Placeholder 8">
            <a:extLst>
              <a:ext uri="{FF2B5EF4-FFF2-40B4-BE49-F238E27FC236}">
                <a16:creationId xmlns:a16="http://schemas.microsoft.com/office/drawing/2014/main" id="{E923224B-0CC3-475A-8628-8A90751AE6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288A3F3-90B1-4930-8D00-5603BDABEF1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44894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3">
            <a:extLst>
              <a:ext uri="{FF2B5EF4-FFF2-40B4-BE49-F238E27FC236}">
                <a16:creationId xmlns:a16="http://schemas.microsoft.com/office/drawing/2014/main" id="{A1F0B3C6-2E53-4CA3-86D1-53D46EC35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5" name="Notes Placeholder 14">
            <a:extLst>
              <a:ext uri="{FF2B5EF4-FFF2-40B4-BE49-F238E27FC236}">
                <a16:creationId xmlns:a16="http://schemas.microsoft.com/office/drawing/2014/main" id="{149CC699-A079-49A5-A4D6-73B7F849A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121F4233-7E9A-40D2-9066-2DB14E2FA5A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18F1DFF-B3E7-4ABF-97EE-0BBF3A961E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5307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10985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2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bg-BG" sz="1100"/>
              <a:t>Работна група </a:t>
            </a:r>
            <a:r>
              <a:rPr lang="bg-BG"/>
              <a:t>"Образование по програмиране и ИТ"</a:t>
            </a:r>
            <a:r>
              <a:rPr lang="bg-BG" sz="1100"/>
              <a:t>, с подкрепата на </a:t>
            </a:r>
            <a:r>
              <a:rPr lang="en-US" sz="110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135664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714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187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9477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3EF363-177A-44DE-80E9-FC9248B7DCA2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613EE-6697-4964-A067-C2136C00C8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5849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BD88B0D8-949C-482D-990A-2DAB14AD4AD1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474633-D38D-4432-867B-70F325FA701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9941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65F1CA9-65DC-416B-8882-B3A5E415CE67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5" name="Footer Placeholder 7">
            <a:extLst>
              <a:ext uri="{FF2B5EF4-FFF2-40B4-BE49-F238E27FC236}">
                <a16:creationId xmlns:a16="http://schemas.microsoft.com/office/drawing/2014/main" id="{43FAF785-0C8D-730E-8E59-68198DC82CE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892000"/>
            <a:ext cx="6488999" cy="252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/>
            </a:lvl1pPr>
          </a:lstStyle>
          <a:p>
            <a:r>
              <a:rPr lang="bg-BG" sz="1100" dirty="0"/>
              <a:t>Работна група </a:t>
            </a:r>
            <a:r>
              <a:rPr lang="bg-BG" dirty="0"/>
              <a:t>"Образование по програмиране и ИТ"</a:t>
            </a:r>
            <a:r>
              <a:rPr lang="bg-BG" sz="1100" dirty="0"/>
              <a:t>, с подкрепата на </a:t>
            </a:r>
            <a:r>
              <a:rPr lang="en-US" sz="1100" dirty="0">
                <a:hlinkClick r:id="rId3"/>
              </a:rPr>
              <a:t>SoftUni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6893447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49B984-F964-47FF-8179-0A3007CE21CD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059BE0-D868-413B-AAA1-1CC88D1F52C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5903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27548A-4D3C-449B-81A5-FA4BE4628490}"/>
              </a:ext>
            </a:extLst>
          </p:cNvPr>
          <p:cNvSpPr txBox="1">
            <a:spLocks/>
          </p:cNvSpPr>
          <p:nvPr/>
        </p:nvSpPr>
        <p:spPr>
          <a:xfrm>
            <a:off x="6488999" y="884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BA5BD7-F043-4D1B-AA17-CD412FC534DE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472CE7-61C1-4B7B-B0C8-5A45F017871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© SoftUni – </a:t>
            </a:r>
            <a:r>
              <a:rPr lang="en-US" u="sng">
                <a:hlinkClick r:id="rId3"/>
              </a:rPr>
              <a:t>https://softuni.org</a:t>
            </a:r>
            <a:r>
              <a:rPr lang="en-US"/>
              <a:t>. Copyrighted document. Unauthorized copy or reproduction is not permitted.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444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4.0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Bottom">
            <a:extLst>
              <a:ext uri="{FF2B5EF4-FFF2-40B4-BE49-F238E27FC236}">
                <a16:creationId xmlns:a16="http://schemas.microsoft.com/office/drawing/2014/main" id="{6854D183-0374-4B3E-B2CE-32F308A81591}"/>
              </a:ext>
            </a:extLst>
          </p:cNvPr>
          <p:cNvSpPr/>
          <p:nvPr userDrawn="1"/>
        </p:nvSpPr>
        <p:spPr>
          <a:xfrm>
            <a:off x="0" y="6702676"/>
            <a:ext cx="12195176" cy="1553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3" name="Picture Placeholder Title Image">
            <a:extLst>
              <a:ext uri="{FF2B5EF4-FFF2-40B4-BE49-F238E27FC236}">
                <a16:creationId xmlns:a16="http://schemas.microsoft.com/office/drawing/2014/main" id="{A04D819A-89E2-4714-8C56-1838BF467E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90123" y="3400017"/>
            <a:ext cx="5248260" cy="2188983"/>
          </a:xfrm>
        </p:spPr>
        <p:txBody>
          <a:bodyPr/>
          <a:lstStyle>
            <a:lvl1pPr marL="0" indent="0" algn="ctr" latinLnBrk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icon to add picture</a:t>
            </a:r>
          </a:p>
        </p:txBody>
      </p:sp>
      <p:sp>
        <p:nvSpPr>
          <p:cNvPr id="10" name="Company Web Site">
            <a:extLst>
              <a:ext uri="{FF2B5EF4-FFF2-40B4-BE49-F238E27FC236}">
                <a16:creationId xmlns:a16="http://schemas.microsoft.com/office/drawing/2014/main" id="{0B99B1EE-62FA-4AA4-920C-D444D6C0B7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90120" y="6086106"/>
            <a:ext cx="5248260" cy="341313"/>
          </a:xfrm>
        </p:spPr>
        <p:txBody>
          <a:bodyPr lIns="36000" rIns="36000" anchor="ctr" anchorCtr="0">
            <a:noAutofit/>
          </a:bodyPr>
          <a:lstStyle>
            <a:lvl1pPr marL="0" indent="0" algn="r">
              <a:buNone/>
              <a:defRPr sz="1800"/>
            </a:lvl1pPr>
          </a:lstStyle>
          <a:p>
            <a:pPr lvl="0"/>
            <a:r>
              <a:rPr lang="en-US" dirty="0"/>
              <a:t>https://softuni.foundation  </a:t>
            </a:r>
          </a:p>
        </p:txBody>
      </p:sp>
      <p:sp>
        <p:nvSpPr>
          <p:cNvPr id="6" name="Company Name">
            <a:extLst>
              <a:ext uri="{FF2B5EF4-FFF2-40B4-BE49-F238E27FC236}">
                <a16:creationId xmlns:a16="http://schemas.microsoft.com/office/drawing/2014/main" id="{2A76510A-0BAE-A827-E77C-BE88E38F52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390122" y="5698189"/>
            <a:ext cx="5248260" cy="374236"/>
          </a:xfrm>
        </p:spPr>
        <p:txBody>
          <a:bodyPr lIns="36000" rIns="36000" anchor="ctr" anchorCtr="0">
            <a:normAutofit/>
          </a:bodyPr>
          <a:lstStyle>
            <a:lvl1pPr marL="0" indent="0" algn="r">
              <a:buNone/>
              <a:defRPr sz="2000" b="1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SoftUni Foundation</a:t>
            </a:r>
          </a:p>
        </p:txBody>
      </p:sp>
      <p:sp>
        <p:nvSpPr>
          <p:cNvPr id="31" name="Author Position">
            <a:extLst>
              <a:ext uri="{FF2B5EF4-FFF2-40B4-BE49-F238E27FC236}">
                <a16:creationId xmlns:a16="http://schemas.microsoft.com/office/drawing/2014/main" id="{3E6B87B7-9D33-4EBB-BD4F-C0436BA3FD7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534045" y="6085863"/>
            <a:ext cx="4751953" cy="341556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1800" b="0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URL</a:t>
            </a:r>
          </a:p>
        </p:txBody>
      </p:sp>
      <p:sp>
        <p:nvSpPr>
          <p:cNvPr id="30" name="Author Name">
            <a:extLst>
              <a:ext uri="{FF2B5EF4-FFF2-40B4-BE49-F238E27FC236}">
                <a16:creationId xmlns:a16="http://schemas.microsoft.com/office/drawing/2014/main" id="{2EA92DCA-4DB5-4D03-ACD3-A6A296592D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534046" y="5251106"/>
            <a:ext cx="4751954" cy="724904"/>
          </a:xfrm>
          <a:prstGeom prst="rect">
            <a:avLst/>
          </a:prstGeom>
          <a:noFill/>
          <a:effectLst/>
        </p:spPr>
        <p:txBody>
          <a:bodyPr wrap="square" lIns="36000" tIns="36000" rIns="36000" bIns="36000" rtlCol="0" anchor="ctr" anchorCtr="0">
            <a:noAutofit/>
          </a:bodyPr>
          <a:lstStyle>
            <a:lvl1pPr marL="0" indent="0" algn="l" rtl="0" fontAlgn="base" latinLnBrk="0">
              <a:spcBef>
                <a:spcPct val="0"/>
              </a:spcBef>
              <a:spcAft>
                <a:spcPct val="0"/>
              </a:spcAft>
              <a:buNone/>
              <a:defRPr lang="en-US" sz="2000" b="1" kern="1200" dirty="0" smtClean="0">
                <a:solidFill>
                  <a:schemeClr val="tx1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Authors</a:t>
            </a:r>
          </a:p>
        </p:txBody>
      </p:sp>
      <p:sp>
        <p:nvSpPr>
          <p:cNvPr id="43" name="Presentation Subtitle">
            <a:extLst>
              <a:ext uri="{FF2B5EF4-FFF2-40B4-BE49-F238E27FC236}">
                <a16:creationId xmlns:a16="http://schemas.microsoft.com/office/drawing/2014/main" id="{37BDB812-1395-4B02-ABCF-6A331EEE23E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4746" y="1402942"/>
            <a:ext cx="11083636" cy="1306057"/>
          </a:xfrm>
        </p:spPr>
        <p:txBody>
          <a:bodyPr anchor="t" anchorCtr="0">
            <a:normAutofit/>
          </a:bodyPr>
          <a:lstStyle>
            <a:lvl1pPr marL="0" indent="0" algn="ctr" latinLnBrk="0">
              <a:buNone/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Presentation Subtitle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A4DF3AB8-E6E3-4FCE-8A4A-ECD147720A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4746" y="321501"/>
            <a:ext cx="11083636" cy="971589"/>
          </a:xfrm>
        </p:spPr>
        <p:txBody>
          <a:bodyPr>
            <a:normAutofit/>
          </a:bodyPr>
          <a:lstStyle>
            <a:lvl1pPr algn="ctr" latinLnBrk="0">
              <a:defRPr sz="5400"/>
            </a:lvl1pPr>
          </a:lstStyle>
          <a:p>
            <a:r>
              <a:rPr lang="en-US" noProof="0" dirty="0"/>
              <a:t>Presentation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4D0DB3-F60A-469B-7831-209CB666CCE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6549" y="4325954"/>
            <a:ext cx="2538082" cy="633046"/>
          </a:xfrm>
          <a:prstGeom prst="rect">
            <a:avLst/>
          </a:prstGeom>
        </p:spPr>
      </p:pic>
      <p:pic>
        <p:nvPicPr>
          <p:cNvPr id="5" name="Picture 4" title="CC-BY-NC-SA License">
            <a:hlinkClick r:id="rId3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2D40731C-0303-A69D-63FD-E048A73CA59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402682" y="4321352"/>
            <a:ext cx="1809336" cy="633045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065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4319736" y="86775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615109" y="5585916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615109" y="4704825"/>
            <a:ext cx="10961783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529216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">
            <a:extLst>
              <a:ext uri="{FF2B5EF4-FFF2-40B4-BE49-F238E27FC236}">
                <a16:creationId xmlns:a16="http://schemas.microsoft.com/office/drawing/2014/main" id="{C1780DB1-0AF0-4108-AFE1-9DA99F0DB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Slide Body Text">
            <a:extLst>
              <a:ext uri="{FF2B5EF4-FFF2-40B4-BE49-F238E27FC236}">
                <a16:creationId xmlns:a16="http://schemas.microsoft.com/office/drawing/2014/main" id="{5A9D2960-6D42-439F-82E8-812822013A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6125"/>
            <a:ext cx="11818096" cy="5528766"/>
          </a:xfrm>
        </p:spPr>
        <p:txBody>
          <a:bodyPr/>
          <a:lstStyle>
            <a:lvl1pPr latinLnBrk="0">
              <a:buClr>
                <a:schemeClr val="tx1"/>
              </a:buClr>
              <a:defRPr/>
            </a:lvl1pPr>
            <a:lvl2pPr latinLnBrk="0">
              <a:buClr>
                <a:schemeClr val="tx1"/>
              </a:buClr>
              <a:defRPr/>
            </a:lvl2pPr>
            <a:lvl3pPr latinLnBrk="0">
              <a:buClr>
                <a:schemeClr val="tx1"/>
              </a:buClr>
              <a:defRPr/>
            </a:lvl3pPr>
            <a:lvl4pPr latinLnBrk="0">
              <a:buClr>
                <a:schemeClr val="tx1"/>
              </a:buClr>
              <a:defRPr/>
            </a:lvl4pPr>
            <a:lvl5pPr latinLnBrk="0">
              <a:buClr>
                <a:schemeClr val="tx1"/>
              </a:buClr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391AFA4E-7870-4561-A1B8-AC956B0C8931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19B5B676-7892-440F-8191-7109B2C59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9A1D0F-F579-6A3C-C698-4E2E7F1AB2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97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ortant Conce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0020EB61-2079-41A3-B356-B1D8D48D7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Rectangle Left"/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35205" y="1792355"/>
            <a:ext cx="1830304" cy="4062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CB4CB13C-66A1-466B-A6C1-B0BABF5CF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66000" y="1121143"/>
            <a:ext cx="10129234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8" name="Slide Title">
            <a:extLst>
              <a:ext uri="{FF2B5EF4-FFF2-40B4-BE49-F238E27FC236}">
                <a16:creationId xmlns:a16="http://schemas.microsoft.com/office/drawing/2014/main" id="{E2DA9691-CDF5-499C-94BB-AAA61DAC1B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8CA5371-2597-CF8F-1859-22639580743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30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ortant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1865BF6B-7F07-4E9C-879F-80E36EEB34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/>
        </p:nvSpPr>
        <p:spPr>
          <a:xfrm>
            <a:off x="0" y="0"/>
            <a:ext cx="115383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3074" name="Picture Bulb" descr="Bul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20027" y="3314704"/>
            <a:ext cx="1260665" cy="279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lide Body Text">
            <a:extLst>
              <a:ext uri="{FF2B5EF4-FFF2-40B4-BE49-F238E27FC236}">
                <a16:creationId xmlns:a16="http://schemas.microsoft.com/office/drawing/2014/main" id="{6157C8DE-E0AF-422B-BBB1-F0AF1264B5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673561" y="1121143"/>
            <a:ext cx="10321675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0D5CC956-5C4A-44BE-8F8B-327FAFA51E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96956" y="100750"/>
            <a:ext cx="916404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37AF1B9-D67A-246A-86B6-E28F19C523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651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0B8C963-1813-4B69-AD27-6D02EBBBB5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" name="Rectangle Left">
            <a:extLst>
              <a:ext uri="{FF2B5EF4-FFF2-40B4-BE49-F238E27FC236}">
                <a16:creationId xmlns:a16="http://schemas.microsoft.com/office/drawing/2014/main" id="{345FB1C8-7F66-4D5C-ACCE-AE919936BCFD}"/>
              </a:ext>
            </a:extLst>
          </p:cNvPr>
          <p:cNvSpPr/>
          <p:nvPr userDrawn="1"/>
        </p:nvSpPr>
        <p:spPr>
          <a:xfrm>
            <a:off x="0" y="0"/>
            <a:ext cx="42947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pic>
        <p:nvPicPr>
          <p:cNvPr id="4" name="Picture Bulb" descr="Bulb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56000" y="5098868"/>
            <a:ext cx="779209" cy="172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Body Text">
            <a:extLst>
              <a:ext uri="{FF2B5EF4-FFF2-40B4-BE49-F238E27FC236}">
                <a16:creationId xmlns:a16="http://schemas.microsoft.com/office/drawing/2014/main" id="{7296EDA7-D37D-4B31-A888-371F0804124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5176" y="1121143"/>
            <a:ext cx="11410061" cy="5546589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55A88B09-3557-48A3-BF27-42699C2692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177" y="100750"/>
            <a:ext cx="9875824" cy="882654"/>
          </a:xfrm>
        </p:spPr>
        <p:txBody>
          <a:bodyPr/>
          <a:lstStyle>
            <a:lvl1pPr latinLnBrk="0">
              <a:defRPr/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2C375B-43BF-D1DD-F160-1500A1118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1877" y="362077"/>
            <a:ext cx="1443357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62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urce Code Exa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">
            <a:extLst>
              <a:ext uri="{FF2B5EF4-FFF2-40B4-BE49-F238E27FC236}">
                <a16:creationId xmlns:a16="http://schemas.microsoft.com/office/drawing/2014/main" id="{509D954E-A844-4072-A556-DE584BEB9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Rectangle Top">
            <a:extLst>
              <a:ext uri="{FF2B5EF4-FFF2-40B4-BE49-F238E27FC236}">
                <a16:creationId xmlns:a16="http://schemas.microsoft.com/office/drawing/2014/main" id="{A15CE03A-0933-4E5D-9EA1-718D4F802FFC}"/>
              </a:ext>
            </a:extLst>
          </p:cNvPr>
          <p:cNvSpPr/>
          <p:nvPr userDrawn="1"/>
        </p:nvSpPr>
        <p:spPr>
          <a:xfrm>
            <a:off x="0" y="1311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 dirty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2" name="Slide Body Text">
            <a:extLst>
              <a:ext uri="{FF2B5EF4-FFF2-40B4-BE49-F238E27FC236}">
                <a16:creationId xmlns:a16="http://schemas.microsoft.com/office/drawing/2014/main" id="{B608ED73-CE88-49E4-8BFC-DBD6E9AE6B1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6" y="1206668"/>
            <a:ext cx="11804831" cy="5550582"/>
          </a:xfrm>
        </p:spPr>
        <p:txBody>
          <a:bodyPr/>
          <a:lstStyle>
            <a:lvl1pPr latinLnBrk="0">
              <a:defRPr>
                <a:solidFill>
                  <a:schemeClr val="tx1"/>
                </a:solidFill>
              </a:defRPr>
            </a:lvl1pPr>
            <a:lvl2pPr latinLnBrk="0">
              <a:defRPr>
                <a:solidFill>
                  <a:schemeClr val="tx1"/>
                </a:solidFill>
              </a:defRPr>
            </a:lvl2pPr>
            <a:lvl3pPr latinLnBrk="0">
              <a:defRPr>
                <a:solidFill>
                  <a:schemeClr val="tx1"/>
                </a:solidFill>
              </a:defRPr>
            </a:lvl3pPr>
            <a:lvl4pPr latinLnBrk="0">
              <a:defRPr>
                <a:solidFill>
                  <a:schemeClr val="tx1"/>
                </a:solidFill>
              </a:defRPr>
            </a:lvl4pPr>
            <a:lvl5pPr latinLnBrk="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This is a code example</a:t>
            </a:r>
          </a:p>
        </p:txBody>
      </p:sp>
      <p:sp>
        <p:nvSpPr>
          <p:cNvPr id="4" name="Code Box">
            <a:extLst>
              <a:ext uri="{FF2B5EF4-FFF2-40B4-BE49-F238E27FC236}">
                <a16:creationId xmlns:a16="http://schemas.microsoft.com/office/drawing/2014/main" id="{F4E021E9-D6DB-4272-8C9F-CEF4940FDC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74683" y="2034000"/>
            <a:ext cx="10836275" cy="2237893"/>
          </a:xfrm>
          <a:solidFill>
            <a:schemeClr val="accent6">
              <a:lumMod val="75000"/>
              <a:alpha val="15000"/>
            </a:schemeClr>
          </a:solidFill>
          <a:ln w="12700">
            <a:solidFill>
              <a:schemeClr val="tx1">
                <a:lumMod val="50000"/>
              </a:schemeClr>
            </a:solidFill>
          </a:ln>
        </p:spPr>
        <p:txBody>
          <a:bodyPr vert="horz" wrap="square" lIns="144000" tIns="108000" rIns="144000" bIns="108000" rtlCol="0">
            <a:spAutoFit/>
          </a:bodyPr>
          <a:lstStyle>
            <a:lvl1pPr>
              <a:buNone/>
              <a:defRPr lang="en-US" sz="2800" b="1" smtClean="0">
                <a:latin typeface="Consolas" pitchFamily="49" charset="0"/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Source code box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en-US" noProof="1"/>
              <a:t>…</a:t>
            </a:r>
          </a:p>
        </p:txBody>
      </p:sp>
      <p:sp>
        <p:nvSpPr>
          <p:cNvPr id="11" name="Slide Title">
            <a:extLst>
              <a:ext uri="{FF2B5EF4-FFF2-40B4-BE49-F238E27FC236}">
                <a16:creationId xmlns:a16="http://schemas.microsoft.com/office/drawing/2014/main" id="{47D60833-F0A9-4F29-8C06-A963A7C8BE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39658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69A4E8-9221-8F79-65B4-BF9AA7F87DD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82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Center Icon"/>
          <p:cNvSpPr>
            <a:spLocks noChangeAspect="1"/>
          </p:cNvSpPr>
          <p:nvPr/>
        </p:nvSpPr>
        <p:spPr>
          <a:xfrm>
            <a:off x="831000" y="1091471"/>
            <a:ext cx="3552529" cy="3552529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Subtitle"/>
          <p:cNvSpPr>
            <a:spLocks noGrp="1"/>
          </p:cNvSpPr>
          <p:nvPr>
            <p:ph type="subTitle" sz="quarter" idx="11" hasCustomPrompt="1"/>
          </p:nvPr>
        </p:nvSpPr>
        <p:spPr>
          <a:xfrm>
            <a:off x="5241000" y="3338387"/>
            <a:ext cx="6065892" cy="76808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3998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Subtitle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 sz="quarter" idx="10" hasCustomPrompt="1"/>
          </p:nvPr>
        </p:nvSpPr>
        <p:spPr>
          <a:xfrm>
            <a:off x="5241000" y="1471047"/>
            <a:ext cx="6065892" cy="175433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latinLnBrk="0">
              <a:buNone/>
              <a:defRPr sz="5396" b="1" baseline="0">
                <a:solidFill>
                  <a:schemeClr val="tx1"/>
                </a:solidFill>
                <a:latin typeface="+mj-lt"/>
                <a:cs typeface="Arial" pitchFamily="34" charset="0"/>
              </a:defRPr>
            </a:lvl1pPr>
          </a:lstStyle>
          <a:p>
            <a:pPr lvl="0"/>
            <a:r>
              <a:rPr lang="en-US" noProof="0" dirty="0"/>
              <a:t>Click to Edit Section Title</a:t>
            </a:r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423919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">
            <a:extLst>
              <a:ext uri="{FF2B5EF4-FFF2-40B4-BE49-F238E27FC236}">
                <a16:creationId xmlns:a16="http://schemas.microsoft.com/office/drawing/2014/main" id="{39DDE17E-5472-41F3-AF5F-54DFF10DC6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23" name="Slide Body Text">
            <a:extLst>
              <a:ext uri="{FF2B5EF4-FFF2-40B4-BE49-F238E27FC236}">
                <a16:creationId xmlns:a16="http://schemas.microsoft.com/office/drawing/2014/main" id="{889D93F4-ABFA-46BF-8E5D-FE6562ACB20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6766" y="1371604"/>
            <a:ext cx="11781606" cy="5207396"/>
          </a:xfrm>
        </p:spPr>
        <p:txBody>
          <a:bodyPr>
            <a:normAutofit/>
          </a:bodyPr>
          <a:lstStyle>
            <a:lvl1pPr marL="514042" indent="-514042" latinLnBrk="0">
              <a:buFont typeface="+mj-lt"/>
              <a:buAutoNum type="arabicPeriod"/>
              <a:defRPr sz="3600">
                <a:solidFill>
                  <a:schemeClr val="tx1"/>
                </a:solidFill>
              </a:defRPr>
            </a:lvl1pPr>
            <a:lvl2pPr>
              <a:defRPr sz="3400"/>
            </a:lvl2pPr>
          </a:lstStyle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…</a:t>
            </a:r>
          </a:p>
          <a:p>
            <a:pPr lvl="0"/>
            <a:r>
              <a:rPr lang="en-US" noProof="0" dirty="0"/>
              <a:t>…</a:t>
            </a:r>
          </a:p>
        </p:txBody>
      </p:sp>
      <p:sp>
        <p:nvSpPr>
          <p:cNvPr id="8" name="Rectangle Top">
            <a:extLst>
              <a:ext uri="{FF2B5EF4-FFF2-40B4-BE49-F238E27FC236}">
                <a16:creationId xmlns:a16="http://schemas.microsoft.com/office/drawing/2014/main" id="{930E0800-9260-4369-8330-8264DD33C5CE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57D7BE1-6358-42CC-94F3-7BCDD91DC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808AB-EC49-1578-0005-D58D2A365A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724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Bottom"/>
          <p:cNvSpPr/>
          <p:nvPr/>
        </p:nvSpPr>
        <p:spPr>
          <a:xfrm>
            <a:off x="2" y="6264000"/>
            <a:ext cx="12192000" cy="594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21856" tIns="60928" rIns="121856" bIns="6092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6750ECE4-94E0-469B-B8E4-562792823B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62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bg2"/>
                </a:solidFill>
              </a:defRPr>
            </a:lvl1pPr>
          </a:lstStyle>
          <a:p>
            <a:fld id="{2BF067CD-8E6B-4360-9AA8-C5DF2A48A6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Oval Logo Holder"/>
          <p:cNvSpPr/>
          <p:nvPr/>
        </p:nvSpPr>
        <p:spPr>
          <a:xfrm>
            <a:off x="5161650" y="4824665"/>
            <a:ext cx="1868701" cy="1868701"/>
          </a:xfrm>
          <a:prstGeom prst="ellipse">
            <a:avLst/>
          </a:prstGeom>
          <a:solidFill>
            <a:schemeClr val="tx2"/>
          </a:solidFill>
          <a:ln w="635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Text Placeholder Right">
            <a:extLst>
              <a:ext uri="{FF2B5EF4-FFF2-40B4-BE49-F238E27FC236}">
                <a16:creationId xmlns:a16="http://schemas.microsoft.com/office/drawing/2014/main" id="{AF69A59F-C564-4A04-B1CC-31C26149999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56000" y="1195931"/>
            <a:ext cx="5545597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 Placeholder Left">
            <a:extLst>
              <a:ext uri="{FF2B5EF4-FFF2-40B4-BE49-F238E27FC236}">
                <a16:creationId xmlns:a16="http://schemas.microsoft.com/office/drawing/2014/main" id="{C8A626D2-456B-41EF-9818-EA8DD7E314D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402" y="1195931"/>
            <a:ext cx="5545598" cy="4957073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 dirty="0"/>
              <a:t>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Rectangle Top">
            <a:extLst>
              <a:ext uri="{FF2B5EF4-FFF2-40B4-BE49-F238E27FC236}">
                <a16:creationId xmlns:a16="http://schemas.microsoft.com/office/drawing/2014/main" id="{E03301DA-D0AF-46FD-8740-2F761250203A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5" name="Slide Title">
            <a:extLst>
              <a:ext uri="{FF2B5EF4-FFF2-40B4-BE49-F238E27FC236}">
                <a16:creationId xmlns:a16="http://schemas.microsoft.com/office/drawing/2014/main" id="{EA9A94D1-F9F6-4D7B-85E3-896A987B6A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5" y="100750"/>
            <a:ext cx="10270595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C9792D8-D354-4699-B7D6-B8CB7F7759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398753" y="5340443"/>
            <a:ext cx="1334859" cy="98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351E19-25DA-EAD2-9FBE-358B6135D72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03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">
            <a:extLst>
              <a:ext uri="{FF2B5EF4-FFF2-40B4-BE49-F238E27FC236}">
                <a16:creationId xmlns:a16="http://schemas.microsoft.com/office/drawing/2014/main" id="{F888EE71-82B3-40F1-A63F-7417422FB4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53030" y="6444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A2ABE920-240F-4CF6-AD45-23ED489FAD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69002" y="1353866"/>
            <a:ext cx="7426234" cy="5219931"/>
          </a:xfrm>
        </p:spPr>
        <p:txBody>
          <a:bodyPr/>
          <a:lstStyle>
            <a:lvl1pPr latinLnBrk="0">
              <a:defRPr/>
            </a:lvl1pPr>
            <a:lvl2pPr latinLnBrk="0">
              <a:defRPr/>
            </a:lvl2pPr>
            <a:lvl3pPr latinLnBrk="0">
              <a:defRPr/>
            </a:lvl3pPr>
            <a:lvl4pPr latinLnBrk="0">
              <a:defRPr/>
            </a:lvl4pPr>
            <a:lvl5pPr latinLnBrk="0">
              <a:defRPr/>
            </a:lvl5pPr>
          </a:lstStyle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Picture Placeholder Left"/>
          <p:cNvSpPr>
            <a:spLocks noGrp="1"/>
          </p:cNvSpPr>
          <p:nvPr>
            <p:ph type="pic" idx="1" hasCustomPrompt="1"/>
          </p:nvPr>
        </p:nvSpPr>
        <p:spPr>
          <a:xfrm>
            <a:off x="190405" y="1355077"/>
            <a:ext cx="3889373" cy="536640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anchor="ctr"/>
          <a:lstStyle>
            <a:lvl1pPr marL="0" indent="0" algn="ctr" latinLnBrk="0">
              <a:buNone/>
              <a:defRPr sz="2131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  <a:lvl2pPr marL="609219" indent="0">
              <a:buNone/>
              <a:defRPr sz="3731"/>
            </a:lvl2pPr>
            <a:lvl3pPr marL="1218438" indent="0">
              <a:buNone/>
              <a:defRPr sz="3198"/>
            </a:lvl3pPr>
            <a:lvl4pPr marL="1827657" indent="0">
              <a:buNone/>
              <a:defRPr sz="2665"/>
            </a:lvl4pPr>
            <a:lvl5pPr marL="2436876" indent="0">
              <a:buNone/>
              <a:defRPr sz="2665"/>
            </a:lvl5pPr>
            <a:lvl6pPr marL="3046096" indent="0">
              <a:buNone/>
              <a:defRPr sz="2665"/>
            </a:lvl6pPr>
            <a:lvl7pPr marL="3655315" indent="0">
              <a:buNone/>
              <a:defRPr sz="2665"/>
            </a:lvl7pPr>
            <a:lvl8pPr marL="4264533" indent="0">
              <a:buNone/>
              <a:defRPr sz="2665"/>
            </a:lvl8pPr>
            <a:lvl9pPr marL="4873752" indent="0">
              <a:buNone/>
              <a:defRPr sz="2665"/>
            </a:lvl9pPr>
          </a:lstStyle>
          <a:p>
            <a:r>
              <a:rPr lang="en-US" altLang="ko-KR" noProof="0"/>
              <a:t>Your Picture Here</a:t>
            </a:r>
          </a:p>
        </p:txBody>
      </p:sp>
      <p:sp>
        <p:nvSpPr>
          <p:cNvPr id="3" name="Rectangle Left Second"/>
          <p:cNvSpPr/>
          <p:nvPr/>
        </p:nvSpPr>
        <p:spPr>
          <a:xfrm>
            <a:off x="4127777" y="1748999"/>
            <a:ext cx="240001" cy="336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" name="Rectangle Left First"/>
          <p:cNvSpPr/>
          <p:nvPr/>
        </p:nvSpPr>
        <p:spPr>
          <a:xfrm>
            <a:off x="4079775" y="1355073"/>
            <a:ext cx="48001" cy="550292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0" name="Rectangle Down">
            <a:extLst>
              <a:ext uri="{FF2B5EF4-FFF2-40B4-BE49-F238E27FC236}">
                <a16:creationId xmlns:a16="http://schemas.microsoft.com/office/drawing/2014/main" id="{E9B994EC-35A8-4A11-98CB-25DC28852F94}"/>
              </a:ext>
            </a:extLst>
          </p:cNvPr>
          <p:cNvSpPr/>
          <p:nvPr/>
        </p:nvSpPr>
        <p:spPr>
          <a:xfrm>
            <a:off x="2" y="6721482"/>
            <a:ext cx="12192000" cy="1365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1" name="Rectangle Top">
            <a:extLst>
              <a:ext uri="{FF2B5EF4-FFF2-40B4-BE49-F238E27FC236}">
                <a16:creationId xmlns:a16="http://schemas.microsoft.com/office/drawing/2014/main" id="{274B8F05-DFCE-47BD-BAFD-DF93E1A63BDD}"/>
              </a:ext>
            </a:extLst>
          </p:cNvPr>
          <p:cNvSpPr/>
          <p:nvPr userDrawn="1"/>
        </p:nvSpPr>
        <p:spPr>
          <a:xfrm>
            <a:off x="0" y="0"/>
            <a:ext cx="12196800" cy="10953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13" name="Slide Title">
            <a:extLst>
              <a:ext uri="{FF2B5EF4-FFF2-40B4-BE49-F238E27FC236}">
                <a16:creationId xmlns:a16="http://schemas.microsoft.com/office/drawing/2014/main" id="{3F218E34-55D7-4290-BFE4-80F31F9415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0406" y="100750"/>
            <a:ext cx="10270594" cy="882654"/>
          </a:xfrm>
        </p:spPr>
        <p:txBody>
          <a:bodyPr/>
          <a:lstStyle>
            <a:lvl1pPr latinLnBrk="0">
              <a:defRPr>
                <a:solidFill>
                  <a:schemeClr val="bg2"/>
                </a:solidFill>
              </a:defRPr>
            </a:lvl1pPr>
          </a:lstStyle>
          <a:p>
            <a:r>
              <a:rPr lang="en-US" noProof="0" dirty="0"/>
              <a:t>Slide Title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F3DB3E-BDAA-8201-9A01-2F52640A84C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53573" y="368999"/>
            <a:ext cx="1443361" cy="36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019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Bottom">
            <a:extLst>
              <a:ext uri="{FF2B5EF4-FFF2-40B4-BE49-F238E27FC236}">
                <a16:creationId xmlns:a16="http://schemas.microsoft.com/office/drawing/2014/main" id="{550A59F9-9A9D-4956-95B4-F78CC0DB1D59}"/>
              </a:ext>
            </a:extLst>
          </p:cNvPr>
          <p:cNvSpPr/>
          <p:nvPr userDrawn="1"/>
        </p:nvSpPr>
        <p:spPr>
          <a:xfrm>
            <a:off x="0" y="6371332"/>
            <a:ext cx="12195176" cy="48723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385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398" b="0" i="0" u="none" strike="noStrike" kern="1200" cap="none" spc="0" normalizeH="0" baseline="0" noProof="0">
              <a:ln>
                <a:noFill/>
              </a:ln>
              <a:solidFill>
                <a:srgbClr val="F7C86D"/>
              </a:solidFill>
              <a:effectLst/>
              <a:uLnTx/>
              <a:uFillTx/>
              <a:latin typeface="Calibri" panose="020F0502020204030204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07753B-8639-4399-B782-EE5377184D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6988" y="1461842"/>
            <a:ext cx="10731663" cy="3047158"/>
          </a:xfrm>
        </p:spPr>
        <p:txBody>
          <a:bodyPr>
            <a:normAutofit/>
          </a:bodyPr>
          <a:lstStyle>
            <a:lvl1pPr algn="ctr">
              <a:defRPr sz="13800"/>
            </a:lvl1pPr>
          </a:lstStyle>
          <a:p>
            <a:r>
              <a:rPr lang="bg-BG" dirty="0"/>
              <a:t>Въпроси?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06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Body Text">
            <a:extLst>
              <a:ext uri="{FF2B5EF4-FFF2-40B4-BE49-F238E27FC236}">
                <a16:creationId xmlns:a16="http://schemas.microsoft.com/office/drawing/2014/main" id="{90CBFB32-9F46-4F2F-8A54-9EE8BED278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0404" y="1138844"/>
            <a:ext cx="11804830" cy="5530156"/>
          </a:xfrm>
          <a:prstGeom prst="rect">
            <a:avLst/>
          </a:prstGeom>
        </p:spPr>
        <p:txBody>
          <a:bodyPr vert="horz" lIns="108000" tIns="36000" rIns="108000" bIns="36000" rtlCol="0">
            <a:norm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dirty="0"/>
          </a:p>
        </p:txBody>
      </p:sp>
      <p:sp>
        <p:nvSpPr>
          <p:cNvPr id="10" name="Slide Title">
            <a:extLst>
              <a:ext uri="{FF2B5EF4-FFF2-40B4-BE49-F238E27FC236}">
                <a16:creationId xmlns:a16="http://schemas.microsoft.com/office/drawing/2014/main" id="{B770C392-3003-4C35-9625-BB041F82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405" y="100750"/>
            <a:ext cx="11804829" cy="882654"/>
          </a:xfrm>
          <a:prstGeom prst="rect">
            <a:avLst/>
          </a:prstGeom>
        </p:spPr>
        <p:txBody>
          <a:bodyPr vert="horz" lIns="108000" tIns="36000" rIns="108000" bIns="3600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6789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89" r:id="rId2"/>
    <p:sldLayoutId id="2147483681" r:id="rId3"/>
    <p:sldLayoutId id="2147483679" r:id="rId4"/>
    <p:sldLayoutId id="2147483680" r:id="rId5"/>
    <p:sldLayoutId id="2147483688" r:id="rId6"/>
    <p:sldLayoutId id="2147483684" r:id="rId7"/>
    <p:sldLayoutId id="2147483690" r:id="rId8"/>
    <p:sldLayoutId id="2147483677" r:id="rId9"/>
    <p:sldLayoutId id="2147483683" r:id="rId10"/>
    <p:sldLayoutId id="2147483685" r:id="rId11"/>
    <p:sldLayoutId id="2147483686" r:id="rId12"/>
  </p:sldLayoutIdLst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hf hdr="0" ftr="0" dt="0"/>
  <p:txStyles>
    <p:titleStyle>
      <a:lvl1pPr algn="l" defTabSz="1218438" rtl="0" eaLnBrk="1" latinLnBrk="0" hangingPunct="1">
        <a:spcBef>
          <a:spcPct val="0"/>
        </a:spcBef>
        <a:buNone/>
        <a:defRPr sz="3998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36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398" kern="1200">
          <a:solidFill>
            <a:schemeClr val="tx1"/>
          </a:solidFill>
          <a:latin typeface="+mn-lt"/>
          <a:ea typeface="+mn-ea"/>
          <a:cs typeface="+mn-cs"/>
        </a:defRPr>
      </a:lvl1pPr>
      <a:lvl2pPr marL="803275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3198" kern="1200">
          <a:solidFill>
            <a:schemeClr val="tx1"/>
          </a:solidFill>
          <a:latin typeface="+mn-lt"/>
          <a:ea typeface="+mn-ea"/>
          <a:cs typeface="+mn-cs"/>
        </a:defRPr>
      </a:lvl2pPr>
      <a:lvl3pPr marL="1255713" indent="-360363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998" kern="1200">
          <a:solidFill>
            <a:schemeClr val="tx1"/>
          </a:solidFill>
          <a:latin typeface="+mn-lt"/>
          <a:ea typeface="+mn-ea"/>
          <a:cs typeface="+mn-cs"/>
        </a:defRPr>
      </a:lvl3pPr>
      <a:lvl4pPr marL="1700213" indent="-352425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8988" indent="-266700" algn="l" defTabSz="1218438" rtl="0" eaLnBrk="1" latinLnBrk="0" hangingPunct="1">
        <a:lnSpc>
          <a:spcPct val="105000"/>
        </a:lnSpc>
        <a:spcBef>
          <a:spcPts val="600"/>
        </a:spcBef>
        <a:spcAft>
          <a:spcPts val="600"/>
        </a:spcAft>
        <a:buFont typeface="Wingdings" panose="05000000000000000000" pitchFamily="2" charset="2"/>
        <a:buChar char="§"/>
        <a:defRPr sz="2598" kern="1200">
          <a:solidFill>
            <a:schemeClr val="tx1"/>
          </a:solidFill>
          <a:latin typeface="+mn-lt"/>
          <a:ea typeface="+mn-ea"/>
          <a:cs typeface="+mn-cs"/>
        </a:defRPr>
      </a:lvl5pPr>
      <a:lvl6pPr marL="335070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6pPr>
      <a:lvl7pPr marL="3959924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7pPr>
      <a:lvl8pPr marL="4569143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8pPr>
      <a:lvl9pPr marL="5178362" indent="-304610" algn="l" defTabSz="1218438" rtl="0" eaLnBrk="1" latinLnBrk="1" hangingPunct="1">
        <a:spcBef>
          <a:spcPct val="20000"/>
        </a:spcBef>
        <a:buFont typeface="Arial" pitchFamily="34" charset="0"/>
        <a:buChar char="•"/>
        <a:defRPr sz="26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1pPr>
      <a:lvl2pPr marL="609219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218438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3pPr>
      <a:lvl4pPr marL="1827657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4pPr>
      <a:lvl5pPr marL="243687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5pPr>
      <a:lvl6pPr marL="3046096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6pPr>
      <a:lvl7pPr marL="3655315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7pPr>
      <a:lvl8pPr marL="4264533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8pPr>
      <a:lvl9pPr marL="4873752" algn="l" defTabSz="1218438" rtl="0" eaLnBrk="1" latinLnBrk="1" hangingPunct="1">
        <a:defRPr sz="23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184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www.joomla.org/" TargetMode="External"/><Relationship Id="rId7" Type="http://schemas.openxmlformats.org/officeDocument/2006/relationships/image" Target="../media/image24.png"/><Relationship Id="rId2" Type="http://schemas.openxmlformats.org/officeDocument/2006/relationships/hyperlink" Target="https://wordpress.org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hyperlink" Target="https://moodle.org/?lang=bg" TargetMode="External"/><Relationship Id="rId4" Type="http://schemas.openxmlformats.org/officeDocument/2006/relationships/hyperlink" Target="https://new.drupal.org/home" TargetMode="External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microsoft.com/office/2018/10/relationships/comments" Target="../comments/modernComment_37C_1F0789BD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press.com/" TargetMode="External"/><Relationship Id="rId2" Type="http://schemas.openxmlformats.org/officeDocument/2006/relationships/hyperlink" Target="https://wordpress.org/" TargetMode="Externa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wordpress.com/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G-IT-Edu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.png"/><Relationship Id="rId5" Type="http://schemas.openxmlformats.org/officeDocument/2006/relationships/hyperlink" Target="http://creativecommons.org/licenses/by-nc-sa/4.0/" TargetMode="External"/><Relationship Id="rId4" Type="http://schemas.openxmlformats.org/officeDocument/2006/relationships/hyperlink" Target="https://github.com/BG-IT-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hor Name">
            <a:extLst>
              <a:ext uri="{FF2B5EF4-FFF2-40B4-BE49-F238E27FC236}">
                <a16:creationId xmlns:a16="http://schemas.microsoft.com/office/drawing/2014/main" id="{FA396BB6-2053-4690-9672-BC528007D37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90120" y="6086106"/>
            <a:ext cx="5248260" cy="341313"/>
          </a:xfrm>
        </p:spPr>
        <p:txBody>
          <a:bodyPr>
            <a:normAutofit lnSpcReduction="10000"/>
          </a:bodyPr>
          <a:lstStyle/>
          <a:p>
            <a:r>
              <a:rPr lang="bg-BG" dirty="0"/>
              <a:t>Софтуерни и хардуерни науки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8DE66249-1FBD-414B-AF0D-550F7312AF7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90122" y="5698189"/>
            <a:ext cx="5248260" cy="374236"/>
          </a:xfrm>
        </p:spPr>
        <p:txBody>
          <a:bodyPr>
            <a:normAutofit lnSpcReduction="10000"/>
          </a:bodyPr>
          <a:lstStyle/>
          <a:p>
            <a:r>
              <a:rPr lang="bg-BG" dirty="0"/>
              <a:t>Курс </a:t>
            </a:r>
            <a:r>
              <a:rPr lang="en-US" dirty="0"/>
              <a:t>"</a:t>
            </a:r>
            <a:r>
              <a:rPr lang="bg-BG" dirty="0"/>
              <a:t>Информационни технологии"</a:t>
            </a:r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520F80DC-BAF0-05EE-2BC1-37C2321904F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4045" y="6085863"/>
            <a:ext cx="4751953" cy="341556"/>
          </a:xfrm>
        </p:spPr>
        <p:txBody>
          <a:bodyPr>
            <a:normAutofit lnSpcReduction="10000"/>
          </a:bodyPr>
          <a:lstStyle/>
          <a:p>
            <a:r>
              <a:rPr lang="en-US" dirty="0">
                <a:hlinkClick r:id="rId3"/>
              </a:rPr>
              <a:t>https://github.com/BG-IT-Edu</a:t>
            </a:r>
            <a:endParaRPr lang="en-US" dirty="0"/>
          </a:p>
        </p:txBody>
      </p:sp>
      <p:sp>
        <p:nvSpPr>
          <p:cNvPr id="40" name="Text Placeholder 39">
            <a:extLst>
              <a:ext uri="{FF2B5EF4-FFF2-40B4-BE49-F238E27FC236}">
                <a16:creationId xmlns:a16="http://schemas.microsoft.com/office/drawing/2014/main" id="{E4D839B2-02D1-883A-3CE0-7CF25557FB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34046" y="5251106"/>
            <a:ext cx="4751954" cy="724904"/>
          </a:xfrm>
        </p:spPr>
        <p:txBody>
          <a:bodyPr>
            <a:normAutofit/>
          </a:bodyPr>
          <a:lstStyle/>
          <a:p>
            <a:r>
              <a:rPr lang="bg-BG" dirty="0"/>
              <a:t>Проект "Отворено учебно съдържание по програмиране и ИТ", СофтУни Фондация </a:t>
            </a:r>
          </a:p>
        </p:txBody>
      </p:sp>
      <p:sp>
        <p:nvSpPr>
          <p:cNvPr id="3" name="Presentation Subtitle">
            <a:extLst>
              <a:ext uri="{FF2B5EF4-FFF2-40B4-BE49-F238E27FC236}">
                <a16:creationId xmlns:a16="http://schemas.microsoft.com/office/drawing/2014/main" id="{A004DC04-DA2A-41C0-8578-4B8D2F08EA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4746" y="1402942"/>
            <a:ext cx="11083636" cy="971589"/>
          </a:xfrm>
        </p:spPr>
        <p:txBody>
          <a:bodyPr>
            <a:noAutofit/>
          </a:bodyPr>
          <a:lstStyle/>
          <a:p>
            <a:r>
              <a:rPr lang="bg-BG" sz="4400" dirty="0"/>
              <a:t>Системи за управление на уеб съдържание</a:t>
            </a:r>
          </a:p>
        </p:txBody>
      </p:sp>
      <p:sp>
        <p:nvSpPr>
          <p:cNvPr id="2" name="Presentation Title">
            <a:extLst>
              <a:ext uri="{FF2B5EF4-FFF2-40B4-BE49-F238E27FC236}">
                <a16:creationId xmlns:a16="http://schemas.microsoft.com/office/drawing/2014/main" id="{37F91798-9AD5-4209-8887-958029548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46" y="321501"/>
            <a:ext cx="11083636" cy="971589"/>
          </a:xfrm>
        </p:spPr>
        <p:txBody>
          <a:bodyPr>
            <a:noAutofit/>
          </a:bodyPr>
          <a:lstStyle/>
          <a:p>
            <a:r>
              <a:rPr lang="en-US" sz="5200" dirty="0"/>
              <a:t>CMS. </a:t>
            </a:r>
            <a:r>
              <a:rPr lang="bg-BG" sz="5200" dirty="0"/>
              <a:t>Въведение в </a:t>
            </a:r>
            <a:r>
              <a:rPr lang="en-US" sz="5200" dirty="0"/>
              <a:t>WordPress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C89CDB-9A69-7B24-74E6-10BF87DE1C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1007" y="3056137"/>
            <a:ext cx="1819960" cy="849053"/>
          </a:xfrm>
          <a:prstGeom prst="rect">
            <a:avLst/>
          </a:prstGeom>
        </p:spPr>
      </p:pic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65A7B943-2054-66F4-2A2C-FDF92F380A9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66405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97"/>
    </mc:Choice>
    <mc:Fallback xmlns="">
      <p:transition spd="slow" advTm="2597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6A760D59-0056-4F39-B077-DBDBE3D2927E}"/>
              </a:ext>
            </a:extLst>
          </p:cNvPr>
          <p:cNvSpPr txBox="1">
            <a:spLocks/>
          </p:cNvSpPr>
          <p:nvPr/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BF067CD-8E6B-4360-9AA8-C5DF2A48A6D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444419" name="Slide Body"/>
          <p:cNvSpPr>
            <a:spLocks noGrp="1" noChangeArrowheads="1"/>
          </p:cNvSpPr>
          <p:nvPr>
            <p:ph type="body" sz="quarter" idx="13"/>
          </p:nvPr>
        </p:nvSpPr>
        <p:spPr>
          <a:xfrm>
            <a:off x="196766" y="1371604"/>
            <a:ext cx="11781606" cy="5207396"/>
          </a:xfrm>
        </p:spPr>
        <p:txBody>
          <a:bodyPr>
            <a:normAutofit fontScale="62500" lnSpcReduction="20000"/>
          </a:bodyPr>
          <a:lstStyle/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bg-BG" sz="3800" b="1" dirty="0">
                <a:solidFill>
                  <a:schemeClr val="bg1"/>
                </a:solidFill>
              </a:rPr>
              <a:t>Уеб съдържание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Същност </a:t>
            </a:r>
            <a:r>
              <a:rPr lang="bg-BG" sz="3600" dirty="0"/>
              <a:t>и</a:t>
            </a:r>
            <a:r>
              <a:rPr lang="bg-BG" sz="3600" b="1" dirty="0"/>
              <a:t> видове</a:t>
            </a:r>
          </a:p>
          <a:p>
            <a:pPr lvl="1">
              <a:buClr>
                <a:schemeClr val="tx1"/>
              </a:buClr>
            </a:pPr>
            <a:r>
              <a:rPr lang="bg-BG" sz="3600" b="1" dirty="0"/>
              <a:t>Етапи </a:t>
            </a:r>
            <a:r>
              <a:rPr lang="bg-BG" sz="3600" dirty="0"/>
              <a:t>при</a:t>
            </a:r>
            <a:r>
              <a:rPr lang="bg-BG" sz="3600" b="1" dirty="0"/>
              <a:t> управление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dirty="0"/>
              <a:t>на</a:t>
            </a:r>
            <a:r>
              <a:rPr lang="bg-BG" sz="3600" dirty="0">
                <a:solidFill>
                  <a:schemeClr val="bg1"/>
                </a:solidFill>
              </a:rPr>
              <a:t> </a:t>
            </a:r>
            <a:r>
              <a:rPr lang="bg-BG" sz="3600" b="1" dirty="0"/>
              <a:t>уеб съдържание</a:t>
            </a:r>
          </a:p>
          <a:p>
            <a:pPr>
              <a:buClr>
                <a:schemeClr val="tx1"/>
              </a:buClr>
            </a:pPr>
            <a:r>
              <a:rPr lang="bg-BG" sz="3800" dirty="0">
                <a:solidFill>
                  <a:schemeClr val="bg1"/>
                </a:solidFill>
              </a:rPr>
              <a:t>​</a:t>
            </a:r>
            <a:r>
              <a:rPr lang="en-US" sz="3800" b="1" dirty="0">
                <a:solidFill>
                  <a:schemeClr val="bg1"/>
                </a:solidFill>
              </a:rPr>
              <a:t>CMS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Въведение</a:t>
            </a:r>
            <a:r>
              <a:rPr lang="bg-BG" sz="3600" dirty="0"/>
              <a:t> и </a:t>
            </a:r>
            <a:r>
              <a:rPr lang="bg-BG" sz="3600" b="1" dirty="0"/>
              <a:t>предназначение</a:t>
            </a:r>
            <a:endParaRPr lang="en-US" sz="3600" b="1" dirty="0"/>
          </a:p>
          <a:p>
            <a:pPr lvl="1">
              <a:buClr>
                <a:schemeClr val="tx1"/>
              </a:buClr>
            </a:pPr>
            <a:r>
              <a:rPr lang="bg-BG" sz="3600" b="1" dirty="0"/>
              <a:t>Предимства</a:t>
            </a:r>
            <a:r>
              <a:rPr lang="bg-BG" sz="3600" dirty="0"/>
              <a:t> и </a:t>
            </a:r>
            <a:r>
              <a:rPr lang="bg-BG" sz="3600" b="1" dirty="0"/>
              <a:t>недостатъци</a:t>
            </a:r>
          </a:p>
          <a:p>
            <a:pPr>
              <a:buClr>
                <a:schemeClr val="tx1"/>
              </a:buClr>
            </a:pPr>
            <a:r>
              <a:rPr lang="bg-BG" sz="3800" dirty="0"/>
              <a:t>​</a:t>
            </a:r>
            <a:r>
              <a:rPr lang="bg-BG" sz="3800" b="1" dirty="0">
                <a:solidFill>
                  <a:schemeClr val="bg1"/>
                </a:solidFill>
              </a:rPr>
              <a:t>Архитектура на </a:t>
            </a:r>
            <a:r>
              <a:rPr lang="en-US" sz="3800" b="1" dirty="0">
                <a:solidFill>
                  <a:schemeClr val="bg1"/>
                </a:solidFill>
              </a:rPr>
              <a:t>CMS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Клиентски слой</a:t>
            </a:r>
            <a:r>
              <a:rPr lang="bg-BG" sz="3600" dirty="0"/>
              <a:t>, </a:t>
            </a:r>
            <a:r>
              <a:rPr lang="bg-BG" sz="3600" b="1" dirty="0"/>
              <a:t>бизнес слой</a:t>
            </a:r>
            <a:r>
              <a:rPr lang="bg-BG" sz="3600" dirty="0"/>
              <a:t>, </a:t>
            </a:r>
            <a:r>
              <a:rPr lang="bg-BG" sz="3600" b="1" dirty="0"/>
              <a:t>слой за данни</a:t>
            </a:r>
            <a:endParaRPr lang="bg-BG" sz="3600" b="1" dirty="0">
              <a:solidFill>
                <a:schemeClr val="bg1"/>
              </a:solidFill>
            </a:endParaRPr>
          </a:p>
          <a:p>
            <a:pPr>
              <a:buClr>
                <a:schemeClr val="tx1"/>
              </a:buClr>
            </a:pPr>
            <a:r>
              <a:rPr lang="bg-BG" sz="3800" dirty="0"/>
              <a:t>​​​</a:t>
            </a:r>
            <a:r>
              <a:rPr lang="bg-BG" sz="3800" b="1" dirty="0">
                <a:solidFill>
                  <a:schemeClr val="bg1"/>
                </a:solidFill>
              </a:rPr>
              <a:t>Въведение в </a:t>
            </a:r>
            <a:r>
              <a:rPr lang="en-US" sz="3800" b="1" dirty="0">
                <a:solidFill>
                  <a:schemeClr val="bg1"/>
                </a:solidFill>
              </a:rPr>
              <a:t>WordPress</a:t>
            </a:r>
            <a:endParaRPr lang="bg-BG" sz="3800" b="1" dirty="0">
              <a:solidFill>
                <a:schemeClr val="bg1"/>
              </a:solidFill>
            </a:endParaRPr>
          </a:p>
          <a:p>
            <a:pPr lvl="1">
              <a:buClr>
                <a:schemeClr val="tx1"/>
              </a:buClr>
            </a:pPr>
            <a:r>
              <a:rPr lang="bg-BG" sz="3600" b="1" dirty="0"/>
              <a:t>Основни възможности</a:t>
            </a:r>
            <a:endParaRPr lang="en-US" sz="3600" b="1" dirty="0"/>
          </a:p>
          <a:p>
            <a:pPr>
              <a:buClr>
                <a:schemeClr val="tx1"/>
              </a:buClr>
            </a:pPr>
            <a:r>
              <a:rPr lang="en-US" sz="4000" dirty="0">
                <a:solidFill>
                  <a:schemeClr val="bg1"/>
                </a:solidFill>
              </a:rPr>
              <a:t>​</a:t>
            </a:r>
            <a:r>
              <a:rPr lang="bg-BG" sz="4000" dirty="0">
                <a:highlight>
                  <a:srgbClr val="FFFF00"/>
                </a:highlight>
              </a:rPr>
              <a:t>​​​</a:t>
            </a:r>
            <a:r>
              <a:rPr lang="bg-BG" sz="4000" b="1" dirty="0"/>
              <a:t>Пример: </a:t>
            </a:r>
            <a:r>
              <a:rPr lang="bg-BG" sz="4000" dirty="0"/>
              <a:t>Създаване на </a:t>
            </a:r>
            <a:r>
              <a:rPr lang="en-US" sz="4000" dirty="0"/>
              <a:t>WordPress </a:t>
            </a:r>
            <a:r>
              <a:rPr lang="bg-BG" sz="4000" dirty="0"/>
              <a:t>сайт</a:t>
            </a:r>
          </a:p>
        </p:txBody>
      </p:sp>
      <p:sp>
        <p:nvSpPr>
          <p:cNvPr id="444418" name="Slide Title"/>
          <p:cNvSpPr>
            <a:spLocks noGrp="1" noChangeArrowheads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/>
              <a:t>Съдържание</a:t>
            </a:r>
            <a:endParaRPr lang="bg-B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698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6605"/>
    </mc:Choice>
    <mc:Fallback xmlns="">
      <p:transition spd="slow" advClick="0" advTm="66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441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Управление на уеб съдържание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Уеб съдържание</a:t>
            </a:r>
            <a:endParaRPr lang="en-US" sz="6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879FDE-AD15-7572-DB15-70698C5B11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76158" y="1629000"/>
            <a:ext cx="2639683" cy="225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19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Slide Body Text">
            <a:extLst>
              <a:ext uri="{FF2B5EF4-FFF2-40B4-BE49-F238E27FC236}">
                <a16:creationId xmlns:a16="http://schemas.microsoft.com/office/drawing/2014/main" id="{320B2856-CE5E-4934-BD1C-1D81E68E5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562628" cy="5528766"/>
          </a:xfrm>
        </p:spPr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Информацията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елементите</a:t>
            </a:r>
            <a:r>
              <a:rPr lang="bg-BG" sz="3000" dirty="0"/>
              <a:t>, представени в </a:t>
            </a:r>
            <a:r>
              <a:rPr lang="bg-BG" sz="3000" b="1" dirty="0"/>
              <a:t>уеб сайт</a:t>
            </a:r>
          </a:p>
          <a:p>
            <a:r>
              <a:rPr lang="bg-BG" sz="3000" dirty="0"/>
              <a:t>Представя </a:t>
            </a:r>
            <a:r>
              <a:rPr lang="bg-BG" sz="3000" b="1" dirty="0">
                <a:solidFill>
                  <a:schemeClr val="bg1"/>
                </a:solidFill>
              </a:rPr>
              <a:t>основната цел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/>
          <a:lstStyle/>
          <a:p>
            <a:r>
              <a:rPr lang="bg-BG" dirty="0"/>
              <a:t>Уеб съдържание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484D27-D076-ACBD-EC63-9812D87854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56" r="-182"/>
          <a:stretch/>
        </p:blipFill>
        <p:spPr>
          <a:xfrm>
            <a:off x="1275108" y="2460280"/>
            <a:ext cx="9641784" cy="426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955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5B2034-14F2-80D7-8939-2A7D9B7ADD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927C72-196F-7B39-A8F8-D592ACDA93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bg-BG" b="1" dirty="0">
                <a:solidFill>
                  <a:schemeClr val="bg1"/>
                </a:solidFill>
              </a:rPr>
              <a:t>Текстово</a:t>
            </a:r>
          </a:p>
          <a:p>
            <a:pPr lvl="1"/>
            <a:r>
              <a:rPr lang="bg-BG" b="1" dirty="0"/>
              <a:t>Заглавия</a:t>
            </a:r>
            <a:r>
              <a:rPr lang="bg-BG" dirty="0"/>
              <a:t>, </a:t>
            </a:r>
            <a:r>
              <a:rPr lang="bg-BG" b="1" dirty="0"/>
              <a:t>параграфи</a:t>
            </a:r>
            <a:r>
              <a:rPr lang="bg-BG" dirty="0"/>
              <a:t>, </a:t>
            </a:r>
            <a:r>
              <a:rPr lang="bg-BG" b="1" dirty="0"/>
              <a:t>списъци</a:t>
            </a:r>
            <a:r>
              <a:rPr lang="bg-BG" dirty="0"/>
              <a:t>, </a:t>
            </a:r>
            <a:r>
              <a:rPr lang="bg-BG" b="1" dirty="0"/>
              <a:t>таблици</a:t>
            </a:r>
          </a:p>
          <a:p>
            <a:r>
              <a:rPr lang="bg-BG" b="1" dirty="0">
                <a:solidFill>
                  <a:schemeClr val="bg1"/>
                </a:solidFill>
              </a:rPr>
              <a:t>Графично</a:t>
            </a:r>
          </a:p>
          <a:p>
            <a:pPr lvl="1"/>
            <a:r>
              <a:rPr lang="bg-BG" b="1" dirty="0"/>
              <a:t>Изображения</a:t>
            </a:r>
            <a:r>
              <a:rPr lang="bg-BG" dirty="0"/>
              <a:t>, </a:t>
            </a:r>
            <a:r>
              <a:rPr lang="bg-BG" b="1" dirty="0"/>
              <a:t>икони</a:t>
            </a:r>
            <a:r>
              <a:rPr lang="bg-BG" dirty="0"/>
              <a:t>, </a:t>
            </a:r>
            <a:r>
              <a:rPr lang="bg-BG" b="1" dirty="0"/>
              <a:t>лога</a:t>
            </a:r>
            <a:r>
              <a:rPr lang="bg-BG" dirty="0"/>
              <a:t>, </a:t>
            </a:r>
            <a:r>
              <a:rPr lang="bg-BG" b="1" dirty="0"/>
              <a:t>схеми</a:t>
            </a:r>
          </a:p>
          <a:p>
            <a:r>
              <a:rPr lang="bg-BG" b="1" dirty="0">
                <a:solidFill>
                  <a:schemeClr val="bg1"/>
                </a:solidFill>
              </a:rPr>
              <a:t>Аудио-визуално</a:t>
            </a:r>
          </a:p>
          <a:p>
            <a:pPr lvl="1"/>
            <a:r>
              <a:rPr lang="bg-BG" b="1" dirty="0"/>
              <a:t>Аудио</a:t>
            </a:r>
            <a:r>
              <a:rPr lang="bg-BG" dirty="0"/>
              <a:t>, </a:t>
            </a:r>
            <a:r>
              <a:rPr lang="bg-BG" b="1" dirty="0"/>
              <a:t>видео</a:t>
            </a:r>
            <a:r>
              <a:rPr lang="bg-BG" dirty="0"/>
              <a:t>, </a:t>
            </a:r>
            <a:r>
              <a:rPr lang="bg-BG" b="1" dirty="0"/>
              <a:t>анимации</a:t>
            </a:r>
          </a:p>
          <a:p>
            <a:r>
              <a:rPr lang="bg-BG" b="1" dirty="0">
                <a:solidFill>
                  <a:schemeClr val="bg1"/>
                </a:solidFill>
              </a:rPr>
              <a:t>Интерактивно</a:t>
            </a:r>
          </a:p>
          <a:p>
            <a:pPr lvl="1"/>
            <a:r>
              <a:rPr lang="bg-BG" b="1" dirty="0"/>
              <a:t>Форми</a:t>
            </a:r>
            <a:r>
              <a:rPr lang="bg-BG" dirty="0"/>
              <a:t>, </a:t>
            </a:r>
            <a:r>
              <a:rPr lang="bg-BG" b="1" dirty="0"/>
              <a:t>бутони</a:t>
            </a:r>
            <a:r>
              <a:rPr lang="bg-BG" dirty="0"/>
              <a:t>, </a:t>
            </a:r>
            <a:r>
              <a:rPr lang="bg-BG" b="1" dirty="0"/>
              <a:t>менюта</a:t>
            </a:r>
            <a:r>
              <a:rPr lang="bg-BG" dirty="0"/>
              <a:t>, </a:t>
            </a:r>
            <a:r>
              <a:rPr lang="bg-BG" b="1" dirty="0"/>
              <a:t>хипервръзки</a:t>
            </a:r>
            <a:endParaRPr lang="en-BG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45FC12-8284-0B12-C8EC-85F0249D0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Видове уеб съдържание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D489CA-B279-4BC4-3FA0-FFF87442D9F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43581" y="1196125"/>
            <a:ext cx="1507419" cy="15981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9A5CBE-382D-A11E-70C7-88C23C1CE7D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65219" y="2306708"/>
            <a:ext cx="1710000" cy="154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CCA212-9D48-BB91-7C62-9D943EEACD1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77820" y="3699000"/>
            <a:ext cx="1890000" cy="154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D87486B-AAC6-C7C9-5883-84110912AC2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65219" y="4702411"/>
            <a:ext cx="1890001" cy="195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982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5817F22B-2B9E-69CA-015F-4F7BA14A701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1000" y="5730518"/>
            <a:ext cx="2725098" cy="803482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36EE42-462D-ADF1-958D-891D8265D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174F8-CC61-813B-0FF9-075C4B18E8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Създаване</a:t>
            </a:r>
          </a:p>
          <a:p>
            <a:pPr lvl="1"/>
            <a:r>
              <a:rPr lang="bg-BG" sz="2800" dirty="0"/>
              <a:t>Подготвя се </a:t>
            </a:r>
            <a:r>
              <a:rPr lang="bg-BG" sz="2800" b="1" dirty="0">
                <a:solidFill>
                  <a:schemeClr val="bg1"/>
                </a:solidFill>
              </a:rPr>
              <a:t>ново съдържание </a:t>
            </a:r>
            <a:r>
              <a:rPr lang="bg-BG" sz="2800" dirty="0"/>
              <a:t>за </a:t>
            </a:r>
            <a:r>
              <a:rPr lang="bg-BG" sz="2800" b="1" dirty="0"/>
              <a:t>уеб сайта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Редактиране</a:t>
            </a:r>
          </a:p>
          <a:p>
            <a:pPr lvl="1"/>
            <a:r>
              <a:rPr lang="bg-BG" sz="2800" b="1" dirty="0"/>
              <a:t>Текстът</a:t>
            </a:r>
            <a:r>
              <a:rPr lang="bg-BG" sz="2800" dirty="0"/>
              <a:t> и останалите</a:t>
            </a:r>
            <a:r>
              <a:rPr lang="bg-BG" sz="2800" b="1" dirty="0"/>
              <a:t> елементи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проверяват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променят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Публикуване</a:t>
            </a:r>
          </a:p>
          <a:p>
            <a:pPr lvl="1"/>
            <a:r>
              <a:rPr lang="bg-BG" sz="2800" b="1" dirty="0"/>
              <a:t>Готовото съдържание </a:t>
            </a:r>
            <a:r>
              <a:rPr lang="bg-BG" sz="2800" dirty="0"/>
              <a:t>става </a:t>
            </a:r>
            <a:r>
              <a:rPr lang="bg-BG" sz="2800" b="1" dirty="0">
                <a:solidFill>
                  <a:schemeClr val="bg1"/>
                </a:solidFill>
              </a:rPr>
              <a:t>достъпно</a:t>
            </a:r>
            <a:r>
              <a:rPr lang="bg-BG" sz="2800" dirty="0"/>
              <a:t> за </a:t>
            </a:r>
            <a:r>
              <a:rPr lang="bg-BG" sz="2800" b="1" dirty="0"/>
              <a:t>посетителите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Обновяване</a:t>
            </a:r>
          </a:p>
          <a:p>
            <a:pPr lvl="1"/>
            <a:r>
              <a:rPr lang="bg-BG" sz="2800" b="1" dirty="0"/>
              <a:t>Публикуваното съдържание </a:t>
            </a:r>
            <a:r>
              <a:rPr lang="bg-BG" sz="2800" dirty="0"/>
              <a:t>се </a:t>
            </a:r>
            <a:r>
              <a:rPr lang="bg-BG" sz="2800" b="1" dirty="0">
                <a:solidFill>
                  <a:schemeClr val="bg1"/>
                </a:solidFill>
              </a:rPr>
              <a:t>допълва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актуализира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Премахване</a:t>
            </a:r>
          </a:p>
          <a:p>
            <a:pPr lvl="1"/>
            <a:r>
              <a:rPr lang="bg-BG" sz="2800" b="1" dirty="0"/>
              <a:t>Неактуалното</a:t>
            </a:r>
            <a:r>
              <a:rPr lang="bg-BG" sz="2800" dirty="0"/>
              <a:t> или </a:t>
            </a:r>
            <a:r>
              <a:rPr lang="bg-BG" sz="2800" b="1" dirty="0"/>
              <a:t>ненужното</a:t>
            </a:r>
            <a:r>
              <a:rPr lang="bg-BG" sz="2800" dirty="0"/>
              <a:t> </a:t>
            </a:r>
            <a:r>
              <a:rPr lang="bg-BG" sz="2800" b="1" dirty="0"/>
              <a:t>съдържание</a:t>
            </a:r>
            <a:r>
              <a:rPr lang="bg-BG" sz="2800" dirty="0"/>
              <a:t> се </a:t>
            </a:r>
            <a:r>
              <a:rPr lang="bg-BG" sz="2800" b="1" dirty="0">
                <a:solidFill>
                  <a:schemeClr val="bg1"/>
                </a:solidFill>
              </a:rPr>
              <a:t>изтрива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5D416C-6BD1-A021-F0C6-501578411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Етапи при управление на уеб съдържание</a:t>
            </a:r>
            <a:endParaRPr lang="en-BG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D88EFC2-92EA-7AF2-A2EA-A781D630345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14362" y="1224000"/>
            <a:ext cx="2694136" cy="10973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031FE4F-3061-4A6E-A45A-102CBE2645E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466902" y="2321300"/>
            <a:ext cx="2546618" cy="10973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87395C3-99F4-65C6-5C07-8B3626D78BF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36000" y="3436797"/>
            <a:ext cx="2694136" cy="1125537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D93F4C4-B39A-C72F-51AF-4C36DE43CFE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3932" y="4580531"/>
            <a:ext cx="2732030" cy="1125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33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000" dirty="0"/>
              <a:t>Система за управление на уеб съдържание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en-US" sz="4400" dirty="0"/>
              <a:t>CMS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E6C2CA-5DB8-658B-50F8-B529194DF5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6107" y="1584000"/>
            <a:ext cx="2999786" cy="211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21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7B6A643-676D-3506-B008-B24B36AA3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CMS</a:t>
            </a:r>
            <a:endParaRPr lang="en-BG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28766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CMS </a:t>
            </a:r>
            <a:r>
              <a:rPr lang="en-US" sz="3200" b="1" dirty="0"/>
              <a:t>(</a:t>
            </a:r>
            <a:r>
              <a:rPr lang="en-GB" sz="3200" b="1" dirty="0">
                <a:solidFill>
                  <a:schemeClr val="bg1"/>
                </a:solidFill>
              </a:rPr>
              <a:t>C</a:t>
            </a:r>
            <a:r>
              <a:rPr lang="en-GB" sz="3200" b="1" dirty="0"/>
              <a:t>ontent </a:t>
            </a:r>
            <a:r>
              <a:rPr lang="en-GB" sz="3200" b="1" dirty="0">
                <a:solidFill>
                  <a:schemeClr val="bg1"/>
                </a:solidFill>
              </a:rPr>
              <a:t>M</a:t>
            </a:r>
            <a:r>
              <a:rPr lang="en-GB" sz="3200" b="1" dirty="0"/>
              <a:t>anagement </a:t>
            </a:r>
            <a:r>
              <a:rPr lang="en-GB" sz="3200" b="1" dirty="0">
                <a:solidFill>
                  <a:schemeClr val="bg1"/>
                </a:solidFill>
              </a:rPr>
              <a:t>S</a:t>
            </a:r>
            <a:r>
              <a:rPr lang="en-GB" sz="3200" b="1" dirty="0"/>
              <a:t>ystem</a:t>
            </a:r>
            <a:r>
              <a:rPr lang="en-US" sz="3200" b="1" dirty="0"/>
              <a:t>)</a:t>
            </a:r>
            <a:endParaRPr lang="bg-BG" sz="3200" b="1" dirty="0"/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Система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управление</a:t>
            </a:r>
            <a:r>
              <a:rPr lang="bg-BG" sz="2800" dirty="0"/>
              <a:t> на </a:t>
            </a:r>
            <a:r>
              <a:rPr lang="bg-BG" sz="2800" b="1" dirty="0"/>
              <a:t>уеб съдържание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Софтуер</a:t>
            </a:r>
            <a:r>
              <a:rPr lang="bg-BG" sz="2800" dirty="0"/>
              <a:t> за </a:t>
            </a:r>
            <a:r>
              <a:rPr lang="bg-BG" sz="2800" b="1" dirty="0">
                <a:solidFill>
                  <a:schemeClr val="bg1"/>
                </a:solidFill>
              </a:rPr>
              <a:t>създаване</a:t>
            </a:r>
            <a:r>
              <a:rPr lang="bg-BG" sz="2800" dirty="0"/>
              <a:t> и </a:t>
            </a:r>
            <a:r>
              <a:rPr lang="bg-BG" sz="2800" b="1" dirty="0">
                <a:solidFill>
                  <a:schemeClr val="bg1"/>
                </a:solidFill>
              </a:rPr>
              <a:t>поддържане</a:t>
            </a:r>
            <a:r>
              <a:rPr lang="bg-BG" sz="2800" dirty="0"/>
              <a:t> на </a:t>
            </a:r>
            <a:r>
              <a:rPr lang="bg-BG" sz="2800" b="1" dirty="0"/>
              <a:t>уеб сайтове</a:t>
            </a:r>
          </a:p>
          <a:p>
            <a:pPr lvl="1"/>
            <a:r>
              <a:rPr lang="bg-BG" sz="2800" b="1" dirty="0"/>
              <a:t>Съдържанието</a:t>
            </a:r>
            <a:r>
              <a:rPr lang="bg-BG" sz="2800" dirty="0"/>
              <a:t> се </a:t>
            </a:r>
            <a:r>
              <a:rPr lang="bg-BG" sz="2800" b="1" dirty="0"/>
              <a:t>управлява</a:t>
            </a:r>
            <a:r>
              <a:rPr lang="bg-BG" sz="2800" dirty="0"/>
              <a:t> от </a:t>
            </a:r>
            <a:r>
              <a:rPr lang="bg-BG" sz="2800" b="1" dirty="0">
                <a:solidFill>
                  <a:schemeClr val="bg1"/>
                </a:solidFill>
              </a:rPr>
              <a:t>административен панел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1E71F3-928F-2FA4-62D6-A88F7B75B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3053" y="4113754"/>
            <a:ext cx="5045894" cy="2650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330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EB7D37-A46F-2235-856E-9C91DD4365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A86528-BDC3-53EC-C164-B913966356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При </a:t>
            </a:r>
            <a:r>
              <a:rPr lang="bg-BG" sz="3000" b="1" dirty="0"/>
              <a:t>уеб</a:t>
            </a:r>
            <a:r>
              <a:rPr lang="bg-BG" sz="3000" dirty="0"/>
              <a:t> </a:t>
            </a:r>
            <a:r>
              <a:rPr lang="bg-BG" sz="3000" b="1" dirty="0"/>
              <a:t>сайтове</a:t>
            </a:r>
            <a:r>
              <a:rPr lang="bg-BG" sz="3000" dirty="0"/>
              <a:t> с </a:t>
            </a:r>
            <a:r>
              <a:rPr lang="bg-BG" sz="3000" b="1" dirty="0">
                <a:solidFill>
                  <a:schemeClr val="bg1"/>
                </a:solidFill>
              </a:rPr>
              <a:t>често обновявано </a:t>
            </a:r>
            <a:r>
              <a:rPr lang="bg-BG" sz="3000" b="1" dirty="0"/>
              <a:t>съдържание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работа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няколко администратори</a:t>
            </a:r>
          </a:p>
          <a:p>
            <a:r>
              <a:rPr lang="bg-BG" sz="3000" dirty="0"/>
              <a:t>При </a:t>
            </a:r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голям брой страници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блогове</a:t>
            </a:r>
            <a:r>
              <a:rPr lang="bg-BG" sz="3000" dirty="0"/>
              <a:t>, </a:t>
            </a:r>
            <a:r>
              <a:rPr lang="bg-BG" sz="3000" b="1" dirty="0"/>
              <a:t>фирмени</a:t>
            </a:r>
            <a:r>
              <a:rPr lang="bg-BG" sz="3000" dirty="0"/>
              <a:t>, </a:t>
            </a:r>
            <a:r>
              <a:rPr lang="bg-BG" sz="3000" b="1" dirty="0"/>
              <a:t>новинарски</a:t>
            </a:r>
            <a:r>
              <a:rPr lang="bg-BG" sz="3000" dirty="0"/>
              <a:t> и </a:t>
            </a:r>
            <a:r>
              <a:rPr lang="bg-BG" sz="3000" b="1" dirty="0"/>
              <a:t>училищни уеб сайтове</a:t>
            </a:r>
          </a:p>
          <a:p>
            <a:r>
              <a:rPr lang="bg-BG" sz="3000" dirty="0"/>
              <a:t>За </a:t>
            </a:r>
            <a:r>
              <a:rPr lang="bg-BG" sz="3000" b="1" dirty="0"/>
              <a:t>онлайн магазини </a:t>
            </a:r>
            <a:r>
              <a:rPr lang="bg-BG" sz="3000" dirty="0"/>
              <a:t>и други </a:t>
            </a:r>
            <a:r>
              <a:rPr lang="bg-BG" sz="3000" b="1" dirty="0">
                <a:solidFill>
                  <a:schemeClr val="bg1"/>
                </a:solidFill>
              </a:rPr>
              <a:t>динамични уеб сайтове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2494CCA-DFE5-DB00-0451-49EC7BDD6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Предназначение на </a:t>
            </a:r>
            <a:r>
              <a:rPr lang="en-US" dirty="0"/>
              <a:t>CMS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BF26FF-75CA-2880-9191-142E9CDB11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5063"/>
          <a:stretch/>
        </p:blipFill>
        <p:spPr>
          <a:xfrm>
            <a:off x="4047496" y="4254245"/>
            <a:ext cx="4097008" cy="2470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329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FE5CC5-0FF7-53F8-195E-D6FE197C2C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8F0A8B6-23C6-3B1A-3D38-D542F21CD5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sz="3000" b="1" dirty="0"/>
              <a:t>WordPress</a:t>
            </a:r>
            <a:r>
              <a:rPr lang="en-US" sz="3000" dirty="0"/>
              <a:t> </a:t>
            </a:r>
            <a:r>
              <a:rPr lang="en-GB" sz="3200" dirty="0"/>
              <a:t>– </a:t>
            </a:r>
            <a:r>
              <a:rPr lang="en-US" sz="3200" dirty="0"/>
              <a:t>(</a:t>
            </a:r>
            <a:r>
              <a:rPr lang="en-US" sz="3200" dirty="0">
                <a:hlinkClick r:id="rId2"/>
              </a:rPr>
              <a:t>wordpress.org</a:t>
            </a:r>
            <a:r>
              <a:rPr lang="en-US" sz="3200" dirty="0"/>
              <a:t>)</a:t>
            </a:r>
            <a:endParaRPr lang="en-US" sz="3000" dirty="0"/>
          </a:p>
          <a:p>
            <a:pPr lvl="1"/>
            <a:r>
              <a:rPr lang="bg-BG" sz="2800" dirty="0"/>
              <a:t>Подходящ за </a:t>
            </a:r>
            <a:r>
              <a:rPr lang="bg-BG" sz="2800" b="1" dirty="0">
                <a:solidFill>
                  <a:schemeClr val="bg1"/>
                </a:solidFill>
              </a:rPr>
              <a:t>различни видове </a:t>
            </a:r>
            <a:r>
              <a:rPr lang="bg-BG" sz="2800" b="1" dirty="0"/>
              <a:t>уеб сайтове</a:t>
            </a:r>
          </a:p>
          <a:p>
            <a:r>
              <a:rPr lang="en-US" sz="3000" b="1" dirty="0"/>
              <a:t>Joomla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3"/>
              </a:rPr>
              <a:t>joomla.org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Използва се за </a:t>
            </a:r>
            <a:r>
              <a:rPr lang="bg-BG" sz="2800" b="1" dirty="0"/>
              <a:t>уеб сайтове </a:t>
            </a:r>
            <a:r>
              <a:rPr lang="bg-BG" sz="2800" dirty="0"/>
              <a:t>и </a:t>
            </a:r>
            <a:r>
              <a:rPr lang="bg-BG" sz="2800" b="1" dirty="0">
                <a:solidFill>
                  <a:schemeClr val="bg1"/>
                </a:solidFill>
              </a:rPr>
              <a:t>информационни портали</a:t>
            </a:r>
          </a:p>
          <a:p>
            <a:r>
              <a:rPr lang="en-US" sz="3000" b="1" dirty="0"/>
              <a:t>Drupal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4"/>
              </a:rPr>
              <a:t>drupal.org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Подходящ за </a:t>
            </a:r>
            <a:r>
              <a:rPr lang="bg-BG" sz="2800" b="1" dirty="0">
                <a:solidFill>
                  <a:schemeClr val="bg1"/>
                </a:solidFill>
              </a:rPr>
              <a:t>по</a:t>
            </a:r>
            <a:r>
              <a:rPr lang="en-US" sz="2800" b="1" dirty="0">
                <a:solidFill>
                  <a:schemeClr val="bg1"/>
                </a:solidFill>
              </a:rPr>
              <a:t>-</a:t>
            </a:r>
            <a:r>
              <a:rPr lang="bg-BG" sz="2800" b="1" dirty="0">
                <a:solidFill>
                  <a:schemeClr val="bg1"/>
                </a:solidFill>
              </a:rPr>
              <a:t>големи</a:t>
            </a:r>
            <a:r>
              <a:rPr lang="bg-BG" sz="2800" b="1" dirty="0"/>
              <a:t> уеб проекти</a:t>
            </a:r>
          </a:p>
          <a:p>
            <a:r>
              <a:rPr lang="en-US" sz="3000" b="1" dirty="0"/>
              <a:t>Moodle</a:t>
            </a:r>
            <a:r>
              <a:rPr lang="en-US" sz="3000" dirty="0"/>
              <a:t> </a:t>
            </a:r>
            <a:r>
              <a:rPr lang="en-GB" sz="2800" dirty="0"/>
              <a:t>–</a:t>
            </a:r>
            <a:r>
              <a:rPr lang="en-US" sz="3000" dirty="0"/>
              <a:t> (</a:t>
            </a:r>
            <a:r>
              <a:rPr lang="en-US" sz="3000" dirty="0">
                <a:hlinkClick r:id="rId5"/>
              </a:rPr>
              <a:t>moodle.org</a:t>
            </a:r>
            <a:r>
              <a:rPr lang="en-US" sz="3000" dirty="0"/>
              <a:t>)</a:t>
            </a:r>
          </a:p>
          <a:p>
            <a:pPr lvl="1"/>
            <a:r>
              <a:rPr lang="bg-BG" sz="2800" dirty="0"/>
              <a:t>Използва се за </a:t>
            </a:r>
            <a:r>
              <a:rPr lang="bg-BG" sz="2800" b="1" dirty="0">
                <a:solidFill>
                  <a:schemeClr val="bg1"/>
                </a:solidFill>
              </a:rPr>
              <a:t>учебно съдържание </a:t>
            </a:r>
            <a:r>
              <a:rPr lang="bg-BG" sz="2800" dirty="0"/>
              <a:t>и </a:t>
            </a:r>
            <a:r>
              <a:rPr lang="bg-BG" sz="2800" b="1" dirty="0"/>
              <a:t>онлайн курсове</a:t>
            </a:r>
            <a:endParaRPr lang="en-BG" sz="2800" b="1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3EFB438-74D5-96D2-FAB8-2F50B6643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Примери за </a:t>
            </a:r>
            <a:r>
              <a:rPr lang="en-BG" dirty="0"/>
              <a:t>CMS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784C3A-D497-0C18-FFF8-466817174D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44674" y="4824000"/>
            <a:ext cx="1449300" cy="14493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1C4CD1-C295-123B-37F8-3C70ECD666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7814" y="3789000"/>
            <a:ext cx="962182" cy="1260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3854623-66AE-A06C-7C2E-47BE9687F83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74238" y="2624668"/>
            <a:ext cx="1590172" cy="160866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FCD7CE-EAAC-8AA8-7148-FB7F030B6D5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618371" y="1196125"/>
            <a:ext cx="1350000" cy="1370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933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CB472D-F0D1-A494-B5A0-FB2E80B80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00B76B3-4256-A073-A22C-91604436026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736000" y="1195931"/>
            <a:ext cx="6265598" cy="4957073"/>
          </a:xfrm>
        </p:spPr>
        <p:txBody>
          <a:bodyPr>
            <a:normAutofit/>
          </a:bodyPr>
          <a:lstStyle/>
          <a:p>
            <a:r>
              <a:rPr lang="bg-BG" sz="2900" b="1" dirty="0"/>
              <a:t>Недостатъци</a:t>
            </a:r>
          </a:p>
          <a:p>
            <a:pPr lvl="1"/>
            <a:r>
              <a:rPr lang="bg-BG" sz="2600" b="1" dirty="0"/>
              <a:t>Нужда</a:t>
            </a:r>
            <a:r>
              <a:rPr lang="bg-BG" sz="2600" dirty="0"/>
              <a:t> от </a:t>
            </a:r>
            <a:r>
              <a:rPr lang="bg-BG" sz="2600" b="1" dirty="0">
                <a:solidFill>
                  <a:schemeClr val="bg1"/>
                </a:solidFill>
              </a:rPr>
              <a:t>редовни актуализации</a:t>
            </a:r>
          </a:p>
          <a:p>
            <a:pPr lvl="1"/>
            <a:r>
              <a:rPr lang="bg-BG" sz="2600" b="1" dirty="0"/>
              <a:t>Зависимост</a:t>
            </a:r>
            <a:r>
              <a:rPr lang="bg-BG" sz="2600" dirty="0"/>
              <a:t> от </a:t>
            </a:r>
            <a:r>
              <a:rPr lang="bg-BG" sz="2600" b="1" dirty="0">
                <a:solidFill>
                  <a:schemeClr val="bg1"/>
                </a:solidFill>
              </a:rPr>
              <a:t>теми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добавки</a:t>
            </a:r>
          </a:p>
          <a:p>
            <a:pPr lvl="1"/>
            <a:r>
              <a:rPr lang="bg-BG" sz="2600" b="1" dirty="0"/>
              <a:t>Риск</a:t>
            </a:r>
            <a:r>
              <a:rPr lang="bg-BG" sz="2600" dirty="0"/>
              <a:t> при </a:t>
            </a:r>
            <a:r>
              <a:rPr lang="bg-BG" sz="2600" b="1" dirty="0">
                <a:solidFill>
                  <a:schemeClr val="bg1"/>
                </a:solidFill>
              </a:rPr>
              <a:t>остарели компоненти</a:t>
            </a:r>
          </a:p>
          <a:p>
            <a:pPr lvl="1">
              <a:buClr>
                <a:schemeClr val="tx1"/>
              </a:buClr>
            </a:pPr>
            <a:r>
              <a:rPr lang="bg-BG" sz="2600" b="1" dirty="0">
                <a:solidFill>
                  <a:schemeClr val="bg1"/>
                </a:solidFill>
              </a:rPr>
              <a:t>По-ограничен контрол </a:t>
            </a:r>
            <a:r>
              <a:rPr lang="bg-BG" sz="2600" dirty="0"/>
              <a:t>върху </a:t>
            </a:r>
            <a:r>
              <a:rPr lang="bg-BG" sz="2600" b="1" dirty="0"/>
              <a:t>кода</a:t>
            </a:r>
            <a:endParaRPr lang="en-BG" sz="2600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172C9-6A08-089B-FA9E-6732FCFDBA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1001" y="1195931"/>
            <a:ext cx="6119999" cy="4957073"/>
          </a:xfrm>
        </p:spPr>
        <p:txBody>
          <a:bodyPr>
            <a:normAutofit/>
          </a:bodyPr>
          <a:lstStyle/>
          <a:p>
            <a:r>
              <a:rPr lang="bg-BG" sz="3100" b="1" dirty="0"/>
              <a:t>Предимства</a:t>
            </a:r>
          </a:p>
          <a:p>
            <a:pPr lvl="1"/>
            <a:r>
              <a:rPr lang="bg-BG" sz="2600" b="1" dirty="0"/>
              <a:t>Лесна работа </a:t>
            </a:r>
            <a:r>
              <a:rPr lang="bg-BG" sz="2600" b="1" dirty="0">
                <a:solidFill>
                  <a:schemeClr val="bg1"/>
                </a:solidFill>
              </a:rPr>
              <a:t>без писане на код</a:t>
            </a:r>
          </a:p>
          <a:p>
            <a:pPr lvl="1">
              <a:buClr>
                <a:schemeClr val="tx1"/>
              </a:buClr>
            </a:pPr>
            <a:r>
              <a:rPr lang="bg-BG" sz="2600" b="1" dirty="0">
                <a:solidFill>
                  <a:schemeClr val="bg1"/>
                </a:solidFill>
              </a:rPr>
              <a:t>Бързо създаване </a:t>
            </a:r>
            <a:r>
              <a:rPr lang="bg-BG" sz="2600" dirty="0"/>
              <a:t>на </a:t>
            </a:r>
            <a:r>
              <a:rPr lang="bg-BG" sz="2600" b="1" dirty="0"/>
              <a:t>уеб сайт</a:t>
            </a:r>
          </a:p>
          <a:p>
            <a:pPr lvl="1"/>
            <a:r>
              <a:rPr lang="bg-BG" sz="2600" b="1" dirty="0"/>
              <a:t>Работа</a:t>
            </a:r>
            <a:r>
              <a:rPr lang="bg-BG" sz="2600" dirty="0"/>
              <a:t> на няколко </a:t>
            </a:r>
            <a:r>
              <a:rPr lang="bg-BG" sz="2600" b="1" dirty="0">
                <a:solidFill>
                  <a:schemeClr val="bg1"/>
                </a:solidFill>
              </a:rPr>
              <a:t>администратори</a:t>
            </a:r>
          </a:p>
          <a:p>
            <a:pPr lvl="1"/>
            <a:r>
              <a:rPr lang="bg-BG" sz="2600" b="1" dirty="0"/>
              <a:t>Разширяване</a:t>
            </a:r>
            <a:r>
              <a:rPr lang="bg-BG" sz="2600" dirty="0"/>
              <a:t> с </a:t>
            </a:r>
            <a:r>
              <a:rPr lang="bg-BG" sz="2600" b="1" dirty="0">
                <a:solidFill>
                  <a:schemeClr val="bg1"/>
                </a:solidFill>
              </a:rPr>
              <a:t>теми</a:t>
            </a:r>
            <a:r>
              <a:rPr lang="bg-BG" sz="2600" dirty="0"/>
              <a:t> и </a:t>
            </a:r>
            <a:r>
              <a:rPr lang="bg-BG" sz="2600" b="1" dirty="0">
                <a:solidFill>
                  <a:schemeClr val="bg1"/>
                </a:solidFill>
              </a:rPr>
              <a:t>добавки</a:t>
            </a:r>
          </a:p>
          <a:p>
            <a:pPr lvl="1"/>
            <a:endParaRPr lang="en-B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B944944-4061-E5E2-7148-A3461233B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Предимства и недостатъци</a:t>
            </a:r>
            <a:endParaRPr lang="en-BG" dirty="0"/>
          </a:p>
        </p:txBody>
      </p:sp>
    </p:spTree>
    <p:extLst>
      <p:ext uri="{BB962C8B-B14F-4D97-AF65-F5344CB8AC3E}">
        <p14:creationId xmlns:p14="http://schemas.microsoft.com/office/powerpoint/2010/main" val="37875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FEAF481-FF82-00D7-004E-5AF9569FD4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9C9A88B-B910-5F42-187E-574DFAB1D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CMS </a:t>
            </a:r>
            <a:r>
              <a:rPr lang="en-GB" sz="4000" dirty="0"/>
              <a:t>–</a:t>
            </a:r>
            <a:r>
              <a:rPr lang="bg-BG" dirty="0"/>
              <a:t> Пример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0822C-6D75-9588-B4BC-F2CEEF983A7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90406" y="1221986"/>
            <a:ext cx="5729887" cy="54335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0C922D-2C63-223A-F53C-5F0BB09A273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273229" y="1221986"/>
            <a:ext cx="4532030" cy="5541333"/>
          </a:xfrm>
          <a:prstGeom prst="rect">
            <a:avLst/>
          </a:prstGeom>
        </p:spPr>
      </p:pic>
      <p:sp>
        <p:nvSpPr>
          <p:cNvPr id="8" name="Arrow: Right 10">
            <a:extLst>
              <a:ext uri="{FF2B5EF4-FFF2-40B4-BE49-F238E27FC236}">
                <a16:creationId xmlns:a16="http://schemas.microsoft.com/office/drawing/2014/main" id="{3658EFCA-2EF7-F15F-BEBA-E0E2420E4FBB}"/>
              </a:ext>
            </a:extLst>
          </p:cNvPr>
          <p:cNvSpPr/>
          <p:nvPr/>
        </p:nvSpPr>
        <p:spPr>
          <a:xfrm>
            <a:off x="6034261" y="3497415"/>
            <a:ext cx="1125000" cy="882655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821384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400" dirty="0"/>
              <a:t>Клиентски слой, бизнес слой, слой за данни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Архитектура на </a:t>
            </a:r>
            <a:r>
              <a:rPr lang="en-US" sz="6000" dirty="0"/>
              <a:t>CMS</a:t>
            </a:r>
            <a:endParaRPr lang="en-GB" sz="6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72899F-06ED-3CD0-219C-AD990E87DD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99045" y="999000"/>
            <a:ext cx="3393909" cy="339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258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144401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Разделя </a:t>
            </a:r>
            <a:r>
              <a:rPr lang="bg-BG" sz="3000" b="1" dirty="0"/>
              <a:t>системата</a:t>
            </a:r>
            <a:r>
              <a:rPr lang="bg-BG" sz="3000" dirty="0"/>
              <a:t> на</a:t>
            </a:r>
            <a:r>
              <a:rPr lang="en-US" sz="3000" dirty="0"/>
              <a:t>                  </a:t>
            </a:r>
            <a:r>
              <a:rPr lang="bg-BG" sz="3000" b="1" dirty="0">
                <a:solidFill>
                  <a:schemeClr val="bg1"/>
                </a:solidFill>
              </a:rPr>
              <a:t>три свързани слоя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Всеки слой </a:t>
            </a:r>
            <a:r>
              <a:rPr lang="bg-BG" sz="3000" dirty="0"/>
              <a:t>изпълнява </a:t>
            </a:r>
            <a:r>
              <a:rPr lang="en-US" sz="3000" dirty="0"/>
              <a:t>     </a:t>
            </a:r>
            <a:r>
              <a:rPr lang="bg-BG" sz="3000" b="1" dirty="0">
                <a:solidFill>
                  <a:schemeClr val="bg1"/>
                </a:solidFill>
              </a:rPr>
              <a:t>различна задача</a:t>
            </a:r>
          </a:p>
          <a:p>
            <a:pPr>
              <a:buClr>
                <a:schemeClr val="tx2"/>
              </a:buClr>
            </a:pPr>
            <a:r>
              <a:rPr lang="bg-BG" sz="3000" b="1" dirty="0"/>
              <a:t>Информацията</a:t>
            </a:r>
            <a:r>
              <a:rPr lang="bg-BG" sz="3000" dirty="0"/>
              <a:t> преминава </a:t>
            </a:r>
            <a:r>
              <a:rPr lang="bg-BG" sz="3000" b="1" dirty="0">
                <a:solidFill>
                  <a:schemeClr val="bg1"/>
                </a:solidFill>
              </a:rPr>
              <a:t>последователно</a:t>
            </a:r>
            <a:r>
              <a:rPr lang="bg-BG" sz="3000" dirty="0"/>
              <a:t> между </a:t>
            </a:r>
            <a:r>
              <a:rPr lang="bg-BG" sz="3000" b="1" dirty="0"/>
              <a:t>слоевете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Трислойна архитектура на </a:t>
            </a:r>
            <a:r>
              <a:rPr lang="en-US" dirty="0"/>
              <a:t>CMS</a:t>
            </a:r>
            <a:endParaRPr lang="en-B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E0048E-CFD2-6EC3-2260-D9B5F91ED67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334803" y="1289509"/>
            <a:ext cx="4639424" cy="5365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694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Частта от </a:t>
            </a:r>
            <a:r>
              <a:rPr lang="bg-BG" sz="3000" b="1" dirty="0"/>
              <a:t>системата</a:t>
            </a:r>
            <a:r>
              <a:rPr lang="bg-BG" sz="3000" dirty="0"/>
              <a:t>, с която </a:t>
            </a:r>
            <a:r>
              <a:rPr lang="bg-BG" sz="3000" b="1" dirty="0"/>
              <a:t>потребителят</a:t>
            </a:r>
            <a:r>
              <a:rPr lang="bg-BG" sz="3000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взаимодейства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избира </a:t>
            </a:r>
            <a:r>
              <a:rPr lang="bg-BG" sz="3000" b="1" dirty="0"/>
              <a:t>действие</a:t>
            </a:r>
            <a:r>
              <a:rPr lang="bg-BG" sz="3000" dirty="0"/>
              <a:t> в </a:t>
            </a:r>
            <a:r>
              <a:rPr lang="bg-BG" sz="3000" b="1" dirty="0"/>
              <a:t>уеб страницата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Браузърът</a:t>
            </a:r>
            <a:r>
              <a:rPr lang="bg-BG" sz="3000" dirty="0"/>
              <a:t> изпраща </a:t>
            </a:r>
            <a:r>
              <a:rPr lang="bg-BG" sz="3000" b="1" dirty="0"/>
              <a:t>заявка</a:t>
            </a:r>
            <a:r>
              <a:rPr lang="bg-BG" sz="3000" dirty="0"/>
              <a:t> и получава </a:t>
            </a:r>
            <a:r>
              <a:rPr lang="bg-BG" sz="3000" b="1" dirty="0"/>
              <a:t>резултат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Уеб страницата </a:t>
            </a:r>
            <a:r>
              <a:rPr lang="bg-BG" sz="3000" dirty="0"/>
              <a:t>показва </a:t>
            </a:r>
            <a:r>
              <a:rPr lang="bg-BG" sz="3000" b="1" dirty="0"/>
              <a:t>съдържанието</a:t>
            </a:r>
            <a:r>
              <a:rPr lang="bg-BG" sz="3000" dirty="0"/>
              <a:t> на </a:t>
            </a:r>
            <a:r>
              <a:rPr lang="bg-BG" sz="3000" b="1" dirty="0"/>
              <a:t>потребителя</a:t>
            </a:r>
            <a:r>
              <a:rPr lang="bg-BG" sz="3000" dirty="0"/>
              <a:t>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Клиентски слой (</a:t>
            </a:r>
            <a:r>
              <a:rPr lang="en-US" dirty="0"/>
              <a:t>Front-End</a:t>
            </a:r>
            <a:r>
              <a:rPr lang="bg-BG" dirty="0"/>
              <a:t>)</a:t>
            </a:r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8D9D8DF-8274-8364-5E66-3C18F97FFE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18354" y="4225499"/>
            <a:ext cx="1956499" cy="2115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562A687-7871-08F7-9100-91C58AA04FC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792324" y="4540499"/>
            <a:ext cx="1440001" cy="1485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F6454E-CFAD-0959-CE82-B5AD31320A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449796" y="3643381"/>
            <a:ext cx="3184018" cy="3082938"/>
          </a:xfrm>
          <a:prstGeom prst="rect">
            <a:avLst/>
          </a:prstGeom>
        </p:spPr>
      </p:pic>
      <p:sp>
        <p:nvSpPr>
          <p:cNvPr id="17" name="Arrow: Right 10">
            <a:extLst>
              <a:ext uri="{FF2B5EF4-FFF2-40B4-BE49-F238E27FC236}">
                <a16:creationId xmlns:a16="http://schemas.microsoft.com/office/drawing/2014/main" id="{699AE9B4-D333-33DE-2635-4894C17D1BD4}"/>
              </a:ext>
            </a:extLst>
          </p:cNvPr>
          <p:cNvSpPr/>
          <p:nvPr/>
        </p:nvSpPr>
        <p:spPr>
          <a:xfrm>
            <a:off x="3161029" y="48094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9" name="Arrow: Right 10">
            <a:extLst>
              <a:ext uri="{FF2B5EF4-FFF2-40B4-BE49-F238E27FC236}">
                <a16:creationId xmlns:a16="http://schemas.microsoft.com/office/drawing/2014/main" id="{8BAA2C43-6031-5E43-5C78-11C6CDD7473C}"/>
              </a:ext>
            </a:extLst>
          </p:cNvPr>
          <p:cNvSpPr/>
          <p:nvPr/>
        </p:nvSpPr>
        <p:spPr>
          <a:xfrm>
            <a:off x="6816000" y="48094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94696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16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Обработва </a:t>
            </a:r>
            <a:r>
              <a:rPr lang="bg-BG" sz="3000" b="1" dirty="0">
                <a:solidFill>
                  <a:schemeClr val="bg1"/>
                </a:solidFill>
              </a:rPr>
              <a:t>заявките</a:t>
            </a:r>
            <a:r>
              <a:rPr lang="bg-BG" sz="3000" dirty="0"/>
              <a:t> от </a:t>
            </a:r>
            <a:r>
              <a:rPr lang="bg-BG" sz="3000" b="1" dirty="0"/>
              <a:t>клиентския слой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Прилага </a:t>
            </a:r>
            <a:r>
              <a:rPr lang="bg-BG" sz="3000" b="1" dirty="0">
                <a:solidFill>
                  <a:schemeClr val="bg1"/>
                </a:solidFill>
              </a:rPr>
              <a:t>правилата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проверките</a:t>
            </a:r>
            <a:r>
              <a:rPr lang="bg-BG" sz="3000" dirty="0"/>
              <a:t> на </a:t>
            </a:r>
            <a:r>
              <a:rPr lang="bg-BG" sz="3000" b="1" dirty="0"/>
              <a:t>системата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Изпраща </a:t>
            </a:r>
            <a:r>
              <a:rPr lang="bg-BG" sz="3000" b="1" dirty="0">
                <a:solidFill>
                  <a:schemeClr val="bg1"/>
                </a:solidFill>
              </a:rPr>
              <a:t>заявка</a:t>
            </a:r>
            <a:r>
              <a:rPr lang="bg-BG" sz="3000" dirty="0"/>
              <a:t> към </a:t>
            </a:r>
            <a:r>
              <a:rPr lang="bg-BG" sz="3000" b="1" dirty="0"/>
              <a:t>слоя за данни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Връща </a:t>
            </a:r>
            <a:r>
              <a:rPr lang="bg-BG" sz="3000" b="1" dirty="0"/>
              <a:t>обработения резултат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Бизнес слой</a:t>
            </a:r>
            <a:r>
              <a:rPr lang="en-US" dirty="0"/>
              <a:t> (Business Tier)</a:t>
            </a:r>
            <a:endParaRPr lang="en-BG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797614F-4C5E-EE29-1B6C-618617B721B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5263" y="4504653"/>
            <a:ext cx="1840106" cy="17875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6326ACD-F4B7-CA6E-22B6-6AE57D7CE0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90816" y="4440485"/>
            <a:ext cx="1840106" cy="178753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5A60AE5-F38F-AE41-7E76-6511AD2B1EF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40874" y="4440485"/>
            <a:ext cx="1840106" cy="17875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3E75898-5136-B9B2-C408-BB4D76303C3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96631" y="4354066"/>
            <a:ext cx="1840106" cy="1787532"/>
          </a:xfrm>
          <a:prstGeom prst="rect">
            <a:avLst/>
          </a:prstGeom>
        </p:spPr>
      </p:pic>
      <p:sp>
        <p:nvSpPr>
          <p:cNvPr id="21" name="Arrow: Right 10">
            <a:extLst>
              <a:ext uri="{FF2B5EF4-FFF2-40B4-BE49-F238E27FC236}">
                <a16:creationId xmlns:a16="http://schemas.microsoft.com/office/drawing/2014/main" id="{F4E6B7AA-8C54-00B7-851E-3F561447173F}"/>
              </a:ext>
            </a:extLst>
          </p:cNvPr>
          <p:cNvSpPr/>
          <p:nvPr/>
        </p:nvSpPr>
        <p:spPr>
          <a:xfrm>
            <a:off x="2259441" y="492484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22" name="Arrow: Right 10">
            <a:extLst>
              <a:ext uri="{FF2B5EF4-FFF2-40B4-BE49-F238E27FC236}">
                <a16:creationId xmlns:a16="http://schemas.microsoft.com/office/drawing/2014/main" id="{88DADC99-8EDB-1F80-93DB-C146B7508D8B}"/>
              </a:ext>
            </a:extLst>
          </p:cNvPr>
          <p:cNvSpPr/>
          <p:nvPr/>
        </p:nvSpPr>
        <p:spPr>
          <a:xfrm>
            <a:off x="5487019" y="492484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23" name="Arrow: Right 10">
            <a:extLst>
              <a:ext uri="{FF2B5EF4-FFF2-40B4-BE49-F238E27FC236}">
                <a16:creationId xmlns:a16="http://schemas.microsoft.com/office/drawing/2014/main" id="{20E2C114-D69C-41AC-C2D9-0D796F8A90B8}"/>
              </a:ext>
            </a:extLst>
          </p:cNvPr>
          <p:cNvSpPr/>
          <p:nvPr/>
        </p:nvSpPr>
        <p:spPr>
          <a:xfrm>
            <a:off x="8788851" y="4926930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387177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CAABC86-82E0-F099-701A-D4347B60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9CA50BB8-C95B-C726-A00E-EFF2B734CC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440598" cy="5528766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bg-BG" sz="3000" dirty="0"/>
              <a:t>Съхранява </a:t>
            </a:r>
            <a:r>
              <a:rPr lang="bg-BG" sz="3000" b="1" dirty="0">
                <a:solidFill>
                  <a:schemeClr val="bg1"/>
                </a:solidFill>
              </a:rPr>
              <a:t>информацията</a:t>
            </a:r>
            <a:r>
              <a:rPr lang="bg-BG" sz="3000" dirty="0"/>
              <a:t> на </a:t>
            </a:r>
            <a:r>
              <a:rPr lang="bg-BG" sz="3000" b="1" dirty="0"/>
              <a:t>системата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Работи с </a:t>
            </a:r>
            <a:r>
              <a:rPr lang="bg-BG" sz="3000" b="1" dirty="0">
                <a:solidFill>
                  <a:schemeClr val="bg1"/>
                </a:solidFill>
              </a:rPr>
              <a:t>бази данни</a:t>
            </a:r>
          </a:p>
          <a:p>
            <a:pPr>
              <a:buClr>
                <a:schemeClr val="tx2"/>
              </a:buClr>
            </a:pPr>
            <a:r>
              <a:rPr lang="bg-BG" sz="3000" b="1" dirty="0">
                <a:solidFill>
                  <a:schemeClr val="bg1"/>
                </a:solidFill>
              </a:rPr>
              <a:t>Записва</a:t>
            </a:r>
            <a:r>
              <a:rPr lang="bg-BG" sz="3000" dirty="0"/>
              <a:t> и </a:t>
            </a:r>
            <a:r>
              <a:rPr lang="bg-BG" sz="3000" b="1" dirty="0">
                <a:solidFill>
                  <a:schemeClr val="bg1"/>
                </a:solidFill>
              </a:rPr>
              <a:t>извлича</a:t>
            </a:r>
            <a:r>
              <a:rPr lang="bg-BG" sz="3000" dirty="0"/>
              <a:t> необходимите </a:t>
            </a:r>
            <a:r>
              <a:rPr lang="bg-BG" sz="3000" b="1" dirty="0"/>
              <a:t>данни</a:t>
            </a:r>
          </a:p>
          <a:p>
            <a:pPr>
              <a:buClr>
                <a:schemeClr val="tx2"/>
              </a:buClr>
            </a:pPr>
            <a:r>
              <a:rPr lang="bg-BG" sz="3000" dirty="0"/>
              <a:t>Връща </a:t>
            </a:r>
            <a:r>
              <a:rPr lang="bg-BG" sz="3000" b="1" dirty="0">
                <a:solidFill>
                  <a:schemeClr val="bg1"/>
                </a:solidFill>
              </a:rPr>
              <a:t>данните</a:t>
            </a:r>
            <a:r>
              <a:rPr lang="bg-BG" sz="3000" dirty="0"/>
              <a:t> към </a:t>
            </a:r>
            <a:r>
              <a:rPr lang="bg-BG" sz="3000" b="1" dirty="0"/>
              <a:t>бизнес слоя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BE40675-6620-A9F2-4515-CBA7D8C6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Слой за данни</a:t>
            </a:r>
            <a:r>
              <a:rPr lang="en-US" dirty="0"/>
              <a:t> (Back-End)</a:t>
            </a:r>
            <a:endParaRPr lang="en-B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8EA145-7892-0A53-EC14-94979EAD7E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94237" y="4361523"/>
            <a:ext cx="1395000" cy="1485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DFDF42F-6DDC-2553-8B25-06205C6C1A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48279" y="4361523"/>
            <a:ext cx="1395000" cy="1485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1635C0-CDFE-EF7D-545F-674E152DBA2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02322" y="4329000"/>
            <a:ext cx="1756083" cy="1485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7AACAF8-22F6-008E-DA7F-6C576465725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353954" y="4329000"/>
            <a:ext cx="1395000" cy="1485000"/>
          </a:xfrm>
          <a:prstGeom prst="rect">
            <a:avLst/>
          </a:prstGeom>
        </p:spPr>
      </p:pic>
      <p:sp>
        <p:nvSpPr>
          <p:cNvPr id="10" name="Arrow: Right 10">
            <a:extLst>
              <a:ext uri="{FF2B5EF4-FFF2-40B4-BE49-F238E27FC236}">
                <a16:creationId xmlns:a16="http://schemas.microsoft.com/office/drawing/2014/main" id="{492771C7-2C80-EAEB-A87E-0A9D83927A02}"/>
              </a:ext>
            </a:extLst>
          </p:cNvPr>
          <p:cNvSpPr/>
          <p:nvPr/>
        </p:nvSpPr>
        <p:spPr>
          <a:xfrm>
            <a:off x="1940084" y="4662624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2" name="Arrow: Right 10">
            <a:extLst>
              <a:ext uri="{FF2B5EF4-FFF2-40B4-BE49-F238E27FC236}">
                <a16:creationId xmlns:a16="http://schemas.microsoft.com/office/drawing/2014/main" id="{262FCE20-DF49-D30C-298D-B7DBD3F573AA}"/>
              </a:ext>
            </a:extLst>
          </p:cNvPr>
          <p:cNvSpPr/>
          <p:nvPr/>
        </p:nvSpPr>
        <p:spPr>
          <a:xfrm>
            <a:off x="5263773" y="4662623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3" name="Arrow: Right 10">
            <a:extLst>
              <a:ext uri="{FF2B5EF4-FFF2-40B4-BE49-F238E27FC236}">
                <a16:creationId xmlns:a16="http://schemas.microsoft.com/office/drawing/2014/main" id="{530A39DA-241E-A5B0-9F18-54D2324F11C7}"/>
              </a:ext>
            </a:extLst>
          </p:cNvPr>
          <p:cNvSpPr/>
          <p:nvPr/>
        </p:nvSpPr>
        <p:spPr>
          <a:xfrm>
            <a:off x="8815405" y="4630448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3378288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576ABD-F672-7D68-BBAE-8DD6B86C2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3DC8A8-0EAF-8CD5-622B-D87BEE56590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>
                <a:solidFill>
                  <a:schemeClr val="bg1"/>
                </a:solidFill>
              </a:rPr>
              <a:t>Потребителят</a:t>
            </a:r>
            <a:r>
              <a:rPr lang="bg-BG" sz="3000" dirty="0"/>
              <a:t> избира </a:t>
            </a:r>
            <a:r>
              <a:rPr lang="bg-BG" sz="3000" b="1" dirty="0"/>
              <a:t>публикация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Клиентският слой </a:t>
            </a:r>
            <a:r>
              <a:rPr lang="bg-BG" sz="3000" dirty="0"/>
              <a:t>изпраща </a:t>
            </a:r>
            <a:r>
              <a:rPr lang="bg-BG" sz="3000" b="1" dirty="0"/>
              <a:t>заявка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Бизнес слоят </a:t>
            </a:r>
            <a:r>
              <a:rPr lang="bg-BG" sz="3000" dirty="0"/>
              <a:t>обработва </a:t>
            </a:r>
            <a:r>
              <a:rPr lang="bg-BG" sz="3000" b="1" dirty="0"/>
              <a:t>заявката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Слоят за данни </a:t>
            </a:r>
            <a:r>
              <a:rPr lang="bg-BG" sz="3000" dirty="0"/>
              <a:t>извлича </a:t>
            </a:r>
            <a:r>
              <a:rPr lang="bg-BG" sz="3000" b="1" dirty="0"/>
              <a:t>информацията</a:t>
            </a:r>
          </a:p>
          <a:p>
            <a:r>
              <a:rPr lang="bg-BG" sz="3000" b="1" dirty="0">
                <a:solidFill>
                  <a:schemeClr val="bg1"/>
                </a:solidFill>
              </a:rPr>
              <a:t>Резултатът</a:t>
            </a:r>
            <a:r>
              <a:rPr lang="bg-BG" sz="3000" dirty="0"/>
              <a:t> се показва в </a:t>
            </a:r>
            <a:r>
              <a:rPr lang="bg-BG" sz="3000" b="1" dirty="0"/>
              <a:t>браузъра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00ED5B-973C-136A-F171-D61B80621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Трислойна архитектура </a:t>
            </a:r>
            <a:r>
              <a:rPr lang="en-GB" sz="4000" dirty="0"/>
              <a:t>–</a:t>
            </a:r>
            <a:r>
              <a:rPr lang="bg-BG" sz="4000" dirty="0"/>
              <a:t> Пример</a:t>
            </a:r>
            <a:endParaRPr lang="en-B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45DC01-3FA5-5818-6C17-06A39D627DA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2361" y="4566600"/>
            <a:ext cx="1845000" cy="17550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4BE3AC0-E64D-4386-1A6A-497712573D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93917" y="4477003"/>
            <a:ext cx="1530000" cy="1575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181C4B-82A9-FC6F-C03B-37456208CA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725860" y="4486535"/>
            <a:ext cx="1305000" cy="1755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C72ED2-E7CE-D639-4D0F-F48630DBB96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208008" y="4566600"/>
            <a:ext cx="1305000" cy="15750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84D385-7065-EE56-0E9E-6FA44DE8C56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92920" y="4486535"/>
            <a:ext cx="1700215" cy="1755001"/>
          </a:xfrm>
          <a:prstGeom prst="rect">
            <a:avLst/>
          </a:prstGeom>
        </p:spPr>
      </p:pic>
      <p:sp>
        <p:nvSpPr>
          <p:cNvPr id="16" name="Arrow: Right 10">
            <a:extLst>
              <a:ext uri="{FF2B5EF4-FFF2-40B4-BE49-F238E27FC236}">
                <a16:creationId xmlns:a16="http://schemas.microsoft.com/office/drawing/2014/main" id="{632CE834-F115-9240-7F9A-6F7223651EC0}"/>
              </a:ext>
            </a:extLst>
          </p:cNvPr>
          <p:cNvSpPr/>
          <p:nvPr/>
        </p:nvSpPr>
        <p:spPr>
          <a:xfrm>
            <a:off x="2035402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7" name="Arrow: Right 10">
            <a:extLst>
              <a:ext uri="{FF2B5EF4-FFF2-40B4-BE49-F238E27FC236}">
                <a16:creationId xmlns:a16="http://schemas.microsoft.com/office/drawing/2014/main" id="{E0C66D92-970A-C2B2-2689-6CD445BA69E1}"/>
              </a:ext>
            </a:extLst>
          </p:cNvPr>
          <p:cNvSpPr/>
          <p:nvPr/>
        </p:nvSpPr>
        <p:spPr>
          <a:xfrm>
            <a:off x="4671958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8" name="Arrow: Right 10">
            <a:extLst>
              <a:ext uri="{FF2B5EF4-FFF2-40B4-BE49-F238E27FC236}">
                <a16:creationId xmlns:a16="http://schemas.microsoft.com/office/drawing/2014/main" id="{7CFED908-06A1-251F-4231-EA3392DD24CD}"/>
              </a:ext>
            </a:extLst>
          </p:cNvPr>
          <p:cNvSpPr/>
          <p:nvPr/>
        </p:nvSpPr>
        <p:spPr>
          <a:xfrm>
            <a:off x="7090703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  <p:sp>
        <p:nvSpPr>
          <p:cNvPr id="19" name="Arrow: Right 10">
            <a:extLst>
              <a:ext uri="{FF2B5EF4-FFF2-40B4-BE49-F238E27FC236}">
                <a16:creationId xmlns:a16="http://schemas.microsoft.com/office/drawing/2014/main" id="{56B3BFFC-54E9-FDF9-57CD-F511826A3BCA}"/>
              </a:ext>
            </a:extLst>
          </p:cNvPr>
          <p:cNvSpPr/>
          <p:nvPr/>
        </p:nvSpPr>
        <p:spPr>
          <a:xfrm>
            <a:off x="9434025" y="4916358"/>
            <a:ext cx="1005861" cy="81272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941179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sz="4800" dirty="0"/>
              <a:t>Основни възможности и инсталиране</a:t>
            </a:r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5000" dirty="0"/>
              <a:t>Въведение в </a:t>
            </a:r>
            <a:r>
              <a:rPr lang="en-GB" sz="5000" dirty="0"/>
              <a:t>WordPress</a:t>
            </a:r>
            <a:endParaRPr lang="bg-BG" sz="5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7B4DD71-76E7-BC3E-D034-61F4305F8F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10375" y="1385091"/>
            <a:ext cx="2371250" cy="255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2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">
            <a:extLst>
              <a:ext uri="{FF2B5EF4-FFF2-40B4-BE49-F238E27FC236}">
                <a16:creationId xmlns:a16="http://schemas.microsoft.com/office/drawing/2014/main" id="{8891F045-A272-4231-985A-53063F832A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>
          <a:xfrm>
            <a:off x="190406" y="100750"/>
            <a:ext cx="10270594" cy="882654"/>
          </a:xfrm>
        </p:spPr>
        <p:txBody>
          <a:bodyPr>
            <a:normAutofit/>
          </a:bodyPr>
          <a:lstStyle/>
          <a:p>
            <a:r>
              <a:rPr lang="en-US" sz="4000" dirty="0"/>
              <a:t>WordPress</a:t>
            </a:r>
            <a:endParaRPr lang="en-US" sz="3800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ACDE5FA-349C-9171-5DA0-6F2931D82E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6125"/>
            <a:ext cx="11818096" cy="5561125"/>
          </a:xfrm>
        </p:spPr>
        <p:txBody>
          <a:bodyPr/>
          <a:lstStyle/>
          <a:p>
            <a:r>
              <a:rPr lang="en-US" b="1" dirty="0"/>
              <a:t>CMS</a:t>
            </a:r>
            <a:r>
              <a:rPr lang="en-US" dirty="0"/>
              <a:t> </a:t>
            </a:r>
            <a:r>
              <a:rPr lang="bg-BG" dirty="0"/>
              <a:t>с </a:t>
            </a:r>
            <a:r>
              <a:rPr lang="bg-BG" b="1" dirty="0">
                <a:solidFill>
                  <a:schemeClr val="bg1"/>
                </a:solidFill>
              </a:rPr>
              <a:t>отворен код </a:t>
            </a:r>
            <a:r>
              <a:rPr lang="en-US" sz="3600" dirty="0"/>
              <a:t>(</a:t>
            </a:r>
            <a:r>
              <a:rPr lang="en-US" sz="3600" dirty="0">
                <a:hlinkClick r:id="rId3"/>
              </a:rPr>
              <a:t>wordpress.org</a:t>
            </a:r>
            <a:r>
              <a:rPr lang="en-US" sz="3600" dirty="0"/>
              <a:t>)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bg-BG" b="1" dirty="0"/>
              <a:t>Инсталира</a:t>
            </a:r>
            <a:r>
              <a:rPr lang="bg-BG" dirty="0"/>
              <a:t> </a:t>
            </a:r>
            <a:r>
              <a:rPr lang="bg-BG" b="1" dirty="0"/>
              <a:t>се</a:t>
            </a:r>
            <a:r>
              <a:rPr lang="bg-BG" dirty="0"/>
              <a:t> на избран </a:t>
            </a:r>
            <a:r>
              <a:rPr lang="bg-BG" b="1" dirty="0">
                <a:solidFill>
                  <a:schemeClr val="bg1"/>
                </a:solidFill>
              </a:rPr>
              <a:t>уеб хостинг</a:t>
            </a:r>
          </a:p>
          <a:p>
            <a:r>
              <a:rPr lang="bg-BG" b="1" dirty="0"/>
              <a:t>Работи</a:t>
            </a:r>
            <a:r>
              <a:rPr lang="bg-BG" dirty="0"/>
              <a:t> с </a:t>
            </a:r>
            <a:r>
              <a:rPr lang="bg-BG" b="1" dirty="0">
                <a:solidFill>
                  <a:schemeClr val="bg1"/>
                </a:solidFill>
              </a:rPr>
              <a:t>база данни</a:t>
            </a:r>
          </a:p>
          <a:p>
            <a:r>
              <a:rPr lang="bg-BG" b="1" dirty="0"/>
              <a:t>Управлява</a:t>
            </a:r>
            <a:r>
              <a:rPr lang="bg-BG" dirty="0"/>
              <a:t> се чрез </a:t>
            </a:r>
            <a:r>
              <a:rPr lang="bg-BG" b="1" dirty="0">
                <a:solidFill>
                  <a:schemeClr val="bg1"/>
                </a:solidFill>
              </a:rPr>
              <a:t>административен панел</a:t>
            </a:r>
          </a:p>
          <a:p>
            <a:r>
              <a:rPr lang="bg-BG" b="1" dirty="0"/>
              <a:t>Отваря</a:t>
            </a:r>
            <a:r>
              <a:rPr lang="bg-BG" dirty="0"/>
              <a:t> се и се </a:t>
            </a:r>
            <a:r>
              <a:rPr lang="bg-BG" b="1" dirty="0"/>
              <a:t>използва</a:t>
            </a:r>
            <a:r>
              <a:rPr lang="bg-BG" dirty="0"/>
              <a:t> от </a:t>
            </a:r>
            <a:r>
              <a:rPr lang="bg-BG" b="1" dirty="0">
                <a:solidFill>
                  <a:schemeClr val="bg1"/>
                </a:solidFill>
              </a:rPr>
              <a:t>интернет браузър</a:t>
            </a:r>
          </a:p>
          <a:p>
            <a:endParaRPr lang="en-BG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A9B5FC7-0CC4-B0AC-D4EF-F5DA88513BA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81000" y="4194000"/>
            <a:ext cx="2160000" cy="2192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212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ED47CD6-C18E-E898-138F-BB9FAB7445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21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6467-2148-F279-6952-3D73BB93B8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b="1" dirty="0"/>
              <a:t>Създаване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уеб страници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публикации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Добавяне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изображения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файлове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Организиране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менюта</a:t>
            </a:r>
            <a:r>
              <a:rPr lang="bg-BG" sz="3000" b="1" dirty="0"/>
              <a:t> </a:t>
            </a:r>
            <a:r>
              <a:rPr lang="bg-BG" sz="3000" dirty="0"/>
              <a:t>и</a:t>
            </a:r>
            <a:r>
              <a:rPr lang="bg-BG" sz="3000" b="1" dirty="0"/>
              <a:t> </a:t>
            </a:r>
            <a:r>
              <a:rPr lang="bg-BG" sz="3000" b="1" dirty="0">
                <a:solidFill>
                  <a:schemeClr val="bg1"/>
                </a:solidFill>
              </a:rPr>
              <a:t>категории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Управление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потребители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Промяна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външния вид</a:t>
            </a:r>
            <a:endParaRPr lang="en-US" sz="3000" b="1" dirty="0">
              <a:solidFill>
                <a:schemeClr val="bg1"/>
              </a:solidFill>
            </a:endParaRPr>
          </a:p>
          <a:p>
            <a:r>
              <a:rPr lang="bg-BG" sz="3000" b="1" dirty="0"/>
              <a:t>Разширяване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възможностите</a:t>
            </a:r>
            <a:r>
              <a:rPr lang="bg-BG" sz="3000" b="1" dirty="0"/>
              <a:t> </a:t>
            </a:r>
            <a:r>
              <a:rPr lang="bg-BG" sz="3000" dirty="0"/>
              <a:t>на </a:t>
            </a:r>
            <a:r>
              <a:rPr lang="bg-BG" sz="3000" b="1" dirty="0"/>
              <a:t>уеб сайта</a:t>
            </a:r>
            <a:endParaRPr lang="en-BG" sz="30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8EF29ED-751B-8E42-A01E-38CF82F65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Основни възможности на </a:t>
            </a:r>
            <a:r>
              <a:rPr lang="en-US" dirty="0"/>
              <a:t>WordPress</a:t>
            </a:r>
            <a:endParaRPr lang="en-B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35AF0F-3CC6-CF30-B59D-8B90574D2F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839931" y="3051579"/>
            <a:ext cx="3913099" cy="3654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87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2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628F136-0B7E-82EE-73D1-3489C6D2AD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22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F6D558-8BA3-7E43-B63D-BD3BC1C776A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6000" y="1195931"/>
            <a:ext cx="5635597" cy="4957073"/>
          </a:xfrm>
        </p:spPr>
        <p:txBody>
          <a:bodyPr>
            <a:normAutofit fontScale="92500" lnSpcReduction="10000"/>
          </a:bodyPr>
          <a:lstStyle/>
          <a:p>
            <a:r>
              <a:rPr lang="en-GB" sz="3200" dirty="0">
                <a:hlinkClick r:id="rId2"/>
              </a:rPr>
              <a:t>wordpress.org</a:t>
            </a:r>
            <a:endParaRPr lang="en-GB" sz="3200" dirty="0"/>
          </a:p>
          <a:p>
            <a:pPr lvl="1"/>
            <a:r>
              <a:rPr lang="bg-BG" sz="3000" dirty="0"/>
              <a:t>Официален </a:t>
            </a:r>
            <a:r>
              <a:rPr lang="bg-BG" sz="3000" b="1" dirty="0"/>
              <a:t>уеб сайт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софтуера</a:t>
            </a:r>
            <a:r>
              <a:rPr lang="bg-BG" sz="3000" dirty="0"/>
              <a:t> </a:t>
            </a:r>
            <a:r>
              <a:rPr lang="en-GB" sz="3000" b="1" dirty="0"/>
              <a:t>WordPress</a:t>
            </a:r>
          </a:p>
          <a:p>
            <a:pPr lvl="1"/>
            <a:r>
              <a:rPr lang="bg-BG" sz="3000" b="1" dirty="0"/>
              <a:t>Инсталира се </a:t>
            </a:r>
            <a:r>
              <a:rPr lang="bg-BG" sz="3000" dirty="0"/>
              <a:t>на </a:t>
            </a:r>
            <a:r>
              <a:rPr lang="bg-BG" sz="3000" b="1" dirty="0">
                <a:solidFill>
                  <a:schemeClr val="bg1"/>
                </a:solidFill>
              </a:rPr>
              <a:t>избран хостинг </a:t>
            </a:r>
            <a:r>
              <a:rPr lang="bg-BG" sz="3000" dirty="0"/>
              <a:t>или </a:t>
            </a:r>
            <a:r>
              <a:rPr lang="bg-BG" sz="3000" b="1" dirty="0">
                <a:solidFill>
                  <a:schemeClr val="bg1"/>
                </a:solidFill>
              </a:rPr>
              <a:t>локален сървър</a:t>
            </a:r>
            <a:endParaRPr lang="en-US" sz="3000" b="1" dirty="0">
              <a:solidFill>
                <a:schemeClr val="bg1"/>
              </a:solidFill>
            </a:endParaRPr>
          </a:p>
          <a:p>
            <a:pPr lvl="1"/>
            <a:r>
              <a:rPr lang="bg-BG" sz="3000" dirty="0"/>
              <a:t>Необходимо е </a:t>
            </a:r>
            <a:r>
              <a:rPr lang="bg-BG" sz="3000" b="1" dirty="0">
                <a:solidFill>
                  <a:schemeClr val="bg1"/>
                </a:solidFill>
              </a:rPr>
              <a:t>самостоятелно осигуряване</a:t>
            </a:r>
            <a:r>
              <a:rPr lang="bg-BG" sz="3000" dirty="0"/>
              <a:t> на </a:t>
            </a:r>
            <a:r>
              <a:rPr lang="bg-BG" sz="3000" b="1" dirty="0"/>
              <a:t>хостинг</a:t>
            </a:r>
            <a:r>
              <a:rPr lang="bg-BG" sz="3000" dirty="0"/>
              <a:t> и </a:t>
            </a:r>
            <a:r>
              <a:rPr lang="bg-BG" sz="3000" b="1" dirty="0"/>
              <a:t>домейн</a:t>
            </a:r>
            <a:endParaRPr lang="en-US" sz="3000" b="1" dirty="0"/>
          </a:p>
          <a:p>
            <a:pPr lvl="1"/>
            <a:r>
              <a:rPr lang="bg-BG" sz="3000" dirty="0"/>
              <a:t>Позволява </a:t>
            </a:r>
            <a:r>
              <a:rPr lang="bg-BG" sz="3000" b="1" dirty="0"/>
              <a:t>инсталиране</a:t>
            </a:r>
            <a:r>
              <a:rPr lang="bg-BG" sz="3000" dirty="0"/>
              <a:t> на </a:t>
            </a:r>
            <a:r>
              <a:rPr lang="bg-BG" sz="3000" b="1" dirty="0">
                <a:solidFill>
                  <a:schemeClr val="bg1"/>
                </a:solidFill>
              </a:rPr>
              <a:t>различни теми </a:t>
            </a:r>
            <a:r>
              <a:rPr lang="bg-BG" sz="3000" dirty="0"/>
              <a:t>и </a:t>
            </a:r>
            <a:r>
              <a:rPr lang="bg-BG" sz="3000" b="1" dirty="0">
                <a:solidFill>
                  <a:schemeClr val="bg1"/>
                </a:solidFill>
              </a:rPr>
              <a:t>добавки</a:t>
            </a:r>
            <a:endParaRPr lang="en-BG" sz="3000" b="1" dirty="0">
              <a:solidFill>
                <a:schemeClr val="bg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45DAA7-B02D-1F2F-C603-B356A6E89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195931"/>
            <a:ext cx="5275598" cy="4957073"/>
          </a:xfrm>
        </p:spPr>
        <p:txBody>
          <a:bodyPr>
            <a:normAutofit/>
          </a:bodyPr>
          <a:lstStyle/>
          <a:p>
            <a:r>
              <a:rPr lang="en-GB" sz="3000" dirty="0">
                <a:hlinkClick r:id="rId3"/>
              </a:rPr>
              <a:t>wordpress.com</a:t>
            </a:r>
            <a:endParaRPr lang="en-GB" sz="3000" dirty="0"/>
          </a:p>
          <a:p>
            <a:pPr lvl="1"/>
            <a:r>
              <a:rPr lang="bg-BG" sz="2800" b="1" dirty="0"/>
              <a:t>Готова</a:t>
            </a:r>
            <a:r>
              <a:rPr lang="bg-BG" sz="2800" dirty="0"/>
              <a:t> </a:t>
            </a:r>
            <a:r>
              <a:rPr lang="bg-BG" sz="2800" b="1" dirty="0">
                <a:solidFill>
                  <a:schemeClr val="bg1"/>
                </a:solidFill>
              </a:rPr>
              <a:t>онлайн услуга </a:t>
            </a:r>
            <a:r>
              <a:rPr lang="bg-BG" sz="2800" dirty="0"/>
              <a:t>за </a:t>
            </a:r>
            <a:r>
              <a:rPr lang="bg-BG" sz="2800" b="1" dirty="0"/>
              <a:t>създаване</a:t>
            </a:r>
            <a:r>
              <a:rPr lang="bg-BG" sz="2800" dirty="0"/>
              <a:t> на</a:t>
            </a:r>
            <a:r>
              <a:rPr lang="en-US" sz="2800" dirty="0"/>
              <a:t> </a:t>
            </a:r>
            <a:r>
              <a:rPr lang="bg-BG" sz="2800" b="1" dirty="0"/>
              <a:t>уеб сайтове</a:t>
            </a:r>
            <a:endParaRPr lang="en-US" sz="2800" b="1" dirty="0"/>
          </a:p>
          <a:p>
            <a:pPr lvl="1">
              <a:buClr>
                <a:schemeClr val="tx1"/>
              </a:buClr>
            </a:pPr>
            <a:r>
              <a:rPr lang="bg-BG" sz="2800" b="1" dirty="0">
                <a:solidFill>
                  <a:schemeClr val="bg1"/>
                </a:solidFill>
              </a:rPr>
              <a:t>Не изисква </a:t>
            </a:r>
            <a:r>
              <a:rPr lang="bg-BG" sz="2800" dirty="0"/>
              <a:t>отделен </a:t>
            </a:r>
            <a:r>
              <a:rPr lang="bg-BG" sz="2800" b="1" dirty="0"/>
              <a:t>хостинг </a:t>
            </a:r>
            <a:r>
              <a:rPr lang="bg-BG" sz="2800" dirty="0"/>
              <a:t>и </a:t>
            </a:r>
            <a:r>
              <a:rPr lang="bg-BG" sz="2800" b="1" dirty="0"/>
              <a:t>инсталиране</a:t>
            </a:r>
            <a:endParaRPr lang="en-US" sz="2800" b="1" dirty="0"/>
          </a:p>
          <a:p>
            <a:pPr lvl="1"/>
            <a:r>
              <a:rPr lang="bg-BG" sz="2800" dirty="0"/>
              <a:t>Предлага </a:t>
            </a:r>
            <a:r>
              <a:rPr lang="bg-BG" sz="2800" b="1" dirty="0">
                <a:solidFill>
                  <a:schemeClr val="bg1"/>
                </a:solidFill>
              </a:rPr>
              <a:t>безплатен адрес </a:t>
            </a:r>
            <a:r>
              <a:rPr lang="bg-BG" sz="2800" dirty="0"/>
              <a:t>с </a:t>
            </a:r>
            <a:r>
              <a:rPr lang="bg-BG" sz="2800" b="1" dirty="0"/>
              <a:t>.</a:t>
            </a:r>
            <a:r>
              <a:rPr lang="en-GB" sz="2800" b="1" dirty="0"/>
              <a:t>wordpress.com</a:t>
            </a:r>
          </a:p>
          <a:p>
            <a:pPr lvl="1"/>
            <a:r>
              <a:rPr lang="bg-BG" sz="2800" b="1" dirty="0"/>
              <a:t>Безплатният план </a:t>
            </a:r>
            <a:r>
              <a:rPr lang="bg-BG" sz="2800" dirty="0"/>
              <a:t>включва </a:t>
            </a:r>
            <a:r>
              <a:rPr lang="bg-BG" sz="2800" b="1" dirty="0">
                <a:solidFill>
                  <a:schemeClr val="bg1"/>
                </a:solidFill>
              </a:rPr>
              <a:t>ограничен избор </a:t>
            </a:r>
            <a:r>
              <a:rPr lang="bg-BG" sz="2800" dirty="0"/>
              <a:t>от </a:t>
            </a:r>
            <a:r>
              <a:rPr lang="bg-BG" sz="2800" b="1" dirty="0"/>
              <a:t>теми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62FA9D-BDDB-C91A-FAFE-4BAF54048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BG" dirty="0"/>
              <a:t>WordPress.com vs. WordPress.org</a:t>
            </a:r>
          </a:p>
        </p:txBody>
      </p:sp>
    </p:spTree>
    <p:extLst>
      <p:ext uri="{BB962C8B-B14F-4D97-AF65-F5344CB8AC3E}">
        <p14:creationId xmlns:p14="http://schemas.microsoft.com/office/powerpoint/2010/main" val="2507310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Subtitle">
            <a:extLst>
              <a:ext uri="{FF2B5EF4-FFF2-40B4-BE49-F238E27FC236}">
                <a16:creationId xmlns:a16="http://schemas.microsoft.com/office/drawing/2014/main" id="{BEB5BB41-09D4-4E9F-8C80-EE8709171CB3}"/>
              </a:ext>
            </a:extLst>
          </p:cNvPr>
          <p:cNvSpPr>
            <a:spLocks noGrp="1"/>
          </p:cNvSpPr>
          <p:nvPr>
            <p:ph type="subTitle" sz="quarter" idx="11"/>
          </p:nvPr>
        </p:nvSpPr>
        <p:spPr/>
        <p:txBody>
          <a:bodyPr/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bg-BG" sz="4000" dirty="0"/>
          </a:p>
        </p:txBody>
      </p:sp>
      <p:sp>
        <p:nvSpPr>
          <p:cNvPr id="6" name="Slide Title">
            <a:extLst>
              <a:ext uri="{FF2B5EF4-FFF2-40B4-BE49-F238E27FC236}">
                <a16:creationId xmlns:a16="http://schemas.microsoft.com/office/drawing/2014/main" id="{028D9EA3-B5E0-4F17-9467-4BE3C280DA68}"/>
              </a:ext>
            </a:extLst>
          </p:cNvPr>
          <p:cNvSpPr>
            <a:spLocks noGrp="1"/>
          </p:cNvSpPr>
          <p:nvPr>
            <p:ph type="title" sz="quarter" idx="10"/>
          </p:nvPr>
        </p:nvSpPr>
        <p:spPr/>
        <p:txBody>
          <a:bodyPr/>
          <a:lstStyle/>
          <a:p>
            <a:r>
              <a:rPr lang="bg-BG" sz="6000" dirty="0"/>
              <a:t>Пример</a:t>
            </a:r>
            <a:endParaRPr lang="en-US" sz="52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5EDE2F2B-9FAE-83CD-B9BB-52492B2DDC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43500" y="1089000"/>
            <a:ext cx="3105000" cy="310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85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516F16-CA67-6D94-E034-8AB3737692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24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65E27E-ECD7-A588-E955-6399E7CB064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Нека създадем </a:t>
            </a:r>
            <a:r>
              <a:rPr lang="bg-BG" sz="3000" b="1" dirty="0"/>
              <a:t>уеб сайт </a:t>
            </a:r>
            <a:r>
              <a:rPr lang="bg-BG" sz="3000" dirty="0"/>
              <a:t>с помощта на </a:t>
            </a:r>
            <a:r>
              <a:rPr lang="en-US" sz="3000" b="1" dirty="0">
                <a:solidFill>
                  <a:schemeClr val="bg1"/>
                </a:solidFill>
              </a:rPr>
              <a:t>WordPress</a:t>
            </a:r>
            <a:r>
              <a:rPr lang="bg-BG" sz="3000" dirty="0"/>
              <a:t>, например: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Вид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Уеб сайт за училищен клуб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Заглавие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"Зелена мисия"</a:t>
            </a:r>
          </a:p>
          <a:p>
            <a:pPr lvl="1"/>
            <a:r>
              <a:rPr lang="bg-BG" sz="2800" b="1" dirty="0">
                <a:solidFill>
                  <a:schemeClr val="bg1"/>
                </a:solidFill>
              </a:rPr>
              <a:t>Описание</a:t>
            </a:r>
            <a:r>
              <a:rPr lang="bg-BG" sz="2800" dirty="0"/>
              <a:t> </a:t>
            </a:r>
            <a:r>
              <a:rPr lang="en-GB" sz="2800" dirty="0"/>
              <a:t>–</a:t>
            </a:r>
            <a:r>
              <a:rPr lang="bg-BG" sz="2800" dirty="0"/>
              <a:t> </a:t>
            </a:r>
            <a:r>
              <a:rPr lang="bg-BG" sz="2800" b="1" dirty="0"/>
              <a:t>Училищен клуб за природа и доброволчество</a:t>
            </a:r>
            <a:endParaRPr lang="en-US" sz="2800" b="1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37E1090-5368-3467-77F6-0CCF23C94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Създаване на </a:t>
            </a:r>
            <a:r>
              <a:rPr lang="en-US" dirty="0"/>
              <a:t>WordPress </a:t>
            </a:r>
            <a:r>
              <a:rPr lang="bg-BG" dirty="0"/>
              <a:t>сайт</a:t>
            </a:r>
            <a:endParaRPr lang="en-B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8D6211A-C00B-FFE8-C551-69B3CF8D1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04364" y="3599449"/>
            <a:ext cx="5535000" cy="3115577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80599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25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7845A-29DC-D1F6-51A6-72E82457E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Влизаме в </a:t>
            </a:r>
            <a:r>
              <a:rPr lang="en-US" sz="2900" b="1" dirty="0"/>
              <a:t>WordPress</a:t>
            </a:r>
            <a:r>
              <a:rPr lang="en-US" sz="2900" dirty="0"/>
              <a:t> </a:t>
            </a:r>
            <a:r>
              <a:rPr lang="en-GB" sz="2900" dirty="0"/>
              <a:t>– </a:t>
            </a:r>
            <a:r>
              <a:rPr lang="en-US" sz="2900" dirty="0">
                <a:hlinkClick r:id="rId2"/>
              </a:rPr>
              <a:t>wordpress.com</a:t>
            </a:r>
            <a:r>
              <a:rPr lang="bg-BG" sz="2900" dirty="0"/>
              <a:t> и кликаме върху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Get started</a:t>
            </a:r>
            <a:r>
              <a:rPr lang="en-US" sz="2900" b="1" dirty="0"/>
              <a:t>]</a:t>
            </a:r>
          </a:p>
          <a:p>
            <a:r>
              <a:rPr lang="bg-BG" sz="2900" dirty="0"/>
              <a:t>Създаваме си </a:t>
            </a:r>
            <a:r>
              <a:rPr lang="bg-BG" sz="2900" b="1" dirty="0">
                <a:solidFill>
                  <a:schemeClr val="bg1"/>
                </a:solidFill>
              </a:rPr>
              <a:t>профил </a:t>
            </a:r>
            <a:r>
              <a:rPr lang="bg-BG" sz="2900" dirty="0"/>
              <a:t>и кликаме върху </a:t>
            </a:r>
            <a:r>
              <a:rPr lang="en-US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Continue</a:t>
            </a:r>
            <a:r>
              <a:rPr lang="en-US" sz="2900" b="1" dirty="0"/>
              <a:t>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Създаване на профил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F4D9BE-8EC4-A992-9573-D09537B9D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6000" y="4329000"/>
            <a:ext cx="3865205" cy="9450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12BED4-AFA6-547E-947B-ABCA80280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71000" y="2781739"/>
            <a:ext cx="4414797" cy="371586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sp>
        <p:nvSpPr>
          <p:cNvPr id="9" name="Arrow: Right 10">
            <a:extLst>
              <a:ext uri="{FF2B5EF4-FFF2-40B4-BE49-F238E27FC236}">
                <a16:creationId xmlns:a16="http://schemas.microsoft.com/office/drawing/2014/main" id="{A9208DC7-B9A8-5CAD-6DD2-A9F6F304D3A8}"/>
              </a:ext>
            </a:extLst>
          </p:cNvPr>
          <p:cNvSpPr/>
          <p:nvPr/>
        </p:nvSpPr>
        <p:spPr>
          <a:xfrm>
            <a:off x="4935328" y="4326849"/>
            <a:ext cx="1281549" cy="947151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9"/>
          </a:p>
        </p:txBody>
      </p:sp>
    </p:spTree>
    <p:extLst>
      <p:ext uri="{BB962C8B-B14F-4D97-AF65-F5344CB8AC3E}">
        <p14:creationId xmlns:p14="http://schemas.microsoft.com/office/powerpoint/2010/main" val="1740170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26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47845A-29DC-D1F6-51A6-72E82457E41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2900" dirty="0"/>
              <a:t>Задаваме </a:t>
            </a:r>
            <a:r>
              <a:rPr lang="bg-BG" sz="2900" b="1" dirty="0">
                <a:solidFill>
                  <a:schemeClr val="bg1"/>
                </a:solidFill>
              </a:rPr>
              <a:t>подходящо име </a:t>
            </a:r>
            <a:r>
              <a:rPr lang="bg-BG" sz="2900" dirty="0"/>
              <a:t>за </a:t>
            </a:r>
            <a:r>
              <a:rPr lang="bg-BG" sz="2900" b="1" dirty="0"/>
              <a:t>уеб сайта </a:t>
            </a:r>
            <a:r>
              <a:rPr lang="bg-BG" sz="2900" dirty="0"/>
              <a:t>и кликаме върху </a:t>
            </a:r>
            <a:r>
              <a:rPr lang="bg-BG" sz="2900" b="1" dirty="0"/>
              <a:t>[</a:t>
            </a:r>
            <a:r>
              <a:rPr lang="en-US" sz="2900" b="1" dirty="0">
                <a:solidFill>
                  <a:schemeClr val="bg1"/>
                </a:solidFill>
              </a:rPr>
              <a:t>Start free...</a:t>
            </a:r>
            <a:r>
              <a:rPr lang="en-US" sz="2900" b="1" dirty="0"/>
              <a:t>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Задаване на адрес на уеб сайта</a:t>
            </a:r>
            <a:endParaRPr lang="en-B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6648E8-F407-B1D5-3BFF-FD74E79C4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6000" y="1966608"/>
            <a:ext cx="6337300" cy="39878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858EEB1-FA2D-0F73-0D41-805A4A77F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76000" y="1966608"/>
            <a:ext cx="6337300" cy="39878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25772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B6D06F-33D9-26B8-CCE2-42ADE5CB2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27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73BBF6-F090-F5DF-6416-A2496729AE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1" y="1196125"/>
            <a:ext cx="6206068" cy="5528766"/>
          </a:xfrm>
        </p:spPr>
        <p:txBody>
          <a:bodyPr>
            <a:normAutofit/>
          </a:bodyPr>
          <a:lstStyle/>
          <a:p>
            <a:r>
              <a:rPr lang="bg-BG" sz="3000" b="1" dirty="0"/>
              <a:t>Уеб сайтът </a:t>
            </a:r>
            <a:r>
              <a:rPr lang="bg-BG" sz="3000" dirty="0"/>
              <a:t>е </a:t>
            </a:r>
            <a:r>
              <a:rPr lang="bg-BG" sz="3000" b="1" dirty="0">
                <a:solidFill>
                  <a:schemeClr val="bg1"/>
                </a:solidFill>
              </a:rPr>
              <a:t>създаден</a:t>
            </a:r>
          </a:p>
          <a:p>
            <a:r>
              <a:rPr lang="bg-BG" sz="3000" dirty="0"/>
              <a:t>Достъпваме </a:t>
            </a:r>
            <a:r>
              <a:rPr lang="bg-BG" sz="3000" b="1" dirty="0">
                <a:solidFill>
                  <a:schemeClr val="bg1"/>
                </a:solidFill>
              </a:rPr>
              <a:t>административния панел</a:t>
            </a:r>
            <a:r>
              <a:rPr lang="bg-BG" sz="3000" dirty="0"/>
              <a:t> чрез</a:t>
            </a:r>
            <a:r>
              <a:rPr lang="en-US" sz="3000" dirty="0"/>
              <a:t>:</a:t>
            </a:r>
          </a:p>
          <a:p>
            <a:pPr lvl="1"/>
            <a:r>
              <a:rPr lang="bg-BG" sz="2800" b="1" dirty="0"/>
              <a:t>[</a:t>
            </a:r>
            <a:r>
              <a:rPr lang="bg-BG" sz="2800" b="1" i="1" dirty="0"/>
              <a:t>адрес</a:t>
            </a:r>
            <a:r>
              <a:rPr lang="bg-BG" sz="2800" b="1" dirty="0"/>
              <a:t>.</a:t>
            </a:r>
            <a:r>
              <a:rPr lang="en-GB" sz="2800" b="1" dirty="0"/>
              <a:t>wordpress.com/</a:t>
            </a:r>
            <a:r>
              <a:rPr lang="en-GB" sz="2800" b="1" dirty="0">
                <a:solidFill>
                  <a:schemeClr val="bg1"/>
                </a:solidFill>
              </a:rPr>
              <a:t>wp-admin</a:t>
            </a:r>
            <a:r>
              <a:rPr lang="en-GB" sz="2800" b="1" dirty="0"/>
              <a:t>]</a:t>
            </a:r>
            <a:endParaRPr lang="en-BG" sz="28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E17936-5ADD-5A3D-9E33-C08B05C18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Административен панел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D0B122-5B37-EA91-9F2A-1C99F69D08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6469" y="1512562"/>
            <a:ext cx="5605130" cy="4775186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02725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8DBF0-88D5-AAFD-4CE2-6BBE23748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28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EF55C-5057-A75D-B408-0EA5656636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Кликаме върху </a:t>
            </a:r>
            <a:r>
              <a:rPr lang="bg-BG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Settings</a:t>
            </a:r>
            <a:r>
              <a:rPr lang="en-US" sz="3000" b="1" dirty="0"/>
              <a:t>] </a:t>
            </a:r>
            <a:r>
              <a:rPr lang="bg-BG" sz="3000" b="1" dirty="0"/>
              <a:t>→ </a:t>
            </a:r>
            <a:r>
              <a:rPr lang="en-US" sz="3000" b="1" dirty="0"/>
              <a:t>[</a:t>
            </a:r>
            <a:r>
              <a:rPr lang="en-US" sz="3000" b="1" dirty="0">
                <a:solidFill>
                  <a:schemeClr val="bg1"/>
                </a:solidFill>
              </a:rPr>
              <a:t>General</a:t>
            </a:r>
            <a:r>
              <a:rPr lang="en-US" sz="3000" b="1" dirty="0"/>
              <a:t>]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заглавието</a:t>
            </a:r>
            <a:r>
              <a:rPr lang="bg-BG" sz="3000" dirty="0"/>
              <a:t> на </a:t>
            </a:r>
            <a:r>
              <a:rPr lang="bg-BG" sz="3000" b="1" dirty="0"/>
              <a:t>уеб сайта</a:t>
            </a:r>
          </a:p>
          <a:p>
            <a:r>
              <a:rPr lang="bg-BG" sz="3000" dirty="0"/>
              <a:t>Променяме </a:t>
            </a:r>
            <a:r>
              <a:rPr lang="bg-BG" sz="3000" b="1" dirty="0">
                <a:solidFill>
                  <a:schemeClr val="bg1"/>
                </a:solidFill>
              </a:rPr>
              <a:t>краткото описание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99BCFA-032F-A2B2-DD87-CABBED13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Първоначални настройки (1</a:t>
            </a:r>
            <a:r>
              <a:rPr lang="en-US" dirty="0"/>
              <a:t>)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6ECDAE-D59E-4FA0-F14F-417DD90352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52203" y="3227359"/>
            <a:ext cx="2745000" cy="32728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0E9401-96AF-636D-D71A-B2570C7B0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003" y="3114000"/>
            <a:ext cx="5707920" cy="18493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CE39819-135B-3926-AB5B-A29AACDB03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59003" y="4963366"/>
            <a:ext cx="5707921" cy="86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728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98DBF0-88D5-AAFD-4CE2-6BBE23748C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29</a:t>
            </a:fld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DEF55C-5057-A75D-B408-0EA56566365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български език </a:t>
            </a:r>
          </a:p>
          <a:p>
            <a:r>
              <a:rPr lang="bg-BG" sz="3000" dirty="0"/>
              <a:t>Избираме </a:t>
            </a:r>
            <a:r>
              <a:rPr lang="bg-BG" sz="3000" b="1" dirty="0">
                <a:solidFill>
                  <a:schemeClr val="bg1"/>
                </a:solidFill>
              </a:rPr>
              <a:t>часова зона</a:t>
            </a:r>
          </a:p>
          <a:p>
            <a:r>
              <a:rPr lang="bg-BG" sz="3000" b="1" dirty="0"/>
              <a:t>Запазваме промените</a:t>
            </a:r>
            <a:endParaRPr lang="en-BG" sz="3000" b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99BCFA-032F-A2B2-DD87-CABBED135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Първоначални настройки</a:t>
            </a:r>
            <a:r>
              <a:rPr lang="en-US" dirty="0"/>
              <a:t> (2)</a:t>
            </a:r>
            <a:endParaRPr lang="en-BG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0674478-78E0-365C-C5C3-B1BC3D32F1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2214000"/>
            <a:ext cx="5863723" cy="11023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9C9F83-5894-9A1B-90AB-67AF77E121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4418760"/>
            <a:ext cx="5863723" cy="11023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492820-53FC-55FA-EBBF-443B4A51CC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25703" y="3316380"/>
            <a:ext cx="5863723" cy="1102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4558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9938849-4693-176C-1701-3C40BF78B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067CD-8E6B-4360-9AA8-C5DF2A48A6D1}" type="slidenum">
              <a:rPr lang="en-US" noProof="0" smtClean="0"/>
              <a:pPr/>
              <a:t>30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17470BA-D0DB-65E1-98A9-5A4986673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Резултат</a:t>
            </a:r>
            <a:endParaRPr lang="en-B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3CCCCA-B2A5-A9FB-56EA-DE98C142EA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37668" y="1231142"/>
            <a:ext cx="4516664" cy="5482858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207827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Summary Box Group">
            <a:extLst>
              <a:ext uri="{FF2B5EF4-FFF2-40B4-BE49-F238E27FC236}">
                <a16:creationId xmlns:a16="http://schemas.microsoft.com/office/drawing/2014/main" id="{EBAFE522-EB7D-4931-A015-9A7E8A98517D}"/>
              </a:ext>
            </a:extLst>
          </p:cNvPr>
          <p:cNvGrpSpPr/>
          <p:nvPr/>
        </p:nvGrpSpPr>
        <p:grpSpPr>
          <a:xfrm>
            <a:off x="190406" y="1360993"/>
            <a:ext cx="11562624" cy="5394328"/>
            <a:chOff x="472011" y="1508786"/>
            <a:chExt cx="3799787" cy="4865561"/>
          </a:xfrm>
        </p:grpSpPr>
        <p:sp>
          <p:nvSpPr>
            <p:cNvPr id="10" name="Rounded Rectangle Blue">
              <a:extLst>
                <a:ext uri="{FF2B5EF4-FFF2-40B4-BE49-F238E27FC236}">
                  <a16:creationId xmlns:a16="http://schemas.microsoft.com/office/drawing/2014/main" id="{18F78F23-3D09-4B63-8DF9-D49CFBB145EE}"/>
                </a:ext>
              </a:extLst>
            </p:cNvPr>
            <p:cNvSpPr/>
            <p:nvPr/>
          </p:nvSpPr>
          <p:spPr>
            <a:xfrm>
              <a:off x="472011" y="1508786"/>
              <a:ext cx="3799787" cy="4865561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/>
            </a:p>
          </p:txBody>
        </p:sp>
        <p:sp>
          <p:nvSpPr>
            <p:cNvPr id="11" name="Rounded Rectangle Left">
              <a:extLst>
                <a:ext uri="{FF2B5EF4-FFF2-40B4-BE49-F238E27FC236}">
                  <a16:creationId xmlns:a16="http://schemas.microsoft.com/office/drawing/2014/main" id="{F12C06CE-2BBE-46C2-B718-813794C58DF9}"/>
                </a:ext>
              </a:extLst>
            </p:cNvPr>
            <p:cNvSpPr/>
            <p:nvPr/>
          </p:nvSpPr>
          <p:spPr>
            <a:xfrm>
              <a:off x="546866" y="1696737"/>
              <a:ext cx="81601" cy="4489658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bg1"/>
                </a:solidFill>
              </a:endParaRPr>
            </a:p>
          </p:txBody>
        </p:sp>
        <p:sp>
          <p:nvSpPr>
            <p:cNvPr id="12" name="Half Frame Top Right">
              <a:extLst>
                <a:ext uri="{FF2B5EF4-FFF2-40B4-BE49-F238E27FC236}">
                  <a16:creationId xmlns:a16="http://schemas.microsoft.com/office/drawing/2014/main" id="{66CDBB1E-AF3C-43FC-9F34-2DD691F81726}"/>
                </a:ext>
              </a:extLst>
            </p:cNvPr>
            <p:cNvSpPr/>
            <p:nvPr/>
          </p:nvSpPr>
          <p:spPr>
            <a:xfrm rot="5400000">
              <a:off x="3742559" y="1912372"/>
              <a:ext cx="669775" cy="238503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 Placeholder Body">
            <a:extLst>
              <a:ext uri="{FF2B5EF4-FFF2-40B4-BE49-F238E27FC236}">
                <a16:creationId xmlns:a16="http://schemas.microsoft.com/office/drawing/2014/main" id="{0E49D336-45B6-44D3-97C4-E28F8DEA20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7877" y="1676785"/>
            <a:ext cx="10826625" cy="4977574"/>
          </a:xfrm>
        </p:spPr>
        <p:txBody>
          <a:bodyPr>
            <a:noAutofit/>
          </a:bodyPr>
          <a:lstStyle>
            <a:lvl1pPr marL="514350" indent="-514350">
              <a:buFont typeface="Wingdings" panose="05000000000000000000" pitchFamily="2" charset="2"/>
              <a:buChar char="§"/>
              <a:defRPr>
                <a:solidFill>
                  <a:schemeClr val="bg2"/>
                </a:solidFill>
              </a:defRPr>
            </a:lvl1pPr>
            <a:lvl2pPr marL="112393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2pPr>
            <a:lvl3pPr marL="1733520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 marL="2343105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4pPr>
            <a:lvl5pPr marL="2952689" indent="-514350"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b="1" dirty="0"/>
              <a:t>улеснява управлението </a:t>
            </a:r>
            <a:r>
              <a:rPr lang="bg-BG" sz="3000" dirty="0"/>
              <a:t>на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уеб съдържание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dirty="0"/>
              <a:t>може да бъде представена чрез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три слоя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Клиентският слой </a:t>
            </a:r>
            <a:r>
              <a:rPr lang="bg-BG" sz="2800" dirty="0">
                <a:solidFill>
                  <a:schemeClr val="bg2"/>
                </a:solidFill>
              </a:rPr>
              <a:t>показва </a:t>
            </a:r>
            <a:r>
              <a:rPr lang="bg-BG" sz="2800" b="1" dirty="0">
                <a:solidFill>
                  <a:schemeClr val="bg2"/>
                </a:solidFill>
              </a:rPr>
              <a:t>съдържанието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Бизнес слоят </a:t>
            </a:r>
            <a:r>
              <a:rPr lang="bg-BG" sz="2800" dirty="0">
                <a:solidFill>
                  <a:schemeClr val="bg2"/>
                </a:solidFill>
              </a:rPr>
              <a:t>обработва</a:t>
            </a:r>
            <a:r>
              <a:rPr lang="bg-BG" sz="2800" b="1" dirty="0">
                <a:solidFill>
                  <a:schemeClr val="bg2"/>
                </a:solidFill>
              </a:rPr>
              <a:t> заявките</a:t>
            </a:r>
          </a:p>
          <a:p>
            <a:pPr marL="969948" lvl="1" indent="-360363" fontAlgn="base">
              <a:buClr>
                <a:schemeClr val="bg2"/>
              </a:buClr>
            </a:pPr>
            <a:r>
              <a:rPr lang="bg-BG" sz="28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Слоят за данни </a:t>
            </a:r>
            <a:r>
              <a:rPr lang="bg-BG" sz="2800" dirty="0">
                <a:solidFill>
                  <a:schemeClr val="bg2"/>
                </a:solidFill>
              </a:rPr>
              <a:t>съхранява </a:t>
            </a:r>
            <a:r>
              <a:rPr lang="bg-BG" sz="2800" b="1" dirty="0">
                <a:solidFill>
                  <a:schemeClr val="bg2"/>
                </a:solidFill>
              </a:rPr>
              <a:t>информацията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WordPress </a:t>
            </a:r>
            <a:r>
              <a:rPr lang="bg-BG" sz="3000" dirty="0"/>
              <a:t>е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CMS </a:t>
            </a:r>
            <a:r>
              <a:rPr lang="bg-BG" sz="3000" dirty="0"/>
              <a:t>с</a:t>
            </a:r>
            <a:r>
              <a:rPr lang="bg-BG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bg-BG" sz="3000" b="1" dirty="0"/>
              <a:t>отворен код</a:t>
            </a:r>
          </a:p>
          <a:p>
            <a:pPr marL="360363" indent="-360363" fontAlgn="base">
              <a:buClr>
                <a:schemeClr val="bg2"/>
              </a:buClr>
            </a:pPr>
            <a:r>
              <a:rPr lang="en-US" sz="30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WordPress </a:t>
            </a:r>
            <a:r>
              <a:rPr lang="bg-BG" sz="3000" dirty="0"/>
              <a:t>се инсталира на </a:t>
            </a:r>
            <a:r>
              <a:rPr lang="bg-BG" sz="3000" b="1" dirty="0"/>
              <a:t>уеб хостинг</a:t>
            </a:r>
          </a:p>
        </p:txBody>
      </p:sp>
      <p:sp>
        <p:nvSpPr>
          <p:cNvPr id="4" name="Slide 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Обобщение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E369AAE7-BDDC-FE11-A61E-E20F7F6632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noProof="0" smtClean="0"/>
              <a:pPr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23049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Title">
            <a:extLst>
              <a:ext uri="{FF2B5EF4-FFF2-40B4-BE49-F238E27FC236}">
                <a16:creationId xmlns:a16="http://schemas.microsoft.com/office/drawing/2014/main" id="{FA0703FC-0F8F-4C80-A615-E4B381EC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Въпроси</a:t>
            </a:r>
            <a:r>
              <a:rPr lang="en-US" dirty="0"/>
              <a:t>?</a:t>
            </a:r>
          </a:p>
        </p:txBody>
      </p:sp>
      <p:sp>
        <p:nvSpPr>
          <p:cNvPr id="2" name="Rectangle Bottom Copyright">
            <a:extLst>
              <a:ext uri="{FF2B5EF4-FFF2-40B4-BE49-F238E27FC236}">
                <a16:creationId xmlns:a16="http://schemas.microsoft.com/office/drawing/2014/main" id="{664812A4-2991-44D1-BFE9-32E55AADF8A5}"/>
              </a:ext>
            </a:extLst>
          </p:cNvPr>
          <p:cNvSpPr/>
          <p:nvPr/>
        </p:nvSpPr>
        <p:spPr>
          <a:xfrm>
            <a:off x="111000" y="6454758"/>
            <a:ext cx="11970000" cy="304242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Проект "</a:t>
            </a:r>
            <a:r>
              <a:rPr lang="bg-BG" sz="1600" dirty="0">
                <a:solidFill>
                  <a:schemeClr val="bg1">
                    <a:lumMod val="20000"/>
                    <a:lumOff val="80000"/>
                  </a:schemeClr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Отворено учебно съдържание по програмиране и ИТ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", СофтУни Фондация (лиценз </a:t>
            </a:r>
            <a:r>
              <a:rPr lang="en-US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CC-BY-NC-SA</a:t>
            </a:r>
            <a:r>
              <a:rPr lang="bg-BG" sz="1600" dirty="0">
                <a:solidFill>
                  <a:schemeClr val="bg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</a:t>
            </a:r>
            <a:endParaRPr lang="bg-BG" sz="2400" dirty="0">
              <a:solidFill>
                <a:schemeClr val="bg2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2534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">
            <a:extLst>
              <a:ext uri="{FF2B5EF4-FFF2-40B4-BE49-F238E27FC236}">
                <a16:creationId xmlns:a16="http://schemas.microsoft.com/office/drawing/2014/main" id="{F48C3C93-90A1-4D31-BEA6-B54D1106CE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11753030" y="6507000"/>
            <a:ext cx="367414" cy="2970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/>
            </a:lvl1pPr>
          </a:lstStyle>
          <a:p>
            <a:fld id="{2BF067CD-8E6B-4360-9AA8-C5DF2A48A6D1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2" name="Slide Body">
            <a:extLst>
              <a:ext uri="{FF2B5EF4-FFF2-40B4-BE49-F238E27FC236}">
                <a16:creationId xmlns:a16="http://schemas.microsoft.com/office/drawing/2014/main" id="{980F49B1-E4BE-4389-A747-7AB9B71AD9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90402" y="1269001"/>
            <a:ext cx="9865598" cy="247499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bg-BG" sz="3200" dirty="0"/>
              <a:t>Този курс</a:t>
            </a:r>
            <a:r>
              <a:rPr lang="en-US" sz="3200" dirty="0"/>
              <a:t> (</a:t>
            </a:r>
            <a:r>
              <a:rPr lang="bg-BG" sz="3200" dirty="0"/>
              <a:t>презентации, примери, демонстрационен код, упражнения, домашни, видео и други активи</a:t>
            </a:r>
            <a:r>
              <a:rPr lang="en-US" sz="3200" dirty="0"/>
              <a:t>) </a:t>
            </a:r>
            <a:r>
              <a:rPr lang="bg-BG" sz="3200" dirty="0"/>
              <a:t>представлява</a:t>
            </a:r>
            <a:r>
              <a:rPr lang="en-US" sz="3200" dirty="0"/>
              <a:t> </a:t>
            </a:r>
            <a:r>
              <a:rPr lang="bg-BG" sz="3200" b="1" dirty="0"/>
              <a:t>свободно учебно съдържание </a:t>
            </a:r>
            <a:r>
              <a:rPr lang="bg-BG" sz="3200" dirty="0"/>
              <a:t>и се разпространява под свободен лиценз </a:t>
            </a:r>
            <a:r>
              <a:rPr lang="en-US" sz="3200" b="1" dirty="0"/>
              <a:t>CC-BY-NC-SA</a:t>
            </a:r>
            <a:endParaRPr lang="bg-BG" sz="3200" dirty="0"/>
          </a:p>
        </p:txBody>
      </p:sp>
      <p:pic>
        <p:nvPicPr>
          <p:cNvPr id="6" name="Picture License" descr="License">
            <a:extLst>
              <a:ext uri="{FF2B5EF4-FFF2-40B4-BE49-F238E27FC236}">
                <a16:creationId xmlns:a16="http://schemas.microsoft.com/office/drawing/2014/main" id="{82BA520F-A037-4E01-AA18-27D9F1E930A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226175" y="1440120"/>
            <a:ext cx="1198986" cy="1268880"/>
          </a:xfrm>
          <a:prstGeom prst="rect">
            <a:avLst/>
          </a:prstGeom>
        </p:spPr>
      </p:pic>
      <p:sp>
        <p:nvSpPr>
          <p:cNvPr id="3" name="Slide Title">
            <a:extLst>
              <a:ext uri="{FF2B5EF4-FFF2-40B4-BE49-F238E27FC236}">
                <a16:creationId xmlns:a16="http://schemas.microsoft.com/office/drawing/2014/main" id="{E5F1FB41-80C3-4816-BC47-CCC50632E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Лиценз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8DF19-B750-4C88-975B-661A6BF61F5E}"/>
              </a:ext>
            </a:extLst>
          </p:cNvPr>
          <p:cNvSpPr txBox="1"/>
          <p:nvPr/>
        </p:nvSpPr>
        <p:spPr>
          <a:xfrm>
            <a:off x="190401" y="3927519"/>
            <a:ext cx="11710599" cy="1979644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360363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lang="bg-BG" sz="3200" dirty="0"/>
              <a:t>Проект "</a:t>
            </a:r>
            <a:r>
              <a:rPr lang="bg-BG" sz="3200" b="1" dirty="0"/>
              <a:t>Отворено учебно съдържание по програмиране и ИТ</a:t>
            </a:r>
            <a:r>
              <a:rPr lang="bg-BG" sz="3200" dirty="0"/>
              <a:t>" към Фондация "Софтуерен университет"</a:t>
            </a:r>
            <a:r>
              <a:rPr lang="en-US" sz="3200" dirty="0"/>
              <a:t>:</a:t>
            </a:r>
            <a:endParaRPr lang="bg-BG" sz="3200" dirty="0"/>
          </a:p>
          <a:p>
            <a:pPr marL="817563" lvl="1" indent="-360363" defTabSz="1218438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234465"/>
                </a:solidFill>
                <a:effectLst/>
                <a:uLnTx/>
                <a:uFillTx/>
                <a:latin typeface="Calibri"/>
                <a:ea typeface="+mn-ea"/>
                <a:cs typeface="+mn-cs"/>
                <a:hlinkClick r:id="rId4"/>
              </a:rPr>
              <a:t>https://github.com/BG-IT-Edu</a:t>
            </a:r>
            <a:endParaRPr kumimoji="0" lang="bg-BG" sz="3200" b="0" i="0" u="none" strike="noStrike" kern="1200" cap="none" spc="0" normalizeH="0" baseline="0" noProof="0" dirty="0">
              <a:ln>
                <a:noFill/>
              </a:ln>
              <a:solidFill>
                <a:srgbClr val="23446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7" name="Picture 6" title="CC-BY-NC-SA License">
            <a:hlinkClick r:id="rId5" tooltip="This work is licensed under the &quot;Creative Commons Attribution-NonCommercial-ShareAlike 4.0 International&quot; license"/>
            <a:extLst>
              <a:ext uri="{FF2B5EF4-FFF2-40B4-BE49-F238E27FC236}">
                <a16:creationId xmlns:a16="http://schemas.microsoft.com/office/drawing/2014/main" id="{F6C77C47-F7D8-A176-5C69-7FDE5C7E80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831000" y="2908593"/>
            <a:ext cx="1989336" cy="696022"/>
          </a:xfrm>
          <a:prstGeom prst="roundRect">
            <a:avLst>
              <a:gd name="adj" fmla="val 3940"/>
            </a:avLst>
          </a:prstGeom>
          <a:solidFill>
            <a:srgbClr val="231F20">
              <a:alpha val="50000"/>
            </a:srgbClr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79276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5000"/>
    </mc:Choice>
    <mc:Fallback xmlns="">
      <p:transition spd="slow" advClick="0" advTm="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8|0.4|0.3|0.5|0.3|0.3|0.4|0.4"/>
</p:tagLst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SoftUni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dk2">
            <a:alpha val="80000"/>
          </a:schemeClr>
        </a:solidFill>
        <a:ln w="19050">
          <a:solidFill>
            <a:schemeClr val="tx1">
              <a:lumMod val="75000"/>
              <a:alpha val="80000"/>
            </a:schemeClr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2800" b="1" dirty="0">
            <a:solidFill>
              <a:srgbClr val="FFFFFF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defRPr>
        </a:defPPr>
      </a:lstStyle>
      <a:style>
        <a:lnRef idx="2">
          <a:schemeClr val="accent1">
            <a:shade val="50000"/>
          </a:schemeClr>
        </a:lnRef>
        <a:fillRef idx="1001">
          <a:schemeClr val="dk2"/>
        </a:fillRef>
        <a:effectRef idx="0">
          <a:schemeClr val="accent1"/>
        </a:effectRef>
        <a:fontRef idx="minor">
          <a:schemeClr val="lt1"/>
        </a:fontRef>
      </a:style>
    </a:spDef>
    <a:txDef>
      <a:spPr>
        <a:solidFill>
          <a:schemeClr val="accent6">
            <a:lumMod val="75000"/>
            <a:alpha val="15000"/>
          </a:schemeClr>
        </a:solidFill>
        <a:ln w="12700">
          <a:solidFill>
            <a:schemeClr val="tx1">
              <a:lumMod val="75000"/>
            </a:schemeClr>
          </a:solidFill>
        </a:ln>
      </a:spPr>
      <a:bodyPr vert="horz" wrap="square" lIns="144000" tIns="108000" rIns="144000" bIns="108000" rtlCol="0">
        <a:spAutoFit/>
      </a:bodyPr>
      <a:lstStyle>
        <a:defPPr algn="l" eaLnBrk="0" hangingPunct="0">
          <a:lnSpc>
            <a:spcPct val="110000"/>
          </a:lnSpc>
          <a:buClr>
            <a:schemeClr val="accent5">
              <a:lumMod val="40000"/>
              <a:lumOff val="60000"/>
            </a:schemeClr>
          </a:buClr>
          <a:buSzPct val="70000"/>
          <a:defRPr sz="24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ftUni" id="{D61FAD9B-6E74-4E03-BFE4-B363D484F1DA}" vid="{7089C1A3-635B-4B03-A017-DAF10A3A39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49507</TotalTime>
  <Words>1189</Words>
  <Application>Microsoft Office PowerPoint</Application>
  <PresentationFormat>Widescreen</PresentationFormat>
  <Paragraphs>221</Paragraphs>
  <Slides>33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Wingdings</vt:lpstr>
      <vt:lpstr>SoftUni</vt:lpstr>
      <vt:lpstr>CMS. Въведение в WordPress</vt:lpstr>
      <vt:lpstr>Съдържание</vt:lpstr>
      <vt:lpstr>Уеб съдържание</vt:lpstr>
      <vt:lpstr>Уеб съдържание</vt:lpstr>
      <vt:lpstr>Видове уеб съдържание</vt:lpstr>
      <vt:lpstr>Етапи при управление на уеб съдържание</vt:lpstr>
      <vt:lpstr>CMS</vt:lpstr>
      <vt:lpstr>CMS</vt:lpstr>
      <vt:lpstr>Предназначение на CMS</vt:lpstr>
      <vt:lpstr>Примери за CMS</vt:lpstr>
      <vt:lpstr>Предимства и недостатъци</vt:lpstr>
      <vt:lpstr>CMS – Пример</vt:lpstr>
      <vt:lpstr>Архитектура на CMS</vt:lpstr>
      <vt:lpstr>Трислойна архитектура на CMS</vt:lpstr>
      <vt:lpstr>Клиентски слой (Front-End)</vt:lpstr>
      <vt:lpstr>Бизнес слой (Business Tier)</vt:lpstr>
      <vt:lpstr>Слой за данни (Back-End)</vt:lpstr>
      <vt:lpstr>Трислойна архитектура – Пример</vt:lpstr>
      <vt:lpstr>Въведение в WordPress</vt:lpstr>
      <vt:lpstr>WordPress</vt:lpstr>
      <vt:lpstr>Основни възможности на WordPress</vt:lpstr>
      <vt:lpstr>WordPress.com vs. WordPress.org</vt:lpstr>
      <vt:lpstr>Пример</vt:lpstr>
      <vt:lpstr>Създаване на WordPress сайт</vt:lpstr>
      <vt:lpstr>Създаване на профил</vt:lpstr>
      <vt:lpstr>Задаване на адрес на уеб сайта</vt:lpstr>
      <vt:lpstr>Административен панел</vt:lpstr>
      <vt:lpstr>Първоначални настройки (1)</vt:lpstr>
      <vt:lpstr>Първоначални настройки (2)</vt:lpstr>
      <vt:lpstr>Резултат</vt:lpstr>
      <vt:lpstr>Обобщение</vt:lpstr>
      <vt:lpstr>Въпроси?</vt:lpstr>
      <vt:lpstr>Лиценз</vt:lpstr>
    </vt:vector>
  </TitlesOfParts>
  <Manager/>
  <Company>BG-IT-Edu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CMS. Въведение в WordPress</dc:title>
  <dc:subject>Модул 3: Информационни технологии</dc:subject>
  <dc:creator>BG-IT-Edu</dc:creator>
  <cp:keywords>programming; training; course</cp:keywords>
  <dc:description>Open Programming and IT Courseware for IT Teachers (BG-IT-Edu): https://github.com/BG-IT-Edu
With the kind support of SoftUni: https://softuni.bg</dc:description>
  <cp:lastModifiedBy>Zaraliev</cp:lastModifiedBy>
  <cp:revision>432</cp:revision>
  <dcterms:created xsi:type="dcterms:W3CDTF">2018-05-23T13:08:44Z</dcterms:created>
  <dcterms:modified xsi:type="dcterms:W3CDTF">2026-08-21T12:22:45Z</dcterms:modified>
  <cp:category/>
</cp:coreProperties>
</file>