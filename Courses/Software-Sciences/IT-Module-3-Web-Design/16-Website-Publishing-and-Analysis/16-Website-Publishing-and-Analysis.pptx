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39F_3DA2F2A7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3C2_E1476CCF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4"/>
  </p:notesMasterIdLst>
  <p:handoutMasterIdLst>
    <p:handoutMasterId r:id="rId35"/>
  </p:handoutMasterIdLst>
  <p:sldIdLst>
    <p:sldId id="503" r:id="rId2"/>
    <p:sldId id="276" r:id="rId3"/>
    <p:sldId id="353" r:id="rId4"/>
    <p:sldId id="880" r:id="rId5"/>
    <p:sldId id="942" r:id="rId6"/>
    <p:sldId id="943" r:id="rId7"/>
    <p:sldId id="927" r:id="rId8"/>
    <p:sldId id="957" r:id="rId9"/>
    <p:sldId id="944" r:id="rId10"/>
    <p:sldId id="610" r:id="rId11"/>
    <p:sldId id="907" r:id="rId12"/>
    <p:sldId id="945" r:id="rId13"/>
    <p:sldId id="949" r:id="rId14"/>
    <p:sldId id="958" r:id="rId15"/>
    <p:sldId id="947" r:id="rId16"/>
    <p:sldId id="948" r:id="rId17"/>
    <p:sldId id="950" r:id="rId18"/>
    <p:sldId id="939" r:id="rId19"/>
    <p:sldId id="954" r:id="rId20"/>
    <p:sldId id="953" r:id="rId21"/>
    <p:sldId id="966" r:id="rId22"/>
    <p:sldId id="654" r:id="rId23"/>
    <p:sldId id="911" r:id="rId24"/>
    <p:sldId id="961" r:id="rId25"/>
    <p:sldId id="962" r:id="rId26"/>
    <p:sldId id="963" r:id="rId27"/>
    <p:sldId id="968" r:id="rId28"/>
    <p:sldId id="965" r:id="rId29"/>
    <p:sldId id="938" r:id="rId30"/>
    <p:sldId id="633" r:id="rId31"/>
    <p:sldId id="504" r:id="rId32"/>
    <p:sldId id="50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убликуване на уеб сайт" id="{66DCFE1F-60FD-44F2-BE82-706DDBC14898}">
          <p14:sldIdLst>
            <p14:sldId id="353"/>
            <p14:sldId id="880"/>
            <p14:sldId id="942"/>
            <p14:sldId id="943"/>
            <p14:sldId id="927"/>
            <p14:sldId id="957"/>
            <p14:sldId id="944"/>
          </p14:sldIdLst>
        </p14:section>
        <p14:section name="Оптимизация за търсещи машини (SEO)" id="{EB44CA50-B176-0C4C-B0D0-5459023C7783}">
          <p14:sldIdLst>
            <p14:sldId id="610"/>
            <p14:sldId id="907"/>
            <p14:sldId id="945"/>
            <p14:sldId id="949"/>
            <p14:sldId id="958"/>
            <p14:sldId id="947"/>
            <p14:sldId id="948"/>
            <p14:sldId id="950"/>
          </p14:sldIdLst>
        </p14:section>
        <p14:section name="Анализ на посещаемостта" id="{888DD685-DD75-3B45-9EA5-C6B2CC4C61AA}">
          <p14:sldIdLst>
            <p14:sldId id="939"/>
            <p14:sldId id="954"/>
            <p14:sldId id="953"/>
            <p14:sldId id="966"/>
          </p14:sldIdLst>
        </p14:section>
        <p14:section name="Демо" id="{276EAB92-AF41-DD42-AFD3-D1ABB239E1A7}">
          <p14:sldIdLst>
            <p14:sldId id="654"/>
            <p14:sldId id="911"/>
            <p14:sldId id="961"/>
            <p14:sldId id="962"/>
            <p14:sldId id="963"/>
            <p14:sldId id="968"/>
            <p14:sldId id="965"/>
            <p14:sldId id="938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 autoAdjust="0"/>
    <p:restoredTop sz="95427" autoAdjust="0"/>
  </p:normalViewPr>
  <p:slideViewPr>
    <p:cSldViewPr showGuides="1">
      <p:cViewPr varScale="1">
        <p:scale>
          <a:sx n="82" d="100"/>
          <a:sy n="82" d="100"/>
        </p:scale>
        <p:origin x="114" y="612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15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omments/modernComment_3C2_E1476CC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643C3E6-CD84-4D91-8D76-8A2B23C396C3}" authorId="{CB4BF2F8-D32F-9387-A6CE-368ED6EFDCF0}" created="2026-08-03T15:40:13.9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79554511" sldId="962"/>
      <ac:picMk id="6" creationId="{9796BCE6-A9F1-E11A-C181-C4F9D27619E6}"/>
    </ac:deMkLst>
    <p188:txBody>
      <a:bodyPr/>
      <a:lstStyle/>
      <a:p>
        <a:r>
          <a:rPr lang="en-GB"/>
          <a:t>Актуализирай частта за netlify спрямо последните ъпдейти</a:t>
        </a:r>
      </a:p>
    </p188:txBody>
  </p188:cm>
</p188:cmLst>
</file>

<file path=ppt/comments/modernComment_39F_3DA2F2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12E4E47-560D-42C5-92D2-E08648EDD8C0}" authorId="{CB4BF2F8-D32F-9387-A6CE-368ED6EFDCF0}" created="2026-08-03T15:31:29.32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034089127" sldId="927"/>
      <ac:spMk id="3" creationId="{744174F8-CC61-813B-0FF9-075C4B18E834}"/>
      <ac:txMk cp="67" len="58">
        <ac:context len="166" hash="2545021002"/>
      </ac:txMk>
    </ac:txMkLst>
    <p188:pos x="6503475" y="1687752"/>
    <p188:txBody>
      <a:bodyPr/>
      <a:lstStyle/>
      <a:p>
        <a:r>
          <a:rPr lang="en-GB"/>
          <a:t>Махни странните доставчици на услуги (неловко ми е) и добави vercel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3.8.2026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995667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81965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03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www.infinityfree.com/" TargetMode="External"/><Relationship Id="rId7" Type="http://schemas.openxmlformats.org/officeDocument/2006/relationships/hyperlink" Target="https://app.netlify.com/drop" TargetMode="External"/><Relationship Id="rId12" Type="http://schemas.openxmlformats.org/officeDocument/2006/relationships/image" Target="../media/image17.png"/><Relationship Id="rId2" Type="http://schemas.microsoft.com/office/2018/10/relationships/comments" Target="../comments/modernComment_39F_3DA2F2A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000webhost.net/" TargetMode="External"/><Relationship Id="rId11" Type="http://schemas.openxmlformats.org/officeDocument/2006/relationships/image" Target="../media/image16.png"/><Relationship Id="rId5" Type="http://schemas.openxmlformats.org/officeDocument/2006/relationships/hyperlink" Target="https://googiehost.com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www.freehosting.com/" TargetMode="External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netlify.com/drop" TargetMode="External"/><Relationship Id="rId2" Type="http://schemas.microsoft.com/office/2018/10/relationships/comments" Target="../comments/modernComment_3C2_E1476CCF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summer-vacation-demo.netlify.app/" TargetMode="Externa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en-US" sz="3800" dirty="0"/>
              <a:t>SEO, RSS, </a:t>
            </a:r>
            <a:r>
              <a:rPr lang="bg-BG" sz="3800" dirty="0"/>
              <a:t>анализ на посещаемостта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4200" dirty="0"/>
              <a:t>Публикуване и анализ на уеб сайт</a:t>
            </a:r>
            <a:endParaRPr lang="en-US" sz="4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0803D3B-9BD9-4344-9E83-7264217CEC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5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Публикуване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Статичен уеб сайт</a:t>
            </a:r>
          </a:p>
          <a:p>
            <a:pPr lvl="1">
              <a:buClr>
                <a:schemeClr val="tx1"/>
              </a:buClr>
            </a:pPr>
            <a:r>
              <a:rPr lang="en-US" sz="3600" b="1" dirty="0"/>
              <a:t>Netlify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Правни </a:t>
            </a:r>
            <a:r>
              <a:rPr lang="bg-BG" sz="3600" dirty="0"/>
              <a:t>и </a:t>
            </a:r>
            <a:r>
              <a:rPr lang="bg-BG" sz="3600" b="1" dirty="0"/>
              <a:t>етични норми </a:t>
            </a:r>
            <a:r>
              <a:rPr lang="bg-BG" sz="3600" dirty="0"/>
              <a:t>при публикуване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​​</a:t>
            </a:r>
            <a:r>
              <a:rPr lang="bg-BG" sz="3800" b="1" dirty="0">
                <a:solidFill>
                  <a:schemeClr val="bg1"/>
                </a:solidFill>
              </a:rPr>
              <a:t>Оптимизация за търсещи машини </a:t>
            </a:r>
            <a:r>
              <a:rPr lang="en-US" sz="3800" b="1" dirty="0"/>
              <a:t>(SEO)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принципи </a:t>
            </a:r>
            <a:r>
              <a:rPr lang="bg-BG" sz="3600" dirty="0"/>
              <a:t>и</a:t>
            </a:r>
            <a:r>
              <a:rPr lang="bg-BG" sz="3600" b="1" dirty="0"/>
              <a:t> етапи</a:t>
            </a:r>
          </a:p>
          <a:p>
            <a:pPr lvl="1">
              <a:buClr>
                <a:schemeClr val="tx1"/>
              </a:buClr>
            </a:pPr>
            <a:r>
              <a:rPr lang="bg-BG" sz="3800" b="1" dirty="0"/>
              <a:t>Рангово подреждане </a:t>
            </a:r>
            <a:r>
              <a:rPr lang="bg-BG" sz="3800" dirty="0"/>
              <a:t>(ранжиране)</a:t>
            </a:r>
          </a:p>
          <a:p>
            <a:pPr lvl="1">
              <a:buClr>
                <a:schemeClr val="tx1"/>
              </a:buClr>
            </a:pPr>
            <a:r>
              <a:rPr lang="bg-BG" sz="4000" b="1" dirty="0"/>
              <a:t>Инструменти </a:t>
            </a:r>
            <a:r>
              <a:rPr lang="bg-BG" sz="4000" dirty="0"/>
              <a:t>за</a:t>
            </a:r>
            <a:r>
              <a:rPr lang="bg-BG" sz="4000" b="1" dirty="0"/>
              <a:t> </a:t>
            </a:r>
            <a:r>
              <a:rPr lang="en-US" sz="4000" b="1" dirty="0"/>
              <a:t>SEO </a:t>
            </a:r>
            <a:r>
              <a:rPr lang="bg-BG" sz="4000" b="1" dirty="0"/>
              <a:t>анализ</a:t>
            </a:r>
            <a:endParaRPr lang="bg-BG" sz="3800" dirty="0"/>
          </a:p>
          <a:p>
            <a:pPr lvl="1"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en-US" sz="3800" b="1" dirty="0"/>
              <a:t>RSS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Анализ на посещаемостта</a:t>
            </a:r>
          </a:p>
          <a:p>
            <a:pPr lvl="1">
              <a:buClr>
                <a:schemeClr val="tx1"/>
              </a:buClr>
            </a:pPr>
            <a:r>
              <a:rPr lang="en-GB" sz="3600" b="1" dirty="0"/>
              <a:t>Google Analytics</a:t>
            </a:r>
            <a:endParaRPr lang="bg-BG" sz="3600" b="1" dirty="0"/>
          </a:p>
          <a:p>
            <a:pPr>
              <a:buClr>
                <a:schemeClr val="tx1"/>
              </a:buClr>
            </a:pPr>
            <a:r>
              <a:rPr lang="en-US" sz="3800" dirty="0"/>
              <a:t>​</a:t>
            </a:r>
            <a:r>
              <a:rPr lang="bg-BG" sz="3800" dirty="0"/>
              <a:t>​</a:t>
            </a: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Публикуване на уеб сайт</a:t>
            </a:r>
            <a:r>
              <a:rPr lang="en-US" sz="3800" dirty="0"/>
              <a:t> с</a:t>
            </a:r>
            <a:r>
              <a:rPr lang="bg-BG" sz="3800" dirty="0"/>
              <a:t> </a:t>
            </a:r>
            <a:r>
              <a:rPr lang="en-US" sz="3800" dirty="0"/>
              <a:t>Netlify</a:t>
            </a:r>
            <a:endParaRPr lang="bg-BG" sz="3800" dirty="0"/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От локални файлове към </a:t>
            </a:r>
            <a:r>
              <a:rPr lang="en-US" sz="4800" dirty="0"/>
              <a:t>URL </a:t>
            </a:r>
            <a:r>
              <a:rPr lang="bg-BG" sz="4800" dirty="0"/>
              <a:t>адрес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Публикуване на уеб сайт</a:t>
            </a:r>
            <a:endParaRPr lang="en-US"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ABC944-0B81-4D58-A4FB-DB353ABC8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6662" y="909000"/>
            <a:ext cx="3738675" cy="327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100" b="1" dirty="0"/>
              <a:t>Процесът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качване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файловете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уеб сайта </a:t>
            </a:r>
            <a:r>
              <a:rPr lang="bg-BG" sz="3100" dirty="0"/>
              <a:t>на </a:t>
            </a:r>
            <a:r>
              <a:rPr lang="bg-BG" sz="3100" b="1" dirty="0"/>
              <a:t>уеб сървър</a:t>
            </a:r>
          </a:p>
          <a:p>
            <a:r>
              <a:rPr lang="bg-BG" sz="3100" dirty="0"/>
              <a:t>След </a:t>
            </a:r>
            <a:r>
              <a:rPr lang="bg-BG" sz="3100" b="1" dirty="0">
                <a:solidFill>
                  <a:schemeClr val="bg1"/>
                </a:solidFill>
              </a:rPr>
              <a:t>публикуване</a:t>
            </a:r>
            <a:r>
              <a:rPr lang="bg-BG" sz="3100" dirty="0"/>
              <a:t> </a:t>
            </a:r>
            <a:r>
              <a:rPr lang="bg-BG" sz="3100" b="1" dirty="0"/>
              <a:t>уеб сайтът </a:t>
            </a:r>
            <a:r>
              <a:rPr lang="bg-BG" sz="3100" dirty="0"/>
              <a:t>се отваря чрез </a:t>
            </a:r>
            <a:r>
              <a:rPr lang="bg-BG" sz="3100" b="1" dirty="0">
                <a:solidFill>
                  <a:schemeClr val="bg1"/>
                </a:solidFill>
              </a:rPr>
              <a:t>публичен </a:t>
            </a:r>
            <a:r>
              <a:rPr lang="en-US" sz="3100" b="1" dirty="0">
                <a:solidFill>
                  <a:schemeClr val="bg1"/>
                </a:solidFill>
              </a:rPr>
              <a:t>URL </a:t>
            </a:r>
            <a:r>
              <a:rPr lang="bg-BG" sz="31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100" b="1" dirty="0"/>
              <a:t>Публикуваният уеб сайт </a:t>
            </a:r>
            <a:r>
              <a:rPr lang="bg-BG" sz="3100" dirty="0"/>
              <a:t>е </a:t>
            </a:r>
            <a:r>
              <a:rPr lang="bg-BG" sz="3100" b="1" dirty="0">
                <a:solidFill>
                  <a:schemeClr val="bg1"/>
                </a:solidFill>
              </a:rPr>
              <a:t>достъпен</a:t>
            </a:r>
            <a:r>
              <a:rPr lang="bg-BG" sz="3100" dirty="0"/>
              <a:t> от </a:t>
            </a:r>
            <a:r>
              <a:rPr lang="bg-BG" sz="3100" b="1" dirty="0"/>
              <a:t>различни устройства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3080C3-F4B4-5525-106C-3BA15F14E30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83200" y="3098662"/>
            <a:ext cx="6825600" cy="371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0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30BCD-F721-6C78-1F51-37AA9668A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6C8E0-B56A-657E-9026-46104515B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100" dirty="0"/>
              <a:t>Състои се от </a:t>
            </a:r>
            <a:r>
              <a:rPr lang="bg-BG" sz="3100" b="1" dirty="0">
                <a:solidFill>
                  <a:schemeClr val="bg1"/>
                </a:solidFill>
              </a:rPr>
              <a:t>статични файлове</a:t>
            </a:r>
          </a:p>
          <a:p>
            <a:r>
              <a:rPr lang="bg-BG" sz="3100" b="1" dirty="0">
                <a:solidFill>
                  <a:schemeClr val="bg1"/>
                </a:solidFill>
              </a:rPr>
              <a:t>Не изисква </a:t>
            </a:r>
            <a:r>
              <a:rPr lang="bg-BG" sz="3100" b="1" dirty="0"/>
              <a:t>сървърен код </a:t>
            </a:r>
            <a:r>
              <a:rPr lang="bg-BG" sz="3100" dirty="0"/>
              <a:t>или </a:t>
            </a:r>
            <a:r>
              <a:rPr lang="bg-BG" sz="3100" b="1" dirty="0"/>
              <a:t>база данни</a:t>
            </a:r>
          </a:p>
          <a:p>
            <a:r>
              <a:rPr lang="bg-BG" sz="3100" b="1" dirty="0"/>
              <a:t>Промените</a:t>
            </a:r>
            <a:r>
              <a:rPr lang="bg-BG" sz="3100" dirty="0"/>
              <a:t> се правят чрез </a:t>
            </a:r>
            <a:r>
              <a:rPr lang="bg-BG" sz="3100" b="1" dirty="0">
                <a:solidFill>
                  <a:schemeClr val="bg1"/>
                </a:solidFill>
              </a:rPr>
              <a:t>редактиране</a:t>
            </a:r>
            <a:r>
              <a:rPr lang="bg-BG" sz="3100" dirty="0"/>
              <a:t> на </a:t>
            </a:r>
            <a:r>
              <a:rPr lang="en-US" sz="3100" b="1" dirty="0">
                <a:solidFill>
                  <a:schemeClr val="bg1"/>
                </a:solidFill>
              </a:rPr>
              <a:t>HTML</a:t>
            </a:r>
            <a:r>
              <a:rPr lang="en-US" sz="3100" dirty="0"/>
              <a:t> </a:t>
            </a:r>
            <a:r>
              <a:rPr lang="bg-BG" sz="3100" dirty="0"/>
              <a:t>и </a:t>
            </a:r>
            <a:r>
              <a:rPr lang="en-US" sz="3100" b="1" dirty="0">
                <a:solidFill>
                  <a:schemeClr val="bg1"/>
                </a:solidFill>
              </a:rPr>
              <a:t>CSS</a:t>
            </a:r>
            <a:r>
              <a:rPr lang="en-US" sz="3100" dirty="0"/>
              <a:t> </a:t>
            </a:r>
            <a:r>
              <a:rPr lang="bg-BG" sz="3100" b="1" dirty="0"/>
              <a:t>файловете</a:t>
            </a:r>
          </a:p>
          <a:p>
            <a:r>
              <a:rPr lang="bg-BG" sz="3100" dirty="0"/>
              <a:t>Подходящ за:</a:t>
            </a:r>
          </a:p>
          <a:p>
            <a:pPr lvl="1"/>
            <a:r>
              <a:rPr lang="bg-BG" sz="2900" b="1" dirty="0"/>
              <a:t>Учебни проекти</a:t>
            </a:r>
          </a:p>
          <a:p>
            <a:pPr lvl="1"/>
            <a:r>
              <a:rPr lang="bg-BG" sz="2900" b="1" dirty="0"/>
              <a:t>Портфолио</a:t>
            </a:r>
          </a:p>
          <a:p>
            <a:pPr lvl="1"/>
            <a:r>
              <a:rPr lang="bg-BG" sz="2900" b="1" dirty="0"/>
              <a:t>Малки фирмени уеб сайтове</a:t>
            </a:r>
          </a:p>
          <a:p>
            <a:pPr lvl="1"/>
            <a:r>
              <a:rPr lang="bg-BG" sz="2900" b="1" dirty="0"/>
              <a:t>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FB5D3-1AB3-D9CC-D3E3-55C7D9035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Статичен уеб сайт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5AA54D-56FE-5A41-F91F-61BBFAFDEA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42473" y="3104150"/>
            <a:ext cx="5810557" cy="36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1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30BCD-F721-6C78-1F51-37AA9668A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6C8E0-B56A-657E-9026-46104515B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Всички файлове </a:t>
            </a:r>
            <a:r>
              <a:rPr lang="bg-BG" sz="3000" dirty="0"/>
              <a:t>са в </a:t>
            </a:r>
            <a:r>
              <a:rPr lang="bg-BG" sz="3000" b="1" dirty="0">
                <a:solidFill>
                  <a:schemeClr val="bg1"/>
                </a:solidFill>
              </a:rPr>
              <a:t>една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основна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папка</a:t>
            </a:r>
          </a:p>
          <a:p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началната страница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r>
              <a:rPr lang="en-GB" sz="3000" b="1" dirty="0"/>
              <a:t>HTML </a:t>
            </a:r>
            <a:r>
              <a:rPr lang="bg-BG" sz="3000" b="1" dirty="0"/>
              <a:t>файлът </a:t>
            </a:r>
            <a:r>
              <a:rPr lang="bg-BG" sz="3000" dirty="0"/>
              <a:t>съдържа </a:t>
            </a:r>
            <a:r>
              <a:rPr lang="bg-BG" sz="3000" b="1" dirty="0">
                <a:solidFill>
                  <a:schemeClr val="bg1"/>
                </a:solidFill>
              </a:rPr>
              <a:t>връзка</a:t>
            </a:r>
            <a:r>
              <a:rPr lang="bg-BG" sz="3000" dirty="0"/>
              <a:t> към </a:t>
            </a:r>
            <a:r>
              <a:rPr lang="en-GB" sz="3000" b="1" dirty="0"/>
              <a:t>CSS </a:t>
            </a:r>
            <a:r>
              <a:rPr lang="bg-BG" sz="3000" b="1" dirty="0"/>
              <a:t>файла </a:t>
            </a:r>
            <a:r>
              <a:rPr lang="bg-BG" sz="3000" dirty="0"/>
              <a:t>чрез </a:t>
            </a:r>
            <a:r>
              <a:rPr lang="bg-BG" sz="3000" b="1" dirty="0"/>
              <a:t>тага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link&gt;</a:t>
            </a:r>
            <a:endParaRPr lang="bg-BG" sz="30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Допълнителните файлове 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могат да бъдат </a:t>
            </a:r>
            <a:r>
              <a:rPr lang="bg-BG" sz="3000" b="1" dirty="0">
                <a:latin typeface="Calibri" panose="020F0502020204030204" pitchFamily="34" charset="0"/>
                <a:cs typeface="Calibri" panose="020F0502020204030204" pitchFamily="34" charset="0"/>
              </a:rPr>
              <a:t>организирани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 в </a:t>
            </a:r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подпапки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FB5D3-1AB3-D9CC-D3E3-55C7D9035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Структура на статичен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C37C91-3F74-B977-1A5E-AD84DE6032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6000" y="4141286"/>
            <a:ext cx="4140000" cy="23657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97309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InfinityFree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infinityfree.com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Free Hosting</a:t>
            </a:r>
            <a:r>
              <a:rPr lang="bg-BG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4"/>
              </a:rPr>
              <a:t>freehosting.com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GoogieHost</a:t>
            </a:r>
            <a:r>
              <a:rPr lang="en-US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5"/>
              </a:rPr>
              <a:t>googiehost.com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000webhost</a:t>
            </a:r>
            <a:r>
              <a:rPr lang="bg-BG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6"/>
              </a:rPr>
              <a:t>000webhost.net</a:t>
            </a:r>
            <a:r>
              <a:rPr lang="en-US" sz="3600" dirty="0"/>
              <a:t>)</a:t>
            </a:r>
            <a:endParaRPr lang="bg-BG" sz="3600" dirty="0"/>
          </a:p>
          <a:p>
            <a:r>
              <a:rPr lang="en-US" sz="3600" b="1" dirty="0"/>
              <a:t>Netlify</a:t>
            </a:r>
            <a:r>
              <a:rPr lang="bg-BG" sz="3600" b="1" dirty="0"/>
              <a:t> </a:t>
            </a:r>
            <a:r>
              <a:rPr lang="en-GB" sz="3600" dirty="0"/>
              <a:t>–</a:t>
            </a:r>
            <a:r>
              <a:rPr lang="bg-BG" sz="3600" dirty="0"/>
              <a:t> </a:t>
            </a:r>
            <a:r>
              <a:rPr lang="en-US" sz="3600" dirty="0"/>
              <a:t>(</a:t>
            </a:r>
            <a:r>
              <a:rPr lang="en-US" sz="3600" dirty="0">
                <a:hlinkClick r:id="rId7"/>
              </a:rPr>
              <a:t>app.netlify.com/drop</a:t>
            </a:r>
            <a:r>
              <a:rPr lang="en-US" sz="3600" dirty="0"/>
              <a:t>)</a:t>
            </a:r>
          </a:p>
          <a:p>
            <a:r>
              <a:rPr lang="bg-BG" sz="3600" b="1" dirty="0"/>
              <a:t>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Инструменти</a:t>
            </a:r>
            <a:r>
              <a:rPr lang="en-US" dirty="0"/>
              <a:t> </a:t>
            </a:r>
            <a:r>
              <a:rPr lang="bg-BG" dirty="0"/>
              <a:t>за публикуване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5A5286-1034-106D-5EED-9A94079F753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0503" y="4752475"/>
            <a:ext cx="1549400" cy="1206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607685E-A847-B21D-4A54-FABF8806614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8848" y="5019175"/>
            <a:ext cx="1968500" cy="939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C60E73-D532-9BB9-CDF5-55618C4A1C6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2298" y="3469014"/>
            <a:ext cx="3213100" cy="939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23E194-AB3E-D49B-D0B8-B05D498C062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45148" y="1224398"/>
            <a:ext cx="3213100" cy="939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DA534-4ECF-3B36-0E49-D4F5F6F311D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45148" y="2277184"/>
            <a:ext cx="32131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089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FB5110-1843-66D7-0664-ACF0E0959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38F324-4791-0D25-2B79-57395689E3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Безплатна платформа </a:t>
            </a:r>
            <a:r>
              <a:rPr lang="bg-BG" sz="3200" dirty="0"/>
              <a:t>за </a:t>
            </a:r>
            <a:r>
              <a:rPr lang="bg-BG" sz="3200" b="1" dirty="0"/>
              <a:t>публикуване</a:t>
            </a:r>
            <a:r>
              <a:rPr lang="bg-BG" sz="3200" dirty="0"/>
              <a:t> на </a:t>
            </a:r>
            <a:r>
              <a:rPr lang="bg-BG" sz="3200" b="1" dirty="0"/>
              <a:t>статични уеб сайтове</a:t>
            </a:r>
          </a:p>
          <a:p>
            <a:r>
              <a:rPr lang="bg-BG" sz="3200" b="1" dirty="0"/>
              <a:t>Поддържа</a:t>
            </a:r>
            <a:r>
              <a:rPr lang="bg-BG" sz="3200" dirty="0"/>
              <a:t> </a:t>
            </a:r>
            <a:r>
              <a:rPr lang="en-GB" sz="3200" b="1" dirty="0">
                <a:solidFill>
                  <a:schemeClr val="bg1"/>
                </a:solidFill>
              </a:rPr>
              <a:t>HTML</a:t>
            </a:r>
            <a:r>
              <a:rPr lang="en-GB" sz="3200" dirty="0"/>
              <a:t>, </a:t>
            </a:r>
            <a:r>
              <a:rPr lang="en-GB" sz="3200" b="1" dirty="0">
                <a:solidFill>
                  <a:schemeClr val="bg1"/>
                </a:solidFill>
              </a:rPr>
              <a:t>CSS</a:t>
            </a:r>
            <a:r>
              <a:rPr lang="en-GB" sz="3200" dirty="0"/>
              <a:t>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изображения</a:t>
            </a:r>
          </a:p>
          <a:p>
            <a:r>
              <a:rPr lang="bg-BG" sz="3200" b="1" dirty="0"/>
              <a:t>Генерира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публичен</a:t>
            </a:r>
            <a:r>
              <a:rPr lang="bg-BG" sz="3200" dirty="0"/>
              <a:t> </a:t>
            </a:r>
            <a:r>
              <a:rPr lang="en-GB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Не изисква </a:t>
            </a:r>
            <a:r>
              <a:rPr lang="bg-BG" sz="3200" dirty="0"/>
              <a:t>собствен </a:t>
            </a:r>
            <a:r>
              <a:rPr lang="bg-BG" sz="3200" b="1" dirty="0"/>
              <a:t>уеб сървър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9BF393-E117-20A3-F00D-FB5E9148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Netlify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2A5BEC-34A1-6D91-7DC6-2DF450CA3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31000" y="2484000"/>
            <a:ext cx="3966955" cy="386603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8938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Публикува се съдържание</a:t>
            </a:r>
            <a:r>
              <a:rPr lang="bg-BG" sz="2800" dirty="0"/>
              <a:t>, което </a:t>
            </a:r>
            <a:r>
              <a:rPr lang="bg-BG" sz="2800" b="1" dirty="0">
                <a:solidFill>
                  <a:schemeClr val="bg1"/>
                </a:solidFill>
              </a:rPr>
              <a:t>имаме право да използваме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Не се качват </a:t>
            </a:r>
            <a:r>
              <a:rPr lang="bg-BG" sz="2800" b="1" dirty="0"/>
              <a:t>лични данни без съгласие</a:t>
            </a:r>
          </a:p>
          <a:p>
            <a:r>
              <a:rPr lang="bg-BG" sz="2800" b="1" dirty="0"/>
              <a:t>Посочват се </a:t>
            </a:r>
            <a:r>
              <a:rPr lang="bg-BG" sz="2800" b="1" dirty="0">
                <a:solidFill>
                  <a:schemeClr val="bg1"/>
                </a:solidFill>
              </a:rPr>
              <a:t>източници</a:t>
            </a:r>
            <a:r>
              <a:rPr lang="bg-BG" sz="2800" dirty="0"/>
              <a:t> при </a:t>
            </a:r>
            <a:r>
              <a:rPr lang="bg-BG" sz="2800" b="1" dirty="0"/>
              <a:t>използване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чужди ресурси</a:t>
            </a:r>
          </a:p>
          <a:p>
            <a:r>
              <a:rPr lang="bg-BG" sz="2800" b="1" dirty="0"/>
              <a:t>Използват се </a:t>
            </a:r>
            <a:r>
              <a:rPr lang="bg-BG" sz="2800" b="1" dirty="0">
                <a:solidFill>
                  <a:schemeClr val="bg1"/>
                </a:solidFill>
              </a:rPr>
              <a:t>собствени материали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ресурси</a:t>
            </a:r>
            <a:r>
              <a:rPr lang="bg-BG" sz="2800" dirty="0"/>
              <a:t> с </a:t>
            </a:r>
            <a:r>
              <a:rPr lang="bg-BG" sz="2800" b="1" dirty="0"/>
              <a:t>подходящ </a:t>
            </a:r>
            <a:r>
              <a:rPr lang="bg-BG" sz="2800" b="1" dirty="0">
                <a:solidFill>
                  <a:schemeClr val="bg1"/>
                </a:solidFill>
              </a:rPr>
              <a:t>лиценз</a:t>
            </a:r>
          </a:p>
          <a:p>
            <a:r>
              <a:rPr lang="bg-BG" sz="2800" b="1" dirty="0"/>
              <a:t>Съдържанието </a:t>
            </a:r>
            <a:r>
              <a:rPr lang="bg-BG" sz="2800" dirty="0"/>
              <a:t>трябва да бъде </a:t>
            </a:r>
            <a:r>
              <a:rPr lang="bg-BG" sz="2800" b="1" dirty="0">
                <a:solidFill>
                  <a:schemeClr val="bg1"/>
                </a:solidFill>
              </a:rPr>
              <a:t>коректно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уважително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Правни и етични норми при публикуване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C441E3-A893-15AF-EAAF-911AE94E4F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1000" y="4110895"/>
            <a:ext cx="3195000" cy="26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0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Search Engine Optimization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800" dirty="0"/>
              <a:t>Оптимизация за търсещи машини</a:t>
            </a:r>
            <a:r>
              <a:rPr lang="en-US" sz="4800" dirty="0"/>
              <a:t> (</a:t>
            </a:r>
            <a:r>
              <a:rPr lang="en-GB" sz="4800" dirty="0"/>
              <a:t>SEO)</a:t>
            </a:r>
            <a:endParaRPr lang="en-US" sz="4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81093B-550A-80CB-EF36-D01FEC2FA3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1400" y="1467112"/>
            <a:ext cx="3029199" cy="198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SEO</a:t>
            </a:r>
            <a:r>
              <a:rPr lang="en-US" sz="3000" b="1" dirty="0"/>
              <a:t> (</a:t>
            </a:r>
            <a:r>
              <a:rPr lang="en-US" sz="3000" b="1" dirty="0">
                <a:solidFill>
                  <a:schemeClr val="bg1"/>
                </a:solidFill>
              </a:rPr>
              <a:t>S</a:t>
            </a:r>
            <a:r>
              <a:rPr lang="en-US" sz="3000" b="1" dirty="0"/>
              <a:t>earch </a:t>
            </a:r>
            <a:r>
              <a:rPr lang="en-US" sz="3000" b="1" dirty="0">
                <a:solidFill>
                  <a:schemeClr val="bg1"/>
                </a:solidFill>
              </a:rPr>
              <a:t>E</a:t>
            </a:r>
            <a:r>
              <a:rPr lang="en-US" sz="3000" b="1" dirty="0"/>
              <a:t>ngine </a:t>
            </a:r>
            <a:r>
              <a:rPr lang="en-US" sz="3000" b="1" dirty="0">
                <a:solidFill>
                  <a:schemeClr val="bg1"/>
                </a:solidFill>
              </a:rPr>
              <a:t>O</a:t>
            </a:r>
            <a:r>
              <a:rPr lang="en-US" sz="3000" b="1" dirty="0"/>
              <a:t>ptimization)</a:t>
            </a:r>
            <a:endParaRPr lang="bg-BG" sz="3000" b="1" dirty="0">
              <a:solidFill>
                <a:schemeClr val="bg1"/>
              </a:solidFill>
            </a:endParaRPr>
          </a:p>
          <a:p>
            <a:pPr lvl="1"/>
            <a:r>
              <a:rPr lang="bg-BG" sz="2800" b="1" dirty="0"/>
              <a:t>Процес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подобряване</a:t>
            </a:r>
            <a:r>
              <a:rPr lang="bg-BG" sz="2800" dirty="0"/>
              <a:t> на </a:t>
            </a:r>
            <a:r>
              <a:rPr lang="bg-BG" sz="2800" b="1" dirty="0"/>
              <a:t>уеб сайт </a:t>
            </a:r>
            <a:r>
              <a:rPr lang="bg-BG" sz="2800" dirty="0"/>
              <a:t>за </a:t>
            </a:r>
            <a:r>
              <a:rPr lang="bg-BG" sz="2800" b="1" dirty="0">
                <a:solidFill>
                  <a:schemeClr val="bg1"/>
                </a:solidFill>
              </a:rPr>
              <a:t>търсещите машини</a:t>
            </a:r>
          </a:p>
          <a:p>
            <a:pPr lvl="1"/>
            <a:r>
              <a:rPr lang="bg-BG" sz="2800" dirty="0"/>
              <a:t>Помага </a:t>
            </a:r>
            <a:r>
              <a:rPr lang="bg-BG" sz="2800" b="1" dirty="0"/>
              <a:t>уеб сайтът </a:t>
            </a:r>
            <a:r>
              <a:rPr lang="bg-BG" sz="2800" dirty="0"/>
              <a:t>да бъде </a:t>
            </a:r>
            <a:r>
              <a:rPr lang="bg-BG" sz="2800" b="1" dirty="0">
                <a:solidFill>
                  <a:schemeClr val="bg1"/>
                </a:solidFill>
              </a:rPr>
              <a:t>по-лесно откриваем </a:t>
            </a:r>
            <a:r>
              <a:rPr lang="bg-BG" sz="2800" dirty="0"/>
              <a:t>при </a:t>
            </a:r>
            <a:r>
              <a:rPr lang="bg-BG" sz="2800" b="1" dirty="0"/>
              <a:t>търсене</a:t>
            </a:r>
            <a:endParaRPr lang="bg-BG" sz="2800" b="1" dirty="0">
              <a:solidFill>
                <a:schemeClr val="bg1"/>
              </a:solidFill>
            </a:endParaRPr>
          </a:p>
          <a:p>
            <a:pPr lvl="1"/>
            <a:r>
              <a:rPr lang="bg-BG" sz="2800" dirty="0"/>
              <a:t>Подобрява </a:t>
            </a:r>
            <a:r>
              <a:rPr lang="bg-BG" sz="2800" b="1" dirty="0">
                <a:solidFill>
                  <a:schemeClr val="bg1"/>
                </a:solidFill>
              </a:rPr>
              <a:t>качеството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структурата</a:t>
            </a:r>
            <a:r>
              <a:rPr lang="bg-BG" sz="2800" dirty="0"/>
              <a:t> на </a:t>
            </a:r>
            <a:r>
              <a:rPr lang="bg-BG" sz="2800" b="1" dirty="0"/>
              <a:t>уеб страниците</a:t>
            </a:r>
          </a:p>
          <a:p>
            <a:pPr lvl="1"/>
            <a:r>
              <a:rPr lang="bg-BG" sz="2800" b="1" dirty="0"/>
              <a:t>Не гарантира </a:t>
            </a:r>
            <a:r>
              <a:rPr lang="bg-BG" sz="2800" b="1" dirty="0">
                <a:solidFill>
                  <a:schemeClr val="bg1"/>
                </a:solidFill>
              </a:rPr>
              <a:t>първо място </a:t>
            </a:r>
            <a:r>
              <a:rPr lang="bg-BG" sz="2800" dirty="0"/>
              <a:t>в </a:t>
            </a:r>
            <a:r>
              <a:rPr lang="bg-BG" sz="2800" b="1" dirty="0"/>
              <a:t>резултатите</a:t>
            </a:r>
            <a:r>
              <a:rPr lang="en-US" sz="2800" b="1" dirty="0"/>
              <a:t> </a:t>
            </a:r>
            <a:r>
              <a:rPr lang="bg-BG" sz="2800" b="1" dirty="0"/>
              <a:t>от търсене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Оптимизация за търсещи машини (</a:t>
            </a:r>
            <a:r>
              <a:rPr lang="en-GB" dirty="0"/>
              <a:t>SEO)</a:t>
            </a:r>
            <a:endParaRPr lang="en-BG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A4F741-0B88-0054-755B-CD3A815C4A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662" t="21785" r="9316" b="25066"/>
          <a:stretch/>
        </p:blipFill>
        <p:spPr>
          <a:xfrm>
            <a:off x="4104750" y="4144231"/>
            <a:ext cx="3982500" cy="258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66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Ясно заглавие </a:t>
            </a:r>
            <a:r>
              <a:rPr lang="bg-BG" sz="3200" dirty="0"/>
              <a:t>на </a:t>
            </a:r>
            <a:r>
              <a:rPr lang="bg-BG" sz="3200" b="1" dirty="0"/>
              <a:t>уеб страницата 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&lt;title&gt;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Кратко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смислено</a:t>
            </a:r>
            <a:r>
              <a:rPr lang="bg-BG" sz="3200" dirty="0"/>
              <a:t> </a:t>
            </a:r>
            <a:r>
              <a:rPr lang="bg-BG" sz="3200" b="1" dirty="0"/>
              <a:t>описание</a:t>
            </a:r>
            <a:r>
              <a:rPr lang="bg-BG" sz="3200" dirty="0"/>
              <a:t> </a:t>
            </a:r>
            <a:r>
              <a:rPr lang="en-US" sz="3200" b="1" dirty="0"/>
              <a:t>(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eta</a:t>
            </a:r>
            <a:r>
              <a:rPr lang="en-US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</a:t>
            </a:r>
            <a:r>
              <a:rPr lang="en-US" sz="3200" b="1" dirty="0"/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Подредени заглавия </a:t>
            </a:r>
            <a:r>
              <a:rPr lang="en-US" sz="3200" b="1" dirty="0"/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h1</a:t>
            </a:r>
            <a:r>
              <a:rPr lang="en-US" sz="3200" dirty="0"/>
              <a:t>,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h2</a:t>
            </a:r>
            <a:r>
              <a:rPr lang="en-US" sz="3200" dirty="0"/>
              <a:t>,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h3</a:t>
            </a:r>
            <a:r>
              <a:rPr lang="en-US" sz="3200" b="1" dirty="0"/>
              <a:t> </a:t>
            </a:r>
            <a:r>
              <a:rPr lang="bg-BG" sz="3200" dirty="0"/>
              <a:t>и</a:t>
            </a:r>
            <a:r>
              <a:rPr lang="bg-BG" sz="3200" b="1" dirty="0"/>
              <a:t> т.н.</a:t>
            </a:r>
            <a:r>
              <a:rPr lang="en-US" sz="3200" b="1" dirty="0"/>
              <a:t>)</a:t>
            </a:r>
            <a:endParaRPr lang="bg-BG" sz="3200" b="1" dirty="0"/>
          </a:p>
          <a:p>
            <a:r>
              <a:rPr lang="bg-BG" sz="3200" b="1" dirty="0">
                <a:solidFill>
                  <a:schemeClr val="bg1"/>
                </a:solidFill>
              </a:rPr>
              <a:t>Описателни </a:t>
            </a:r>
            <a:r>
              <a:rPr lang="en-US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Алтернативен текст </a:t>
            </a:r>
            <a:r>
              <a:rPr lang="bg-BG" sz="3200" dirty="0"/>
              <a:t>при </a:t>
            </a:r>
            <a:r>
              <a:rPr lang="bg-BG" sz="3200" b="1" dirty="0"/>
              <a:t>изображения</a:t>
            </a:r>
            <a:r>
              <a:rPr lang="bg-BG" sz="3200" dirty="0"/>
              <a:t> </a:t>
            </a:r>
            <a:r>
              <a:rPr lang="en-US" sz="3200" b="1" dirty="0"/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alt</a:t>
            </a:r>
            <a:r>
              <a:rPr lang="en-US" sz="3200" b="1" dirty="0"/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Адаптивен дизайн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бързо зареждане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принципи на </a:t>
            </a:r>
            <a:r>
              <a:rPr lang="en-US" dirty="0"/>
              <a:t>SEO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B28EF-2DF4-7AFD-B020-E499FF4B1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6868" y="3486016"/>
            <a:ext cx="2808263" cy="2808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916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8952" y="1196125"/>
            <a:ext cx="6819546" cy="5528766"/>
          </a:xfrm>
        </p:spPr>
        <p:txBody>
          <a:bodyPr>
            <a:normAutofit lnSpcReduction="10000"/>
          </a:bodyPr>
          <a:lstStyle/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съдържанието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структурата</a:t>
            </a:r>
            <a:endParaRPr lang="bg-BG" sz="3200" b="1" dirty="0"/>
          </a:p>
          <a:p>
            <a:r>
              <a:rPr lang="bg-BG" sz="3200" b="1" dirty="0"/>
              <a:t>Добавяне</a:t>
            </a:r>
            <a:r>
              <a:rPr lang="bg-BG" sz="3200" dirty="0"/>
              <a:t> на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GB" sz="3200" dirty="0"/>
              <a:t> </a:t>
            </a:r>
            <a:r>
              <a:rPr lang="bg-BG" sz="3200" dirty="0"/>
              <a:t>и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meta</a:t>
            </a:r>
            <a:r>
              <a:rPr lang="en-GB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</a:t>
            </a:r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заглавията</a:t>
            </a:r>
            <a:endParaRPr lang="bg-BG" sz="3200" b="1" dirty="0"/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alt</a:t>
            </a:r>
            <a:r>
              <a:rPr lang="en-GB" sz="3200" b="1" dirty="0">
                <a:solidFill>
                  <a:schemeClr val="bg1"/>
                </a:solidFill>
              </a:rPr>
              <a:t> </a:t>
            </a:r>
            <a:r>
              <a:rPr lang="bg-BG" sz="3200" b="1" dirty="0"/>
              <a:t>атрибутите</a:t>
            </a:r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адаптивността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скоростта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Анализ</a:t>
            </a:r>
            <a:r>
              <a:rPr lang="bg-BG" sz="3200" dirty="0"/>
              <a:t> със </a:t>
            </a:r>
            <a:r>
              <a:rPr lang="bg-BG" sz="3200" b="1" dirty="0"/>
              <a:t>специализирани инструменти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оптимизационни етапи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C1D2C3-77AC-1157-F5C4-1BF6007DFB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129" b="7750"/>
          <a:stretch/>
        </p:blipFill>
        <p:spPr>
          <a:xfrm>
            <a:off x="22145" y="1584000"/>
            <a:ext cx="5166807" cy="543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0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D98059-498C-23F8-9E85-A8069D097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D86B4E-BB76-1605-F33E-32340FE0A2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bg-BG" b="1" dirty="0"/>
              <a:t>С базово </a:t>
            </a:r>
            <a:r>
              <a:rPr lang="en-US" b="1" dirty="0"/>
              <a:t>SEO</a:t>
            </a:r>
            <a:endParaRPr lang="en-BG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3916B5-071D-1CBF-9343-53D192D1A1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Без </a:t>
            </a:r>
            <a:r>
              <a:rPr lang="en-US" b="1" dirty="0"/>
              <a:t>SEO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C9401E-209D-4EC1-3C51-530978B1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SEO </a:t>
            </a:r>
            <a:r>
              <a:rPr lang="en-GB" dirty="0"/>
              <a:t>– </a:t>
            </a:r>
            <a:r>
              <a:rPr lang="bg-BG" dirty="0"/>
              <a:t>Пример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1AC137E-2690-F4DD-83F8-A6E041973037}"/>
              </a:ext>
            </a:extLst>
          </p:cNvPr>
          <p:cNvSpPr txBox="1">
            <a:spLocks/>
          </p:cNvSpPr>
          <p:nvPr/>
        </p:nvSpPr>
        <p:spPr>
          <a:xfrm>
            <a:off x="310941" y="3024000"/>
            <a:ext cx="5445000" cy="1107996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&lt;title&gt;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Home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&lt;/title&gt;</a:t>
            </a:r>
          </a:p>
          <a:p>
            <a:endParaRPr lang="en-GB" sz="2200" b="1" dirty="0"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&lt;img src="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image1.jpg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 alt="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"&gt;</a:t>
            </a:r>
            <a:endParaRPr lang="en-US" sz="2200" b="1" dirty="0">
              <a:solidFill>
                <a:schemeClr val="bg1"/>
              </a:solidFill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5EC016E-3F1B-4B7E-741A-66CE9FEBCBA2}"/>
              </a:ext>
            </a:extLst>
          </p:cNvPr>
          <p:cNvSpPr txBox="1">
            <a:spLocks/>
          </p:cNvSpPr>
          <p:nvPr/>
        </p:nvSpPr>
        <p:spPr>
          <a:xfrm>
            <a:off x="6456000" y="2870111"/>
            <a:ext cx="5445000" cy="144655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&lt;title&gt;</a:t>
            </a:r>
            <a:r>
              <a:rPr lang="bg-BG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Ваканция в Родопите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&lt;/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title&gt;</a:t>
            </a:r>
          </a:p>
          <a:p>
            <a:endParaRPr lang="en-GB" sz="2200" b="1" dirty="0"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&lt;img src="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images/rhodope.jpg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 alt="</a:t>
            </a:r>
            <a:r>
              <a:rPr lang="bg-BG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Изглед към Родопите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"&gt;</a:t>
            </a:r>
            <a:endParaRPr lang="en-US" sz="2200" b="1" dirty="0">
              <a:solidFill>
                <a:schemeClr val="bg1"/>
              </a:solidFill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504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27A1F4-4377-4837-9DEB-846A4CC95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E0077-D06E-D880-E9B2-ABE12D334A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Определя </a:t>
            </a:r>
            <a:r>
              <a:rPr lang="bg-BG" sz="2900" b="1" dirty="0">
                <a:solidFill>
                  <a:schemeClr val="bg1"/>
                </a:solidFill>
              </a:rPr>
              <a:t>реда</a:t>
            </a:r>
            <a:r>
              <a:rPr lang="bg-BG" sz="2900" dirty="0"/>
              <a:t> на </a:t>
            </a:r>
            <a:r>
              <a:rPr lang="bg-BG" sz="2900" b="1" dirty="0"/>
              <a:t>уеб сайтовете </a:t>
            </a:r>
            <a:r>
              <a:rPr lang="bg-BG" sz="2900" dirty="0"/>
              <a:t>в </a:t>
            </a:r>
            <a:r>
              <a:rPr lang="bg-BG" sz="2900" b="1" dirty="0">
                <a:solidFill>
                  <a:schemeClr val="bg1"/>
                </a:solidFill>
              </a:rPr>
              <a:t>резултатите</a:t>
            </a:r>
            <a:r>
              <a:rPr lang="bg-BG" sz="2900" dirty="0"/>
              <a:t> от </a:t>
            </a:r>
            <a:r>
              <a:rPr lang="bg-BG" sz="2900" b="1" dirty="0"/>
              <a:t>търсене</a:t>
            </a:r>
          </a:p>
          <a:p>
            <a:r>
              <a:rPr lang="bg-BG" sz="2900" dirty="0"/>
              <a:t>Зависи от </a:t>
            </a:r>
            <a:r>
              <a:rPr lang="bg-BG" sz="2900" b="1" dirty="0">
                <a:solidFill>
                  <a:schemeClr val="bg1"/>
                </a:solidFill>
              </a:rPr>
              <a:t>качеството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съдържанието</a:t>
            </a:r>
            <a:r>
              <a:rPr lang="bg-BG" sz="2900" dirty="0"/>
              <a:t> на </a:t>
            </a:r>
            <a:r>
              <a:rPr lang="bg-BG" sz="2900" b="1" dirty="0"/>
              <a:t>уеб сайта</a:t>
            </a:r>
          </a:p>
          <a:p>
            <a:r>
              <a:rPr lang="bg-BG" sz="2900" dirty="0"/>
              <a:t>Добрата </a:t>
            </a:r>
            <a:r>
              <a:rPr lang="en-US" sz="2900" b="1" dirty="0"/>
              <a:t>SEO </a:t>
            </a:r>
            <a:r>
              <a:rPr lang="bg-BG" sz="2900" b="1" dirty="0"/>
              <a:t>оптимизация </a:t>
            </a:r>
            <a:r>
              <a:rPr lang="bg-BG" sz="2900" dirty="0"/>
              <a:t>може да </a:t>
            </a:r>
            <a:r>
              <a:rPr lang="bg-BG" sz="2900" b="1" dirty="0">
                <a:solidFill>
                  <a:schemeClr val="bg1"/>
                </a:solidFill>
              </a:rPr>
              <a:t>подобри позицията </a:t>
            </a:r>
            <a:r>
              <a:rPr lang="bg-BG" sz="2900" dirty="0"/>
              <a:t>на </a:t>
            </a:r>
            <a:r>
              <a:rPr lang="bg-BG" sz="2900" b="1" dirty="0"/>
              <a:t>уеб сайта</a:t>
            </a:r>
            <a:endParaRPr lang="en-BG" sz="29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E33731-C5F6-831F-8237-56AAD4DE8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Рангово подреждане (ранжиране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C60CB8-6CAC-1D7C-0D1D-6D3D0F4523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180" t="18989" r="10658" b="21498"/>
          <a:stretch/>
        </p:blipFill>
        <p:spPr>
          <a:xfrm>
            <a:off x="3286485" y="3144215"/>
            <a:ext cx="5619029" cy="349628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5237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22059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Безплатен инструмент </a:t>
            </a:r>
            <a:r>
              <a:rPr lang="bg-BG" sz="3000" dirty="0"/>
              <a:t>на </a:t>
            </a:r>
            <a:r>
              <a:rPr lang="en-GB" sz="3000" b="1" dirty="0"/>
              <a:t>Google</a:t>
            </a:r>
            <a:endParaRPr lang="bg-BG" sz="3000" b="1" dirty="0"/>
          </a:p>
          <a:p>
            <a:r>
              <a:rPr lang="bg-BG" sz="3000" b="1" dirty="0">
                <a:solidFill>
                  <a:schemeClr val="bg1"/>
                </a:solidFill>
              </a:rPr>
              <a:t>Проверява</a:t>
            </a:r>
            <a:r>
              <a:rPr lang="bg-BG" sz="3000" dirty="0"/>
              <a:t> дали </a:t>
            </a:r>
            <a:r>
              <a:rPr lang="en-GB" sz="3000" b="1" dirty="0"/>
              <a:t>Google</a:t>
            </a:r>
            <a:r>
              <a:rPr lang="bg-BG" sz="3000" b="1" dirty="0">
                <a:solidFill>
                  <a:schemeClr val="bg1"/>
                </a:solidFill>
              </a:rPr>
              <a:t> може да открие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Показва </a:t>
            </a:r>
            <a:r>
              <a:rPr lang="bg-BG" sz="3000" b="1" dirty="0">
                <a:solidFill>
                  <a:schemeClr val="bg1"/>
                </a:solidFill>
              </a:rPr>
              <a:t>дали има проблеми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bg-BG" sz="3000" dirty="0"/>
              <a:t>с </a:t>
            </a:r>
            <a:r>
              <a:rPr lang="bg-BG" sz="3000" b="1" dirty="0"/>
              <a:t>уеб страниците</a:t>
            </a:r>
          </a:p>
          <a:p>
            <a:r>
              <a:rPr lang="bg-BG" sz="3000" dirty="0"/>
              <a:t>Дава </a:t>
            </a:r>
            <a:r>
              <a:rPr lang="bg-BG" sz="3000" b="1" dirty="0"/>
              <a:t>информация</a:t>
            </a:r>
            <a:r>
              <a:rPr lang="bg-BG" sz="3000" dirty="0"/>
              <a:t> </a:t>
            </a:r>
            <a:r>
              <a:rPr lang="bg-BG" sz="3000" b="1" dirty="0"/>
              <a:t>по какви</a:t>
            </a:r>
            <a:r>
              <a:rPr lang="en-GB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търсения</a:t>
            </a:r>
            <a:r>
              <a:rPr lang="bg-BG" sz="3000" dirty="0"/>
              <a:t> се </a:t>
            </a:r>
            <a:r>
              <a:rPr lang="bg-BG" sz="3000" b="1" dirty="0">
                <a:solidFill>
                  <a:schemeClr val="bg1"/>
                </a:solidFill>
              </a:rPr>
              <a:t>намира</a:t>
            </a:r>
            <a:r>
              <a:rPr lang="bg-BG" sz="3000" dirty="0"/>
              <a:t> </a:t>
            </a:r>
            <a:r>
              <a:rPr lang="bg-BG" sz="3000" b="1" dirty="0"/>
              <a:t>уеб сайтът</a:t>
            </a:r>
            <a:endParaRPr lang="en-GB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Google Search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6F773-E645-E074-FA9D-324406814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1964" y="1809000"/>
            <a:ext cx="5163652" cy="409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6411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F0CF66-972E-D23C-9ED7-8E98E443C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EF66F-FA13-261B-88D9-071965400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245598" cy="5528766"/>
          </a:xfrm>
        </p:spPr>
        <p:txBody>
          <a:bodyPr>
            <a:normAutofit lnSpcReduction="10000"/>
          </a:bodyPr>
          <a:lstStyle/>
          <a:p>
            <a:r>
              <a:rPr lang="en-BG" sz="3200" b="1" dirty="0">
                <a:solidFill>
                  <a:schemeClr val="bg1"/>
                </a:solidFill>
              </a:rPr>
              <a:t>RSS</a:t>
            </a:r>
            <a:r>
              <a:rPr lang="en-BG" sz="3200" b="1" dirty="0"/>
              <a:t> (</a:t>
            </a:r>
            <a:r>
              <a:rPr lang="en-BG" sz="3200" b="1" dirty="0">
                <a:solidFill>
                  <a:schemeClr val="bg1"/>
                </a:solidFill>
              </a:rPr>
              <a:t>R</a:t>
            </a:r>
            <a:r>
              <a:rPr lang="en-BG" sz="3200" b="1" dirty="0"/>
              <a:t>eally </a:t>
            </a:r>
            <a:r>
              <a:rPr lang="en-BG" sz="3200" b="1" dirty="0">
                <a:solidFill>
                  <a:schemeClr val="bg1"/>
                </a:solidFill>
              </a:rPr>
              <a:t>S</a:t>
            </a:r>
            <a:r>
              <a:rPr lang="en-BG" sz="3200" b="1" dirty="0"/>
              <a:t>imple </a:t>
            </a:r>
            <a:r>
              <a:rPr lang="en-BG" sz="3200" b="1" dirty="0">
                <a:solidFill>
                  <a:schemeClr val="bg1"/>
                </a:solidFill>
              </a:rPr>
              <a:t>S</a:t>
            </a:r>
            <a:r>
              <a:rPr lang="en-BG" sz="3200" b="1" dirty="0"/>
              <a:t>yndication)</a:t>
            </a:r>
            <a:endParaRPr lang="bg-BG" sz="3200" b="1" dirty="0"/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Формат</a:t>
            </a:r>
            <a:r>
              <a:rPr lang="bg-BG" sz="3000" dirty="0"/>
              <a:t> за </a:t>
            </a:r>
            <a:r>
              <a:rPr lang="bg-BG" sz="3000" b="1" dirty="0"/>
              <a:t>разпространение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ново съдържание </a:t>
            </a:r>
            <a:r>
              <a:rPr lang="bg-BG" sz="3000" dirty="0"/>
              <a:t>от </a:t>
            </a:r>
            <a:r>
              <a:rPr lang="bg-BG" sz="3000" b="1" dirty="0"/>
              <a:t>уеб сайт</a:t>
            </a:r>
          </a:p>
          <a:p>
            <a:pPr lvl="1"/>
            <a:r>
              <a:rPr lang="bg-BG" sz="3000" b="1" dirty="0"/>
              <a:t>Потребителят</a:t>
            </a:r>
            <a:r>
              <a:rPr lang="bg-BG" sz="3000" dirty="0"/>
              <a:t> може да </a:t>
            </a:r>
            <a:r>
              <a:rPr lang="bg-BG" sz="3000" b="1" dirty="0"/>
              <a:t>следи</a:t>
            </a:r>
            <a:r>
              <a:rPr lang="bg-BG" sz="3000" dirty="0"/>
              <a:t> новите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r>
              <a:rPr lang="bg-BG" sz="3000" dirty="0"/>
              <a:t> чрез </a:t>
            </a:r>
            <a:r>
              <a:rPr lang="en-US" sz="3000" b="1" dirty="0">
                <a:solidFill>
                  <a:schemeClr val="bg1"/>
                </a:solidFill>
              </a:rPr>
              <a:t>RSS </a:t>
            </a:r>
            <a:r>
              <a:rPr lang="bg-BG" sz="3000" b="1" dirty="0">
                <a:solidFill>
                  <a:schemeClr val="bg1"/>
                </a:solidFill>
              </a:rPr>
              <a:t>четец</a:t>
            </a:r>
          </a:p>
          <a:p>
            <a:pPr lvl="1"/>
            <a:r>
              <a:rPr lang="bg-BG" sz="3000" dirty="0"/>
              <a:t>Подходящ за</a:t>
            </a:r>
            <a:r>
              <a:rPr lang="en-US" sz="3000" dirty="0"/>
              <a:t>:</a:t>
            </a:r>
          </a:p>
          <a:p>
            <a:pPr lvl="2"/>
            <a:r>
              <a:rPr lang="bg-BG" sz="2800" b="1" dirty="0"/>
              <a:t>Новинарски уеб сайт</a:t>
            </a:r>
          </a:p>
          <a:p>
            <a:pPr lvl="2"/>
            <a:r>
              <a:rPr lang="bg-BG" sz="2800" b="1" dirty="0"/>
              <a:t>Блог с публикации</a:t>
            </a:r>
          </a:p>
          <a:p>
            <a:pPr lvl="2"/>
            <a:r>
              <a:rPr lang="bg-BG" sz="2800" b="1" dirty="0"/>
              <a:t>Подкаст или видеоканал</a:t>
            </a:r>
          </a:p>
          <a:p>
            <a:pPr lvl="2"/>
            <a:r>
              <a:rPr lang="bg-BG" sz="2800" b="1" dirty="0"/>
              <a:t>И др.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D1FA0E-5FF4-D0CE-31A9-F8DF07E87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RSS</a:t>
            </a:r>
            <a:endParaRPr lang="en-BG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D5F5720-49CD-54E1-FBA3-B18CE4E6B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5988" y="2831068"/>
            <a:ext cx="2258880" cy="225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7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Роля на анализ на посещаемостта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Анализ на посещаемостта</a:t>
            </a:r>
            <a:endParaRPr lang="en-GB" sz="5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CD0708-E603-61B5-9E51-76ABAC684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3465" y="1584000"/>
            <a:ext cx="324507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491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E50FA0-4063-C1EA-02E4-2BB7726BE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488763-550E-4107-6CF8-2B2B7008F5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Събиране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разглеждане</a:t>
            </a:r>
            <a:r>
              <a:rPr lang="bg-BG" sz="3000" dirty="0"/>
              <a:t> на </a:t>
            </a:r>
            <a:r>
              <a:rPr lang="bg-BG" sz="3000" b="1" dirty="0"/>
              <a:t>данни</a:t>
            </a:r>
            <a:r>
              <a:rPr lang="bg-BG" sz="3000" dirty="0"/>
              <a:t> за </a:t>
            </a:r>
            <a:r>
              <a:rPr lang="bg-BG" sz="3000" b="1" dirty="0">
                <a:solidFill>
                  <a:schemeClr val="bg1"/>
                </a:solidFill>
              </a:rPr>
              <a:t>посещенията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Помага да се установи </a:t>
            </a:r>
            <a:r>
              <a:rPr lang="bg-BG" sz="3000" b="1" dirty="0"/>
              <a:t>как потребителите </a:t>
            </a:r>
            <a:r>
              <a:rPr lang="bg-BG" sz="3000" b="1" dirty="0">
                <a:solidFill>
                  <a:schemeClr val="bg1"/>
                </a:solidFill>
              </a:rPr>
              <a:t>достигат</a:t>
            </a:r>
            <a:r>
              <a:rPr lang="bg-BG" sz="3000" b="1" dirty="0"/>
              <a:t> </a:t>
            </a:r>
            <a:r>
              <a:rPr lang="bg-BG" sz="3000" dirty="0"/>
              <a:t>до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Използва се за </a:t>
            </a:r>
            <a:r>
              <a:rPr lang="bg-BG" sz="3000" b="1" dirty="0">
                <a:solidFill>
                  <a:schemeClr val="bg1"/>
                </a:solidFill>
              </a:rPr>
              <a:t>планиране</a:t>
            </a:r>
            <a:r>
              <a:rPr lang="bg-BG" sz="3000" dirty="0"/>
              <a:t> на </a:t>
            </a:r>
            <a:r>
              <a:rPr lang="bg-BG" sz="3000" b="1" dirty="0"/>
              <a:t>последващи подобрения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35A20-C8BF-DAA7-A166-84169B54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Анализ на посещаемостта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D18BF3-2CC7-7991-9B6C-DF91F54C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0062" y="3095973"/>
            <a:ext cx="4651875" cy="372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297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C21FD-5F09-CCA3-CF01-1F121B863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A081C-BEAA-5A40-D88A-B0CC185651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Анализът</a:t>
            </a:r>
            <a:r>
              <a:rPr lang="bg-BG" dirty="0"/>
              <a:t> показва:</a:t>
            </a:r>
          </a:p>
          <a:p>
            <a:pPr lvl="1"/>
            <a:r>
              <a:rPr lang="bg-BG" b="1" dirty="0"/>
              <a:t>Колко хора </a:t>
            </a:r>
            <a:r>
              <a:rPr lang="bg-BG" b="1" dirty="0">
                <a:solidFill>
                  <a:schemeClr val="bg1"/>
                </a:solidFill>
              </a:rPr>
              <a:t>посещават</a:t>
            </a:r>
            <a:r>
              <a:rPr lang="bg-BG" dirty="0"/>
              <a:t> </a:t>
            </a:r>
            <a:r>
              <a:rPr lang="bg-BG" b="1" dirty="0"/>
              <a:t>уеб сайта</a:t>
            </a:r>
          </a:p>
          <a:p>
            <a:pPr lvl="1"/>
            <a:r>
              <a:rPr lang="bg-BG" b="1" dirty="0"/>
              <a:t>От какви </a:t>
            </a:r>
            <a:r>
              <a:rPr lang="bg-BG" b="1" dirty="0">
                <a:solidFill>
                  <a:schemeClr val="bg1"/>
                </a:solidFill>
              </a:rPr>
              <a:t>устройства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източници</a:t>
            </a:r>
            <a:r>
              <a:rPr lang="bg-BG" dirty="0"/>
              <a:t> идват </a:t>
            </a:r>
            <a:r>
              <a:rPr lang="bg-BG" b="1" dirty="0"/>
              <a:t>потребителите</a:t>
            </a:r>
          </a:p>
          <a:p>
            <a:pPr lvl="1"/>
            <a:r>
              <a:rPr lang="bg-BG" b="1" dirty="0"/>
              <a:t>Кои </a:t>
            </a:r>
            <a:r>
              <a:rPr lang="bg-BG" b="1" dirty="0">
                <a:solidFill>
                  <a:schemeClr val="bg1"/>
                </a:solidFill>
              </a:rPr>
              <a:t>уеб страници </a:t>
            </a:r>
            <a:r>
              <a:rPr lang="bg-BG" dirty="0"/>
              <a:t>се разглеждат </a:t>
            </a:r>
            <a:r>
              <a:rPr lang="bg-BG" b="1" dirty="0"/>
              <a:t>най-често</a:t>
            </a:r>
          </a:p>
          <a:p>
            <a:pPr lvl="1"/>
            <a:r>
              <a:rPr lang="bg-BG" b="1" dirty="0"/>
              <a:t>Къде потребителите </a:t>
            </a:r>
            <a:r>
              <a:rPr lang="bg-BG" dirty="0"/>
              <a:t>срещат </a:t>
            </a:r>
            <a:r>
              <a:rPr lang="bg-BG" b="1" dirty="0">
                <a:solidFill>
                  <a:schemeClr val="bg1"/>
                </a:solidFill>
              </a:rPr>
              <a:t>проблеми</a:t>
            </a:r>
          </a:p>
          <a:p>
            <a:pPr lvl="1"/>
            <a:r>
              <a:rPr lang="bg-BG" b="1" dirty="0"/>
              <a:t>Какви </a:t>
            </a:r>
            <a:r>
              <a:rPr lang="bg-BG" b="1" dirty="0">
                <a:solidFill>
                  <a:schemeClr val="bg1"/>
                </a:solidFill>
              </a:rPr>
              <a:t>подобрения</a:t>
            </a:r>
            <a:r>
              <a:rPr lang="bg-BG" b="1" dirty="0"/>
              <a:t> </a:t>
            </a:r>
            <a:r>
              <a:rPr lang="bg-BG" dirty="0"/>
              <a:t>могат да се направят </a:t>
            </a:r>
            <a:r>
              <a:rPr lang="bg-BG" b="1" dirty="0"/>
              <a:t>след публикуване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610DF5-84A4-B93D-00E9-DF8E18632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Роля на анализ на посещаемостта</a:t>
            </a:r>
            <a:endParaRPr lang="en-BG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F582656-B085-BFC4-2F3C-29D0F5A721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6000" y="5208000"/>
            <a:ext cx="4725000" cy="16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729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2D0F1-3D0C-7A82-599E-95046A699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B29BD4-34C3-AF52-8CB8-6E57330A49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36559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Безплатен инструмент </a:t>
            </a:r>
            <a:r>
              <a:rPr lang="bg-BG" sz="3000" dirty="0"/>
              <a:t>за </a:t>
            </a:r>
            <a:r>
              <a:rPr lang="bg-BG" sz="3000" b="1" dirty="0"/>
              <a:t>анализ на посещаемостта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Събира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bg-BG" sz="3000" b="1" dirty="0">
                <a:solidFill>
                  <a:schemeClr val="bg1"/>
                </a:solidFill>
              </a:rPr>
              <a:t>данни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bg-BG" sz="3000" dirty="0"/>
              <a:t>след свързване с </a:t>
            </a:r>
            <a:r>
              <a:rPr lang="bg-BG" sz="30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Показва информация </a:t>
            </a:r>
            <a:r>
              <a:rPr lang="bg-BG" sz="3000" dirty="0"/>
              <a:t>за </a:t>
            </a:r>
            <a:r>
              <a:rPr lang="bg-BG" sz="3000" b="1" dirty="0"/>
              <a:t>потребители</a:t>
            </a:r>
            <a:r>
              <a:rPr lang="bg-BG" sz="3000" dirty="0"/>
              <a:t>, </a:t>
            </a:r>
            <a:r>
              <a:rPr lang="bg-BG" sz="3000" b="1" dirty="0"/>
              <a:t>страници</a:t>
            </a:r>
            <a:r>
              <a:rPr lang="bg-BG" sz="3000" dirty="0"/>
              <a:t>, </a:t>
            </a:r>
            <a:r>
              <a:rPr lang="bg-BG" sz="3000" b="1" dirty="0"/>
              <a:t>устройства</a:t>
            </a:r>
            <a:r>
              <a:rPr lang="bg-BG" sz="3000" dirty="0"/>
              <a:t> и </a:t>
            </a:r>
            <a:r>
              <a:rPr lang="bg-BG" sz="3000" b="1" dirty="0"/>
              <a:t>източници</a:t>
            </a:r>
            <a:r>
              <a:rPr lang="bg-BG" sz="3000" dirty="0"/>
              <a:t> на </a:t>
            </a:r>
            <a:r>
              <a:rPr lang="bg-BG" sz="3000" b="1" dirty="0"/>
              <a:t>посещения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410AE6-9402-3116-D8B4-609F94927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Google Analytics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16D7A-1CC5-D715-AE32-3C7AF7927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23030" y="1764000"/>
            <a:ext cx="6030000" cy="396710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50393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Публикуване на уеб сайт с </a:t>
            </a:r>
            <a:r>
              <a:rPr lang="en-US" dirty="0"/>
              <a:t>Netlify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D058C-5191-E542-5E40-732D403702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6000" y="1044000"/>
            <a:ext cx="2417792" cy="294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</a:t>
            </a:r>
            <a:r>
              <a:rPr lang="bg-BG" sz="3000" b="1" dirty="0">
                <a:solidFill>
                  <a:schemeClr val="bg1"/>
                </a:solidFill>
              </a:rPr>
              <a:t>публикуваме</a:t>
            </a:r>
            <a:r>
              <a:rPr lang="bg-BG" sz="3000" dirty="0"/>
              <a:t> </a:t>
            </a:r>
            <a:r>
              <a:rPr lang="bg-BG" sz="3000" b="1" dirty="0"/>
              <a:t>уеб сайта </a:t>
            </a:r>
            <a:r>
              <a:rPr lang="en-US" sz="3000" dirty="0"/>
              <a:t>"</a:t>
            </a:r>
            <a:r>
              <a:rPr lang="bg-BG" sz="3000" b="1" dirty="0"/>
              <a:t>Лятна ваканция</a:t>
            </a:r>
            <a:r>
              <a:rPr lang="bg-BG" sz="3000" dirty="0"/>
              <a:t>"</a:t>
            </a:r>
            <a:r>
              <a:rPr lang="en-US" sz="3000" dirty="0"/>
              <a:t> с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Netlify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en-US" dirty="0"/>
              <a:t>Netlify</a:t>
            </a:r>
            <a:endParaRPr lang="bg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9E8A3-76C9-B3E9-6D32-F0F1C721B7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5703" y="3221820"/>
            <a:ext cx="4140000" cy="23657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D51039-1241-9791-E087-A8EA6B1A4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7342" y="1870009"/>
            <a:ext cx="3899516" cy="4824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7600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B69C89-17C9-C8C6-82A5-6E8A0A859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00CA6-F1CE-9A08-AE38-48545A2D28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Проверяваме</a:t>
            </a:r>
            <a:r>
              <a:rPr lang="bg-BG" sz="3000" dirty="0"/>
              <a:t> дали </a:t>
            </a:r>
            <a:r>
              <a:rPr lang="bg-BG" sz="3000" b="1" dirty="0"/>
              <a:t>началната страница </a:t>
            </a:r>
            <a:r>
              <a:rPr lang="bg-BG" sz="3000" dirty="0"/>
              <a:t>се намира на </a:t>
            </a:r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Отваряме</a:t>
            </a:r>
            <a:r>
              <a:rPr lang="bg-BG" sz="3000" dirty="0"/>
              <a:t> </a:t>
            </a:r>
            <a:r>
              <a:rPr lang="bg-BG" sz="3000" b="1" dirty="0"/>
              <a:t>уеб сайта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браузър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Проверяваме</a:t>
            </a:r>
            <a:r>
              <a:rPr lang="bg-BG" sz="3000" dirty="0"/>
              <a:t> дали </a:t>
            </a:r>
            <a:r>
              <a:rPr lang="bg-BG" sz="3000" b="1" dirty="0"/>
              <a:t>стиловете</a:t>
            </a:r>
            <a:r>
              <a:rPr lang="en-US" sz="3000" dirty="0"/>
              <a:t>,</a:t>
            </a:r>
            <a:r>
              <a:rPr lang="bg-BG" sz="3000" dirty="0"/>
              <a:t> </a:t>
            </a:r>
            <a:r>
              <a:rPr lang="bg-BG" sz="3000" b="1" dirty="0"/>
              <a:t>изображенията</a:t>
            </a:r>
            <a:r>
              <a:rPr lang="bg-BG" sz="3000" dirty="0"/>
              <a:t> и </a:t>
            </a:r>
            <a:r>
              <a:rPr lang="bg-BG" sz="3000" b="1" dirty="0"/>
              <a:t>линковете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работят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E4F2D08-059B-DA4F-DA5B-6917A23DF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и проверка на проекта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6AAC5-9605-53CE-9006-B2C1B9DB7E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7713" y="3411153"/>
            <a:ext cx="5228007" cy="309584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0756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5C686-1CD9-B927-55A9-A314502C8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2AC19-7A8D-45B0-9F8D-698BCF3F8A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</a:t>
            </a:r>
            <a:r>
              <a:rPr lang="en-US" dirty="0"/>
              <a:t> </a:t>
            </a:r>
            <a:r>
              <a:rPr lang="en-US" b="1" dirty="0">
                <a:solidFill>
                  <a:schemeClr val="bg1"/>
                </a:solidFill>
              </a:rPr>
              <a:t>Netlify Drop </a:t>
            </a:r>
            <a:r>
              <a:rPr lang="en-GB" dirty="0"/>
              <a:t>–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app.netlify.com/drop</a:t>
            </a:r>
            <a:r>
              <a:rPr lang="en-US" dirty="0"/>
              <a:t> </a:t>
            </a:r>
          </a:p>
          <a:p>
            <a:r>
              <a:rPr lang="bg-BG" dirty="0"/>
              <a:t>Качваме </a:t>
            </a:r>
            <a:r>
              <a:rPr lang="bg-BG" b="1" dirty="0">
                <a:solidFill>
                  <a:schemeClr val="bg1"/>
                </a:solidFill>
              </a:rPr>
              <a:t>папката</a:t>
            </a:r>
            <a:r>
              <a:rPr lang="bg-BG" dirty="0"/>
              <a:t> с </a:t>
            </a:r>
            <a:r>
              <a:rPr lang="bg-BG" b="1" dirty="0"/>
              <a:t>проекта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1E8772-96A4-B041-F03E-4360D756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Качване в </a:t>
            </a:r>
            <a:r>
              <a:rPr lang="en-US" dirty="0"/>
              <a:t>Netlify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6BCE6-A9F1-E11A-C181-C4F9D27619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1000" y="2667360"/>
            <a:ext cx="3739850" cy="364470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E551EF-EC5E-B632-3E32-2E5CBA19E2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06000" y="2667360"/>
            <a:ext cx="3739850" cy="364470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EA9697AA-3B33-20BE-00E5-D0DED0F63A4A}"/>
              </a:ext>
            </a:extLst>
          </p:cNvPr>
          <p:cNvSpPr/>
          <p:nvPr/>
        </p:nvSpPr>
        <p:spPr>
          <a:xfrm>
            <a:off x="4868165" y="3942399"/>
            <a:ext cx="1650519" cy="14462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77955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/>
              <a:t>Уеб сайтът </a:t>
            </a:r>
            <a:r>
              <a:rPr lang="bg-BG" sz="3200" dirty="0"/>
              <a:t>е </a:t>
            </a:r>
            <a:r>
              <a:rPr lang="bg-BG" sz="3200" b="1" dirty="0">
                <a:solidFill>
                  <a:schemeClr val="bg1"/>
                </a:solidFill>
              </a:rPr>
              <a:t>публикуван</a:t>
            </a:r>
          </a:p>
          <a:p>
            <a:r>
              <a:rPr lang="bg-BG" sz="3200" dirty="0"/>
              <a:t>Създаваме </a:t>
            </a:r>
            <a:r>
              <a:rPr lang="bg-BG" sz="3200" b="1" dirty="0">
                <a:solidFill>
                  <a:schemeClr val="bg1"/>
                </a:solidFill>
              </a:rPr>
              <a:t>профил</a:t>
            </a:r>
            <a:r>
              <a:rPr lang="bg-BG" sz="3200" dirty="0"/>
              <a:t>, за да </a:t>
            </a:r>
            <a:r>
              <a:rPr lang="bg-BG" sz="3200" b="1" dirty="0">
                <a:solidFill>
                  <a:schemeClr val="bg1"/>
                </a:solidFill>
              </a:rPr>
              <a:t>запазим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</a:rPr>
              <a:t>управляваме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обновяваме</a:t>
            </a:r>
            <a:r>
              <a:rPr lang="bg-BG" sz="3200" dirty="0"/>
              <a:t> </a:t>
            </a:r>
            <a:r>
              <a:rPr lang="bg-BG" sz="3200" b="1" dirty="0"/>
              <a:t>уеб сайта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 </a:t>
            </a:r>
            <a:r>
              <a:rPr lang="en-US" dirty="0"/>
              <a:t>(1)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A1B9B5-98D3-8E92-DB56-3EFF6E29F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5467" y="3053161"/>
            <a:ext cx="4189849" cy="328650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499562-78E1-A238-6C01-8222E5E8F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8666" y="3047106"/>
            <a:ext cx="4189849" cy="328650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0055DF9F-0593-FE63-AA70-71901F6B1EA8}"/>
              </a:ext>
            </a:extLst>
          </p:cNvPr>
          <p:cNvSpPr/>
          <p:nvPr/>
        </p:nvSpPr>
        <p:spPr>
          <a:xfrm>
            <a:off x="5181732" y="3980417"/>
            <a:ext cx="1650519" cy="14462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084464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Кликаме върху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</a:rPr>
              <a:t>Quick Setup</a:t>
            </a:r>
            <a:r>
              <a:rPr lang="en-US" sz="3200" b="1" dirty="0"/>
              <a:t>]</a:t>
            </a:r>
          </a:p>
          <a:p>
            <a:r>
              <a:rPr lang="bg-BG" sz="3200" dirty="0"/>
              <a:t>Променяме </a:t>
            </a:r>
            <a:r>
              <a:rPr lang="bg-BG" sz="3200" b="1" dirty="0">
                <a:solidFill>
                  <a:schemeClr val="bg1"/>
                </a:solidFill>
              </a:rPr>
              <a:t>името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 </a:t>
            </a:r>
            <a:r>
              <a:rPr lang="en-US" dirty="0"/>
              <a:t>(2)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6C6E61-E8D0-94F3-546C-B6607C68A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6000" y="3154186"/>
            <a:ext cx="5985000" cy="277353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340CF2-E9A6-E815-0B17-B607B9525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02169" y="2844000"/>
            <a:ext cx="4322843" cy="342152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35907CD3-1777-148C-02B3-F7A4785D49AA}"/>
              </a:ext>
            </a:extLst>
          </p:cNvPr>
          <p:cNvSpPr/>
          <p:nvPr/>
        </p:nvSpPr>
        <p:spPr>
          <a:xfrm>
            <a:off x="5641338" y="4200941"/>
            <a:ext cx="1460831" cy="111805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221370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Отваряме </a:t>
            </a:r>
            <a:r>
              <a:rPr lang="bg-BG" sz="3000" b="1" dirty="0"/>
              <a:t>публичния </a:t>
            </a:r>
            <a:r>
              <a:rPr lang="en-GB" sz="3000" b="1" dirty="0">
                <a:solidFill>
                  <a:schemeClr val="bg1"/>
                </a:solidFill>
              </a:rPr>
              <a:t>URL </a:t>
            </a:r>
            <a:r>
              <a:rPr lang="bg-BG" sz="3000" b="1" dirty="0">
                <a:solidFill>
                  <a:schemeClr val="bg1"/>
                </a:solidFill>
              </a:rPr>
              <a:t>адрес </a:t>
            </a:r>
            <a:r>
              <a:rPr lang="en-GB" sz="3200" dirty="0"/>
              <a:t>– </a:t>
            </a:r>
            <a:r>
              <a:rPr lang="en-US" sz="3000" dirty="0">
                <a:hlinkClick r:id="rId2"/>
              </a:rPr>
              <a:t>summer-vacation-demo.netlify.app</a:t>
            </a:r>
            <a:endParaRPr lang="bg-BG" sz="3000" dirty="0"/>
          </a:p>
          <a:p>
            <a:r>
              <a:rPr lang="bg-BG" sz="3000" dirty="0"/>
              <a:t>Проверяваме </a:t>
            </a:r>
            <a:r>
              <a:rPr lang="bg-BG" sz="3000" b="1" dirty="0"/>
              <a:t>оформлението</a:t>
            </a:r>
            <a:r>
              <a:rPr lang="bg-BG" sz="3000" dirty="0"/>
              <a:t>, </a:t>
            </a:r>
            <a:r>
              <a:rPr lang="bg-BG" sz="3000" b="1" dirty="0"/>
              <a:t>изображенията</a:t>
            </a:r>
            <a:r>
              <a:rPr lang="bg-BG" sz="3000" dirty="0"/>
              <a:t> и </a:t>
            </a:r>
            <a:r>
              <a:rPr lang="bg-BG" sz="3000" b="1" dirty="0"/>
              <a:t>навигацията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Проверка на публикувания уеб сайт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760D32-7ED7-9B29-EF78-7CE17B6386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4307" y="2439520"/>
            <a:ext cx="6163386" cy="406748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9276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80AD9C-27E0-0A95-D1D4-37A29C5BA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1CC57-6279-CE54-82E1-E83017751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CC0432-1716-3DBB-4CED-D7BB270E61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5760" y="1161934"/>
            <a:ext cx="8920479" cy="559095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3625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Публикуването</a:t>
            </a:r>
            <a:r>
              <a:rPr lang="bg-BG" sz="2600" dirty="0">
                <a:solidFill>
                  <a:schemeClr val="bg2"/>
                </a:solidFill>
              </a:rPr>
              <a:t> прави </a:t>
            </a:r>
            <a:r>
              <a:rPr lang="bg-BG" sz="2600" b="1" dirty="0">
                <a:solidFill>
                  <a:schemeClr val="bg2"/>
                </a:solidFill>
              </a:rPr>
              <a:t>уеб сайта достъпен</a:t>
            </a:r>
            <a:r>
              <a:rPr lang="bg-BG" sz="2600" dirty="0">
                <a:solidFill>
                  <a:schemeClr val="bg2"/>
                </a:solidFill>
              </a:rPr>
              <a:t> чрез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публичен </a:t>
            </a: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URL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адрес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Netlify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може да се използва за </a:t>
            </a:r>
            <a:r>
              <a:rPr lang="bg-BG" sz="2600" b="1" dirty="0">
                <a:solidFill>
                  <a:schemeClr val="bg2"/>
                </a:solidFill>
              </a:rPr>
              <a:t>публикуване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статични уеб сайтове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SEO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b="1" dirty="0">
                <a:solidFill>
                  <a:schemeClr val="bg2"/>
                </a:solidFill>
              </a:rPr>
              <a:t>подобрява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структурата</a:t>
            </a:r>
            <a:r>
              <a:rPr lang="bg-BG" sz="2600" b="1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откриваемостта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bg2"/>
                </a:solidFill>
              </a:rPr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Ранжирането</a:t>
            </a:r>
            <a:r>
              <a:rPr lang="bg-BG" sz="2600" dirty="0">
                <a:solidFill>
                  <a:schemeClr val="bg2"/>
                </a:solidFill>
              </a:rPr>
              <a:t> определя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реда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bg2"/>
                </a:solidFill>
              </a:rPr>
              <a:t>резултатите</a:t>
            </a:r>
            <a:r>
              <a:rPr lang="bg-BG" sz="2600" dirty="0">
                <a:solidFill>
                  <a:schemeClr val="bg2"/>
                </a:solidFill>
              </a:rPr>
              <a:t> при </a:t>
            </a:r>
            <a:r>
              <a:rPr lang="bg-BG" sz="2600" b="1" dirty="0">
                <a:solidFill>
                  <a:schemeClr val="bg2"/>
                </a:solidFill>
              </a:rPr>
              <a:t>търсене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RSS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се използва за </a:t>
            </a:r>
            <a:r>
              <a:rPr lang="bg-BG" sz="2600" b="1" dirty="0">
                <a:solidFill>
                  <a:schemeClr val="bg2"/>
                </a:solidFill>
              </a:rPr>
              <a:t>разпространение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ново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Анализът</a:t>
            </a:r>
            <a:r>
              <a:rPr lang="bg-BG" sz="2600" dirty="0">
                <a:solidFill>
                  <a:schemeClr val="bg2"/>
                </a:solidFill>
              </a:rPr>
              <a:t> помага за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оценка</a:t>
            </a:r>
            <a:r>
              <a:rPr lang="bg-BG" sz="2600" dirty="0">
                <a:solidFill>
                  <a:schemeClr val="bg2"/>
                </a:solidFill>
              </a:rPr>
              <a:t> 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последващо подобряване </a:t>
            </a:r>
            <a:r>
              <a:rPr lang="bg-BG" sz="2600" dirty="0">
                <a:solidFill>
                  <a:schemeClr val="bg2"/>
                </a:solidFill>
              </a:rPr>
              <a:t>на </a:t>
            </a:r>
            <a:r>
              <a:rPr lang="bg-BG" sz="2600" b="1" dirty="0">
                <a:solidFill>
                  <a:schemeClr val="bg2"/>
                </a:solidFill>
              </a:rPr>
              <a:t>уеб сайта</a:t>
            </a:r>
            <a:endParaRPr lang="bg-BG" sz="26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51528</TotalTime>
  <Words>1225</Words>
  <Application>Microsoft Office PowerPoint</Application>
  <PresentationFormat>Widescreen</PresentationFormat>
  <Paragraphs>205</Paragraphs>
  <Slides>32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Wingdings</vt:lpstr>
      <vt:lpstr>SoftUni</vt:lpstr>
      <vt:lpstr>Публикуване и анализ на уеб сайт</vt:lpstr>
      <vt:lpstr>Съдържание</vt:lpstr>
      <vt:lpstr>Публикуване на уеб сайт</vt:lpstr>
      <vt:lpstr>Публикуване на уеб сайт</vt:lpstr>
      <vt:lpstr>Статичен уеб сайт</vt:lpstr>
      <vt:lpstr>Структура на статичен уеб сайт</vt:lpstr>
      <vt:lpstr>Инструменти за публикуване</vt:lpstr>
      <vt:lpstr>Netlify</vt:lpstr>
      <vt:lpstr>Правни и етични норми при публикуване</vt:lpstr>
      <vt:lpstr>Оптимизация за търсещи машини (SEO)</vt:lpstr>
      <vt:lpstr>Оптимизация за търсещи машини (SEO)</vt:lpstr>
      <vt:lpstr>Основни принципи на SEO</vt:lpstr>
      <vt:lpstr>Основни оптимизационни етапи</vt:lpstr>
      <vt:lpstr>SEO – Пример</vt:lpstr>
      <vt:lpstr>Рангово подреждане (ранжиране)</vt:lpstr>
      <vt:lpstr>Google Search Console</vt:lpstr>
      <vt:lpstr>RSS</vt:lpstr>
      <vt:lpstr>Анализ на посещаемостта</vt:lpstr>
      <vt:lpstr>Анализ на посещаемостта</vt:lpstr>
      <vt:lpstr>Роля на анализ на посещаемостта</vt:lpstr>
      <vt:lpstr>Google Analytics</vt:lpstr>
      <vt:lpstr>Пример</vt:lpstr>
      <vt:lpstr>Публикуване на уеб сайт с Netlify</vt:lpstr>
      <vt:lpstr>Подготовка и проверка на проекта</vt:lpstr>
      <vt:lpstr>Качване в Netlify</vt:lpstr>
      <vt:lpstr>Публикуване на уеб сайт (1)</vt:lpstr>
      <vt:lpstr>Публикуване на уеб сайт (2)</vt:lpstr>
      <vt:lpstr>Проверка на публикувания уеб сайт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Публикуване и анализ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517</cp:revision>
  <dcterms:created xsi:type="dcterms:W3CDTF">2018-05-23T13:08:44Z</dcterms:created>
  <dcterms:modified xsi:type="dcterms:W3CDTF">2026-08-03T15:40:14Z</dcterms:modified>
  <cp:category/>
</cp:coreProperties>
</file>