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4"/>
  </p:notesMasterIdLst>
  <p:handoutMasterIdLst>
    <p:handoutMasterId r:id="rId35"/>
  </p:handoutMasterIdLst>
  <p:sldIdLst>
    <p:sldId id="503" r:id="rId2"/>
    <p:sldId id="276" r:id="rId3"/>
    <p:sldId id="353" r:id="rId4"/>
    <p:sldId id="880" r:id="rId5"/>
    <p:sldId id="942" r:id="rId6"/>
    <p:sldId id="943" r:id="rId7"/>
    <p:sldId id="927" r:id="rId8"/>
    <p:sldId id="957" r:id="rId9"/>
    <p:sldId id="944" r:id="rId10"/>
    <p:sldId id="610" r:id="rId11"/>
    <p:sldId id="907" r:id="rId12"/>
    <p:sldId id="945" r:id="rId13"/>
    <p:sldId id="949" r:id="rId14"/>
    <p:sldId id="958" r:id="rId15"/>
    <p:sldId id="947" r:id="rId16"/>
    <p:sldId id="948" r:id="rId17"/>
    <p:sldId id="950" r:id="rId18"/>
    <p:sldId id="939" r:id="rId19"/>
    <p:sldId id="954" r:id="rId20"/>
    <p:sldId id="953" r:id="rId21"/>
    <p:sldId id="966" r:id="rId22"/>
    <p:sldId id="654" r:id="rId23"/>
    <p:sldId id="911" r:id="rId24"/>
    <p:sldId id="961" r:id="rId25"/>
    <p:sldId id="962" r:id="rId26"/>
    <p:sldId id="963" r:id="rId27"/>
    <p:sldId id="968" r:id="rId28"/>
    <p:sldId id="965" r:id="rId29"/>
    <p:sldId id="938" r:id="rId30"/>
    <p:sldId id="633" r:id="rId31"/>
    <p:sldId id="504" r:id="rId32"/>
    <p:sldId id="50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убликуване на уеб сайт" id="{66DCFE1F-60FD-44F2-BE82-706DDBC14898}">
          <p14:sldIdLst>
            <p14:sldId id="353"/>
            <p14:sldId id="880"/>
            <p14:sldId id="942"/>
            <p14:sldId id="943"/>
            <p14:sldId id="927"/>
            <p14:sldId id="957"/>
            <p14:sldId id="944"/>
          </p14:sldIdLst>
        </p14:section>
        <p14:section name="Оптимизация за търсещи машини (SEO)" id="{EB44CA50-B176-0C4C-B0D0-5459023C7783}">
          <p14:sldIdLst>
            <p14:sldId id="610"/>
            <p14:sldId id="907"/>
            <p14:sldId id="945"/>
            <p14:sldId id="949"/>
            <p14:sldId id="958"/>
            <p14:sldId id="947"/>
            <p14:sldId id="948"/>
            <p14:sldId id="950"/>
          </p14:sldIdLst>
        </p14:section>
        <p14:section name="Анализ на посещаемостта" id="{888DD685-DD75-3B45-9EA5-C6B2CC4C61AA}">
          <p14:sldIdLst>
            <p14:sldId id="939"/>
            <p14:sldId id="954"/>
            <p14:sldId id="953"/>
            <p14:sldId id="966"/>
          </p14:sldIdLst>
        </p14:section>
        <p14:section name="Демо" id="{276EAB92-AF41-DD42-AFD3-D1ABB239E1A7}">
          <p14:sldIdLst>
            <p14:sldId id="654"/>
            <p14:sldId id="911"/>
            <p14:sldId id="961"/>
            <p14:sldId id="962"/>
            <p14:sldId id="963"/>
            <p14:sldId id="968"/>
            <p14:sldId id="965"/>
            <p14:sldId id="938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6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91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5427" autoAdjust="0"/>
  </p:normalViewPr>
  <p:slideViewPr>
    <p:cSldViewPr showGuides="1">
      <p:cViewPr>
        <p:scale>
          <a:sx n="91" d="100"/>
          <a:sy n="91" d="100"/>
        </p:scale>
        <p:origin x="272" y="55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15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27.08.26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99566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19657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03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www.freehosting.com/" TargetMode="External"/><Relationship Id="rId7" Type="http://schemas.openxmlformats.org/officeDocument/2006/relationships/image" Target="../media/image14.png"/><Relationship Id="rId2" Type="http://schemas.openxmlformats.org/officeDocument/2006/relationships/hyperlink" Target="https://www.infinityfree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hyperlink" Target="https://vercel.com/" TargetMode="External"/><Relationship Id="rId10" Type="http://schemas.openxmlformats.org/officeDocument/2006/relationships/image" Target="../media/image17.svg"/><Relationship Id="rId4" Type="http://schemas.openxmlformats.org/officeDocument/2006/relationships/hyperlink" Target="https://app.netlify.com/drop" TargetMode="Externa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app.netlify.com/drop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summer-vacation-demo.netlify.app/" TargetMode="Externa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Autofit/>
          </a:bodyPr>
          <a:lstStyle/>
          <a:p>
            <a:r>
              <a:rPr lang="en-US" sz="3800" dirty="0"/>
              <a:t>SEO, RSS, </a:t>
            </a:r>
            <a:r>
              <a:rPr lang="bg-BG" sz="3800" dirty="0"/>
              <a:t>анализ на посещаемостта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4200" dirty="0"/>
              <a:t>Публикуване и анализ на уеб сайт</a:t>
            </a:r>
            <a:endParaRPr lang="en-US" sz="4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1007" y="3056137"/>
            <a:ext cx="1819960" cy="849053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0803D3B-9BD9-4344-9E83-7264217CEC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550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Публикуване на уеб сайт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Статичен уеб сайт</a:t>
            </a:r>
          </a:p>
          <a:p>
            <a:pPr lvl="1">
              <a:buClr>
                <a:schemeClr val="tx1"/>
              </a:buClr>
            </a:pPr>
            <a:r>
              <a:rPr lang="en-US" sz="3600" b="1" dirty="0"/>
              <a:t>Netlify</a:t>
            </a:r>
            <a:endParaRPr lang="bg-BG" sz="3600" b="1" dirty="0"/>
          </a:p>
          <a:p>
            <a:pPr lvl="1">
              <a:buClr>
                <a:schemeClr val="tx1"/>
              </a:buClr>
            </a:pPr>
            <a:r>
              <a:rPr lang="bg-BG" sz="3600" b="1" dirty="0"/>
              <a:t>Правни </a:t>
            </a:r>
            <a:r>
              <a:rPr lang="bg-BG" sz="3600" dirty="0"/>
              <a:t>и </a:t>
            </a:r>
            <a:r>
              <a:rPr lang="bg-BG" sz="3600" b="1" dirty="0"/>
              <a:t>етични норми </a:t>
            </a:r>
            <a:r>
              <a:rPr lang="bg-BG" sz="3600" dirty="0"/>
              <a:t>при публикуване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​​</a:t>
            </a:r>
            <a:r>
              <a:rPr lang="bg-BG" sz="3800" b="1" dirty="0">
                <a:solidFill>
                  <a:schemeClr val="bg1"/>
                </a:solidFill>
              </a:rPr>
              <a:t>Оптимизация за търсещи машини </a:t>
            </a:r>
            <a:r>
              <a:rPr lang="en-US" sz="3800" b="1" dirty="0"/>
              <a:t>(SEO)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принципи </a:t>
            </a:r>
            <a:r>
              <a:rPr lang="bg-BG" sz="3600" dirty="0"/>
              <a:t>и</a:t>
            </a:r>
            <a:r>
              <a:rPr lang="bg-BG" sz="3600" b="1" dirty="0"/>
              <a:t> етапи</a:t>
            </a:r>
          </a:p>
          <a:p>
            <a:pPr lvl="1">
              <a:buClr>
                <a:schemeClr val="tx1"/>
              </a:buClr>
            </a:pPr>
            <a:r>
              <a:rPr lang="bg-BG" sz="3800" b="1" dirty="0"/>
              <a:t>Рангово подреждане </a:t>
            </a:r>
            <a:r>
              <a:rPr lang="bg-BG" sz="3800" dirty="0"/>
              <a:t>(ранжиране)</a:t>
            </a:r>
          </a:p>
          <a:p>
            <a:pPr lvl="1">
              <a:buClr>
                <a:schemeClr val="tx1"/>
              </a:buClr>
            </a:pPr>
            <a:r>
              <a:rPr lang="bg-BG" sz="4000" b="1" dirty="0"/>
              <a:t>Инструменти </a:t>
            </a:r>
            <a:r>
              <a:rPr lang="bg-BG" sz="4000" dirty="0"/>
              <a:t>за</a:t>
            </a:r>
            <a:r>
              <a:rPr lang="bg-BG" sz="4000" b="1" dirty="0"/>
              <a:t> </a:t>
            </a:r>
            <a:r>
              <a:rPr lang="en-US" sz="4000" b="1" dirty="0"/>
              <a:t>SEO </a:t>
            </a:r>
            <a:r>
              <a:rPr lang="bg-BG" sz="4000" b="1" dirty="0"/>
              <a:t>анализ</a:t>
            </a:r>
            <a:endParaRPr lang="bg-BG" sz="3800" dirty="0"/>
          </a:p>
          <a:p>
            <a:pPr lvl="1"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en-US" sz="3800" b="1" dirty="0"/>
              <a:t>RSS</a:t>
            </a:r>
          </a:p>
          <a:p>
            <a:pPr>
              <a:buClr>
                <a:schemeClr val="tx1"/>
              </a:buClr>
            </a:pPr>
            <a:r>
              <a:rPr lang="bg-BG" sz="3800" dirty="0">
                <a:solidFill>
                  <a:schemeClr val="bg1"/>
                </a:solidFill>
              </a:rPr>
              <a:t>​</a:t>
            </a:r>
            <a:r>
              <a:rPr lang="bg-BG" sz="3800" b="1" dirty="0">
                <a:solidFill>
                  <a:schemeClr val="bg1"/>
                </a:solidFill>
              </a:rPr>
              <a:t>Анализ на посещаемостта</a:t>
            </a:r>
          </a:p>
          <a:p>
            <a:pPr lvl="1">
              <a:buClr>
                <a:schemeClr val="tx1"/>
              </a:buClr>
            </a:pPr>
            <a:r>
              <a:rPr lang="en-GB" sz="3600" b="1" dirty="0"/>
              <a:t>Google Analytics</a:t>
            </a:r>
            <a:endParaRPr lang="bg-BG" sz="3600" b="1" dirty="0"/>
          </a:p>
          <a:p>
            <a:pPr>
              <a:buClr>
                <a:schemeClr val="tx1"/>
              </a:buClr>
            </a:pPr>
            <a:r>
              <a:rPr lang="en-US" sz="3800" dirty="0"/>
              <a:t>​</a:t>
            </a:r>
            <a:r>
              <a:rPr lang="bg-BG" sz="3800" dirty="0"/>
              <a:t>​</a:t>
            </a:r>
            <a:r>
              <a:rPr lang="en-US" sz="3800" dirty="0">
                <a:solidFill>
                  <a:schemeClr val="bg1"/>
                </a:solidFill>
              </a:rPr>
              <a:t>​</a:t>
            </a:r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Публикуване на уеб сайт</a:t>
            </a:r>
            <a:r>
              <a:rPr lang="en-US" sz="3800" dirty="0"/>
              <a:t> с</a:t>
            </a:r>
            <a:r>
              <a:rPr lang="bg-BG" sz="3800" dirty="0"/>
              <a:t> </a:t>
            </a:r>
            <a:r>
              <a:rPr lang="en-US" sz="3800" dirty="0"/>
              <a:t>Netlify</a:t>
            </a:r>
            <a:endParaRPr lang="bg-BG" sz="3800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От локални файлове към </a:t>
            </a:r>
            <a:r>
              <a:rPr lang="en-US" sz="4800" dirty="0"/>
              <a:t>URL </a:t>
            </a:r>
            <a:r>
              <a:rPr lang="bg-BG" sz="4800" dirty="0"/>
              <a:t>адрес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Публикуване на уеб сайт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BC944-0B81-4D58-A4FB-DB353ABC8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6662" y="909000"/>
            <a:ext cx="3738675" cy="327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100" b="1" dirty="0"/>
              <a:t>Процесът</a:t>
            </a:r>
            <a:r>
              <a:rPr lang="bg-BG" sz="3100" dirty="0"/>
              <a:t> на </a:t>
            </a:r>
            <a:r>
              <a:rPr lang="bg-BG" sz="3100" b="1" dirty="0">
                <a:solidFill>
                  <a:schemeClr val="bg1"/>
                </a:solidFill>
              </a:rPr>
              <a:t>качване</a:t>
            </a:r>
            <a:r>
              <a:rPr lang="bg-BG" sz="3100" dirty="0"/>
              <a:t> на </a:t>
            </a:r>
            <a:r>
              <a:rPr lang="bg-BG" sz="3100" b="1" dirty="0">
                <a:solidFill>
                  <a:schemeClr val="bg1"/>
                </a:solidFill>
              </a:rPr>
              <a:t>файловете</a:t>
            </a:r>
            <a:r>
              <a:rPr lang="bg-BG" sz="3100" dirty="0"/>
              <a:t> на </a:t>
            </a:r>
            <a:r>
              <a:rPr lang="bg-BG" sz="3100" b="1" dirty="0">
                <a:solidFill>
                  <a:schemeClr val="bg1"/>
                </a:solidFill>
              </a:rPr>
              <a:t>уеб сайта </a:t>
            </a:r>
            <a:r>
              <a:rPr lang="bg-BG" sz="3100" dirty="0"/>
              <a:t>на </a:t>
            </a:r>
            <a:r>
              <a:rPr lang="bg-BG" sz="3100" b="1" dirty="0"/>
              <a:t>уеб сървър</a:t>
            </a:r>
          </a:p>
          <a:p>
            <a:r>
              <a:rPr lang="bg-BG" sz="3100" dirty="0"/>
              <a:t>След </a:t>
            </a:r>
            <a:r>
              <a:rPr lang="bg-BG" sz="3100" b="1" dirty="0">
                <a:solidFill>
                  <a:schemeClr val="bg1"/>
                </a:solidFill>
              </a:rPr>
              <a:t>публикуване</a:t>
            </a:r>
            <a:r>
              <a:rPr lang="bg-BG" sz="3100" dirty="0"/>
              <a:t> </a:t>
            </a:r>
            <a:r>
              <a:rPr lang="bg-BG" sz="3100" b="1" dirty="0"/>
              <a:t>уеб сайтът </a:t>
            </a:r>
            <a:r>
              <a:rPr lang="bg-BG" sz="3100" dirty="0"/>
              <a:t>се отваря чрез </a:t>
            </a:r>
            <a:r>
              <a:rPr lang="bg-BG" sz="3100" b="1" dirty="0">
                <a:solidFill>
                  <a:schemeClr val="bg1"/>
                </a:solidFill>
              </a:rPr>
              <a:t>публичен </a:t>
            </a:r>
            <a:r>
              <a:rPr lang="en-US" sz="3100" b="1" dirty="0">
                <a:solidFill>
                  <a:schemeClr val="bg1"/>
                </a:solidFill>
              </a:rPr>
              <a:t>URL </a:t>
            </a:r>
            <a:r>
              <a:rPr lang="bg-BG" sz="3100" b="1" dirty="0">
                <a:solidFill>
                  <a:schemeClr val="bg1"/>
                </a:solidFill>
              </a:rPr>
              <a:t>адрес</a:t>
            </a:r>
          </a:p>
          <a:p>
            <a:r>
              <a:rPr lang="bg-BG" sz="3100" b="1" dirty="0"/>
              <a:t>Публикуваният уеб сайт </a:t>
            </a:r>
            <a:r>
              <a:rPr lang="bg-BG" sz="3100" dirty="0"/>
              <a:t>е </a:t>
            </a:r>
            <a:r>
              <a:rPr lang="bg-BG" sz="3100" b="1" dirty="0">
                <a:solidFill>
                  <a:schemeClr val="bg1"/>
                </a:solidFill>
              </a:rPr>
              <a:t>достъпен</a:t>
            </a:r>
            <a:r>
              <a:rPr lang="bg-BG" sz="3100" dirty="0"/>
              <a:t> от </a:t>
            </a:r>
            <a:r>
              <a:rPr lang="bg-BG" sz="3100" b="1" dirty="0"/>
              <a:t>различни устройства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Публикуване на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080C3-F4B4-5525-106C-3BA15F14E3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83200" y="3098662"/>
            <a:ext cx="6825600" cy="37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30BCD-F721-6C78-1F51-37AA9668A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6C8E0-B56A-657E-9026-46104515B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100" dirty="0"/>
              <a:t>Състои се от </a:t>
            </a:r>
            <a:r>
              <a:rPr lang="bg-BG" sz="3100" b="1" dirty="0">
                <a:solidFill>
                  <a:schemeClr val="bg1"/>
                </a:solidFill>
              </a:rPr>
              <a:t>статични файлове</a:t>
            </a:r>
          </a:p>
          <a:p>
            <a:r>
              <a:rPr lang="bg-BG" sz="3100" b="1" dirty="0">
                <a:solidFill>
                  <a:schemeClr val="bg1"/>
                </a:solidFill>
              </a:rPr>
              <a:t>Не изисква </a:t>
            </a:r>
            <a:r>
              <a:rPr lang="bg-BG" sz="3100" b="1" dirty="0"/>
              <a:t>сървърен код </a:t>
            </a:r>
            <a:r>
              <a:rPr lang="bg-BG" sz="3100" dirty="0"/>
              <a:t>или </a:t>
            </a:r>
            <a:r>
              <a:rPr lang="bg-BG" sz="3100" b="1" dirty="0"/>
              <a:t>база данни</a:t>
            </a:r>
          </a:p>
          <a:p>
            <a:r>
              <a:rPr lang="bg-BG" sz="3100" b="1" dirty="0"/>
              <a:t>Промените</a:t>
            </a:r>
            <a:r>
              <a:rPr lang="bg-BG" sz="3100" dirty="0"/>
              <a:t> се правят чрез </a:t>
            </a:r>
            <a:r>
              <a:rPr lang="bg-BG" sz="3100" b="1" dirty="0">
                <a:solidFill>
                  <a:schemeClr val="bg1"/>
                </a:solidFill>
              </a:rPr>
              <a:t>редактиране</a:t>
            </a:r>
            <a:r>
              <a:rPr lang="bg-BG" sz="3100" dirty="0"/>
              <a:t> на </a:t>
            </a:r>
            <a:r>
              <a:rPr lang="en-US" sz="3100" b="1" dirty="0">
                <a:solidFill>
                  <a:schemeClr val="bg1"/>
                </a:solidFill>
              </a:rPr>
              <a:t>HTML</a:t>
            </a:r>
            <a:r>
              <a:rPr lang="en-US" sz="3100" dirty="0"/>
              <a:t> </a:t>
            </a:r>
            <a:r>
              <a:rPr lang="bg-BG" sz="3100" dirty="0"/>
              <a:t>и </a:t>
            </a:r>
            <a:r>
              <a:rPr lang="en-US" sz="3100" b="1" dirty="0">
                <a:solidFill>
                  <a:schemeClr val="bg1"/>
                </a:solidFill>
              </a:rPr>
              <a:t>CSS</a:t>
            </a:r>
            <a:r>
              <a:rPr lang="en-US" sz="3100" dirty="0"/>
              <a:t> </a:t>
            </a:r>
            <a:r>
              <a:rPr lang="bg-BG" sz="3100" b="1" dirty="0"/>
              <a:t>файловете</a:t>
            </a:r>
          </a:p>
          <a:p>
            <a:r>
              <a:rPr lang="bg-BG" sz="3100" dirty="0"/>
              <a:t>Подходящ за:</a:t>
            </a:r>
          </a:p>
          <a:p>
            <a:pPr lvl="1"/>
            <a:r>
              <a:rPr lang="bg-BG" sz="2900" b="1" dirty="0"/>
              <a:t>Учебни проекти</a:t>
            </a:r>
          </a:p>
          <a:p>
            <a:pPr lvl="1"/>
            <a:r>
              <a:rPr lang="bg-BG" sz="2900" b="1" dirty="0"/>
              <a:t>Портфолио</a:t>
            </a:r>
          </a:p>
          <a:p>
            <a:pPr lvl="1"/>
            <a:r>
              <a:rPr lang="bg-BG" sz="2900" b="1" dirty="0"/>
              <a:t>Малки фирмени уеб сайтове</a:t>
            </a:r>
          </a:p>
          <a:p>
            <a:pPr lvl="1"/>
            <a:r>
              <a:rPr lang="bg-BG" sz="2900" b="1" dirty="0"/>
              <a:t>И др.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CFB5D3-1AB3-D9CC-D3E3-55C7D9035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Статичен уеб сайт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AA54D-56FE-5A41-F91F-61BBFAFDEA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2473" y="3104150"/>
            <a:ext cx="5810557" cy="369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1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30BCD-F721-6C78-1F51-37AA9668A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6C8E0-B56A-657E-9026-46104515B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Всички файлове </a:t>
            </a:r>
            <a:r>
              <a:rPr lang="bg-BG" sz="3000" dirty="0"/>
              <a:t>са в </a:t>
            </a:r>
            <a:r>
              <a:rPr lang="bg-BG" sz="3000" b="1" dirty="0">
                <a:solidFill>
                  <a:schemeClr val="bg1"/>
                </a:solidFill>
              </a:rPr>
              <a:t>една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основна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папка</a:t>
            </a:r>
          </a:p>
          <a:p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началната страница </a:t>
            </a:r>
            <a:r>
              <a:rPr lang="bg-BG" sz="3000" dirty="0"/>
              <a:t>на </a:t>
            </a:r>
            <a:r>
              <a:rPr lang="bg-BG" sz="3000" b="1" dirty="0"/>
              <a:t>уеб сайта</a:t>
            </a:r>
          </a:p>
          <a:p>
            <a:r>
              <a:rPr lang="en-GB" sz="3000" b="1" dirty="0"/>
              <a:t>HTML </a:t>
            </a:r>
            <a:r>
              <a:rPr lang="bg-BG" sz="3000" b="1" dirty="0"/>
              <a:t>файлът </a:t>
            </a:r>
            <a:r>
              <a:rPr lang="bg-BG" sz="3000" dirty="0"/>
              <a:t>съдържа </a:t>
            </a:r>
            <a:r>
              <a:rPr lang="bg-BG" sz="3000" b="1" dirty="0">
                <a:solidFill>
                  <a:schemeClr val="bg1"/>
                </a:solidFill>
              </a:rPr>
              <a:t>връзка</a:t>
            </a:r>
            <a:r>
              <a:rPr lang="bg-BG" sz="3000" dirty="0"/>
              <a:t> към </a:t>
            </a:r>
            <a:r>
              <a:rPr lang="en-GB" sz="3000" b="1" dirty="0"/>
              <a:t>CSS </a:t>
            </a:r>
            <a:r>
              <a:rPr lang="bg-BG" sz="3000" b="1" dirty="0"/>
              <a:t>файла </a:t>
            </a:r>
            <a:r>
              <a:rPr lang="bg-BG" sz="3000" dirty="0"/>
              <a:t>чрез </a:t>
            </a:r>
            <a:r>
              <a:rPr lang="bg-BG" sz="3000" b="1" dirty="0"/>
              <a:t>тага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link&gt;</a:t>
            </a:r>
            <a:endParaRPr lang="bg-BG" sz="3000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Допълнителните файлове 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могат да бъдат </a:t>
            </a:r>
            <a:r>
              <a:rPr lang="bg-BG" sz="3000" b="1" dirty="0">
                <a:latin typeface="Calibri" panose="020F0502020204030204" pitchFamily="34" charset="0"/>
                <a:cs typeface="Calibri" panose="020F0502020204030204" pitchFamily="34" charset="0"/>
              </a:rPr>
              <a:t>организирани</a:t>
            </a:r>
            <a:r>
              <a:rPr lang="bg-BG" sz="3000" dirty="0">
                <a:latin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lang="bg-BG" sz="3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подпапки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CFB5D3-1AB3-D9CC-D3E3-55C7D9035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Структура на статичен уеб сайт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37C91-3F74-B977-1A5E-AD84DE603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6000" y="4141286"/>
            <a:ext cx="4140000" cy="23657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973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InfinityFree </a:t>
            </a:r>
            <a:r>
              <a:rPr lang="en-GB" sz="3600" dirty="0"/>
              <a:t>– </a:t>
            </a:r>
            <a:r>
              <a:rPr lang="en-US" sz="3600" dirty="0"/>
              <a:t>(</a:t>
            </a:r>
            <a:r>
              <a:rPr lang="en-US" sz="3600" dirty="0">
                <a:hlinkClick r:id="rId2"/>
              </a:rPr>
              <a:t>infinityfree.com</a:t>
            </a:r>
            <a:r>
              <a:rPr lang="en-US" sz="3600" dirty="0"/>
              <a:t>)</a:t>
            </a:r>
          </a:p>
          <a:p>
            <a:r>
              <a:rPr lang="en-US" sz="3600" b="1" dirty="0"/>
              <a:t>Free Hosting</a:t>
            </a:r>
            <a:r>
              <a:rPr lang="bg-BG" sz="3600" dirty="0"/>
              <a:t> </a:t>
            </a:r>
            <a:r>
              <a:rPr lang="en-GB" sz="3600" dirty="0"/>
              <a:t>– </a:t>
            </a:r>
            <a:r>
              <a:rPr lang="en-US" sz="3600" dirty="0"/>
              <a:t>(</a:t>
            </a:r>
            <a:r>
              <a:rPr lang="en-US" sz="3600" dirty="0">
                <a:hlinkClick r:id="rId3"/>
              </a:rPr>
              <a:t>freehosting.com</a:t>
            </a:r>
            <a:r>
              <a:rPr lang="en-US" sz="3600" dirty="0"/>
              <a:t>)</a:t>
            </a:r>
          </a:p>
          <a:p>
            <a:r>
              <a:rPr lang="en-US" sz="3600" b="1" dirty="0"/>
              <a:t>Netlify</a:t>
            </a:r>
            <a:r>
              <a:rPr lang="bg-BG" sz="3600" b="1" dirty="0"/>
              <a:t> </a:t>
            </a:r>
            <a:r>
              <a:rPr lang="en-GB" sz="3600" dirty="0"/>
              <a:t>–</a:t>
            </a:r>
            <a:r>
              <a:rPr lang="bg-BG" sz="3600" dirty="0"/>
              <a:t> </a:t>
            </a:r>
            <a:r>
              <a:rPr lang="en-US" sz="3600" dirty="0"/>
              <a:t>(</a:t>
            </a:r>
            <a:r>
              <a:rPr lang="en-US" sz="3600" dirty="0">
                <a:hlinkClick r:id="rId4"/>
              </a:rPr>
              <a:t>app.netlify.com/drop</a:t>
            </a:r>
            <a:r>
              <a:rPr lang="en-US" sz="3600" dirty="0"/>
              <a:t>)</a:t>
            </a:r>
          </a:p>
          <a:p>
            <a:r>
              <a:rPr lang="en-US" sz="3600" b="1" dirty="0"/>
              <a:t>Vercel</a:t>
            </a:r>
            <a:r>
              <a:rPr lang="en-US" sz="3600" dirty="0"/>
              <a:t> </a:t>
            </a:r>
            <a:r>
              <a:rPr lang="en-GB" sz="3600" dirty="0"/>
              <a:t>– </a:t>
            </a:r>
            <a:r>
              <a:rPr lang="en-US" sz="3600" dirty="0"/>
              <a:t>(</a:t>
            </a:r>
            <a:r>
              <a:rPr lang="en-US" sz="3600" dirty="0">
                <a:hlinkClick r:id="rId5"/>
              </a:rPr>
              <a:t>vercel.com</a:t>
            </a:r>
            <a:r>
              <a:rPr lang="en-US" sz="3600" dirty="0"/>
              <a:t>)</a:t>
            </a:r>
          </a:p>
          <a:p>
            <a:r>
              <a:rPr lang="bg-BG" sz="3600" b="1" dirty="0"/>
              <a:t>И др.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Инструменти</a:t>
            </a:r>
            <a:r>
              <a:rPr lang="en-US" dirty="0"/>
              <a:t> </a:t>
            </a:r>
            <a:r>
              <a:rPr lang="bg-BG" dirty="0"/>
              <a:t>за публикуване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7685E-A847-B21D-4A54-FABF88066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3300" y="3698602"/>
            <a:ext cx="1968500" cy="939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23E194-AB3E-D49B-D0B8-B05D498C06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1000" y="1494000"/>
            <a:ext cx="3213100" cy="939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DA534-4ECF-3B36-0E49-D4F5F6F311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1000" y="2546786"/>
            <a:ext cx="3213100" cy="939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DABAD8-BAB8-B199-F15C-807BF8BE84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86852" y="4850418"/>
            <a:ext cx="1311928" cy="131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B5110-1843-66D7-0664-ACF0E0959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8F324-4791-0D25-2B79-57395689E3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Безплатна платформа </a:t>
            </a:r>
            <a:r>
              <a:rPr lang="bg-BG" sz="3200" dirty="0"/>
              <a:t>за </a:t>
            </a:r>
            <a:r>
              <a:rPr lang="bg-BG" sz="3200" b="1" dirty="0"/>
              <a:t>публикуване</a:t>
            </a:r>
            <a:r>
              <a:rPr lang="bg-BG" sz="3200" dirty="0"/>
              <a:t> на </a:t>
            </a:r>
            <a:r>
              <a:rPr lang="bg-BG" sz="3200" b="1" dirty="0"/>
              <a:t>статични уеб сайтове</a:t>
            </a:r>
          </a:p>
          <a:p>
            <a:r>
              <a:rPr lang="bg-BG" sz="3200" b="1" dirty="0"/>
              <a:t>Поддържа</a:t>
            </a:r>
            <a:r>
              <a:rPr lang="bg-BG" sz="3200" dirty="0"/>
              <a:t> </a:t>
            </a:r>
            <a:r>
              <a:rPr lang="en-GB" sz="3200" b="1" dirty="0">
                <a:solidFill>
                  <a:schemeClr val="bg1"/>
                </a:solidFill>
              </a:rPr>
              <a:t>HTML</a:t>
            </a:r>
            <a:r>
              <a:rPr lang="en-GB" sz="3200" dirty="0"/>
              <a:t>, </a:t>
            </a:r>
            <a:r>
              <a:rPr lang="en-GB" sz="3200" b="1" dirty="0">
                <a:solidFill>
                  <a:schemeClr val="bg1"/>
                </a:solidFill>
              </a:rPr>
              <a:t>CSS</a:t>
            </a:r>
            <a:r>
              <a:rPr lang="en-GB" sz="3200" dirty="0"/>
              <a:t>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изображения</a:t>
            </a:r>
          </a:p>
          <a:p>
            <a:r>
              <a:rPr lang="bg-BG" sz="3200" b="1" dirty="0"/>
              <a:t>Генерира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публичен</a:t>
            </a:r>
            <a:r>
              <a:rPr lang="bg-BG" sz="3200" dirty="0"/>
              <a:t> </a:t>
            </a:r>
            <a:r>
              <a:rPr lang="en-GB" sz="3200" b="1" dirty="0">
                <a:solidFill>
                  <a:schemeClr val="bg1"/>
                </a:solidFill>
              </a:rPr>
              <a:t>URL </a:t>
            </a:r>
            <a:r>
              <a:rPr lang="bg-BG" sz="3200" b="1" dirty="0">
                <a:solidFill>
                  <a:schemeClr val="bg1"/>
                </a:solidFill>
              </a:rPr>
              <a:t>адрес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Не изисква </a:t>
            </a:r>
            <a:r>
              <a:rPr lang="bg-BG" sz="3200" dirty="0"/>
              <a:t>собствен </a:t>
            </a:r>
            <a:r>
              <a:rPr lang="bg-BG" sz="3200" b="1" dirty="0"/>
              <a:t>уеб сървър</a:t>
            </a:r>
            <a:endParaRPr lang="en-BG" sz="3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9BF393-E117-20A3-F00D-FB5E9148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Netlify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A5BEC-34A1-6D91-7DC6-2DF450CA33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72" r="3579"/>
          <a:stretch/>
        </p:blipFill>
        <p:spPr>
          <a:xfrm>
            <a:off x="6983031" y="2832629"/>
            <a:ext cx="4769999" cy="36818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8938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6EE42-462D-ADF1-958D-891D8265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74F8-CC61-813B-0FF9-075C4B18E8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800" b="1" dirty="0"/>
              <a:t>Публикува се съдържание</a:t>
            </a:r>
            <a:r>
              <a:rPr lang="bg-BG" sz="2800" dirty="0"/>
              <a:t>, което </a:t>
            </a:r>
            <a:r>
              <a:rPr lang="bg-BG" sz="2800" b="1" dirty="0">
                <a:solidFill>
                  <a:schemeClr val="bg1"/>
                </a:solidFill>
              </a:rPr>
              <a:t>имаме право да използваме</a:t>
            </a:r>
          </a:p>
          <a:p>
            <a:r>
              <a:rPr lang="bg-BG" sz="2800" b="1" dirty="0">
                <a:solidFill>
                  <a:schemeClr val="bg1"/>
                </a:solidFill>
              </a:rPr>
              <a:t>Не се качват </a:t>
            </a:r>
            <a:r>
              <a:rPr lang="bg-BG" sz="2800" b="1" dirty="0"/>
              <a:t>лични данни без съгласие</a:t>
            </a:r>
          </a:p>
          <a:p>
            <a:r>
              <a:rPr lang="bg-BG" sz="2800" b="1" dirty="0"/>
              <a:t>Посочват се </a:t>
            </a:r>
            <a:r>
              <a:rPr lang="bg-BG" sz="2800" b="1" dirty="0">
                <a:solidFill>
                  <a:schemeClr val="bg1"/>
                </a:solidFill>
              </a:rPr>
              <a:t>източници</a:t>
            </a:r>
            <a:r>
              <a:rPr lang="bg-BG" sz="2800" dirty="0"/>
              <a:t> при </a:t>
            </a:r>
            <a:r>
              <a:rPr lang="bg-BG" sz="2800" b="1" dirty="0"/>
              <a:t>използване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чужди ресурси</a:t>
            </a:r>
          </a:p>
          <a:p>
            <a:r>
              <a:rPr lang="bg-BG" sz="2800" b="1" dirty="0"/>
              <a:t>Използват се </a:t>
            </a:r>
            <a:r>
              <a:rPr lang="bg-BG" sz="2800" b="1" dirty="0">
                <a:solidFill>
                  <a:schemeClr val="bg1"/>
                </a:solidFill>
              </a:rPr>
              <a:t>собствени материали </a:t>
            </a:r>
            <a:r>
              <a:rPr lang="bg-BG" sz="2800" dirty="0"/>
              <a:t>или </a:t>
            </a:r>
            <a:r>
              <a:rPr lang="bg-BG" sz="2800" b="1" dirty="0">
                <a:solidFill>
                  <a:schemeClr val="bg1"/>
                </a:solidFill>
              </a:rPr>
              <a:t>ресурси</a:t>
            </a:r>
            <a:r>
              <a:rPr lang="bg-BG" sz="2800" dirty="0"/>
              <a:t> с </a:t>
            </a:r>
            <a:r>
              <a:rPr lang="bg-BG" sz="2800" b="1" dirty="0"/>
              <a:t>подходящ </a:t>
            </a:r>
            <a:r>
              <a:rPr lang="bg-BG" sz="2800" b="1" dirty="0">
                <a:solidFill>
                  <a:schemeClr val="bg1"/>
                </a:solidFill>
              </a:rPr>
              <a:t>лиценз</a:t>
            </a:r>
          </a:p>
          <a:p>
            <a:r>
              <a:rPr lang="bg-BG" sz="2800" b="1" dirty="0"/>
              <a:t>Съдържанието </a:t>
            </a:r>
            <a:r>
              <a:rPr lang="bg-BG" sz="2800" dirty="0"/>
              <a:t>трябва да бъде </a:t>
            </a:r>
            <a:r>
              <a:rPr lang="bg-BG" sz="2800" b="1" dirty="0">
                <a:solidFill>
                  <a:schemeClr val="bg1"/>
                </a:solidFill>
              </a:rPr>
              <a:t>коректно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уважително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5D416C-6BD1-A021-F0C6-50157841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Правни и етични норми при публикуване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C441E3-A893-15AF-EAAF-911AE94E4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1000" y="4110895"/>
            <a:ext cx="3195000" cy="26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sz="4800" dirty="0"/>
              <a:t>Search Engine Optimization</a:t>
            </a:r>
            <a:endParaRPr lang="bg-BG" sz="48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800" dirty="0"/>
              <a:t>Оптимизация за търсещи машини</a:t>
            </a:r>
            <a:r>
              <a:rPr lang="en-US" sz="4800" dirty="0"/>
              <a:t> (</a:t>
            </a:r>
            <a:r>
              <a:rPr lang="en-GB" sz="4800" dirty="0"/>
              <a:t>SEO)</a:t>
            </a:r>
            <a:endParaRPr lang="en-US" sz="4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81093B-550A-80CB-EF36-D01FEC2FA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1400" y="1467112"/>
            <a:ext cx="3029199" cy="198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SEO</a:t>
            </a:r>
            <a:r>
              <a:rPr lang="en-US" sz="3000" b="1" dirty="0"/>
              <a:t> (</a:t>
            </a:r>
            <a:r>
              <a:rPr lang="en-US" sz="3000" b="1" dirty="0">
                <a:solidFill>
                  <a:schemeClr val="bg1"/>
                </a:solidFill>
              </a:rPr>
              <a:t>S</a:t>
            </a:r>
            <a:r>
              <a:rPr lang="en-US" sz="3000" b="1" dirty="0"/>
              <a:t>earch </a:t>
            </a:r>
            <a:r>
              <a:rPr lang="en-US" sz="3000" b="1" dirty="0">
                <a:solidFill>
                  <a:schemeClr val="bg1"/>
                </a:solidFill>
              </a:rPr>
              <a:t>E</a:t>
            </a:r>
            <a:r>
              <a:rPr lang="en-US" sz="3000" b="1" dirty="0"/>
              <a:t>ngine </a:t>
            </a:r>
            <a:r>
              <a:rPr lang="en-US" sz="3000" b="1" dirty="0">
                <a:solidFill>
                  <a:schemeClr val="bg1"/>
                </a:solidFill>
              </a:rPr>
              <a:t>O</a:t>
            </a:r>
            <a:r>
              <a:rPr lang="en-US" sz="3000" b="1" dirty="0"/>
              <a:t>ptimization)</a:t>
            </a:r>
            <a:endParaRPr lang="bg-BG" sz="3000" b="1" dirty="0">
              <a:solidFill>
                <a:schemeClr val="bg1"/>
              </a:solidFill>
            </a:endParaRPr>
          </a:p>
          <a:p>
            <a:pPr lvl="1"/>
            <a:r>
              <a:rPr lang="bg-BG" sz="2800" b="1" dirty="0"/>
              <a:t>Процес</a:t>
            </a:r>
            <a:r>
              <a:rPr lang="bg-BG" sz="2800" dirty="0"/>
              <a:t> на </a:t>
            </a:r>
            <a:r>
              <a:rPr lang="bg-BG" sz="2800" b="1" dirty="0">
                <a:solidFill>
                  <a:schemeClr val="bg1"/>
                </a:solidFill>
              </a:rPr>
              <a:t>подобряване</a:t>
            </a:r>
            <a:r>
              <a:rPr lang="bg-BG" sz="2800" dirty="0"/>
              <a:t> на </a:t>
            </a:r>
            <a:r>
              <a:rPr lang="bg-BG" sz="2800" b="1" dirty="0"/>
              <a:t>уеб сайт </a:t>
            </a:r>
            <a:r>
              <a:rPr lang="bg-BG" sz="2800" dirty="0"/>
              <a:t>за </a:t>
            </a:r>
            <a:r>
              <a:rPr lang="bg-BG" sz="2800" b="1" dirty="0">
                <a:solidFill>
                  <a:schemeClr val="bg1"/>
                </a:solidFill>
              </a:rPr>
              <a:t>търсещите машини</a:t>
            </a:r>
          </a:p>
          <a:p>
            <a:pPr lvl="1"/>
            <a:r>
              <a:rPr lang="bg-BG" sz="2800" dirty="0"/>
              <a:t>Помага </a:t>
            </a:r>
            <a:r>
              <a:rPr lang="bg-BG" sz="2800" b="1" dirty="0"/>
              <a:t>уеб сайтът </a:t>
            </a:r>
            <a:r>
              <a:rPr lang="bg-BG" sz="2800" dirty="0"/>
              <a:t>да бъде </a:t>
            </a:r>
            <a:r>
              <a:rPr lang="bg-BG" sz="2800" b="1" dirty="0">
                <a:solidFill>
                  <a:schemeClr val="bg1"/>
                </a:solidFill>
              </a:rPr>
              <a:t>по-лесно откриваем </a:t>
            </a:r>
            <a:r>
              <a:rPr lang="bg-BG" sz="2800" dirty="0"/>
              <a:t>при </a:t>
            </a:r>
            <a:r>
              <a:rPr lang="bg-BG" sz="2800" b="1" dirty="0"/>
              <a:t>търсене</a:t>
            </a:r>
            <a:endParaRPr lang="bg-BG" sz="2800" b="1" dirty="0">
              <a:solidFill>
                <a:schemeClr val="bg1"/>
              </a:solidFill>
            </a:endParaRPr>
          </a:p>
          <a:p>
            <a:pPr lvl="1"/>
            <a:r>
              <a:rPr lang="bg-BG" sz="2800" dirty="0"/>
              <a:t>Подобрява </a:t>
            </a:r>
            <a:r>
              <a:rPr lang="bg-BG" sz="2800" b="1" dirty="0">
                <a:solidFill>
                  <a:schemeClr val="bg1"/>
                </a:solidFill>
              </a:rPr>
              <a:t>качеството</a:t>
            </a:r>
            <a:r>
              <a:rPr lang="bg-BG" sz="2800" dirty="0"/>
              <a:t> и </a:t>
            </a:r>
            <a:r>
              <a:rPr lang="bg-BG" sz="2800" b="1" dirty="0">
                <a:solidFill>
                  <a:schemeClr val="bg1"/>
                </a:solidFill>
              </a:rPr>
              <a:t>структурата</a:t>
            </a:r>
            <a:r>
              <a:rPr lang="bg-BG" sz="2800" dirty="0"/>
              <a:t> на </a:t>
            </a:r>
            <a:r>
              <a:rPr lang="bg-BG" sz="2800" b="1" dirty="0"/>
              <a:t>уеб страниците</a:t>
            </a:r>
          </a:p>
          <a:p>
            <a:pPr lvl="1"/>
            <a:r>
              <a:rPr lang="bg-BG" sz="2800" b="1" dirty="0"/>
              <a:t>Не гарантира </a:t>
            </a:r>
            <a:r>
              <a:rPr lang="bg-BG" sz="2800" b="1" dirty="0">
                <a:solidFill>
                  <a:schemeClr val="bg1"/>
                </a:solidFill>
              </a:rPr>
              <a:t>първо място </a:t>
            </a:r>
            <a:r>
              <a:rPr lang="bg-BG" sz="2800" dirty="0"/>
              <a:t>в </a:t>
            </a:r>
            <a:r>
              <a:rPr lang="bg-BG" sz="2800" b="1" dirty="0"/>
              <a:t>резултатите</a:t>
            </a:r>
            <a:r>
              <a:rPr lang="en-US" sz="2800" b="1" dirty="0"/>
              <a:t> </a:t>
            </a:r>
            <a:r>
              <a:rPr lang="bg-BG" sz="2800" b="1" dirty="0"/>
              <a:t>от търсене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Оптимизация за търсещи машини (</a:t>
            </a:r>
            <a:r>
              <a:rPr lang="en-GB" dirty="0"/>
              <a:t>SEO)</a:t>
            </a:r>
            <a:endParaRPr lang="en-BG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EA4F741-0B88-0054-755B-CD3A815C4A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62" t="21785" r="9316" b="25066"/>
          <a:stretch/>
        </p:blipFill>
        <p:spPr>
          <a:xfrm>
            <a:off x="4104750" y="4144231"/>
            <a:ext cx="3982500" cy="25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b="1" dirty="0">
                <a:solidFill>
                  <a:schemeClr val="bg1"/>
                </a:solidFill>
              </a:rPr>
              <a:t>Ясно заглавие </a:t>
            </a:r>
            <a:r>
              <a:rPr lang="bg-BG" sz="3200" dirty="0"/>
              <a:t>на </a:t>
            </a:r>
            <a:r>
              <a:rPr lang="bg-BG" sz="3200" b="1" dirty="0"/>
              <a:t>уеб страницата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&lt;title&gt;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Кратко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смислено</a:t>
            </a:r>
            <a:r>
              <a:rPr lang="bg-BG" sz="3200" dirty="0"/>
              <a:t> </a:t>
            </a:r>
            <a:r>
              <a:rPr lang="bg-BG" sz="3200" b="1" dirty="0"/>
              <a:t>описание</a:t>
            </a:r>
            <a:r>
              <a:rPr lang="bg-BG" sz="3200" dirty="0"/>
              <a:t> </a:t>
            </a:r>
            <a:r>
              <a:rPr lang="en-US" sz="3200" b="1" dirty="0"/>
              <a:t>(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eta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US" sz="3200" b="1" dirty="0"/>
              <a:t>)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Подредени заглавия </a:t>
            </a:r>
            <a:r>
              <a:rPr lang="en-US" sz="3200" b="1" dirty="0"/>
              <a:t>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h1</a:t>
            </a:r>
            <a:r>
              <a:rPr lang="en-US" sz="3200" dirty="0"/>
              <a:t>,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h2</a:t>
            </a:r>
            <a:r>
              <a:rPr lang="en-US" sz="3200" dirty="0"/>
              <a:t>,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h3</a:t>
            </a:r>
            <a:r>
              <a:rPr lang="en-US" sz="3200" b="1" dirty="0"/>
              <a:t> </a:t>
            </a:r>
            <a:r>
              <a:rPr lang="bg-BG" sz="3200" dirty="0"/>
              <a:t>и</a:t>
            </a:r>
            <a:r>
              <a:rPr lang="bg-BG" sz="3200" b="1" dirty="0"/>
              <a:t> т.н.</a:t>
            </a:r>
            <a:r>
              <a:rPr lang="en-US" sz="3200" b="1" dirty="0"/>
              <a:t>)</a:t>
            </a:r>
            <a:endParaRPr lang="bg-BG" sz="3200" b="1" dirty="0"/>
          </a:p>
          <a:p>
            <a:r>
              <a:rPr lang="bg-BG" sz="3200" b="1" dirty="0">
                <a:solidFill>
                  <a:schemeClr val="bg1"/>
                </a:solidFill>
              </a:rPr>
              <a:t>Описателни </a:t>
            </a:r>
            <a:r>
              <a:rPr lang="en-US" sz="3200" b="1" dirty="0">
                <a:solidFill>
                  <a:schemeClr val="bg1"/>
                </a:solidFill>
              </a:rPr>
              <a:t>URL </a:t>
            </a:r>
            <a:r>
              <a:rPr lang="bg-BG" sz="3200" b="1" dirty="0">
                <a:solidFill>
                  <a:schemeClr val="bg1"/>
                </a:solidFill>
              </a:rPr>
              <a:t>адреси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Алтернативен текст </a:t>
            </a:r>
            <a:r>
              <a:rPr lang="bg-BG" sz="3200" dirty="0"/>
              <a:t>при </a:t>
            </a:r>
            <a:r>
              <a:rPr lang="bg-BG" sz="3200" b="1" dirty="0"/>
              <a:t>изображения</a:t>
            </a:r>
            <a:r>
              <a:rPr lang="bg-BG" sz="3200" dirty="0"/>
              <a:t> </a:t>
            </a:r>
            <a:r>
              <a:rPr lang="en-US" sz="3200" b="1" dirty="0"/>
              <a:t>(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</a:t>
            </a:r>
            <a:r>
              <a:rPr lang="en-US" sz="3200" b="1" dirty="0"/>
              <a:t>)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Адаптивен дизайн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бързо зареждане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принципи на </a:t>
            </a:r>
            <a:r>
              <a:rPr lang="en-US" dirty="0"/>
              <a:t>SEO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B28EF-2DF4-7AFD-B020-E499FF4B1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6868" y="3486016"/>
            <a:ext cx="2808263" cy="280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1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8952" y="1196125"/>
            <a:ext cx="6819546" cy="5528766"/>
          </a:xfrm>
        </p:spPr>
        <p:txBody>
          <a:bodyPr>
            <a:normAutofit lnSpcReduction="10000"/>
          </a:bodyPr>
          <a:lstStyle/>
          <a:p>
            <a:r>
              <a:rPr lang="bg-BG" sz="3200" b="1" dirty="0"/>
              <a:t>Проверка</a:t>
            </a:r>
            <a:r>
              <a:rPr lang="bg-BG" sz="3200" dirty="0"/>
              <a:t> на </a:t>
            </a:r>
            <a:r>
              <a:rPr lang="bg-BG" sz="3200" b="1" dirty="0">
                <a:solidFill>
                  <a:schemeClr val="bg1"/>
                </a:solidFill>
              </a:rPr>
              <a:t>съдържанието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структурата</a:t>
            </a:r>
            <a:endParaRPr lang="bg-BG" sz="3200" b="1" dirty="0"/>
          </a:p>
          <a:p>
            <a:r>
              <a:rPr lang="bg-BG" sz="3200" b="1" dirty="0"/>
              <a:t>Добавяне</a:t>
            </a:r>
            <a:r>
              <a:rPr lang="bg-BG" sz="3200" dirty="0"/>
              <a:t> на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GB" sz="3200" dirty="0"/>
              <a:t> </a:t>
            </a:r>
            <a:r>
              <a:rPr lang="bg-BG" sz="3200" dirty="0"/>
              <a:t>и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meta</a:t>
            </a:r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</a:p>
          <a:p>
            <a:r>
              <a:rPr lang="bg-BG" sz="3200" b="1" dirty="0"/>
              <a:t>Проверка</a:t>
            </a:r>
            <a:r>
              <a:rPr lang="bg-BG" sz="3200" dirty="0"/>
              <a:t> на </a:t>
            </a:r>
            <a:r>
              <a:rPr lang="bg-BG" sz="3200" b="1" dirty="0">
                <a:solidFill>
                  <a:schemeClr val="bg1"/>
                </a:solidFill>
              </a:rPr>
              <a:t>заглавията</a:t>
            </a:r>
            <a:endParaRPr lang="bg-BG" sz="3200" b="1" dirty="0"/>
          </a:p>
          <a:p>
            <a:r>
              <a:rPr lang="bg-BG" sz="3200" b="1" dirty="0"/>
              <a:t>Проверка</a:t>
            </a:r>
            <a:r>
              <a:rPr lang="bg-BG" sz="3200" dirty="0"/>
              <a:t> на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</a:t>
            </a:r>
            <a:r>
              <a:rPr lang="en-GB" sz="3200" b="1" dirty="0">
                <a:solidFill>
                  <a:schemeClr val="bg1"/>
                </a:solidFill>
              </a:rPr>
              <a:t> </a:t>
            </a:r>
            <a:r>
              <a:rPr lang="bg-BG" sz="3200" b="1" dirty="0"/>
              <a:t>атрибутите</a:t>
            </a:r>
          </a:p>
          <a:p>
            <a:r>
              <a:rPr lang="bg-BG" sz="3200" b="1" dirty="0"/>
              <a:t>Проверка</a:t>
            </a:r>
            <a:r>
              <a:rPr lang="bg-BG" sz="3200" dirty="0"/>
              <a:t> на </a:t>
            </a:r>
            <a:r>
              <a:rPr lang="bg-BG" sz="3200" b="1" dirty="0">
                <a:solidFill>
                  <a:schemeClr val="bg1"/>
                </a:solidFill>
              </a:rPr>
              <a:t>адаптивността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скоростта</a:t>
            </a:r>
          </a:p>
          <a:p>
            <a:r>
              <a:rPr lang="bg-BG" sz="3200" b="1" dirty="0">
                <a:solidFill>
                  <a:schemeClr val="bg1"/>
                </a:solidFill>
              </a:rPr>
              <a:t>Анализ</a:t>
            </a:r>
            <a:r>
              <a:rPr lang="bg-BG" sz="3200" dirty="0"/>
              <a:t> със </a:t>
            </a:r>
            <a:r>
              <a:rPr lang="bg-BG" sz="3200" b="1" dirty="0"/>
              <a:t>специализирани инструменти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оптимизационни етапи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C1D2C3-77AC-1157-F5C4-1BF6007DFB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129" b="7750"/>
          <a:stretch/>
        </p:blipFill>
        <p:spPr>
          <a:xfrm>
            <a:off x="22145" y="1584000"/>
            <a:ext cx="5166807" cy="54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0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D98059-498C-23F8-9E85-A8069D097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D86B4E-BB76-1605-F33E-32340FE0A2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b="1" dirty="0"/>
              <a:t>С базово </a:t>
            </a:r>
            <a:r>
              <a:rPr lang="en-US" b="1" dirty="0"/>
              <a:t>SEO</a:t>
            </a:r>
            <a:endParaRPr lang="en-BG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3916B5-071D-1CBF-9343-53D192D1A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Без </a:t>
            </a:r>
            <a:r>
              <a:rPr lang="en-US" b="1" dirty="0"/>
              <a:t>SEO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C9401E-209D-4EC1-3C51-530978B1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G" dirty="0"/>
              <a:t>SEO </a:t>
            </a:r>
            <a:r>
              <a:rPr lang="en-GB" dirty="0"/>
              <a:t>– </a:t>
            </a:r>
            <a:r>
              <a:rPr lang="bg-BG" dirty="0"/>
              <a:t>Пример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1AC137E-2690-F4DD-83F8-A6E041973037}"/>
              </a:ext>
            </a:extLst>
          </p:cNvPr>
          <p:cNvSpPr txBox="1">
            <a:spLocks/>
          </p:cNvSpPr>
          <p:nvPr/>
        </p:nvSpPr>
        <p:spPr>
          <a:xfrm>
            <a:off x="310941" y="3024000"/>
            <a:ext cx="5445000" cy="110799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&lt;title&gt;</a:t>
            </a:r>
            <a:r>
              <a:rPr lang="en-GB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Home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&lt;/title&gt;</a:t>
            </a:r>
          </a:p>
          <a:p>
            <a:endParaRPr lang="en-GB" sz="2200" b="1" dirty="0"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&lt;img src="</a:t>
            </a:r>
            <a:r>
              <a:rPr lang="en-GB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image1.jpg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 alt="</a:t>
            </a:r>
            <a:r>
              <a:rPr lang="en-GB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image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  <a:endParaRPr lang="en-US" sz="2200" b="1" dirty="0">
              <a:solidFill>
                <a:schemeClr val="bg1"/>
              </a:solidFill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5EC016E-3F1B-4B7E-741A-66CE9FEBCBA2}"/>
              </a:ext>
            </a:extLst>
          </p:cNvPr>
          <p:cNvSpPr txBox="1">
            <a:spLocks/>
          </p:cNvSpPr>
          <p:nvPr/>
        </p:nvSpPr>
        <p:spPr>
          <a:xfrm>
            <a:off x="6456000" y="2870111"/>
            <a:ext cx="5445000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&lt;title&gt;</a:t>
            </a:r>
            <a:r>
              <a:rPr lang="bg-BG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Ваканция в Родопите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&lt;/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title&gt;</a:t>
            </a:r>
          </a:p>
          <a:p>
            <a:endParaRPr lang="en-GB" sz="2200" b="1" dirty="0"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  <a:p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&lt;img src="</a:t>
            </a:r>
            <a:r>
              <a:rPr lang="en-GB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images/rhodope.jpg</a:t>
            </a:r>
            <a:r>
              <a:rPr lang="en-GB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 alt="</a:t>
            </a:r>
            <a:r>
              <a:rPr lang="bg-BG" sz="2200" b="1" dirty="0"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Изглед към Родопите</a:t>
            </a:r>
            <a:r>
              <a:rPr lang="bg-BG" sz="2200" b="1" dirty="0">
                <a:solidFill>
                  <a:schemeClr val="bg1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"&gt;</a:t>
            </a:r>
            <a:endParaRPr lang="en-US" sz="2200" b="1" dirty="0">
              <a:solidFill>
                <a:schemeClr val="bg1"/>
              </a:solidFill>
              <a:latin typeface="Consolas" panose="020B0609020204030204" pitchFamily="49" charset="0"/>
              <a:ea typeface="Courier New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0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7A1F4-4377-4837-9DEB-846A4CC95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0077-D06E-D880-E9B2-ABE12D334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2900" dirty="0"/>
              <a:t>Определя </a:t>
            </a:r>
            <a:r>
              <a:rPr lang="bg-BG" sz="2900" b="1" dirty="0">
                <a:solidFill>
                  <a:schemeClr val="bg1"/>
                </a:solidFill>
              </a:rPr>
              <a:t>реда</a:t>
            </a:r>
            <a:r>
              <a:rPr lang="bg-BG" sz="2900" dirty="0"/>
              <a:t> на </a:t>
            </a:r>
            <a:r>
              <a:rPr lang="bg-BG" sz="2900" b="1" dirty="0"/>
              <a:t>уеб сайтовете </a:t>
            </a:r>
            <a:r>
              <a:rPr lang="bg-BG" sz="2900" dirty="0"/>
              <a:t>в </a:t>
            </a:r>
            <a:r>
              <a:rPr lang="bg-BG" sz="2900" b="1" dirty="0">
                <a:solidFill>
                  <a:schemeClr val="bg1"/>
                </a:solidFill>
              </a:rPr>
              <a:t>резултатите</a:t>
            </a:r>
            <a:r>
              <a:rPr lang="bg-BG" sz="2900" dirty="0"/>
              <a:t> от </a:t>
            </a:r>
            <a:r>
              <a:rPr lang="bg-BG" sz="2900" b="1" dirty="0"/>
              <a:t>търсене</a:t>
            </a:r>
          </a:p>
          <a:p>
            <a:r>
              <a:rPr lang="bg-BG" sz="2900" dirty="0"/>
              <a:t>Зависи от </a:t>
            </a:r>
            <a:r>
              <a:rPr lang="bg-BG" sz="2900" b="1" dirty="0">
                <a:solidFill>
                  <a:schemeClr val="bg1"/>
                </a:solidFill>
              </a:rPr>
              <a:t>качеството</a:t>
            </a:r>
            <a:r>
              <a:rPr lang="bg-BG" sz="2900" dirty="0"/>
              <a:t> и </a:t>
            </a:r>
            <a:r>
              <a:rPr lang="bg-BG" sz="2900" b="1" dirty="0">
                <a:solidFill>
                  <a:schemeClr val="bg1"/>
                </a:solidFill>
              </a:rPr>
              <a:t>съдържанието</a:t>
            </a:r>
            <a:r>
              <a:rPr lang="bg-BG" sz="2900" dirty="0"/>
              <a:t> на </a:t>
            </a:r>
            <a:r>
              <a:rPr lang="bg-BG" sz="2900" b="1" dirty="0"/>
              <a:t>уеб сайта</a:t>
            </a:r>
          </a:p>
          <a:p>
            <a:r>
              <a:rPr lang="bg-BG" sz="2900" dirty="0"/>
              <a:t>Добрата </a:t>
            </a:r>
            <a:r>
              <a:rPr lang="en-US" sz="2900" b="1" dirty="0"/>
              <a:t>SEO </a:t>
            </a:r>
            <a:r>
              <a:rPr lang="bg-BG" sz="2900" b="1" dirty="0"/>
              <a:t>оптимизация </a:t>
            </a:r>
            <a:r>
              <a:rPr lang="bg-BG" sz="2900" dirty="0"/>
              <a:t>може да </a:t>
            </a:r>
            <a:r>
              <a:rPr lang="bg-BG" sz="2900" b="1" dirty="0">
                <a:solidFill>
                  <a:schemeClr val="bg1"/>
                </a:solidFill>
              </a:rPr>
              <a:t>подобри позицията </a:t>
            </a:r>
            <a:r>
              <a:rPr lang="bg-BG" sz="2900" dirty="0"/>
              <a:t>на </a:t>
            </a:r>
            <a:r>
              <a:rPr lang="bg-BG" sz="2900" b="1" dirty="0"/>
              <a:t>уеб сайта</a:t>
            </a:r>
            <a:endParaRPr lang="en-BG" sz="29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E33731-C5F6-831F-8237-56AAD4DE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Рангово подреждане (ранжиране</a:t>
            </a:r>
            <a:r>
              <a:rPr lang="en-US" dirty="0"/>
              <a:t>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C60CB8-6CAC-1D7C-0D1D-6D3D0F4523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180" t="18989" r="10658" b="21498"/>
          <a:stretch/>
        </p:blipFill>
        <p:spPr>
          <a:xfrm>
            <a:off x="3286485" y="3144215"/>
            <a:ext cx="5619029" cy="349628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23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BB186-0625-4E0B-CA1A-C0211BD00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54CD-BCD9-A1E9-4F85-ADBDD20E5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22059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Безплатен инструмент </a:t>
            </a:r>
            <a:r>
              <a:rPr lang="bg-BG" sz="3000" dirty="0"/>
              <a:t>на </a:t>
            </a:r>
            <a:r>
              <a:rPr lang="en-GB" sz="3000" b="1" dirty="0"/>
              <a:t>Google</a:t>
            </a:r>
            <a:endParaRPr lang="bg-BG" sz="3000" b="1" dirty="0"/>
          </a:p>
          <a:p>
            <a:r>
              <a:rPr lang="bg-BG" sz="3000" b="1" dirty="0">
                <a:solidFill>
                  <a:schemeClr val="bg1"/>
                </a:solidFill>
              </a:rPr>
              <a:t>Проверява</a:t>
            </a:r>
            <a:r>
              <a:rPr lang="bg-BG" sz="3000" dirty="0"/>
              <a:t> дали </a:t>
            </a:r>
            <a:r>
              <a:rPr lang="en-GB" sz="3000" b="1" dirty="0"/>
              <a:t>Google</a:t>
            </a:r>
            <a:r>
              <a:rPr lang="bg-BG" sz="3000" b="1" dirty="0">
                <a:solidFill>
                  <a:schemeClr val="bg1"/>
                </a:solidFill>
              </a:rPr>
              <a:t> може да открие </a:t>
            </a:r>
            <a:r>
              <a:rPr lang="bg-BG" sz="3000" b="1" dirty="0"/>
              <a:t>уеб сайта</a:t>
            </a:r>
          </a:p>
          <a:p>
            <a:r>
              <a:rPr lang="bg-BG" sz="3000" dirty="0"/>
              <a:t>Показва </a:t>
            </a:r>
            <a:r>
              <a:rPr lang="bg-BG" sz="3000" b="1" dirty="0">
                <a:solidFill>
                  <a:schemeClr val="bg1"/>
                </a:solidFill>
              </a:rPr>
              <a:t>дали има проблеми</a:t>
            </a:r>
            <a:r>
              <a:rPr lang="en-GB" sz="3000" b="1" dirty="0">
                <a:solidFill>
                  <a:schemeClr val="bg1"/>
                </a:solidFill>
              </a:rPr>
              <a:t> </a:t>
            </a:r>
            <a:r>
              <a:rPr lang="bg-BG" sz="3000" dirty="0"/>
              <a:t>с </a:t>
            </a:r>
            <a:r>
              <a:rPr lang="bg-BG" sz="3000" b="1" dirty="0"/>
              <a:t>уеб страниците</a:t>
            </a:r>
          </a:p>
          <a:p>
            <a:r>
              <a:rPr lang="bg-BG" sz="3000" dirty="0"/>
              <a:t>Дава </a:t>
            </a:r>
            <a:r>
              <a:rPr lang="bg-BG" sz="3000" b="1" dirty="0"/>
              <a:t>информация</a:t>
            </a:r>
            <a:r>
              <a:rPr lang="bg-BG" sz="3000" dirty="0"/>
              <a:t> </a:t>
            </a:r>
            <a:r>
              <a:rPr lang="bg-BG" sz="3000" b="1" dirty="0"/>
              <a:t>по какви</a:t>
            </a:r>
            <a:r>
              <a:rPr lang="en-GB" sz="3000" b="1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търсения</a:t>
            </a:r>
            <a:r>
              <a:rPr lang="bg-BG" sz="3000" dirty="0"/>
              <a:t> се </a:t>
            </a:r>
            <a:r>
              <a:rPr lang="bg-BG" sz="3000" b="1" dirty="0">
                <a:solidFill>
                  <a:schemeClr val="bg1"/>
                </a:solidFill>
              </a:rPr>
              <a:t>намира</a:t>
            </a:r>
            <a:r>
              <a:rPr lang="bg-BG" sz="3000" dirty="0"/>
              <a:t> </a:t>
            </a:r>
            <a:r>
              <a:rPr lang="bg-BG" sz="3000" b="1" dirty="0"/>
              <a:t>уеб сайтът</a:t>
            </a:r>
            <a:endParaRPr lang="en-GB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356433-E514-4027-6B14-FC4301AF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Google Search Console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6F773-E645-E074-FA9D-324406814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1964" y="1809000"/>
            <a:ext cx="5163652" cy="409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641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F0CF66-972E-D23C-9ED7-8E98E443C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EF66F-FA13-261B-88D9-071965400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45598" cy="5528766"/>
          </a:xfrm>
        </p:spPr>
        <p:txBody>
          <a:bodyPr>
            <a:normAutofit lnSpcReduction="10000"/>
          </a:bodyPr>
          <a:lstStyle/>
          <a:p>
            <a:r>
              <a:rPr lang="en-BG" sz="3200" b="1" dirty="0">
                <a:solidFill>
                  <a:schemeClr val="bg1"/>
                </a:solidFill>
              </a:rPr>
              <a:t>RSS</a:t>
            </a:r>
            <a:r>
              <a:rPr lang="en-BG" sz="3200" b="1" dirty="0"/>
              <a:t> (</a:t>
            </a:r>
            <a:r>
              <a:rPr lang="en-BG" sz="3200" b="1" dirty="0">
                <a:solidFill>
                  <a:schemeClr val="bg1"/>
                </a:solidFill>
              </a:rPr>
              <a:t>R</a:t>
            </a:r>
            <a:r>
              <a:rPr lang="en-BG" sz="3200" b="1" dirty="0"/>
              <a:t>eally </a:t>
            </a:r>
            <a:r>
              <a:rPr lang="en-BG" sz="3200" b="1" dirty="0">
                <a:solidFill>
                  <a:schemeClr val="bg1"/>
                </a:solidFill>
              </a:rPr>
              <a:t>S</a:t>
            </a:r>
            <a:r>
              <a:rPr lang="en-BG" sz="3200" b="1" dirty="0"/>
              <a:t>imple </a:t>
            </a:r>
            <a:r>
              <a:rPr lang="en-BG" sz="3200" b="1" dirty="0">
                <a:solidFill>
                  <a:schemeClr val="bg1"/>
                </a:solidFill>
              </a:rPr>
              <a:t>S</a:t>
            </a:r>
            <a:r>
              <a:rPr lang="en-BG" sz="3200" b="1" dirty="0"/>
              <a:t>yndication)</a:t>
            </a:r>
            <a:endParaRPr lang="bg-BG" sz="3200" b="1" dirty="0"/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Формат</a:t>
            </a:r>
            <a:r>
              <a:rPr lang="bg-BG" sz="3000" dirty="0"/>
              <a:t> за </a:t>
            </a:r>
            <a:r>
              <a:rPr lang="bg-BG" sz="3000" b="1" dirty="0"/>
              <a:t>разпространение </a:t>
            </a:r>
            <a:r>
              <a:rPr lang="bg-BG" sz="3000" dirty="0"/>
              <a:t>на </a:t>
            </a:r>
            <a:r>
              <a:rPr lang="bg-BG" sz="3000" b="1" dirty="0">
                <a:solidFill>
                  <a:schemeClr val="bg1"/>
                </a:solidFill>
              </a:rPr>
              <a:t>ново съдържание </a:t>
            </a:r>
            <a:r>
              <a:rPr lang="bg-BG" sz="3000" dirty="0"/>
              <a:t>от </a:t>
            </a:r>
            <a:r>
              <a:rPr lang="bg-BG" sz="3000" b="1" dirty="0"/>
              <a:t>уеб сайт</a:t>
            </a:r>
          </a:p>
          <a:p>
            <a:pPr lvl="1"/>
            <a:r>
              <a:rPr lang="bg-BG" sz="3000" b="1" dirty="0"/>
              <a:t>Потребителят</a:t>
            </a:r>
            <a:r>
              <a:rPr lang="bg-BG" sz="3000" dirty="0"/>
              <a:t> може да </a:t>
            </a:r>
            <a:r>
              <a:rPr lang="bg-BG" sz="3000" b="1" dirty="0"/>
              <a:t>следи</a:t>
            </a:r>
            <a:r>
              <a:rPr lang="bg-BG" sz="3000" dirty="0"/>
              <a:t> новите </a:t>
            </a:r>
            <a:r>
              <a:rPr lang="bg-BG" sz="3000" b="1" dirty="0">
                <a:solidFill>
                  <a:schemeClr val="bg1"/>
                </a:solidFill>
              </a:rPr>
              <a:t>публикации</a:t>
            </a:r>
            <a:r>
              <a:rPr lang="bg-BG" sz="3000" dirty="0"/>
              <a:t> чрез </a:t>
            </a:r>
            <a:r>
              <a:rPr lang="en-US" sz="3000" b="1" dirty="0">
                <a:solidFill>
                  <a:schemeClr val="bg1"/>
                </a:solidFill>
              </a:rPr>
              <a:t>RSS </a:t>
            </a:r>
            <a:r>
              <a:rPr lang="bg-BG" sz="3000" b="1" dirty="0">
                <a:solidFill>
                  <a:schemeClr val="bg1"/>
                </a:solidFill>
              </a:rPr>
              <a:t>четец</a:t>
            </a:r>
          </a:p>
          <a:p>
            <a:pPr lvl="1"/>
            <a:r>
              <a:rPr lang="bg-BG" sz="3000" dirty="0"/>
              <a:t>Подходящ за</a:t>
            </a:r>
            <a:r>
              <a:rPr lang="en-US" sz="3000" dirty="0"/>
              <a:t>:</a:t>
            </a:r>
          </a:p>
          <a:p>
            <a:pPr lvl="2"/>
            <a:r>
              <a:rPr lang="bg-BG" sz="2800" b="1" dirty="0"/>
              <a:t>Новинарски уеб сайт</a:t>
            </a:r>
          </a:p>
          <a:p>
            <a:pPr lvl="2"/>
            <a:r>
              <a:rPr lang="bg-BG" sz="2800" b="1" dirty="0"/>
              <a:t>Блог с публикации</a:t>
            </a:r>
          </a:p>
          <a:p>
            <a:pPr lvl="2"/>
            <a:r>
              <a:rPr lang="bg-BG" sz="2800" b="1" dirty="0"/>
              <a:t>Подкаст или видеоканал</a:t>
            </a:r>
          </a:p>
          <a:p>
            <a:pPr lvl="2"/>
            <a:r>
              <a:rPr lang="bg-BG" sz="2800" b="1" dirty="0"/>
              <a:t>И др.</a:t>
            </a:r>
            <a:endParaRPr lang="en-BG" sz="28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D1FA0E-5FF4-D0CE-31A9-F8DF07E87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RSS</a:t>
            </a:r>
            <a:endParaRPr lang="en-BG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5F5720-49CD-54E1-FBA3-B18CE4E6B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988" y="2831068"/>
            <a:ext cx="2258880" cy="225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Роля на анализ на посещаемостта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5400" dirty="0"/>
              <a:t>Анализ на посещаемостта</a:t>
            </a:r>
            <a:endParaRPr lang="en-GB" sz="5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D0708-E603-61B5-9E51-76ABAC684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3465" y="1584000"/>
            <a:ext cx="324507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9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50FA0-4063-C1EA-02E4-2BB7726BE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88763-550E-4107-6CF8-2B2B7008F5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Събиране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разглеждане</a:t>
            </a:r>
            <a:r>
              <a:rPr lang="bg-BG" sz="3000" dirty="0"/>
              <a:t> на </a:t>
            </a:r>
            <a:r>
              <a:rPr lang="bg-BG" sz="3000" b="1" dirty="0"/>
              <a:t>данни</a:t>
            </a:r>
            <a:r>
              <a:rPr lang="bg-BG" sz="3000" dirty="0"/>
              <a:t> за </a:t>
            </a:r>
            <a:r>
              <a:rPr lang="bg-BG" sz="3000" b="1" dirty="0">
                <a:solidFill>
                  <a:schemeClr val="bg1"/>
                </a:solidFill>
              </a:rPr>
              <a:t>посещенията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</a:p>
          <a:p>
            <a:r>
              <a:rPr lang="bg-BG" sz="3000" dirty="0"/>
              <a:t>Помага да се установи </a:t>
            </a:r>
            <a:r>
              <a:rPr lang="bg-BG" sz="3000" b="1" dirty="0"/>
              <a:t>как потребителите </a:t>
            </a:r>
            <a:r>
              <a:rPr lang="bg-BG" sz="3000" b="1" dirty="0">
                <a:solidFill>
                  <a:schemeClr val="bg1"/>
                </a:solidFill>
              </a:rPr>
              <a:t>достигат</a:t>
            </a:r>
            <a:r>
              <a:rPr lang="bg-BG" sz="3000" b="1" dirty="0"/>
              <a:t> </a:t>
            </a:r>
            <a:r>
              <a:rPr lang="bg-BG" sz="3000" dirty="0"/>
              <a:t>до </a:t>
            </a:r>
            <a:r>
              <a:rPr lang="bg-BG" sz="3000" b="1" dirty="0"/>
              <a:t>уеб сайта</a:t>
            </a:r>
          </a:p>
          <a:p>
            <a:r>
              <a:rPr lang="bg-BG" sz="3000" dirty="0"/>
              <a:t>Използва се за </a:t>
            </a:r>
            <a:r>
              <a:rPr lang="bg-BG" sz="3000" b="1" dirty="0">
                <a:solidFill>
                  <a:schemeClr val="bg1"/>
                </a:solidFill>
              </a:rPr>
              <a:t>планиране</a:t>
            </a:r>
            <a:r>
              <a:rPr lang="bg-BG" sz="3000" dirty="0"/>
              <a:t> на </a:t>
            </a:r>
            <a:r>
              <a:rPr lang="bg-BG" sz="3000" b="1" dirty="0"/>
              <a:t>последващи подобрения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35A20-C8BF-DAA7-A166-84169B54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Анализ на посещаемостта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D18BF3-2CC7-7991-9B6C-DF91F54CA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0062" y="3095973"/>
            <a:ext cx="4651875" cy="37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9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C21FD-5F09-CCA3-CF01-1F121B863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A081C-BEAA-5A40-D88A-B0CC185651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Анализът</a:t>
            </a:r>
            <a:r>
              <a:rPr lang="bg-BG" dirty="0"/>
              <a:t> показва:</a:t>
            </a:r>
          </a:p>
          <a:p>
            <a:pPr lvl="1"/>
            <a:r>
              <a:rPr lang="bg-BG" b="1" dirty="0"/>
              <a:t>Колко хора </a:t>
            </a:r>
            <a:r>
              <a:rPr lang="bg-BG" b="1" dirty="0">
                <a:solidFill>
                  <a:schemeClr val="bg1"/>
                </a:solidFill>
              </a:rPr>
              <a:t>посещават</a:t>
            </a:r>
            <a:r>
              <a:rPr lang="bg-BG" dirty="0"/>
              <a:t> </a:t>
            </a:r>
            <a:r>
              <a:rPr lang="bg-BG" b="1" dirty="0"/>
              <a:t>уеб сайта</a:t>
            </a:r>
          </a:p>
          <a:p>
            <a:pPr lvl="1"/>
            <a:r>
              <a:rPr lang="bg-BG" b="1" dirty="0"/>
              <a:t>От какви </a:t>
            </a:r>
            <a:r>
              <a:rPr lang="bg-BG" b="1" dirty="0">
                <a:solidFill>
                  <a:schemeClr val="bg1"/>
                </a:solidFill>
              </a:rPr>
              <a:t>устройства</a:t>
            </a:r>
            <a:r>
              <a:rPr lang="bg-BG" b="1" dirty="0"/>
              <a:t>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източници</a:t>
            </a:r>
            <a:r>
              <a:rPr lang="bg-BG" dirty="0"/>
              <a:t> идват </a:t>
            </a:r>
            <a:r>
              <a:rPr lang="bg-BG" b="1" dirty="0"/>
              <a:t>потребителите</a:t>
            </a:r>
          </a:p>
          <a:p>
            <a:pPr lvl="1"/>
            <a:r>
              <a:rPr lang="bg-BG" b="1" dirty="0"/>
              <a:t>Кои </a:t>
            </a:r>
            <a:r>
              <a:rPr lang="bg-BG" b="1" dirty="0">
                <a:solidFill>
                  <a:schemeClr val="bg1"/>
                </a:solidFill>
              </a:rPr>
              <a:t>уеб страници </a:t>
            </a:r>
            <a:r>
              <a:rPr lang="bg-BG" dirty="0"/>
              <a:t>се разглеждат </a:t>
            </a:r>
            <a:r>
              <a:rPr lang="bg-BG" b="1" dirty="0"/>
              <a:t>най-често</a:t>
            </a:r>
          </a:p>
          <a:p>
            <a:pPr lvl="1"/>
            <a:r>
              <a:rPr lang="bg-BG" b="1" dirty="0"/>
              <a:t>Къде потребителите </a:t>
            </a:r>
            <a:r>
              <a:rPr lang="bg-BG" dirty="0"/>
              <a:t>срещат </a:t>
            </a:r>
            <a:r>
              <a:rPr lang="bg-BG" b="1" dirty="0">
                <a:solidFill>
                  <a:schemeClr val="bg1"/>
                </a:solidFill>
              </a:rPr>
              <a:t>проблеми</a:t>
            </a:r>
          </a:p>
          <a:p>
            <a:pPr lvl="1"/>
            <a:r>
              <a:rPr lang="bg-BG" b="1" dirty="0"/>
              <a:t>Какви </a:t>
            </a:r>
            <a:r>
              <a:rPr lang="bg-BG" b="1" dirty="0">
                <a:solidFill>
                  <a:schemeClr val="bg1"/>
                </a:solidFill>
              </a:rPr>
              <a:t>подобрения</a:t>
            </a:r>
            <a:r>
              <a:rPr lang="bg-BG" b="1" dirty="0"/>
              <a:t> </a:t>
            </a:r>
            <a:r>
              <a:rPr lang="bg-BG" dirty="0"/>
              <a:t>могат да се направят </a:t>
            </a:r>
            <a:r>
              <a:rPr lang="bg-BG" b="1" dirty="0"/>
              <a:t>след публикуване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610DF5-84A4-B93D-00E9-DF8E18632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Роля на анализ на посещаемостта</a:t>
            </a:r>
            <a:endParaRPr lang="en-BG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582656-B085-BFC4-2F3C-29D0F5A7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00" y="5208000"/>
            <a:ext cx="4725000" cy="16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2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2D0F1-3D0C-7A82-599E-95046A699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29BD4-34C3-AF52-8CB8-6E57330A49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365598" cy="5528766"/>
          </a:xfrm>
        </p:spPr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Безплатен инструмент </a:t>
            </a:r>
            <a:r>
              <a:rPr lang="bg-BG" sz="3000" dirty="0"/>
              <a:t>за </a:t>
            </a:r>
            <a:r>
              <a:rPr lang="bg-BG" sz="3000" b="1" dirty="0"/>
              <a:t>анализ на посещаемостта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Събира</a:t>
            </a:r>
            <a:r>
              <a:rPr lang="bg-BG" sz="3000" dirty="0">
                <a:solidFill>
                  <a:schemeClr val="bg1"/>
                </a:solidFill>
              </a:rPr>
              <a:t> </a:t>
            </a:r>
            <a:r>
              <a:rPr lang="bg-BG" sz="3000" b="1" dirty="0">
                <a:solidFill>
                  <a:schemeClr val="bg1"/>
                </a:solidFill>
              </a:rPr>
              <a:t>данни</a:t>
            </a:r>
            <a:r>
              <a:rPr lang="bg-BG" sz="3000" dirty="0">
                <a:solidFill>
                  <a:schemeClr val="bg1"/>
                </a:solidFill>
              </a:rPr>
              <a:t> </a:t>
            </a:r>
            <a:r>
              <a:rPr lang="bg-BG" sz="3000" dirty="0"/>
              <a:t>след свързване с </a:t>
            </a:r>
            <a:r>
              <a:rPr lang="bg-BG" sz="3000" b="1" dirty="0"/>
              <a:t>уеб сайта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Показва информация </a:t>
            </a:r>
            <a:r>
              <a:rPr lang="bg-BG" sz="3000" dirty="0"/>
              <a:t>за </a:t>
            </a:r>
            <a:r>
              <a:rPr lang="bg-BG" sz="3000" b="1" dirty="0"/>
              <a:t>потребители</a:t>
            </a:r>
            <a:r>
              <a:rPr lang="bg-BG" sz="3000" dirty="0"/>
              <a:t>, </a:t>
            </a:r>
            <a:r>
              <a:rPr lang="bg-BG" sz="3000" b="1" dirty="0"/>
              <a:t>страници</a:t>
            </a:r>
            <a:r>
              <a:rPr lang="bg-BG" sz="3000" dirty="0"/>
              <a:t>, </a:t>
            </a:r>
            <a:r>
              <a:rPr lang="bg-BG" sz="3000" b="1" dirty="0"/>
              <a:t>устройства</a:t>
            </a:r>
            <a:r>
              <a:rPr lang="bg-BG" sz="3000" dirty="0"/>
              <a:t> и </a:t>
            </a:r>
            <a:r>
              <a:rPr lang="bg-BG" sz="3000" b="1" dirty="0"/>
              <a:t>източници</a:t>
            </a:r>
            <a:r>
              <a:rPr lang="bg-BG" sz="3000" dirty="0"/>
              <a:t> на </a:t>
            </a:r>
            <a:r>
              <a:rPr lang="bg-BG" sz="3000" b="1" dirty="0"/>
              <a:t>посещения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410AE6-9402-3116-D8B4-609F9492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 Analytics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716D7A-1CC5-D715-AE32-3C7AF7927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3030" y="1764000"/>
            <a:ext cx="6030000" cy="39671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39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Публикуване на уеб сайт с </a:t>
            </a:r>
            <a:r>
              <a:rPr lang="en-US" dirty="0"/>
              <a:t>Netlify</a:t>
            </a:r>
            <a:endParaRPr lang="bg-BG" sz="400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D058C-5191-E542-5E40-732D40370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6000" y="1044000"/>
            <a:ext cx="2417792" cy="29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5F615-8B65-E46D-F026-4E98106D88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Нека </a:t>
            </a:r>
            <a:r>
              <a:rPr lang="bg-BG" sz="3000" b="1" dirty="0">
                <a:solidFill>
                  <a:schemeClr val="bg1"/>
                </a:solidFill>
              </a:rPr>
              <a:t>публикуваме</a:t>
            </a:r>
            <a:r>
              <a:rPr lang="bg-BG" sz="3000" dirty="0"/>
              <a:t> </a:t>
            </a:r>
            <a:r>
              <a:rPr lang="bg-BG" sz="3000" b="1" dirty="0"/>
              <a:t>уеб сайта </a:t>
            </a:r>
            <a:r>
              <a:rPr lang="en-US" sz="3000" dirty="0"/>
              <a:t>"</a:t>
            </a:r>
            <a:r>
              <a:rPr lang="bg-BG" sz="3000" b="1" dirty="0"/>
              <a:t>Лятна ваканция</a:t>
            </a:r>
            <a:r>
              <a:rPr lang="bg-BG" sz="3000" dirty="0"/>
              <a:t>"</a:t>
            </a:r>
            <a:r>
              <a:rPr lang="en-US" sz="3000" dirty="0"/>
              <a:t> с</a:t>
            </a:r>
            <a:r>
              <a:rPr lang="bg-BG" sz="3000" dirty="0"/>
              <a:t> </a:t>
            </a:r>
            <a:r>
              <a:rPr lang="en-US" sz="3000" b="1" dirty="0">
                <a:solidFill>
                  <a:schemeClr val="bg1"/>
                </a:solidFill>
              </a:rPr>
              <a:t>Netlify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2FBFF4-F184-C23E-2C1C-FD299E8D5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7356EB-98F8-837B-FC55-3DEA39A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Публикуване на уеб сайт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en-US" dirty="0"/>
              <a:t>Netlify</a:t>
            </a:r>
            <a:endParaRPr lang="bg-BG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9E8A3-76C9-B3E9-6D32-F0F1C721B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5703" y="3221820"/>
            <a:ext cx="4140000" cy="23657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D51039-1241-9791-E087-A8EA6B1A4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7342" y="1870009"/>
            <a:ext cx="3899516" cy="4824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60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69C89-17C9-C8C6-82A5-6E8A0A859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00CA6-F1CE-9A08-AE38-48545A2D28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>
                <a:solidFill>
                  <a:schemeClr val="bg1"/>
                </a:solidFill>
              </a:rPr>
              <a:t>Проверяваме</a:t>
            </a:r>
            <a:r>
              <a:rPr lang="bg-BG" sz="3000" dirty="0"/>
              <a:t> дали </a:t>
            </a:r>
            <a:r>
              <a:rPr lang="bg-BG" sz="3000" b="1" dirty="0"/>
              <a:t>началната страница </a:t>
            </a:r>
            <a:r>
              <a:rPr lang="bg-BG" sz="3000" dirty="0"/>
              <a:t>се намира на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index.html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Отваряме</a:t>
            </a:r>
            <a:r>
              <a:rPr lang="bg-BG" sz="3000" dirty="0"/>
              <a:t> </a:t>
            </a:r>
            <a:r>
              <a:rPr lang="bg-BG" sz="3000" b="1" dirty="0"/>
              <a:t>уеб сайта </a:t>
            </a:r>
            <a:r>
              <a:rPr lang="bg-BG" sz="3000" dirty="0"/>
              <a:t>в </a:t>
            </a:r>
            <a:r>
              <a:rPr lang="bg-BG" sz="3000" b="1" dirty="0">
                <a:solidFill>
                  <a:schemeClr val="bg1"/>
                </a:solidFill>
              </a:rPr>
              <a:t>браузър</a:t>
            </a:r>
          </a:p>
          <a:p>
            <a:r>
              <a:rPr lang="bg-BG" sz="3000" b="1" dirty="0">
                <a:solidFill>
                  <a:schemeClr val="bg1"/>
                </a:solidFill>
              </a:rPr>
              <a:t>Проверяваме</a:t>
            </a:r>
            <a:r>
              <a:rPr lang="bg-BG" sz="3000" dirty="0"/>
              <a:t> дали </a:t>
            </a:r>
            <a:r>
              <a:rPr lang="bg-BG" sz="3000" b="1" dirty="0"/>
              <a:t>стиловете</a:t>
            </a:r>
            <a:r>
              <a:rPr lang="en-US" sz="3000" dirty="0"/>
              <a:t>,</a:t>
            </a:r>
            <a:r>
              <a:rPr lang="bg-BG" sz="3000" dirty="0"/>
              <a:t> </a:t>
            </a:r>
            <a:r>
              <a:rPr lang="bg-BG" sz="3000" b="1" dirty="0"/>
              <a:t>изображенията</a:t>
            </a:r>
            <a:r>
              <a:rPr lang="bg-BG" sz="3000" dirty="0"/>
              <a:t> и </a:t>
            </a:r>
            <a:r>
              <a:rPr lang="bg-BG" sz="3000" b="1" dirty="0"/>
              <a:t>линковете</a:t>
            </a:r>
            <a:r>
              <a:rPr lang="bg-BG" sz="3000" dirty="0"/>
              <a:t> </a:t>
            </a:r>
            <a:r>
              <a:rPr lang="bg-BG" sz="3000" b="1" dirty="0">
                <a:solidFill>
                  <a:schemeClr val="bg1"/>
                </a:solidFill>
              </a:rPr>
              <a:t>работят</a:t>
            </a:r>
            <a:endParaRPr lang="en-BG" sz="3000" b="1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4F2D08-059B-DA4F-DA5B-6917A23D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Подготовка и проверка на проекта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F6AAC5-9605-53CE-9006-B2C1B9DB7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7713" y="3411153"/>
            <a:ext cx="5228007" cy="30958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7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C5C686-1CD9-B927-55A9-A314502C8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2AC19-7A8D-45B0-9F8D-698BCF3F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Отваряме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Netlify Drop </a:t>
            </a:r>
            <a:r>
              <a:rPr lang="en-GB" dirty="0"/>
              <a:t>–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app.netlify.com/drop</a:t>
            </a:r>
            <a:r>
              <a:rPr lang="en-US" dirty="0"/>
              <a:t> </a:t>
            </a:r>
          </a:p>
          <a:p>
            <a:r>
              <a:rPr lang="bg-BG" dirty="0"/>
              <a:t>Качваме </a:t>
            </a:r>
            <a:r>
              <a:rPr lang="bg-BG" b="1" dirty="0">
                <a:solidFill>
                  <a:schemeClr val="bg1"/>
                </a:solidFill>
              </a:rPr>
              <a:t>папката</a:t>
            </a:r>
            <a:r>
              <a:rPr lang="bg-BG" dirty="0"/>
              <a:t> с </a:t>
            </a:r>
            <a:r>
              <a:rPr lang="bg-BG" b="1" dirty="0"/>
              <a:t>проекта</a:t>
            </a:r>
            <a:endParaRPr lang="en-BG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1E8772-96A4-B041-F03E-4360D756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Качване в </a:t>
            </a:r>
            <a:r>
              <a:rPr lang="en-US" dirty="0"/>
              <a:t>Netlify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6BCE6-A9F1-E11A-C181-C4F9D2761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718" y="2647109"/>
            <a:ext cx="4290447" cy="3859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E551EF-EC5E-B632-3E32-2E5CBA19E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5332" y="2647109"/>
            <a:ext cx="4290447" cy="38598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EA9697AA-3B33-20BE-00E5-D0DED0F63A4A}"/>
              </a:ext>
            </a:extLst>
          </p:cNvPr>
          <p:cNvSpPr/>
          <p:nvPr/>
        </p:nvSpPr>
        <p:spPr>
          <a:xfrm>
            <a:off x="5251489" y="3853923"/>
            <a:ext cx="1650519" cy="144626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77955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CD56D5-35F5-397E-DB43-59B2BCC25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CC694-A7C7-814A-ACFC-37C014B503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b="1" dirty="0"/>
              <a:t>Уеб сайтът </a:t>
            </a:r>
            <a:r>
              <a:rPr lang="bg-BG" sz="3000" dirty="0"/>
              <a:t>е </a:t>
            </a:r>
            <a:r>
              <a:rPr lang="bg-BG" sz="3000" b="1" dirty="0">
                <a:solidFill>
                  <a:schemeClr val="bg1"/>
                </a:solidFill>
              </a:rPr>
              <a:t>публикуван</a:t>
            </a:r>
          </a:p>
          <a:p>
            <a:r>
              <a:rPr lang="bg-BG" sz="3000" dirty="0"/>
              <a:t>Създаваме </a:t>
            </a:r>
            <a:r>
              <a:rPr lang="bg-BG" sz="3000" b="1" dirty="0">
                <a:solidFill>
                  <a:schemeClr val="bg1"/>
                </a:solidFill>
              </a:rPr>
              <a:t>профил</a:t>
            </a:r>
            <a:r>
              <a:rPr lang="bg-BG" sz="3000" dirty="0"/>
              <a:t>, за да го </a:t>
            </a:r>
            <a:r>
              <a:rPr lang="bg-BG" sz="3000" b="1" dirty="0">
                <a:solidFill>
                  <a:schemeClr val="bg1"/>
                </a:solidFill>
              </a:rPr>
              <a:t>запазим</a:t>
            </a:r>
            <a:r>
              <a:rPr lang="bg-BG" sz="3000" dirty="0"/>
              <a:t>, </a:t>
            </a:r>
            <a:r>
              <a:rPr lang="bg-BG" sz="3000" b="1" dirty="0">
                <a:solidFill>
                  <a:schemeClr val="bg1"/>
                </a:solidFill>
              </a:rPr>
              <a:t>управляваме</a:t>
            </a:r>
            <a:r>
              <a:rPr lang="bg-BG" sz="3000" dirty="0"/>
              <a:t> и </a:t>
            </a:r>
            <a:r>
              <a:rPr lang="bg-BG" sz="3000" b="1" dirty="0">
                <a:solidFill>
                  <a:schemeClr val="bg1"/>
                </a:solidFill>
              </a:rPr>
              <a:t>обновяваме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94DFC-327C-41B9-2D80-787400B6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Публикуване на уеб сайт </a:t>
            </a:r>
            <a:r>
              <a:rPr lang="en-US" dirty="0"/>
              <a:t>(1)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A1B9B5-98D3-8E92-DB56-3EFF6E29F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874" y="2530403"/>
            <a:ext cx="4257892" cy="38306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499562-78E1-A238-6C01-8222E5E8F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2626" y="2530402"/>
            <a:ext cx="4883500" cy="38306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0055DF9F-0593-FE63-AA70-71901F6B1EA8}"/>
              </a:ext>
            </a:extLst>
          </p:cNvPr>
          <p:cNvSpPr/>
          <p:nvPr/>
        </p:nvSpPr>
        <p:spPr>
          <a:xfrm>
            <a:off x="5191249" y="3917489"/>
            <a:ext cx="1183893" cy="105642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1084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CD56D5-35F5-397E-DB43-59B2BCC25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CC694-A7C7-814A-ACFC-37C014B503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Кликаме върху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Project configuration</a:t>
            </a:r>
            <a:r>
              <a:rPr lang="en-US" sz="3000" b="1" dirty="0"/>
              <a:t>] → [</a:t>
            </a:r>
            <a:r>
              <a:rPr lang="en-US" sz="3000" b="1" dirty="0">
                <a:solidFill>
                  <a:schemeClr val="bg1"/>
                </a:solidFill>
              </a:rPr>
              <a:t>Change project name</a:t>
            </a:r>
            <a:r>
              <a:rPr lang="en-US" sz="3000" b="1" dirty="0"/>
              <a:t>] </a:t>
            </a:r>
          </a:p>
          <a:p>
            <a:r>
              <a:rPr lang="bg-BG" sz="3000" dirty="0"/>
              <a:t>Променяме </a:t>
            </a:r>
            <a:r>
              <a:rPr lang="bg-BG" sz="3000" b="1" dirty="0">
                <a:solidFill>
                  <a:schemeClr val="bg1"/>
                </a:solidFill>
              </a:rPr>
              <a:t>името</a:t>
            </a:r>
            <a:r>
              <a:rPr lang="bg-BG" sz="3000" dirty="0"/>
              <a:t> на </a:t>
            </a:r>
            <a:r>
              <a:rPr lang="bg-BG" sz="3000" b="1" dirty="0"/>
              <a:t>уеб сайта</a:t>
            </a:r>
            <a:r>
              <a:rPr lang="en-US" sz="3000" b="1" dirty="0"/>
              <a:t> </a:t>
            </a:r>
            <a:r>
              <a:rPr lang="bg-BG" sz="3000" dirty="0"/>
              <a:t>и кликаме върху </a:t>
            </a:r>
            <a:r>
              <a:rPr lang="en-US" sz="3000" b="1" dirty="0"/>
              <a:t>[</a:t>
            </a:r>
            <a:r>
              <a:rPr lang="en-US" sz="3000" b="1" dirty="0">
                <a:solidFill>
                  <a:schemeClr val="bg1"/>
                </a:solidFill>
              </a:rPr>
              <a:t>Save</a:t>
            </a:r>
            <a:r>
              <a:rPr lang="en-US" sz="3000" b="1" dirty="0"/>
              <a:t>]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94DFC-327C-41B9-2D80-787400B6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Публикуване на уеб сайт </a:t>
            </a:r>
            <a:r>
              <a:rPr lang="en-US" dirty="0"/>
              <a:t>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C6E61-E8D0-94F3-546C-B6607C68A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668" y="2880139"/>
            <a:ext cx="5358404" cy="308218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340CF2-E9A6-E815-0B17-B607B9525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3325" y="2829897"/>
            <a:ext cx="4803911" cy="312841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5" name="Arrow: Right 10">
            <a:extLst>
              <a:ext uri="{FF2B5EF4-FFF2-40B4-BE49-F238E27FC236}">
                <a16:creationId xmlns:a16="http://schemas.microsoft.com/office/drawing/2014/main" id="{35907CD3-1777-148C-02B3-F7A4785D49AA}"/>
              </a:ext>
            </a:extLst>
          </p:cNvPr>
          <p:cNvSpPr/>
          <p:nvPr/>
        </p:nvSpPr>
        <p:spPr>
          <a:xfrm>
            <a:off x="5786166" y="3971233"/>
            <a:ext cx="986064" cy="900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9"/>
          </a:p>
        </p:txBody>
      </p:sp>
    </p:spTree>
    <p:extLst>
      <p:ext uri="{BB962C8B-B14F-4D97-AF65-F5344CB8AC3E}">
        <p14:creationId xmlns:p14="http://schemas.microsoft.com/office/powerpoint/2010/main" val="322137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CD56D5-35F5-397E-DB43-59B2BCC25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CC694-A7C7-814A-ACFC-37C014B503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000" dirty="0"/>
              <a:t>Отваряме </a:t>
            </a:r>
            <a:r>
              <a:rPr lang="bg-BG" sz="3000" b="1" dirty="0"/>
              <a:t>публичния </a:t>
            </a:r>
            <a:r>
              <a:rPr lang="en-GB" sz="3000" b="1" dirty="0">
                <a:solidFill>
                  <a:schemeClr val="bg1"/>
                </a:solidFill>
              </a:rPr>
              <a:t>URL </a:t>
            </a:r>
            <a:r>
              <a:rPr lang="bg-BG" sz="3000" b="1" dirty="0">
                <a:solidFill>
                  <a:schemeClr val="bg1"/>
                </a:solidFill>
              </a:rPr>
              <a:t>адрес </a:t>
            </a:r>
            <a:r>
              <a:rPr lang="en-GB" sz="3200" dirty="0"/>
              <a:t>– </a:t>
            </a:r>
            <a:r>
              <a:rPr lang="en-US" sz="3000" dirty="0">
                <a:hlinkClick r:id="rId2"/>
              </a:rPr>
              <a:t>summer-vacation-demo.netlify.app</a:t>
            </a:r>
            <a:endParaRPr lang="bg-BG" sz="3000" dirty="0"/>
          </a:p>
          <a:p>
            <a:r>
              <a:rPr lang="bg-BG" sz="3000" dirty="0"/>
              <a:t>Проверяваме </a:t>
            </a:r>
            <a:r>
              <a:rPr lang="bg-BG" sz="3000" b="1" dirty="0"/>
              <a:t>оформлението</a:t>
            </a:r>
            <a:r>
              <a:rPr lang="bg-BG" sz="3000" dirty="0"/>
              <a:t>, </a:t>
            </a:r>
            <a:r>
              <a:rPr lang="bg-BG" sz="3000" b="1" dirty="0"/>
              <a:t>изображенията</a:t>
            </a:r>
            <a:r>
              <a:rPr lang="bg-BG" sz="3000" dirty="0"/>
              <a:t> и </a:t>
            </a:r>
            <a:r>
              <a:rPr lang="bg-BG" sz="3000" b="1" dirty="0"/>
              <a:t>навигацията</a:t>
            </a:r>
            <a:endParaRPr lang="en-BG" sz="30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B94DFC-327C-41B9-2D80-787400B6C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Проверка на публикувания уеб сайт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760D32-7ED7-9B29-EF78-7CE17B638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4307" y="2439520"/>
            <a:ext cx="6163386" cy="40674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92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0AD9C-27E0-0A95-D1D4-37A29C5BA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1CC57-6279-CE54-82E1-E8301775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C0432-1716-3DBB-4CED-D7BB270E6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760" y="1161934"/>
            <a:ext cx="8920479" cy="559095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62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Autofit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Публикуването</a:t>
            </a:r>
            <a:r>
              <a:rPr lang="bg-BG" sz="2600" dirty="0">
                <a:solidFill>
                  <a:schemeClr val="bg2"/>
                </a:solidFill>
              </a:rPr>
              <a:t> прави </a:t>
            </a:r>
            <a:r>
              <a:rPr lang="bg-BG" sz="2600" b="1" dirty="0">
                <a:solidFill>
                  <a:schemeClr val="bg2"/>
                </a:solidFill>
              </a:rPr>
              <a:t>уеб сайта достъпен</a:t>
            </a:r>
            <a:r>
              <a:rPr lang="bg-BG" sz="2600" dirty="0">
                <a:solidFill>
                  <a:schemeClr val="bg2"/>
                </a:solidFill>
              </a:rPr>
              <a:t> чрез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публичен 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URL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адрес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Netlify</a:t>
            </a:r>
            <a:r>
              <a:rPr lang="en-GB" sz="2600" dirty="0">
                <a:solidFill>
                  <a:schemeClr val="bg2"/>
                </a:solidFill>
              </a:rPr>
              <a:t> </a:t>
            </a:r>
            <a:r>
              <a:rPr lang="bg-BG" sz="2600" dirty="0">
                <a:solidFill>
                  <a:schemeClr val="bg2"/>
                </a:solidFill>
              </a:rPr>
              <a:t>може да се използва за </a:t>
            </a:r>
            <a:r>
              <a:rPr lang="bg-BG" sz="2600" b="1" dirty="0">
                <a:solidFill>
                  <a:schemeClr val="bg2"/>
                </a:solidFill>
              </a:rPr>
              <a:t>публикуване</a:t>
            </a:r>
            <a:r>
              <a:rPr lang="bg-BG" sz="2600" dirty="0">
                <a:solidFill>
                  <a:schemeClr val="bg2"/>
                </a:solidFill>
              </a:rPr>
              <a:t> 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статични уеб сайтове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SEO</a:t>
            </a:r>
            <a:r>
              <a:rPr lang="en-GB" sz="2600" dirty="0">
                <a:solidFill>
                  <a:schemeClr val="bg2"/>
                </a:solidFill>
              </a:rPr>
              <a:t> </a:t>
            </a:r>
            <a:r>
              <a:rPr lang="bg-BG" sz="2600" b="1" dirty="0">
                <a:solidFill>
                  <a:schemeClr val="bg2"/>
                </a:solidFill>
              </a:rPr>
              <a:t>подобрява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структурата</a:t>
            </a:r>
            <a:r>
              <a:rPr lang="bg-BG" sz="2600" b="1" dirty="0">
                <a:solidFill>
                  <a:schemeClr val="bg2"/>
                </a:solidFill>
              </a:rPr>
              <a:t> </a:t>
            </a:r>
            <a:r>
              <a:rPr lang="bg-BG" sz="2600" dirty="0">
                <a:solidFill>
                  <a:schemeClr val="bg2"/>
                </a:solidFill>
              </a:rPr>
              <a:t>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откриваемостта</a:t>
            </a:r>
            <a:r>
              <a:rPr lang="bg-BG" sz="2600" dirty="0">
                <a:solidFill>
                  <a:schemeClr val="bg2"/>
                </a:solidFill>
              </a:rPr>
              <a:t> на </a:t>
            </a:r>
            <a:r>
              <a:rPr lang="bg-BG" sz="2600" b="1" dirty="0">
                <a:solidFill>
                  <a:schemeClr val="bg2"/>
                </a:solidFill>
              </a:rPr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Ранжирането</a:t>
            </a:r>
            <a:r>
              <a:rPr lang="bg-BG" sz="2600" dirty="0">
                <a:solidFill>
                  <a:schemeClr val="bg2"/>
                </a:solidFill>
              </a:rPr>
              <a:t> определя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реда</a:t>
            </a:r>
            <a:r>
              <a:rPr lang="bg-BG" sz="2600" dirty="0">
                <a:solidFill>
                  <a:schemeClr val="bg2"/>
                </a:solidFill>
              </a:rPr>
              <a:t> на </a:t>
            </a:r>
            <a:r>
              <a:rPr lang="bg-BG" sz="2600" b="1" dirty="0">
                <a:solidFill>
                  <a:schemeClr val="bg2"/>
                </a:solidFill>
              </a:rPr>
              <a:t>резултатите</a:t>
            </a:r>
            <a:r>
              <a:rPr lang="bg-BG" sz="2600" dirty="0">
                <a:solidFill>
                  <a:schemeClr val="bg2"/>
                </a:solidFill>
              </a:rPr>
              <a:t> при </a:t>
            </a:r>
            <a:r>
              <a:rPr lang="bg-BG" sz="2600" b="1" dirty="0">
                <a:solidFill>
                  <a:schemeClr val="bg2"/>
                </a:solidFill>
              </a:rPr>
              <a:t>търсене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RSS</a:t>
            </a:r>
            <a:r>
              <a:rPr lang="en-GB" sz="2600" dirty="0">
                <a:solidFill>
                  <a:schemeClr val="bg2"/>
                </a:solidFill>
              </a:rPr>
              <a:t> </a:t>
            </a:r>
            <a:r>
              <a:rPr lang="bg-BG" sz="2600" dirty="0">
                <a:solidFill>
                  <a:schemeClr val="bg2"/>
                </a:solidFill>
              </a:rPr>
              <a:t>се използва за </a:t>
            </a:r>
            <a:r>
              <a:rPr lang="bg-BG" sz="2600" b="1" dirty="0">
                <a:solidFill>
                  <a:schemeClr val="bg2"/>
                </a:solidFill>
              </a:rPr>
              <a:t>разпространение</a:t>
            </a:r>
            <a:r>
              <a:rPr lang="bg-BG" sz="2600" dirty="0">
                <a:solidFill>
                  <a:schemeClr val="bg2"/>
                </a:solidFill>
              </a:rPr>
              <a:t> на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ново съдържание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Анализът</a:t>
            </a:r>
            <a:r>
              <a:rPr lang="bg-BG" sz="2600" dirty="0">
                <a:solidFill>
                  <a:schemeClr val="bg2"/>
                </a:solidFill>
              </a:rPr>
              <a:t> помага за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оценка</a:t>
            </a:r>
            <a:r>
              <a:rPr lang="bg-BG" sz="2600" dirty="0">
                <a:solidFill>
                  <a:schemeClr val="bg2"/>
                </a:solidFill>
              </a:rPr>
              <a:t> и </a:t>
            </a:r>
            <a:r>
              <a:rPr lang="bg-BG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последващо подобряване </a:t>
            </a:r>
            <a:r>
              <a:rPr lang="bg-BG" sz="2600" dirty="0">
                <a:solidFill>
                  <a:schemeClr val="bg2"/>
                </a:solidFill>
              </a:rPr>
              <a:t>на </a:t>
            </a:r>
            <a:r>
              <a:rPr lang="bg-BG" sz="2600" b="1" dirty="0">
                <a:solidFill>
                  <a:schemeClr val="bg2"/>
                </a:solidFill>
              </a:rPr>
              <a:t>уеб сайта</a:t>
            </a:r>
            <a:endParaRPr lang="bg-BG" sz="2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51543</TotalTime>
  <Words>1226</Words>
  <Application>Microsoft Macintosh PowerPoint</Application>
  <PresentationFormat>Widescreen</PresentationFormat>
  <Paragraphs>204</Paragraphs>
  <Slides>32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Wingdings</vt:lpstr>
      <vt:lpstr>SoftUni</vt:lpstr>
      <vt:lpstr>Публикуване и анализ на уеб сайт</vt:lpstr>
      <vt:lpstr>Съдържание</vt:lpstr>
      <vt:lpstr>Публикуване на уеб сайт</vt:lpstr>
      <vt:lpstr>Публикуване на уеб сайт</vt:lpstr>
      <vt:lpstr>Статичен уеб сайт</vt:lpstr>
      <vt:lpstr>Структура на статичен уеб сайт</vt:lpstr>
      <vt:lpstr>Инструменти за публикуване</vt:lpstr>
      <vt:lpstr>Netlify</vt:lpstr>
      <vt:lpstr>Правни и етични норми при публикуване</vt:lpstr>
      <vt:lpstr>Оптимизация за търсещи машини (SEO)</vt:lpstr>
      <vt:lpstr>Оптимизация за търсещи машини (SEO)</vt:lpstr>
      <vt:lpstr>Основни принципи на SEO</vt:lpstr>
      <vt:lpstr>Основни оптимизационни етапи</vt:lpstr>
      <vt:lpstr>SEO – Пример</vt:lpstr>
      <vt:lpstr>Рангово подреждане (ранжиране)</vt:lpstr>
      <vt:lpstr>Google Search Console</vt:lpstr>
      <vt:lpstr>RSS</vt:lpstr>
      <vt:lpstr>Анализ на посещаемостта</vt:lpstr>
      <vt:lpstr>Анализ на посещаемостта</vt:lpstr>
      <vt:lpstr>Роля на анализ на посещаемостта</vt:lpstr>
      <vt:lpstr>Google Analytics</vt:lpstr>
      <vt:lpstr>Пример</vt:lpstr>
      <vt:lpstr>Публикуване на уеб сайт с Netlify</vt:lpstr>
      <vt:lpstr>Подготовка и проверка на проекта</vt:lpstr>
      <vt:lpstr>Качване в Netlify</vt:lpstr>
      <vt:lpstr>Публикуване на уеб сайт (1)</vt:lpstr>
      <vt:lpstr>Публикуване на уеб сайт (2)</vt:lpstr>
      <vt:lpstr>Проверка на публикувания уеб сайт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Публикуване и анализ на уеб сайт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519</cp:revision>
  <dcterms:created xsi:type="dcterms:W3CDTF">2018-05-23T13:08:44Z</dcterms:created>
  <dcterms:modified xsi:type="dcterms:W3CDTF">2026-08-27T19:10:25Z</dcterms:modified>
  <cp:category/>
</cp:coreProperties>
</file>