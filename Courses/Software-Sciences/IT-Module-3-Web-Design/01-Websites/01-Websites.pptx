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omments/modernComment_161_34953828.xml" ContentType="application/vnd.ms-powerpoint.comments+xml"/>
  <Override PartName="/ppt/notesSlides/notesSlide4.xml" ContentType="application/vnd.openxmlformats-officedocument.presentationml.notesSlide+xml"/>
  <Override PartName="/ppt/comments/modernComment_24B_72B0E9BD.xml" ContentType="application/vnd.ms-powerpoint.comments+xml"/>
  <Override PartName="/ppt/comments/modernComment_30E_3EE33F3.xml" ContentType="application/vnd.ms-powerpoint.comments+xml"/>
  <Override PartName="/ppt/comments/modernComment_30F_8941E98E.xml" ContentType="application/vnd.ms-powerpoint.comments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comments/modernComment_260_894324A0.xml" ContentType="application/vnd.ms-powerpoint.comments+xml"/>
  <Override PartName="/ppt/notesSlides/notesSlide21.xml" ContentType="application/vnd.openxmlformats-officedocument.presentationml.notesSlide+xml"/>
  <Override PartName="/ppt/comments/modernComment_28D_523D9B2B.xml" ContentType="application/vnd.ms-powerpoint.comments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comments/modernComment_31F_9F960865.xml" ContentType="application/vnd.ms-powerpoint.comments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5" r:id="rId1"/>
  </p:sldMasterIdLst>
  <p:notesMasterIdLst>
    <p:notesMasterId r:id="rId43"/>
  </p:notesMasterIdLst>
  <p:handoutMasterIdLst>
    <p:handoutMasterId r:id="rId44"/>
  </p:handoutMasterIdLst>
  <p:sldIdLst>
    <p:sldId id="503" r:id="rId2"/>
    <p:sldId id="276" r:id="rId3"/>
    <p:sldId id="353" r:id="rId4"/>
    <p:sldId id="497" r:id="rId5"/>
    <p:sldId id="587" r:id="rId6"/>
    <p:sldId id="782" r:id="rId7"/>
    <p:sldId id="783" r:id="rId8"/>
    <p:sldId id="761" r:id="rId9"/>
    <p:sldId id="796" r:id="rId10"/>
    <p:sldId id="762" r:id="rId11"/>
    <p:sldId id="784" r:id="rId12"/>
    <p:sldId id="763" r:id="rId13"/>
    <p:sldId id="764" r:id="rId14"/>
    <p:sldId id="785" r:id="rId15"/>
    <p:sldId id="610" r:id="rId16"/>
    <p:sldId id="774" r:id="rId17"/>
    <p:sldId id="775" r:id="rId18"/>
    <p:sldId id="776" r:id="rId19"/>
    <p:sldId id="616" r:id="rId20"/>
    <p:sldId id="620" r:id="rId21"/>
    <p:sldId id="786" r:id="rId22"/>
    <p:sldId id="790" r:id="rId23"/>
    <p:sldId id="778" r:id="rId24"/>
    <p:sldId id="787" r:id="rId25"/>
    <p:sldId id="789" r:id="rId26"/>
    <p:sldId id="801" r:id="rId27"/>
    <p:sldId id="780" r:id="rId28"/>
    <p:sldId id="589" r:id="rId29"/>
    <p:sldId id="590" r:id="rId30"/>
    <p:sldId id="791" r:id="rId31"/>
    <p:sldId id="608" r:id="rId32"/>
    <p:sldId id="653" r:id="rId33"/>
    <p:sldId id="788" r:id="rId34"/>
    <p:sldId id="654" r:id="rId35"/>
    <p:sldId id="797" r:id="rId36"/>
    <p:sldId id="799" r:id="rId37"/>
    <p:sldId id="800" r:id="rId38"/>
    <p:sldId id="798" r:id="rId39"/>
    <p:sldId id="633" r:id="rId40"/>
    <p:sldId id="504" r:id="rId41"/>
    <p:sldId id="505" r:id="rId4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ъведение" id="{A0C7653D-1924-4F56-9E27-AA2B21F1DA92}">
          <p14:sldIdLst>
            <p14:sldId id="503"/>
            <p14:sldId id="276"/>
          </p14:sldIdLst>
        </p14:section>
        <p14:section name="Уеб сайтове" id="{66DCFE1F-60FD-44F2-BE82-706DDBC14898}">
          <p14:sldIdLst>
            <p14:sldId id="353"/>
            <p14:sldId id="497"/>
            <p14:sldId id="587"/>
            <p14:sldId id="782"/>
            <p14:sldId id="783"/>
            <p14:sldId id="761"/>
            <p14:sldId id="796"/>
            <p14:sldId id="762"/>
            <p14:sldId id="784"/>
            <p14:sldId id="763"/>
            <p14:sldId id="764"/>
            <p14:sldId id="785"/>
          </p14:sldIdLst>
        </p14:section>
        <p14:section name="Уеб страници" id="{EB44CA50-B176-0C4C-B0D0-5459023C7783}">
          <p14:sldIdLst>
            <p14:sldId id="610"/>
            <p14:sldId id="774"/>
            <p14:sldId id="775"/>
            <p14:sldId id="776"/>
          </p14:sldIdLst>
        </p14:section>
        <p14:section name="Домейн и хостинг услуги" id="{2B3E1915-4BA2-9447-BC07-AE658EE7EC35}">
          <p14:sldIdLst>
            <p14:sldId id="616"/>
            <p14:sldId id="620"/>
            <p14:sldId id="786"/>
            <p14:sldId id="790"/>
            <p14:sldId id="778"/>
            <p14:sldId id="787"/>
            <p14:sldId id="789"/>
            <p14:sldId id="801"/>
            <p14:sldId id="780"/>
          </p14:sldIdLst>
        </p14:section>
        <p14:section name="Интернет адресиране" id="{FAFEC62E-8A3E-B74C-B607-F2A5F82A6EDC}">
          <p14:sldIdLst>
            <p14:sldId id="589"/>
            <p14:sldId id="590"/>
            <p14:sldId id="791"/>
            <p14:sldId id="608"/>
            <p14:sldId id="653"/>
            <p14:sldId id="788"/>
          </p14:sldIdLst>
        </p14:section>
        <p14:section name="Демо" id="{276EAB92-AF41-DD42-AFD3-D1ABB239E1A7}">
          <p14:sldIdLst>
            <p14:sldId id="654"/>
            <p14:sldId id="797"/>
            <p14:sldId id="799"/>
            <p14:sldId id="800"/>
            <p14:sldId id="798"/>
          </p14:sldIdLst>
        </p14:section>
        <p14:section name="Заключение" id="{E19D07F1-86E2-47E9-B2AB-7ADC4F89DC12}">
          <p14:sldIdLst>
            <p14:sldId id="633"/>
            <p14:sldId id="504"/>
            <p14:sldId id="50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84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B4BF2F8-D32F-9387-A6CE-368ED6EFDCF0}" name="Zaraliev" initials="KZ" userId="S::Zaraliev@students.softuni.bg::e1c6524a-140e-4108-9ad5-216363431969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C" initials="P" lastIdx="8" clrIdx="0">
    <p:extLst>
      <p:ext uri="{19B8F6BF-5375-455C-9EA6-DF929625EA0E}">
        <p15:presenceInfo xmlns:p15="http://schemas.microsoft.com/office/powerpoint/2012/main" userId="PC" providerId="None"/>
      </p:ext>
    </p:extLst>
  </p:cmAuthor>
  <p:cmAuthor id="2" name="Mirela Damyanova" initials="MD" lastIdx="5" clrIdx="1">
    <p:extLst>
      <p:ext uri="{19B8F6BF-5375-455C-9EA6-DF929625EA0E}">
        <p15:presenceInfo xmlns:p15="http://schemas.microsoft.com/office/powerpoint/2012/main" userId="Mirela Damyanova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DE3"/>
    <a:srgbClr val="45C7FF"/>
    <a:srgbClr val="FF3D3F"/>
    <a:srgbClr val="79D806"/>
    <a:srgbClr val="000000"/>
    <a:srgbClr val="FFF53A"/>
    <a:srgbClr val="FDA540"/>
    <a:srgbClr val="234465"/>
    <a:srgbClr val="ADB4C3"/>
    <a:srgbClr val="EA91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–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505E3EF-67EA-436B-97B2-0124C06EBD24}" styleName="Medium Style 4 –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16D9F66E-5EB9-4882-86FB-DCBF35E3C3E4}" styleName="Medium Style 4 –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22838BEF-8BB2-4498-84A7-C5851F593DF1}" styleName="Medium Style 4 –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385" autoAdjust="0"/>
    <p:restoredTop sz="95579" autoAdjust="0"/>
  </p:normalViewPr>
  <p:slideViewPr>
    <p:cSldViewPr showGuides="1">
      <p:cViewPr varScale="1">
        <p:scale>
          <a:sx n="67" d="100"/>
          <a:sy n="67" d="100"/>
        </p:scale>
        <p:origin x="67" y="590"/>
      </p:cViewPr>
      <p:guideLst>
        <p:guide orient="horz" pos="2184"/>
        <p:guide pos="3840"/>
      </p:guideLst>
    </p:cSldViewPr>
  </p:slideViewPr>
  <p:outlineViewPr>
    <p:cViewPr>
      <p:scale>
        <a:sx n="33" d="100"/>
        <a:sy n="33" d="100"/>
      </p:scale>
      <p:origin x="0" y="-9989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6566"/>
    </p:cViewPr>
  </p:sorterViewPr>
  <p:notesViewPr>
    <p:cSldViewPr>
      <p:cViewPr varScale="1">
        <p:scale>
          <a:sx n="60" d="100"/>
          <a:sy n="60" d="100"/>
        </p:scale>
        <p:origin x="3187" y="48"/>
      </p:cViewPr>
      <p:guideLst/>
    </p:cSldViewPr>
  </p:notesViewPr>
  <p:gridSpacing cx="45000" cy="450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50" Type="http://schemas.microsoft.com/office/2018/10/relationships/authors" Target="author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omments/modernComment_24B_72B0E9B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006D499-E098-4468-8504-751E22DFC801}" authorId="{CB4BF2F8-D32F-9387-A6CE-368ED6EFDCF0}" created="2025-11-07T11:21:10.069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1924196797" sldId="587"/>
      <ac:spMk id="3" creationId="{231FFBC2-1649-5CEB-A57B-2417DB0629BD}"/>
      <ac:txMk cp="138" len="38">
        <ac:context len="177" hash="2331569026"/>
      </ac:txMk>
    </ac:txMkLst>
    <p188:pos x="6941918" y="3284435"/>
    <p188:txBody>
      <a:bodyPr/>
      <a:lstStyle/>
      <a:p>
        <a:r>
          <a:rPr lang="en-GB"/>
          <a:t>Да се дадат примери с линкове</a:t>
        </a:r>
      </a:p>
    </p188:txBody>
  </p188:cm>
</p188:cmLst>
</file>

<file path=ppt/comments/modernComment_28D_523D9B2B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EA45C6C-FDA3-4D18-9480-1200FE14D50D}" authorId="{CB4BF2F8-D32F-9387-A6CE-368ED6EFDCF0}" created="2025-11-07T11:50:11.681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379769131" sldId="653"/>
      <ac:spMk id="2" creationId="{E1C9EBAF-5D74-E427-A3FA-2054C9D6D0CC}"/>
    </ac:deMkLst>
    <p188:txBody>
      <a:bodyPr/>
      <a:lstStyle/>
      <a:p>
        <a:r>
          <a:rPr lang="en-GB"/>
          <a:t>Да се даде изчистен пример за структурата на URL</a:t>
        </a:r>
      </a:p>
    </p188:txBody>
  </p188:cm>
</p188:cmLst>
</file>

<file path=ppt/comments/modernComment_30E_3EE33F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B7C83A7-E462-435D-B870-F192C98B7119}" authorId="{CB4BF2F8-D32F-9387-A6CE-368ED6EFDCF0}" created="2025-11-07T11:21:34.003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65942515" sldId="782"/>
      <ac:spMk id="3" creationId="{231FFBC2-1649-5CEB-A57B-2417DB0629BD}"/>
      <ac:txMk cp="153" len="41">
        <ac:context len="195" hash="3495552671"/>
      </ac:txMk>
    </ac:txMkLst>
    <p188:pos x="6324698" y="4301705"/>
    <p188:txBody>
      <a:bodyPr/>
      <a:lstStyle/>
      <a:p>
        <a:r>
          <a:rPr lang="en-GB"/>
          <a:t>Добавяне на примери с линкове</a:t>
        </a:r>
      </a:p>
    </p188:txBody>
  </p188:cm>
</p188:cmLst>
</file>

<file path=ppt/comments/modernComment_30F_8941E98E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92CDEF9-E6B6-4DCF-B142-AC02069D59A3}" authorId="{CB4BF2F8-D32F-9387-A6CE-368ED6EFDCF0}" created="2025-11-07T11:23:52.21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302798222" sldId="783"/>
      <ac:spMk id="7" creationId="{FBFEFCDD-E454-D1E7-D67F-EE67BB2A7ACE}"/>
    </ac:deMkLst>
    <p188:txBody>
      <a:bodyPr/>
      <a:lstStyle/>
      <a:p>
        <a:r>
          <a:rPr lang="en-GB"/>
          <a:t>Добавяне на примери с линкове</a:t>
        </a:r>
      </a:p>
    </p188:txBody>
  </p188:cm>
</p188:cmLst>
</file>

<file path=ppt/comments/modernComment_31F_9F960865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C2B87EF-113C-4F7A-8A34-6DCBE9C76D47}" authorId="{CB4BF2F8-D32F-9387-A6CE-368ED6EFDCF0}" created="2025-11-07T11:54:20.823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677409893" sldId="799"/>
      <ac:graphicFrameMk id="7" creationId="{3557BAB7-1DD9-DD1C-75EF-CEE8D24AD214}"/>
    </ac:deMkLst>
    <p188:txBody>
      <a:bodyPr/>
      <a:lstStyle/>
      <a:p>
        <a:r>
          <a:rPr lang="en-GB"/>
          <a:t>Да се добавят text box-ове, за да могат да се показват текстовете с анимации</a:t>
        </a:r>
      </a:p>
    </p188:txBody>
  </p188:cm>
  <p188:cm id="{322D9E98-F9A7-4DC2-9423-CEAE7BEA9DB8}" authorId="{CB4BF2F8-D32F-9387-A6CE-368ED6EFDCF0}" created="2025-11-07T11:56:53.526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2677409893" sldId="799"/>
      <ac:graphicFrameMk id="7" creationId="{3557BAB7-1DD9-DD1C-75EF-CEE8D24AD214}"/>
      <ac:tblMk/>
      <ac:tcMk rowId="1210854640" colId="3700237570"/>
      <ac:txMk cp="13" len="3">
        <ac:context len="64" hash="1102481728"/>
      </ac:txMk>
    </ac:txMkLst>
    <p188:pos x="3190380" y="3499560"/>
    <p188:txBody>
      <a:bodyPr/>
      <a:lstStyle/>
      <a:p>
        <a:r>
          <a:rPr lang="en-GB"/>
          <a:t>Измисли по-добро описание на целта за сайта chatgpt
</a:t>
        </a:r>
      </a:p>
    </p188:txBody>
  </p188:cm>
</p188:cmLst>
</file>

<file path=ppt/comments/modernComment_161_3495382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B17227C6-D9EF-4AE7-9A2D-7775F9DEB7BA}" authorId="{CB4BF2F8-D32F-9387-A6CE-368ED6EFDCF0}" created="2025-11-07T11:19:25.583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882194472" sldId="353"/>
      <ac:spMk id="4" creationId="{BEB5BB41-09D4-4E9F-8C80-EE8709171CB3}"/>
    </ac:deMkLst>
    <p188:txBody>
      <a:bodyPr/>
      <a:lstStyle/>
      <a:p>
        <a:r>
          <a:rPr lang="en-GB"/>
          <a:t>Съкрати подзаглавието</a:t>
        </a:r>
      </a:p>
    </p188:txBody>
  </p188:cm>
</p188:cmLst>
</file>

<file path=ppt/comments/modernComment_260_894324A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C2D17A9-A76B-4DDA-B797-BFA5628056FA}" authorId="{CB4BF2F8-D32F-9387-A6CE-368ED6EFDCF0}" created="2025-11-07T11:47:28.275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2302878880" sldId="608"/>
      <ac:spMk id="7" creationId="{320B2856-CE5E-4934-BD1C-1D81E68E529A}"/>
      <ac:txMk cp="28" len="35">
        <ac:context len="187" hash="1413822994"/>
      </ac:txMk>
    </ac:txMkLst>
    <p188:pos x="8427818" y="964145"/>
    <p188:txBody>
      <a:bodyPr/>
      <a:lstStyle/>
      <a:p>
        <a:r>
          <a:rPr lang="en-GB"/>
          <a:t>Провери терминът "превежда" дали е правилно използван тук</a:t>
        </a:r>
      </a:p>
    </p188:txBody>
  </p188:cm>
</p188:cmLst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hyperlink" Target="https://softuni.org/" TargetMode="External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6F20103-83CC-4A54-8FDE-9D37FC2629C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A53962-26EF-44E4-9E69-61B1727AB1C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087215-0C8F-4762-A664-737A353EC9A4}" type="datetimeFigureOut">
              <a:rPr lang="bg-BG" smtClean="0"/>
              <a:t>7.11.2025 г.</a:t>
            </a:fld>
            <a:endParaRPr lang="bg-B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A6967E-448F-4887-8FCB-34482EFBCC7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-1" y="8892000"/>
            <a:ext cx="6443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bg-BG" sz="1100" dirty="0"/>
              <a:t>Работна група </a:t>
            </a:r>
            <a:r>
              <a:rPr lang="ru-RU" sz="1100" dirty="0"/>
              <a:t>"Образование по програмиране и ИТ</a:t>
            </a:r>
            <a:r>
              <a:rPr lang="bg-BG" sz="1100" dirty="0"/>
              <a:t>", с подкрепата на </a:t>
            </a:r>
            <a:r>
              <a:rPr lang="en-US" sz="1100" dirty="0">
                <a:hlinkClick r:id="rId2"/>
              </a:rPr>
              <a:t>SoftUni</a:t>
            </a:r>
            <a:endParaRPr lang="en-US" sz="11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6554C2-DDBA-40E2-9536-53A07EC5027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443999" y="8892000"/>
            <a:ext cx="412413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C318AE-53F9-47EA-B5FE-E9473933AF11}" type="slidenum">
              <a:rPr lang="bg-BG" smtClean="0"/>
              <a:t>‹#›</a:t>
            </a:fld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4150602968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hyperlink" Target="https://softuni.org/" TargetMode="External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D84649-876A-46C9-8472-14CB09C070D8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488999" y="8892000"/>
            <a:ext cx="367414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F067CD-8E6B-4360-9AA8-C5DF2A48A6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C3A49B-3196-44DF-AC28-085C72EFBFF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892000"/>
            <a:ext cx="6488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/>
            </a:lvl1pPr>
          </a:lstStyle>
          <a:p>
            <a:r>
              <a:rPr lang="bg-BG" sz="1100" dirty="0"/>
              <a:t>Работна група </a:t>
            </a:r>
            <a:r>
              <a:rPr lang="bg-BG" dirty="0"/>
              <a:t>"Образование по програмиране и ИТ"</a:t>
            </a:r>
            <a:r>
              <a:rPr lang="bg-BG" sz="1100" dirty="0"/>
              <a:t>, с подкрепата на </a:t>
            </a:r>
            <a:r>
              <a:rPr lang="en-US" sz="1100" dirty="0">
                <a:hlinkClick r:id="rId2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530847692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EBA5BD7-F043-4D1B-AA17-CD412FC534DE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8" name="Slide Image Placeholder 7">
            <a:extLst>
              <a:ext uri="{FF2B5EF4-FFF2-40B4-BE49-F238E27FC236}">
                <a16:creationId xmlns:a16="http://schemas.microsoft.com/office/drawing/2014/main" id="{78811095-27E9-49AB-972B-D4E20B3963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9" name="Notes Placeholder 8">
            <a:extLst>
              <a:ext uri="{FF2B5EF4-FFF2-40B4-BE49-F238E27FC236}">
                <a16:creationId xmlns:a16="http://schemas.microsoft.com/office/drawing/2014/main" id="{E923224B-0CC3-475A-8628-8A90751AE6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288A3F3-90B1-4930-8D00-5603BDABEF1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44894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>
            <a:extLst>
              <a:ext uri="{FF2B5EF4-FFF2-40B4-BE49-F238E27FC236}">
                <a16:creationId xmlns:a16="http://schemas.microsoft.com/office/drawing/2014/main" id="{A1F0B3C6-2E53-4CA3-86D1-53D46EC352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5" name="Notes Placeholder 14">
            <a:extLst>
              <a:ext uri="{FF2B5EF4-FFF2-40B4-BE49-F238E27FC236}">
                <a16:creationId xmlns:a16="http://schemas.microsoft.com/office/drawing/2014/main" id="{149CC699-A079-49A5-A4D6-73B7F849A7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121F4233-7E9A-40D2-9066-2DB14E2FA5AD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18F1DFF-B3E7-4ABF-97EE-0BBF3A961EC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85307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10985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925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7714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956949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80238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70130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318781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779252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794638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552936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681200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54154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252702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422218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272124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705575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451472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540786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62067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084233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499419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65F1CA9-65DC-416B-8882-B3A5E415CE67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39</a:t>
            </a:fld>
            <a:endParaRPr lang="en-US" dirty="0"/>
          </a:p>
        </p:txBody>
      </p:sp>
      <p:sp>
        <p:nvSpPr>
          <p:cNvPr id="5" name="Footer Placeholder 7">
            <a:extLst>
              <a:ext uri="{FF2B5EF4-FFF2-40B4-BE49-F238E27FC236}">
                <a16:creationId xmlns:a16="http://schemas.microsoft.com/office/drawing/2014/main" id="{43FAF785-0C8D-730E-8E59-68198DC82CE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892000"/>
            <a:ext cx="6488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/>
            </a:lvl1pPr>
          </a:lstStyle>
          <a:p>
            <a:r>
              <a:rPr lang="bg-BG" sz="1100" dirty="0"/>
              <a:t>Работна група </a:t>
            </a:r>
            <a:r>
              <a:rPr lang="bg-BG" dirty="0"/>
              <a:t>"Образование по програмиране и ИТ"</a:t>
            </a:r>
            <a:r>
              <a:rPr lang="bg-BG" sz="1100" dirty="0"/>
              <a:t>, с подкрепата на </a:t>
            </a:r>
            <a:r>
              <a:rPr lang="en-US" sz="1100" dirty="0">
                <a:hlinkClick r:id="rId3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68934473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049B984-F964-47FF-8179-0A3007CE21CD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40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059BE0-D868-413B-AAA1-1CC88D1F52C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659037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27548A-4D3C-449B-81A5-FA4BE4628490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41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472CE7-61C1-4B7B-B0C8-5A45F0178717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88444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hyperlink" Target="http://creativecommons.org/licenses/by-nc-sa/4.0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Bottom">
            <a:extLst>
              <a:ext uri="{FF2B5EF4-FFF2-40B4-BE49-F238E27FC236}">
                <a16:creationId xmlns:a16="http://schemas.microsoft.com/office/drawing/2014/main" id="{6854D183-0374-4B3E-B2CE-32F308A81591}"/>
              </a:ext>
            </a:extLst>
          </p:cNvPr>
          <p:cNvSpPr/>
          <p:nvPr userDrawn="1"/>
        </p:nvSpPr>
        <p:spPr>
          <a:xfrm>
            <a:off x="0" y="6702676"/>
            <a:ext cx="12195176" cy="15532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33" name="Picture Placeholder Title Image">
            <a:extLst>
              <a:ext uri="{FF2B5EF4-FFF2-40B4-BE49-F238E27FC236}">
                <a16:creationId xmlns:a16="http://schemas.microsoft.com/office/drawing/2014/main" id="{A04D819A-89E2-4714-8C56-1838BF467EF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390123" y="3400017"/>
            <a:ext cx="5248260" cy="2188983"/>
          </a:xfrm>
        </p:spPr>
        <p:txBody>
          <a:bodyPr/>
          <a:lstStyle>
            <a:lvl1pPr marL="0" indent="0" algn="ctr" latinLnBrk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10" name="Company Web Site">
            <a:extLst>
              <a:ext uri="{FF2B5EF4-FFF2-40B4-BE49-F238E27FC236}">
                <a16:creationId xmlns:a16="http://schemas.microsoft.com/office/drawing/2014/main" id="{0B99B1EE-62FA-4AA4-920C-D444D6C0B77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390120" y="6086106"/>
            <a:ext cx="5248260" cy="341313"/>
          </a:xfrm>
        </p:spPr>
        <p:txBody>
          <a:bodyPr lIns="36000" rIns="36000" anchor="ctr" anchorCtr="0">
            <a:noAutofit/>
          </a:bodyPr>
          <a:lstStyle>
            <a:lvl1pPr marL="0" indent="0" algn="r">
              <a:buNone/>
              <a:defRPr sz="1800"/>
            </a:lvl1pPr>
          </a:lstStyle>
          <a:p>
            <a:pPr lvl="0"/>
            <a:r>
              <a:rPr lang="en-US" dirty="0"/>
              <a:t>https://softuni.foundation  </a:t>
            </a:r>
          </a:p>
        </p:txBody>
      </p:sp>
      <p:sp>
        <p:nvSpPr>
          <p:cNvPr id="6" name="Company Name">
            <a:extLst>
              <a:ext uri="{FF2B5EF4-FFF2-40B4-BE49-F238E27FC236}">
                <a16:creationId xmlns:a16="http://schemas.microsoft.com/office/drawing/2014/main" id="{2A76510A-0BAE-A827-E77C-BE88E38F52A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390122" y="5698189"/>
            <a:ext cx="5248260" cy="374236"/>
          </a:xfrm>
        </p:spPr>
        <p:txBody>
          <a:bodyPr lIns="36000" rIns="36000" anchor="ctr" anchorCtr="0">
            <a:normAutofit/>
          </a:bodyPr>
          <a:lstStyle>
            <a:lvl1pPr marL="0" indent="0" algn="r">
              <a:buNone/>
              <a:defRPr sz="2000" b="1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lvl="0"/>
            <a:r>
              <a:rPr lang="en-US" dirty="0"/>
              <a:t>SoftUni Foundation</a:t>
            </a:r>
          </a:p>
        </p:txBody>
      </p:sp>
      <p:sp>
        <p:nvSpPr>
          <p:cNvPr id="31" name="Author Position">
            <a:extLst>
              <a:ext uri="{FF2B5EF4-FFF2-40B4-BE49-F238E27FC236}">
                <a16:creationId xmlns:a16="http://schemas.microsoft.com/office/drawing/2014/main" id="{3E6B87B7-9D33-4EBB-BD4F-C0436BA3FD7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534045" y="6085863"/>
            <a:ext cx="4751953" cy="341556"/>
          </a:xfrm>
          <a:prstGeom prst="rect">
            <a:avLst/>
          </a:prstGeom>
          <a:noFill/>
          <a:effectLst/>
        </p:spPr>
        <p:txBody>
          <a:bodyPr wrap="square" lIns="36000" tIns="36000" rIns="36000" bIns="36000" rtlCol="0" anchor="ctr" anchorCtr="0">
            <a:noAutofit/>
          </a:bodyPr>
          <a:lstStyle>
            <a:lvl1pPr marL="0" indent="0" algn="l" rtl="0" fontAlgn="base" latinLnBrk="0">
              <a:spcBef>
                <a:spcPct val="0"/>
              </a:spcBef>
              <a:spcAft>
                <a:spcPct val="0"/>
              </a:spcAft>
              <a:buNone/>
              <a:defRPr lang="en-US" sz="1800" b="0" kern="1200" dirty="0" smtClean="0">
                <a:solidFill>
                  <a:schemeClr val="tx1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URL</a:t>
            </a:r>
          </a:p>
        </p:txBody>
      </p:sp>
      <p:sp>
        <p:nvSpPr>
          <p:cNvPr id="30" name="Author Name">
            <a:extLst>
              <a:ext uri="{FF2B5EF4-FFF2-40B4-BE49-F238E27FC236}">
                <a16:creationId xmlns:a16="http://schemas.microsoft.com/office/drawing/2014/main" id="{2EA92DCA-4DB5-4D03-ACD3-A6A296592D0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auto">
          <a:xfrm>
            <a:off x="534046" y="5251106"/>
            <a:ext cx="4751954" cy="724904"/>
          </a:xfrm>
          <a:prstGeom prst="rect">
            <a:avLst/>
          </a:prstGeom>
          <a:noFill/>
          <a:effectLst/>
        </p:spPr>
        <p:txBody>
          <a:bodyPr wrap="square" lIns="36000" tIns="36000" rIns="36000" bIns="36000" rtlCol="0" anchor="ctr" anchorCtr="0">
            <a:noAutofit/>
          </a:bodyPr>
          <a:lstStyle>
            <a:lvl1pPr marL="0" indent="0" algn="l" rtl="0" fontAlgn="base" latinLnBrk="0">
              <a:spcBef>
                <a:spcPct val="0"/>
              </a:spcBef>
              <a:spcAft>
                <a:spcPct val="0"/>
              </a:spcAft>
              <a:buNone/>
              <a:defRPr lang="en-US" sz="2000" b="1" kern="1200" dirty="0" smtClean="0">
                <a:solidFill>
                  <a:schemeClr val="tx1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Authors</a:t>
            </a:r>
          </a:p>
        </p:txBody>
      </p:sp>
      <p:sp>
        <p:nvSpPr>
          <p:cNvPr id="43" name="Presentation Subtitle">
            <a:extLst>
              <a:ext uri="{FF2B5EF4-FFF2-40B4-BE49-F238E27FC236}">
                <a16:creationId xmlns:a16="http://schemas.microsoft.com/office/drawing/2014/main" id="{37BDB812-1395-4B02-ABCF-6A331EEE23E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54746" y="1402942"/>
            <a:ext cx="11083636" cy="1306057"/>
          </a:xfrm>
        </p:spPr>
        <p:txBody>
          <a:bodyPr anchor="t" anchorCtr="0">
            <a:normAutofit/>
          </a:bodyPr>
          <a:lstStyle>
            <a:lvl1pPr marL="0" indent="0" algn="ctr" latinLnBrk="0">
              <a:buNone/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Presentation Subtitle</a:t>
            </a:r>
          </a:p>
        </p:txBody>
      </p:sp>
      <p:sp>
        <p:nvSpPr>
          <p:cNvPr id="2" name="Presentation Title">
            <a:extLst>
              <a:ext uri="{FF2B5EF4-FFF2-40B4-BE49-F238E27FC236}">
                <a16:creationId xmlns:a16="http://schemas.microsoft.com/office/drawing/2014/main" id="{A4DF3AB8-E6E3-4FCE-8A4A-ECD147720A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746" y="321501"/>
            <a:ext cx="11083636" cy="971589"/>
          </a:xfrm>
        </p:spPr>
        <p:txBody>
          <a:bodyPr>
            <a:normAutofit/>
          </a:bodyPr>
          <a:lstStyle>
            <a:lvl1pPr algn="ctr" latinLnBrk="0">
              <a:defRPr sz="5400"/>
            </a:lvl1pPr>
          </a:lstStyle>
          <a:p>
            <a:r>
              <a:rPr lang="en-US" noProof="0" dirty="0"/>
              <a:t>Presentation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24D0DB3-F60A-469B-7831-209CB666CCE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549" y="4325954"/>
            <a:ext cx="2538082" cy="633046"/>
          </a:xfrm>
          <a:prstGeom prst="rect">
            <a:avLst/>
          </a:prstGeom>
        </p:spPr>
      </p:pic>
      <p:pic>
        <p:nvPicPr>
          <p:cNvPr id="5" name="Picture 4" title="CC-BY-NC-SA License">
            <a:hlinkClick r:id="rId3" tooltip="This work is licensed under the &quot;Creative Commons Attribution-NonCommercial-ShareAlike 4.0 International&quot; license"/>
            <a:extLst>
              <a:ext uri="{FF2B5EF4-FFF2-40B4-BE49-F238E27FC236}">
                <a16:creationId xmlns:a16="http://schemas.microsoft.com/office/drawing/2014/main" id="{2D40731C-0303-A69D-63FD-E048A73CA59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402682" y="4321352"/>
            <a:ext cx="1809336" cy="633045"/>
          </a:xfrm>
          <a:prstGeom prst="roundRect">
            <a:avLst>
              <a:gd name="adj" fmla="val 3940"/>
            </a:avLst>
          </a:prstGeom>
          <a:solidFill>
            <a:srgbClr val="231F20">
              <a:alpha val="50000"/>
            </a:srgbClr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06541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Center Icon"/>
          <p:cNvSpPr>
            <a:spLocks noChangeAspect="1"/>
          </p:cNvSpPr>
          <p:nvPr/>
        </p:nvSpPr>
        <p:spPr>
          <a:xfrm>
            <a:off x="4319736" y="867751"/>
            <a:ext cx="3552529" cy="3552529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Subtitle"/>
          <p:cNvSpPr>
            <a:spLocks noGrp="1"/>
          </p:cNvSpPr>
          <p:nvPr>
            <p:ph type="subTitle" sz="quarter" idx="11" hasCustomPrompt="1"/>
          </p:nvPr>
        </p:nvSpPr>
        <p:spPr>
          <a:xfrm>
            <a:off x="615109" y="5585916"/>
            <a:ext cx="10961783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3998" b="0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Subtitle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 sz="quarter" idx="10" hasCustomPrompt="1"/>
          </p:nvPr>
        </p:nvSpPr>
        <p:spPr>
          <a:xfrm>
            <a:off x="615109" y="4704825"/>
            <a:ext cx="10961783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5396" b="1" baseline="0">
                <a:solidFill>
                  <a:schemeClr val="tx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Title</a:t>
            </a:r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5292164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">
            <a:extLst>
              <a:ext uri="{FF2B5EF4-FFF2-40B4-BE49-F238E27FC236}">
                <a16:creationId xmlns:a16="http://schemas.microsoft.com/office/drawing/2014/main" id="{C1780DB1-0AF0-4108-AFE1-9DA99F0DBC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3" name="Slide Body Text">
            <a:extLst>
              <a:ext uri="{FF2B5EF4-FFF2-40B4-BE49-F238E27FC236}">
                <a16:creationId xmlns:a16="http://schemas.microsoft.com/office/drawing/2014/main" id="{5A9D2960-6D42-439F-82E8-812822013A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2" y="1196125"/>
            <a:ext cx="11818096" cy="5528766"/>
          </a:xfrm>
        </p:spPr>
        <p:txBody>
          <a:bodyPr/>
          <a:lstStyle>
            <a:lvl1pPr latinLnBrk="0">
              <a:buClr>
                <a:schemeClr val="tx1"/>
              </a:buClr>
              <a:defRPr/>
            </a:lvl1pPr>
            <a:lvl2pPr latinLnBrk="0">
              <a:buClr>
                <a:schemeClr val="tx1"/>
              </a:buClr>
              <a:defRPr/>
            </a:lvl2pPr>
            <a:lvl3pPr latinLnBrk="0">
              <a:buClr>
                <a:schemeClr val="tx1"/>
              </a:buClr>
              <a:defRPr/>
            </a:lvl3pPr>
            <a:lvl4pPr latinLnBrk="0">
              <a:buClr>
                <a:schemeClr val="tx1"/>
              </a:buClr>
              <a:defRPr/>
            </a:lvl4pPr>
            <a:lvl5pPr latinLnBrk="0">
              <a:buClr>
                <a:schemeClr val="tx1"/>
              </a:buClr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Rectangle Top">
            <a:extLst>
              <a:ext uri="{FF2B5EF4-FFF2-40B4-BE49-F238E27FC236}">
                <a16:creationId xmlns:a16="http://schemas.microsoft.com/office/drawing/2014/main" id="{391AFA4E-7870-4561-A1B8-AC956B0C8931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19B5B676-7892-440F-8191-7109B2C598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9A1D0F-F579-6A3C-C698-4E2E7F1AB2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29707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portant Conce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0020EB61-2079-41A3-B356-B1D8D48D7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6" name="Rectangle Left"/>
          <p:cNvSpPr/>
          <p:nvPr/>
        </p:nvSpPr>
        <p:spPr>
          <a:xfrm>
            <a:off x="0" y="0"/>
            <a:ext cx="115383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3074" name="Picture Bulb" descr="Bulb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35205" y="1792355"/>
            <a:ext cx="1830304" cy="4062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Body Text">
            <a:extLst>
              <a:ext uri="{FF2B5EF4-FFF2-40B4-BE49-F238E27FC236}">
                <a16:creationId xmlns:a16="http://schemas.microsoft.com/office/drawing/2014/main" id="{CB4CB13C-66A1-466B-A6C1-B0BABF5CFE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66000" y="1121143"/>
            <a:ext cx="10129234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8" name="Slide Title">
            <a:extLst>
              <a:ext uri="{FF2B5EF4-FFF2-40B4-BE49-F238E27FC236}">
                <a16:creationId xmlns:a16="http://schemas.microsoft.com/office/drawing/2014/main" id="{E2DA9691-CDF5-499C-94BB-AAA61DAC1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6956" y="100750"/>
            <a:ext cx="916404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8CA5371-2597-CF8F-1859-22639580743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25307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portant Exa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1865BF6B-7F07-4E9C-879F-80E36EEB34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2" name="Rectangle Left">
            <a:extLst>
              <a:ext uri="{FF2B5EF4-FFF2-40B4-BE49-F238E27FC236}">
                <a16:creationId xmlns:a16="http://schemas.microsoft.com/office/drawing/2014/main" id="{345FB1C8-7F66-4D5C-ACCE-AE919936BCFD}"/>
              </a:ext>
            </a:extLst>
          </p:cNvPr>
          <p:cNvSpPr/>
          <p:nvPr/>
        </p:nvSpPr>
        <p:spPr>
          <a:xfrm>
            <a:off x="0" y="0"/>
            <a:ext cx="115383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3074" name="Picture Bulb" descr="Bulb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520027" y="3314704"/>
            <a:ext cx="1260665" cy="2797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Slide Body Text">
            <a:extLst>
              <a:ext uri="{FF2B5EF4-FFF2-40B4-BE49-F238E27FC236}">
                <a16:creationId xmlns:a16="http://schemas.microsoft.com/office/drawing/2014/main" id="{6157C8DE-E0AF-422B-BBB1-F0AF1264B5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673561" y="1121143"/>
            <a:ext cx="10321675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0D5CC956-5C4A-44BE-8F8B-327FAFA51E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6956" y="100750"/>
            <a:ext cx="916404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37AF1B9-D67A-246A-86B6-E28F19C5239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9651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F0B8C963-1813-4B69-AD27-6D02EBBBB5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3" name="Rectangle Left">
            <a:extLst>
              <a:ext uri="{FF2B5EF4-FFF2-40B4-BE49-F238E27FC236}">
                <a16:creationId xmlns:a16="http://schemas.microsoft.com/office/drawing/2014/main" id="{345FB1C8-7F66-4D5C-ACCE-AE919936BCFD}"/>
              </a:ext>
            </a:extLst>
          </p:cNvPr>
          <p:cNvSpPr/>
          <p:nvPr userDrawn="1"/>
        </p:nvSpPr>
        <p:spPr>
          <a:xfrm>
            <a:off x="0" y="0"/>
            <a:ext cx="429471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4" name="Picture Bulb" descr="Bulb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156000" y="5098868"/>
            <a:ext cx="779209" cy="17293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Body Text">
            <a:extLst>
              <a:ext uri="{FF2B5EF4-FFF2-40B4-BE49-F238E27FC236}">
                <a16:creationId xmlns:a16="http://schemas.microsoft.com/office/drawing/2014/main" id="{7296EDA7-D37D-4B31-A888-371F0804124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5176" y="1121143"/>
            <a:ext cx="11410061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55A88B09-3557-48A3-BF27-42699C2692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177" y="100750"/>
            <a:ext cx="987582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C2C375B-43BF-D1DD-F160-1500A111885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5625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urce Code Exa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">
            <a:extLst>
              <a:ext uri="{FF2B5EF4-FFF2-40B4-BE49-F238E27FC236}">
                <a16:creationId xmlns:a16="http://schemas.microsoft.com/office/drawing/2014/main" id="{509D954E-A844-4072-A556-DE584BEB93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9" name="Rectangle Top">
            <a:extLst>
              <a:ext uri="{FF2B5EF4-FFF2-40B4-BE49-F238E27FC236}">
                <a16:creationId xmlns:a16="http://schemas.microsoft.com/office/drawing/2014/main" id="{A15CE03A-0933-4E5D-9EA1-718D4F802FFC}"/>
              </a:ext>
            </a:extLst>
          </p:cNvPr>
          <p:cNvSpPr/>
          <p:nvPr userDrawn="1"/>
        </p:nvSpPr>
        <p:spPr>
          <a:xfrm>
            <a:off x="0" y="1311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2" name="Slide Body Text">
            <a:extLst>
              <a:ext uri="{FF2B5EF4-FFF2-40B4-BE49-F238E27FC236}">
                <a16:creationId xmlns:a16="http://schemas.microsoft.com/office/drawing/2014/main" id="{B608ED73-CE88-49E4-8BFC-DBD6E9AE6B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6" y="1206668"/>
            <a:ext cx="11804831" cy="5550582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This is a code example</a:t>
            </a:r>
          </a:p>
        </p:txBody>
      </p:sp>
      <p:sp>
        <p:nvSpPr>
          <p:cNvPr id="4" name="Code Box">
            <a:extLst>
              <a:ext uri="{FF2B5EF4-FFF2-40B4-BE49-F238E27FC236}">
                <a16:creationId xmlns:a16="http://schemas.microsoft.com/office/drawing/2014/main" id="{F4E021E9-D6DB-4272-8C9F-CEF4940FDC1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74683" y="2034000"/>
            <a:ext cx="10836275" cy="2237893"/>
          </a:xfrm>
          <a:solidFill>
            <a:schemeClr val="accent6">
              <a:lumMod val="75000"/>
              <a:alpha val="15000"/>
            </a:schemeClr>
          </a:solidFill>
          <a:ln w="12700">
            <a:solidFill>
              <a:schemeClr val="tx1">
                <a:lumMod val="50000"/>
              </a:schemeClr>
            </a:solidFill>
          </a:ln>
        </p:spPr>
        <p:txBody>
          <a:bodyPr vert="horz" wrap="square" lIns="144000" tIns="108000" rIns="144000" bIns="108000" rtlCol="0">
            <a:spAutoFit/>
          </a:bodyPr>
          <a:lstStyle>
            <a:lvl1pPr>
              <a:buNone/>
              <a:defRPr lang="en-US" sz="2800" b="1" smtClean="0">
                <a:latin typeface="Consolas" pitchFamily="49" charset="0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Source code box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</p:txBody>
      </p:sp>
      <p:sp>
        <p:nvSpPr>
          <p:cNvPr id="11" name="Slide Title">
            <a:extLst>
              <a:ext uri="{FF2B5EF4-FFF2-40B4-BE49-F238E27FC236}">
                <a16:creationId xmlns:a16="http://schemas.microsoft.com/office/drawing/2014/main" id="{47D60833-F0A9-4F29-8C06-A963A7C8BE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5" y="100750"/>
            <a:ext cx="10239658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B69A4E8-9221-8F79-65B4-BF9AA7F87DD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08298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Center Icon"/>
          <p:cNvSpPr>
            <a:spLocks noChangeAspect="1"/>
          </p:cNvSpPr>
          <p:nvPr/>
        </p:nvSpPr>
        <p:spPr>
          <a:xfrm>
            <a:off x="831000" y="1091471"/>
            <a:ext cx="3552529" cy="3552529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Subtitle"/>
          <p:cNvSpPr>
            <a:spLocks noGrp="1"/>
          </p:cNvSpPr>
          <p:nvPr>
            <p:ph type="subTitle" sz="quarter" idx="11" hasCustomPrompt="1"/>
          </p:nvPr>
        </p:nvSpPr>
        <p:spPr>
          <a:xfrm>
            <a:off x="5241000" y="3338387"/>
            <a:ext cx="6065892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3998" b="0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Subtitle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 sz="quarter" idx="10" hasCustomPrompt="1"/>
          </p:nvPr>
        </p:nvSpPr>
        <p:spPr>
          <a:xfrm>
            <a:off x="5241000" y="1471047"/>
            <a:ext cx="6065892" cy="175433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5396" b="1" baseline="0">
                <a:solidFill>
                  <a:schemeClr val="tx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Title</a:t>
            </a:r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4239197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">
            <a:extLst>
              <a:ext uri="{FF2B5EF4-FFF2-40B4-BE49-F238E27FC236}">
                <a16:creationId xmlns:a16="http://schemas.microsoft.com/office/drawing/2014/main" id="{39DDE17E-5472-41F3-AF5F-54DFF10DC6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23" name="Slide Body Text">
            <a:extLst>
              <a:ext uri="{FF2B5EF4-FFF2-40B4-BE49-F238E27FC236}">
                <a16:creationId xmlns:a16="http://schemas.microsoft.com/office/drawing/2014/main" id="{889D93F4-ABFA-46BF-8E5D-FE6562ACB20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6766" y="1371604"/>
            <a:ext cx="11781606" cy="5207396"/>
          </a:xfrm>
        </p:spPr>
        <p:txBody>
          <a:bodyPr>
            <a:normAutofit/>
          </a:bodyPr>
          <a:lstStyle>
            <a:lvl1pPr marL="514042" indent="-514042" latinLnBrk="0">
              <a:buFont typeface="+mj-lt"/>
              <a:buAutoNum type="arabicPeriod"/>
              <a:defRPr sz="3600">
                <a:solidFill>
                  <a:schemeClr val="tx1"/>
                </a:solidFill>
              </a:defRPr>
            </a:lvl1pPr>
            <a:lvl2pPr>
              <a:defRPr sz="3400"/>
            </a:lvl2pPr>
          </a:lstStyle>
          <a:p>
            <a:pPr lvl="0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0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0"/>
            <a:r>
              <a:rPr lang="en-US" noProof="0" dirty="0"/>
              <a:t>…</a:t>
            </a:r>
          </a:p>
        </p:txBody>
      </p:sp>
      <p:sp>
        <p:nvSpPr>
          <p:cNvPr id="8" name="Rectangle Top">
            <a:extLst>
              <a:ext uri="{FF2B5EF4-FFF2-40B4-BE49-F238E27FC236}">
                <a16:creationId xmlns:a16="http://schemas.microsoft.com/office/drawing/2014/main" id="{930E0800-9260-4369-8330-8264DD33C5CE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357D7BE1-6358-42CC-94F3-7BCDD91DCB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Table of Contents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D808AB-EC49-1578-0005-D58D2A365AA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8724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Bottom"/>
          <p:cNvSpPr/>
          <p:nvPr/>
        </p:nvSpPr>
        <p:spPr>
          <a:xfrm>
            <a:off x="2" y="6264000"/>
            <a:ext cx="12192000" cy="594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856" tIns="60928" rIns="121856" bIns="6092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6750ECE4-94E0-469B-B8E4-562792823B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462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solidFill>
                  <a:schemeClr val="bg2"/>
                </a:solidFill>
              </a:defRPr>
            </a:lvl1pPr>
          </a:lstStyle>
          <a:p>
            <a:fld id="{2BF067CD-8E6B-4360-9AA8-C5DF2A48A6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Oval Logo Holder"/>
          <p:cNvSpPr/>
          <p:nvPr/>
        </p:nvSpPr>
        <p:spPr>
          <a:xfrm>
            <a:off x="5161650" y="4824665"/>
            <a:ext cx="1868701" cy="1868701"/>
          </a:xfrm>
          <a:prstGeom prst="ellipse">
            <a:avLst/>
          </a:prstGeom>
          <a:solidFill>
            <a:schemeClr val="tx2"/>
          </a:solidFill>
          <a:ln w="635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0" name="Text Placeholder Right">
            <a:extLst>
              <a:ext uri="{FF2B5EF4-FFF2-40B4-BE49-F238E27FC236}">
                <a16:creationId xmlns:a16="http://schemas.microsoft.com/office/drawing/2014/main" id="{AF69A59F-C564-4A04-B1CC-31C26149999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56000" y="1195931"/>
            <a:ext cx="5545597" cy="4957073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9" name="Text Placeholder Left">
            <a:extLst>
              <a:ext uri="{FF2B5EF4-FFF2-40B4-BE49-F238E27FC236}">
                <a16:creationId xmlns:a16="http://schemas.microsoft.com/office/drawing/2014/main" id="{C8A626D2-456B-41EF-9818-EA8DD7E314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2" y="1195931"/>
            <a:ext cx="5545598" cy="4957073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Rectangle Top">
            <a:extLst>
              <a:ext uri="{FF2B5EF4-FFF2-40B4-BE49-F238E27FC236}">
                <a16:creationId xmlns:a16="http://schemas.microsoft.com/office/drawing/2014/main" id="{E03301DA-D0AF-46FD-8740-2F761250203A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5" name="Slide Title">
            <a:extLst>
              <a:ext uri="{FF2B5EF4-FFF2-40B4-BE49-F238E27FC236}">
                <a16:creationId xmlns:a16="http://schemas.microsoft.com/office/drawing/2014/main" id="{EA9A94D1-F9F6-4D7B-85E3-896A987B6A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5" y="100750"/>
            <a:ext cx="10270595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C9792D8-D354-4699-B7D6-B8CB7F77594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398753" y="5340443"/>
            <a:ext cx="1334859" cy="98286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6351E19-25DA-EAD2-9FBE-358B6135D72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40334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">
            <a:extLst>
              <a:ext uri="{FF2B5EF4-FFF2-40B4-BE49-F238E27FC236}">
                <a16:creationId xmlns:a16="http://schemas.microsoft.com/office/drawing/2014/main" id="{F888EE71-82B3-40F1-A63F-7417422FB4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444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14" name="Text Placeholder Body">
            <a:extLst>
              <a:ext uri="{FF2B5EF4-FFF2-40B4-BE49-F238E27FC236}">
                <a16:creationId xmlns:a16="http://schemas.microsoft.com/office/drawing/2014/main" id="{A2ABE920-240F-4CF6-AD45-23ED489FAD6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69002" y="1353866"/>
            <a:ext cx="7426234" cy="5219931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Picture Placeholder Left"/>
          <p:cNvSpPr>
            <a:spLocks noGrp="1"/>
          </p:cNvSpPr>
          <p:nvPr>
            <p:ph type="pic" idx="1" hasCustomPrompt="1"/>
          </p:nvPr>
        </p:nvSpPr>
        <p:spPr>
          <a:xfrm>
            <a:off x="190405" y="1355077"/>
            <a:ext cx="3889373" cy="536640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anchor="ctr"/>
          <a:lstStyle>
            <a:lvl1pPr marL="0" indent="0" algn="ctr" latinLnBrk="0">
              <a:buNone/>
              <a:defRPr sz="2131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  <a:lvl2pPr marL="609219" indent="0">
              <a:buNone/>
              <a:defRPr sz="3731"/>
            </a:lvl2pPr>
            <a:lvl3pPr marL="1218438" indent="0">
              <a:buNone/>
              <a:defRPr sz="3198"/>
            </a:lvl3pPr>
            <a:lvl4pPr marL="1827657" indent="0">
              <a:buNone/>
              <a:defRPr sz="2665"/>
            </a:lvl4pPr>
            <a:lvl5pPr marL="2436876" indent="0">
              <a:buNone/>
              <a:defRPr sz="2665"/>
            </a:lvl5pPr>
            <a:lvl6pPr marL="3046096" indent="0">
              <a:buNone/>
              <a:defRPr sz="2665"/>
            </a:lvl6pPr>
            <a:lvl7pPr marL="3655315" indent="0">
              <a:buNone/>
              <a:defRPr sz="2665"/>
            </a:lvl7pPr>
            <a:lvl8pPr marL="4264533" indent="0">
              <a:buNone/>
              <a:defRPr sz="2665"/>
            </a:lvl8pPr>
            <a:lvl9pPr marL="4873752" indent="0">
              <a:buNone/>
              <a:defRPr sz="2665"/>
            </a:lvl9pPr>
          </a:lstStyle>
          <a:p>
            <a:r>
              <a:rPr lang="en-US" altLang="ko-KR" noProof="0"/>
              <a:t>Your Picture Here</a:t>
            </a:r>
          </a:p>
        </p:txBody>
      </p:sp>
      <p:sp>
        <p:nvSpPr>
          <p:cNvPr id="3" name="Rectangle Left Second"/>
          <p:cNvSpPr/>
          <p:nvPr/>
        </p:nvSpPr>
        <p:spPr>
          <a:xfrm>
            <a:off x="4127777" y="1748999"/>
            <a:ext cx="240001" cy="3360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2" name="Rectangle Left First"/>
          <p:cNvSpPr/>
          <p:nvPr/>
        </p:nvSpPr>
        <p:spPr>
          <a:xfrm>
            <a:off x="4079775" y="1355073"/>
            <a:ext cx="48001" cy="550292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0" name="Rectangle Down">
            <a:extLst>
              <a:ext uri="{FF2B5EF4-FFF2-40B4-BE49-F238E27FC236}">
                <a16:creationId xmlns:a16="http://schemas.microsoft.com/office/drawing/2014/main" id="{E9B994EC-35A8-4A11-98CB-25DC28852F94}"/>
              </a:ext>
            </a:extLst>
          </p:cNvPr>
          <p:cNvSpPr/>
          <p:nvPr/>
        </p:nvSpPr>
        <p:spPr>
          <a:xfrm>
            <a:off x="2" y="6721482"/>
            <a:ext cx="12192000" cy="13651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Rectangle Top">
            <a:extLst>
              <a:ext uri="{FF2B5EF4-FFF2-40B4-BE49-F238E27FC236}">
                <a16:creationId xmlns:a16="http://schemas.microsoft.com/office/drawing/2014/main" id="{274B8F05-DFCE-47BD-BAFD-DF93E1A63BDD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3F218E34-55D7-4290-BFE4-80F31F9415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F3DB3E-BDAA-8201-9A01-2F52640A84C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4019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s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Bottom">
            <a:extLst>
              <a:ext uri="{FF2B5EF4-FFF2-40B4-BE49-F238E27FC236}">
                <a16:creationId xmlns:a16="http://schemas.microsoft.com/office/drawing/2014/main" id="{550A59F9-9A9D-4956-95B4-F78CC0DB1D59}"/>
              </a:ext>
            </a:extLst>
          </p:cNvPr>
          <p:cNvSpPr/>
          <p:nvPr userDrawn="1"/>
        </p:nvSpPr>
        <p:spPr>
          <a:xfrm>
            <a:off x="0" y="6371332"/>
            <a:ext cx="12195176" cy="48723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107753B-8639-4399-B782-EE5377184D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6988" y="1461842"/>
            <a:ext cx="10731663" cy="3047158"/>
          </a:xfrm>
        </p:spPr>
        <p:txBody>
          <a:bodyPr>
            <a:normAutofit/>
          </a:bodyPr>
          <a:lstStyle>
            <a:lvl1pPr algn="ctr">
              <a:defRPr sz="13800"/>
            </a:lvl1pPr>
          </a:lstStyle>
          <a:p>
            <a:r>
              <a:rPr lang="bg-BG" dirty="0"/>
              <a:t>Въпроси?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20612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gray"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Body Text">
            <a:extLst>
              <a:ext uri="{FF2B5EF4-FFF2-40B4-BE49-F238E27FC236}">
                <a16:creationId xmlns:a16="http://schemas.microsoft.com/office/drawing/2014/main" id="{90CBFB32-9F46-4F2F-8A54-9EE8BED278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90404" y="1138844"/>
            <a:ext cx="11804830" cy="5530156"/>
          </a:xfrm>
          <a:prstGeom prst="rect">
            <a:avLst/>
          </a:prstGeom>
        </p:spPr>
        <p:txBody>
          <a:bodyPr vert="horz" lIns="108000" tIns="36000" rIns="108000" bIns="36000" rtlCol="0">
            <a:normAutofit/>
          </a:bodyPr>
          <a:lstStyle/>
          <a:p>
            <a:pPr lvl="0"/>
            <a:r>
              <a:rPr lang="en-US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10" name="Slide Title">
            <a:extLst>
              <a:ext uri="{FF2B5EF4-FFF2-40B4-BE49-F238E27FC236}">
                <a16:creationId xmlns:a16="http://schemas.microsoft.com/office/drawing/2014/main" id="{B770C392-3003-4C35-9625-BB041F825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5" y="100750"/>
            <a:ext cx="11804829" cy="882654"/>
          </a:xfrm>
          <a:prstGeom prst="rect">
            <a:avLst/>
          </a:prstGeom>
        </p:spPr>
        <p:txBody>
          <a:bodyPr vert="horz" lIns="108000" tIns="36000" rIns="108000" bIns="36000" rtlCol="0" anchor="ctr" anchorCtr="0">
            <a:normAutofit/>
          </a:bodyPr>
          <a:lstStyle/>
          <a:p>
            <a:r>
              <a:rPr lang="en-US" dirty="0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6789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89" r:id="rId2"/>
    <p:sldLayoutId id="2147483681" r:id="rId3"/>
    <p:sldLayoutId id="2147483679" r:id="rId4"/>
    <p:sldLayoutId id="2147483680" r:id="rId5"/>
    <p:sldLayoutId id="2147483688" r:id="rId6"/>
    <p:sldLayoutId id="2147483684" r:id="rId7"/>
    <p:sldLayoutId id="2147483690" r:id="rId8"/>
    <p:sldLayoutId id="2147483677" r:id="rId9"/>
    <p:sldLayoutId id="2147483683" r:id="rId10"/>
    <p:sldLayoutId id="2147483685" r:id="rId11"/>
    <p:sldLayoutId id="2147483686" r:id="rId12"/>
  </p:sldLayoutIdLst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hf hdr="0" ftr="0" dt="0"/>
  <p:txStyles>
    <p:titleStyle>
      <a:lvl1pPr algn="l" defTabSz="1218438" rtl="0" eaLnBrk="1" latinLnBrk="0" hangingPunct="1">
        <a:spcBef>
          <a:spcPct val="0"/>
        </a:spcBef>
        <a:buNone/>
        <a:defRPr sz="3998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363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3398" kern="1200">
          <a:solidFill>
            <a:schemeClr val="tx1"/>
          </a:solidFill>
          <a:latin typeface="+mn-lt"/>
          <a:ea typeface="+mn-ea"/>
          <a:cs typeface="+mn-cs"/>
        </a:defRPr>
      </a:lvl1pPr>
      <a:lvl2pPr marL="803275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3198" kern="1200">
          <a:solidFill>
            <a:schemeClr val="tx1"/>
          </a:solidFill>
          <a:latin typeface="+mn-lt"/>
          <a:ea typeface="+mn-ea"/>
          <a:cs typeface="+mn-cs"/>
        </a:defRPr>
      </a:lvl2pPr>
      <a:lvl3pPr marL="1255713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998" kern="1200">
          <a:solidFill>
            <a:schemeClr val="tx1"/>
          </a:solidFill>
          <a:latin typeface="+mn-lt"/>
          <a:ea typeface="+mn-ea"/>
          <a:cs typeface="+mn-cs"/>
        </a:defRPr>
      </a:lvl3pPr>
      <a:lvl4pPr marL="1700213" indent="-352425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798" kern="1200">
          <a:solidFill>
            <a:schemeClr val="tx1"/>
          </a:solidFill>
          <a:latin typeface="+mn-lt"/>
          <a:ea typeface="+mn-ea"/>
          <a:cs typeface="+mn-cs"/>
        </a:defRPr>
      </a:lvl4pPr>
      <a:lvl5pPr marL="2058988" indent="-266700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598" kern="1200">
          <a:solidFill>
            <a:schemeClr val="tx1"/>
          </a:solidFill>
          <a:latin typeface="+mn-lt"/>
          <a:ea typeface="+mn-ea"/>
          <a:cs typeface="+mn-cs"/>
        </a:defRPr>
      </a:lvl5pPr>
      <a:lvl6pPr marL="3350704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6pPr>
      <a:lvl7pPr marL="3959924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7pPr>
      <a:lvl8pPr marL="4569143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8pPr>
      <a:lvl9pPr marL="5178362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1pPr>
      <a:lvl2pPr marL="609219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2pPr>
      <a:lvl3pPr marL="1218438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3pPr>
      <a:lvl4pPr marL="1827657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4pPr>
      <a:lvl5pPr marL="2436876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5pPr>
      <a:lvl6pPr marL="3046096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6pPr>
      <a:lvl7pPr marL="3655315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7pPr>
      <a:lvl8pPr marL="4264533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8pPr>
      <a:lvl9pPr marL="4873752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1843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G-IT-Ed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jpg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61_34953828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microsoft.com/office/2018/10/relationships/comments" Target="../comments/modernComment_24B_72B0E9BD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microsoft.com/office/2018/10/relationships/comments" Target="../comments/modernComment_30E_3EE33F3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30F_8941E98E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sv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29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sv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oogle.com/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://142.250.186.78/" TargetMode="Externa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260_894324A0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2.png"/></Relationships>
</file>

<file path=ppt/slides/_rels/slide3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28D_523D9B2B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hkolo.bg/" TargetMode="External"/><Relationship Id="rId2" Type="http://schemas.openxmlformats.org/officeDocument/2006/relationships/hyperlink" Target="http://www.mon.bg/" TargetMode="Externa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chatgpt.com/" TargetMode="External"/><Relationship Id="rId4" Type="http://schemas.openxmlformats.org/officeDocument/2006/relationships/hyperlink" Target="https://www.google.com/" TargetMode="Externa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://www.mon.bg/" TargetMode="External"/><Relationship Id="rId2" Type="http://schemas.microsoft.com/office/2018/10/relationships/comments" Target="../comments/modernComment_31F_9F960865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chatgpt.com/" TargetMode="External"/><Relationship Id="rId5" Type="http://schemas.openxmlformats.org/officeDocument/2006/relationships/hyperlink" Target="https://www.google.com/" TargetMode="External"/><Relationship Id="rId4" Type="http://schemas.openxmlformats.org/officeDocument/2006/relationships/hyperlink" Target="https://www.shkolo.bg/" TargetMode="Externa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hkolo.bg/" TargetMode="External"/><Relationship Id="rId2" Type="http://schemas.openxmlformats.org/officeDocument/2006/relationships/hyperlink" Target="http://www.mon.bg/" TargetMode="Externa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chatgpt.com/" TargetMode="External"/><Relationship Id="rId4" Type="http://schemas.openxmlformats.org/officeDocument/2006/relationships/hyperlink" Target="https://www.google.com/" TargetMode="Externa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hkolo.bg/" TargetMode="External"/><Relationship Id="rId2" Type="http://schemas.openxmlformats.org/officeDocument/2006/relationships/hyperlink" Target="http://www.mon.bg/" TargetMode="Externa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chatgpt.com/" TargetMode="External"/><Relationship Id="rId4" Type="http://schemas.openxmlformats.org/officeDocument/2006/relationships/hyperlink" Target="https://www.google.com/" TargetMode="Externa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G-IT-Edu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.png"/><Relationship Id="rId5" Type="http://schemas.openxmlformats.org/officeDocument/2006/relationships/hyperlink" Target="http://creativecommons.org/licenses/by-nc-sa/4.0/" TargetMode="External"/><Relationship Id="rId4" Type="http://schemas.openxmlformats.org/officeDocument/2006/relationships/hyperlink" Target="https://github.com/BG-IT-Edu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uthor Name">
            <a:extLst>
              <a:ext uri="{FF2B5EF4-FFF2-40B4-BE49-F238E27FC236}">
                <a16:creationId xmlns:a16="http://schemas.microsoft.com/office/drawing/2014/main" id="{FA396BB6-2053-4690-9672-BC528007D37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390120" y="6086106"/>
            <a:ext cx="5248260" cy="341313"/>
          </a:xfrm>
        </p:spPr>
        <p:txBody>
          <a:bodyPr>
            <a:normAutofit lnSpcReduction="10000"/>
          </a:bodyPr>
          <a:lstStyle/>
          <a:p>
            <a:r>
              <a:rPr lang="bg-BG" dirty="0"/>
              <a:t>Софтуерни и хардуерни науки</a:t>
            </a:r>
          </a:p>
        </p:txBody>
      </p:sp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8DE66249-1FBD-414B-AF0D-550F7312AF7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390122" y="5698189"/>
            <a:ext cx="5248260" cy="374236"/>
          </a:xfrm>
        </p:spPr>
        <p:txBody>
          <a:bodyPr>
            <a:normAutofit lnSpcReduction="10000"/>
          </a:bodyPr>
          <a:lstStyle/>
          <a:p>
            <a:r>
              <a:rPr lang="bg-BG" dirty="0"/>
              <a:t>Курс </a:t>
            </a:r>
            <a:r>
              <a:rPr lang="en-US" dirty="0"/>
              <a:t>"</a:t>
            </a:r>
            <a:r>
              <a:rPr lang="bg-BG" dirty="0"/>
              <a:t>Информационни технологии"</a:t>
            </a:r>
            <a:endParaRPr lang="en-US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520F80DC-BAF0-05EE-2BC1-37C2321904F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34045" y="6085863"/>
            <a:ext cx="4751953" cy="341556"/>
          </a:xfrm>
        </p:spPr>
        <p:txBody>
          <a:bodyPr>
            <a:normAutofit lnSpcReduction="10000"/>
          </a:bodyPr>
          <a:lstStyle/>
          <a:p>
            <a:r>
              <a:rPr lang="en-US" dirty="0">
                <a:hlinkClick r:id="rId3"/>
              </a:rPr>
              <a:t>https://github.com/BG-IT-Edu</a:t>
            </a:r>
            <a:endParaRPr lang="en-US" dirty="0"/>
          </a:p>
        </p:txBody>
      </p:sp>
      <p:sp>
        <p:nvSpPr>
          <p:cNvPr id="40" name="Text Placeholder 39">
            <a:extLst>
              <a:ext uri="{FF2B5EF4-FFF2-40B4-BE49-F238E27FC236}">
                <a16:creationId xmlns:a16="http://schemas.microsoft.com/office/drawing/2014/main" id="{E4D839B2-02D1-883A-3CE0-7CF25557FB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34046" y="5251106"/>
            <a:ext cx="4751954" cy="724904"/>
          </a:xfrm>
        </p:spPr>
        <p:txBody>
          <a:bodyPr>
            <a:normAutofit/>
          </a:bodyPr>
          <a:lstStyle/>
          <a:p>
            <a:r>
              <a:rPr lang="bg-BG" dirty="0"/>
              <a:t>Проект "Отворено учебно съдържание по програмиране и ИТ", СофтУни Фондация </a:t>
            </a:r>
          </a:p>
        </p:txBody>
      </p:sp>
      <p:sp>
        <p:nvSpPr>
          <p:cNvPr id="3" name="Presentation Subtitle">
            <a:extLst>
              <a:ext uri="{FF2B5EF4-FFF2-40B4-BE49-F238E27FC236}">
                <a16:creationId xmlns:a16="http://schemas.microsoft.com/office/drawing/2014/main" id="{A004DC04-DA2A-41C0-8578-4B8D2F08EA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4746" y="1402942"/>
            <a:ext cx="11083636" cy="971589"/>
          </a:xfrm>
        </p:spPr>
        <p:txBody>
          <a:bodyPr>
            <a:normAutofit/>
          </a:bodyPr>
          <a:lstStyle/>
          <a:p>
            <a:r>
              <a:rPr lang="bg-BG" dirty="0"/>
              <a:t>Уеб страници, домейн и хостинг, интернет адресиране</a:t>
            </a:r>
          </a:p>
        </p:txBody>
      </p:sp>
      <p:sp>
        <p:nvSpPr>
          <p:cNvPr id="2" name="Presentation Title">
            <a:extLst>
              <a:ext uri="{FF2B5EF4-FFF2-40B4-BE49-F238E27FC236}">
                <a16:creationId xmlns:a16="http://schemas.microsoft.com/office/drawing/2014/main" id="{37F91798-9AD5-4209-8887-9580295484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4746" y="321501"/>
            <a:ext cx="11083636" cy="971589"/>
          </a:xfrm>
        </p:spPr>
        <p:txBody>
          <a:bodyPr>
            <a:noAutofit/>
          </a:bodyPr>
          <a:lstStyle/>
          <a:p>
            <a:r>
              <a:rPr lang="bg-BG" sz="6000" dirty="0"/>
              <a:t>Уеб сайтове</a:t>
            </a:r>
            <a:endParaRPr lang="en-US" sz="60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9C89CDB-9A69-7B24-74E6-10BF87DE1C2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1007" y="3056137"/>
            <a:ext cx="1819960" cy="849053"/>
          </a:xfrm>
          <a:prstGeom prst="rect">
            <a:avLst/>
          </a:prstGeom>
        </p:spPr>
      </p:pic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9E0636FF-9DFF-1E3C-B648-B7D58C2CC7D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6" t="12441" r="-346" b="24897"/>
          <a:stretch/>
        </p:blipFill>
        <p:spPr>
          <a:xfrm>
            <a:off x="6390123" y="3400017"/>
            <a:ext cx="5248260" cy="2188983"/>
          </a:xfrm>
        </p:spPr>
      </p:pic>
    </p:spTree>
    <p:extLst>
      <p:ext uri="{BB962C8B-B14F-4D97-AF65-F5344CB8AC3E}">
        <p14:creationId xmlns:p14="http://schemas.microsoft.com/office/powerpoint/2010/main" val="36664053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6A760D59-0056-4F39-B077-DBDBE3D2927E}"/>
              </a:ext>
            </a:extLst>
          </p:cNvPr>
          <p:cNvSpPr txBox="1">
            <a:spLocks/>
          </p:cNvSpPr>
          <p:nvPr/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BF067CD-8E6B-4360-9AA8-C5DF2A48A6D1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444419" name="Slide Body"/>
          <p:cNvSpPr>
            <a:spLocks noGrp="1" noChangeArrowheads="1"/>
          </p:cNvSpPr>
          <p:nvPr>
            <p:ph type="body" sz="quarter" idx="13"/>
          </p:nvPr>
        </p:nvSpPr>
        <p:spPr>
          <a:xfrm>
            <a:off x="196766" y="1371604"/>
            <a:ext cx="11781606" cy="5207396"/>
          </a:xfrm>
        </p:spPr>
        <p:txBody>
          <a:bodyPr>
            <a:normAutofit fontScale="70000" lnSpcReduction="20000"/>
          </a:bodyPr>
          <a:lstStyle/>
          <a:p>
            <a:pPr>
              <a:buClr>
                <a:schemeClr val="tx1"/>
              </a:buClr>
            </a:pPr>
            <a:r>
              <a:rPr lang="bg-BG" dirty="0"/>
              <a:t>​</a:t>
            </a:r>
            <a:r>
              <a:rPr lang="bg-BG" b="1" dirty="0">
                <a:solidFill>
                  <a:schemeClr val="bg1"/>
                </a:solidFill>
              </a:rPr>
              <a:t>Уеб сайтове</a:t>
            </a:r>
          </a:p>
          <a:p>
            <a:pPr lvl="1">
              <a:buClr>
                <a:schemeClr val="tx1"/>
              </a:buClr>
            </a:pPr>
            <a:r>
              <a:rPr lang="bg-BG" b="1" dirty="0"/>
              <a:t>Етапи</a:t>
            </a:r>
            <a:r>
              <a:rPr lang="bg-BG" dirty="0"/>
              <a:t>, </a:t>
            </a:r>
            <a:r>
              <a:rPr lang="bg-BG" b="1" dirty="0"/>
              <a:t>роли</a:t>
            </a:r>
            <a:r>
              <a:rPr lang="bg-BG" dirty="0"/>
              <a:t>, </a:t>
            </a:r>
            <a:r>
              <a:rPr lang="bg-BG" b="1" dirty="0"/>
              <a:t>цел</a:t>
            </a:r>
            <a:r>
              <a:rPr lang="bg-BG" dirty="0"/>
              <a:t> и </a:t>
            </a:r>
            <a:r>
              <a:rPr lang="bg-BG" b="1" dirty="0"/>
              <a:t>целеви групи</a:t>
            </a:r>
          </a:p>
          <a:p>
            <a:r>
              <a:rPr lang="bg-BG" dirty="0"/>
              <a:t>​</a:t>
            </a:r>
            <a:r>
              <a:rPr lang="bg-BG" b="1" dirty="0">
                <a:solidFill>
                  <a:schemeClr val="bg1"/>
                </a:solidFill>
              </a:rPr>
              <a:t>Уеб страници</a:t>
            </a:r>
          </a:p>
          <a:p>
            <a:r>
              <a:rPr lang="bg-BG" dirty="0"/>
              <a:t>​</a:t>
            </a:r>
            <a:r>
              <a:rPr lang="bg-BG" b="1" dirty="0">
                <a:solidFill>
                  <a:schemeClr val="bg1"/>
                </a:solidFill>
              </a:rPr>
              <a:t>Домейн</a:t>
            </a:r>
            <a:r>
              <a:rPr lang="bg-BG" dirty="0"/>
              <a:t> и </a:t>
            </a:r>
            <a:r>
              <a:rPr lang="bg-BG" b="1" dirty="0">
                <a:solidFill>
                  <a:schemeClr val="bg1"/>
                </a:solidFill>
              </a:rPr>
              <a:t>хостинг</a:t>
            </a:r>
            <a:r>
              <a:rPr lang="bg-BG" dirty="0"/>
              <a:t> </a:t>
            </a:r>
            <a:r>
              <a:rPr lang="bg-BG" b="1" dirty="0"/>
              <a:t>услуги</a:t>
            </a:r>
            <a:endParaRPr lang="en-US" b="1" dirty="0"/>
          </a:p>
          <a:p>
            <a:pPr lvl="1"/>
            <a:r>
              <a:rPr lang="bg-BG" b="1" dirty="0"/>
              <a:t>Нива </a:t>
            </a:r>
            <a:r>
              <a:rPr lang="bg-BG" dirty="0"/>
              <a:t>на</a:t>
            </a:r>
            <a:r>
              <a:rPr lang="bg-BG" b="1" dirty="0"/>
              <a:t> </a:t>
            </a:r>
            <a:r>
              <a:rPr lang="bg-BG" b="1" dirty="0">
                <a:solidFill>
                  <a:schemeClr val="bg1"/>
                </a:solidFill>
              </a:rPr>
              <a:t>домейните</a:t>
            </a:r>
          </a:p>
          <a:p>
            <a:pPr lvl="1"/>
            <a:r>
              <a:rPr lang="bg-BG" b="1" dirty="0"/>
              <a:t>Видове </a:t>
            </a:r>
            <a:r>
              <a:rPr lang="bg-BG" dirty="0"/>
              <a:t>и </a:t>
            </a:r>
            <a:r>
              <a:rPr lang="bg-BG" b="1" dirty="0"/>
              <a:t>характеристики </a:t>
            </a:r>
            <a:r>
              <a:rPr lang="bg-BG" dirty="0"/>
              <a:t>на</a:t>
            </a:r>
            <a:r>
              <a:rPr lang="bg-BG" b="1" dirty="0"/>
              <a:t> </a:t>
            </a:r>
            <a:r>
              <a:rPr lang="bg-BG" b="1" dirty="0">
                <a:solidFill>
                  <a:schemeClr val="bg1"/>
                </a:solidFill>
              </a:rPr>
              <a:t>хостинга</a:t>
            </a:r>
          </a:p>
          <a:p>
            <a:r>
              <a:rPr lang="bg-BG" dirty="0"/>
              <a:t>​</a:t>
            </a:r>
            <a:r>
              <a:rPr lang="bg-BG" b="1" dirty="0"/>
              <a:t>Интернет</a:t>
            </a:r>
            <a:r>
              <a:rPr lang="bg-BG" dirty="0"/>
              <a:t> </a:t>
            </a:r>
            <a:r>
              <a:rPr lang="bg-BG" b="1" dirty="0"/>
              <a:t>адресиране</a:t>
            </a:r>
          </a:p>
          <a:p>
            <a:pPr lvl="1">
              <a:buClr>
                <a:schemeClr val="tx1"/>
              </a:buClr>
            </a:pPr>
            <a:r>
              <a:rPr lang="bg-BG" b="1" dirty="0">
                <a:solidFill>
                  <a:schemeClr val="bg1"/>
                </a:solidFill>
              </a:rPr>
              <a:t>I</a:t>
            </a:r>
            <a:r>
              <a:rPr lang="en-US" b="1" dirty="0">
                <a:solidFill>
                  <a:schemeClr val="bg1"/>
                </a:solidFill>
              </a:rPr>
              <a:t>P</a:t>
            </a:r>
            <a:r>
              <a:rPr lang="bg-BG" b="1" dirty="0">
                <a:solidFill>
                  <a:schemeClr val="bg1"/>
                </a:solidFill>
              </a:rPr>
              <a:t> адрес </a:t>
            </a:r>
            <a:r>
              <a:rPr lang="en-US" b="1" dirty="0"/>
              <a:t>(Internet Protocol Address)</a:t>
            </a:r>
            <a:endParaRPr lang="bg-BG" b="1" dirty="0"/>
          </a:p>
          <a:p>
            <a:pPr lvl="1">
              <a:buClr>
                <a:schemeClr val="tx1"/>
              </a:buClr>
            </a:pPr>
            <a:r>
              <a:rPr lang="en-US" b="1" dirty="0">
                <a:solidFill>
                  <a:schemeClr val="bg1"/>
                </a:solidFill>
              </a:rPr>
              <a:t>DNS</a:t>
            </a:r>
            <a:r>
              <a:rPr lang="bg-BG" b="1" dirty="0"/>
              <a:t> (</a:t>
            </a:r>
            <a:r>
              <a:rPr lang="en-US" b="1" dirty="0"/>
              <a:t>Domain Name System</a:t>
            </a:r>
            <a:r>
              <a:rPr lang="bg-BG" b="1" dirty="0"/>
              <a:t>)</a:t>
            </a:r>
          </a:p>
          <a:p>
            <a:pPr lvl="1">
              <a:buClr>
                <a:schemeClr val="tx1"/>
              </a:buClr>
            </a:pPr>
            <a:r>
              <a:rPr lang="en-US" b="1" dirty="0">
                <a:solidFill>
                  <a:schemeClr val="bg1"/>
                </a:solidFill>
              </a:rPr>
              <a:t>URL</a:t>
            </a:r>
            <a:r>
              <a:rPr lang="en-US" b="1" dirty="0"/>
              <a:t> (Uniform Resource Locator)</a:t>
            </a:r>
            <a:endParaRPr lang="bg-BG" b="1" dirty="0"/>
          </a:p>
          <a:p>
            <a:r>
              <a:rPr lang="bg-BG" dirty="0"/>
              <a:t>​</a:t>
            </a:r>
            <a:r>
              <a:rPr lang="bg-BG" b="1" dirty="0"/>
              <a:t>Пример: </a:t>
            </a:r>
            <a:r>
              <a:rPr lang="bg-BG" dirty="0"/>
              <a:t>Цел и целева група на уеб сайтове</a:t>
            </a:r>
            <a:endParaRPr lang="bg-BG" dirty="0">
              <a:highlight>
                <a:srgbClr val="FFFF00"/>
              </a:highlight>
            </a:endParaRPr>
          </a:p>
        </p:txBody>
      </p:sp>
      <p:sp>
        <p:nvSpPr>
          <p:cNvPr id="444418" name="Slide Title"/>
          <p:cNvSpPr>
            <a:spLocks noGrp="1" noChangeArrowheads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/>
              <a:t>Съдържание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16469869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3600" dirty="0"/>
              <a:t>Въведение, видове, етапи, роли, цел и целеви групи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Уеб сайтове</a:t>
            </a:r>
            <a:endParaRPr lang="en-US" sz="6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94569CA-B2E8-B36B-E372-D9B43AC527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43513" y="1584000"/>
            <a:ext cx="2704973" cy="229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21944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pPr>
              <a:buClr>
                <a:schemeClr val="tx1"/>
              </a:buClr>
            </a:pPr>
            <a:r>
              <a:rPr lang="bg-BG" sz="3400" b="1" dirty="0"/>
              <a:t>Съвкупност</a:t>
            </a:r>
            <a:r>
              <a:rPr lang="bg-BG" sz="3400" dirty="0"/>
              <a:t> от </a:t>
            </a:r>
            <a:r>
              <a:rPr lang="bg-BG" sz="3400" b="1" dirty="0">
                <a:solidFill>
                  <a:schemeClr val="bg1"/>
                </a:solidFill>
              </a:rPr>
              <a:t>свързани помежду си уеб страници</a:t>
            </a:r>
          </a:p>
          <a:p>
            <a:pPr>
              <a:buClr>
                <a:schemeClr val="tx1"/>
              </a:buClr>
            </a:pPr>
            <a:r>
              <a:rPr lang="bg-BG" sz="3400" b="1" dirty="0"/>
              <a:t>Съхранява</a:t>
            </a:r>
            <a:r>
              <a:rPr lang="bg-BG" sz="3400" dirty="0"/>
              <a:t> се на </a:t>
            </a:r>
            <a:r>
              <a:rPr lang="bg-BG" sz="3400" b="1" dirty="0">
                <a:solidFill>
                  <a:schemeClr val="bg1"/>
                </a:solidFill>
              </a:rPr>
              <a:t>уеб сървър</a:t>
            </a:r>
            <a:r>
              <a:rPr lang="en-US" sz="3400" b="1" dirty="0">
                <a:solidFill>
                  <a:schemeClr val="bg1"/>
                </a:solidFill>
              </a:rPr>
              <a:t> </a:t>
            </a:r>
            <a:r>
              <a:rPr lang="en-US" sz="3400" dirty="0"/>
              <a:t>– </a:t>
            </a:r>
            <a:r>
              <a:rPr lang="bg-BG" sz="3400" b="1" dirty="0"/>
              <a:t>специализиран компютър</a:t>
            </a:r>
            <a:r>
              <a:rPr lang="bg-BG" sz="3400" dirty="0"/>
              <a:t>, предоставящ </a:t>
            </a:r>
            <a:r>
              <a:rPr lang="bg-BG" sz="3400" b="1" dirty="0"/>
              <a:t>достъп 24/7</a:t>
            </a:r>
            <a:endParaRPr lang="en-US" sz="3400" b="1" dirty="0"/>
          </a:p>
          <a:p>
            <a:pPr>
              <a:buClr>
                <a:schemeClr val="tx1"/>
              </a:buClr>
            </a:pPr>
            <a:r>
              <a:rPr lang="bg-BG" sz="3400" b="1" dirty="0"/>
              <a:t>Визуализира</a:t>
            </a:r>
            <a:r>
              <a:rPr lang="bg-BG" sz="3400" dirty="0"/>
              <a:t> се чрез </a:t>
            </a:r>
            <a:r>
              <a:rPr lang="bg-BG" sz="3400" b="1" dirty="0">
                <a:solidFill>
                  <a:schemeClr val="bg1"/>
                </a:solidFill>
              </a:rPr>
              <a:t>уеб браузър</a:t>
            </a:r>
          </a:p>
          <a:p>
            <a:pPr>
              <a:buClr>
                <a:schemeClr val="tx1"/>
              </a:buClr>
            </a:pPr>
            <a:r>
              <a:rPr lang="bg-BG" sz="3400" b="1" dirty="0"/>
              <a:t>Достъпва</a:t>
            </a:r>
            <a:r>
              <a:rPr lang="bg-BG" sz="3400" dirty="0"/>
              <a:t> се чрез неговия </a:t>
            </a:r>
            <a:r>
              <a:rPr lang="bg-BG" sz="3400" b="1" dirty="0">
                <a:solidFill>
                  <a:schemeClr val="bg1"/>
                </a:solidFill>
              </a:rPr>
              <a:t>интернет адрес </a:t>
            </a:r>
            <a:r>
              <a:rPr lang="bg-BG" sz="3400" b="1" dirty="0"/>
              <a:t>(</a:t>
            </a:r>
            <a:r>
              <a:rPr lang="en-US" sz="3400" b="1" dirty="0"/>
              <a:t>URL)</a:t>
            </a:r>
            <a:endParaRPr lang="bg-BG" sz="3400" b="1" dirty="0"/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Уеб сайт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26C0A9-C40C-F003-4371-98F6AFBB65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6000" y="4474891"/>
            <a:ext cx="4500000" cy="225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69551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64B2B8A-EBE7-D586-B8BA-76B382D61A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5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1FFBC2-1649-5CEB-A57B-2417DB0629B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7255598" cy="5528766"/>
          </a:xfrm>
        </p:spPr>
        <p:txBody>
          <a:bodyPr>
            <a:normAutofit/>
          </a:bodyPr>
          <a:lstStyle/>
          <a:p>
            <a:r>
              <a:rPr lang="bg-BG" b="1" dirty="0">
                <a:solidFill>
                  <a:schemeClr val="bg1"/>
                </a:solidFill>
              </a:rPr>
              <a:t>Статични уеб сайтове</a:t>
            </a:r>
          </a:p>
          <a:p>
            <a:pPr lvl="1"/>
            <a:r>
              <a:rPr lang="bg-BG" b="1" dirty="0"/>
              <a:t>Съдържанието</a:t>
            </a:r>
            <a:r>
              <a:rPr lang="bg-BG" dirty="0"/>
              <a:t> е </a:t>
            </a:r>
            <a:r>
              <a:rPr lang="bg-BG" b="1" dirty="0">
                <a:solidFill>
                  <a:schemeClr val="bg1"/>
                </a:solidFill>
              </a:rPr>
              <a:t>фиксирано</a:t>
            </a:r>
            <a:r>
              <a:rPr lang="bg-BG" dirty="0"/>
              <a:t> и се </a:t>
            </a:r>
            <a:r>
              <a:rPr lang="bg-BG" b="1" dirty="0"/>
              <a:t>променя само </a:t>
            </a:r>
            <a:r>
              <a:rPr lang="bg-BG" b="1" dirty="0">
                <a:solidFill>
                  <a:schemeClr val="bg1"/>
                </a:solidFill>
              </a:rPr>
              <a:t>ръчно</a:t>
            </a:r>
          </a:p>
          <a:p>
            <a:pPr lvl="1"/>
            <a:r>
              <a:rPr lang="bg-BG" dirty="0"/>
              <a:t>Подходящи за </a:t>
            </a:r>
            <a:r>
              <a:rPr lang="bg-BG" b="1" dirty="0">
                <a:solidFill>
                  <a:schemeClr val="bg1"/>
                </a:solidFill>
              </a:rPr>
              <a:t>малки уеб сайтове</a:t>
            </a:r>
            <a:r>
              <a:rPr lang="bg-BG" dirty="0"/>
              <a:t>, които </a:t>
            </a:r>
            <a:r>
              <a:rPr lang="bg-BG" b="1" dirty="0"/>
              <a:t>не се обновяват често</a:t>
            </a:r>
          </a:p>
          <a:p>
            <a:pPr lvl="1"/>
            <a:r>
              <a:rPr lang="bg-BG" b="1" dirty="0"/>
              <a:t>Пример</a:t>
            </a:r>
            <a:r>
              <a:rPr lang="en-US" b="1" dirty="0"/>
              <a:t>: </a:t>
            </a:r>
            <a:r>
              <a:rPr lang="bg-BG" dirty="0"/>
              <a:t>личен блог, презентация на фирма и др.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2341ECB-3F3D-C19E-E739-7078FCDA7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bg-BG" sz="4000" dirty="0"/>
              <a:t>Основни видове уеб сайтове (</a:t>
            </a:r>
            <a:r>
              <a:rPr lang="en-US" sz="4000" dirty="0"/>
              <a:t>1)</a:t>
            </a:r>
            <a:endParaRPr lang="en-BG" sz="4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5247035-18A1-9B9B-17BA-2C469D538C5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601" t="8416" r="15869" b="5734"/>
          <a:stretch/>
        </p:blipFill>
        <p:spPr>
          <a:xfrm>
            <a:off x="7063658" y="1899000"/>
            <a:ext cx="4689371" cy="3926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41967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extLst>
    <p:ext uri="{6950BFC3-D8DA-4A85-94F7-54DA5524770B}">
      <p188:commentRel xmlns:p188="http://schemas.microsoft.com/office/powerpoint/2018/8/main" r:id="rId2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64B2B8A-EBE7-D586-B8BA-76B382D61A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6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1FFBC2-1649-5CEB-A57B-2417DB0629B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6850598" cy="5528766"/>
          </a:xfrm>
        </p:spPr>
        <p:txBody>
          <a:bodyPr>
            <a:normAutofit/>
          </a:bodyPr>
          <a:lstStyle/>
          <a:p>
            <a:r>
              <a:rPr lang="bg-BG" b="1" dirty="0">
                <a:solidFill>
                  <a:schemeClr val="bg1"/>
                </a:solidFill>
              </a:rPr>
              <a:t>Динамични уеб сайтове</a:t>
            </a:r>
          </a:p>
          <a:p>
            <a:pPr lvl="1"/>
            <a:r>
              <a:rPr lang="bg-BG" b="1" dirty="0"/>
              <a:t>Съдържанието</a:t>
            </a:r>
            <a:r>
              <a:rPr lang="bg-BG" dirty="0"/>
              <a:t> се </a:t>
            </a:r>
            <a:r>
              <a:rPr lang="bg-BG" b="1" dirty="0">
                <a:solidFill>
                  <a:schemeClr val="bg1"/>
                </a:solidFill>
              </a:rPr>
              <a:t>генерира автоматично </a:t>
            </a:r>
            <a:r>
              <a:rPr lang="bg-BG" dirty="0"/>
              <a:t>при </a:t>
            </a:r>
            <a:r>
              <a:rPr lang="bg-BG" b="1" dirty="0"/>
              <a:t>зареждане</a:t>
            </a:r>
            <a:r>
              <a:rPr lang="bg-BG" dirty="0"/>
              <a:t> на </a:t>
            </a:r>
            <a:r>
              <a:rPr lang="bg-BG" b="1" dirty="0"/>
              <a:t>страницата</a:t>
            </a:r>
          </a:p>
          <a:p>
            <a:pPr lvl="1"/>
            <a:r>
              <a:rPr lang="bg-BG" dirty="0"/>
              <a:t>Подходящи за </a:t>
            </a:r>
            <a:r>
              <a:rPr lang="bg-BG" b="1" dirty="0"/>
              <a:t>уеб сайтове</a:t>
            </a:r>
            <a:r>
              <a:rPr lang="bg-BG" dirty="0"/>
              <a:t> с </a:t>
            </a:r>
            <a:r>
              <a:rPr lang="bg-BG" b="1" dirty="0"/>
              <a:t>често обновяваща се информация</a:t>
            </a:r>
          </a:p>
          <a:p>
            <a:pPr lvl="1"/>
            <a:r>
              <a:rPr lang="bg-BG" b="1" dirty="0"/>
              <a:t>Пример</a:t>
            </a:r>
            <a:r>
              <a:rPr lang="en-US" b="1" dirty="0"/>
              <a:t>:</a:t>
            </a:r>
            <a:r>
              <a:rPr lang="bg-BG" b="1" dirty="0"/>
              <a:t> </a:t>
            </a:r>
            <a:r>
              <a:rPr lang="bg-BG" dirty="0"/>
              <a:t>новинарски уеб сайт, социална мрежа и др.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2341ECB-3F3D-C19E-E739-7078FCDA7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bg-BG" sz="4000" dirty="0"/>
              <a:t>Основни видове уеб сайтове</a:t>
            </a:r>
            <a:r>
              <a:rPr lang="en-US" sz="4000" dirty="0"/>
              <a:t> (2)</a:t>
            </a:r>
            <a:endParaRPr lang="en-BG" sz="40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E6641C3-4CDD-DF57-FD49-B3BE49F32D2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7" t="5412" r="3131" b="7533"/>
          <a:stretch/>
        </p:blipFill>
        <p:spPr>
          <a:xfrm>
            <a:off x="6912752" y="2168416"/>
            <a:ext cx="5023985" cy="3584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9425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extLst>
    <p:ext uri="{6950BFC3-D8DA-4A85-94F7-54DA5524770B}">
      <p188:commentRel xmlns:p188="http://schemas.microsoft.com/office/powerpoint/2018/8/main" r:id="rId2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7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7B6A643-676D-3506-B008-B24B36AA3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bg-BG" dirty="0"/>
              <a:t>Видове уеб сайтове според предназначението (1)</a:t>
            </a:r>
            <a:endParaRPr lang="en-BG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BFEFCDD-E454-D1E7-D67F-EE67BB2A7AC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600" b="1" dirty="0">
                <a:solidFill>
                  <a:schemeClr val="bg1"/>
                </a:solidFill>
              </a:rPr>
              <a:t>Информационни</a:t>
            </a:r>
          </a:p>
          <a:p>
            <a:pPr lvl="1"/>
            <a:r>
              <a:rPr lang="bg-BG" sz="3400" b="1" dirty="0"/>
              <a:t>Статии</a:t>
            </a:r>
            <a:r>
              <a:rPr lang="bg-BG" sz="3400" dirty="0"/>
              <a:t>, </a:t>
            </a:r>
            <a:r>
              <a:rPr lang="bg-BG" sz="3400" b="1" dirty="0"/>
              <a:t>новини</a:t>
            </a:r>
            <a:r>
              <a:rPr lang="bg-BG" sz="3400" dirty="0"/>
              <a:t>, </a:t>
            </a:r>
            <a:r>
              <a:rPr lang="bg-BG" sz="3400" b="1" dirty="0"/>
              <a:t>данни</a:t>
            </a:r>
            <a:r>
              <a:rPr lang="bg-BG" sz="3400" dirty="0"/>
              <a:t> (напр. новинарски уеб сайтове</a:t>
            </a:r>
            <a:r>
              <a:rPr lang="en-US" sz="3400" dirty="0"/>
              <a:t>)</a:t>
            </a:r>
            <a:endParaRPr lang="bg-BG" sz="3400" dirty="0"/>
          </a:p>
          <a:p>
            <a:r>
              <a:rPr lang="bg-BG" sz="3600" b="1" dirty="0">
                <a:solidFill>
                  <a:schemeClr val="bg1"/>
                </a:solidFill>
              </a:rPr>
              <a:t>Корпоративни</a:t>
            </a:r>
          </a:p>
          <a:p>
            <a:pPr lvl="1"/>
            <a:r>
              <a:rPr lang="bg-BG" sz="3400" dirty="0"/>
              <a:t>Представят </a:t>
            </a:r>
            <a:r>
              <a:rPr lang="bg-BG" sz="3400" b="1" dirty="0"/>
              <a:t>дейността</a:t>
            </a:r>
            <a:r>
              <a:rPr lang="bg-BG" sz="3400" dirty="0"/>
              <a:t> на </a:t>
            </a:r>
            <a:r>
              <a:rPr lang="bg-BG" sz="3400" b="1" dirty="0"/>
              <a:t>фирма</a:t>
            </a:r>
            <a:r>
              <a:rPr lang="bg-BG" sz="3400" dirty="0"/>
              <a:t> или </a:t>
            </a:r>
            <a:r>
              <a:rPr lang="bg-BG" sz="3400" b="1" dirty="0"/>
              <a:t>организация</a:t>
            </a:r>
          </a:p>
          <a:p>
            <a:r>
              <a:rPr lang="bg-BG" sz="3600" b="1" dirty="0">
                <a:solidFill>
                  <a:schemeClr val="bg1"/>
                </a:solidFill>
              </a:rPr>
              <a:t>Образователни</a:t>
            </a:r>
          </a:p>
          <a:p>
            <a:pPr lvl="1"/>
            <a:r>
              <a:rPr lang="bg-BG" sz="3400" dirty="0"/>
              <a:t>Споделят </a:t>
            </a:r>
            <a:r>
              <a:rPr lang="bg-BG" sz="3400" b="1" dirty="0"/>
              <a:t>учебни материали</a:t>
            </a:r>
            <a:r>
              <a:rPr lang="bg-BG" sz="3400" dirty="0"/>
              <a:t>, </a:t>
            </a:r>
            <a:r>
              <a:rPr lang="bg-BG" sz="3400" b="1" dirty="0"/>
              <a:t>курсове</a:t>
            </a:r>
            <a:r>
              <a:rPr lang="bg-BG" sz="3400" dirty="0"/>
              <a:t>, </a:t>
            </a:r>
            <a:r>
              <a:rPr lang="bg-BG" sz="3400" b="1" dirty="0"/>
              <a:t>ресурси</a:t>
            </a:r>
          </a:p>
        </p:txBody>
      </p:sp>
    </p:spTree>
    <p:extLst>
      <p:ext uri="{BB962C8B-B14F-4D97-AF65-F5344CB8AC3E}">
        <p14:creationId xmlns:p14="http://schemas.microsoft.com/office/powerpoint/2010/main" val="23027982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extLst>
    <p:ext uri="{6950BFC3-D8DA-4A85-94F7-54DA5524770B}">
      <p188:commentRel xmlns:p188="http://schemas.microsoft.com/office/powerpoint/2018/8/main" r:id="rId2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8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7B6A643-676D-3506-B008-B24B36AA3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bg-BG" dirty="0"/>
              <a:t>Видове уеб сайтове според предназначението</a:t>
            </a:r>
            <a:r>
              <a:rPr lang="en-US" dirty="0"/>
              <a:t> (2)</a:t>
            </a:r>
            <a:endParaRPr lang="en-BG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BFEFCDD-E454-D1E7-D67F-EE67BB2A7AC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600" b="1" dirty="0">
                <a:solidFill>
                  <a:schemeClr val="bg1"/>
                </a:solidFill>
              </a:rPr>
              <a:t>Търговски </a:t>
            </a:r>
            <a:r>
              <a:rPr lang="en-US" sz="3600" b="1" dirty="0"/>
              <a:t>(</a:t>
            </a:r>
            <a:r>
              <a:rPr lang="bg-BG" sz="3600" b="1" dirty="0"/>
              <a:t>електронна търговия</a:t>
            </a:r>
            <a:r>
              <a:rPr lang="en-US" sz="3600" b="1" dirty="0"/>
              <a:t>)</a:t>
            </a:r>
            <a:endParaRPr lang="bg-BG" sz="3600" b="1" dirty="0"/>
          </a:p>
          <a:p>
            <a:pPr lvl="1"/>
            <a:r>
              <a:rPr lang="bg-BG" sz="3400" b="1" dirty="0"/>
              <a:t>Онлайн магазини </a:t>
            </a:r>
            <a:r>
              <a:rPr lang="bg-BG" sz="3400" dirty="0"/>
              <a:t>и </a:t>
            </a:r>
            <a:r>
              <a:rPr lang="bg-BG" sz="3400" b="1" dirty="0"/>
              <a:t>услуги</a:t>
            </a:r>
          </a:p>
          <a:p>
            <a:r>
              <a:rPr lang="bg-BG" sz="3600" b="1" dirty="0">
                <a:solidFill>
                  <a:schemeClr val="bg1"/>
                </a:solidFill>
              </a:rPr>
              <a:t>Блогове</a:t>
            </a:r>
          </a:p>
          <a:p>
            <a:pPr lvl="1"/>
            <a:r>
              <a:rPr lang="bg-BG" sz="3400" dirty="0"/>
              <a:t>Представят </a:t>
            </a:r>
            <a:r>
              <a:rPr lang="bg-BG" sz="3400" b="1" dirty="0"/>
              <a:t>интереси</a:t>
            </a:r>
            <a:r>
              <a:rPr lang="bg-BG" sz="3400" dirty="0"/>
              <a:t>, </a:t>
            </a:r>
            <a:r>
              <a:rPr lang="bg-BG" sz="3400" b="1" dirty="0"/>
              <a:t>идеи</a:t>
            </a:r>
            <a:r>
              <a:rPr lang="bg-BG" sz="3400" dirty="0"/>
              <a:t> или </a:t>
            </a:r>
            <a:r>
              <a:rPr lang="bg-BG" sz="3400" b="1" dirty="0"/>
              <a:t>мнения на автор</a:t>
            </a:r>
          </a:p>
          <a:p>
            <a:r>
              <a:rPr lang="bg-BG" sz="3600" b="1" dirty="0">
                <a:solidFill>
                  <a:schemeClr val="bg1"/>
                </a:solidFill>
              </a:rPr>
              <a:t>Портфолио</a:t>
            </a:r>
          </a:p>
          <a:p>
            <a:pPr lvl="1"/>
            <a:r>
              <a:rPr lang="bg-BG" sz="3400" dirty="0"/>
              <a:t>Показват </a:t>
            </a:r>
            <a:r>
              <a:rPr lang="bg-BG" sz="3400" b="1" dirty="0"/>
              <a:t>професионални проекти </a:t>
            </a:r>
            <a:r>
              <a:rPr lang="bg-BG" sz="3400" dirty="0"/>
              <a:t>и </a:t>
            </a:r>
            <a:r>
              <a:rPr lang="bg-BG" sz="3400" b="1" dirty="0"/>
              <a:t>умения</a:t>
            </a:r>
          </a:p>
          <a:p>
            <a:pPr marL="442912" lvl="1" indent="0">
              <a:buNone/>
            </a:pPr>
            <a:endParaRPr lang="en-BG" sz="3000" dirty="0"/>
          </a:p>
        </p:txBody>
      </p:sp>
    </p:spTree>
    <p:extLst>
      <p:ext uri="{BB962C8B-B14F-4D97-AF65-F5344CB8AC3E}">
        <p14:creationId xmlns:p14="http://schemas.microsoft.com/office/powerpoint/2010/main" val="13301133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9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7B6A643-676D-3506-B008-B24B36AA3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Етапи при създаване на уеб сайт (1)</a:t>
            </a:r>
            <a:endParaRPr lang="en-BG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6486B41-E9E8-6ADF-298B-626343A46E18}"/>
              </a:ext>
            </a:extLst>
          </p:cNvPr>
          <p:cNvGrpSpPr/>
          <p:nvPr/>
        </p:nvGrpSpPr>
        <p:grpSpPr>
          <a:xfrm>
            <a:off x="6545661" y="1283467"/>
            <a:ext cx="5391076" cy="5473783"/>
            <a:chOff x="3666000" y="1295766"/>
            <a:chExt cx="5391076" cy="5473783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F1EB0F5D-20F4-F0CB-CF18-1147D5D071EE}"/>
                </a:ext>
              </a:extLst>
            </p:cNvPr>
            <p:cNvGrpSpPr/>
            <p:nvPr/>
          </p:nvGrpSpPr>
          <p:grpSpPr>
            <a:xfrm>
              <a:off x="3666000" y="1295766"/>
              <a:ext cx="5391076" cy="5473783"/>
              <a:chOff x="909424" y="1283467"/>
              <a:chExt cx="5018976" cy="5018976"/>
            </a:xfrm>
          </p:grpSpPr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348478E3-77F5-6C7F-D884-6BF47EEAF935}"/>
                  </a:ext>
                </a:extLst>
              </p:cNvPr>
              <p:cNvGrpSpPr/>
              <p:nvPr/>
            </p:nvGrpSpPr>
            <p:grpSpPr>
              <a:xfrm>
                <a:off x="909424" y="1283467"/>
                <a:ext cx="5018976" cy="5018976"/>
                <a:chOff x="-6580188" y="39688"/>
                <a:chExt cx="6372225" cy="6372225"/>
              </a:xfrm>
              <a:gradFill>
                <a:gsLst>
                  <a:gs pos="0">
                    <a:schemeClr val="tx2">
                      <a:shade val="30000"/>
                      <a:satMod val="115000"/>
                    </a:schemeClr>
                  </a:gs>
                  <a:gs pos="50000">
                    <a:schemeClr val="tx2">
                      <a:shade val="67500"/>
                      <a:satMod val="115000"/>
                    </a:schemeClr>
                  </a:gs>
                  <a:gs pos="100000">
                    <a:schemeClr val="tx2">
                      <a:shade val="100000"/>
                      <a:satMod val="115000"/>
                    </a:schemeClr>
                  </a:gs>
                </a:gsLst>
                <a:lin ang="16200000" scaled="1"/>
              </a:gradFill>
            </p:grpSpPr>
            <p:sp>
              <p:nvSpPr>
                <p:cNvPr id="17" name="Freeform 16">
                  <a:extLst>
                    <a:ext uri="{FF2B5EF4-FFF2-40B4-BE49-F238E27FC236}">
                      <a16:creationId xmlns:a16="http://schemas.microsoft.com/office/drawing/2014/main" id="{82A88D29-8210-27EC-0D6A-3446365441E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-5886451" y="4559300"/>
                  <a:ext cx="2825750" cy="1852613"/>
                </a:xfrm>
                <a:custGeom>
                  <a:avLst/>
                  <a:gdLst>
                    <a:gd name="T0" fmla="*/ 692 w 752"/>
                    <a:gd name="T1" fmla="*/ 248 h 493"/>
                    <a:gd name="T2" fmla="*/ 663 w 752"/>
                    <a:gd name="T3" fmla="*/ 249 h 493"/>
                    <a:gd name="T4" fmla="*/ 175 w 752"/>
                    <a:gd name="T5" fmla="*/ 0 h 493"/>
                    <a:gd name="T6" fmla="*/ 41 w 752"/>
                    <a:gd name="T7" fmla="*/ 14 h 493"/>
                    <a:gd name="T8" fmla="*/ 0 w 752"/>
                    <a:gd name="T9" fmla="*/ 175 h 493"/>
                    <a:gd name="T10" fmla="*/ 663 w 752"/>
                    <a:gd name="T11" fmla="*/ 493 h 493"/>
                    <a:gd name="T12" fmla="*/ 752 w 752"/>
                    <a:gd name="T13" fmla="*/ 489 h 493"/>
                    <a:gd name="T14" fmla="*/ 635 w 752"/>
                    <a:gd name="T15" fmla="*/ 372 h 493"/>
                    <a:gd name="T16" fmla="*/ 692 w 752"/>
                    <a:gd name="T17" fmla="*/ 248 h 4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52" h="493">
                      <a:moveTo>
                        <a:pt x="692" y="248"/>
                      </a:moveTo>
                      <a:cubicBezTo>
                        <a:pt x="682" y="248"/>
                        <a:pt x="673" y="249"/>
                        <a:pt x="663" y="249"/>
                      </a:cubicBezTo>
                      <a:cubicBezTo>
                        <a:pt x="462" y="249"/>
                        <a:pt x="284" y="151"/>
                        <a:pt x="175" y="0"/>
                      </a:cubicBezTo>
                      <a:cubicBezTo>
                        <a:pt x="41" y="14"/>
                        <a:pt x="41" y="14"/>
                        <a:pt x="41" y="14"/>
                      </a:cubicBezTo>
                      <a:cubicBezTo>
                        <a:pt x="0" y="175"/>
                        <a:pt x="0" y="175"/>
                        <a:pt x="0" y="175"/>
                      </a:cubicBezTo>
                      <a:cubicBezTo>
                        <a:pt x="156" y="369"/>
                        <a:pt x="395" y="493"/>
                        <a:pt x="663" y="493"/>
                      </a:cubicBezTo>
                      <a:cubicBezTo>
                        <a:pt x="693" y="493"/>
                        <a:pt x="723" y="492"/>
                        <a:pt x="752" y="489"/>
                      </a:cubicBezTo>
                      <a:cubicBezTo>
                        <a:pt x="635" y="372"/>
                        <a:pt x="635" y="372"/>
                        <a:pt x="635" y="372"/>
                      </a:cubicBezTo>
                      <a:lnTo>
                        <a:pt x="692" y="248"/>
                      </a:lnTo>
                      <a:close/>
                    </a:path>
                  </a:pathLst>
                </a:custGeom>
                <a:solidFill>
                  <a:srgbClr val="45C7FF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C8CE9A41-50F9-E89A-0242-A1B2B6E8225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-3962401" y="39688"/>
                  <a:ext cx="3116263" cy="1922463"/>
                </a:xfrm>
                <a:custGeom>
                  <a:avLst/>
                  <a:gdLst>
                    <a:gd name="T0" fmla="*/ 77 w 829"/>
                    <a:gd name="T1" fmla="*/ 249 h 512"/>
                    <a:gd name="T2" fmla="*/ 151 w 829"/>
                    <a:gd name="T3" fmla="*/ 245 h 512"/>
                    <a:gd name="T4" fmla="*/ 652 w 829"/>
                    <a:gd name="T5" fmla="*/ 512 h 512"/>
                    <a:gd name="T6" fmla="*/ 782 w 829"/>
                    <a:gd name="T7" fmla="*/ 503 h 512"/>
                    <a:gd name="T8" fmla="*/ 829 w 829"/>
                    <a:gd name="T9" fmla="*/ 340 h 512"/>
                    <a:gd name="T10" fmla="*/ 151 w 829"/>
                    <a:gd name="T11" fmla="*/ 0 h 512"/>
                    <a:gd name="T12" fmla="*/ 0 w 829"/>
                    <a:gd name="T13" fmla="*/ 14 h 512"/>
                    <a:gd name="T14" fmla="*/ 125 w 829"/>
                    <a:gd name="T15" fmla="*/ 123 h 512"/>
                    <a:gd name="T16" fmla="*/ 77 w 829"/>
                    <a:gd name="T17" fmla="*/ 249 h 5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829" h="512">
                      <a:moveTo>
                        <a:pt x="77" y="249"/>
                      </a:moveTo>
                      <a:cubicBezTo>
                        <a:pt x="101" y="247"/>
                        <a:pt x="126" y="245"/>
                        <a:pt x="151" y="245"/>
                      </a:cubicBezTo>
                      <a:cubicBezTo>
                        <a:pt x="359" y="245"/>
                        <a:pt x="543" y="351"/>
                        <a:pt x="652" y="512"/>
                      </a:cubicBezTo>
                      <a:cubicBezTo>
                        <a:pt x="782" y="503"/>
                        <a:pt x="782" y="503"/>
                        <a:pt x="782" y="503"/>
                      </a:cubicBezTo>
                      <a:cubicBezTo>
                        <a:pt x="829" y="340"/>
                        <a:pt x="829" y="340"/>
                        <a:pt x="829" y="340"/>
                      </a:cubicBezTo>
                      <a:cubicBezTo>
                        <a:pt x="675" y="134"/>
                        <a:pt x="428" y="0"/>
                        <a:pt x="151" y="0"/>
                      </a:cubicBezTo>
                      <a:cubicBezTo>
                        <a:pt x="99" y="0"/>
                        <a:pt x="49" y="5"/>
                        <a:pt x="0" y="14"/>
                      </a:cubicBezTo>
                      <a:cubicBezTo>
                        <a:pt x="125" y="123"/>
                        <a:pt x="125" y="123"/>
                        <a:pt x="125" y="123"/>
                      </a:cubicBezTo>
                      <a:lnTo>
                        <a:pt x="77" y="249"/>
                      </a:lnTo>
                      <a:close/>
                    </a:path>
                  </a:pathLst>
                </a:custGeom>
                <a:solidFill>
                  <a:srgbClr val="FDA54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" name="Freeform 18">
                  <a:extLst>
                    <a:ext uri="{FF2B5EF4-FFF2-40B4-BE49-F238E27FC236}">
                      <a16:creationId xmlns:a16="http://schemas.microsoft.com/office/drawing/2014/main" id="{A9C68926-88CE-6647-F2DF-F1916085CC2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-6445251" y="109538"/>
                  <a:ext cx="2867025" cy="2338388"/>
                </a:xfrm>
                <a:custGeom>
                  <a:avLst/>
                  <a:gdLst>
                    <a:gd name="T0" fmla="*/ 245 w 763"/>
                    <a:gd name="T1" fmla="*/ 622 h 622"/>
                    <a:gd name="T2" fmla="*/ 716 w 763"/>
                    <a:gd name="T3" fmla="*/ 234 h 622"/>
                    <a:gd name="T4" fmla="*/ 763 w 763"/>
                    <a:gd name="T5" fmla="*/ 110 h 622"/>
                    <a:gd name="T6" fmla="*/ 636 w 763"/>
                    <a:gd name="T7" fmla="*/ 0 h 622"/>
                    <a:gd name="T8" fmla="*/ 0 w 763"/>
                    <a:gd name="T9" fmla="*/ 582 h 622"/>
                    <a:gd name="T10" fmla="*/ 153 w 763"/>
                    <a:gd name="T11" fmla="*/ 521 h 622"/>
                    <a:gd name="T12" fmla="*/ 245 w 763"/>
                    <a:gd name="T13" fmla="*/ 622 h 62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763" h="622">
                      <a:moveTo>
                        <a:pt x="245" y="622"/>
                      </a:moveTo>
                      <a:cubicBezTo>
                        <a:pt x="319" y="420"/>
                        <a:pt x="498" y="269"/>
                        <a:pt x="716" y="234"/>
                      </a:cubicBezTo>
                      <a:cubicBezTo>
                        <a:pt x="763" y="110"/>
                        <a:pt x="763" y="110"/>
                        <a:pt x="763" y="110"/>
                      </a:cubicBezTo>
                      <a:cubicBezTo>
                        <a:pt x="636" y="0"/>
                        <a:pt x="636" y="0"/>
                        <a:pt x="636" y="0"/>
                      </a:cubicBezTo>
                      <a:cubicBezTo>
                        <a:pt x="333" y="63"/>
                        <a:pt x="90" y="289"/>
                        <a:pt x="0" y="582"/>
                      </a:cubicBezTo>
                      <a:cubicBezTo>
                        <a:pt x="153" y="521"/>
                        <a:pt x="153" y="521"/>
                        <a:pt x="153" y="521"/>
                      </a:cubicBezTo>
                      <a:lnTo>
                        <a:pt x="245" y="622"/>
                      </a:lnTo>
                      <a:close/>
                    </a:path>
                  </a:pathLst>
                </a:custGeom>
                <a:solidFill>
                  <a:srgbClr val="FF3DE3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0F08766D-DA82-6D0A-6C01-65B59905906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-3409951" y="4311650"/>
                  <a:ext cx="2901950" cy="2073275"/>
                </a:xfrm>
                <a:custGeom>
                  <a:avLst/>
                  <a:gdLst>
                    <a:gd name="T0" fmla="*/ 772 w 772"/>
                    <a:gd name="T1" fmla="*/ 71 h 552"/>
                    <a:gd name="T2" fmla="*/ 609 w 772"/>
                    <a:gd name="T3" fmla="*/ 111 h 552"/>
                    <a:gd name="T4" fmla="*/ 534 w 772"/>
                    <a:gd name="T5" fmla="*/ 0 h 552"/>
                    <a:gd name="T6" fmla="*/ 56 w 772"/>
                    <a:gd name="T7" fmla="*/ 312 h 552"/>
                    <a:gd name="T8" fmla="*/ 0 w 772"/>
                    <a:gd name="T9" fmla="*/ 434 h 552"/>
                    <a:gd name="T10" fmla="*/ 118 w 772"/>
                    <a:gd name="T11" fmla="*/ 552 h 552"/>
                    <a:gd name="T12" fmla="*/ 772 w 772"/>
                    <a:gd name="T13" fmla="*/ 71 h 55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772" h="552">
                      <a:moveTo>
                        <a:pt x="772" y="71"/>
                      </a:moveTo>
                      <a:cubicBezTo>
                        <a:pt x="609" y="111"/>
                        <a:pt x="609" y="111"/>
                        <a:pt x="609" y="111"/>
                      </a:cubicBezTo>
                      <a:cubicBezTo>
                        <a:pt x="534" y="0"/>
                        <a:pt x="534" y="0"/>
                        <a:pt x="534" y="0"/>
                      </a:cubicBezTo>
                      <a:cubicBezTo>
                        <a:pt x="439" y="173"/>
                        <a:pt x="262" y="295"/>
                        <a:pt x="56" y="312"/>
                      </a:cubicBezTo>
                      <a:cubicBezTo>
                        <a:pt x="0" y="434"/>
                        <a:pt x="0" y="434"/>
                        <a:pt x="0" y="434"/>
                      </a:cubicBezTo>
                      <a:cubicBezTo>
                        <a:pt x="118" y="552"/>
                        <a:pt x="118" y="552"/>
                        <a:pt x="118" y="552"/>
                      </a:cubicBezTo>
                      <a:cubicBezTo>
                        <a:pt x="408" y="513"/>
                        <a:pt x="652" y="327"/>
                        <a:pt x="772" y="71"/>
                      </a:cubicBezTo>
                      <a:close/>
                    </a:path>
                  </a:pathLst>
                </a:custGeom>
                <a:solidFill>
                  <a:srgbClr val="79D806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61D5C2E6-21AB-766A-AF53-789858F7416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-1466851" y="1392238"/>
                  <a:ext cx="1258888" cy="3252788"/>
                </a:xfrm>
                <a:custGeom>
                  <a:avLst/>
                  <a:gdLst>
                    <a:gd name="T0" fmla="*/ 0 w 335"/>
                    <a:gd name="T1" fmla="*/ 171 h 866"/>
                    <a:gd name="T2" fmla="*/ 90 w 335"/>
                    <a:gd name="T3" fmla="*/ 488 h 866"/>
                    <a:gd name="T4" fmla="*/ 27 w 335"/>
                    <a:gd name="T5" fmla="*/ 757 h 866"/>
                    <a:gd name="T6" fmla="*/ 101 w 335"/>
                    <a:gd name="T7" fmla="*/ 866 h 866"/>
                    <a:gd name="T8" fmla="*/ 265 w 335"/>
                    <a:gd name="T9" fmla="*/ 825 h 866"/>
                    <a:gd name="T10" fmla="*/ 335 w 335"/>
                    <a:gd name="T11" fmla="*/ 488 h 866"/>
                    <a:gd name="T12" fmla="*/ 180 w 335"/>
                    <a:gd name="T13" fmla="*/ 0 h 866"/>
                    <a:gd name="T14" fmla="*/ 133 w 335"/>
                    <a:gd name="T15" fmla="*/ 162 h 866"/>
                    <a:gd name="T16" fmla="*/ 0 w 335"/>
                    <a:gd name="T17" fmla="*/ 171 h 8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335" h="866">
                      <a:moveTo>
                        <a:pt x="0" y="171"/>
                      </a:moveTo>
                      <a:cubicBezTo>
                        <a:pt x="57" y="264"/>
                        <a:pt x="90" y="372"/>
                        <a:pt x="90" y="488"/>
                      </a:cubicBezTo>
                      <a:cubicBezTo>
                        <a:pt x="90" y="585"/>
                        <a:pt x="67" y="676"/>
                        <a:pt x="27" y="757"/>
                      </a:cubicBezTo>
                      <a:cubicBezTo>
                        <a:pt x="101" y="866"/>
                        <a:pt x="101" y="866"/>
                        <a:pt x="101" y="866"/>
                      </a:cubicBezTo>
                      <a:cubicBezTo>
                        <a:pt x="265" y="825"/>
                        <a:pt x="265" y="825"/>
                        <a:pt x="265" y="825"/>
                      </a:cubicBezTo>
                      <a:cubicBezTo>
                        <a:pt x="310" y="722"/>
                        <a:pt x="335" y="608"/>
                        <a:pt x="335" y="488"/>
                      </a:cubicBezTo>
                      <a:cubicBezTo>
                        <a:pt x="335" y="307"/>
                        <a:pt x="278" y="138"/>
                        <a:pt x="180" y="0"/>
                      </a:cubicBezTo>
                      <a:cubicBezTo>
                        <a:pt x="133" y="162"/>
                        <a:pt x="133" y="162"/>
                        <a:pt x="133" y="162"/>
                      </a:cubicBezTo>
                      <a:lnTo>
                        <a:pt x="0" y="171"/>
                      </a:lnTo>
                      <a:close/>
                    </a:path>
                  </a:pathLst>
                </a:custGeom>
                <a:solidFill>
                  <a:srgbClr val="FFF53A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" name="Freeform 21">
                  <a:extLst>
                    <a:ext uri="{FF2B5EF4-FFF2-40B4-BE49-F238E27FC236}">
                      <a16:creationId xmlns:a16="http://schemas.microsoft.com/office/drawing/2014/main" id="{176675EC-AED2-2C36-4A57-3F25BFB2B9E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-6580188" y="2154238"/>
                  <a:ext cx="1300163" cy="2987675"/>
                </a:xfrm>
                <a:custGeom>
                  <a:avLst/>
                  <a:gdLst>
                    <a:gd name="T0" fmla="*/ 346 w 346"/>
                    <a:gd name="T1" fmla="*/ 621 h 795"/>
                    <a:gd name="T2" fmla="*/ 244 w 346"/>
                    <a:gd name="T3" fmla="*/ 285 h 795"/>
                    <a:gd name="T4" fmla="*/ 273 w 346"/>
                    <a:gd name="T5" fmla="*/ 100 h 795"/>
                    <a:gd name="T6" fmla="*/ 183 w 346"/>
                    <a:gd name="T7" fmla="*/ 0 h 795"/>
                    <a:gd name="T8" fmla="*/ 29 w 346"/>
                    <a:gd name="T9" fmla="*/ 62 h 795"/>
                    <a:gd name="T10" fmla="*/ 0 w 346"/>
                    <a:gd name="T11" fmla="*/ 285 h 795"/>
                    <a:gd name="T12" fmla="*/ 170 w 346"/>
                    <a:gd name="T13" fmla="*/ 795 h 795"/>
                    <a:gd name="T14" fmla="*/ 210 w 346"/>
                    <a:gd name="T15" fmla="*/ 636 h 795"/>
                    <a:gd name="T16" fmla="*/ 346 w 346"/>
                    <a:gd name="T17" fmla="*/ 621 h 79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346" h="795">
                      <a:moveTo>
                        <a:pt x="346" y="621"/>
                      </a:moveTo>
                      <a:cubicBezTo>
                        <a:pt x="282" y="525"/>
                        <a:pt x="244" y="410"/>
                        <a:pt x="244" y="285"/>
                      </a:cubicBezTo>
                      <a:cubicBezTo>
                        <a:pt x="244" y="221"/>
                        <a:pt x="255" y="158"/>
                        <a:pt x="273" y="100"/>
                      </a:cubicBezTo>
                      <a:cubicBezTo>
                        <a:pt x="183" y="0"/>
                        <a:pt x="183" y="0"/>
                        <a:pt x="183" y="0"/>
                      </a:cubicBezTo>
                      <a:cubicBezTo>
                        <a:pt x="29" y="62"/>
                        <a:pt x="29" y="62"/>
                        <a:pt x="29" y="62"/>
                      </a:cubicBezTo>
                      <a:cubicBezTo>
                        <a:pt x="10" y="133"/>
                        <a:pt x="0" y="208"/>
                        <a:pt x="0" y="285"/>
                      </a:cubicBezTo>
                      <a:cubicBezTo>
                        <a:pt x="0" y="476"/>
                        <a:pt x="63" y="653"/>
                        <a:pt x="170" y="795"/>
                      </a:cubicBezTo>
                      <a:cubicBezTo>
                        <a:pt x="210" y="636"/>
                        <a:pt x="210" y="636"/>
                        <a:pt x="210" y="636"/>
                      </a:cubicBezTo>
                      <a:lnTo>
                        <a:pt x="346" y="621"/>
                      </a:lnTo>
                      <a:close/>
                    </a:path>
                  </a:pathLst>
                </a:custGeom>
                <a:solidFill>
                  <a:srgbClr val="FF3D3F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42474CF-CE89-3206-36C9-334990AADCE5}"/>
                  </a:ext>
                </a:extLst>
              </p:cNvPr>
              <p:cNvSpPr txBox="1"/>
              <p:nvPr/>
            </p:nvSpPr>
            <p:spPr>
              <a:xfrm rot="19347858">
                <a:off x="1339383" y="1910051"/>
                <a:ext cx="2853145" cy="1990673"/>
              </a:xfrm>
              <a:prstGeom prst="rect">
                <a:avLst/>
              </a:prstGeom>
              <a:noFill/>
            </p:spPr>
            <p:txBody>
              <a:bodyPr wrap="none" rtlCol="0">
                <a:prstTxWarp prst="textArchUp">
                  <a:avLst>
                    <a:gd name="adj" fmla="val 8626940"/>
                  </a:avLst>
                </a:prstTxWarp>
                <a:spAutoFit/>
              </a:bodyPr>
              <a:lstStyle/>
              <a:p>
                <a:pPr algn="ctr">
                  <a:lnSpc>
                    <a:spcPct val="90000"/>
                  </a:lnSpc>
                </a:pPr>
                <a:r>
                  <a:rPr lang="bg-BG" sz="2000" b="1" dirty="0">
                    <a:solidFill>
                      <a:srgbClr val="000000"/>
                    </a:solidFill>
                    <a:cs typeface="Calibri" panose="020F0502020204030204" pitchFamily="34" charset="0"/>
                  </a:rPr>
                  <a:t>Оптимизация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14462DB-BE8E-04E9-52D4-C1B9BA7376FD}"/>
                  </a:ext>
                </a:extLst>
              </p:cNvPr>
              <p:cNvSpPr txBox="1"/>
              <p:nvPr/>
            </p:nvSpPr>
            <p:spPr>
              <a:xfrm rot="1430453">
                <a:off x="2500631" y="1819971"/>
                <a:ext cx="2853145" cy="1990673"/>
              </a:xfrm>
              <a:prstGeom prst="rect">
                <a:avLst/>
              </a:prstGeom>
              <a:noFill/>
            </p:spPr>
            <p:txBody>
              <a:bodyPr wrap="none" rtlCol="0">
                <a:prstTxWarp prst="textArchUp">
                  <a:avLst>
                    <a:gd name="adj" fmla="val 8626940"/>
                  </a:avLst>
                </a:prstTxWarp>
                <a:spAutoFit/>
              </a:bodyPr>
              <a:lstStyle/>
              <a:p>
                <a:pPr algn="ctr">
                  <a:lnSpc>
                    <a:spcPct val="90000"/>
                  </a:lnSpc>
                </a:pPr>
                <a:r>
                  <a:rPr lang="bg-BG" sz="2000" b="1" dirty="0">
                    <a:solidFill>
                      <a:srgbClr val="00000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Планиране</a:t>
                </a: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2ABC204-DA7B-EB00-C593-6C47A29B21CE}"/>
                </a:ext>
              </a:extLst>
            </p:cNvPr>
            <p:cNvSpPr txBox="1"/>
            <p:nvPr/>
          </p:nvSpPr>
          <p:spPr>
            <a:xfrm rot="16004287">
              <a:off x="6149098" y="3049866"/>
              <a:ext cx="2853145" cy="1990673"/>
            </a:xfrm>
            <a:prstGeom prst="rect">
              <a:avLst/>
            </a:prstGeom>
            <a:noFill/>
          </p:spPr>
          <p:txBody>
            <a:bodyPr wrap="none" rtlCol="0">
              <a:prstTxWarp prst="textArchDown">
                <a:avLst/>
              </a:prstTxWarp>
              <a:spAutoFit/>
            </a:bodyPr>
            <a:lstStyle/>
            <a:p>
              <a:pPr algn="ctr">
                <a:lnSpc>
                  <a:spcPct val="90000"/>
                </a:lnSpc>
              </a:pPr>
              <a:r>
                <a:rPr lang="bg-BG" sz="2200" b="1" dirty="0">
                  <a:solidFill>
                    <a:srgbClr val="000000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Проектиране</a:t>
              </a:r>
            </a:p>
            <a:p>
              <a:pPr algn="ctr">
                <a:lnSpc>
                  <a:spcPct val="90000"/>
                </a:lnSpc>
              </a:pPr>
              <a:r>
                <a:rPr lang="bg-BG" sz="2200" b="1" dirty="0">
                  <a:solidFill>
                    <a:srgbClr val="000000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и графичен дизайн</a:t>
              </a:r>
              <a:endParaRPr lang="en-US" sz="2200" b="1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790F511-7D2D-3A0D-265D-82D532D09685}"/>
                </a:ext>
              </a:extLst>
            </p:cNvPr>
            <p:cNvSpPr txBox="1"/>
            <p:nvPr/>
          </p:nvSpPr>
          <p:spPr>
            <a:xfrm rot="19886401">
              <a:off x="5619407" y="4256444"/>
              <a:ext cx="2853145" cy="1990673"/>
            </a:xfrm>
            <a:prstGeom prst="rect">
              <a:avLst/>
            </a:prstGeom>
            <a:noFill/>
          </p:spPr>
          <p:txBody>
            <a:bodyPr wrap="none" rtlCol="0">
              <a:prstTxWarp prst="textArchDown">
                <a:avLst/>
              </a:prstTxWarp>
              <a:spAutoFit/>
            </a:bodyPr>
            <a:lstStyle/>
            <a:p>
              <a:pPr algn="ctr">
                <a:lnSpc>
                  <a:spcPct val="90000"/>
                </a:lnSpc>
              </a:pPr>
              <a:r>
                <a:rPr lang="bg-BG" sz="2200" b="1" dirty="0">
                  <a:solidFill>
                    <a:srgbClr val="000000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Изграждане</a:t>
              </a:r>
              <a:endParaRPr lang="en-US" sz="2200" b="1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DF6EEC0-36A9-2747-7048-2436AE8ACF16}"/>
                </a:ext>
              </a:extLst>
            </p:cNvPr>
            <p:cNvSpPr txBox="1"/>
            <p:nvPr/>
          </p:nvSpPr>
          <p:spPr>
            <a:xfrm rot="1694651">
              <a:off x="4248404" y="4206458"/>
              <a:ext cx="2853145" cy="1990673"/>
            </a:xfrm>
            <a:prstGeom prst="rect">
              <a:avLst/>
            </a:prstGeom>
            <a:noFill/>
          </p:spPr>
          <p:txBody>
            <a:bodyPr wrap="none" rtlCol="0">
              <a:prstTxWarp prst="textArchDown">
                <a:avLst/>
              </a:prstTxWarp>
              <a:spAutoFit/>
            </a:bodyPr>
            <a:lstStyle/>
            <a:p>
              <a:pPr algn="ctr">
                <a:lnSpc>
                  <a:spcPct val="90000"/>
                </a:lnSpc>
              </a:pPr>
              <a:r>
                <a:rPr lang="bg-BG" sz="2200" b="1" dirty="0">
                  <a:solidFill>
                    <a:srgbClr val="000000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Тестване</a:t>
              </a:r>
              <a:endParaRPr lang="en-US" sz="2200" b="1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0160D76-1081-CB9F-EFEC-814D6B3DAA35}"/>
                </a:ext>
              </a:extLst>
            </p:cNvPr>
            <p:cNvSpPr txBox="1"/>
            <p:nvPr/>
          </p:nvSpPr>
          <p:spPr>
            <a:xfrm rot="5156243">
              <a:off x="3566377" y="3137613"/>
              <a:ext cx="2853145" cy="1990673"/>
            </a:xfrm>
            <a:prstGeom prst="rect">
              <a:avLst/>
            </a:prstGeom>
            <a:noFill/>
          </p:spPr>
          <p:txBody>
            <a:bodyPr wrap="none" rtlCol="0">
              <a:prstTxWarp prst="textArchDown">
                <a:avLst/>
              </a:prstTxWarp>
              <a:spAutoFit/>
            </a:bodyPr>
            <a:lstStyle/>
            <a:p>
              <a:pPr algn="ctr">
                <a:lnSpc>
                  <a:spcPct val="90000"/>
                </a:lnSpc>
              </a:pPr>
              <a:r>
                <a:rPr lang="bg-BG" sz="2200" b="1" dirty="0">
                  <a:solidFill>
                    <a:srgbClr val="000000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Публикуване</a:t>
              </a:r>
              <a:endParaRPr lang="en-US" sz="2200" b="1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25" name="Text Placeholder 6">
            <a:extLst>
              <a:ext uri="{FF2B5EF4-FFF2-40B4-BE49-F238E27FC236}">
                <a16:creationId xmlns:a16="http://schemas.microsoft.com/office/drawing/2014/main" id="{3387EFE4-8AA8-E843-B1A5-1B1F1D86C96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1" y="1196125"/>
            <a:ext cx="6486799" cy="5528766"/>
          </a:xfrm>
        </p:spPr>
        <p:txBody>
          <a:bodyPr>
            <a:normAutofit/>
          </a:bodyPr>
          <a:lstStyle/>
          <a:p>
            <a:r>
              <a:rPr lang="bg-BG" sz="3200" b="1" dirty="0">
                <a:solidFill>
                  <a:schemeClr val="bg1"/>
                </a:solidFill>
              </a:rPr>
              <a:t>Етапите</a:t>
            </a:r>
            <a:r>
              <a:rPr lang="bg-BG" sz="3200" dirty="0"/>
              <a:t> при </a:t>
            </a:r>
            <a:r>
              <a:rPr lang="bg-BG" sz="3200" b="1" dirty="0"/>
              <a:t>създаване на уеб сайт</a:t>
            </a:r>
            <a:r>
              <a:rPr lang="bg-BG" sz="3200" dirty="0"/>
              <a:t> осигуряват </a:t>
            </a:r>
            <a:r>
              <a:rPr lang="bg-BG" sz="3200" b="1" dirty="0">
                <a:solidFill>
                  <a:schemeClr val="bg1"/>
                </a:solidFill>
              </a:rPr>
              <a:t>последователност</a:t>
            </a:r>
            <a:r>
              <a:rPr lang="bg-BG" sz="3200" dirty="0"/>
              <a:t> и </a:t>
            </a:r>
            <a:r>
              <a:rPr lang="bg-BG" sz="3200" b="1" dirty="0">
                <a:solidFill>
                  <a:schemeClr val="bg1"/>
                </a:solidFill>
              </a:rPr>
              <a:t>качество</a:t>
            </a:r>
            <a:r>
              <a:rPr lang="bg-BG" sz="3200" dirty="0"/>
              <a:t> на </a:t>
            </a:r>
            <a:r>
              <a:rPr lang="bg-BG" sz="3200" b="1" dirty="0"/>
              <a:t>работата</a:t>
            </a:r>
          </a:p>
          <a:p>
            <a:r>
              <a:rPr lang="bg-BG" sz="3200" dirty="0"/>
              <a:t>Помагат за </a:t>
            </a:r>
            <a:r>
              <a:rPr lang="bg-BG" sz="3200" b="1" dirty="0">
                <a:solidFill>
                  <a:schemeClr val="bg1"/>
                </a:solidFill>
              </a:rPr>
              <a:t>плавен процес </a:t>
            </a:r>
            <a:r>
              <a:rPr lang="bg-BG" sz="3200" b="1" dirty="0"/>
              <a:t>от идеята до готовия уеб сайт</a:t>
            </a:r>
          </a:p>
          <a:p>
            <a:r>
              <a:rPr lang="bg-BG" sz="3200" dirty="0"/>
              <a:t>Основните етапи са: </a:t>
            </a:r>
            <a:r>
              <a:rPr lang="bg-BG" sz="3200" b="1" dirty="0"/>
              <a:t>планиране</a:t>
            </a:r>
            <a:r>
              <a:rPr lang="bg-BG" sz="3200" dirty="0"/>
              <a:t>, </a:t>
            </a:r>
            <a:r>
              <a:rPr lang="bg-BG" sz="3200" b="1" dirty="0"/>
              <a:t>проектиране и графичен дизайн</a:t>
            </a:r>
            <a:r>
              <a:rPr lang="bg-BG" sz="3200" dirty="0"/>
              <a:t>, </a:t>
            </a:r>
            <a:r>
              <a:rPr lang="bg-BG" sz="3200" b="1" dirty="0"/>
              <a:t>изграждане</a:t>
            </a:r>
            <a:r>
              <a:rPr lang="bg-BG" sz="3200" dirty="0"/>
              <a:t>, </a:t>
            </a:r>
            <a:r>
              <a:rPr lang="bg-BG" sz="3200" b="1" dirty="0"/>
              <a:t>тестване</a:t>
            </a:r>
            <a:r>
              <a:rPr lang="bg-BG" sz="3200" dirty="0"/>
              <a:t>, </a:t>
            </a:r>
            <a:r>
              <a:rPr lang="bg-BG" sz="3200" b="1" dirty="0"/>
              <a:t>публикуване</a:t>
            </a:r>
            <a:r>
              <a:rPr lang="bg-BG" sz="3200" dirty="0"/>
              <a:t>, </a:t>
            </a:r>
            <a:r>
              <a:rPr lang="bg-BG" sz="3200" b="1" dirty="0"/>
              <a:t>оптимизация</a:t>
            </a:r>
          </a:p>
        </p:txBody>
      </p:sp>
    </p:spTree>
    <p:extLst>
      <p:ext uri="{BB962C8B-B14F-4D97-AF65-F5344CB8AC3E}">
        <p14:creationId xmlns:p14="http://schemas.microsoft.com/office/powerpoint/2010/main" val="87688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10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7B6A643-676D-3506-B008-B24B36AA3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Етапи при създаване на уеб сайт (2)</a:t>
            </a:r>
            <a:endParaRPr lang="en-BG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BFEFCDD-E454-D1E7-D67F-EE67BB2A7AC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600" b="1" dirty="0">
                <a:solidFill>
                  <a:schemeClr val="bg1"/>
                </a:solidFill>
              </a:rPr>
              <a:t>Планиране</a:t>
            </a:r>
          </a:p>
          <a:p>
            <a:pPr lvl="1"/>
            <a:r>
              <a:rPr lang="bg-BG" sz="3200" b="1" dirty="0"/>
              <a:t>Определяне</a:t>
            </a:r>
            <a:r>
              <a:rPr lang="bg-BG" sz="3200" dirty="0"/>
              <a:t> на </a:t>
            </a:r>
            <a:r>
              <a:rPr lang="bg-BG" sz="3200" b="1" dirty="0"/>
              <a:t>целта</a:t>
            </a:r>
            <a:r>
              <a:rPr lang="bg-BG" sz="3200" dirty="0"/>
              <a:t> и </a:t>
            </a:r>
            <a:r>
              <a:rPr lang="bg-BG" sz="3200" b="1" dirty="0"/>
              <a:t>аудиторията</a:t>
            </a:r>
          </a:p>
          <a:p>
            <a:r>
              <a:rPr lang="bg-BG" sz="3600" b="1" dirty="0">
                <a:solidFill>
                  <a:schemeClr val="bg1"/>
                </a:solidFill>
              </a:rPr>
              <a:t>Проектиране и графичен дизайн</a:t>
            </a:r>
          </a:p>
          <a:p>
            <a:pPr lvl="1"/>
            <a:r>
              <a:rPr lang="bg-BG" sz="3200" b="1" dirty="0"/>
              <a:t>Създаване</a:t>
            </a:r>
            <a:r>
              <a:rPr lang="bg-BG" sz="3200" dirty="0"/>
              <a:t> на </a:t>
            </a:r>
            <a:r>
              <a:rPr lang="bg-BG" sz="3200" b="1" dirty="0"/>
              <a:t>структура</a:t>
            </a:r>
            <a:r>
              <a:rPr lang="bg-BG" sz="3200" dirty="0"/>
              <a:t> и </a:t>
            </a:r>
            <a:r>
              <a:rPr lang="bg-BG" sz="3200" b="1" dirty="0"/>
              <a:t>дизайн</a:t>
            </a:r>
          </a:p>
          <a:p>
            <a:r>
              <a:rPr lang="bg-BG" sz="3600" b="1" dirty="0">
                <a:solidFill>
                  <a:schemeClr val="bg1"/>
                </a:solidFill>
              </a:rPr>
              <a:t>Изграждане</a:t>
            </a:r>
          </a:p>
          <a:p>
            <a:pPr lvl="1"/>
            <a:r>
              <a:rPr lang="bg-BG" sz="3200" b="1" dirty="0"/>
              <a:t>Разработване</a:t>
            </a:r>
            <a:r>
              <a:rPr lang="bg-BG" sz="3200" dirty="0"/>
              <a:t> (</a:t>
            </a:r>
            <a:r>
              <a:rPr lang="bg-BG" sz="3200" b="1" dirty="0"/>
              <a:t>програмиране</a:t>
            </a:r>
            <a:r>
              <a:rPr lang="en-US" sz="3200" dirty="0"/>
              <a:t>) </a:t>
            </a:r>
            <a:r>
              <a:rPr lang="bg-BG" sz="3200" dirty="0"/>
              <a:t>на уеб сайта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96A5838-5655-536E-AA99-36BDE4B0BD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6000" y="1400408"/>
            <a:ext cx="2654714" cy="15714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E9AAE37-153C-BE22-7F34-98FDC674838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6000" y="2952142"/>
            <a:ext cx="2654714" cy="15714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0D6FA15-8E73-E4C6-4000-20EA02928CF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6000" y="4523542"/>
            <a:ext cx="2654714" cy="1571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06747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11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7B6A643-676D-3506-B008-B24B36AA3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Етапи при създаване на уеб сайт (3)</a:t>
            </a:r>
            <a:endParaRPr lang="en-BG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BFEFCDD-E454-D1E7-D67F-EE67BB2A7AC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8830598" cy="5528766"/>
          </a:xfrm>
        </p:spPr>
        <p:txBody>
          <a:bodyPr>
            <a:normAutofit/>
          </a:bodyPr>
          <a:lstStyle/>
          <a:p>
            <a:r>
              <a:rPr lang="bg-BG" sz="3600" b="1" dirty="0">
                <a:solidFill>
                  <a:schemeClr val="bg1"/>
                </a:solidFill>
              </a:rPr>
              <a:t>Тестване</a:t>
            </a:r>
          </a:p>
          <a:p>
            <a:pPr lvl="1"/>
            <a:r>
              <a:rPr lang="bg-BG" sz="3200" b="1" dirty="0"/>
              <a:t>Проверка</a:t>
            </a:r>
            <a:r>
              <a:rPr lang="bg-BG" sz="3200" dirty="0"/>
              <a:t> за </a:t>
            </a:r>
            <a:r>
              <a:rPr lang="bg-BG" sz="3200" b="1" dirty="0"/>
              <a:t>грешки</a:t>
            </a:r>
            <a:endParaRPr lang="bg-BG" sz="3200" dirty="0"/>
          </a:p>
          <a:p>
            <a:r>
              <a:rPr lang="bg-BG" sz="3600" b="1" dirty="0">
                <a:solidFill>
                  <a:schemeClr val="bg1"/>
                </a:solidFill>
              </a:rPr>
              <a:t>Публикуване</a:t>
            </a:r>
          </a:p>
          <a:p>
            <a:pPr lvl="1"/>
            <a:r>
              <a:rPr lang="bg-BG" sz="3200" b="1" dirty="0"/>
              <a:t>Качване</a:t>
            </a:r>
            <a:r>
              <a:rPr lang="bg-BG" sz="3200" dirty="0"/>
              <a:t> на уеб сайта </a:t>
            </a:r>
            <a:r>
              <a:rPr lang="bg-BG" sz="3200" b="1" dirty="0"/>
              <a:t>онлайн</a:t>
            </a:r>
          </a:p>
          <a:p>
            <a:r>
              <a:rPr lang="bg-BG" sz="3600" b="1" dirty="0">
                <a:solidFill>
                  <a:schemeClr val="bg1"/>
                </a:solidFill>
              </a:rPr>
              <a:t>Оптимизация</a:t>
            </a:r>
          </a:p>
          <a:p>
            <a:pPr lvl="1"/>
            <a:r>
              <a:rPr lang="bg-BG" sz="3200" b="1" dirty="0"/>
              <a:t>Подобряване </a:t>
            </a:r>
            <a:r>
              <a:rPr lang="bg-BG" sz="3200" dirty="0"/>
              <a:t>на</a:t>
            </a:r>
            <a:r>
              <a:rPr lang="bg-BG" sz="3200" b="1" dirty="0"/>
              <a:t> скоростта</a:t>
            </a:r>
            <a:r>
              <a:rPr lang="bg-BG" sz="3200" dirty="0"/>
              <a:t>, </a:t>
            </a:r>
            <a:r>
              <a:rPr lang="bg-BG" sz="3200" b="1" dirty="0"/>
              <a:t>съдържанието</a:t>
            </a:r>
            <a:r>
              <a:rPr lang="bg-BG" sz="3200" dirty="0"/>
              <a:t> и </a:t>
            </a:r>
            <a:r>
              <a:rPr lang="bg-BG" sz="3200" b="1" dirty="0"/>
              <a:t>видимостта</a:t>
            </a:r>
            <a:r>
              <a:rPr lang="bg-BG" sz="3200" dirty="0"/>
              <a:t> на уеб сайта в </a:t>
            </a:r>
            <a:r>
              <a:rPr lang="bg-BG" sz="3200" b="1" dirty="0"/>
              <a:t>търсачките</a:t>
            </a:r>
            <a:r>
              <a:rPr lang="bg-BG" sz="3200" dirty="0"/>
              <a:t>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AB35236-919C-15D8-C527-DE5A220C35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3643" y="1537738"/>
            <a:ext cx="2654714" cy="15714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61FC58F-E910-54C4-FF25-797B3154D31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3643" y="3109138"/>
            <a:ext cx="2654714" cy="15714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C1C1EC8-0B08-4E18-9F1A-5FCFF3B4ECC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3643" y="4680538"/>
            <a:ext cx="2654714" cy="916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89495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12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7B6A643-676D-3506-B008-B24B36AA3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Роли при създаване на уеб сайт</a:t>
            </a:r>
            <a:endParaRPr lang="en-BG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BFEFCDD-E454-D1E7-D67F-EE67BB2A7AC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000" b="1" dirty="0">
                <a:solidFill>
                  <a:schemeClr val="bg1"/>
                </a:solidFill>
              </a:rPr>
              <a:t>Ръководител на проекта </a:t>
            </a:r>
            <a:r>
              <a:rPr lang="bg-BG" sz="3000" b="1" dirty="0"/>
              <a:t>(</a:t>
            </a:r>
            <a:r>
              <a:rPr lang="en-US" sz="3000" b="1" dirty="0"/>
              <a:t>Project Manager)</a:t>
            </a:r>
            <a:endParaRPr lang="bg-BG" sz="3000" b="1" dirty="0"/>
          </a:p>
          <a:p>
            <a:pPr lvl="1"/>
            <a:r>
              <a:rPr lang="bg-BG" sz="2800" b="1" dirty="0"/>
              <a:t>Координира</a:t>
            </a:r>
            <a:r>
              <a:rPr lang="bg-BG" sz="2800" dirty="0"/>
              <a:t> </a:t>
            </a:r>
            <a:r>
              <a:rPr lang="bg-BG" sz="2800" b="1" dirty="0">
                <a:solidFill>
                  <a:schemeClr val="bg1"/>
                </a:solidFill>
              </a:rPr>
              <a:t>целия процес</a:t>
            </a:r>
            <a:r>
              <a:rPr lang="bg-BG" sz="2800" dirty="0"/>
              <a:t>, </a:t>
            </a:r>
            <a:r>
              <a:rPr lang="bg-BG" sz="2800" b="1" dirty="0"/>
              <a:t>разпределя</a:t>
            </a:r>
            <a:r>
              <a:rPr lang="bg-BG" sz="2800" dirty="0"/>
              <a:t> </a:t>
            </a:r>
            <a:r>
              <a:rPr lang="bg-BG" sz="2800" b="1" dirty="0">
                <a:solidFill>
                  <a:schemeClr val="bg1"/>
                </a:solidFill>
              </a:rPr>
              <a:t>задачите</a:t>
            </a:r>
            <a:r>
              <a:rPr lang="bg-BG" sz="2800" dirty="0"/>
              <a:t> и </a:t>
            </a:r>
            <a:r>
              <a:rPr lang="bg-BG" sz="2800" b="1" dirty="0"/>
              <a:t>следи</a:t>
            </a:r>
            <a:r>
              <a:rPr lang="bg-BG" sz="2800" dirty="0"/>
              <a:t> </a:t>
            </a:r>
            <a:r>
              <a:rPr lang="bg-BG" sz="2800" b="1" dirty="0">
                <a:solidFill>
                  <a:schemeClr val="bg1"/>
                </a:solidFill>
              </a:rPr>
              <a:t>сроковете</a:t>
            </a:r>
            <a:r>
              <a:rPr lang="bg-BG" sz="2800" dirty="0"/>
              <a:t> и </a:t>
            </a:r>
            <a:r>
              <a:rPr lang="bg-BG" sz="2800" b="1" dirty="0">
                <a:solidFill>
                  <a:schemeClr val="bg1"/>
                </a:solidFill>
              </a:rPr>
              <a:t>качеството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Редактор</a:t>
            </a:r>
            <a:r>
              <a:rPr lang="en-US" sz="3000" b="1" dirty="0">
                <a:solidFill>
                  <a:schemeClr val="bg1"/>
                </a:solidFill>
              </a:rPr>
              <a:t> </a:t>
            </a:r>
            <a:r>
              <a:rPr lang="en-US" sz="3000" b="1" dirty="0"/>
              <a:t>(Content Editor/Copywriter)</a:t>
            </a:r>
            <a:endParaRPr lang="bg-BG" sz="3000" b="1" dirty="0"/>
          </a:p>
          <a:p>
            <a:pPr lvl="1"/>
            <a:r>
              <a:rPr lang="bg-BG" sz="2800" b="1" dirty="0"/>
              <a:t>Създава</a:t>
            </a:r>
            <a:r>
              <a:rPr lang="bg-BG" sz="2800" dirty="0"/>
              <a:t> и </a:t>
            </a:r>
            <a:r>
              <a:rPr lang="bg-BG" sz="2800" b="1" dirty="0"/>
              <a:t>преглежда</a:t>
            </a:r>
            <a:r>
              <a:rPr lang="bg-BG" sz="2800" dirty="0"/>
              <a:t> </a:t>
            </a:r>
            <a:r>
              <a:rPr lang="bg-BG" sz="2800" b="1" dirty="0">
                <a:solidFill>
                  <a:schemeClr val="bg1"/>
                </a:solidFill>
              </a:rPr>
              <a:t>текстовото съдържание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Уеб дизайнер</a:t>
            </a:r>
            <a:r>
              <a:rPr lang="en-US" sz="3000" b="1" dirty="0">
                <a:solidFill>
                  <a:schemeClr val="bg1"/>
                </a:solidFill>
              </a:rPr>
              <a:t> </a:t>
            </a:r>
            <a:r>
              <a:rPr lang="en-US" sz="3000" b="1" dirty="0"/>
              <a:t>(Web Designer)</a:t>
            </a:r>
            <a:endParaRPr lang="bg-BG" sz="3000" b="1" dirty="0"/>
          </a:p>
          <a:p>
            <a:pPr lvl="1"/>
            <a:r>
              <a:rPr lang="bg-BG" sz="2800" b="1" dirty="0"/>
              <a:t>Планира</a:t>
            </a:r>
            <a:r>
              <a:rPr lang="bg-BG" sz="2800" dirty="0"/>
              <a:t> и </a:t>
            </a:r>
            <a:r>
              <a:rPr lang="bg-BG" sz="2800" b="1" dirty="0"/>
              <a:t>изработва</a:t>
            </a:r>
            <a:r>
              <a:rPr lang="bg-BG" sz="2800" dirty="0"/>
              <a:t> </a:t>
            </a:r>
            <a:r>
              <a:rPr lang="bg-BG" sz="2800" b="1" dirty="0">
                <a:solidFill>
                  <a:schemeClr val="bg1"/>
                </a:solidFill>
              </a:rPr>
              <a:t>визуалния облик </a:t>
            </a:r>
            <a:r>
              <a:rPr lang="bg-BG" sz="2800" dirty="0"/>
              <a:t>на </a:t>
            </a:r>
            <a:r>
              <a:rPr lang="bg-BG" sz="2800" b="1" dirty="0"/>
              <a:t>уеб сайта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Уеб разработчик</a:t>
            </a:r>
            <a:r>
              <a:rPr lang="en-US" sz="3000" b="1" dirty="0">
                <a:solidFill>
                  <a:schemeClr val="bg1"/>
                </a:solidFill>
              </a:rPr>
              <a:t> </a:t>
            </a:r>
            <a:r>
              <a:rPr lang="en-US" sz="3000" b="1" dirty="0"/>
              <a:t>(Web Developer)</a:t>
            </a:r>
            <a:endParaRPr lang="bg-BG" sz="3000" b="1" dirty="0"/>
          </a:p>
          <a:p>
            <a:pPr lvl="1"/>
            <a:r>
              <a:rPr lang="bg-BG" sz="2800" b="1" dirty="0"/>
              <a:t>Превръща</a:t>
            </a:r>
            <a:r>
              <a:rPr lang="bg-BG" sz="2800" dirty="0"/>
              <a:t> </a:t>
            </a:r>
            <a:r>
              <a:rPr lang="bg-BG" sz="2800" b="1" dirty="0"/>
              <a:t>дизайна</a:t>
            </a:r>
            <a:r>
              <a:rPr lang="bg-BG" sz="2800" dirty="0"/>
              <a:t> в </a:t>
            </a:r>
            <a:r>
              <a:rPr lang="bg-BG" sz="2800" b="1" dirty="0">
                <a:solidFill>
                  <a:schemeClr val="bg1"/>
                </a:solidFill>
              </a:rPr>
              <a:t>работещ код</a:t>
            </a:r>
            <a:r>
              <a:rPr lang="bg-BG" sz="2800" dirty="0">
                <a:solidFill>
                  <a:schemeClr val="bg1"/>
                </a:solidFill>
              </a:rPr>
              <a:t> </a:t>
            </a:r>
            <a:r>
              <a:rPr lang="bg-BG" sz="2800" dirty="0"/>
              <a:t>и </a:t>
            </a:r>
            <a:r>
              <a:rPr lang="bg-BG" sz="2800" b="1" dirty="0">
                <a:solidFill>
                  <a:schemeClr val="bg1"/>
                </a:solidFill>
              </a:rPr>
              <a:t>функционалност</a:t>
            </a:r>
          </a:p>
          <a:p>
            <a:endParaRPr lang="bg-BG" sz="3000" dirty="0"/>
          </a:p>
        </p:txBody>
      </p:sp>
    </p:spTree>
    <p:extLst>
      <p:ext uri="{BB962C8B-B14F-4D97-AF65-F5344CB8AC3E}">
        <p14:creationId xmlns:p14="http://schemas.microsoft.com/office/powerpoint/2010/main" val="39476466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13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7B6A643-676D-3506-B008-B24B36AA3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Цел и целеви групи</a:t>
            </a:r>
            <a:r>
              <a:rPr lang="en-US" dirty="0"/>
              <a:t> (1)</a:t>
            </a:r>
            <a:endParaRPr lang="en-BG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BFEFCDD-E454-D1E7-D67F-EE67BB2A7AC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215598" cy="5528766"/>
          </a:xfrm>
        </p:spPr>
        <p:txBody>
          <a:bodyPr>
            <a:normAutofit/>
          </a:bodyPr>
          <a:lstStyle/>
          <a:p>
            <a:r>
              <a:rPr lang="bg-BG" sz="3200" b="1" dirty="0"/>
              <a:t>Определянето</a:t>
            </a:r>
            <a:r>
              <a:rPr lang="bg-BG" sz="3200" dirty="0"/>
              <a:t> на правилната </a:t>
            </a:r>
            <a:r>
              <a:rPr lang="bg-BG" sz="3200" b="1" dirty="0"/>
              <a:t>цел</a:t>
            </a:r>
            <a:r>
              <a:rPr lang="bg-BG" sz="3200" dirty="0"/>
              <a:t> и </a:t>
            </a:r>
            <a:r>
              <a:rPr lang="bg-BG" sz="3200" b="1" dirty="0"/>
              <a:t>аудитория</a:t>
            </a:r>
            <a:r>
              <a:rPr lang="bg-BG" sz="3200" dirty="0"/>
              <a:t> е </a:t>
            </a:r>
            <a:r>
              <a:rPr lang="bg-BG" sz="3200" b="1" dirty="0">
                <a:solidFill>
                  <a:schemeClr val="bg1"/>
                </a:solidFill>
              </a:rPr>
              <a:t>ключово</a:t>
            </a:r>
            <a:r>
              <a:rPr lang="bg-BG" sz="3200" dirty="0"/>
              <a:t> за </a:t>
            </a:r>
            <a:r>
              <a:rPr lang="bg-BG" sz="3200" b="1" dirty="0"/>
              <a:t>успешен уеб сайт</a:t>
            </a:r>
          </a:p>
          <a:p>
            <a:r>
              <a:rPr lang="bg-BG" sz="3200" b="1" dirty="0">
                <a:solidFill>
                  <a:schemeClr val="bg1"/>
                </a:solidFill>
              </a:rPr>
              <a:t>Цел</a:t>
            </a:r>
          </a:p>
          <a:p>
            <a:pPr lvl="1"/>
            <a:r>
              <a:rPr lang="bg-BG" sz="3000" b="1" dirty="0"/>
              <a:t>Какво искаме да постигнем?</a:t>
            </a:r>
            <a:endParaRPr lang="en-US" sz="3000" b="1" dirty="0"/>
          </a:p>
          <a:p>
            <a:pPr lvl="1"/>
            <a:r>
              <a:rPr lang="bg-BG" sz="3000" b="1" dirty="0"/>
              <a:t>Определя</a:t>
            </a:r>
            <a:r>
              <a:rPr lang="bg-BG" sz="3000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защо съществува уеб сайтът </a:t>
            </a:r>
            <a:r>
              <a:rPr lang="bg-BG" sz="3000" dirty="0"/>
              <a:t>(информиране, продажба, реклама и т.н.</a:t>
            </a:r>
            <a:r>
              <a:rPr lang="en-US" sz="3000" dirty="0"/>
              <a:t>)</a:t>
            </a:r>
            <a:endParaRPr lang="bg-BG" sz="3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E9A4B4-3F1A-0E0E-F312-2288A90386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26000" y="4417797"/>
            <a:ext cx="2340000" cy="2307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89969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14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7B6A643-676D-3506-B008-B24B36AA3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Цел и целеви групи</a:t>
            </a:r>
            <a:r>
              <a:rPr lang="en-US" dirty="0"/>
              <a:t> (2)</a:t>
            </a:r>
            <a:endParaRPr lang="en-BG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BFEFCDD-E454-D1E7-D67F-EE67BB2A7AC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215598" cy="5528766"/>
          </a:xfrm>
        </p:spPr>
        <p:txBody>
          <a:bodyPr>
            <a:normAutofit/>
          </a:bodyPr>
          <a:lstStyle/>
          <a:p>
            <a:r>
              <a:rPr lang="bg-BG" sz="3400" b="1" dirty="0">
                <a:solidFill>
                  <a:schemeClr val="bg1"/>
                </a:solidFill>
              </a:rPr>
              <a:t>Целева група</a:t>
            </a:r>
          </a:p>
          <a:p>
            <a:pPr lvl="1"/>
            <a:r>
              <a:rPr lang="bg-BG" sz="3200" b="1" dirty="0"/>
              <a:t>Кои потребители искаме да достигнем?</a:t>
            </a:r>
            <a:endParaRPr lang="en-US" sz="3200" b="1" dirty="0"/>
          </a:p>
          <a:p>
            <a:pPr lvl="1"/>
            <a:r>
              <a:rPr lang="bg-BG" sz="3200" b="1" dirty="0"/>
              <a:t>Определя </a:t>
            </a:r>
            <a:r>
              <a:rPr lang="bg-BG" sz="3200" b="1" dirty="0">
                <a:solidFill>
                  <a:schemeClr val="bg1"/>
                </a:solidFill>
              </a:rPr>
              <a:t>аудиторията</a:t>
            </a:r>
            <a:r>
              <a:rPr lang="bg-BG" sz="3200" dirty="0"/>
              <a:t>, към която е </a:t>
            </a:r>
            <a:r>
              <a:rPr lang="bg-BG" sz="3200" b="1" dirty="0"/>
              <a:t>насочен</a:t>
            </a:r>
            <a:r>
              <a:rPr lang="bg-BG" sz="3200" dirty="0"/>
              <a:t> </a:t>
            </a:r>
            <a:r>
              <a:rPr lang="en-US" sz="3200" dirty="0"/>
              <a:t>(</a:t>
            </a:r>
            <a:r>
              <a:rPr lang="bg-BG" sz="3200" dirty="0"/>
              <a:t>ученици, клиенти, родители и т.н.</a:t>
            </a:r>
            <a:r>
              <a:rPr lang="en-US" sz="3200" dirty="0"/>
              <a:t>)</a:t>
            </a:r>
            <a:endParaRPr lang="bg-BG" sz="3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906B824-20CC-3EC5-865C-418FFE50FD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7801" y="3595100"/>
            <a:ext cx="6120799" cy="306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5573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800" dirty="0"/>
              <a:t>Видове и характеристики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Уеб страници</a:t>
            </a:r>
            <a:endParaRPr lang="en-US" sz="6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88AD6B3-25EE-5857-BB18-D3B8AABA7D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13268" y="729000"/>
            <a:ext cx="5165464" cy="361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52214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pPr>
              <a:buClr>
                <a:schemeClr val="tx1"/>
              </a:buClr>
            </a:pPr>
            <a:r>
              <a:rPr lang="bg-BG" sz="3400" b="1" dirty="0">
                <a:solidFill>
                  <a:schemeClr val="bg1"/>
                </a:solidFill>
              </a:rPr>
              <a:t>Отделен документ</a:t>
            </a:r>
            <a:r>
              <a:rPr lang="bg-BG" sz="3400" dirty="0"/>
              <a:t>, който </a:t>
            </a:r>
            <a:r>
              <a:rPr lang="bg-BG" sz="3400" b="1" dirty="0"/>
              <a:t>съдържа</a:t>
            </a:r>
            <a:r>
              <a:rPr lang="bg-BG" sz="3400" dirty="0"/>
              <a:t> </a:t>
            </a:r>
            <a:r>
              <a:rPr lang="bg-BG" sz="3400" b="1" dirty="0"/>
              <a:t>различни </a:t>
            </a:r>
            <a:r>
              <a:rPr lang="bg-BG" sz="3400" b="1" dirty="0">
                <a:solidFill>
                  <a:schemeClr val="bg1"/>
                </a:solidFill>
              </a:rPr>
              <a:t>елементи</a:t>
            </a:r>
            <a:r>
              <a:rPr lang="bg-BG" sz="3400" b="1" dirty="0"/>
              <a:t> </a:t>
            </a:r>
            <a:r>
              <a:rPr lang="bg-BG" sz="3400" dirty="0"/>
              <a:t>(информация, изображения, връзки и т.н.)</a:t>
            </a:r>
          </a:p>
          <a:p>
            <a:pPr>
              <a:buClr>
                <a:schemeClr val="tx1"/>
              </a:buClr>
            </a:pPr>
            <a:r>
              <a:rPr lang="bg-BG" sz="3400" b="1" dirty="0"/>
              <a:t>Всички страници </a:t>
            </a:r>
            <a:r>
              <a:rPr lang="bg-BG" sz="3400" dirty="0"/>
              <a:t>заедно </a:t>
            </a:r>
            <a:r>
              <a:rPr lang="bg-BG" sz="3400" b="1" dirty="0"/>
              <a:t>образуват уеб сайта</a:t>
            </a:r>
            <a:endParaRPr lang="bg-BG" sz="3400" b="1" dirty="0">
              <a:solidFill>
                <a:schemeClr val="bg1"/>
              </a:solidFill>
            </a:endParaRP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Уеб страница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DE2535-C3F0-030B-5364-329A383617D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6608" y="3305611"/>
            <a:ext cx="5778784" cy="3349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65886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pPr>
              <a:buClr>
                <a:schemeClr val="tx1"/>
              </a:buClr>
            </a:pPr>
            <a:r>
              <a:rPr lang="bg-BG" sz="3200" b="1" dirty="0">
                <a:solidFill>
                  <a:schemeClr val="bg1"/>
                </a:solidFill>
              </a:rPr>
              <a:t>Начална уеб страница </a:t>
            </a:r>
            <a:r>
              <a:rPr lang="bg-BG" sz="3200" b="1" dirty="0"/>
              <a:t>(</a:t>
            </a:r>
            <a:r>
              <a:rPr lang="en-US" sz="3200" b="1" dirty="0"/>
              <a:t>Home Page)</a:t>
            </a:r>
            <a:endParaRPr lang="bg-BG" sz="3200" b="1" dirty="0"/>
          </a:p>
          <a:p>
            <a:pPr lvl="1"/>
            <a:r>
              <a:rPr lang="bg-BG" sz="3000" b="1" dirty="0"/>
              <a:t>Входната точка</a:t>
            </a:r>
            <a:r>
              <a:rPr lang="bg-BG" sz="3000" dirty="0"/>
              <a:t>, която </a:t>
            </a:r>
            <a:r>
              <a:rPr lang="bg-BG" sz="3000" b="1" dirty="0"/>
              <a:t>представя уеб сайта</a:t>
            </a:r>
          </a:p>
          <a:p>
            <a:r>
              <a:rPr lang="bg-BG" sz="3200" b="1" dirty="0">
                <a:solidFill>
                  <a:schemeClr val="bg1"/>
                </a:solidFill>
              </a:rPr>
              <a:t>Информационни уеб страници</a:t>
            </a:r>
          </a:p>
          <a:p>
            <a:pPr lvl="1"/>
            <a:r>
              <a:rPr lang="bg-BG" sz="3000" dirty="0"/>
              <a:t>Предоставят </a:t>
            </a:r>
            <a:r>
              <a:rPr lang="bg-BG" sz="3000" b="1" dirty="0"/>
              <a:t>подробна информация </a:t>
            </a:r>
            <a:r>
              <a:rPr lang="bg-BG" sz="3000" dirty="0"/>
              <a:t>по </a:t>
            </a:r>
            <a:r>
              <a:rPr lang="bg-BG" sz="3000" b="1" dirty="0"/>
              <a:t>дадена тема</a:t>
            </a:r>
          </a:p>
          <a:p>
            <a:r>
              <a:rPr lang="bg-BG" sz="3200" b="1" dirty="0">
                <a:solidFill>
                  <a:schemeClr val="bg1"/>
                </a:solidFill>
              </a:rPr>
              <a:t>Страници с продукти и</a:t>
            </a:r>
            <a:r>
              <a:rPr lang="en-GB" sz="3200" b="1" dirty="0">
                <a:solidFill>
                  <a:schemeClr val="bg1"/>
                </a:solidFill>
              </a:rPr>
              <a:t>/</a:t>
            </a:r>
            <a:r>
              <a:rPr lang="bg-BG" sz="3200" b="1" dirty="0">
                <a:solidFill>
                  <a:schemeClr val="bg1"/>
                </a:solidFill>
              </a:rPr>
              <a:t>или услуги</a:t>
            </a:r>
          </a:p>
          <a:p>
            <a:pPr lvl="1"/>
            <a:r>
              <a:rPr lang="bg-BG" sz="3000" dirty="0"/>
              <a:t>Предоставят </a:t>
            </a:r>
            <a:r>
              <a:rPr lang="bg-BG" sz="3000" b="1" dirty="0"/>
              <a:t>конкретни предложения</a:t>
            </a:r>
            <a:r>
              <a:rPr lang="bg-BG" sz="3000" dirty="0"/>
              <a:t>, </a:t>
            </a:r>
            <a:r>
              <a:rPr lang="bg-BG" sz="3000" b="1" dirty="0"/>
              <a:t>характеристики</a:t>
            </a:r>
            <a:r>
              <a:rPr lang="bg-BG" sz="3000" dirty="0"/>
              <a:t> и </a:t>
            </a:r>
            <a:r>
              <a:rPr lang="bg-BG" sz="3000" b="1" dirty="0"/>
              <a:t>цени</a:t>
            </a:r>
          </a:p>
          <a:p>
            <a:r>
              <a:rPr lang="bg-BG" sz="3200" b="1" dirty="0">
                <a:solidFill>
                  <a:schemeClr val="bg1"/>
                </a:solidFill>
              </a:rPr>
              <a:t>Контактна</a:t>
            </a:r>
            <a:r>
              <a:rPr lang="bg-BG" sz="3400" b="1" dirty="0">
                <a:solidFill>
                  <a:schemeClr val="bg1"/>
                </a:solidFill>
              </a:rPr>
              <a:t> уеб страница</a:t>
            </a:r>
          </a:p>
          <a:p>
            <a:pPr lvl="1"/>
            <a:r>
              <a:rPr lang="bg-BG" sz="3000" dirty="0"/>
              <a:t>Предоставят </a:t>
            </a:r>
            <a:r>
              <a:rPr lang="bg-BG" sz="3000" b="1" dirty="0"/>
              <a:t>начини за връзка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Видове уеб страници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97268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7750598" cy="5528766"/>
          </a:xfrm>
        </p:spPr>
        <p:txBody>
          <a:bodyPr>
            <a:normAutofit fontScale="92500" lnSpcReduction="10000"/>
          </a:bodyPr>
          <a:lstStyle/>
          <a:p>
            <a:pPr>
              <a:buClr>
                <a:schemeClr val="tx1"/>
              </a:buClr>
            </a:pPr>
            <a:r>
              <a:rPr lang="bg-BG" sz="3600" b="1" dirty="0"/>
              <a:t>Всяка страница </a:t>
            </a:r>
            <a:r>
              <a:rPr lang="bg-BG" sz="3600" dirty="0"/>
              <a:t>има </a:t>
            </a:r>
            <a:r>
              <a:rPr lang="bg-BG" sz="3600" b="1" dirty="0">
                <a:solidFill>
                  <a:schemeClr val="bg1"/>
                </a:solidFill>
              </a:rPr>
              <a:t>уникален уеб адрес </a:t>
            </a:r>
            <a:r>
              <a:rPr lang="bg-BG" sz="3600" b="1" dirty="0"/>
              <a:t>(</a:t>
            </a:r>
            <a:r>
              <a:rPr lang="en-US" sz="3600" b="1" dirty="0"/>
              <a:t>URL)</a:t>
            </a:r>
            <a:endParaRPr lang="bg-BG" sz="3600" b="1" dirty="0"/>
          </a:p>
          <a:p>
            <a:pPr>
              <a:buClr>
                <a:schemeClr val="tx1"/>
              </a:buClr>
            </a:pPr>
            <a:r>
              <a:rPr lang="bg-BG" sz="3600" b="1" dirty="0"/>
              <a:t>Страниците</a:t>
            </a:r>
            <a:r>
              <a:rPr lang="bg-BG" sz="3600" dirty="0"/>
              <a:t> са </a:t>
            </a:r>
            <a:r>
              <a:rPr lang="bg-BG" sz="3600" b="1" dirty="0"/>
              <a:t>свързани</a:t>
            </a:r>
            <a:r>
              <a:rPr lang="bg-BG" sz="3600" dirty="0"/>
              <a:t> чрез </a:t>
            </a:r>
            <a:r>
              <a:rPr lang="bg-BG" sz="3600" b="1" dirty="0">
                <a:solidFill>
                  <a:schemeClr val="bg1"/>
                </a:solidFill>
              </a:rPr>
              <a:t>хипервръзки</a:t>
            </a:r>
          </a:p>
          <a:p>
            <a:pPr lvl="1"/>
            <a:r>
              <a:rPr lang="bg-BG" sz="3400" b="1" dirty="0">
                <a:solidFill>
                  <a:schemeClr val="bg1"/>
                </a:solidFill>
              </a:rPr>
              <a:t>Хипервръзка</a:t>
            </a:r>
            <a:r>
              <a:rPr lang="bg-BG" sz="3400" dirty="0"/>
              <a:t> </a:t>
            </a:r>
            <a:r>
              <a:rPr lang="en-US" sz="3400" dirty="0"/>
              <a:t>–</a:t>
            </a:r>
            <a:r>
              <a:rPr lang="bg-BG" sz="3400" dirty="0"/>
              <a:t> </a:t>
            </a:r>
            <a:r>
              <a:rPr lang="bg-BG" sz="3400" b="1" dirty="0"/>
              <a:t>елемент</a:t>
            </a:r>
            <a:r>
              <a:rPr lang="bg-BG" sz="3400" dirty="0"/>
              <a:t>, позволяващ </a:t>
            </a:r>
            <a:r>
              <a:rPr lang="bg-BG" sz="3400" b="1" dirty="0"/>
              <a:t>преминаване</a:t>
            </a:r>
            <a:r>
              <a:rPr lang="bg-BG" sz="3400" dirty="0"/>
              <a:t> към </a:t>
            </a:r>
            <a:r>
              <a:rPr lang="bg-BG" sz="3400" b="1" dirty="0"/>
              <a:t>друга страница</a:t>
            </a:r>
            <a:r>
              <a:rPr lang="bg-BG" sz="3400" dirty="0"/>
              <a:t>, </a:t>
            </a:r>
            <a:r>
              <a:rPr lang="bg-BG" sz="3400" b="1" dirty="0"/>
              <a:t>документ</a:t>
            </a:r>
            <a:r>
              <a:rPr lang="bg-BG" sz="3400" dirty="0"/>
              <a:t>, </a:t>
            </a:r>
            <a:r>
              <a:rPr lang="bg-BG" sz="3400" b="1" dirty="0"/>
              <a:t>част от същата страница </a:t>
            </a:r>
            <a:r>
              <a:rPr lang="bg-BG" sz="3400" dirty="0"/>
              <a:t>или </a:t>
            </a:r>
            <a:r>
              <a:rPr lang="bg-BG" sz="3400" b="1" dirty="0"/>
              <a:t>външен уеб сайт</a:t>
            </a:r>
          </a:p>
          <a:p>
            <a:r>
              <a:rPr lang="bg-BG" sz="3600" b="1" dirty="0"/>
              <a:t>Визията</a:t>
            </a:r>
            <a:r>
              <a:rPr lang="bg-BG" sz="3600" dirty="0"/>
              <a:t> и </a:t>
            </a:r>
            <a:r>
              <a:rPr lang="bg-BG" sz="3600" b="1" dirty="0"/>
              <a:t>структурата</a:t>
            </a:r>
            <a:r>
              <a:rPr lang="bg-BG" sz="3600" dirty="0"/>
              <a:t> на </a:t>
            </a:r>
            <a:r>
              <a:rPr lang="bg-BG" sz="3600" b="1" dirty="0"/>
              <a:t>страниците</a:t>
            </a:r>
            <a:r>
              <a:rPr lang="bg-BG" sz="3600" dirty="0"/>
              <a:t> се определят </a:t>
            </a:r>
            <a:r>
              <a:rPr lang="bg-BG" sz="3600" b="1" dirty="0"/>
              <a:t>по време на </a:t>
            </a:r>
            <a:r>
              <a:rPr lang="bg-BG" sz="3600" b="1" dirty="0">
                <a:solidFill>
                  <a:schemeClr val="bg1"/>
                </a:solidFill>
              </a:rPr>
              <a:t>проектирането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Основни характеристики на уеб страниците</a:t>
            </a:r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6BB6013-705D-772B-AAEC-BD7499EB18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70941" y="2184123"/>
            <a:ext cx="3982089" cy="3552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46919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dirty="0"/>
              <a:t>Адрес и място за съхранение в интернет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dirty="0"/>
              <a:t>Домейн и хостинг услуги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98089B8D-CA2E-871F-360F-17F4E9BED8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58500" y="1494000"/>
            <a:ext cx="2475000" cy="247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6258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3600" b="1" dirty="0">
                <a:solidFill>
                  <a:schemeClr val="bg1"/>
                </a:solidFill>
              </a:rPr>
              <a:t>Уникалното име </a:t>
            </a:r>
            <a:r>
              <a:rPr lang="bg-BG" sz="3600" dirty="0"/>
              <a:t>на даден </a:t>
            </a:r>
            <a:r>
              <a:rPr lang="bg-BG" sz="3600" b="1" dirty="0"/>
              <a:t>уеб сайт</a:t>
            </a:r>
            <a:r>
              <a:rPr lang="bg-BG" sz="3600" dirty="0"/>
              <a:t> в </a:t>
            </a:r>
            <a:r>
              <a:rPr lang="bg-BG" sz="3600" b="1" dirty="0"/>
              <a:t>интернет</a:t>
            </a:r>
          </a:p>
          <a:p>
            <a:pPr>
              <a:buClr>
                <a:schemeClr val="tx2"/>
              </a:buClr>
            </a:pPr>
            <a:r>
              <a:rPr lang="bg-BG" sz="3600" b="1" dirty="0"/>
              <a:t>Насочва</a:t>
            </a:r>
            <a:r>
              <a:rPr lang="bg-BG" sz="3600" dirty="0"/>
              <a:t> към </a:t>
            </a:r>
            <a:r>
              <a:rPr lang="bg-BG" sz="3600" b="1" dirty="0">
                <a:solidFill>
                  <a:schemeClr val="bg1"/>
                </a:solidFill>
              </a:rPr>
              <a:t>сървъра</a:t>
            </a:r>
            <a:r>
              <a:rPr lang="bg-BG" sz="3600" dirty="0"/>
              <a:t>, където е </a:t>
            </a:r>
            <a:r>
              <a:rPr lang="bg-BG" sz="3600" b="1" dirty="0"/>
              <a:t>уеб сайтът</a:t>
            </a:r>
          </a:p>
          <a:p>
            <a:pPr>
              <a:buClr>
                <a:schemeClr val="tx2"/>
              </a:buClr>
            </a:pPr>
            <a:r>
              <a:rPr lang="bg-BG" sz="3600" dirty="0"/>
              <a:t>Служи като </a:t>
            </a:r>
            <a:r>
              <a:rPr lang="bg-BG" sz="3600" b="1" dirty="0"/>
              <a:t>лесен за запомняне адрес</a:t>
            </a:r>
          </a:p>
          <a:p>
            <a:pPr>
              <a:buClr>
                <a:schemeClr val="tx2"/>
              </a:buClr>
            </a:pPr>
            <a:r>
              <a:rPr lang="bg-BG" sz="3600" b="1" dirty="0"/>
              <a:t>Пример</a:t>
            </a:r>
            <a:r>
              <a:rPr lang="en-US" sz="3600" b="1" dirty="0"/>
              <a:t>: </a:t>
            </a:r>
            <a:r>
              <a:rPr lang="bg-BG" sz="3600" dirty="0"/>
              <a:t>В </a:t>
            </a:r>
            <a:r>
              <a:rPr lang="en-US" sz="3600" b="1" dirty="0">
                <a:latin typeface="Consolas" panose="020B0609020204030204" pitchFamily="49" charset="0"/>
                <a:cs typeface="Consolas" panose="020B0609020204030204" pitchFamily="49" charset="0"/>
              </a:rPr>
              <a:t>mon.bg</a:t>
            </a:r>
            <a:r>
              <a:rPr lang="en-US" sz="3600" dirty="0"/>
              <a:t>, </a:t>
            </a:r>
            <a:r>
              <a:rPr lang="bg-BG" sz="3600" b="1" dirty="0"/>
              <a:t>името</a:t>
            </a:r>
            <a:r>
              <a:rPr lang="bg-BG" sz="3600" dirty="0"/>
              <a:t> е </a:t>
            </a:r>
            <a:r>
              <a:rPr lang="bg-BG" sz="3600" b="1" dirty="0">
                <a:latin typeface="Consolas" panose="020B0609020204030204" pitchFamily="49" charset="0"/>
                <a:cs typeface="Consolas" panose="020B0609020204030204" pitchFamily="49" charset="0"/>
              </a:rPr>
              <a:t>m</a:t>
            </a:r>
            <a:r>
              <a:rPr lang="en-US" sz="3600" b="1" dirty="0">
                <a:latin typeface="Consolas" panose="020B0609020204030204" pitchFamily="49" charset="0"/>
                <a:cs typeface="Consolas" panose="020B0609020204030204" pitchFamily="49" charset="0"/>
              </a:rPr>
              <a:t>on</a:t>
            </a:r>
            <a:r>
              <a:rPr lang="en-US" sz="3600" dirty="0"/>
              <a:t>,</a:t>
            </a:r>
            <a:r>
              <a:rPr lang="bg-BG" sz="3600" dirty="0"/>
              <a:t> а </a:t>
            </a:r>
            <a:r>
              <a:rPr lang="bg-BG" sz="3600" b="1" dirty="0">
                <a:latin typeface="Consolas" panose="020B0609020204030204" pitchFamily="49" charset="0"/>
                <a:cs typeface="Consolas" panose="020B0609020204030204" pitchFamily="49" charset="0"/>
              </a:rPr>
              <a:t>b</a:t>
            </a:r>
            <a:r>
              <a:rPr lang="en-US" sz="3600" b="1" dirty="0">
                <a:latin typeface="Consolas" panose="020B0609020204030204" pitchFamily="49" charset="0"/>
                <a:cs typeface="Consolas" panose="020B0609020204030204" pitchFamily="49" charset="0"/>
              </a:rPr>
              <a:t>g</a:t>
            </a:r>
            <a:r>
              <a:rPr lang="en-US" sz="3600" b="1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bg-BG" sz="3600" dirty="0"/>
              <a:t>е </a:t>
            </a:r>
            <a:r>
              <a:rPr lang="bg-BG" sz="3600" b="1" dirty="0"/>
              <a:t>разширението</a:t>
            </a:r>
          </a:p>
          <a:p>
            <a:pPr>
              <a:buClr>
                <a:schemeClr val="tx2"/>
              </a:buClr>
            </a:pPr>
            <a:endParaRPr lang="bg-BG" sz="3600" b="1" dirty="0">
              <a:highlight>
                <a:srgbClr val="FFFF00"/>
              </a:highlight>
            </a:endParaRPr>
          </a:p>
          <a:p>
            <a:pPr>
              <a:buClr>
                <a:schemeClr val="tx2"/>
              </a:buClr>
            </a:pPr>
            <a:endParaRPr lang="bg-BG" sz="3600" b="1" dirty="0">
              <a:highlight>
                <a:srgbClr val="FFFF00"/>
              </a:highlight>
            </a:endParaRP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Домейн (</a:t>
            </a:r>
            <a:r>
              <a:rPr lang="en-US" dirty="0"/>
              <a:t>Domain</a:t>
            </a:r>
            <a:r>
              <a:rPr lang="bg-BG" dirty="0"/>
              <a:t>)</a:t>
            </a: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E734FC3-E781-12E8-88C5-F296AA122F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79012" y="4585072"/>
            <a:ext cx="2115002" cy="772107"/>
          </a:xfrm>
          <a:prstGeom prst="rect">
            <a:avLst/>
          </a:prstGeom>
          <a:solidFill>
            <a:schemeClr val="accent5">
              <a:lumMod val="40000"/>
              <a:lumOff val="60000"/>
              <a:alpha val="20000"/>
            </a:schemeClr>
          </a:solidFill>
          <a:ln w="12700"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 vert="horz" wrap="square" lIns="144000" tIns="108000" rIns="144000" bIns="108000" rtlCol="0">
            <a:spAutoFit/>
          </a:bodyPr>
          <a:lstStyle/>
          <a:p>
            <a:pPr algn="ctr">
              <a:spcBef>
                <a:spcPts val="600"/>
              </a:spcBef>
              <a:spcAft>
                <a:spcPts val="600"/>
              </a:spcAft>
              <a:buClr>
                <a:srgbClr val="F2B254"/>
              </a:buClr>
              <a:buSzPct val="100000"/>
              <a:buFont typeface="Wingdings" panose="05000000000000000000" pitchFamily="2" charset="2"/>
              <a:buNone/>
            </a:pPr>
            <a:r>
              <a:rPr lang="en-US" sz="3600" b="1" dirty="0">
                <a:latin typeface="Consolas" panose="020B0609020204030204" pitchFamily="49" charset="0"/>
                <a:cs typeface="Consolas" panose="020B0609020204030204" pitchFamily="49" charset="0"/>
              </a:rPr>
              <a:t>mon</a:t>
            </a:r>
            <a:r>
              <a:rPr lang="en-GB" sz="3600" b="1" dirty="0">
                <a:latin typeface="Consolas" panose="020B0609020204030204" pitchFamily="49" charset="0"/>
                <a:cs typeface="Consolas" panose="020B0609020204030204" pitchFamily="49" charset="0"/>
              </a:rPr>
              <a:t>.bg</a:t>
            </a:r>
            <a:endParaRPr lang="en-US" sz="3600" b="1" noProof="1">
              <a:latin typeface="Consolas" panose="020B0609020204030204" pitchFamily="49" charset="0"/>
              <a:cs typeface="Consolas" pitchFamily="49" charset="0"/>
            </a:endParaRPr>
          </a:p>
        </p:txBody>
      </p:sp>
      <p:sp>
        <p:nvSpPr>
          <p:cNvPr id="3" name="Rounded Rectangular Callout 8">
            <a:extLst>
              <a:ext uri="{FF2B5EF4-FFF2-40B4-BE49-F238E27FC236}">
                <a16:creationId xmlns:a16="http://schemas.microsoft.com/office/drawing/2014/main" id="{9E9175EA-2DF4-148E-70A1-A7A942D7195C}"/>
              </a:ext>
            </a:extLst>
          </p:cNvPr>
          <p:cNvSpPr/>
          <p:nvPr/>
        </p:nvSpPr>
        <p:spPr bwMode="auto">
          <a:xfrm>
            <a:off x="4296001" y="5569900"/>
            <a:ext cx="1270599" cy="649100"/>
          </a:xfrm>
          <a:prstGeom prst="wedgeRoundRectCallout">
            <a:avLst>
              <a:gd name="adj1" fmla="val 26106"/>
              <a:gd name="adj2" fmla="val -110574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bg-BG" sz="28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Име</a:t>
            </a:r>
            <a:endParaRPr lang="en-BG" sz="2800" b="1" dirty="0">
              <a:solidFill>
                <a:schemeClr val="bg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5" name="Rounded Rectangular Callout 8">
            <a:extLst>
              <a:ext uri="{FF2B5EF4-FFF2-40B4-BE49-F238E27FC236}">
                <a16:creationId xmlns:a16="http://schemas.microsoft.com/office/drawing/2014/main" id="{CE3177F2-27EF-8AAA-596B-2C2717C1009D}"/>
              </a:ext>
            </a:extLst>
          </p:cNvPr>
          <p:cNvSpPr/>
          <p:nvPr/>
        </p:nvSpPr>
        <p:spPr bwMode="auto">
          <a:xfrm>
            <a:off x="6871256" y="4708079"/>
            <a:ext cx="2430000" cy="649100"/>
          </a:xfrm>
          <a:prstGeom prst="wedgeRoundRectCallout">
            <a:avLst>
              <a:gd name="adj1" fmla="val -73588"/>
              <a:gd name="adj2" fmla="val 1026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bg-BG" sz="28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Разширение</a:t>
            </a:r>
            <a:endParaRPr lang="en-BG" sz="2800" b="1" dirty="0">
              <a:solidFill>
                <a:schemeClr val="bg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7640022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3400" b="1" dirty="0">
                <a:solidFill>
                  <a:schemeClr val="bg1"/>
                </a:solidFill>
              </a:rPr>
              <a:t>Имената</a:t>
            </a:r>
            <a:r>
              <a:rPr lang="bg-BG" sz="3400" dirty="0"/>
              <a:t> на </a:t>
            </a:r>
            <a:r>
              <a:rPr lang="bg-BG" sz="3400" b="1" dirty="0"/>
              <a:t>домейни</a:t>
            </a:r>
            <a:r>
              <a:rPr lang="bg-BG" sz="3400" dirty="0"/>
              <a:t> се състоят от </a:t>
            </a:r>
            <a:r>
              <a:rPr lang="bg-BG" sz="3400" b="1" dirty="0"/>
              <a:t>части</a:t>
            </a:r>
            <a:r>
              <a:rPr lang="bg-BG" sz="3400" dirty="0"/>
              <a:t>, </a:t>
            </a:r>
            <a:r>
              <a:rPr lang="bg-BG" sz="3400" b="1" dirty="0"/>
              <a:t>разделени</a:t>
            </a:r>
            <a:r>
              <a:rPr lang="bg-BG" sz="3400" dirty="0"/>
              <a:t> с </a:t>
            </a:r>
            <a:r>
              <a:rPr lang="bg-BG" sz="3400" b="1" dirty="0">
                <a:solidFill>
                  <a:schemeClr val="bg1"/>
                </a:solidFill>
              </a:rPr>
              <a:t>точки</a:t>
            </a:r>
            <a:endParaRPr lang="en-US" sz="3400" b="1" dirty="0">
              <a:solidFill>
                <a:schemeClr val="bg1"/>
              </a:solidFill>
            </a:endParaRPr>
          </a:p>
          <a:p>
            <a:pPr>
              <a:buClr>
                <a:schemeClr val="tx2"/>
              </a:buClr>
            </a:pPr>
            <a:r>
              <a:rPr lang="bg-BG" sz="3400" b="1" dirty="0">
                <a:solidFill>
                  <a:schemeClr val="bg1"/>
                </a:solidFill>
              </a:rPr>
              <a:t>Домейн от първо ниво </a:t>
            </a:r>
            <a:r>
              <a:rPr lang="bg-BG" sz="3400" b="1" dirty="0"/>
              <a:t>(</a:t>
            </a:r>
            <a:r>
              <a:rPr lang="en-US" sz="3400" b="1" dirty="0"/>
              <a:t>TLD</a:t>
            </a:r>
            <a:r>
              <a:rPr lang="bg-BG" sz="3400" b="1" dirty="0"/>
              <a:t> </a:t>
            </a:r>
            <a:r>
              <a:rPr lang="en-US" sz="3400" b="1" dirty="0"/>
              <a:t>– Top Level Domain</a:t>
            </a:r>
            <a:r>
              <a:rPr lang="bg-BG" sz="3400" b="1" dirty="0"/>
              <a:t>)</a:t>
            </a:r>
          </a:p>
          <a:p>
            <a:pPr lvl="1">
              <a:buClr>
                <a:schemeClr val="tx2"/>
              </a:buClr>
            </a:pPr>
            <a:r>
              <a:rPr lang="bg-BG" sz="3200" b="1" dirty="0"/>
              <a:t>Най-дясната част </a:t>
            </a:r>
            <a:r>
              <a:rPr lang="bg-BG" sz="3200" dirty="0"/>
              <a:t>на </a:t>
            </a:r>
            <a:r>
              <a:rPr lang="bg-BG" sz="3200" b="1" dirty="0"/>
              <a:t>домейна</a:t>
            </a:r>
            <a:r>
              <a:rPr lang="bg-BG" sz="3200" dirty="0"/>
              <a:t>, показваща </a:t>
            </a:r>
            <a:r>
              <a:rPr lang="bg-BG" sz="3200" b="1" dirty="0"/>
              <a:t>типа</a:t>
            </a:r>
            <a:r>
              <a:rPr lang="bg-BG" sz="3200" dirty="0"/>
              <a:t> или </a:t>
            </a:r>
            <a:r>
              <a:rPr lang="bg-BG" sz="3200" b="1" dirty="0"/>
              <a:t>страната</a:t>
            </a:r>
          </a:p>
          <a:p>
            <a:pPr lvl="1">
              <a:buClr>
                <a:schemeClr val="tx2"/>
              </a:buClr>
            </a:pPr>
            <a:r>
              <a:rPr lang="bg-BG" sz="3200" b="1" dirty="0"/>
              <a:t>Пример: </a:t>
            </a:r>
            <a:r>
              <a:rPr lang="bg-BG" sz="3200" b="1" dirty="0"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3200" b="1" dirty="0">
                <a:latin typeface="Consolas" panose="020B0609020204030204" pitchFamily="49" charset="0"/>
                <a:cs typeface="Consolas" panose="020B0609020204030204" pitchFamily="49" charset="0"/>
              </a:rPr>
              <a:t>com</a:t>
            </a:r>
            <a:r>
              <a:rPr lang="en-US" sz="3200" dirty="0"/>
              <a:t>, </a:t>
            </a:r>
            <a:r>
              <a:rPr lang="en-US" sz="3200" b="1" dirty="0">
                <a:latin typeface="Consolas" panose="020B0609020204030204" pitchFamily="49" charset="0"/>
                <a:cs typeface="Consolas" panose="020B0609020204030204" pitchFamily="49" charset="0"/>
              </a:rPr>
              <a:t>.org</a:t>
            </a:r>
            <a:r>
              <a:rPr lang="en-US" sz="3200" dirty="0"/>
              <a:t>, </a:t>
            </a:r>
            <a:r>
              <a:rPr lang="en-US" sz="3200" b="1" dirty="0">
                <a:latin typeface="Consolas" panose="020B0609020204030204" pitchFamily="49" charset="0"/>
                <a:cs typeface="Consolas" panose="020B0609020204030204" pitchFamily="49" charset="0"/>
              </a:rPr>
              <a:t>.net</a:t>
            </a:r>
            <a:r>
              <a:rPr lang="en-US" sz="3200" dirty="0"/>
              <a:t>, </a:t>
            </a:r>
            <a:r>
              <a:rPr lang="en-US" sz="3200" b="1" dirty="0">
                <a:latin typeface="Consolas" panose="020B0609020204030204" pitchFamily="49" charset="0"/>
                <a:cs typeface="Consolas" panose="020B0609020204030204" pitchFamily="49" charset="0"/>
              </a:rPr>
              <a:t>.bg</a:t>
            </a:r>
            <a:r>
              <a:rPr lang="en-US" sz="3200" dirty="0"/>
              <a:t>, </a:t>
            </a:r>
            <a:r>
              <a:rPr lang="en-US" sz="3200" b="1" dirty="0">
                <a:latin typeface="Consolas" panose="020B0609020204030204" pitchFamily="49" charset="0"/>
                <a:cs typeface="Consolas" panose="020B0609020204030204" pitchFamily="49" charset="0"/>
              </a:rPr>
              <a:t>.edu</a:t>
            </a:r>
            <a:r>
              <a:rPr lang="en-US" sz="3200" b="1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bg-BG" sz="3200" dirty="0"/>
              <a:t>и др.</a:t>
            </a:r>
          </a:p>
          <a:p>
            <a:pPr>
              <a:buClr>
                <a:schemeClr val="tx2"/>
              </a:buClr>
            </a:pPr>
            <a:r>
              <a:rPr lang="bg-BG" sz="3400" b="1" dirty="0">
                <a:solidFill>
                  <a:schemeClr val="bg1"/>
                </a:solidFill>
              </a:rPr>
              <a:t>Домейн от второ ниво </a:t>
            </a:r>
            <a:r>
              <a:rPr lang="bg-BG" sz="3400" b="1" dirty="0"/>
              <a:t>(</a:t>
            </a:r>
            <a:r>
              <a:rPr lang="en-US" sz="3400" b="1" dirty="0"/>
              <a:t>SLD – Second Level Domain)</a:t>
            </a:r>
            <a:endParaRPr lang="bg-BG" sz="3400" b="1" dirty="0"/>
          </a:p>
          <a:p>
            <a:pPr lvl="1">
              <a:buClr>
                <a:schemeClr val="tx2"/>
              </a:buClr>
            </a:pPr>
            <a:r>
              <a:rPr lang="bg-BG" sz="3200" b="1" dirty="0"/>
              <a:t>Основното име</a:t>
            </a:r>
            <a:r>
              <a:rPr lang="bg-BG" sz="3200" dirty="0"/>
              <a:t>, което потребителят избира</a:t>
            </a:r>
          </a:p>
          <a:p>
            <a:pPr lvl="1">
              <a:buClr>
                <a:schemeClr val="tx2"/>
              </a:buClr>
            </a:pPr>
            <a:r>
              <a:rPr lang="bg-BG" sz="3200" b="1" dirty="0"/>
              <a:t>Пример: </a:t>
            </a:r>
            <a:r>
              <a:rPr lang="bg-BG" sz="3200" dirty="0"/>
              <a:t>В </a:t>
            </a:r>
            <a:r>
              <a:rPr lang="bg-BG" sz="3200" b="1" dirty="0">
                <a:latin typeface="Consolas" panose="020B0609020204030204" pitchFamily="49" charset="0"/>
                <a:cs typeface="Consolas" panose="020B0609020204030204" pitchFamily="49" charset="0"/>
              </a:rPr>
              <a:t>g</a:t>
            </a:r>
            <a:r>
              <a:rPr lang="en-US" sz="3200" b="1" dirty="0">
                <a:latin typeface="Consolas" panose="020B0609020204030204" pitchFamily="49" charset="0"/>
                <a:cs typeface="Consolas" panose="020B0609020204030204" pitchFamily="49" charset="0"/>
              </a:rPr>
              <a:t>oogle.com</a:t>
            </a:r>
            <a:r>
              <a:rPr lang="en-US" sz="3200" dirty="0"/>
              <a:t>, </a:t>
            </a:r>
            <a:r>
              <a:rPr lang="en-US" sz="3200" b="1" dirty="0">
                <a:latin typeface="Consolas" panose="020B0609020204030204" pitchFamily="49" charset="0"/>
                <a:cs typeface="Consolas" panose="020B0609020204030204" pitchFamily="49" charset="0"/>
              </a:rPr>
              <a:t>google</a:t>
            </a:r>
            <a:r>
              <a:rPr lang="en-US" sz="3200" dirty="0"/>
              <a:t> </a:t>
            </a:r>
            <a:r>
              <a:rPr lang="bg-BG" sz="3200" dirty="0"/>
              <a:t>е </a:t>
            </a:r>
            <a:r>
              <a:rPr lang="bg-BG" sz="3200" b="1" dirty="0"/>
              <a:t>домейна от второ ниво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Нива на домейните </a:t>
            </a:r>
            <a:r>
              <a:rPr lang="en-US" dirty="0"/>
              <a:t>(Domain Levels) (1)</a:t>
            </a:r>
          </a:p>
        </p:txBody>
      </p:sp>
    </p:spTree>
    <p:extLst>
      <p:ext uri="{BB962C8B-B14F-4D97-AF65-F5344CB8AC3E}">
        <p14:creationId xmlns:p14="http://schemas.microsoft.com/office/powerpoint/2010/main" val="4142920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3400" b="1" dirty="0">
                <a:solidFill>
                  <a:schemeClr val="bg1"/>
                </a:solidFill>
              </a:rPr>
              <a:t>Домейн от трето ниво </a:t>
            </a:r>
            <a:r>
              <a:rPr lang="bg-BG" sz="3400" b="1" dirty="0"/>
              <a:t>(</a:t>
            </a:r>
            <a:r>
              <a:rPr lang="en-US" sz="3400" b="1" dirty="0"/>
              <a:t>Subdomain</a:t>
            </a:r>
            <a:r>
              <a:rPr lang="bg-BG" sz="3400" b="1" dirty="0"/>
              <a:t>)</a:t>
            </a:r>
            <a:endParaRPr lang="en-US" sz="3400" b="1" dirty="0"/>
          </a:p>
          <a:p>
            <a:pPr lvl="1">
              <a:buClr>
                <a:schemeClr val="tx2"/>
              </a:buClr>
            </a:pPr>
            <a:r>
              <a:rPr lang="bg-BG" sz="3200" b="1" dirty="0"/>
              <a:t>Частта</a:t>
            </a:r>
            <a:r>
              <a:rPr lang="bg-BG" sz="3200" dirty="0"/>
              <a:t> </a:t>
            </a:r>
            <a:r>
              <a:rPr lang="bg-BG" sz="3200" b="1" dirty="0"/>
              <a:t>пред основния домейн</a:t>
            </a:r>
            <a:r>
              <a:rPr lang="bg-BG" sz="3200" dirty="0"/>
              <a:t>, използвана за </a:t>
            </a:r>
            <a:r>
              <a:rPr lang="bg-BG" sz="3200" b="1" dirty="0"/>
              <a:t>разделяне на съдържание</a:t>
            </a:r>
          </a:p>
          <a:p>
            <a:pPr lvl="1">
              <a:buClr>
                <a:schemeClr val="tx2"/>
              </a:buClr>
            </a:pPr>
            <a:r>
              <a:rPr lang="bg-BG" sz="3200" b="1" dirty="0"/>
              <a:t>Пример: </a:t>
            </a:r>
            <a:r>
              <a:rPr lang="bg-BG" sz="3200" dirty="0"/>
              <a:t>В </a:t>
            </a:r>
            <a:r>
              <a:rPr lang="en-GB" sz="3200" b="1" dirty="0">
                <a:latin typeface="Consolas" panose="020B0609020204030204" pitchFamily="49" charset="0"/>
                <a:cs typeface="Consolas" panose="020B0609020204030204" pitchFamily="49" charset="0"/>
              </a:rPr>
              <a:t>bg.wikipedia.org</a:t>
            </a:r>
            <a:r>
              <a:rPr lang="bg-BG" sz="3200" dirty="0"/>
              <a:t>, </a:t>
            </a:r>
            <a:r>
              <a:rPr lang="bg-BG" sz="3200" b="1" dirty="0">
                <a:latin typeface="Consolas" panose="020B0609020204030204" pitchFamily="49" charset="0"/>
                <a:cs typeface="Consolas" panose="020B0609020204030204" pitchFamily="49" charset="0"/>
              </a:rPr>
              <a:t>b</a:t>
            </a:r>
            <a:r>
              <a:rPr lang="en-US" sz="3200" b="1" dirty="0">
                <a:latin typeface="Consolas" panose="020B0609020204030204" pitchFamily="49" charset="0"/>
                <a:cs typeface="Consolas" panose="020B0609020204030204" pitchFamily="49" charset="0"/>
              </a:rPr>
              <a:t>g</a:t>
            </a:r>
            <a:r>
              <a:rPr lang="en-US" sz="3200" b="1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200" dirty="0"/>
              <a:t>e </a:t>
            </a:r>
            <a:r>
              <a:rPr lang="bg-BG" sz="3200" b="1" dirty="0"/>
              <a:t>домейна от трето ниво</a:t>
            </a:r>
            <a:endParaRPr lang="en-US" sz="3200" b="1" dirty="0">
              <a:highlight>
                <a:srgbClr val="FFFF00"/>
              </a:highlight>
            </a:endParaRP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Нива на домейните </a:t>
            </a:r>
            <a:r>
              <a:rPr lang="en-US" dirty="0"/>
              <a:t>(Domain Levels)</a:t>
            </a:r>
            <a:r>
              <a:rPr lang="bg-BG" dirty="0"/>
              <a:t> (2</a:t>
            </a:r>
            <a:r>
              <a:rPr lang="en-US" dirty="0"/>
              <a:t>)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06161C9-7343-0887-6588-16E7DA9ACA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21000" y="4194000"/>
            <a:ext cx="4500000" cy="772107"/>
          </a:xfrm>
          <a:prstGeom prst="rect">
            <a:avLst/>
          </a:prstGeom>
          <a:solidFill>
            <a:schemeClr val="accent5">
              <a:lumMod val="40000"/>
              <a:lumOff val="60000"/>
              <a:alpha val="20000"/>
            </a:schemeClr>
          </a:solidFill>
          <a:ln w="12700"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 vert="horz" wrap="square" lIns="144000" tIns="108000" rIns="144000" bIns="108000" rtlCol="0">
            <a:spAutoFit/>
          </a:bodyPr>
          <a:lstStyle/>
          <a:p>
            <a:pPr algn="ctr">
              <a:spcBef>
                <a:spcPts val="600"/>
              </a:spcBef>
              <a:spcAft>
                <a:spcPts val="600"/>
              </a:spcAft>
              <a:buClr>
                <a:srgbClr val="F2B254"/>
              </a:buClr>
              <a:buSzPct val="100000"/>
              <a:buFont typeface="Wingdings" panose="05000000000000000000" pitchFamily="2" charset="2"/>
              <a:buNone/>
            </a:pPr>
            <a:r>
              <a:rPr lang="en-GB" sz="3600" b="1" dirty="0">
                <a:latin typeface="Consolas" panose="020B0609020204030204" pitchFamily="49" charset="0"/>
                <a:cs typeface="Consolas" panose="020B0609020204030204" pitchFamily="49" charset="0"/>
              </a:rPr>
              <a:t>bg.wikipedia.org</a:t>
            </a:r>
            <a:endParaRPr lang="en-US" sz="3600" b="1" noProof="1">
              <a:latin typeface="Consolas" panose="020B0609020204030204" pitchFamily="49" charset="0"/>
              <a:cs typeface="Consolas" pitchFamily="49" charset="0"/>
            </a:endParaRPr>
          </a:p>
        </p:txBody>
      </p:sp>
      <p:sp>
        <p:nvSpPr>
          <p:cNvPr id="3" name="Rounded Rectangular Callout 8">
            <a:extLst>
              <a:ext uri="{FF2B5EF4-FFF2-40B4-BE49-F238E27FC236}">
                <a16:creationId xmlns:a16="http://schemas.microsoft.com/office/drawing/2014/main" id="{64850ECD-8F21-DE9D-B14D-5AEA5C8D5A31}"/>
              </a:ext>
            </a:extLst>
          </p:cNvPr>
          <p:cNvSpPr/>
          <p:nvPr/>
        </p:nvSpPr>
        <p:spPr bwMode="auto">
          <a:xfrm>
            <a:off x="8239418" y="5462420"/>
            <a:ext cx="2970000" cy="649100"/>
          </a:xfrm>
          <a:prstGeom prst="wedgeRoundRectCallout">
            <a:avLst>
              <a:gd name="adj1" fmla="val -72951"/>
              <a:gd name="adj2" fmla="val -154482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bg-BG" sz="28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Първо ниво </a:t>
            </a:r>
            <a:r>
              <a:rPr lang="bg-BG" sz="28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(</a:t>
            </a:r>
            <a:r>
              <a:rPr lang="en-US" sz="28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TLD</a:t>
            </a:r>
            <a:r>
              <a:rPr lang="bg-BG" sz="28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)</a:t>
            </a:r>
            <a:endParaRPr lang="en-BG" sz="2800" b="1" dirty="0">
              <a:solidFill>
                <a:schemeClr val="bg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5" name="Rounded Rectangular Callout 8">
            <a:extLst>
              <a:ext uri="{FF2B5EF4-FFF2-40B4-BE49-F238E27FC236}">
                <a16:creationId xmlns:a16="http://schemas.microsoft.com/office/drawing/2014/main" id="{2E39709D-7650-A141-8A8C-552DD218F6EF}"/>
              </a:ext>
            </a:extLst>
          </p:cNvPr>
          <p:cNvSpPr/>
          <p:nvPr/>
        </p:nvSpPr>
        <p:spPr bwMode="auto">
          <a:xfrm>
            <a:off x="4997612" y="5460149"/>
            <a:ext cx="2970000" cy="649100"/>
          </a:xfrm>
          <a:prstGeom prst="wedgeRoundRectCallout">
            <a:avLst>
              <a:gd name="adj1" fmla="val -16573"/>
              <a:gd name="adj2" fmla="val -156311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bg-BG" sz="28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Второ ниво </a:t>
            </a:r>
            <a:r>
              <a:rPr lang="bg-BG" sz="28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(</a:t>
            </a:r>
            <a:r>
              <a:rPr lang="en-US" sz="28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SLD</a:t>
            </a:r>
            <a:r>
              <a:rPr lang="bg-BG" sz="28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)</a:t>
            </a:r>
            <a:endParaRPr lang="en-BG" sz="2800" b="1" dirty="0">
              <a:solidFill>
                <a:schemeClr val="bg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6" name="Rounded Rectangular Callout 8">
            <a:extLst>
              <a:ext uri="{FF2B5EF4-FFF2-40B4-BE49-F238E27FC236}">
                <a16:creationId xmlns:a16="http://schemas.microsoft.com/office/drawing/2014/main" id="{889BCB42-5078-41FD-6E89-A0BFD69CFB89}"/>
              </a:ext>
            </a:extLst>
          </p:cNvPr>
          <p:cNvSpPr/>
          <p:nvPr/>
        </p:nvSpPr>
        <p:spPr bwMode="auto">
          <a:xfrm>
            <a:off x="570609" y="5460149"/>
            <a:ext cx="4155197" cy="649100"/>
          </a:xfrm>
          <a:prstGeom prst="wedgeRoundRectCallout">
            <a:avLst>
              <a:gd name="adj1" fmla="val 37321"/>
              <a:gd name="adj2" fmla="val -150823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bg-BG" sz="28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Трето ниво </a:t>
            </a:r>
            <a:r>
              <a:rPr lang="bg-BG" sz="28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(поддомейн)</a:t>
            </a:r>
            <a:endParaRPr lang="en-BG" sz="2800" b="1" dirty="0">
              <a:solidFill>
                <a:schemeClr val="bg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7179837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5" grpId="0" animBg="1"/>
      <p:bldP spid="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6850598" cy="5528766"/>
          </a:xfrm>
        </p:spPr>
        <p:txBody>
          <a:bodyPr>
            <a:normAutofit lnSpcReduction="10000"/>
          </a:bodyPr>
          <a:lstStyle/>
          <a:p>
            <a:pPr>
              <a:buClr>
                <a:schemeClr val="tx2"/>
              </a:buClr>
            </a:pPr>
            <a:r>
              <a:rPr lang="bg-BG" sz="3600" b="1" dirty="0"/>
              <a:t>Услуга</a:t>
            </a:r>
            <a:r>
              <a:rPr lang="bg-BG" sz="3600" dirty="0"/>
              <a:t>, осигуряваща </a:t>
            </a:r>
            <a:r>
              <a:rPr lang="bg-BG" sz="3600" b="1" dirty="0">
                <a:solidFill>
                  <a:schemeClr val="bg1"/>
                </a:solidFill>
              </a:rPr>
              <a:t>сървърно пространство </a:t>
            </a:r>
            <a:r>
              <a:rPr lang="bg-BG" sz="3600" dirty="0"/>
              <a:t>за </a:t>
            </a:r>
            <a:r>
              <a:rPr lang="bg-BG" sz="3600" b="1" dirty="0"/>
              <a:t>съхранение на файловете</a:t>
            </a:r>
            <a:r>
              <a:rPr lang="bg-BG" sz="3600" dirty="0"/>
              <a:t> на </a:t>
            </a:r>
            <a:r>
              <a:rPr lang="bg-BG" sz="3600" b="1" dirty="0"/>
              <a:t>уеб сайта</a:t>
            </a:r>
          </a:p>
          <a:p>
            <a:pPr>
              <a:buClr>
                <a:schemeClr val="tx2"/>
              </a:buClr>
            </a:pPr>
            <a:r>
              <a:rPr lang="bg-BG" sz="3600" dirty="0"/>
              <a:t>Позволява </a:t>
            </a:r>
            <a:r>
              <a:rPr lang="bg-BG" sz="3600" b="1" dirty="0"/>
              <a:t>уеб сайтът </a:t>
            </a:r>
            <a:r>
              <a:rPr lang="bg-BG" sz="3600" dirty="0"/>
              <a:t>да бъде </a:t>
            </a:r>
            <a:r>
              <a:rPr lang="bg-BG" sz="3600" b="1" dirty="0">
                <a:solidFill>
                  <a:schemeClr val="bg1"/>
                </a:solidFill>
              </a:rPr>
              <a:t>достъпен</a:t>
            </a:r>
            <a:r>
              <a:rPr lang="bg-BG" sz="3600" dirty="0"/>
              <a:t> в </a:t>
            </a:r>
            <a:r>
              <a:rPr lang="bg-BG" sz="3600" b="1" dirty="0"/>
              <a:t>интернет</a:t>
            </a:r>
            <a:r>
              <a:rPr lang="bg-BG" sz="3600" dirty="0"/>
              <a:t> по </a:t>
            </a:r>
            <a:r>
              <a:rPr lang="bg-BG" sz="3600" b="1" dirty="0"/>
              <a:t>всяко време</a:t>
            </a:r>
          </a:p>
          <a:p>
            <a:pPr>
              <a:buClr>
                <a:schemeClr val="tx2"/>
              </a:buClr>
            </a:pPr>
            <a:r>
              <a:rPr lang="bg-BG" sz="3600" dirty="0"/>
              <a:t>Всеки </a:t>
            </a:r>
            <a:r>
              <a:rPr lang="bg-BG" sz="3600" b="1" dirty="0"/>
              <a:t>уеб сайт </a:t>
            </a:r>
            <a:r>
              <a:rPr lang="bg-BG" sz="3600" dirty="0"/>
              <a:t>се нуждае от </a:t>
            </a:r>
            <a:r>
              <a:rPr lang="bg-BG" sz="3600" b="1" dirty="0"/>
              <a:t>домейн</a:t>
            </a:r>
            <a:r>
              <a:rPr lang="bg-BG" sz="3600" dirty="0"/>
              <a:t> и </a:t>
            </a:r>
            <a:r>
              <a:rPr lang="bg-BG" sz="3600" b="1" dirty="0"/>
              <a:t>хостинг</a:t>
            </a:r>
            <a:r>
              <a:rPr lang="bg-BG" sz="3600" dirty="0"/>
              <a:t>, за да </a:t>
            </a:r>
            <a:r>
              <a:rPr lang="bg-BG" sz="3600" b="1" dirty="0">
                <a:solidFill>
                  <a:schemeClr val="bg1"/>
                </a:solidFill>
              </a:rPr>
              <a:t>функционира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Хостинг (</a:t>
            </a:r>
            <a:r>
              <a:rPr lang="en-US" dirty="0"/>
              <a:t>Hosting</a:t>
            </a:r>
            <a:r>
              <a:rPr lang="bg-BG" dirty="0"/>
              <a:t>)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CEACF9C-5ECA-7F57-B347-F3C1CD13520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3276" y="1449000"/>
            <a:ext cx="3987478" cy="477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35490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 fontScale="92500" lnSpcReduction="10000"/>
          </a:bodyPr>
          <a:lstStyle/>
          <a:p>
            <a:pPr>
              <a:buClr>
                <a:schemeClr val="tx2"/>
              </a:buClr>
            </a:pPr>
            <a:r>
              <a:rPr lang="bg-BG" sz="3000" b="1" dirty="0">
                <a:solidFill>
                  <a:schemeClr val="bg1"/>
                </a:solidFill>
              </a:rPr>
              <a:t>Споделен хостинг </a:t>
            </a:r>
            <a:r>
              <a:rPr lang="bg-BG" sz="3000" b="1" dirty="0"/>
              <a:t>(</a:t>
            </a:r>
            <a:r>
              <a:rPr lang="en-US" sz="3000" b="1" dirty="0"/>
              <a:t>Shared Hosting</a:t>
            </a:r>
            <a:r>
              <a:rPr lang="bg-BG" sz="3000" b="1" dirty="0"/>
              <a:t>)</a:t>
            </a:r>
            <a:r>
              <a:rPr lang="en-US" sz="3000" b="1" dirty="0"/>
              <a:t> </a:t>
            </a:r>
          </a:p>
          <a:p>
            <a:pPr lvl="1">
              <a:buClr>
                <a:schemeClr val="tx2"/>
              </a:buClr>
            </a:pPr>
            <a:r>
              <a:rPr lang="bg-BG" sz="2800" b="1" dirty="0"/>
              <a:t>Няколко уеб сайта </a:t>
            </a:r>
            <a:r>
              <a:rPr lang="bg-BG" sz="2800" dirty="0"/>
              <a:t>използват </a:t>
            </a:r>
            <a:r>
              <a:rPr lang="bg-BG" sz="2800" b="1" dirty="0"/>
              <a:t>един и същ сървър</a:t>
            </a:r>
            <a:r>
              <a:rPr lang="bg-BG" sz="2800" dirty="0"/>
              <a:t> (по-евтин, но по-бавен)</a:t>
            </a:r>
          </a:p>
          <a:p>
            <a:pPr>
              <a:buClr>
                <a:schemeClr val="tx2"/>
              </a:buClr>
            </a:pPr>
            <a:r>
              <a:rPr lang="bg-BG" sz="3000" b="1" dirty="0">
                <a:solidFill>
                  <a:schemeClr val="bg1"/>
                </a:solidFill>
              </a:rPr>
              <a:t>Виртуален частен сървър </a:t>
            </a:r>
            <a:r>
              <a:rPr lang="en-US" sz="3000" b="1" dirty="0"/>
              <a:t>(VPS Hosting)</a:t>
            </a:r>
          </a:p>
          <a:p>
            <a:pPr lvl="1">
              <a:buClr>
                <a:schemeClr val="tx2"/>
              </a:buClr>
            </a:pPr>
            <a:r>
              <a:rPr lang="bg-BG" sz="2800" b="1" dirty="0"/>
              <a:t>Сървърът</a:t>
            </a:r>
            <a:r>
              <a:rPr lang="bg-BG" sz="2800" dirty="0"/>
              <a:t> е </a:t>
            </a:r>
            <a:r>
              <a:rPr lang="bg-BG" sz="2800" b="1" dirty="0"/>
              <a:t>разделен</a:t>
            </a:r>
            <a:r>
              <a:rPr lang="bg-BG" sz="2800" dirty="0"/>
              <a:t> на </a:t>
            </a:r>
            <a:r>
              <a:rPr lang="bg-BG" sz="2800" b="1" dirty="0"/>
              <a:t>отделни части</a:t>
            </a:r>
            <a:r>
              <a:rPr lang="bg-BG" sz="2800" dirty="0"/>
              <a:t>, всяка със </a:t>
            </a:r>
            <a:r>
              <a:rPr lang="bg-BG" sz="2800" b="1" dirty="0"/>
              <a:t>собствени ресурси</a:t>
            </a:r>
          </a:p>
          <a:p>
            <a:pPr>
              <a:buClr>
                <a:schemeClr val="tx2"/>
              </a:buClr>
            </a:pPr>
            <a:r>
              <a:rPr lang="bg-BG" sz="3000" b="1" dirty="0">
                <a:solidFill>
                  <a:schemeClr val="bg1"/>
                </a:solidFill>
              </a:rPr>
              <a:t>Специализиран хостинг </a:t>
            </a:r>
            <a:r>
              <a:rPr lang="bg-BG" sz="3000" b="1" dirty="0"/>
              <a:t>(</a:t>
            </a:r>
            <a:r>
              <a:rPr lang="en-US" sz="3000" b="1" dirty="0"/>
              <a:t>Dedicated Hosting)</a:t>
            </a:r>
          </a:p>
          <a:p>
            <a:pPr lvl="1">
              <a:buClr>
                <a:schemeClr val="tx2"/>
              </a:buClr>
            </a:pPr>
            <a:r>
              <a:rPr lang="bg-BG" sz="2800" b="1" dirty="0"/>
              <a:t>Цял сървър </a:t>
            </a:r>
            <a:r>
              <a:rPr lang="bg-BG" sz="2800" dirty="0"/>
              <a:t>е </a:t>
            </a:r>
            <a:r>
              <a:rPr lang="bg-BG" sz="2800" b="1" dirty="0"/>
              <a:t>само за един уеб сайт </a:t>
            </a:r>
            <a:r>
              <a:rPr lang="en-US" sz="2800" dirty="0"/>
              <a:t>(</a:t>
            </a:r>
            <a:r>
              <a:rPr lang="bg-BG" sz="2800" dirty="0"/>
              <a:t>висока скорост и сигурност</a:t>
            </a:r>
            <a:r>
              <a:rPr lang="en-US" sz="2800" dirty="0"/>
              <a:t>)</a:t>
            </a:r>
            <a:endParaRPr lang="bg-BG" sz="2800" dirty="0"/>
          </a:p>
          <a:p>
            <a:pPr>
              <a:buClr>
                <a:schemeClr val="tx2"/>
              </a:buClr>
            </a:pPr>
            <a:r>
              <a:rPr lang="bg-BG" sz="3000" b="1" dirty="0">
                <a:solidFill>
                  <a:schemeClr val="bg1"/>
                </a:solidFill>
              </a:rPr>
              <a:t>Имейл хостинг </a:t>
            </a:r>
            <a:r>
              <a:rPr lang="bg-BG" sz="3000" b="1" dirty="0"/>
              <a:t>(</a:t>
            </a:r>
            <a:r>
              <a:rPr lang="en-US" sz="3000" b="1" dirty="0"/>
              <a:t>E-mail Hosting</a:t>
            </a:r>
            <a:r>
              <a:rPr lang="bg-BG" sz="3000" b="1" dirty="0"/>
              <a:t>)</a:t>
            </a:r>
            <a:endParaRPr lang="en-US" sz="3000" b="1" dirty="0"/>
          </a:p>
          <a:p>
            <a:pPr lvl="1">
              <a:buClr>
                <a:schemeClr val="tx2"/>
              </a:buClr>
            </a:pPr>
            <a:r>
              <a:rPr lang="bg-BG" sz="2800" dirty="0"/>
              <a:t>Предоставя </a:t>
            </a:r>
            <a:r>
              <a:rPr lang="bg-BG" sz="2800" b="1" dirty="0"/>
              <a:t>място</a:t>
            </a:r>
            <a:r>
              <a:rPr lang="bg-BG" sz="2800" dirty="0"/>
              <a:t> за </a:t>
            </a:r>
            <a:r>
              <a:rPr lang="bg-BG" sz="2800" b="1" dirty="0"/>
              <a:t>фирмени пощенски кутии</a:t>
            </a:r>
          </a:p>
          <a:p>
            <a:pPr>
              <a:buClr>
                <a:schemeClr val="tx2"/>
              </a:buClr>
            </a:pPr>
            <a:r>
              <a:rPr lang="bg-BG" sz="3000" b="1" dirty="0">
                <a:solidFill>
                  <a:schemeClr val="bg1"/>
                </a:solidFill>
              </a:rPr>
              <a:t>Файлов хостинг </a:t>
            </a:r>
            <a:r>
              <a:rPr lang="en-US" sz="3000" b="1" dirty="0"/>
              <a:t>(File Hosting)</a:t>
            </a:r>
          </a:p>
          <a:p>
            <a:pPr lvl="1">
              <a:buClr>
                <a:schemeClr val="tx2"/>
              </a:buClr>
            </a:pPr>
            <a:r>
              <a:rPr lang="bg-BG" sz="2800" b="1" dirty="0"/>
              <a:t>Съхранява</a:t>
            </a:r>
            <a:r>
              <a:rPr lang="bg-BG" sz="2800" dirty="0"/>
              <a:t> и </a:t>
            </a:r>
            <a:r>
              <a:rPr lang="bg-BG" sz="2800" b="1" dirty="0"/>
              <a:t>споделя</a:t>
            </a:r>
            <a:r>
              <a:rPr lang="bg-BG" sz="2800" dirty="0"/>
              <a:t> </a:t>
            </a:r>
            <a:r>
              <a:rPr lang="bg-BG" sz="2800" b="1" dirty="0"/>
              <a:t>файлове онлайн </a:t>
            </a:r>
            <a:r>
              <a:rPr lang="bg-BG" sz="2800" dirty="0"/>
              <a:t>(документи, снимки и т.н.)</a:t>
            </a:r>
            <a:endParaRPr lang="ru-RU" sz="2800" dirty="0"/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Видове хостинг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54868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 fontScale="77500" lnSpcReduction="20000"/>
          </a:bodyPr>
          <a:lstStyle/>
          <a:p>
            <a:pPr>
              <a:buClr>
                <a:schemeClr val="tx2"/>
              </a:buClr>
            </a:pPr>
            <a:r>
              <a:rPr lang="bg-BG" sz="3200" b="1" dirty="0">
                <a:solidFill>
                  <a:schemeClr val="bg1"/>
                </a:solidFill>
              </a:rPr>
              <a:t>Скорост</a:t>
            </a:r>
          </a:p>
          <a:p>
            <a:pPr lvl="1">
              <a:buClr>
                <a:schemeClr val="tx2"/>
              </a:buClr>
            </a:pPr>
            <a:r>
              <a:rPr lang="bg-BG" sz="3000" dirty="0"/>
              <a:t>Колко </a:t>
            </a:r>
            <a:r>
              <a:rPr lang="bg-BG" sz="3000" b="1" dirty="0"/>
              <a:t>бързо</a:t>
            </a:r>
            <a:r>
              <a:rPr lang="bg-BG" sz="3000" dirty="0"/>
              <a:t> </a:t>
            </a:r>
            <a:r>
              <a:rPr lang="bg-BG" sz="3000" b="1" dirty="0"/>
              <a:t>зареждат страниците</a:t>
            </a:r>
          </a:p>
          <a:p>
            <a:pPr>
              <a:buClr>
                <a:schemeClr val="tx2"/>
              </a:buClr>
            </a:pPr>
            <a:r>
              <a:rPr lang="bg-BG" sz="3200" b="1" dirty="0">
                <a:solidFill>
                  <a:schemeClr val="bg1"/>
                </a:solidFill>
              </a:rPr>
              <a:t>Свързаност</a:t>
            </a:r>
          </a:p>
          <a:p>
            <a:pPr lvl="1">
              <a:buClr>
                <a:schemeClr val="tx2"/>
              </a:buClr>
            </a:pPr>
            <a:r>
              <a:rPr lang="bg-BG" sz="3000" dirty="0"/>
              <a:t>Колко е </a:t>
            </a:r>
            <a:r>
              <a:rPr lang="bg-BG" sz="3000" b="1" dirty="0"/>
              <a:t>стабилна</a:t>
            </a:r>
            <a:r>
              <a:rPr lang="bg-BG" sz="3000" dirty="0"/>
              <a:t> </a:t>
            </a:r>
            <a:r>
              <a:rPr lang="bg-BG" sz="3000" b="1" dirty="0"/>
              <a:t>връзката</a:t>
            </a:r>
            <a:r>
              <a:rPr lang="bg-BG" sz="3000" dirty="0"/>
              <a:t> със </a:t>
            </a:r>
            <a:r>
              <a:rPr lang="bg-BG" sz="3000" b="1" dirty="0"/>
              <a:t>сървъра</a:t>
            </a:r>
          </a:p>
          <a:p>
            <a:pPr>
              <a:buClr>
                <a:schemeClr val="tx2"/>
              </a:buClr>
            </a:pPr>
            <a:r>
              <a:rPr lang="bg-BG" sz="3200" b="1" dirty="0">
                <a:solidFill>
                  <a:schemeClr val="bg1"/>
                </a:solidFill>
              </a:rPr>
              <a:t>Съхранение на данни</a:t>
            </a:r>
          </a:p>
          <a:p>
            <a:pPr lvl="1">
              <a:buClr>
                <a:schemeClr val="tx2"/>
              </a:buClr>
            </a:pPr>
            <a:r>
              <a:rPr lang="bg-BG" sz="3000" dirty="0"/>
              <a:t>Колко </a:t>
            </a:r>
            <a:r>
              <a:rPr lang="bg-BG" sz="3000" b="1" dirty="0"/>
              <a:t>място</a:t>
            </a:r>
            <a:r>
              <a:rPr lang="bg-BG" sz="3000" dirty="0"/>
              <a:t> е достъпно за </a:t>
            </a:r>
            <a:r>
              <a:rPr lang="bg-BG" sz="3000" b="1" dirty="0"/>
              <a:t>данни</a:t>
            </a:r>
          </a:p>
          <a:p>
            <a:pPr>
              <a:buClr>
                <a:schemeClr val="tx2"/>
              </a:buClr>
            </a:pPr>
            <a:r>
              <a:rPr lang="bg-BG" sz="3200" b="1" dirty="0">
                <a:solidFill>
                  <a:schemeClr val="bg1"/>
                </a:solidFill>
              </a:rPr>
              <a:t>Скалируемост</a:t>
            </a:r>
          </a:p>
          <a:p>
            <a:pPr lvl="1">
              <a:buClr>
                <a:schemeClr val="tx2"/>
              </a:buClr>
            </a:pPr>
            <a:r>
              <a:rPr lang="bg-BG" sz="3000" b="1" dirty="0"/>
              <a:t>Възможност</a:t>
            </a:r>
            <a:r>
              <a:rPr lang="bg-BG" sz="3000" dirty="0"/>
              <a:t> за </a:t>
            </a:r>
            <a:r>
              <a:rPr lang="bg-BG" sz="3000" b="1" dirty="0"/>
              <a:t>разширяване</a:t>
            </a:r>
            <a:r>
              <a:rPr lang="bg-BG" sz="3000" dirty="0"/>
              <a:t> при нужда</a:t>
            </a:r>
          </a:p>
          <a:p>
            <a:pPr>
              <a:buClr>
                <a:schemeClr val="tx2"/>
              </a:buClr>
            </a:pPr>
            <a:r>
              <a:rPr lang="bg-BG" sz="3200" b="1" dirty="0">
                <a:solidFill>
                  <a:schemeClr val="bg1"/>
                </a:solidFill>
              </a:rPr>
              <a:t>Контролен панел</a:t>
            </a:r>
          </a:p>
          <a:p>
            <a:pPr lvl="1">
              <a:buClr>
                <a:schemeClr val="tx2"/>
              </a:buClr>
            </a:pPr>
            <a:r>
              <a:rPr lang="bg-BG" sz="3000" b="1" dirty="0"/>
              <a:t>Инструмент</a:t>
            </a:r>
            <a:r>
              <a:rPr lang="bg-BG" sz="3000" dirty="0"/>
              <a:t> за </a:t>
            </a:r>
            <a:r>
              <a:rPr lang="bg-BG" sz="3000" b="1" dirty="0"/>
              <a:t>управление</a:t>
            </a:r>
            <a:r>
              <a:rPr lang="bg-BG" sz="3000" dirty="0"/>
              <a:t> на </a:t>
            </a:r>
            <a:r>
              <a:rPr lang="bg-BG" sz="3000" b="1" dirty="0"/>
              <a:t>настройките</a:t>
            </a:r>
          </a:p>
          <a:p>
            <a:pPr>
              <a:buClr>
                <a:schemeClr val="tx2"/>
              </a:buClr>
            </a:pPr>
            <a:r>
              <a:rPr lang="bg-BG" sz="3200" b="1" dirty="0">
                <a:solidFill>
                  <a:schemeClr val="bg1"/>
                </a:solidFill>
              </a:rPr>
              <a:t>Поддръжка</a:t>
            </a:r>
          </a:p>
          <a:p>
            <a:pPr lvl="1">
              <a:buClr>
                <a:schemeClr val="tx2"/>
              </a:buClr>
            </a:pPr>
            <a:r>
              <a:rPr lang="bg-BG" sz="3000" b="1" dirty="0"/>
              <a:t>Помощ</a:t>
            </a:r>
            <a:r>
              <a:rPr lang="bg-BG" sz="3000" dirty="0"/>
              <a:t> от </a:t>
            </a:r>
            <a:r>
              <a:rPr lang="bg-BG" sz="3000" b="1" dirty="0"/>
              <a:t>хостинг компанията </a:t>
            </a:r>
            <a:r>
              <a:rPr lang="bg-BG" sz="3000" dirty="0"/>
              <a:t>при </a:t>
            </a:r>
            <a:r>
              <a:rPr lang="bg-BG" sz="3000" b="1" dirty="0"/>
              <a:t>проблеми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Основни характеристики на хостинга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9D6F514-A432-F264-F656-4871ED1B933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440" t="33596" r="21786" b="32283"/>
          <a:stretch/>
        </p:blipFill>
        <p:spPr>
          <a:xfrm>
            <a:off x="6742134" y="2371570"/>
            <a:ext cx="5194603" cy="3177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25265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702C971-7FD4-9A24-DEA3-AEE55894B9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26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309270-EB17-EB18-F05B-08C9016422A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5400" dirty="0">
                <a:highlight>
                  <a:srgbClr val="FFFF00"/>
                </a:highlight>
              </a:rPr>
              <a:t>Добави снимка на контролен панел например:</a:t>
            </a:r>
          </a:p>
          <a:p>
            <a:pPr lvl="1"/>
            <a:r>
              <a:rPr lang="en-GB" sz="4800" dirty="0" err="1">
                <a:highlight>
                  <a:srgbClr val="FFFF00"/>
                </a:highlight>
              </a:rPr>
              <a:t>Cpanel</a:t>
            </a:r>
            <a:r>
              <a:rPr lang="en-GB" sz="4800" dirty="0">
                <a:highlight>
                  <a:srgbClr val="FFFF00"/>
                </a:highlight>
              </a:rPr>
              <a:t>, </a:t>
            </a:r>
            <a:r>
              <a:rPr lang="en-GB" sz="4800" dirty="0" err="1">
                <a:highlight>
                  <a:srgbClr val="FFFF00"/>
                </a:highlight>
              </a:rPr>
              <a:t>Vercel</a:t>
            </a:r>
            <a:r>
              <a:rPr lang="en-GB" sz="4800" dirty="0">
                <a:highlight>
                  <a:srgbClr val="FFFF00"/>
                </a:highlight>
              </a:rPr>
              <a:t>, </a:t>
            </a:r>
            <a:r>
              <a:rPr lang="en-GB" sz="4800" dirty="0" err="1">
                <a:highlight>
                  <a:srgbClr val="FFFF00"/>
                </a:highlight>
              </a:rPr>
              <a:t>Hostinger</a:t>
            </a:r>
            <a:r>
              <a:rPr lang="en-GB" sz="4800" dirty="0">
                <a:highlight>
                  <a:srgbClr val="FFFF00"/>
                </a:highlight>
              </a:rPr>
              <a:t>…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71B438B-7CF3-6FB0-8177-8843353071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Контролен панел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897722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B2DDE11-8846-0004-8599-4D45D65AC3C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pPr>
              <a:buClr>
                <a:schemeClr val="tx1"/>
              </a:buClr>
            </a:pPr>
            <a:r>
              <a:rPr lang="bg-BG" sz="3600" b="1" dirty="0">
                <a:solidFill>
                  <a:schemeClr val="bg1"/>
                </a:solidFill>
              </a:rPr>
              <a:t>Хостинг</a:t>
            </a:r>
            <a:r>
              <a:rPr lang="bg-BG" sz="3600" dirty="0"/>
              <a:t> </a:t>
            </a:r>
            <a:r>
              <a:rPr lang="en-US" sz="3600" dirty="0"/>
              <a:t>==</a:t>
            </a:r>
            <a:r>
              <a:rPr lang="bg-BG" sz="3600" dirty="0"/>
              <a:t> </a:t>
            </a:r>
            <a:r>
              <a:rPr lang="bg-BG" sz="3600" b="1" dirty="0"/>
              <a:t>мястото</a:t>
            </a:r>
            <a:r>
              <a:rPr lang="bg-BG" sz="3600" dirty="0"/>
              <a:t>, където се намират </a:t>
            </a:r>
            <a:r>
              <a:rPr lang="bg-BG" sz="3600" b="1" dirty="0"/>
              <a:t>файловете </a:t>
            </a:r>
            <a:r>
              <a:rPr lang="bg-BG" sz="3600" dirty="0"/>
              <a:t>на </a:t>
            </a:r>
            <a:r>
              <a:rPr lang="bg-BG" sz="3600" b="1" dirty="0"/>
              <a:t>уеб сайта</a:t>
            </a:r>
            <a:endParaRPr lang="en-BG" b="1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3600" b="1" dirty="0">
                <a:solidFill>
                  <a:schemeClr val="bg1"/>
                </a:solidFill>
              </a:rPr>
              <a:t>Домейн</a:t>
            </a:r>
            <a:r>
              <a:rPr lang="bg-BG" sz="3200" dirty="0"/>
              <a:t> </a:t>
            </a:r>
            <a:r>
              <a:rPr lang="en-US" sz="3600" dirty="0"/>
              <a:t>==</a:t>
            </a:r>
            <a:r>
              <a:rPr lang="bg-BG" sz="3600" dirty="0"/>
              <a:t> </a:t>
            </a:r>
            <a:r>
              <a:rPr lang="bg-BG" sz="3600" b="1" dirty="0"/>
              <a:t>името</a:t>
            </a:r>
            <a:r>
              <a:rPr lang="bg-BG" sz="3600" dirty="0"/>
              <a:t>, което </a:t>
            </a:r>
            <a:r>
              <a:rPr lang="bg-BG" sz="3600" b="1" dirty="0"/>
              <a:t>потребителят въвежда</a:t>
            </a:r>
            <a:r>
              <a:rPr lang="en-GB" sz="3600" b="1" dirty="0"/>
              <a:t> </a:t>
            </a:r>
            <a:r>
              <a:rPr lang="bg-BG" sz="3600" dirty="0"/>
              <a:t>в търсачката</a:t>
            </a:r>
            <a:endParaRPr lang="bg-BG" sz="3200" b="1" dirty="0"/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Връзка между домейн и хостинг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BADCDE-848B-C4F0-2FD7-4348EF4B45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000" y="3204000"/>
            <a:ext cx="4455000" cy="2547703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26AA423-3981-354B-A5D7-356C505E050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8798" y="3077367"/>
            <a:ext cx="4140000" cy="2800968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1204796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en-US" sz="4800" dirty="0"/>
              <a:t>IP </a:t>
            </a:r>
            <a:r>
              <a:rPr lang="bg-BG" sz="4800" dirty="0"/>
              <a:t>адрес, </a:t>
            </a:r>
            <a:r>
              <a:rPr lang="en-US" sz="4800" dirty="0"/>
              <a:t>DNS, URL</a:t>
            </a:r>
            <a:endParaRPr lang="bg-BG" sz="4800" dirty="0"/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Интернет адресиране</a:t>
            </a:r>
            <a:endParaRPr lang="en-US" sz="6000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01DB4079-60C0-230D-5A0B-54468A484F6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6258" t="27559" r="13664" b="22572"/>
          <a:stretch/>
        </p:blipFill>
        <p:spPr>
          <a:xfrm>
            <a:off x="5061000" y="1224000"/>
            <a:ext cx="2070000" cy="2913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91209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/>
          <a:lstStyle/>
          <a:p>
            <a:r>
              <a:rPr lang="bg-BG" sz="3600" b="1" dirty="0">
                <a:solidFill>
                  <a:schemeClr val="bg1"/>
                </a:solidFill>
              </a:rPr>
              <a:t>Уникален идентификатор </a:t>
            </a:r>
            <a:r>
              <a:rPr lang="bg-BG" sz="3600" dirty="0"/>
              <a:t>на </a:t>
            </a:r>
            <a:r>
              <a:rPr lang="bg-BG" sz="3600" b="1" dirty="0"/>
              <a:t>всяко устройство</a:t>
            </a:r>
            <a:r>
              <a:rPr lang="bg-BG" sz="3600" dirty="0"/>
              <a:t>, свързано към </a:t>
            </a:r>
            <a:r>
              <a:rPr lang="bg-BG" sz="3600" b="1" dirty="0"/>
              <a:t>интернет</a:t>
            </a:r>
          </a:p>
          <a:p>
            <a:r>
              <a:rPr lang="bg-BG" sz="3600" dirty="0"/>
              <a:t>Намира </a:t>
            </a:r>
            <a:r>
              <a:rPr lang="bg-BG" sz="3600" b="1" dirty="0"/>
              <a:t>конкретния </a:t>
            </a:r>
            <a:r>
              <a:rPr lang="bg-BG" sz="3600" b="1" dirty="0">
                <a:solidFill>
                  <a:schemeClr val="bg1"/>
                </a:solidFill>
              </a:rPr>
              <a:t>сървър</a:t>
            </a:r>
            <a:r>
              <a:rPr lang="bg-BG" sz="3600" dirty="0"/>
              <a:t>, на който е даден </a:t>
            </a:r>
            <a:r>
              <a:rPr lang="bg-BG" sz="3600" b="1" dirty="0"/>
              <a:t>уеб сайт</a:t>
            </a:r>
            <a:endParaRPr lang="en-US" sz="3600" b="1" dirty="0"/>
          </a:p>
          <a:p>
            <a:r>
              <a:rPr lang="bg-BG" sz="3600" b="1" dirty="0"/>
              <a:t>Пример:</a:t>
            </a:r>
            <a:endParaRPr lang="bg-BG" sz="3600" b="1" dirty="0">
              <a:highlight>
                <a:srgbClr val="FFFF00"/>
              </a:highlight>
            </a:endParaRP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en-US" dirty="0"/>
              <a:t>IP </a:t>
            </a:r>
            <a:r>
              <a:rPr lang="bg-BG" dirty="0"/>
              <a:t>адрес (</a:t>
            </a:r>
            <a:r>
              <a:rPr lang="en-US" dirty="0"/>
              <a:t>Internet Protocol Address)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B7A0EDC-E251-C92B-6BEA-D20E969FE2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31000" y="4419000"/>
            <a:ext cx="3600000" cy="710552"/>
          </a:xfrm>
          <a:prstGeom prst="rect">
            <a:avLst/>
          </a:prstGeom>
          <a:solidFill>
            <a:schemeClr val="accent5">
              <a:lumMod val="40000"/>
              <a:lumOff val="60000"/>
              <a:alpha val="20000"/>
            </a:schemeClr>
          </a:solidFill>
          <a:ln w="12700"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 vert="horz" wrap="square" lIns="144000" tIns="108000" rIns="144000" bIns="108000" rtlCol="0">
            <a:spAutoFit/>
          </a:bodyPr>
          <a:lstStyle/>
          <a:p>
            <a:pPr algn="ctr">
              <a:spcBef>
                <a:spcPts val="600"/>
              </a:spcBef>
              <a:spcAft>
                <a:spcPts val="600"/>
              </a:spcAft>
              <a:buClr>
                <a:srgbClr val="F2B254"/>
              </a:buClr>
              <a:buSzPct val="100000"/>
              <a:buFont typeface="Wingdings" panose="05000000000000000000" pitchFamily="2" charset="2"/>
              <a:buNone/>
            </a:pPr>
            <a:r>
              <a:rPr lang="en-US" sz="3200" b="1" noProof="1">
                <a:latin typeface="Consolas" pitchFamily="49" charset="0"/>
                <a:cs typeface="Consolas" pitchFamily="49" charset="0"/>
                <a:hlinkClick r:id="rId3"/>
              </a:rPr>
              <a:t>www.google.com</a:t>
            </a:r>
            <a:endParaRPr lang="en-US" sz="3200" b="1" noProof="1">
              <a:latin typeface="Consolas" pitchFamily="49" charset="0"/>
              <a:cs typeface="Consolas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64F434B-FE20-73C3-3F08-B779959DDC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56000" y="4419001"/>
            <a:ext cx="3456251" cy="710552"/>
          </a:xfrm>
          <a:prstGeom prst="rect">
            <a:avLst/>
          </a:prstGeom>
          <a:solidFill>
            <a:schemeClr val="accent5">
              <a:lumMod val="40000"/>
              <a:lumOff val="60000"/>
              <a:alpha val="20000"/>
            </a:schemeClr>
          </a:solidFill>
          <a:ln w="12700"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 vert="horz" wrap="square" lIns="144000" tIns="108000" rIns="144000" bIns="108000" rtlCol="0">
            <a:spAutoFit/>
          </a:bodyPr>
          <a:lstStyle/>
          <a:p>
            <a:pPr algn="ctr">
              <a:spcBef>
                <a:spcPts val="600"/>
              </a:spcBef>
              <a:spcAft>
                <a:spcPts val="600"/>
              </a:spcAft>
              <a:buClr>
                <a:srgbClr val="F2B254"/>
              </a:buClr>
              <a:buSzPct val="100000"/>
              <a:buFont typeface="Wingdings" panose="05000000000000000000" pitchFamily="2" charset="2"/>
              <a:buNone/>
            </a:pPr>
            <a:r>
              <a:rPr lang="en-BG" sz="3200" b="1" dirty="0">
                <a:latin typeface="Consolas" panose="020B0609020204030204" pitchFamily="49" charset="0"/>
                <a:cs typeface="Consolas" panose="020B0609020204030204" pitchFamily="49" charset="0"/>
                <a:hlinkClick r:id="rId4"/>
              </a:rPr>
              <a:t>142.250.186.78</a:t>
            </a:r>
            <a:endParaRPr lang="en-US" sz="3200" b="1" noProof="1">
              <a:latin typeface="Consolas" panose="020B0609020204030204" pitchFamily="49" charset="0"/>
              <a:cs typeface="Consolas" pitchFamily="49" charset="0"/>
            </a:endParaRPr>
          </a:p>
        </p:txBody>
      </p:sp>
      <p:sp>
        <p:nvSpPr>
          <p:cNvPr id="5" name="Arrow: Right 10">
            <a:extLst>
              <a:ext uri="{FF2B5EF4-FFF2-40B4-BE49-F238E27FC236}">
                <a16:creationId xmlns:a16="http://schemas.microsoft.com/office/drawing/2014/main" id="{F30F77E6-665A-20C0-3C4D-DA0B089955AB}"/>
              </a:ext>
            </a:extLst>
          </p:cNvPr>
          <p:cNvSpPr/>
          <p:nvPr/>
        </p:nvSpPr>
        <p:spPr>
          <a:xfrm>
            <a:off x="5313502" y="4284000"/>
            <a:ext cx="1095571" cy="925763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</p:spTree>
    <p:extLst>
      <p:ext uri="{BB962C8B-B14F-4D97-AF65-F5344CB8AC3E}">
        <p14:creationId xmlns:p14="http://schemas.microsoft.com/office/powerpoint/2010/main" val="31292127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 fontScale="92500"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IPv4</a:t>
            </a:r>
          </a:p>
          <a:p>
            <a:pPr lvl="1"/>
            <a:r>
              <a:rPr lang="bg-BG" sz="3400" dirty="0"/>
              <a:t>Използва </a:t>
            </a:r>
            <a:r>
              <a:rPr lang="bg-BG" sz="3400" b="1" dirty="0"/>
              <a:t>числа</a:t>
            </a:r>
            <a:r>
              <a:rPr lang="bg-BG" sz="3400" dirty="0"/>
              <a:t> от </a:t>
            </a:r>
            <a:r>
              <a:rPr lang="bg-BG" sz="3400" b="1" dirty="0"/>
              <a:t>0</a:t>
            </a:r>
            <a:r>
              <a:rPr lang="bg-BG" sz="3400" dirty="0"/>
              <a:t> до </a:t>
            </a:r>
            <a:r>
              <a:rPr lang="bg-BG" sz="3400" b="1" dirty="0"/>
              <a:t>255</a:t>
            </a:r>
            <a:r>
              <a:rPr lang="bg-BG" sz="3400" dirty="0"/>
              <a:t>, </a:t>
            </a:r>
            <a:r>
              <a:rPr lang="bg-BG" sz="3400" b="1" dirty="0"/>
              <a:t>разделени с точки</a:t>
            </a:r>
          </a:p>
          <a:p>
            <a:pPr lvl="1"/>
            <a:r>
              <a:rPr lang="bg-BG" sz="3400" b="1" dirty="0"/>
              <a:t>Най-разпространен</a:t>
            </a:r>
            <a:r>
              <a:rPr lang="bg-BG" sz="3400" dirty="0"/>
              <a:t>, но с </a:t>
            </a:r>
            <a:r>
              <a:rPr lang="bg-BG" sz="3400" b="1" dirty="0"/>
              <a:t>ограничен брой адреси</a:t>
            </a:r>
          </a:p>
          <a:p>
            <a:pPr lvl="1"/>
            <a:r>
              <a:rPr lang="bg-BG" sz="3400" b="1" dirty="0"/>
              <a:t>Пример: </a:t>
            </a:r>
            <a:r>
              <a:rPr lang="en-BG" sz="3600" dirty="0">
                <a:latin typeface="Consolas" panose="020B0609020204030204" pitchFamily="49" charset="0"/>
                <a:cs typeface="Consolas" panose="020B0609020204030204" pitchFamily="49" charset="0"/>
              </a:rPr>
              <a:t>192.168.0.10</a:t>
            </a:r>
            <a:endParaRPr lang="bg-BG" sz="3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bg-BG" sz="36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lang="en-US" sz="36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Pv6</a:t>
            </a:r>
          </a:p>
          <a:p>
            <a:pPr lvl="1"/>
            <a:r>
              <a:rPr lang="bg-BG" sz="3400" dirty="0">
                <a:latin typeface="Calibri" panose="020F0502020204030204" pitchFamily="34" charset="0"/>
                <a:cs typeface="Calibri" panose="020F0502020204030204" pitchFamily="34" charset="0"/>
              </a:rPr>
              <a:t>Използва </a:t>
            </a:r>
            <a:r>
              <a:rPr lang="bg-BG" sz="3400" b="1" dirty="0">
                <a:latin typeface="Calibri" panose="020F0502020204030204" pitchFamily="34" charset="0"/>
                <a:cs typeface="Calibri" panose="020F0502020204030204" pitchFamily="34" charset="0"/>
              </a:rPr>
              <a:t>осем групи </a:t>
            </a:r>
            <a:r>
              <a:rPr lang="bg-BG" sz="3400" dirty="0">
                <a:latin typeface="Calibri" panose="020F0502020204030204" pitchFamily="34" charset="0"/>
                <a:cs typeface="Calibri" panose="020F0502020204030204" pitchFamily="34" charset="0"/>
              </a:rPr>
              <a:t>от </a:t>
            </a:r>
            <a:r>
              <a:rPr lang="bg-BG" sz="3400" b="1" dirty="0">
                <a:latin typeface="Calibri" panose="020F0502020204030204" pitchFamily="34" charset="0"/>
                <a:cs typeface="Calibri" panose="020F0502020204030204" pitchFamily="34" charset="0"/>
              </a:rPr>
              <a:t>числа и букви </a:t>
            </a:r>
            <a:endParaRPr lang="en-US" sz="3400" b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lang="bg-BG" sz="3400" dirty="0">
                <a:latin typeface="Calibri" panose="020F0502020204030204" pitchFamily="34" charset="0"/>
                <a:cs typeface="Calibri" panose="020F0502020204030204" pitchFamily="34" charset="0"/>
              </a:rPr>
              <a:t>Поддържа много </a:t>
            </a:r>
            <a:r>
              <a:rPr lang="bg-BG" sz="3400" b="1" dirty="0">
                <a:latin typeface="Calibri" panose="020F0502020204030204" pitchFamily="34" charset="0"/>
                <a:cs typeface="Calibri" panose="020F0502020204030204" pitchFamily="34" charset="0"/>
              </a:rPr>
              <a:t>повече устройства </a:t>
            </a:r>
            <a:r>
              <a:rPr lang="bg-BG" sz="3400" dirty="0">
                <a:latin typeface="Calibri" panose="020F0502020204030204" pitchFamily="34" charset="0"/>
                <a:cs typeface="Calibri" panose="020F0502020204030204" pitchFamily="34" charset="0"/>
              </a:rPr>
              <a:t>и е </a:t>
            </a:r>
            <a:r>
              <a:rPr lang="bg-BG" sz="3400" b="1" dirty="0">
                <a:latin typeface="Calibri" panose="020F0502020204030204" pitchFamily="34" charset="0"/>
                <a:cs typeface="Calibri" panose="020F0502020204030204" pitchFamily="34" charset="0"/>
              </a:rPr>
              <a:t>бъдещия стандарт</a:t>
            </a:r>
          </a:p>
          <a:p>
            <a:pPr lvl="1"/>
            <a:r>
              <a:rPr lang="bg-BG" sz="3400" b="1" dirty="0">
                <a:latin typeface="Calibri" panose="020F0502020204030204" pitchFamily="34" charset="0"/>
                <a:cs typeface="Calibri" panose="020F0502020204030204" pitchFamily="34" charset="0"/>
              </a:rPr>
              <a:t>Пример: </a:t>
            </a:r>
            <a:r>
              <a:rPr lang="en-GB" sz="3400" dirty="0">
                <a:latin typeface="Consolas" panose="020B0609020204030204" pitchFamily="49" charset="0"/>
                <a:cs typeface="Consolas" panose="020B0609020204030204" pitchFamily="49" charset="0"/>
              </a:rPr>
              <a:t>2001:0db8:85a3:0000:0000:8a2e:0370:7334</a:t>
            </a:r>
            <a:endParaRPr lang="bg-BG" sz="3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Видове </a:t>
            </a:r>
            <a:r>
              <a:rPr lang="en-US" dirty="0"/>
              <a:t>IP </a:t>
            </a:r>
            <a:r>
              <a:rPr lang="bg-BG" dirty="0"/>
              <a:t>адреси</a:t>
            </a:r>
            <a:r>
              <a:rPr lang="en-US" dirty="0"/>
              <a:t> </a:t>
            </a:r>
            <a:r>
              <a:rPr lang="bg-BG" dirty="0"/>
              <a:t>според версията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9834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r>
              <a:rPr lang="bg-BG" sz="3600" b="1" dirty="0">
                <a:solidFill>
                  <a:schemeClr val="bg1"/>
                </a:solidFill>
              </a:rPr>
              <a:t>Система</a:t>
            </a:r>
            <a:r>
              <a:rPr lang="bg-BG" sz="3600" dirty="0"/>
              <a:t> за </a:t>
            </a:r>
            <a:r>
              <a:rPr lang="bg-BG" sz="3600" b="1" dirty="0"/>
              <a:t>имена</a:t>
            </a:r>
            <a:r>
              <a:rPr lang="bg-BG" sz="3600" dirty="0"/>
              <a:t> на </a:t>
            </a:r>
            <a:r>
              <a:rPr lang="bg-BG" sz="3600" b="1" dirty="0"/>
              <a:t>домейни</a:t>
            </a:r>
          </a:p>
          <a:p>
            <a:r>
              <a:rPr lang="bg-BG" sz="3600" b="1" dirty="0">
                <a:solidFill>
                  <a:schemeClr val="bg1"/>
                </a:solidFill>
              </a:rPr>
              <a:t>Превежда</a:t>
            </a:r>
            <a:r>
              <a:rPr lang="bg-BG" sz="3600" dirty="0"/>
              <a:t> </a:t>
            </a:r>
            <a:r>
              <a:rPr lang="bg-BG" sz="3600" b="1" dirty="0"/>
              <a:t>домейн имената </a:t>
            </a:r>
            <a:r>
              <a:rPr lang="bg-BG" sz="3600" dirty="0"/>
              <a:t>в </a:t>
            </a:r>
            <a:r>
              <a:rPr lang="en-US" sz="3600" b="1" dirty="0"/>
              <a:t>IP</a:t>
            </a:r>
            <a:r>
              <a:rPr lang="bg-BG" sz="3600" b="1" dirty="0"/>
              <a:t> адреси</a:t>
            </a:r>
          </a:p>
          <a:p>
            <a:r>
              <a:rPr lang="bg-BG" sz="3600" dirty="0"/>
              <a:t>Позволява</a:t>
            </a:r>
            <a:r>
              <a:rPr lang="en-US" sz="3600" dirty="0"/>
              <a:t> </a:t>
            </a:r>
            <a:r>
              <a:rPr lang="bg-BG" sz="3600" dirty="0"/>
              <a:t>въвеждане на </a:t>
            </a:r>
            <a:r>
              <a:rPr lang="bg-BG" sz="3600" b="1" dirty="0"/>
              <a:t>лесни за запомняне имена вместо числа</a:t>
            </a:r>
            <a:endParaRPr lang="en-US" sz="3600" b="1" dirty="0"/>
          </a:p>
          <a:p>
            <a:r>
              <a:rPr lang="bg-BG" sz="3600" b="1" dirty="0"/>
              <a:t>Съответствието</a:t>
            </a:r>
            <a:r>
              <a:rPr lang="bg-BG" sz="3600" dirty="0"/>
              <a:t> на </a:t>
            </a:r>
            <a:r>
              <a:rPr lang="bg-BG" sz="3600" b="1" dirty="0"/>
              <a:t>I</a:t>
            </a:r>
            <a:r>
              <a:rPr lang="en-US" sz="3600" b="1" dirty="0"/>
              <a:t>P</a:t>
            </a:r>
            <a:r>
              <a:rPr lang="bg-BG" sz="3600" b="1" dirty="0"/>
              <a:t> адрес </a:t>
            </a:r>
            <a:r>
              <a:rPr lang="bg-BG" sz="3600" dirty="0"/>
              <a:t>и </a:t>
            </a:r>
            <a:r>
              <a:rPr lang="bg-BG" sz="3600" b="1" dirty="0"/>
              <a:t>домейн</a:t>
            </a:r>
            <a:r>
              <a:rPr lang="bg-BG" sz="3600" dirty="0"/>
              <a:t> е записано на </a:t>
            </a:r>
            <a:r>
              <a:rPr lang="en-US" sz="3600" b="1" dirty="0">
                <a:solidFill>
                  <a:schemeClr val="bg1"/>
                </a:solidFill>
              </a:rPr>
              <a:t>DNS </a:t>
            </a:r>
            <a:r>
              <a:rPr lang="bg-BG" sz="3600" b="1" dirty="0">
                <a:solidFill>
                  <a:schemeClr val="bg1"/>
                </a:solidFill>
              </a:rPr>
              <a:t>сървъри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en-US" dirty="0"/>
              <a:t>DNS </a:t>
            </a:r>
            <a:r>
              <a:rPr lang="bg-BG" dirty="0"/>
              <a:t>(</a:t>
            </a:r>
            <a:r>
              <a:rPr lang="en-US" dirty="0"/>
              <a:t>Domain Name System</a:t>
            </a:r>
            <a:r>
              <a:rPr lang="bg-BG" dirty="0"/>
              <a:t>)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8EE180F-D256-D24A-01A6-633A6327096E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314" b="7354"/>
          <a:stretch/>
        </p:blipFill>
        <p:spPr>
          <a:xfrm>
            <a:off x="3643500" y="4587250"/>
            <a:ext cx="4905000" cy="2068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28788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extLst>
    <p:ext uri="{6950BFC3-D8DA-4A85-94F7-54DA5524770B}">
      <p188:commentRel xmlns:p188="http://schemas.microsoft.com/office/powerpoint/2018/8/main" r:id="rId3"/>
    </p:ext>
  </p:extLs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r>
              <a:rPr lang="bg-BG" sz="3600" b="1" dirty="0">
                <a:solidFill>
                  <a:schemeClr val="bg1"/>
                </a:solidFill>
              </a:rPr>
              <a:t>Пълният уеб адрес </a:t>
            </a:r>
            <a:r>
              <a:rPr lang="bg-BG" sz="3600" dirty="0"/>
              <a:t>на </a:t>
            </a:r>
            <a:r>
              <a:rPr lang="bg-BG" sz="3600" b="1" dirty="0"/>
              <a:t>конкретен ресурс</a:t>
            </a:r>
            <a:r>
              <a:rPr lang="en-US" sz="3600" b="1" dirty="0"/>
              <a:t> </a:t>
            </a:r>
            <a:r>
              <a:rPr lang="en-US" sz="3600" dirty="0"/>
              <a:t>(</a:t>
            </a:r>
            <a:r>
              <a:rPr lang="bg-BG" sz="3600" dirty="0"/>
              <a:t>страница, изображение, документ и др.</a:t>
            </a:r>
            <a:r>
              <a:rPr lang="en-US" sz="3600" dirty="0"/>
              <a:t>)</a:t>
            </a:r>
            <a:endParaRPr lang="bg-BG" sz="3600" dirty="0"/>
          </a:p>
          <a:p>
            <a:r>
              <a:rPr lang="bg-BG" sz="3600" dirty="0"/>
              <a:t>Състои се от </a:t>
            </a:r>
            <a:r>
              <a:rPr lang="bg-BG" sz="3600" b="1" dirty="0"/>
              <a:t>протокол</a:t>
            </a:r>
            <a:r>
              <a:rPr lang="bg-BG" sz="3600" dirty="0"/>
              <a:t>, </a:t>
            </a:r>
            <a:r>
              <a:rPr lang="bg-BG" sz="3600" b="1" dirty="0"/>
              <a:t>домейн</a:t>
            </a:r>
            <a:r>
              <a:rPr lang="bg-BG" sz="3600" dirty="0"/>
              <a:t> и </a:t>
            </a:r>
            <a:r>
              <a:rPr lang="bg-BG" sz="3600" b="1" dirty="0"/>
              <a:t>път до ресурс</a:t>
            </a:r>
          </a:p>
          <a:p>
            <a:r>
              <a:rPr lang="bg-BG" sz="3600" b="1" dirty="0"/>
              <a:t>Пример:</a:t>
            </a:r>
            <a:endParaRPr lang="bg-BG" sz="3200" b="1" dirty="0"/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en-US" dirty="0"/>
              <a:t>URL </a:t>
            </a:r>
            <a:r>
              <a:rPr lang="bg-BG" dirty="0"/>
              <a:t>(</a:t>
            </a:r>
            <a:r>
              <a:rPr lang="en-US" dirty="0"/>
              <a:t>Uniform Resource Locator</a:t>
            </a:r>
            <a:r>
              <a:rPr lang="bg-BG" dirty="0"/>
              <a:t>)</a:t>
            </a:r>
            <a:r>
              <a:rPr lang="en-US" dirty="0"/>
              <a:t> 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1C9EBAF-5D74-E427-A3FA-2054C9D6D0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56000" y="4642004"/>
            <a:ext cx="10080000" cy="710552"/>
          </a:xfrm>
          <a:prstGeom prst="rect">
            <a:avLst/>
          </a:prstGeom>
          <a:solidFill>
            <a:schemeClr val="accent5">
              <a:lumMod val="40000"/>
              <a:lumOff val="60000"/>
              <a:alpha val="20000"/>
            </a:schemeClr>
          </a:solidFill>
          <a:ln w="12700"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 vert="horz" wrap="square" lIns="144000" tIns="108000" rIns="144000" bIns="108000" rtlCol="0">
            <a:spAutoFit/>
          </a:bodyPr>
          <a:lstStyle/>
          <a:p>
            <a:pPr algn="ctr">
              <a:spcBef>
                <a:spcPts val="600"/>
              </a:spcBef>
              <a:spcAft>
                <a:spcPts val="600"/>
              </a:spcAft>
              <a:buClr>
                <a:srgbClr val="F2B254"/>
              </a:buClr>
              <a:buSzPct val="100000"/>
              <a:buFont typeface="Wingdings" panose="05000000000000000000" pitchFamily="2" charset="2"/>
              <a:buNone/>
            </a:pPr>
            <a:r>
              <a:rPr lang="en-US" sz="3200" b="1" noProof="1">
                <a:latin typeface="Consolas" pitchFamily="49" charset="0"/>
                <a:cs typeface="Consolas" pitchFamily="49" charset="0"/>
              </a:rPr>
              <a:t>https://www.test.com/about</a:t>
            </a:r>
          </a:p>
        </p:txBody>
      </p:sp>
      <p:sp>
        <p:nvSpPr>
          <p:cNvPr id="3" name="Rounded Rectangular Callout 8">
            <a:extLst>
              <a:ext uri="{FF2B5EF4-FFF2-40B4-BE49-F238E27FC236}">
                <a16:creationId xmlns:a16="http://schemas.microsoft.com/office/drawing/2014/main" id="{7CA34CE9-65AE-56A4-4DD7-4A7B2A6A5CF5}"/>
              </a:ext>
            </a:extLst>
          </p:cNvPr>
          <p:cNvSpPr/>
          <p:nvPr/>
        </p:nvSpPr>
        <p:spPr bwMode="auto">
          <a:xfrm>
            <a:off x="786000" y="5714173"/>
            <a:ext cx="1800000" cy="649100"/>
          </a:xfrm>
          <a:prstGeom prst="wedgeRoundRectCallout">
            <a:avLst>
              <a:gd name="adj1" fmla="val 17610"/>
              <a:gd name="adj2" fmla="val -115247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bg-BG" sz="28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Протокол</a:t>
            </a:r>
            <a:endParaRPr lang="en-BG" sz="2800" b="1" dirty="0">
              <a:solidFill>
                <a:schemeClr val="accent1">
                  <a:lumMod val="60000"/>
                  <a:lumOff val="4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5" name="Rounded Rectangular Callout 8">
            <a:extLst>
              <a:ext uri="{FF2B5EF4-FFF2-40B4-BE49-F238E27FC236}">
                <a16:creationId xmlns:a16="http://schemas.microsoft.com/office/drawing/2014/main" id="{03603DDE-4076-0017-9C0D-3433651E3D49}"/>
              </a:ext>
            </a:extLst>
          </p:cNvPr>
          <p:cNvSpPr/>
          <p:nvPr/>
        </p:nvSpPr>
        <p:spPr bwMode="auto">
          <a:xfrm>
            <a:off x="3544222" y="3683585"/>
            <a:ext cx="1800000" cy="649100"/>
          </a:xfrm>
          <a:prstGeom prst="wedgeRoundRectCallout">
            <a:avLst>
              <a:gd name="adj1" fmla="val 20259"/>
              <a:gd name="adj2" fmla="val 107854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bg-BG" sz="2800" b="1" dirty="0">
                <a:solidFill>
                  <a:schemeClr val="bg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Домейн</a:t>
            </a:r>
            <a:endParaRPr lang="en-BG" sz="2800" b="1" dirty="0">
              <a:solidFill>
                <a:schemeClr val="bg1">
                  <a:lumMod val="60000"/>
                  <a:lumOff val="4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6" name="Rounded Rectangular Callout 8">
            <a:extLst>
              <a:ext uri="{FF2B5EF4-FFF2-40B4-BE49-F238E27FC236}">
                <a16:creationId xmlns:a16="http://schemas.microsoft.com/office/drawing/2014/main" id="{1B69832A-7ED9-7122-222F-809EC0F2EC79}"/>
              </a:ext>
            </a:extLst>
          </p:cNvPr>
          <p:cNvSpPr/>
          <p:nvPr/>
        </p:nvSpPr>
        <p:spPr bwMode="auto">
          <a:xfrm>
            <a:off x="6501000" y="5640126"/>
            <a:ext cx="2430000" cy="649100"/>
          </a:xfrm>
          <a:prstGeom prst="wedgeRoundRectCallout">
            <a:avLst>
              <a:gd name="adj1" fmla="val 18540"/>
              <a:gd name="adj2" fmla="val -114381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bg-BG" sz="28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Път до </a:t>
            </a:r>
            <a:r>
              <a:rPr lang="bg-BG" sz="2800" b="1" dirty="0">
                <a:solidFill>
                  <a:schemeClr val="bg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ресурс</a:t>
            </a:r>
            <a:endParaRPr lang="en-BG" sz="2800" b="1" dirty="0">
              <a:solidFill>
                <a:schemeClr val="bg1">
                  <a:lumMod val="60000"/>
                  <a:lumOff val="4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3797691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5" grpId="0" animBg="1"/>
      <p:bldP spid="6" grpId="0" animBg="1"/>
    </p:bldLst>
  </p:timing>
  <p:extLst>
    <p:ext uri="{6950BFC3-D8DA-4A85-94F7-54DA5524770B}">
      <p188:commentRel xmlns:p188="http://schemas.microsoft.com/office/powerpoint/2018/8/main" r:id="rId3"/>
    </p:ext>
  </p:extLs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r>
              <a:rPr lang="bg-BG" sz="3200" b="1" dirty="0"/>
              <a:t>Потребителят</a:t>
            </a:r>
            <a:r>
              <a:rPr lang="bg-BG" sz="3200" dirty="0"/>
              <a:t> въвежда </a:t>
            </a:r>
            <a:r>
              <a:rPr lang="en-US" sz="3200" b="1" dirty="0">
                <a:solidFill>
                  <a:schemeClr val="bg1"/>
                </a:solidFill>
              </a:rPr>
              <a:t>URL </a:t>
            </a:r>
            <a:r>
              <a:rPr lang="bg-BG" sz="3200" b="1" dirty="0">
                <a:solidFill>
                  <a:schemeClr val="bg1"/>
                </a:solidFill>
              </a:rPr>
              <a:t>адрес </a:t>
            </a:r>
            <a:r>
              <a:rPr lang="bg-BG" sz="3200" dirty="0"/>
              <a:t>в </a:t>
            </a:r>
            <a:r>
              <a:rPr lang="bg-BG" sz="3200" b="1" dirty="0"/>
              <a:t>браузъра</a:t>
            </a:r>
          </a:p>
          <a:p>
            <a:r>
              <a:rPr lang="bg-BG" sz="3200" b="1" dirty="0"/>
              <a:t>D</a:t>
            </a:r>
            <a:r>
              <a:rPr lang="en-US" sz="3200" b="1" dirty="0"/>
              <a:t>NS </a:t>
            </a:r>
            <a:r>
              <a:rPr lang="bg-BG" sz="3200" b="1" dirty="0"/>
              <a:t>сървърът</a:t>
            </a:r>
            <a:r>
              <a:rPr lang="bg-BG" sz="3200" dirty="0"/>
              <a:t> превежда </a:t>
            </a:r>
            <a:r>
              <a:rPr lang="bg-BG" sz="3200" b="1" dirty="0"/>
              <a:t>домейна </a:t>
            </a:r>
            <a:r>
              <a:rPr lang="bg-BG" sz="3200" dirty="0"/>
              <a:t>в</a:t>
            </a:r>
            <a:r>
              <a:rPr lang="bg-BG" sz="3200" b="1" dirty="0"/>
              <a:t> </a:t>
            </a:r>
            <a:r>
              <a:rPr lang="en-US" sz="3200" b="1" dirty="0">
                <a:solidFill>
                  <a:schemeClr val="bg1"/>
                </a:solidFill>
              </a:rPr>
              <a:t>IP </a:t>
            </a:r>
            <a:r>
              <a:rPr lang="bg-BG" sz="3200" b="1" dirty="0">
                <a:solidFill>
                  <a:schemeClr val="bg1"/>
                </a:solidFill>
              </a:rPr>
              <a:t>адрес</a:t>
            </a:r>
          </a:p>
          <a:p>
            <a:r>
              <a:rPr lang="bg-BG" sz="3200" b="1" dirty="0"/>
              <a:t>Браузърът</a:t>
            </a:r>
            <a:r>
              <a:rPr lang="bg-BG" sz="3200" dirty="0"/>
              <a:t> се свързва със </a:t>
            </a:r>
            <a:r>
              <a:rPr lang="bg-BG" sz="3200" b="1" dirty="0">
                <a:solidFill>
                  <a:schemeClr val="bg1"/>
                </a:solidFill>
              </a:rPr>
              <a:t>сървъра</a:t>
            </a:r>
            <a:r>
              <a:rPr lang="bg-BG" sz="3200" dirty="0"/>
              <a:t>, на който е </a:t>
            </a:r>
            <a:r>
              <a:rPr lang="bg-BG" sz="3200" b="1" dirty="0"/>
              <a:t>хостван</a:t>
            </a:r>
            <a:r>
              <a:rPr lang="bg-BG" sz="3200" dirty="0"/>
              <a:t> </a:t>
            </a:r>
            <a:r>
              <a:rPr lang="bg-BG" sz="3200" b="1" dirty="0"/>
              <a:t>уеб сайтът</a:t>
            </a:r>
          </a:p>
          <a:p>
            <a:r>
              <a:rPr lang="bg-BG" sz="3200" b="1" dirty="0"/>
              <a:t>Сървърът</a:t>
            </a:r>
            <a:r>
              <a:rPr lang="bg-BG" sz="3200" dirty="0"/>
              <a:t> изпраща </a:t>
            </a:r>
            <a:r>
              <a:rPr lang="bg-BG" sz="3200" b="1" dirty="0">
                <a:solidFill>
                  <a:schemeClr val="bg1"/>
                </a:solidFill>
              </a:rPr>
              <a:t>файловете</a:t>
            </a:r>
            <a:r>
              <a:rPr lang="bg-BG" sz="3200" dirty="0"/>
              <a:t> на </a:t>
            </a:r>
            <a:r>
              <a:rPr lang="bg-BG" sz="3200" b="1" dirty="0"/>
              <a:t>страницата</a:t>
            </a:r>
          </a:p>
          <a:p>
            <a:r>
              <a:rPr lang="bg-BG" sz="3200" b="1" dirty="0"/>
              <a:t>Браузърът</a:t>
            </a:r>
            <a:r>
              <a:rPr lang="bg-BG" sz="3200" dirty="0"/>
              <a:t> ги </a:t>
            </a:r>
            <a:r>
              <a:rPr lang="bg-BG" sz="3200" b="1" dirty="0">
                <a:solidFill>
                  <a:schemeClr val="bg1"/>
                </a:solidFill>
              </a:rPr>
              <a:t>зарежда</a:t>
            </a:r>
            <a:r>
              <a:rPr lang="bg-BG" sz="3200" dirty="0"/>
              <a:t> и </a:t>
            </a:r>
            <a:r>
              <a:rPr lang="bg-BG" sz="3200" b="1" dirty="0">
                <a:solidFill>
                  <a:schemeClr val="bg1"/>
                </a:solidFill>
              </a:rPr>
              <a:t>визуализира</a:t>
            </a:r>
            <a:r>
              <a:rPr lang="bg-BG" sz="3200" dirty="0"/>
              <a:t> на </a:t>
            </a:r>
            <a:r>
              <a:rPr lang="bg-BG" sz="3200" b="1" dirty="0"/>
              <a:t>екрана</a:t>
            </a:r>
            <a:r>
              <a:rPr lang="bg-BG" sz="3200" dirty="0"/>
              <a:t> на </a:t>
            </a:r>
            <a:r>
              <a:rPr lang="bg-BG" sz="3200" b="1" dirty="0"/>
              <a:t>потребителя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Зареждане на уеб сайт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25285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800" dirty="0"/>
              <a:t>Цел и целева група за уеб сайт</a:t>
            </a:r>
            <a:endParaRPr lang="bg-BG" sz="4400" dirty="0"/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Пример</a:t>
            </a:r>
            <a:endParaRPr lang="en-US" sz="52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FC0205E-0349-E030-E202-08787758379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946"/>
          <a:stretch/>
        </p:blipFill>
        <p:spPr>
          <a:xfrm>
            <a:off x="4776134" y="1584000"/>
            <a:ext cx="2639732" cy="2310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8515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CFF77AF-1244-5C56-2322-474024354B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35</a:t>
            </a:fld>
            <a:endParaRPr lang="en-US" noProof="0" dirty="0"/>
          </a:p>
        </p:txBody>
      </p:sp>
      <p:sp>
        <p:nvSpPr>
          <p:cNvPr id="5" name="Slide Subtitle">
            <a:extLst>
              <a:ext uri="{FF2B5EF4-FFF2-40B4-BE49-F238E27FC236}">
                <a16:creationId xmlns:a16="http://schemas.microsoft.com/office/drawing/2014/main" id="{BFFB6AD3-7C0E-8812-206A-6FE13F32AC6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/>
          <a:lstStyle/>
          <a:p>
            <a:r>
              <a:rPr lang="bg-BG" sz="3600" dirty="0"/>
              <a:t>Нека определим </a:t>
            </a:r>
            <a:r>
              <a:rPr lang="bg-BG" sz="3600" b="1" dirty="0">
                <a:solidFill>
                  <a:schemeClr val="bg1"/>
                </a:solidFill>
              </a:rPr>
              <a:t>целта</a:t>
            </a:r>
            <a:r>
              <a:rPr lang="bg-BG" sz="3600" dirty="0"/>
              <a:t>, </a:t>
            </a:r>
            <a:r>
              <a:rPr lang="bg-BG" sz="3600" b="1" dirty="0">
                <a:solidFill>
                  <a:schemeClr val="bg1"/>
                </a:solidFill>
              </a:rPr>
              <a:t>целевата група </a:t>
            </a:r>
            <a:r>
              <a:rPr lang="bg-BG" sz="3600" dirty="0"/>
              <a:t>и </a:t>
            </a:r>
            <a:r>
              <a:rPr lang="bg-BG" sz="3600" b="1" dirty="0">
                <a:solidFill>
                  <a:schemeClr val="bg1"/>
                </a:solidFill>
              </a:rPr>
              <a:t>примерните страници</a:t>
            </a:r>
            <a:r>
              <a:rPr lang="bg-BG" sz="3600" dirty="0"/>
              <a:t> на следните </a:t>
            </a:r>
            <a:r>
              <a:rPr lang="bg-BG" sz="3600" b="1" dirty="0"/>
              <a:t>уеб сайтове</a:t>
            </a:r>
            <a:r>
              <a:rPr lang="bg-BG" sz="3600" dirty="0"/>
              <a:t>:</a:t>
            </a:r>
          </a:p>
          <a:p>
            <a:pPr lvl="1"/>
            <a:r>
              <a:rPr lang="bg-BG" sz="3400" dirty="0"/>
              <a:t>Министерство на образованието и науката </a:t>
            </a:r>
            <a:r>
              <a:rPr lang="en-US" sz="3400" dirty="0"/>
              <a:t>– </a:t>
            </a:r>
            <a:r>
              <a:rPr lang="en-US" sz="3400" dirty="0">
                <a:hlinkClick r:id="rId2"/>
              </a:rPr>
              <a:t>mon.bg</a:t>
            </a:r>
            <a:r>
              <a:rPr lang="en-US" sz="3400" dirty="0"/>
              <a:t> </a:t>
            </a:r>
            <a:endParaRPr lang="bg-BG" sz="3400" dirty="0"/>
          </a:p>
          <a:p>
            <a:pPr lvl="1"/>
            <a:r>
              <a:rPr lang="bg-BG" sz="3400" dirty="0"/>
              <a:t>Електронен дневник</a:t>
            </a:r>
            <a:r>
              <a:rPr lang="en-US" sz="3400" dirty="0"/>
              <a:t> – </a:t>
            </a:r>
            <a:r>
              <a:rPr lang="en-US" sz="3400" dirty="0">
                <a:hlinkClick r:id="rId3"/>
              </a:rPr>
              <a:t>shkolo.bg</a:t>
            </a:r>
            <a:endParaRPr lang="en-US" sz="3400" dirty="0"/>
          </a:p>
          <a:p>
            <a:pPr lvl="1"/>
            <a:r>
              <a:rPr lang="en-US" sz="3400" dirty="0"/>
              <a:t>Google – </a:t>
            </a:r>
            <a:r>
              <a:rPr lang="en-GB" sz="3400" dirty="0">
                <a:hlinkClick r:id="rId4"/>
              </a:rPr>
              <a:t>google.com</a:t>
            </a:r>
            <a:endParaRPr lang="en-US" sz="3400" dirty="0"/>
          </a:p>
          <a:p>
            <a:pPr lvl="1"/>
            <a:r>
              <a:rPr lang="en-US" sz="3400" dirty="0"/>
              <a:t>ChatGPT – </a:t>
            </a:r>
            <a:r>
              <a:rPr lang="en-US" sz="3400" dirty="0">
                <a:hlinkClick r:id="rId5"/>
              </a:rPr>
              <a:t>chatgpt.com</a:t>
            </a:r>
            <a:endParaRPr lang="bg-BG" sz="3400" dirty="0"/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C0175147-B272-7FDD-3726-0C1BF0BD6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>
            <a:normAutofit/>
          </a:bodyPr>
          <a:lstStyle/>
          <a:p>
            <a:r>
              <a:rPr lang="bg-BG" sz="4000" dirty="0"/>
              <a:t>Цел и целева група на уеб сайт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17129634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CFF77AF-1244-5C56-2322-474024354B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36</a:t>
            </a:fld>
            <a:endParaRPr lang="en-US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17E1991-AC2A-2C4E-62C5-36E7E05869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/>
          <a:lstStyle/>
          <a:p>
            <a:r>
              <a:rPr lang="bg-BG" b="1" dirty="0"/>
              <a:t>Защо</a:t>
            </a:r>
            <a:r>
              <a:rPr lang="bg-BG" dirty="0"/>
              <a:t> </a:t>
            </a:r>
            <a:r>
              <a:rPr lang="bg-BG" b="1" dirty="0"/>
              <a:t>съществува</a:t>
            </a:r>
            <a:r>
              <a:rPr lang="bg-BG" dirty="0"/>
              <a:t> уеб сайтът?</a:t>
            </a:r>
            <a:endParaRPr lang="en-BG" dirty="0"/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E793D230-3288-2AA8-95D9-642A7838CB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Определяне на цел на уеб сайта</a:t>
            </a:r>
            <a:endParaRPr lang="en-BG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557BAB7-1DD9-DD1C-75EF-CEE8D24AD2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6426180"/>
              </p:ext>
            </p:extLst>
          </p:nvPr>
        </p:nvGraphicFramePr>
        <p:xfrm>
          <a:off x="490080" y="2124000"/>
          <a:ext cx="11211840" cy="3972649"/>
        </p:xfrm>
        <a:graphic>
          <a:graphicData uri="http://schemas.openxmlformats.org/drawingml/2006/table">
            <a:tbl>
              <a:tblPr firstRow="1">
                <a:tableStyleId>{22838BEF-8BB2-4498-84A7-C5851F593DF1}</a:tableStyleId>
              </a:tblPr>
              <a:tblGrid>
                <a:gridCol w="1356840">
                  <a:extLst>
                    <a:ext uri="{9D8B030D-6E8A-4147-A177-3AD203B41FA5}">
                      <a16:colId xmlns:a16="http://schemas.microsoft.com/office/drawing/2014/main" val="1918126379"/>
                    </a:ext>
                  </a:extLst>
                </a:gridCol>
                <a:gridCol w="4455000">
                  <a:extLst>
                    <a:ext uri="{9D8B030D-6E8A-4147-A177-3AD203B41FA5}">
                      <a16:colId xmlns:a16="http://schemas.microsoft.com/office/drawing/2014/main" val="3700237570"/>
                    </a:ext>
                  </a:extLst>
                </a:gridCol>
                <a:gridCol w="2340000">
                  <a:extLst>
                    <a:ext uri="{9D8B030D-6E8A-4147-A177-3AD203B41FA5}">
                      <a16:colId xmlns:a16="http://schemas.microsoft.com/office/drawing/2014/main" val="3761518300"/>
                    </a:ext>
                  </a:extLst>
                </a:gridCol>
                <a:gridCol w="3060000">
                  <a:extLst>
                    <a:ext uri="{9D8B030D-6E8A-4147-A177-3AD203B41FA5}">
                      <a16:colId xmlns:a16="http://schemas.microsoft.com/office/drawing/2014/main" val="1399144962"/>
                    </a:ext>
                  </a:extLst>
                </a:gridCol>
              </a:tblGrid>
              <a:tr h="588845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bg-BG" sz="2200" b="1" dirty="0">
                          <a:solidFill>
                            <a:schemeClr val="bg2"/>
                          </a:solidFill>
                          <a:effectLst/>
                        </a:rPr>
                        <a:t>Уеб сайт</a:t>
                      </a:r>
                      <a:endParaRPr lang="en-BG" sz="2200" b="1" dirty="0">
                        <a:solidFill>
                          <a:schemeClr val="bg2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bg-BG" sz="2200" b="1" dirty="0">
                          <a:solidFill>
                            <a:schemeClr val="bg2"/>
                          </a:solidFill>
                          <a:effectLst/>
                        </a:rPr>
                        <a:t>Цел</a:t>
                      </a:r>
                      <a:endParaRPr lang="en-BG" sz="2200" b="1" dirty="0">
                        <a:solidFill>
                          <a:schemeClr val="bg2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bg-BG" sz="2200" b="1" dirty="0">
                          <a:solidFill>
                            <a:schemeClr val="bg2"/>
                          </a:solidFill>
                          <a:effectLst/>
                        </a:rPr>
                        <a:t>Целева група</a:t>
                      </a:r>
                      <a:endParaRPr lang="en-BG" sz="2200" b="1" dirty="0">
                        <a:solidFill>
                          <a:schemeClr val="bg2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bg-BG" sz="2200" b="1" dirty="0">
                          <a:solidFill>
                            <a:schemeClr val="bg2"/>
                          </a:solidFill>
                          <a:effectLst/>
                        </a:rPr>
                        <a:t>Примерни страници</a:t>
                      </a:r>
                      <a:endParaRPr lang="en-BG" sz="2200" b="1" dirty="0">
                        <a:solidFill>
                          <a:schemeClr val="bg2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9749732"/>
                  </a:ext>
                </a:extLst>
              </a:tr>
              <a:tr h="383553">
                <a:tc>
                  <a:txBody>
                    <a:bodyPr/>
                    <a:lstStyle/>
                    <a:p>
                      <a:pPr marL="0" marR="0" lvl="1" indent="0" algn="ctr" defTabSz="1218438" rtl="0" eaLnBrk="1" fontAlgn="auto" latinLnBrk="1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linkClick r:id="rId3"/>
                        </a:rPr>
                        <a:t>mon.bg</a:t>
                      </a:r>
                      <a:r>
                        <a:rPr lang="en-US" sz="2000" dirty="0"/>
                        <a:t> </a:t>
                      </a:r>
                      <a:endParaRPr lang="bg-BG" sz="2000" dirty="0"/>
                    </a:p>
                  </a:txBody>
                  <a:tcPr marL="30480" marR="30480" marT="9525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bg-BG" sz="2000" b="0" dirty="0">
                          <a:effectLst/>
                        </a:rPr>
                        <a:t>Предоставя </a:t>
                      </a:r>
                      <a:r>
                        <a:rPr lang="bg-BG" sz="2000" b="1" dirty="0">
                          <a:effectLst/>
                        </a:rPr>
                        <a:t>официална информация</a:t>
                      </a:r>
                      <a:r>
                        <a:rPr lang="bg-BG" sz="2000" b="0" dirty="0">
                          <a:effectLst/>
                        </a:rPr>
                        <a:t>,       </a:t>
                      </a:r>
                      <a:r>
                        <a:rPr lang="bg-BG" sz="2000" b="1" dirty="0">
                          <a:effectLst/>
                        </a:rPr>
                        <a:t>документи</a:t>
                      </a:r>
                      <a:r>
                        <a:rPr lang="bg-BG" sz="2000" b="0" dirty="0">
                          <a:effectLst/>
                        </a:rPr>
                        <a:t> и </a:t>
                      </a:r>
                      <a:r>
                        <a:rPr lang="bg-BG" sz="2000" b="1" dirty="0">
                          <a:effectLst/>
                        </a:rPr>
                        <a:t>новини</a:t>
                      </a:r>
                      <a:r>
                        <a:rPr lang="bg-BG" sz="2000" b="0" dirty="0">
                          <a:effectLst/>
                        </a:rPr>
                        <a:t> в сферата на             </a:t>
                      </a:r>
                      <a:r>
                        <a:rPr lang="bg-BG" sz="2000" b="1" dirty="0">
                          <a:effectLst/>
                        </a:rPr>
                        <a:t>образованието </a:t>
                      </a:r>
                      <a:r>
                        <a:rPr lang="bg-BG" sz="2000" b="0" dirty="0">
                          <a:effectLst/>
                        </a:rPr>
                        <a:t>в България</a:t>
                      </a:r>
                      <a:endParaRPr lang="en-BG" sz="20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endParaRPr lang="en-BG" sz="20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endParaRPr lang="en-BG" sz="20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656212"/>
                  </a:ext>
                </a:extLst>
              </a:tr>
              <a:tr h="783766">
                <a:tc>
                  <a:txBody>
                    <a:bodyPr/>
                    <a:lstStyle/>
                    <a:p>
                      <a:pPr marL="0" marR="0" lvl="0" indent="0" algn="ctr" defTabSz="1218438" rtl="0" eaLnBrk="1" fontAlgn="auto" latinLnBrk="1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linkClick r:id="rId4"/>
                        </a:rPr>
                        <a:t>shkolo.bg</a:t>
                      </a:r>
                      <a:endParaRPr lang="en-US" sz="2000" dirty="0"/>
                    </a:p>
                  </a:txBody>
                  <a:tcPr marL="30480" marR="30480" marT="9525" marB="0" anchor="ctr"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bg-BG" sz="2000" b="0" dirty="0">
                          <a:effectLst/>
                        </a:rPr>
                        <a:t>Осигурява </a:t>
                      </a:r>
                      <a:r>
                        <a:rPr lang="bg-BG" sz="2000" b="1" dirty="0">
                          <a:effectLst/>
                        </a:rPr>
                        <a:t>онлайн достъп </a:t>
                      </a:r>
                      <a:r>
                        <a:rPr lang="bg-BG" sz="2000" b="0" dirty="0">
                          <a:effectLst/>
                        </a:rPr>
                        <a:t>до </a:t>
                      </a:r>
                      <a:r>
                        <a:rPr lang="bg-BG" sz="2000" b="1" dirty="0">
                          <a:effectLst/>
                        </a:rPr>
                        <a:t>оценки</a:t>
                      </a:r>
                      <a:r>
                        <a:rPr lang="bg-BG" sz="2000" b="0" dirty="0">
                          <a:effectLst/>
                        </a:rPr>
                        <a:t>,       </a:t>
                      </a:r>
                      <a:r>
                        <a:rPr lang="bg-BG" sz="2000" b="1" dirty="0">
                          <a:effectLst/>
                        </a:rPr>
                        <a:t>отсъствия</a:t>
                      </a:r>
                      <a:r>
                        <a:rPr lang="bg-BG" sz="2000" b="0" dirty="0">
                          <a:effectLst/>
                        </a:rPr>
                        <a:t> и </a:t>
                      </a:r>
                      <a:r>
                        <a:rPr lang="bg-BG" sz="2000" b="1" dirty="0">
                          <a:effectLst/>
                        </a:rPr>
                        <a:t>съобщения</a:t>
                      </a:r>
                      <a:endParaRPr lang="en-BG" sz="2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endParaRPr lang="en-BG" sz="20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endParaRPr lang="en-BG" sz="20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5780378"/>
                  </a:ext>
                </a:extLst>
              </a:tr>
              <a:tr h="756134">
                <a:tc>
                  <a:txBody>
                    <a:bodyPr/>
                    <a:lstStyle/>
                    <a:p>
                      <a:pPr marL="0" marR="0" lvl="0" indent="0" algn="ctr" defTabSz="1218438" rtl="0" eaLnBrk="1" fontAlgn="auto" latinLnBrk="1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000" dirty="0">
                          <a:hlinkClick r:id="rId5"/>
                        </a:rPr>
                        <a:t>google.com</a:t>
                      </a:r>
                      <a:endParaRPr lang="en-US" sz="2000" dirty="0"/>
                    </a:p>
                  </a:txBody>
                  <a:tcPr marL="30480" marR="30480" marT="9525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bg-BG" sz="2000" b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</a:rPr>
                        <a:t>Предоставя </a:t>
                      </a:r>
                      <a:r>
                        <a:rPr lang="bg-BG" sz="20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</a:rPr>
                        <a:t>търсачка</a:t>
                      </a:r>
                      <a:r>
                        <a:rPr lang="bg-BG" sz="2000" b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</a:rPr>
                        <a:t> и помага за               </a:t>
                      </a:r>
                      <a:r>
                        <a:rPr lang="bg-BG" sz="20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</a:rPr>
                        <a:t>намирането</a:t>
                      </a:r>
                      <a:r>
                        <a:rPr lang="bg-BG" sz="2000" b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</a:rPr>
                        <a:t> на </a:t>
                      </a:r>
                      <a:r>
                        <a:rPr lang="bg-BG" sz="20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</a:rPr>
                        <a:t>информация</a:t>
                      </a:r>
                      <a:endParaRPr lang="en-BG" sz="2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endParaRPr lang="en-BG" sz="20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endParaRPr lang="en-BG" sz="20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8147020"/>
                  </a:ext>
                </a:extLst>
              </a:tr>
              <a:tr h="803393">
                <a:tc>
                  <a:txBody>
                    <a:bodyPr/>
                    <a:lstStyle/>
                    <a:p>
                      <a:pPr marL="0" marR="0" lvl="0" indent="0" algn="ctr" defTabSz="1218438" rtl="0" eaLnBrk="1" fontAlgn="auto" latinLnBrk="1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linkClick r:id="rId6"/>
                        </a:rPr>
                        <a:t>chatgpt.com</a:t>
                      </a:r>
                      <a:endParaRPr lang="bg-BG" sz="2000" dirty="0"/>
                    </a:p>
                  </a:txBody>
                  <a:tcPr marL="30480" marR="30480" marT="9525" marB="0" anchor="ctr"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bg-BG" sz="2000" b="0" dirty="0">
                          <a:effectLst/>
                        </a:rPr>
                        <a:t>Платформа за ... </a:t>
                      </a:r>
                      <a:r>
                        <a:rPr lang="bg-BG" sz="2000" b="1" dirty="0">
                          <a:effectLst/>
                        </a:rPr>
                        <a:t>изкуствен интелект</a:t>
                      </a:r>
                      <a:r>
                        <a:rPr lang="bg-BG" sz="2000" b="0" dirty="0">
                          <a:effectLst/>
                        </a:rPr>
                        <a:t> за </a:t>
                      </a:r>
                      <a:r>
                        <a:rPr lang="bg-BG" sz="2000" b="1" dirty="0">
                          <a:effectLst/>
                        </a:rPr>
                        <a:t>писане</a:t>
                      </a:r>
                      <a:r>
                        <a:rPr lang="bg-BG" sz="2000" b="0" dirty="0">
                          <a:effectLst/>
                        </a:rPr>
                        <a:t>, </a:t>
                      </a:r>
                      <a:r>
                        <a:rPr lang="bg-BG" sz="2000" b="1" dirty="0">
                          <a:effectLst/>
                        </a:rPr>
                        <a:t>помощ</a:t>
                      </a:r>
                      <a:r>
                        <a:rPr lang="bg-BG" sz="2000" b="0" dirty="0">
                          <a:effectLst/>
                        </a:rPr>
                        <a:t> и </a:t>
                      </a:r>
                      <a:r>
                        <a:rPr lang="bg-BG" sz="2000" b="1" dirty="0">
                          <a:effectLst/>
                        </a:rPr>
                        <a:t>обучение</a:t>
                      </a:r>
                      <a:endParaRPr lang="en-BG" sz="2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endParaRPr lang="en-BG" sz="20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endParaRPr lang="en-BG" sz="20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08546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774098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extLst>
    <p:ext uri="{6950BFC3-D8DA-4A85-94F7-54DA5524770B}">
      <p188:commentRel xmlns:p188="http://schemas.microsoft.com/office/powerpoint/2018/8/main" r:id="rId2"/>
    </p:ext>
  </p:extLs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CFF77AF-1244-5C56-2322-474024354B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37</a:t>
            </a:fld>
            <a:endParaRPr lang="en-US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E19CEF1-68D1-DFE8-9B07-7B5EEAD7F86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/>
          <a:lstStyle/>
          <a:p>
            <a:r>
              <a:rPr lang="bg-BG" b="1" dirty="0"/>
              <a:t>Коя</a:t>
            </a:r>
            <a:r>
              <a:rPr lang="bg-BG" dirty="0"/>
              <a:t> е </a:t>
            </a:r>
            <a:r>
              <a:rPr lang="bg-BG" b="1" dirty="0"/>
              <a:t>аудиторията</a:t>
            </a:r>
            <a:r>
              <a:rPr lang="bg-BG" dirty="0"/>
              <a:t>, към която е насочен уеб сайта</a:t>
            </a:r>
            <a:endParaRPr lang="en-BG" dirty="0"/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3FE571EC-DC55-1E76-6D00-A4F5E4AFE0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Определяне на целева група на уеб сайта</a:t>
            </a:r>
            <a:endParaRPr lang="en-BG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C29588D7-9DE5-777E-19F2-9EEC94A558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7628158"/>
              </p:ext>
            </p:extLst>
          </p:nvPr>
        </p:nvGraphicFramePr>
        <p:xfrm>
          <a:off x="490080" y="2124000"/>
          <a:ext cx="11211840" cy="4209767"/>
        </p:xfrm>
        <a:graphic>
          <a:graphicData uri="http://schemas.openxmlformats.org/drawingml/2006/table">
            <a:tbl>
              <a:tblPr firstRow="1">
                <a:tableStyleId>{22838BEF-8BB2-4498-84A7-C5851F593DF1}</a:tableStyleId>
              </a:tblPr>
              <a:tblGrid>
                <a:gridCol w="1356840">
                  <a:extLst>
                    <a:ext uri="{9D8B030D-6E8A-4147-A177-3AD203B41FA5}">
                      <a16:colId xmlns:a16="http://schemas.microsoft.com/office/drawing/2014/main" val="1918126379"/>
                    </a:ext>
                  </a:extLst>
                </a:gridCol>
                <a:gridCol w="4455000">
                  <a:extLst>
                    <a:ext uri="{9D8B030D-6E8A-4147-A177-3AD203B41FA5}">
                      <a16:colId xmlns:a16="http://schemas.microsoft.com/office/drawing/2014/main" val="3700237570"/>
                    </a:ext>
                  </a:extLst>
                </a:gridCol>
                <a:gridCol w="2340000">
                  <a:extLst>
                    <a:ext uri="{9D8B030D-6E8A-4147-A177-3AD203B41FA5}">
                      <a16:colId xmlns:a16="http://schemas.microsoft.com/office/drawing/2014/main" val="3761518300"/>
                    </a:ext>
                  </a:extLst>
                </a:gridCol>
                <a:gridCol w="3060000">
                  <a:extLst>
                    <a:ext uri="{9D8B030D-6E8A-4147-A177-3AD203B41FA5}">
                      <a16:colId xmlns:a16="http://schemas.microsoft.com/office/drawing/2014/main" val="1399144962"/>
                    </a:ext>
                  </a:extLst>
                </a:gridCol>
              </a:tblGrid>
              <a:tr h="588845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bg-BG" sz="2200" b="1" dirty="0">
                          <a:solidFill>
                            <a:schemeClr val="bg2"/>
                          </a:solidFill>
                          <a:effectLst/>
                        </a:rPr>
                        <a:t>Уеб сайт</a:t>
                      </a:r>
                      <a:endParaRPr lang="en-BG" sz="2200" b="1" dirty="0">
                        <a:solidFill>
                          <a:schemeClr val="bg2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bg-BG" sz="2200" b="1" dirty="0">
                          <a:solidFill>
                            <a:schemeClr val="bg2"/>
                          </a:solidFill>
                          <a:effectLst/>
                        </a:rPr>
                        <a:t>Цел</a:t>
                      </a:r>
                      <a:endParaRPr lang="en-BG" sz="2200" b="1" dirty="0">
                        <a:solidFill>
                          <a:schemeClr val="bg2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bg-BG" sz="2200" b="1" dirty="0">
                          <a:solidFill>
                            <a:schemeClr val="bg2"/>
                          </a:solidFill>
                          <a:effectLst/>
                        </a:rPr>
                        <a:t>Целева група</a:t>
                      </a:r>
                      <a:endParaRPr lang="en-BG" sz="2200" b="1" dirty="0">
                        <a:solidFill>
                          <a:schemeClr val="bg2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bg-BG" sz="2200" b="1" dirty="0">
                          <a:solidFill>
                            <a:schemeClr val="bg2"/>
                          </a:solidFill>
                          <a:effectLst/>
                        </a:rPr>
                        <a:t>Примерни страници</a:t>
                      </a:r>
                      <a:endParaRPr lang="en-BG" sz="2200" b="1" dirty="0">
                        <a:solidFill>
                          <a:schemeClr val="bg2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9749732"/>
                  </a:ext>
                </a:extLst>
              </a:tr>
              <a:tr h="383553">
                <a:tc>
                  <a:txBody>
                    <a:bodyPr/>
                    <a:lstStyle/>
                    <a:p>
                      <a:pPr marL="0" marR="0" lvl="1" indent="0" algn="ctr" defTabSz="1218438" rtl="0" eaLnBrk="1" fontAlgn="auto" latinLnBrk="1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linkClick r:id="rId2"/>
                        </a:rPr>
                        <a:t>mon.bg</a:t>
                      </a:r>
                      <a:r>
                        <a:rPr lang="en-US" sz="2000" dirty="0"/>
                        <a:t> </a:t>
                      </a:r>
                      <a:endParaRPr lang="bg-BG" sz="2000" dirty="0"/>
                    </a:p>
                  </a:txBody>
                  <a:tcPr marL="30480" marR="30480" marT="9525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bg-BG" sz="2000" b="0" dirty="0">
                          <a:effectLst/>
                        </a:rPr>
                        <a:t>Предоставя </a:t>
                      </a:r>
                      <a:r>
                        <a:rPr lang="bg-BG" sz="2000" b="1" dirty="0">
                          <a:effectLst/>
                        </a:rPr>
                        <a:t>официална информация</a:t>
                      </a:r>
                      <a:r>
                        <a:rPr lang="bg-BG" sz="2000" b="0" dirty="0">
                          <a:effectLst/>
                        </a:rPr>
                        <a:t>,       </a:t>
                      </a:r>
                      <a:r>
                        <a:rPr lang="bg-BG" sz="2000" b="1" dirty="0">
                          <a:effectLst/>
                        </a:rPr>
                        <a:t>документи</a:t>
                      </a:r>
                      <a:r>
                        <a:rPr lang="bg-BG" sz="2000" b="0" dirty="0">
                          <a:effectLst/>
                        </a:rPr>
                        <a:t> и </a:t>
                      </a:r>
                      <a:r>
                        <a:rPr lang="bg-BG" sz="2000" b="1" dirty="0">
                          <a:effectLst/>
                        </a:rPr>
                        <a:t>новини</a:t>
                      </a:r>
                      <a:r>
                        <a:rPr lang="bg-BG" sz="2000" b="0" dirty="0">
                          <a:effectLst/>
                        </a:rPr>
                        <a:t> в сферата на             </a:t>
                      </a:r>
                      <a:r>
                        <a:rPr lang="bg-BG" sz="2000" b="1" dirty="0">
                          <a:effectLst/>
                        </a:rPr>
                        <a:t>образованието</a:t>
                      </a:r>
                      <a:endParaRPr lang="en-BG" sz="2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bg-BG" sz="2000" b="0" dirty="0">
                          <a:effectLst/>
                        </a:rPr>
                        <a:t>Учители, ученици,      родители, училищни администрации</a:t>
                      </a:r>
                      <a:endParaRPr lang="en-BG" sz="20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endParaRPr lang="en-BG" sz="20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656212"/>
                  </a:ext>
                </a:extLst>
              </a:tr>
              <a:tr h="783766">
                <a:tc>
                  <a:txBody>
                    <a:bodyPr/>
                    <a:lstStyle/>
                    <a:p>
                      <a:pPr marL="0" marR="0" lvl="0" indent="0" algn="ctr" defTabSz="1218438" rtl="0" eaLnBrk="1" fontAlgn="auto" latinLnBrk="1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linkClick r:id="rId3"/>
                        </a:rPr>
                        <a:t>shkolo.bg</a:t>
                      </a:r>
                      <a:endParaRPr lang="en-US" sz="2000" dirty="0"/>
                    </a:p>
                  </a:txBody>
                  <a:tcPr marL="30480" marR="30480" marT="9525" marB="0" anchor="ctr"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bg-BG" sz="2000" b="0" dirty="0">
                          <a:effectLst/>
                        </a:rPr>
                        <a:t>Осигурява </a:t>
                      </a:r>
                      <a:r>
                        <a:rPr lang="bg-BG" sz="2000" b="1" dirty="0">
                          <a:effectLst/>
                        </a:rPr>
                        <a:t>онлайн достъп </a:t>
                      </a:r>
                      <a:r>
                        <a:rPr lang="bg-BG" sz="2000" b="0" dirty="0">
                          <a:effectLst/>
                        </a:rPr>
                        <a:t>до </a:t>
                      </a:r>
                      <a:r>
                        <a:rPr lang="bg-BG" sz="2000" b="1" dirty="0">
                          <a:effectLst/>
                        </a:rPr>
                        <a:t>оценки</a:t>
                      </a:r>
                      <a:r>
                        <a:rPr lang="bg-BG" sz="2000" b="0" dirty="0">
                          <a:effectLst/>
                        </a:rPr>
                        <a:t>,       </a:t>
                      </a:r>
                      <a:r>
                        <a:rPr lang="bg-BG" sz="2000" b="1" dirty="0">
                          <a:effectLst/>
                        </a:rPr>
                        <a:t>отсъствия</a:t>
                      </a:r>
                      <a:r>
                        <a:rPr lang="bg-BG" sz="2000" b="0" dirty="0">
                          <a:effectLst/>
                        </a:rPr>
                        <a:t> и </a:t>
                      </a:r>
                      <a:r>
                        <a:rPr lang="bg-BG" sz="2000" b="1" dirty="0">
                          <a:effectLst/>
                        </a:rPr>
                        <a:t>съобщения</a:t>
                      </a:r>
                      <a:endParaRPr lang="en-BG" sz="2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bg-BG" sz="2000" b="0" dirty="0">
                          <a:effectLst/>
                        </a:rPr>
                        <a:t>Учители, ученици,     родители</a:t>
                      </a:r>
                      <a:endParaRPr lang="en-BG" sz="20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endParaRPr lang="en-BG" sz="20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5780378"/>
                  </a:ext>
                </a:extLst>
              </a:tr>
              <a:tr h="756134">
                <a:tc>
                  <a:txBody>
                    <a:bodyPr/>
                    <a:lstStyle/>
                    <a:p>
                      <a:pPr marL="0" marR="0" lvl="0" indent="0" algn="ctr" defTabSz="1218438" rtl="0" eaLnBrk="1" fontAlgn="auto" latinLnBrk="1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000" dirty="0">
                          <a:hlinkClick r:id="rId4"/>
                        </a:rPr>
                        <a:t>google.com</a:t>
                      </a:r>
                      <a:endParaRPr lang="en-US" sz="2000" dirty="0"/>
                    </a:p>
                  </a:txBody>
                  <a:tcPr marL="30480" marR="30480" marT="9525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bg-BG" sz="2000" b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</a:rPr>
                        <a:t>Предоставя </a:t>
                      </a:r>
                      <a:r>
                        <a:rPr lang="bg-BG" sz="20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</a:rPr>
                        <a:t>търсачка</a:t>
                      </a:r>
                      <a:r>
                        <a:rPr lang="bg-BG" sz="2000" b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</a:rPr>
                        <a:t> и помага за               </a:t>
                      </a:r>
                      <a:r>
                        <a:rPr lang="bg-BG" sz="20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</a:rPr>
                        <a:t>намирането</a:t>
                      </a:r>
                      <a:r>
                        <a:rPr lang="bg-BG" sz="2000" b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</a:rPr>
                        <a:t> на </a:t>
                      </a:r>
                      <a:r>
                        <a:rPr lang="bg-BG" sz="20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</a:rPr>
                        <a:t>информация</a:t>
                      </a:r>
                      <a:endParaRPr lang="en-BG" sz="2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bg-BG" sz="2000" b="0" dirty="0">
                          <a:effectLst/>
                        </a:rPr>
                        <a:t>Всички интернет        потребители</a:t>
                      </a:r>
                      <a:endParaRPr lang="en-BG" sz="20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endParaRPr lang="en-BG" sz="20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8147020"/>
                  </a:ext>
                </a:extLst>
              </a:tr>
              <a:tr h="803393">
                <a:tc>
                  <a:txBody>
                    <a:bodyPr/>
                    <a:lstStyle/>
                    <a:p>
                      <a:pPr marL="0" marR="0" lvl="0" indent="0" algn="ctr" defTabSz="1218438" rtl="0" eaLnBrk="1" fontAlgn="auto" latinLnBrk="1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linkClick r:id="rId5"/>
                        </a:rPr>
                        <a:t>chatgpt.com</a:t>
                      </a:r>
                      <a:endParaRPr lang="bg-BG" sz="2000" dirty="0"/>
                    </a:p>
                  </a:txBody>
                  <a:tcPr marL="30480" marR="30480" marT="9525" marB="0" anchor="ctr"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bg-BG" sz="2000" b="0" dirty="0">
                          <a:effectLst/>
                        </a:rPr>
                        <a:t>Предлага </a:t>
                      </a:r>
                      <a:r>
                        <a:rPr lang="bg-BG" sz="2000" b="1" dirty="0">
                          <a:effectLst/>
                        </a:rPr>
                        <a:t>изкуствен интелект</a:t>
                      </a:r>
                      <a:r>
                        <a:rPr lang="bg-BG" sz="2000" b="0" dirty="0">
                          <a:effectLst/>
                        </a:rPr>
                        <a:t> за </a:t>
                      </a:r>
                      <a:r>
                        <a:rPr lang="bg-BG" sz="2000" b="1" dirty="0">
                          <a:effectLst/>
                        </a:rPr>
                        <a:t>писане</a:t>
                      </a:r>
                      <a:r>
                        <a:rPr lang="bg-BG" sz="2000" b="0" dirty="0">
                          <a:effectLst/>
                        </a:rPr>
                        <a:t>, </a:t>
                      </a:r>
                      <a:r>
                        <a:rPr lang="bg-BG" sz="2000" b="1" dirty="0">
                          <a:effectLst/>
                        </a:rPr>
                        <a:t>помощ</a:t>
                      </a:r>
                      <a:r>
                        <a:rPr lang="bg-BG" sz="2000" b="0" dirty="0">
                          <a:effectLst/>
                        </a:rPr>
                        <a:t> и </a:t>
                      </a:r>
                      <a:r>
                        <a:rPr lang="bg-BG" sz="2000" b="1" dirty="0">
                          <a:effectLst/>
                        </a:rPr>
                        <a:t>обучение</a:t>
                      </a:r>
                      <a:endParaRPr lang="en-BG" sz="2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bg-BG" sz="2000" b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</a:rPr>
                        <a:t>Ученици, професио- налисти, любители    на технологиите</a:t>
                      </a:r>
                      <a:endParaRPr lang="en-BG" sz="20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endParaRPr lang="en-BG" sz="20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08546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133254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CFF77AF-1244-5C56-2322-474024354B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38</a:t>
            </a:fld>
            <a:endParaRPr lang="en-US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4FA871D-4FD2-7D7F-8844-6F7E8464AF1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/>
          <a:lstStyle/>
          <a:p>
            <a:r>
              <a:rPr lang="bg-BG" b="1" dirty="0"/>
              <a:t>Какви основни страници </a:t>
            </a:r>
            <a:r>
              <a:rPr lang="bg-BG" dirty="0"/>
              <a:t>съдържа уеб сайтът</a:t>
            </a:r>
            <a:endParaRPr lang="en-BG" dirty="0"/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B604B3BD-1FA4-9F3B-512E-1D5C16AC0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Примерни страници</a:t>
            </a:r>
            <a:endParaRPr lang="en-BG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96415755-F599-BB12-2F4B-3121BA2C78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8282953"/>
              </p:ext>
            </p:extLst>
          </p:nvPr>
        </p:nvGraphicFramePr>
        <p:xfrm>
          <a:off x="490080" y="2124000"/>
          <a:ext cx="11211840" cy="4209767"/>
        </p:xfrm>
        <a:graphic>
          <a:graphicData uri="http://schemas.openxmlformats.org/drawingml/2006/table">
            <a:tbl>
              <a:tblPr firstRow="1">
                <a:tableStyleId>{22838BEF-8BB2-4498-84A7-C5851F593DF1}</a:tableStyleId>
              </a:tblPr>
              <a:tblGrid>
                <a:gridCol w="1356840">
                  <a:extLst>
                    <a:ext uri="{9D8B030D-6E8A-4147-A177-3AD203B41FA5}">
                      <a16:colId xmlns:a16="http://schemas.microsoft.com/office/drawing/2014/main" val="1918126379"/>
                    </a:ext>
                  </a:extLst>
                </a:gridCol>
                <a:gridCol w="4455000">
                  <a:extLst>
                    <a:ext uri="{9D8B030D-6E8A-4147-A177-3AD203B41FA5}">
                      <a16:colId xmlns:a16="http://schemas.microsoft.com/office/drawing/2014/main" val="3700237570"/>
                    </a:ext>
                  </a:extLst>
                </a:gridCol>
                <a:gridCol w="2340000">
                  <a:extLst>
                    <a:ext uri="{9D8B030D-6E8A-4147-A177-3AD203B41FA5}">
                      <a16:colId xmlns:a16="http://schemas.microsoft.com/office/drawing/2014/main" val="3761518300"/>
                    </a:ext>
                  </a:extLst>
                </a:gridCol>
                <a:gridCol w="3060000">
                  <a:extLst>
                    <a:ext uri="{9D8B030D-6E8A-4147-A177-3AD203B41FA5}">
                      <a16:colId xmlns:a16="http://schemas.microsoft.com/office/drawing/2014/main" val="1399144962"/>
                    </a:ext>
                  </a:extLst>
                </a:gridCol>
              </a:tblGrid>
              <a:tr h="588845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bg-BG" sz="2200" b="1" dirty="0">
                          <a:solidFill>
                            <a:schemeClr val="bg2"/>
                          </a:solidFill>
                          <a:effectLst/>
                        </a:rPr>
                        <a:t>Уеб сайт</a:t>
                      </a:r>
                      <a:endParaRPr lang="en-BG" sz="2200" b="1" dirty="0">
                        <a:solidFill>
                          <a:schemeClr val="bg2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bg-BG" sz="2200" b="1" dirty="0">
                          <a:solidFill>
                            <a:schemeClr val="bg2"/>
                          </a:solidFill>
                          <a:effectLst/>
                        </a:rPr>
                        <a:t>Цел</a:t>
                      </a:r>
                      <a:endParaRPr lang="en-BG" sz="2200" b="1" dirty="0">
                        <a:solidFill>
                          <a:schemeClr val="bg2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bg-BG" sz="2200" b="1" dirty="0">
                          <a:solidFill>
                            <a:schemeClr val="bg2"/>
                          </a:solidFill>
                          <a:effectLst/>
                        </a:rPr>
                        <a:t>Целева група</a:t>
                      </a:r>
                      <a:endParaRPr lang="en-BG" sz="2200" b="1" dirty="0">
                        <a:solidFill>
                          <a:schemeClr val="bg2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bg-BG" sz="2200" b="1" dirty="0">
                          <a:solidFill>
                            <a:schemeClr val="bg2"/>
                          </a:solidFill>
                          <a:effectLst/>
                        </a:rPr>
                        <a:t>Примерни страници</a:t>
                      </a:r>
                      <a:endParaRPr lang="en-BG" sz="2200" b="1" dirty="0">
                        <a:solidFill>
                          <a:schemeClr val="bg2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9749732"/>
                  </a:ext>
                </a:extLst>
              </a:tr>
              <a:tr h="383553">
                <a:tc>
                  <a:txBody>
                    <a:bodyPr/>
                    <a:lstStyle/>
                    <a:p>
                      <a:pPr marL="0" marR="0" lvl="1" indent="0" algn="ctr" defTabSz="1218438" rtl="0" eaLnBrk="1" fontAlgn="auto" latinLnBrk="1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linkClick r:id="rId2"/>
                        </a:rPr>
                        <a:t>mon.bg</a:t>
                      </a:r>
                      <a:r>
                        <a:rPr lang="en-US" sz="2000" dirty="0"/>
                        <a:t> </a:t>
                      </a:r>
                      <a:endParaRPr lang="bg-BG" sz="2000" dirty="0"/>
                    </a:p>
                  </a:txBody>
                  <a:tcPr marL="30480" marR="30480" marT="9525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bg-BG" sz="2000" b="0" dirty="0">
                          <a:effectLst/>
                        </a:rPr>
                        <a:t>Предоставя </a:t>
                      </a:r>
                      <a:r>
                        <a:rPr lang="bg-BG" sz="2000" b="1" dirty="0">
                          <a:effectLst/>
                        </a:rPr>
                        <a:t>официална информация</a:t>
                      </a:r>
                      <a:r>
                        <a:rPr lang="bg-BG" sz="2000" b="0" dirty="0">
                          <a:effectLst/>
                        </a:rPr>
                        <a:t>,       </a:t>
                      </a:r>
                      <a:r>
                        <a:rPr lang="bg-BG" sz="2000" b="1" dirty="0">
                          <a:effectLst/>
                        </a:rPr>
                        <a:t>документи</a:t>
                      </a:r>
                      <a:r>
                        <a:rPr lang="bg-BG" sz="2000" b="0" dirty="0">
                          <a:effectLst/>
                        </a:rPr>
                        <a:t> и </a:t>
                      </a:r>
                      <a:r>
                        <a:rPr lang="bg-BG" sz="2000" b="1" dirty="0">
                          <a:effectLst/>
                        </a:rPr>
                        <a:t>новини</a:t>
                      </a:r>
                      <a:r>
                        <a:rPr lang="bg-BG" sz="2000" b="0" dirty="0">
                          <a:effectLst/>
                        </a:rPr>
                        <a:t> в сферата на             </a:t>
                      </a:r>
                      <a:r>
                        <a:rPr lang="bg-BG" sz="2000" b="1" dirty="0">
                          <a:effectLst/>
                        </a:rPr>
                        <a:t>образованието</a:t>
                      </a:r>
                      <a:endParaRPr lang="en-BG" sz="2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bg-BG" sz="2000" b="0" dirty="0">
                          <a:effectLst/>
                        </a:rPr>
                        <a:t>Учители, ученици,      родители, училищни администрации</a:t>
                      </a:r>
                      <a:endParaRPr lang="en-BG" sz="20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bg-BG" sz="2000" b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</a:rPr>
                        <a:t>Начало, Новини,                     Документи, Контакти</a:t>
                      </a:r>
                      <a:endParaRPr lang="en-BG" sz="20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656212"/>
                  </a:ext>
                </a:extLst>
              </a:tr>
              <a:tr h="783766">
                <a:tc>
                  <a:txBody>
                    <a:bodyPr/>
                    <a:lstStyle/>
                    <a:p>
                      <a:pPr marL="0" marR="0" lvl="0" indent="0" algn="ctr" defTabSz="1218438" rtl="0" eaLnBrk="1" fontAlgn="auto" latinLnBrk="1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linkClick r:id="rId3"/>
                        </a:rPr>
                        <a:t>shkolo.bg</a:t>
                      </a:r>
                      <a:endParaRPr lang="en-US" sz="2000" dirty="0"/>
                    </a:p>
                  </a:txBody>
                  <a:tcPr marL="30480" marR="30480" marT="9525" marB="0" anchor="ctr"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bg-BG" sz="2000" b="0" dirty="0">
                          <a:effectLst/>
                        </a:rPr>
                        <a:t>Осигурява </a:t>
                      </a:r>
                      <a:r>
                        <a:rPr lang="bg-BG" sz="2000" b="1" dirty="0">
                          <a:effectLst/>
                        </a:rPr>
                        <a:t>онлайн достъп </a:t>
                      </a:r>
                      <a:r>
                        <a:rPr lang="bg-BG" sz="2000" b="0" dirty="0">
                          <a:effectLst/>
                        </a:rPr>
                        <a:t>до </a:t>
                      </a:r>
                      <a:r>
                        <a:rPr lang="bg-BG" sz="2000" b="1" dirty="0">
                          <a:effectLst/>
                        </a:rPr>
                        <a:t>оценки</a:t>
                      </a:r>
                      <a:r>
                        <a:rPr lang="bg-BG" sz="2000" b="0" dirty="0">
                          <a:effectLst/>
                        </a:rPr>
                        <a:t>,       </a:t>
                      </a:r>
                      <a:r>
                        <a:rPr lang="bg-BG" sz="2000" b="1" dirty="0">
                          <a:effectLst/>
                        </a:rPr>
                        <a:t>отсъствия</a:t>
                      </a:r>
                      <a:r>
                        <a:rPr lang="bg-BG" sz="2000" b="0" dirty="0">
                          <a:effectLst/>
                        </a:rPr>
                        <a:t> и </a:t>
                      </a:r>
                      <a:r>
                        <a:rPr lang="bg-BG" sz="2000" b="1" dirty="0">
                          <a:effectLst/>
                        </a:rPr>
                        <a:t>съобщения</a:t>
                      </a:r>
                      <a:endParaRPr lang="en-BG" sz="2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bg-BG" sz="2000" b="0" dirty="0">
                          <a:effectLst/>
                        </a:rPr>
                        <a:t>Учители, ученици,     родители</a:t>
                      </a:r>
                      <a:endParaRPr lang="en-BG" sz="20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bg-BG" sz="2000" b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</a:rPr>
                        <a:t>Вход, Оценки, Разписание, Съобщения</a:t>
                      </a:r>
                      <a:endParaRPr lang="en-BG" sz="20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5780378"/>
                  </a:ext>
                </a:extLst>
              </a:tr>
              <a:tr h="756134">
                <a:tc>
                  <a:txBody>
                    <a:bodyPr/>
                    <a:lstStyle/>
                    <a:p>
                      <a:pPr marL="0" marR="0" lvl="0" indent="0" algn="ctr" defTabSz="1218438" rtl="0" eaLnBrk="1" fontAlgn="auto" latinLnBrk="1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000" dirty="0">
                          <a:hlinkClick r:id="rId4"/>
                        </a:rPr>
                        <a:t>google.com</a:t>
                      </a:r>
                      <a:endParaRPr lang="en-US" sz="2000" dirty="0"/>
                    </a:p>
                  </a:txBody>
                  <a:tcPr marL="30480" marR="30480" marT="9525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bg-BG" sz="2000" b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</a:rPr>
                        <a:t>Предоставя </a:t>
                      </a:r>
                      <a:r>
                        <a:rPr lang="bg-BG" sz="20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</a:rPr>
                        <a:t>търсачка</a:t>
                      </a:r>
                      <a:r>
                        <a:rPr lang="bg-BG" sz="2000" b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</a:rPr>
                        <a:t> и помага за               </a:t>
                      </a:r>
                      <a:r>
                        <a:rPr lang="bg-BG" sz="20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</a:rPr>
                        <a:t>намирането</a:t>
                      </a:r>
                      <a:r>
                        <a:rPr lang="bg-BG" sz="2000" b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</a:rPr>
                        <a:t> на </a:t>
                      </a:r>
                      <a:r>
                        <a:rPr lang="bg-BG" sz="20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</a:rPr>
                        <a:t>информация</a:t>
                      </a:r>
                      <a:endParaRPr lang="en-BG" sz="2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bg-BG" sz="2000" b="0" dirty="0">
                          <a:effectLst/>
                        </a:rPr>
                        <a:t>Всички интернет        потребители</a:t>
                      </a:r>
                      <a:endParaRPr lang="en-BG" sz="20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bg-BG" sz="2000" b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</a:rPr>
                        <a:t>Търсене, Изображения,       Карти</a:t>
                      </a:r>
                      <a:endParaRPr lang="en-BG" sz="20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8147020"/>
                  </a:ext>
                </a:extLst>
              </a:tr>
              <a:tr h="803393">
                <a:tc>
                  <a:txBody>
                    <a:bodyPr/>
                    <a:lstStyle/>
                    <a:p>
                      <a:pPr marL="0" marR="0" lvl="0" indent="0" algn="ctr" defTabSz="1218438" rtl="0" eaLnBrk="1" fontAlgn="auto" latinLnBrk="1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linkClick r:id="rId5"/>
                        </a:rPr>
                        <a:t>chatgpt.com</a:t>
                      </a:r>
                      <a:endParaRPr lang="bg-BG" sz="2000" dirty="0"/>
                    </a:p>
                  </a:txBody>
                  <a:tcPr marL="30480" marR="30480" marT="9525" marB="0" anchor="ctr"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bg-BG" sz="2000" b="0" dirty="0">
                          <a:effectLst/>
                        </a:rPr>
                        <a:t>Предлага </a:t>
                      </a:r>
                      <a:r>
                        <a:rPr lang="bg-BG" sz="2000" b="1" dirty="0">
                          <a:effectLst/>
                        </a:rPr>
                        <a:t>изкуствен интелект</a:t>
                      </a:r>
                      <a:r>
                        <a:rPr lang="bg-BG" sz="2000" b="0" dirty="0">
                          <a:effectLst/>
                        </a:rPr>
                        <a:t> за </a:t>
                      </a:r>
                      <a:r>
                        <a:rPr lang="bg-BG" sz="2000" b="1" dirty="0">
                          <a:effectLst/>
                        </a:rPr>
                        <a:t>писане</a:t>
                      </a:r>
                      <a:r>
                        <a:rPr lang="bg-BG" sz="2000" b="0" dirty="0">
                          <a:effectLst/>
                        </a:rPr>
                        <a:t>, </a:t>
                      </a:r>
                      <a:r>
                        <a:rPr lang="bg-BG" sz="2000" b="1" dirty="0">
                          <a:effectLst/>
                        </a:rPr>
                        <a:t>помощ</a:t>
                      </a:r>
                      <a:r>
                        <a:rPr lang="bg-BG" sz="2000" b="0" dirty="0">
                          <a:effectLst/>
                        </a:rPr>
                        <a:t> и </a:t>
                      </a:r>
                      <a:r>
                        <a:rPr lang="bg-BG" sz="2000" b="1" dirty="0">
                          <a:effectLst/>
                        </a:rPr>
                        <a:t>обучение</a:t>
                      </a:r>
                      <a:endParaRPr lang="en-BG" sz="2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bg-BG" sz="2000" b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</a:rPr>
                        <a:t>Ученици, професио- налисти, любители    на технологиите</a:t>
                      </a:r>
                      <a:endParaRPr lang="en-BG" sz="20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bg-BG" sz="2000" b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</a:rPr>
                        <a:t>Начало, Нов чат, История,   Настройки</a:t>
                      </a:r>
                      <a:endParaRPr lang="en-BG" sz="20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08546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028520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Summary Box Group">
            <a:extLst>
              <a:ext uri="{FF2B5EF4-FFF2-40B4-BE49-F238E27FC236}">
                <a16:creationId xmlns:a16="http://schemas.microsoft.com/office/drawing/2014/main" id="{EBAFE522-EB7D-4931-A015-9A7E8A98517D}"/>
              </a:ext>
            </a:extLst>
          </p:cNvPr>
          <p:cNvGrpSpPr/>
          <p:nvPr/>
        </p:nvGrpSpPr>
        <p:grpSpPr>
          <a:xfrm>
            <a:off x="190406" y="1360993"/>
            <a:ext cx="11562624" cy="5394328"/>
            <a:chOff x="472011" y="1508786"/>
            <a:chExt cx="3799787" cy="4865561"/>
          </a:xfrm>
        </p:grpSpPr>
        <p:sp>
          <p:nvSpPr>
            <p:cNvPr id="10" name="Rounded Rectangle Blue">
              <a:extLst>
                <a:ext uri="{FF2B5EF4-FFF2-40B4-BE49-F238E27FC236}">
                  <a16:creationId xmlns:a16="http://schemas.microsoft.com/office/drawing/2014/main" id="{18F78F23-3D09-4B63-8DF9-D49CFBB145EE}"/>
                </a:ext>
              </a:extLst>
            </p:cNvPr>
            <p:cNvSpPr/>
            <p:nvPr/>
          </p:nvSpPr>
          <p:spPr>
            <a:xfrm>
              <a:off x="472011" y="1508786"/>
              <a:ext cx="3799787" cy="4865561"/>
            </a:xfrm>
            <a:prstGeom prst="roundRect">
              <a:avLst>
                <a:gd name="adj" fmla="val 3968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/>
            </a:p>
          </p:txBody>
        </p:sp>
        <p:sp>
          <p:nvSpPr>
            <p:cNvPr id="11" name="Rounded Rectangle Left">
              <a:extLst>
                <a:ext uri="{FF2B5EF4-FFF2-40B4-BE49-F238E27FC236}">
                  <a16:creationId xmlns:a16="http://schemas.microsoft.com/office/drawing/2014/main" id="{F12C06CE-2BBE-46C2-B718-813794C58DF9}"/>
                </a:ext>
              </a:extLst>
            </p:cNvPr>
            <p:cNvSpPr/>
            <p:nvPr/>
          </p:nvSpPr>
          <p:spPr>
            <a:xfrm>
              <a:off x="546866" y="1696737"/>
              <a:ext cx="81601" cy="4489658"/>
            </a:xfrm>
            <a:prstGeom prst="roundRect">
              <a:avLst>
                <a:gd name="adj" fmla="val 50000"/>
              </a:avLst>
            </a:prstGeom>
            <a:solidFill>
              <a:schemeClr val="bg2">
                <a:alpha val="4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>
                <a:solidFill>
                  <a:schemeClr val="bg1"/>
                </a:solidFill>
              </a:endParaRPr>
            </a:p>
          </p:txBody>
        </p:sp>
        <p:sp>
          <p:nvSpPr>
            <p:cNvPr id="12" name="Half Frame Top Right">
              <a:extLst>
                <a:ext uri="{FF2B5EF4-FFF2-40B4-BE49-F238E27FC236}">
                  <a16:creationId xmlns:a16="http://schemas.microsoft.com/office/drawing/2014/main" id="{66CDBB1E-AF3C-43FC-9F34-2DD691F81726}"/>
                </a:ext>
              </a:extLst>
            </p:cNvPr>
            <p:cNvSpPr/>
            <p:nvPr/>
          </p:nvSpPr>
          <p:spPr>
            <a:xfrm rot="5400000">
              <a:off x="3742559" y="1912372"/>
              <a:ext cx="669775" cy="238503"/>
            </a:xfrm>
            <a:prstGeom prst="halfFrame">
              <a:avLst>
                <a:gd name="adj1" fmla="val 23728"/>
                <a:gd name="adj2" fmla="val 24642"/>
              </a:avLst>
            </a:prstGeom>
            <a:solidFill>
              <a:schemeClr val="bg2">
                <a:alpha val="23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>
                <a:solidFill>
                  <a:schemeClr val="tx1"/>
                </a:solidFill>
              </a:endParaRPr>
            </a:p>
          </p:txBody>
        </p:sp>
      </p:grpSp>
      <p:sp>
        <p:nvSpPr>
          <p:cNvPr id="14" name="Text Placeholder Body">
            <a:extLst>
              <a:ext uri="{FF2B5EF4-FFF2-40B4-BE49-F238E27FC236}">
                <a16:creationId xmlns:a16="http://schemas.microsoft.com/office/drawing/2014/main" id="{0E49D336-45B6-44D3-97C4-E28F8DEA202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97877" y="1676785"/>
            <a:ext cx="10826625" cy="4977574"/>
          </a:xfrm>
        </p:spPr>
        <p:txBody>
          <a:bodyPr>
            <a:normAutofit fontScale="47500" lnSpcReduction="20000"/>
          </a:bodyPr>
          <a:lstStyle>
            <a:lvl1pPr marL="514350" indent="-514350">
              <a:buFont typeface="Wingdings" panose="05000000000000000000" pitchFamily="2" charset="2"/>
              <a:buChar char="§"/>
              <a:defRPr>
                <a:solidFill>
                  <a:schemeClr val="bg2"/>
                </a:solidFill>
              </a:defRPr>
            </a:lvl1pPr>
            <a:lvl2pPr marL="1123935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2pPr>
            <a:lvl3pPr marL="1733520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3pPr>
            <a:lvl4pPr marL="2343105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4pPr>
            <a:lvl5pPr marL="2952689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5pPr>
          </a:lstStyle>
          <a:p>
            <a:pPr marL="360363" indent="-360363" fontAlgn="base">
              <a:buClr>
                <a:schemeClr val="bg2"/>
              </a:buClr>
            </a:pPr>
            <a:r>
              <a:rPr lang="bg-BG" sz="4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Уеб сайт </a:t>
            </a:r>
            <a:r>
              <a:rPr lang="bg-BG" sz="4400" dirty="0"/>
              <a:t>=</a:t>
            </a:r>
            <a:r>
              <a:rPr lang="en-US" sz="4400" dirty="0"/>
              <a:t>= </a:t>
            </a:r>
            <a:r>
              <a:rPr lang="bg-BG" sz="4400" dirty="0"/>
              <a:t>съвкупност от </a:t>
            </a:r>
            <a:r>
              <a:rPr lang="bg-BG" sz="4400" b="1" dirty="0"/>
              <a:t>свързани помежду си уебстраници</a:t>
            </a:r>
          </a:p>
          <a:p>
            <a:pPr marL="969948" lvl="1" indent="-360363" fontAlgn="base">
              <a:buClr>
                <a:schemeClr val="bg2"/>
              </a:buClr>
            </a:pPr>
            <a:r>
              <a:rPr lang="bg-BG" sz="42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Статичен уеб сайт </a:t>
            </a:r>
            <a:r>
              <a:rPr lang="bg-BG" sz="4200" dirty="0">
                <a:solidFill>
                  <a:schemeClr val="bg2"/>
                </a:solidFill>
              </a:rPr>
              <a:t>=</a:t>
            </a:r>
            <a:r>
              <a:rPr lang="en-US" sz="4200" dirty="0">
                <a:solidFill>
                  <a:schemeClr val="bg2"/>
                </a:solidFill>
              </a:rPr>
              <a:t>= </a:t>
            </a:r>
            <a:r>
              <a:rPr lang="bg-BG" sz="4200" b="1" dirty="0">
                <a:solidFill>
                  <a:schemeClr val="bg2"/>
                </a:solidFill>
              </a:rPr>
              <a:t>съдържанието</a:t>
            </a:r>
            <a:r>
              <a:rPr lang="bg-BG" sz="4200" dirty="0">
                <a:solidFill>
                  <a:schemeClr val="bg2"/>
                </a:solidFill>
              </a:rPr>
              <a:t> се </a:t>
            </a:r>
            <a:r>
              <a:rPr lang="bg-BG" sz="4200" b="1" dirty="0">
                <a:solidFill>
                  <a:schemeClr val="bg2"/>
                </a:solidFill>
              </a:rPr>
              <a:t>променя</a:t>
            </a:r>
            <a:r>
              <a:rPr lang="bg-BG" sz="4200" dirty="0">
                <a:solidFill>
                  <a:schemeClr val="bg2"/>
                </a:solidFill>
              </a:rPr>
              <a:t> </a:t>
            </a:r>
            <a:r>
              <a:rPr lang="bg-BG" sz="42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ръчно</a:t>
            </a:r>
          </a:p>
          <a:p>
            <a:pPr marL="969948" lvl="1" indent="-360363" fontAlgn="base">
              <a:buClr>
                <a:schemeClr val="bg2"/>
              </a:buClr>
            </a:pPr>
            <a:r>
              <a:rPr lang="bg-BG" sz="42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Динамичен уеб сайт </a:t>
            </a:r>
            <a:r>
              <a:rPr lang="en-US" sz="4200" dirty="0">
                <a:solidFill>
                  <a:schemeClr val="bg2"/>
                </a:solidFill>
              </a:rPr>
              <a:t>== </a:t>
            </a:r>
            <a:r>
              <a:rPr lang="bg-BG" sz="4200" b="1" dirty="0">
                <a:solidFill>
                  <a:schemeClr val="bg2"/>
                </a:solidFill>
              </a:rPr>
              <a:t>съдържанието</a:t>
            </a:r>
            <a:r>
              <a:rPr lang="bg-BG" sz="4200" dirty="0">
                <a:solidFill>
                  <a:schemeClr val="bg2"/>
                </a:solidFill>
              </a:rPr>
              <a:t> се </a:t>
            </a:r>
            <a:r>
              <a:rPr lang="bg-BG" sz="4200" b="1" dirty="0">
                <a:solidFill>
                  <a:schemeClr val="bg2"/>
                </a:solidFill>
              </a:rPr>
              <a:t>променя </a:t>
            </a:r>
            <a:r>
              <a:rPr lang="bg-BG" sz="42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автоматично</a:t>
            </a:r>
          </a:p>
          <a:p>
            <a:pPr marL="969948" lvl="1" indent="-360363" fontAlgn="base">
              <a:buClr>
                <a:schemeClr val="bg2"/>
              </a:buClr>
            </a:pPr>
            <a:r>
              <a:rPr lang="bg-BG" sz="42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Цел </a:t>
            </a:r>
            <a:r>
              <a:rPr lang="en-US" sz="4200" dirty="0">
                <a:solidFill>
                  <a:schemeClr val="bg2"/>
                </a:solidFill>
              </a:rPr>
              <a:t>–</a:t>
            </a:r>
            <a:r>
              <a:rPr lang="bg-BG" sz="4200" b="1" dirty="0">
                <a:solidFill>
                  <a:schemeClr val="bg2"/>
                </a:solidFill>
              </a:rPr>
              <a:t> Какво</a:t>
            </a:r>
            <a:r>
              <a:rPr lang="bg-BG" sz="4200" dirty="0">
                <a:solidFill>
                  <a:schemeClr val="bg2"/>
                </a:solidFill>
              </a:rPr>
              <a:t> искаме да постигнем?</a:t>
            </a:r>
          </a:p>
          <a:p>
            <a:pPr marL="969948" lvl="1" indent="-360363" fontAlgn="base">
              <a:buClr>
                <a:schemeClr val="bg2"/>
              </a:buClr>
            </a:pPr>
            <a:r>
              <a:rPr lang="bg-BG" sz="42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Целева група</a:t>
            </a:r>
            <a:r>
              <a:rPr lang="en-US" sz="4200" dirty="0">
                <a:solidFill>
                  <a:schemeClr val="bg2"/>
                </a:solidFill>
              </a:rPr>
              <a:t> –</a:t>
            </a:r>
            <a:r>
              <a:rPr lang="bg-BG" sz="4200" b="1" dirty="0">
                <a:solidFill>
                  <a:schemeClr val="bg2"/>
                </a:solidFill>
              </a:rPr>
              <a:t> Кои потребители </a:t>
            </a:r>
            <a:r>
              <a:rPr lang="bg-BG" sz="4200" dirty="0">
                <a:solidFill>
                  <a:schemeClr val="bg2"/>
                </a:solidFill>
              </a:rPr>
              <a:t>искаме да достигнем?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bg-BG" sz="4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Уеб страница</a:t>
            </a:r>
            <a:r>
              <a:rPr lang="bg-BG" sz="4400" dirty="0"/>
              <a:t> </a:t>
            </a:r>
            <a:r>
              <a:rPr lang="en-US" sz="4400" dirty="0"/>
              <a:t>== </a:t>
            </a:r>
            <a:r>
              <a:rPr lang="bg-BG" sz="4400" b="1" dirty="0"/>
              <a:t>документ</a:t>
            </a:r>
            <a:r>
              <a:rPr lang="bg-BG" sz="4400" dirty="0"/>
              <a:t> с </a:t>
            </a:r>
            <a:r>
              <a:rPr lang="bg-BG" sz="4400" b="1" dirty="0"/>
              <a:t>елементи</a:t>
            </a:r>
            <a:r>
              <a:rPr lang="bg-BG" sz="4400" dirty="0"/>
              <a:t> (текст, изображения, връзки и др.)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bg-BG" sz="4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Домейн</a:t>
            </a:r>
            <a:r>
              <a:rPr lang="bg-BG" sz="4400" dirty="0"/>
              <a:t> =</a:t>
            </a:r>
            <a:r>
              <a:rPr lang="en-US" sz="4400" dirty="0"/>
              <a:t>=</a:t>
            </a:r>
            <a:r>
              <a:rPr lang="bg-BG" sz="4400" dirty="0"/>
              <a:t> </a:t>
            </a:r>
            <a:r>
              <a:rPr lang="bg-BG" sz="4400" b="1" dirty="0"/>
              <a:t>уникалното име </a:t>
            </a:r>
            <a:r>
              <a:rPr lang="bg-BG" sz="4400" dirty="0"/>
              <a:t>на </a:t>
            </a:r>
            <a:r>
              <a:rPr lang="bg-BG" sz="4400" b="1" dirty="0"/>
              <a:t>уеб сайт </a:t>
            </a:r>
            <a:r>
              <a:rPr lang="bg-BG" sz="4400" dirty="0"/>
              <a:t>в </a:t>
            </a:r>
            <a:r>
              <a:rPr lang="bg-BG" sz="4400" b="1" dirty="0"/>
              <a:t>интернет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bg-BG" sz="4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Хостинг</a:t>
            </a:r>
            <a:r>
              <a:rPr lang="bg-BG" sz="4400" dirty="0"/>
              <a:t> =</a:t>
            </a:r>
            <a:r>
              <a:rPr lang="en-US" sz="4400" dirty="0"/>
              <a:t>= </a:t>
            </a:r>
            <a:r>
              <a:rPr lang="bg-BG" sz="4400" b="1" dirty="0"/>
              <a:t>услуга</a:t>
            </a:r>
            <a:r>
              <a:rPr lang="bg-BG" sz="4400" dirty="0"/>
              <a:t>, осигуряваща </a:t>
            </a:r>
            <a:r>
              <a:rPr lang="bg-BG" sz="4400" b="1" dirty="0"/>
              <a:t>сървърно пространство </a:t>
            </a:r>
            <a:r>
              <a:rPr lang="bg-BG" sz="4400" dirty="0"/>
              <a:t>за </a:t>
            </a:r>
            <a:r>
              <a:rPr lang="bg-BG" sz="4400" b="1" dirty="0"/>
              <a:t>съхранение на данни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en-US" sz="4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IP </a:t>
            </a:r>
            <a:r>
              <a:rPr lang="bg-BG" sz="4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адрес </a:t>
            </a:r>
            <a:r>
              <a:rPr lang="bg-BG" sz="4400" dirty="0"/>
              <a:t>=</a:t>
            </a:r>
            <a:r>
              <a:rPr lang="en-US" sz="4400" dirty="0"/>
              <a:t>= </a:t>
            </a:r>
            <a:r>
              <a:rPr lang="bg-BG" sz="4400" b="1" dirty="0"/>
              <a:t>уникален цифров идентификатор </a:t>
            </a:r>
            <a:r>
              <a:rPr lang="bg-BG" sz="4400" dirty="0"/>
              <a:t>на </a:t>
            </a:r>
            <a:r>
              <a:rPr lang="bg-BG" sz="4400" b="1" dirty="0"/>
              <a:t>устройство</a:t>
            </a:r>
            <a:r>
              <a:rPr lang="bg-BG" sz="4400" dirty="0"/>
              <a:t> или </a:t>
            </a:r>
            <a:r>
              <a:rPr lang="bg-BG" sz="4400" b="1" dirty="0"/>
              <a:t>сървър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en-US" sz="4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DNS </a:t>
            </a:r>
            <a:r>
              <a:rPr lang="en-US" sz="4400" dirty="0"/>
              <a:t>== </a:t>
            </a:r>
            <a:r>
              <a:rPr lang="bg-BG" sz="4400" b="1" dirty="0"/>
              <a:t>система</a:t>
            </a:r>
            <a:r>
              <a:rPr lang="bg-BG" sz="4400" dirty="0"/>
              <a:t> за </a:t>
            </a:r>
            <a:r>
              <a:rPr lang="bg-BG" sz="4400" b="1" dirty="0"/>
              <a:t>превеждане</a:t>
            </a:r>
            <a:r>
              <a:rPr lang="bg-BG" sz="4400" dirty="0"/>
              <a:t> на </a:t>
            </a:r>
            <a:r>
              <a:rPr lang="bg-BG" sz="4400" b="1" dirty="0"/>
              <a:t>домейна</a:t>
            </a:r>
            <a:r>
              <a:rPr lang="bg-BG" sz="4400" dirty="0"/>
              <a:t> в </a:t>
            </a:r>
            <a:r>
              <a:rPr lang="en-US" sz="4400" b="1" dirty="0"/>
              <a:t>IP</a:t>
            </a:r>
            <a:r>
              <a:rPr lang="bg-BG" sz="4400" b="1" dirty="0"/>
              <a:t> адрес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en-US" sz="4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URL</a:t>
            </a:r>
            <a:r>
              <a:rPr lang="en-US" sz="4400" dirty="0"/>
              <a:t> == </a:t>
            </a:r>
            <a:r>
              <a:rPr lang="bg-BG" sz="4400" b="1" dirty="0"/>
              <a:t>пълният уеб адрес</a:t>
            </a:r>
            <a:r>
              <a:rPr lang="bg-BG" sz="4400" dirty="0"/>
              <a:t>, показващ </a:t>
            </a:r>
            <a:r>
              <a:rPr lang="bg-BG" sz="4400" b="1" dirty="0"/>
              <a:t>местоположението</a:t>
            </a:r>
            <a:r>
              <a:rPr lang="bg-BG" sz="4400" dirty="0"/>
              <a:t> на </a:t>
            </a:r>
            <a:r>
              <a:rPr lang="bg-BG" sz="4400" b="1" dirty="0"/>
              <a:t>конкретен ресурс </a:t>
            </a:r>
            <a:r>
              <a:rPr lang="bg-BG" sz="4400" dirty="0"/>
              <a:t>в </a:t>
            </a:r>
            <a:r>
              <a:rPr lang="bg-BG" sz="4400" b="1" dirty="0"/>
              <a:t>интернет</a:t>
            </a:r>
          </a:p>
          <a:p>
            <a:pPr marL="360363" indent="-360363" fontAlgn="base">
              <a:buClr>
                <a:schemeClr val="bg2"/>
              </a:buClr>
            </a:pPr>
            <a:endParaRPr lang="bg-BG" sz="4400" dirty="0">
              <a:solidFill>
                <a:schemeClr val="bg2"/>
              </a:solidFill>
            </a:endParaRP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Обобщение</a:t>
            </a:r>
            <a:endParaRPr lang="en-US" dirty="0"/>
          </a:p>
        </p:txBody>
      </p:sp>
      <p:sp>
        <p:nvSpPr>
          <p:cNvPr id="2" name="Slide Number">
            <a:extLst>
              <a:ext uri="{FF2B5EF4-FFF2-40B4-BE49-F238E27FC236}">
                <a16:creationId xmlns:a16="http://schemas.microsoft.com/office/drawing/2014/main" id="{E369AAE7-BDDC-FE11-A61E-E20F7F6632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39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7230498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Title">
            <a:extLst>
              <a:ext uri="{FF2B5EF4-FFF2-40B4-BE49-F238E27FC236}">
                <a16:creationId xmlns:a16="http://schemas.microsoft.com/office/drawing/2014/main" id="{FA0703FC-0F8F-4C80-A615-E4B381EC0E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Въпроси</a:t>
            </a:r>
            <a:r>
              <a:rPr lang="en-US" dirty="0"/>
              <a:t>?</a:t>
            </a:r>
          </a:p>
        </p:txBody>
      </p:sp>
      <p:sp>
        <p:nvSpPr>
          <p:cNvPr id="2" name="Rectangle Bottom Copyright">
            <a:extLst>
              <a:ext uri="{FF2B5EF4-FFF2-40B4-BE49-F238E27FC236}">
                <a16:creationId xmlns:a16="http://schemas.microsoft.com/office/drawing/2014/main" id="{664812A4-2991-44D1-BFE9-32E55AADF8A5}"/>
              </a:ext>
            </a:extLst>
          </p:cNvPr>
          <p:cNvSpPr/>
          <p:nvPr/>
        </p:nvSpPr>
        <p:spPr>
          <a:xfrm>
            <a:off x="111000" y="6454758"/>
            <a:ext cx="11970000" cy="304242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Проект "</a:t>
            </a:r>
            <a:r>
              <a:rPr lang="bg-BG" sz="1600" dirty="0">
                <a:solidFill>
                  <a:schemeClr val="bg1">
                    <a:lumMod val="20000"/>
                    <a:lumOff val="8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Отворено учебно съдържание по програмиране и ИТ</a:t>
            </a: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", СофтУни Фондация (лиценз </a:t>
            </a:r>
            <a:r>
              <a:rPr lang="en-US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CC-BY-NC-SA</a:t>
            </a: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)</a:t>
            </a:r>
            <a:endParaRPr lang="bg-BG" sz="2400" dirty="0">
              <a:solidFill>
                <a:schemeClr val="bg2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2534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F48C3C93-90A1-4D31-BEA6-B54D1106CE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41</a:t>
            </a:fld>
            <a:endParaRPr lang="en-US" dirty="0"/>
          </a:p>
        </p:txBody>
      </p:sp>
      <p:sp>
        <p:nvSpPr>
          <p:cNvPr id="2" name="Slide Body">
            <a:extLst>
              <a:ext uri="{FF2B5EF4-FFF2-40B4-BE49-F238E27FC236}">
                <a16:creationId xmlns:a16="http://schemas.microsoft.com/office/drawing/2014/main" id="{980F49B1-E4BE-4389-A747-7AB9B71AD92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269001"/>
            <a:ext cx="9865598" cy="2474999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bg-BG" sz="3200" dirty="0"/>
              <a:t>Този курс</a:t>
            </a:r>
            <a:r>
              <a:rPr lang="en-US" sz="3200" dirty="0"/>
              <a:t> (</a:t>
            </a:r>
            <a:r>
              <a:rPr lang="bg-BG" sz="3200" dirty="0"/>
              <a:t>презентации, примери, демонстрационен код, упражнения, домашни, видео и други активи</a:t>
            </a:r>
            <a:r>
              <a:rPr lang="en-US" sz="3200" dirty="0"/>
              <a:t>) </a:t>
            </a:r>
            <a:r>
              <a:rPr lang="bg-BG" sz="3200" dirty="0"/>
              <a:t>представлява</a:t>
            </a:r>
            <a:r>
              <a:rPr lang="en-US" sz="3200" dirty="0"/>
              <a:t> </a:t>
            </a:r>
            <a:r>
              <a:rPr lang="bg-BG" sz="3200" b="1" dirty="0"/>
              <a:t>свободно учебно съдържание </a:t>
            </a:r>
            <a:r>
              <a:rPr lang="bg-BG" sz="3200" dirty="0"/>
              <a:t>и се разпространява под свободен лиценз </a:t>
            </a:r>
            <a:r>
              <a:rPr lang="en-US" sz="3200" b="1" dirty="0"/>
              <a:t>CC-BY-NC-SA</a:t>
            </a:r>
            <a:endParaRPr lang="bg-BG" sz="3200" dirty="0"/>
          </a:p>
        </p:txBody>
      </p:sp>
      <p:pic>
        <p:nvPicPr>
          <p:cNvPr id="6" name="Picture License" descr="License">
            <a:extLst>
              <a:ext uri="{FF2B5EF4-FFF2-40B4-BE49-F238E27FC236}">
                <a16:creationId xmlns:a16="http://schemas.microsoft.com/office/drawing/2014/main" id="{82BA520F-A037-4E01-AA18-27D9F1E930A6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226175" y="1440120"/>
            <a:ext cx="1198986" cy="1268880"/>
          </a:xfrm>
          <a:prstGeom prst="rect">
            <a:avLst/>
          </a:prstGeom>
        </p:spPr>
      </p:pic>
      <p:sp>
        <p:nvSpPr>
          <p:cNvPr id="3" name="Slide Title">
            <a:extLst>
              <a:ext uri="{FF2B5EF4-FFF2-40B4-BE49-F238E27FC236}">
                <a16:creationId xmlns:a16="http://schemas.microsoft.com/office/drawing/2014/main" id="{E5F1FB41-80C3-4816-BC47-CCC50632E6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Лиценз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18DF19-B750-4C88-975B-661A6BF61F5E}"/>
              </a:ext>
            </a:extLst>
          </p:cNvPr>
          <p:cNvSpPr txBox="1"/>
          <p:nvPr/>
        </p:nvSpPr>
        <p:spPr>
          <a:xfrm>
            <a:off x="190401" y="3927519"/>
            <a:ext cx="11710599" cy="1979644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pPr marL="360363" indent="-360363" defTabSz="1218438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/>
            </a:pPr>
            <a:r>
              <a:rPr lang="bg-BG" sz="3200" dirty="0"/>
              <a:t>Проект "</a:t>
            </a:r>
            <a:r>
              <a:rPr lang="bg-BG" sz="3200" b="1" dirty="0"/>
              <a:t>Отворено учебно съдържание по програмиране и ИТ</a:t>
            </a:r>
            <a:r>
              <a:rPr lang="bg-BG" sz="3200" dirty="0"/>
              <a:t>" към Фондация "Софтуерен университет"</a:t>
            </a:r>
            <a:r>
              <a:rPr lang="en-US" sz="3200" dirty="0"/>
              <a:t>:</a:t>
            </a:r>
            <a:endParaRPr lang="bg-BG" sz="3200" dirty="0"/>
          </a:p>
          <a:p>
            <a:pPr marL="817563" lvl="1" indent="-360363" defTabSz="1218438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234465"/>
                </a:solidFill>
                <a:effectLst/>
                <a:uLnTx/>
                <a:uFillTx/>
                <a:latin typeface="Calibri"/>
                <a:ea typeface="+mn-ea"/>
                <a:cs typeface="+mn-cs"/>
                <a:hlinkClick r:id="rId4"/>
              </a:rPr>
              <a:t>https://github.com/BG-IT-Edu</a:t>
            </a:r>
            <a:endParaRPr kumimoji="0" lang="bg-BG" sz="3200" b="0" i="0" u="none" strike="noStrike" kern="1200" cap="none" spc="0" normalizeH="0" baseline="0" noProof="0" dirty="0">
              <a:ln>
                <a:noFill/>
              </a:ln>
              <a:solidFill>
                <a:srgbClr val="234465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7" name="Picture 6" title="CC-BY-NC-SA License">
            <a:hlinkClick r:id="rId5" tooltip="This work is licensed under the &quot;Creative Commons Attribution-NonCommercial-ShareAlike 4.0 International&quot; license"/>
            <a:extLst>
              <a:ext uri="{FF2B5EF4-FFF2-40B4-BE49-F238E27FC236}">
                <a16:creationId xmlns:a16="http://schemas.microsoft.com/office/drawing/2014/main" id="{F6C77C47-F7D8-A176-5C69-7FDE5C7E80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831000" y="2908593"/>
            <a:ext cx="1989336" cy="696022"/>
          </a:xfrm>
          <a:prstGeom prst="roundRect">
            <a:avLst>
              <a:gd name="adj" fmla="val 3940"/>
            </a:avLst>
          </a:prstGeom>
          <a:solidFill>
            <a:srgbClr val="231F20">
              <a:alpha val="50000"/>
            </a:srgbClr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79276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theme/theme1.xml><?xml version="1.0" encoding="utf-8"?>
<a:theme xmlns:a="http://schemas.openxmlformats.org/drawingml/2006/main" name="SoftUni">
  <a:themeElements>
    <a:clrScheme name="Custom 2">
      <a:dk1>
        <a:srgbClr val="234465"/>
      </a:dk1>
      <a:lt1>
        <a:srgbClr val="BF7800"/>
      </a:lt1>
      <a:dk2>
        <a:srgbClr val="234465"/>
      </a:dk2>
      <a:lt2>
        <a:srgbClr val="FFFFFF"/>
      </a:lt2>
      <a:accent1>
        <a:srgbClr val="FFA000"/>
      </a:accent1>
      <a:accent2>
        <a:srgbClr val="00B050"/>
      </a:accent2>
      <a:accent3>
        <a:srgbClr val="44A9F8"/>
      </a:accent3>
      <a:accent4>
        <a:srgbClr val="7030A0"/>
      </a:accent4>
      <a:accent5>
        <a:srgbClr val="67748E"/>
      </a:accent5>
      <a:accent6>
        <a:srgbClr val="F4F5F7"/>
      </a:accent6>
      <a:hlink>
        <a:srgbClr val="BF7800"/>
      </a:hlink>
      <a:folHlink>
        <a:srgbClr val="EF9511"/>
      </a:folHlink>
    </a:clrScheme>
    <a:fontScheme name="SoftUni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dk2">
            <a:alpha val="80000"/>
          </a:schemeClr>
        </a:solidFill>
        <a:ln w="19050">
          <a:solidFill>
            <a:schemeClr val="tx1">
              <a:lumMod val="75000"/>
              <a:alpha val="80000"/>
            </a:schemeClr>
          </a:solidFill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2800" b="1" dirty="0">
            <a:solidFill>
              <a:srgbClr val="FFFFFF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defRPr>
        </a:defPPr>
      </a:lstStyle>
      <a:style>
        <a:lnRef idx="2">
          <a:schemeClr val="accent1">
            <a:shade val="50000"/>
          </a:schemeClr>
        </a:lnRef>
        <a:fillRef idx="1001">
          <a:schemeClr val="dk2"/>
        </a:fillRef>
        <a:effectRef idx="0">
          <a:schemeClr val="accent1"/>
        </a:effectRef>
        <a:fontRef idx="minor">
          <a:schemeClr val="lt1"/>
        </a:fontRef>
      </a:style>
    </a:spDef>
    <a:txDef>
      <a:spPr>
        <a:solidFill>
          <a:schemeClr val="accent6">
            <a:lumMod val="75000"/>
            <a:alpha val="15000"/>
          </a:schemeClr>
        </a:solidFill>
        <a:ln w="12700">
          <a:solidFill>
            <a:schemeClr val="tx1">
              <a:lumMod val="75000"/>
            </a:schemeClr>
          </a:solidFill>
        </a:ln>
      </a:spPr>
      <a:bodyPr vert="horz" wrap="square" lIns="144000" tIns="108000" rIns="144000" bIns="108000" rtlCol="0">
        <a:spAutoFit/>
      </a:bodyPr>
      <a:lstStyle>
        <a:defPPr algn="l" eaLnBrk="0" hangingPunct="0">
          <a:lnSpc>
            <a:spcPct val="110000"/>
          </a:lnSpc>
          <a:buClr>
            <a:schemeClr val="accent5">
              <a:lumMod val="40000"/>
              <a:lumOff val="60000"/>
            </a:schemeClr>
          </a:buClr>
          <a:buSzPct val="70000"/>
          <a:defRPr sz="24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SoftUni" id="{D61FAD9B-6E74-4E03-BFE4-B363D484F1DA}" vid="{7089C1A3-635B-4B03-A017-DAF10A3A396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18422</TotalTime>
  <Words>2432</Words>
  <Application>Microsoft Office PowerPoint</Application>
  <PresentationFormat>Widescreen</PresentationFormat>
  <Paragraphs>373</Paragraphs>
  <Slides>41</Slides>
  <Notes>26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6" baseType="lpstr">
      <vt:lpstr>Arial</vt:lpstr>
      <vt:lpstr>Calibri</vt:lpstr>
      <vt:lpstr>Consolas</vt:lpstr>
      <vt:lpstr>Wingdings</vt:lpstr>
      <vt:lpstr>SoftUni</vt:lpstr>
      <vt:lpstr>Уеб сайтове</vt:lpstr>
      <vt:lpstr>Съдържание</vt:lpstr>
      <vt:lpstr>Уеб сайтове</vt:lpstr>
      <vt:lpstr>Уеб сайт</vt:lpstr>
      <vt:lpstr>Основни видове уеб сайтове (1)</vt:lpstr>
      <vt:lpstr>Основни видове уеб сайтове (2)</vt:lpstr>
      <vt:lpstr>Видове уеб сайтове според предназначението (1)</vt:lpstr>
      <vt:lpstr>Видове уеб сайтове според предназначението (2)</vt:lpstr>
      <vt:lpstr>Етапи при създаване на уеб сайт (1)</vt:lpstr>
      <vt:lpstr>Етапи при създаване на уеб сайт (2)</vt:lpstr>
      <vt:lpstr>Етапи при създаване на уеб сайт (3)</vt:lpstr>
      <vt:lpstr>Роли при създаване на уеб сайт</vt:lpstr>
      <vt:lpstr>Цел и целеви групи (1)</vt:lpstr>
      <vt:lpstr>Цел и целеви групи (2)</vt:lpstr>
      <vt:lpstr>Уеб страници</vt:lpstr>
      <vt:lpstr>Уеб страница</vt:lpstr>
      <vt:lpstr>Видове уеб страници</vt:lpstr>
      <vt:lpstr>Основни характеристики на уеб страниците</vt:lpstr>
      <vt:lpstr>Домейн и хостинг услуги</vt:lpstr>
      <vt:lpstr>Домейн (Domain)</vt:lpstr>
      <vt:lpstr>Нива на домейните (Domain Levels) (1)</vt:lpstr>
      <vt:lpstr>Нива на домейните (Domain Levels) (2)</vt:lpstr>
      <vt:lpstr>Хостинг (Hosting)</vt:lpstr>
      <vt:lpstr>Видове хостинг</vt:lpstr>
      <vt:lpstr>Основни характеристики на хостинга</vt:lpstr>
      <vt:lpstr>Контролен панел</vt:lpstr>
      <vt:lpstr>Връзка между домейн и хостинг</vt:lpstr>
      <vt:lpstr>Интернет адресиране</vt:lpstr>
      <vt:lpstr>IP адрес (Internet Protocol Address)</vt:lpstr>
      <vt:lpstr>Видове IP адреси според версията</vt:lpstr>
      <vt:lpstr>DNS (Domain Name System)</vt:lpstr>
      <vt:lpstr>URL (Uniform Resource Locator) </vt:lpstr>
      <vt:lpstr>Зареждане на уеб сайт</vt:lpstr>
      <vt:lpstr>Пример</vt:lpstr>
      <vt:lpstr>Цел и целева група на уеб сайт</vt:lpstr>
      <vt:lpstr>Определяне на цел на уеб сайта</vt:lpstr>
      <vt:lpstr>Определяне на целева група на уеб сайта</vt:lpstr>
      <vt:lpstr>Примерни страници</vt:lpstr>
      <vt:lpstr>Обобщение</vt:lpstr>
      <vt:lpstr>Въпроси?</vt:lpstr>
      <vt:lpstr>Лиценз</vt:lpstr>
    </vt:vector>
  </TitlesOfParts>
  <Manager/>
  <Company>BG-IT-Edu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Уеб сайтове</dc:title>
  <dc:subject>Модул 3: Информационни технологии</dc:subject>
  <dc:creator>BG-IT-Edu</dc:creator>
  <cp:keywords>programming; training; course</cp:keywords>
  <dc:description>Open Programming and IT Courseware for IT Teachers (BG-IT-Edu): https://github.com/BG-IT-Edu
With the kind support of SoftUni: https://softuni.bg</dc:description>
  <cp:lastModifiedBy>Zaraliev</cp:lastModifiedBy>
  <cp:revision>258</cp:revision>
  <dcterms:created xsi:type="dcterms:W3CDTF">2018-05-23T13:08:44Z</dcterms:created>
  <dcterms:modified xsi:type="dcterms:W3CDTF">2025-11-07T11:59:13Z</dcterms:modified>
  <cp:category/>
</cp:coreProperties>
</file>