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3"/>
  </p:notesMasterIdLst>
  <p:handoutMasterIdLst>
    <p:handoutMasterId r:id="rId44"/>
  </p:handoutMasterIdLst>
  <p:sldIdLst>
    <p:sldId id="503" r:id="rId2"/>
    <p:sldId id="276" r:id="rId3"/>
    <p:sldId id="353" r:id="rId4"/>
    <p:sldId id="497" r:id="rId5"/>
    <p:sldId id="587" r:id="rId6"/>
    <p:sldId id="782" r:id="rId7"/>
    <p:sldId id="783" r:id="rId8"/>
    <p:sldId id="761" r:id="rId9"/>
    <p:sldId id="796" r:id="rId10"/>
    <p:sldId id="762" r:id="rId11"/>
    <p:sldId id="784" r:id="rId12"/>
    <p:sldId id="763" r:id="rId13"/>
    <p:sldId id="764" r:id="rId14"/>
    <p:sldId id="785" r:id="rId15"/>
    <p:sldId id="610" r:id="rId16"/>
    <p:sldId id="774" r:id="rId17"/>
    <p:sldId id="775" r:id="rId18"/>
    <p:sldId id="776" r:id="rId19"/>
    <p:sldId id="616" r:id="rId20"/>
    <p:sldId id="620" r:id="rId21"/>
    <p:sldId id="786" r:id="rId22"/>
    <p:sldId id="790" r:id="rId23"/>
    <p:sldId id="778" r:id="rId24"/>
    <p:sldId id="787" r:id="rId25"/>
    <p:sldId id="789" r:id="rId26"/>
    <p:sldId id="801" r:id="rId27"/>
    <p:sldId id="780" r:id="rId28"/>
    <p:sldId id="589" r:id="rId29"/>
    <p:sldId id="590" r:id="rId30"/>
    <p:sldId id="791" r:id="rId31"/>
    <p:sldId id="608" r:id="rId32"/>
    <p:sldId id="653" r:id="rId33"/>
    <p:sldId id="788" r:id="rId34"/>
    <p:sldId id="654" r:id="rId35"/>
    <p:sldId id="797" r:id="rId36"/>
    <p:sldId id="799" r:id="rId37"/>
    <p:sldId id="800" r:id="rId38"/>
    <p:sldId id="798" r:id="rId39"/>
    <p:sldId id="633" r:id="rId40"/>
    <p:sldId id="504" r:id="rId41"/>
    <p:sldId id="5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Уеб сайтове" id="{66DCFE1F-60FD-44F2-BE82-706DDBC14898}">
          <p14:sldIdLst>
            <p14:sldId id="353"/>
            <p14:sldId id="497"/>
            <p14:sldId id="587"/>
            <p14:sldId id="782"/>
            <p14:sldId id="783"/>
            <p14:sldId id="761"/>
            <p14:sldId id="796"/>
            <p14:sldId id="762"/>
            <p14:sldId id="784"/>
            <p14:sldId id="763"/>
            <p14:sldId id="764"/>
            <p14:sldId id="785"/>
          </p14:sldIdLst>
        </p14:section>
        <p14:section name="Уеб страници" id="{EB44CA50-B176-0C4C-B0D0-5459023C7783}">
          <p14:sldIdLst>
            <p14:sldId id="610"/>
            <p14:sldId id="774"/>
            <p14:sldId id="775"/>
            <p14:sldId id="776"/>
          </p14:sldIdLst>
        </p14:section>
        <p14:section name="Домейн и хостинг услуги" id="{2B3E1915-4BA2-9447-BC07-AE658EE7EC35}">
          <p14:sldIdLst>
            <p14:sldId id="616"/>
            <p14:sldId id="620"/>
            <p14:sldId id="786"/>
            <p14:sldId id="790"/>
            <p14:sldId id="778"/>
            <p14:sldId id="787"/>
            <p14:sldId id="789"/>
            <p14:sldId id="801"/>
            <p14:sldId id="780"/>
          </p14:sldIdLst>
        </p14:section>
        <p14:section name="Интернет адресиране" id="{FAFEC62E-8A3E-B74C-B607-F2A5F82A6EDC}">
          <p14:sldIdLst>
            <p14:sldId id="589"/>
            <p14:sldId id="590"/>
            <p14:sldId id="791"/>
            <p14:sldId id="608"/>
            <p14:sldId id="653"/>
            <p14:sldId id="788"/>
          </p14:sldIdLst>
        </p14:section>
        <p14:section name="Демо" id="{276EAB92-AF41-DD42-AFD3-D1ABB239E1A7}">
          <p14:sldIdLst>
            <p14:sldId id="654"/>
            <p14:sldId id="797"/>
            <p14:sldId id="799"/>
            <p14:sldId id="800"/>
            <p14:sldId id="798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5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DE3"/>
    <a:srgbClr val="45C7FF"/>
    <a:srgbClr val="FF3D3F"/>
    <a:srgbClr val="79D806"/>
    <a:srgbClr val="000000"/>
    <a:srgbClr val="FFF53A"/>
    <a:srgbClr val="FDA540"/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48" autoAdjust="0"/>
    <p:restoredTop sz="95579" autoAdjust="0"/>
  </p:normalViewPr>
  <p:slideViewPr>
    <p:cSldViewPr showGuides="1">
      <p:cViewPr varScale="1">
        <p:scale>
          <a:sx n="96" d="100"/>
          <a:sy n="96" d="100"/>
        </p:scale>
        <p:origin x="184" y="43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6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23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1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9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46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29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12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41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52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2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21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55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14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407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0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42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google/" TargetMode="External"/><Relationship Id="rId2" Type="http://schemas.openxmlformats.org/officeDocument/2006/relationships/hyperlink" Target="https://www.w3.org/blog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" TargetMode="External"/><Relationship Id="rId2" Type="http://schemas.openxmlformats.org/officeDocument/2006/relationships/hyperlink" Target="https://www.euronew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" TargetMode="External"/><Relationship Id="rId2" Type="http://schemas.openxmlformats.org/officeDocument/2006/relationships/hyperlink" Target="https://www.nasa.gov/news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hanacademy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s.mozilla.org/" TargetMode="External"/><Relationship Id="rId2" Type="http://schemas.openxmlformats.org/officeDocument/2006/relationships/hyperlink" Target="https://www.britishmuseumshoponline.org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behance.net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142.250.186.78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a.gov/about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kolo.bg/" TargetMode="External"/><Relationship Id="rId2" Type="http://schemas.openxmlformats.org/officeDocument/2006/relationships/hyperlink" Target="http://www.mon.b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www.google.com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2" Type="http://schemas.openxmlformats.org/officeDocument/2006/relationships/hyperlink" Target="http://www.mon.b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shkolo.bg/" TargetMode="External"/><Relationship Id="rId4" Type="http://schemas.openxmlformats.org/officeDocument/2006/relationships/hyperlink" Target="https://www.google.com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kolo.bg/" TargetMode="External"/><Relationship Id="rId2" Type="http://schemas.openxmlformats.org/officeDocument/2006/relationships/hyperlink" Target="http://www.mon.b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www.google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kolo.bg/" TargetMode="External"/><Relationship Id="rId2" Type="http://schemas.openxmlformats.org/officeDocument/2006/relationships/hyperlink" Target="http://www.mon.b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www.google.com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rmAutofit/>
          </a:bodyPr>
          <a:lstStyle/>
          <a:p>
            <a:r>
              <a:rPr lang="bg-BG" dirty="0"/>
              <a:t>Уеб страници, домейн и хостинг, интернет адресиране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dirty="0"/>
              <a:t>Уеб сайтове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" t="12441" r="-346" b="24897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tx1"/>
              </a:buClr>
            </a:pPr>
            <a:r>
              <a:rPr lang="bg-BG" dirty="0"/>
              <a:t>​</a:t>
            </a:r>
            <a:r>
              <a:rPr lang="bg-BG" b="1" dirty="0">
                <a:solidFill>
                  <a:schemeClr val="bg1"/>
                </a:solidFill>
              </a:rPr>
              <a:t>Уеб сайтове</a:t>
            </a:r>
          </a:p>
          <a:p>
            <a:pPr lvl="1">
              <a:buClr>
                <a:schemeClr val="tx1"/>
              </a:buClr>
            </a:pPr>
            <a:r>
              <a:rPr lang="bg-BG" b="1" dirty="0"/>
              <a:t>Етапи</a:t>
            </a:r>
            <a:r>
              <a:rPr lang="bg-BG" dirty="0"/>
              <a:t>, </a:t>
            </a:r>
            <a:r>
              <a:rPr lang="bg-BG" b="1" dirty="0"/>
              <a:t>роли</a:t>
            </a:r>
            <a:r>
              <a:rPr lang="bg-BG" dirty="0"/>
              <a:t>, </a:t>
            </a:r>
            <a:r>
              <a:rPr lang="bg-BG" b="1" dirty="0"/>
              <a:t>цел</a:t>
            </a:r>
            <a:r>
              <a:rPr lang="bg-BG" dirty="0"/>
              <a:t> и </a:t>
            </a:r>
            <a:r>
              <a:rPr lang="bg-BG" b="1" dirty="0"/>
              <a:t>целеви групи</a:t>
            </a:r>
          </a:p>
          <a:p>
            <a:r>
              <a:rPr lang="bg-BG" dirty="0"/>
              <a:t>​</a:t>
            </a:r>
            <a:r>
              <a:rPr lang="bg-BG" b="1" dirty="0">
                <a:solidFill>
                  <a:schemeClr val="bg1"/>
                </a:solidFill>
              </a:rPr>
              <a:t>Уеб страници</a:t>
            </a:r>
          </a:p>
          <a:p>
            <a:r>
              <a:rPr lang="bg-BG" dirty="0"/>
              <a:t>​</a:t>
            </a:r>
            <a:r>
              <a:rPr lang="bg-BG" b="1" dirty="0">
                <a:solidFill>
                  <a:schemeClr val="bg1"/>
                </a:solidFill>
              </a:rPr>
              <a:t>Домейн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хостинг</a:t>
            </a:r>
            <a:r>
              <a:rPr lang="bg-BG" dirty="0"/>
              <a:t> </a:t>
            </a:r>
            <a:r>
              <a:rPr lang="bg-BG" b="1" dirty="0"/>
              <a:t>услуги</a:t>
            </a:r>
            <a:endParaRPr lang="en-US" b="1" dirty="0"/>
          </a:p>
          <a:p>
            <a:pPr lvl="1"/>
            <a:r>
              <a:rPr lang="bg-BG" b="1" dirty="0"/>
              <a:t>Нива </a:t>
            </a:r>
            <a:r>
              <a:rPr lang="bg-BG" dirty="0"/>
              <a:t>на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</a:rPr>
              <a:t>домейните</a:t>
            </a:r>
          </a:p>
          <a:p>
            <a:pPr lvl="1"/>
            <a:r>
              <a:rPr lang="bg-BG" b="1" dirty="0"/>
              <a:t>Видове </a:t>
            </a:r>
            <a:r>
              <a:rPr lang="bg-BG" dirty="0"/>
              <a:t>и </a:t>
            </a:r>
            <a:r>
              <a:rPr lang="bg-BG" b="1" dirty="0"/>
              <a:t>характеристики </a:t>
            </a:r>
            <a:r>
              <a:rPr lang="bg-BG" dirty="0"/>
              <a:t>на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</a:rPr>
              <a:t>хостинга</a:t>
            </a:r>
          </a:p>
          <a:p>
            <a:r>
              <a:rPr lang="bg-BG" dirty="0"/>
              <a:t>​</a:t>
            </a:r>
            <a:r>
              <a:rPr lang="bg-BG" b="1" dirty="0"/>
              <a:t>Интернет</a:t>
            </a:r>
            <a:r>
              <a:rPr lang="bg-BG" dirty="0"/>
              <a:t> </a:t>
            </a:r>
            <a:r>
              <a:rPr lang="bg-BG" b="1" dirty="0"/>
              <a:t>адресиране</a:t>
            </a:r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P</a:t>
            </a:r>
            <a:r>
              <a:rPr lang="bg-BG" b="1" dirty="0">
                <a:solidFill>
                  <a:schemeClr val="bg1"/>
                </a:solidFill>
              </a:rPr>
              <a:t> адрес </a:t>
            </a:r>
            <a:r>
              <a:rPr lang="en-US" b="1" dirty="0"/>
              <a:t>(Internet Protocol Address)</a:t>
            </a:r>
            <a:endParaRPr lang="bg-BG" b="1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DNS</a:t>
            </a:r>
            <a:r>
              <a:rPr lang="bg-BG" b="1" dirty="0"/>
              <a:t> (</a:t>
            </a:r>
            <a:r>
              <a:rPr lang="en-US" b="1" dirty="0"/>
              <a:t>Domain Name System</a:t>
            </a:r>
            <a:r>
              <a:rPr lang="bg-BG" b="1" dirty="0"/>
              <a:t>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URL</a:t>
            </a:r>
            <a:r>
              <a:rPr lang="en-US" b="1" dirty="0"/>
              <a:t> (Uniform Resource Locator)</a:t>
            </a:r>
            <a:endParaRPr lang="bg-BG" b="1" dirty="0"/>
          </a:p>
          <a:p>
            <a:r>
              <a:rPr lang="bg-BG" dirty="0"/>
              <a:t>​</a:t>
            </a:r>
            <a:r>
              <a:rPr lang="bg-BG" b="1" dirty="0"/>
              <a:t>Пример: </a:t>
            </a:r>
            <a:r>
              <a:rPr lang="bg-BG" dirty="0"/>
              <a:t>Цел и целева група на уеб сайтове</a:t>
            </a:r>
            <a:endParaRPr lang="bg-BG" dirty="0">
              <a:highlight>
                <a:srgbClr val="FFFF00"/>
              </a:highlight>
            </a:endParaRP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Етапи, роли, цел и целеви групи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Уеб сайтове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569CA-B2E8-B36B-E372-D9B43AC52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13" y="1584000"/>
            <a:ext cx="2704973" cy="22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400" b="1" dirty="0"/>
              <a:t>Съвкупност</a:t>
            </a:r>
            <a:r>
              <a:rPr lang="bg-BG" sz="3400" dirty="0"/>
              <a:t> от </a:t>
            </a:r>
            <a:r>
              <a:rPr lang="bg-BG" sz="3400" b="1" dirty="0">
                <a:solidFill>
                  <a:schemeClr val="bg1"/>
                </a:solidFill>
              </a:rPr>
              <a:t>свързани помежду си уеб страници</a:t>
            </a:r>
          </a:p>
          <a:p>
            <a:pPr>
              <a:buClr>
                <a:schemeClr val="tx1"/>
              </a:buClr>
            </a:pPr>
            <a:r>
              <a:rPr lang="bg-BG" sz="3400" b="1" dirty="0"/>
              <a:t>Съхранява</a:t>
            </a:r>
            <a:r>
              <a:rPr lang="bg-BG" sz="3400" dirty="0"/>
              <a:t> се на </a:t>
            </a:r>
            <a:r>
              <a:rPr lang="bg-BG" sz="3400" b="1" dirty="0">
                <a:solidFill>
                  <a:schemeClr val="bg1"/>
                </a:solidFill>
              </a:rPr>
              <a:t>уеб сървър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en-US" sz="3400" dirty="0"/>
              <a:t>– </a:t>
            </a:r>
            <a:r>
              <a:rPr lang="bg-BG" sz="3400" b="1" dirty="0"/>
              <a:t>специализиран компютър</a:t>
            </a:r>
            <a:r>
              <a:rPr lang="bg-BG" sz="3400" dirty="0"/>
              <a:t>, предоставящ </a:t>
            </a:r>
            <a:r>
              <a:rPr lang="bg-BG" sz="3400" b="1" dirty="0"/>
              <a:t>достъп 24/7</a:t>
            </a:r>
            <a:endParaRPr lang="en-US" sz="3400" b="1" dirty="0"/>
          </a:p>
          <a:p>
            <a:pPr>
              <a:buClr>
                <a:schemeClr val="tx1"/>
              </a:buClr>
            </a:pPr>
            <a:r>
              <a:rPr lang="bg-BG" sz="3400" b="1" dirty="0"/>
              <a:t>Визуализира</a:t>
            </a:r>
            <a:r>
              <a:rPr lang="bg-BG" sz="3400" dirty="0"/>
              <a:t> се чрез </a:t>
            </a:r>
            <a:r>
              <a:rPr lang="bg-BG" sz="3400" b="1" dirty="0">
                <a:solidFill>
                  <a:schemeClr val="bg1"/>
                </a:solidFill>
              </a:rPr>
              <a:t>уеб браузър</a:t>
            </a:r>
          </a:p>
          <a:p>
            <a:pPr>
              <a:buClr>
                <a:schemeClr val="tx1"/>
              </a:buClr>
            </a:pPr>
            <a:r>
              <a:rPr lang="bg-BG" sz="3400" b="1" dirty="0"/>
              <a:t>Достъпва</a:t>
            </a:r>
            <a:r>
              <a:rPr lang="bg-BG" sz="3400" dirty="0"/>
              <a:t> се чрез неговия </a:t>
            </a:r>
            <a:r>
              <a:rPr lang="bg-BG" sz="3400" b="1" dirty="0">
                <a:solidFill>
                  <a:schemeClr val="bg1"/>
                </a:solidFill>
              </a:rPr>
              <a:t>интернет адрес </a:t>
            </a:r>
            <a:r>
              <a:rPr lang="bg-BG" sz="3400" b="1" dirty="0"/>
              <a:t>(</a:t>
            </a:r>
            <a:r>
              <a:rPr lang="en-US" sz="3400" b="1" dirty="0"/>
              <a:t>URL)</a:t>
            </a:r>
            <a:endParaRPr lang="bg-BG" sz="34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Уеб сайт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6C0A9-C40C-F003-4371-98F6AFBB6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00" y="4474891"/>
            <a:ext cx="4500000" cy="22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4B2B8A-EBE7-D586-B8BA-76B382D61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FFBC2-1649-5CEB-A57B-2417DB0629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255598" cy="5528766"/>
          </a:xfrm>
        </p:spPr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Статични уеб сайтове</a:t>
            </a:r>
          </a:p>
          <a:p>
            <a:pPr lvl="1"/>
            <a:r>
              <a:rPr lang="bg-BG" b="1" dirty="0"/>
              <a:t>Съдържанието</a:t>
            </a:r>
            <a:r>
              <a:rPr lang="bg-BG" dirty="0"/>
              <a:t> е </a:t>
            </a:r>
            <a:r>
              <a:rPr lang="bg-BG" b="1" dirty="0">
                <a:solidFill>
                  <a:schemeClr val="bg1"/>
                </a:solidFill>
              </a:rPr>
              <a:t>фиксирано</a:t>
            </a:r>
            <a:r>
              <a:rPr lang="bg-BG" dirty="0"/>
              <a:t> и се </a:t>
            </a:r>
            <a:r>
              <a:rPr lang="bg-BG" b="1" dirty="0"/>
              <a:t>променя само </a:t>
            </a:r>
            <a:r>
              <a:rPr lang="bg-BG" b="1" dirty="0">
                <a:solidFill>
                  <a:schemeClr val="bg1"/>
                </a:solidFill>
              </a:rPr>
              <a:t>ръчно</a:t>
            </a:r>
          </a:p>
          <a:p>
            <a:pPr lvl="1"/>
            <a:r>
              <a:rPr lang="bg-BG" dirty="0"/>
              <a:t>Подходящи за </a:t>
            </a:r>
            <a:r>
              <a:rPr lang="bg-BG" b="1" dirty="0">
                <a:solidFill>
                  <a:schemeClr val="bg1"/>
                </a:solidFill>
              </a:rPr>
              <a:t>малки уеб сайтове</a:t>
            </a:r>
            <a:r>
              <a:rPr lang="bg-BG" dirty="0"/>
              <a:t>, които </a:t>
            </a:r>
            <a:r>
              <a:rPr lang="bg-BG" b="1" dirty="0"/>
              <a:t>не се обновяват често</a:t>
            </a:r>
          </a:p>
          <a:p>
            <a:pPr lvl="1"/>
            <a:r>
              <a:rPr lang="bg-BG" b="1" dirty="0"/>
              <a:t>Пример</a:t>
            </a:r>
            <a:r>
              <a:rPr lang="en-US" b="1" dirty="0"/>
              <a:t>: </a:t>
            </a:r>
            <a:r>
              <a:rPr lang="bg-BG" dirty="0"/>
              <a:t>блог (</a:t>
            </a:r>
            <a:r>
              <a:rPr lang="en-GB" dirty="0">
                <a:hlinkClick r:id="rId2"/>
              </a:rPr>
              <a:t>w3.org/blog</a:t>
            </a:r>
            <a:r>
              <a:rPr lang="bg-BG" dirty="0"/>
              <a:t>), презентация на фирма </a:t>
            </a:r>
            <a:r>
              <a:rPr lang="en-US" dirty="0"/>
              <a:t>(</a:t>
            </a:r>
            <a:r>
              <a:rPr lang="en-US" dirty="0">
                <a:hlinkClick r:id="rId3"/>
              </a:rPr>
              <a:t>about.google</a:t>
            </a:r>
            <a:r>
              <a:rPr lang="en-US" dirty="0"/>
              <a:t>)</a:t>
            </a:r>
            <a:r>
              <a:rPr lang="bg-BG" dirty="0"/>
              <a:t> и др.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341ECB-3F3D-C19E-E739-7078FCDA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Основни видове уеб сайтове (</a:t>
            </a:r>
            <a:r>
              <a:rPr lang="en-US" sz="4000" dirty="0"/>
              <a:t>1)</a:t>
            </a:r>
            <a:endParaRPr lang="en-BG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47035-18A1-9B9B-17BA-2C469D538C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1" t="8416" r="15869" b="5734"/>
          <a:stretch/>
        </p:blipFill>
        <p:spPr>
          <a:xfrm>
            <a:off x="7063658" y="1899000"/>
            <a:ext cx="4689371" cy="39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9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4B2B8A-EBE7-D586-B8BA-76B382D61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FFBC2-1649-5CEB-A57B-2417DB0629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50598" cy="5528766"/>
          </a:xfrm>
        </p:spPr>
        <p:txBody>
          <a:bodyPr>
            <a:normAutofit lnSpcReduction="10000"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Динамични уеб сайтове</a:t>
            </a:r>
          </a:p>
          <a:p>
            <a:pPr lvl="1"/>
            <a:r>
              <a:rPr lang="bg-BG" b="1" dirty="0"/>
              <a:t>Съдържанието</a:t>
            </a:r>
            <a:r>
              <a:rPr lang="bg-BG" dirty="0"/>
              <a:t> се </a:t>
            </a:r>
            <a:r>
              <a:rPr lang="bg-BG" b="1" dirty="0">
                <a:solidFill>
                  <a:schemeClr val="bg1"/>
                </a:solidFill>
              </a:rPr>
              <a:t>генерира автоматично </a:t>
            </a:r>
            <a:r>
              <a:rPr lang="bg-BG" dirty="0"/>
              <a:t>при </a:t>
            </a:r>
            <a:r>
              <a:rPr lang="bg-BG" b="1" dirty="0"/>
              <a:t>зареждане</a:t>
            </a:r>
            <a:r>
              <a:rPr lang="bg-BG" dirty="0"/>
              <a:t> на </a:t>
            </a:r>
            <a:r>
              <a:rPr lang="bg-BG" b="1" dirty="0"/>
              <a:t>страницата</a:t>
            </a:r>
          </a:p>
          <a:p>
            <a:pPr lvl="1"/>
            <a:r>
              <a:rPr lang="bg-BG" dirty="0"/>
              <a:t>Подходящи за </a:t>
            </a:r>
            <a:r>
              <a:rPr lang="bg-BG" b="1" dirty="0"/>
              <a:t>уеб сайтове</a:t>
            </a:r>
            <a:r>
              <a:rPr lang="bg-BG" dirty="0"/>
              <a:t> с </a:t>
            </a:r>
            <a:r>
              <a:rPr lang="bg-BG" b="1" dirty="0"/>
              <a:t>често обновяваща се информация</a:t>
            </a:r>
          </a:p>
          <a:p>
            <a:pPr lvl="1"/>
            <a:r>
              <a:rPr lang="bg-BG" b="1" dirty="0"/>
              <a:t>Пример</a:t>
            </a:r>
            <a:r>
              <a:rPr lang="en-US" b="1" dirty="0"/>
              <a:t>:</a:t>
            </a:r>
            <a:r>
              <a:rPr lang="bg-BG" b="1" dirty="0"/>
              <a:t> </a:t>
            </a:r>
            <a:r>
              <a:rPr lang="bg-BG" dirty="0"/>
              <a:t>новинарски уеб сайт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euronews.com</a:t>
            </a:r>
            <a:r>
              <a:rPr lang="en-US" dirty="0"/>
              <a:t>)</a:t>
            </a:r>
            <a:r>
              <a:rPr lang="bg-BG" dirty="0"/>
              <a:t>, социална мрежа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reddit.com</a:t>
            </a:r>
            <a:r>
              <a:rPr lang="en-US" dirty="0"/>
              <a:t>)</a:t>
            </a:r>
            <a:r>
              <a:rPr lang="bg-BG" dirty="0"/>
              <a:t> и др.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341ECB-3F3D-C19E-E739-7078FCDA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/>
              <a:t>Основни видове уеб сайтове</a:t>
            </a:r>
            <a:r>
              <a:rPr lang="en-US" sz="4000" dirty="0"/>
              <a:t> (2)</a:t>
            </a:r>
            <a:endParaRPr lang="en-BG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641C3-4CDD-DF57-FD49-B3BE49F32D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" t="5412" r="3131" b="7533"/>
          <a:stretch/>
        </p:blipFill>
        <p:spPr>
          <a:xfrm>
            <a:off x="6912752" y="2168416"/>
            <a:ext cx="5023985" cy="35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уеб сайтове според предназначението (1)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Информационни</a:t>
            </a:r>
          </a:p>
          <a:p>
            <a:pPr lvl="1"/>
            <a:r>
              <a:rPr lang="bg-BG" sz="3400" b="1" dirty="0"/>
              <a:t>Статии</a:t>
            </a:r>
            <a:r>
              <a:rPr lang="bg-BG" sz="3400" dirty="0"/>
              <a:t>, </a:t>
            </a:r>
            <a:r>
              <a:rPr lang="bg-BG" sz="3400" b="1" dirty="0"/>
              <a:t>новини</a:t>
            </a:r>
            <a:r>
              <a:rPr lang="bg-BG" sz="3400" dirty="0"/>
              <a:t>, </a:t>
            </a:r>
            <a:r>
              <a:rPr lang="bg-BG" sz="3400" b="1" dirty="0"/>
              <a:t>данни</a:t>
            </a:r>
            <a:r>
              <a:rPr lang="bg-BG" sz="3400" dirty="0"/>
              <a:t> (напр. новинарски уеб сайтове</a:t>
            </a:r>
            <a:r>
              <a:rPr lang="en-US" sz="3400" dirty="0"/>
              <a:t>)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2"/>
              </a:rPr>
              <a:t>nasa.gov/news</a:t>
            </a:r>
            <a:endParaRPr lang="bg-BG" sz="3400" dirty="0"/>
          </a:p>
          <a:p>
            <a:r>
              <a:rPr lang="bg-BG" sz="3600" b="1" dirty="0">
                <a:solidFill>
                  <a:schemeClr val="bg1"/>
                </a:solidFill>
              </a:rPr>
              <a:t>Корпоративни</a:t>
            </a:r>
          </a:p>
          <a:p>
            <a:pPr lvl="1"/>
            <a:r>
              <a:rPr lang="bg-BG" sz="3400" dirty="0"/>
              <a:t>Представят </a:t>
            </a:r>
            <a:r>
              <a:rPr lang="bg-BG" sz="3400" b="1" dirty="0"/>
              <a:t>дейността</a:t>
            </a:r>
            <a:r>
              <a:rPr lang="bg-BG" sz="3400" dirty="0"/>
              <a:t> на </a:t>
            </a:r>
            <a:r>
              <a:rPr lang="bg-BG" sz="3400" b="1" dirty="0"/>
              <a:t>фирма</a:t>
            </a:r>
            <a:r>
              <a:rPr lang="bg-BG" sz="3400" dirty="0"/>
              <a:t> или </a:t>
            </a:r>
            <a:r>
              <a:rPr lang="bg-BG" sz="3400" b="1" dirty="0"/>
              <a:t>организация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3"/>
              </a:rPr>
              <a:t>who.int</a:t>
            </a:r>
            <a:endParaRPr lang="bg-BG" sz="3400" dirty="0"/>
          </a:p>
          <a:p>
            <a:r>
              <a:rPr lang="bg-BG" sz="3600" b="1" dirty="0">
                <a:solidFill>
                  <a:schemeClr val="bg1"/>
                </a:solidFill>
              </a:rPr>
              <a:t>Образователни</a:t>
            </a:r>
          </a:p>
          <a:p>
            <a:pPr lvl="1"/>
            <a:r>
              <a:rPr lang="bg-BG" sz="3400" dirty="0"/>
              <a:t>Споделят </a:t>
            </a:r>
            <a:r>
              <a:rPr lang="bg-BG" sz="3400" b="1" dirty="0"/>
              <a:t>учебни материали</a:t>
            </a:r>
            <a:r>
              <a:rPr lang="bg-BG" sz="3400" dirty="0"/>
              <a:t>, </a:t>
            </a:r>
            <a:r>
              <a:rPr lang="bg-BG" sz="3400" b="1" dirty="0"/>
              <a:t>курсове</a:t>
            </a:r>
            <a:r>
              <a:rPr lang="bg-BG" sz="3400" dirty="0"/>
              <a:t>, </a:t>
            </a:r>
            <a:r>
              <a:rPr lang="bg-BG" sz="3400" b="1" dirty="0"/>
              <a:t>ресурси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4"/>
              </a:rPr>
              <a:t>khanacademy.org</a:t>
            </a:r>
            <a:endParaRPr lang="bg-BG" sz="3400" dirty="0"/>
          </a:p>
        </p:txBody>
      </p:sp>
    </p:spTree>
    <p:extLst>
      <p:ext uri="{BB962C8B-B14F-4D97-AF65-F5344CB8AC3E}">
        <p14:creationId xmlns:p14="http://schemas.microsoft.com/office/powerpoint/2010/main" val="230279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уеб сайтове според предназначението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Търговски </a:t>
            </a:r>
            <a:r>
              <a:rPr lang="en-US" sz="3600" b="1" dirty="0"/>
              <a:t>(</a:t>
            </a:r>
            <a:r>
              <a:rPr lang="bg-BG" sz="3600" b="1" dirty="0"/>
              <a:t>електронна търговия</a:t>
            </a:r>
            <a:r>
              <a:rPr lang="en-US" sz="3600" b="1" dirty="0"/>
              <a:t>)</a:t>
            </a:r>
            <a:endParaRPr lang="bg-BG" sz="3600" b="1" dirty="0"/>
          </a:p>
          <a:p>
            <a:pPr lvl="1"/>
            <a:r>
              <a:rPr lang="bg-BG" sz="3400" b="1" dirty="0"/>
              <a:t>Онлайн магазини </a:t>
            </a:r>
            <a:r>
              <a:rPr lang="bg-BG" sz="3400" dirty="0"/>
              <a:t>и </a:t>
            </a:r>
            <a:r>
              <a:rPr lang="bg-BG" sz="3400" b="1" dirty="0"/>
              <a:t>услуги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2"/>
              </a:rPr>
              <a:t>britishmuseumshoponline.org</a:t>
            </a:r>
            <a:endParaRPr lang="bg-BG" sz="3400" dirty="0"/>
          </a:p>
          <a:p>
            <a:r>
              <a:rPr lang="bg-BG" sz="3600" b="1" dirty="0">
                <a:solidFill>
                  <a:schemeClr val="bg1"/>
                </a:solidFill>
              </a:rPr>
              <a:t>Блогове</a:t>
            </a:r>
          </a:p>
          <a:p>
            <a:pPr lvl="1"/>
            <a:r>
              <a:rPr lang="bg-BG" sz="3400" dirty="0"/>
              <a:t>Представят </a:t>
            </a:r>
            <a:r>
              <a:rPr lang="bg-BG" sz="3400" b="1" dirty="0"/>
              <a:t>интереси</a:t>
            </a:r>
            <a:r>
              <a:rPr lang="bg-BG" sz="3400" dirty="0"/>
              <a:t>, </a:t>
            </a:r>
            <a:r>
              <a:rPr lang="bg-BG" sz="3400" b="1" dirty="0"/>
              <a:t>идеи</a:t>
            </a:r>
            <a:r>
              <a:rPr lang="bg-BG" sz="3400" dirty="0"/>
              <a:t> или </a:t>
            </a:r>
            <a:r>
              <a:rPr lang="bg-BG" sz="3400" b="1" dirty="0"/>
              <a:t>мнения на автор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3"/>
              </a:rPr>
              <a:t>hacks.mozilla.org</a:t>
            </a:r>
            <a:endParaRPr lang="bg-BG" sz="3400" b="1" dirty="0"/>
          </a:p>
          <a:p>
            <a:r>
              <a:rPr lang="bg-BG" sz="3600" b="1" dirty="0">
                <a:solidFill>
                  <a:schemeClr val="bg1"/>
                </a:solidFill>
              </a:rPr>
              <a:t>Портфолио</a:t>
            </a:r>
          </a:p>
          <a:p>
            <a:pPr lvl="1"/>
            <a:r>
              <a:rPr lang="bg-BG" sz="3400" dirty="0"/>
              <a:t>Показват </a:t>
            </a:r>
            <a:r>
              <a:rPr lang="bg-BG" sz="3400" b="1" dirty="0"/>
              <a:t>професионални проекти </a:t>
            </a:r>
            <a:r>
              <a:rPr lang="bg-BG" sz="3400" dirty="0"/>
              <a:t>и </a:t>
            </a:r>
            <a:r>
              <a:rPr lang="bg-BG" sz="3400" b="1" dirty="0"/>
              <a:t>умения</a:t>
            </a:r>
          </a:p>
          <a:p>
            <a:pPr lvl="1"/>
            <a:r>
              <a:rPr lang="bg-BG" sz="3400" dirty="0"/>
              <a:t>Пример: </a:t>
            </a:r>
            <a:r>
              <a:rPr lang="en-GB" sz="3400" dirty="0">
                <a:hlinkClick r:id="rId4"/>
              </a:rPr>
              <a:t>behance.net</a:t>
            </a:r>
            <a:endParaRPr lang="bg-BG" sz="3400" b="1" dirty="0"/>
          </a:p>
          <a:p>
            <a:pPr marL="442912" lvl="1" indent="0">
              <a:buNone/>
            </a:pPr>
            <a:endParaRPr lang="en-BG" sz="3000" dirty="0"/>
          </a:p>
        </p:txBody>
      </p:sp>
    </p:spTree>
    <p:extLst>
      <p:ext uri="{BB962C8B-B14F-4D97-AF65-F5344CB8AC3E}">
        <p14:creationId xmlns:p14="http://schemas.microsoft.com/office/powerpoint/2010/main" val="13301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създаване на уеб сайт (1)</a:t>
            </a:r>
            <a:endParaRPr lang="en-B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486B41-E9E8-6ADF-298B-626343A46E18}"/>
              </a:ext>
            </a:extLst>
          </p:cNvPr>
          <p:cNvGrpSpPr/>
          <p:nvPr/>
        </p:nvGrpSpPr>
        <p:grpSpPr>
          <a:xfrm>
            <a:off x="6545661" y="1283467"/>
            <a:ext cx="5391076" cy="5473783"/>
            <a:chOff x="3666000" y="1295766"/>
            <a:chExt cx="5391076" cy="547378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EB0F5D-20F4-F0CB-CF18-1147D5D071EE}"/>
                </a:ext>
              </a:extLst>
            </p:cNvPr>
            <p:cNvGrpSpPr/>
            <p:nvPr/>
          </p:nvGrpSpPr>
          <p:grpSpPr>
            <a:xfrm>
              <a:off x="3666000" y="1295766"/>
              <a:ext cx="5391076" cy="5473783"/>
              <a:chOff x="909424" y="1283467"/>
              <a:chExt cx="5018976" cy="501897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48478E3-77F5-6C7F-D884-6BF47EEAF935}"/>
                  </a:ext>
                </a:extLst>
              </p:cNvPr>
              <p:cNvGrpSpPr/>
              <p:nvPr/>
            </p:nvGrpSpPr>
            <p:grpSpPr>
              <a:xfrm>
                <a:off x="909424" y="1283467"/>
                <a:ext cx="5018976" cy="5018976"/>
                <a:chOff x="-6580188" y="39688"/>
                <a:chExt cx="6372225" cy="6372225"/>
              </a:xfrm>
              <a:gradFill>
                <a:gsLst>
                  <a:gs pos="0">
                    <a:schemeClr val="tx2">
                      <a:shade val="30000"/>
                      <a:satMod val="115000"/>
                    </a:schemeClr>
                  </a:gs>
                  <a:gs pos="50000">
                    <a:schemeClr val="tx2">
                      <a:shade val="67500"/>
                      <a:satMod val="115000"/>
                    </a:schemeClr>
                  </a:gs>
                  <a:gs pos="100000">
                    <a:schemeClr val="tx2">
                      <a:shade val="100000"/>
                      <a:satMod val="115000"/>
                    </a:schemeClr>
                  </a:gs>
                </a:gsLst>
                <a:lin ang="16200000" scaled="1"/>
              </a:gradFill>
            </p:grpSpPr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82A88D29-8210-27EC-0D6A-3446365441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5886451" y="4559300"/>
                  <a:ext cx="2825750" cy="1852613"/>
                </a:xfrm>
                <a:custGeom>
                  <a:avLst/>
                  <a:gdLst>
                    <a:gd name="T0" fmla="*/ 692 w 752"/>
                    <a:gd name="T1" fmla="*/ 248 h 493"/>
                    <a:gd name="T2" fmla="*/ 663 w 752"/>
                    <a:gd name="T3" fmla="*/ 249 h 493"/>
                    <a:gd name="T4" fmla="*/ 175 w 752"/>
                    <a:gd name="T5" fmla="*/ 0 h 493"/>
                    <a:gd name="T6" fmla="*/ 41 w 752"/>
                    <a:gd name="T7" fmla="*/ 14 h 493"/>
                    <a:gd name="T8" fmla="*/ 0 w 752"/>
                    <a:gd name="T9" fmla="*/ 175 h 493"/>
                    <a:gd name="T10" fmla="*/ 663 w 752"/>
                    <a:gd name="T11" fmla="*/ 493 h 493"/>
                    <a:gd name="T12" fmla="*/ 752 w 752"/>
                    <a:gd name="T13" fmla="*/ 489 h 493"/>
                    <a:gd name="T14" fmla="*/ 635 w 752"/>
                    <a:gd name="T15" fmla="*/ 372 h 493"/>
                    <a:gd name="T16" fmla="*/ 692 w 752"/>
                    <a:gd name="T17" fmla="*/ 248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2" h="493">
                      <a:moveTo>
                        <a:pt x="692" y="248"/>
                      </a:moveTo>
                      <a:cubicBezTo>
                        <a:pt x="682" y="248"/>
                        <a:pt x="673" y="249"/>
                        <a:pt x="663" y="249"/>
                      </a:cubicBezTo>
                      <a:cubicBezTo>
                        <a:pt x="462" y="249"/>
                        <a:pt x="284" y="151"/>
                        <a:pt x="175" y="0"/>
                      </a:cubicBezTo>
                      <a:cubicBezTo>
                        <a:pt x="41" y="14"/>
                        <a:pt x="41" y="14"/>
                        <a:pt x="41" y="14"/>
                      </a:cubicBezTo>
                      <a:cubicBezTo>
                        <a:pt x="0" y="175"/>
                        <a:pt x="0" y="175"/>
                        <a:pt x="0" y="175"/>
                      </a:cubicBezTo>
                      <a:cubicBezTo>
                        <a:pt x="156" y="369"/>
                        <a:pt x="395" y="493"/>
                        <a:pt x="663" y="493"/>
                      </a:cubicBezTo>
                      <a:cubicBezTo>
                        <a:pt x="693" y="493"/>
                        <a:pt x="723" y="492"/>
                        <a:pt x="752" y="489"/>
                      </a:cubicBezTo>
                      <a:cubicBezTo>
                        <a:pt x="635" y="372"/>
                        <a:pt x="635" y="372"/>
                        <a:pt x="635" y="372"/>
                      </a:cubicBezTo>
                      <a:lnTo>
                        <a:pt x="692" y="248"/>
                      </a:lnTo>
                      <a:close/>
                    </a:path>
                  </a:pathLst>
                </a:custGeom>
                <a:solidFill>
                  <a:srgbClr val="45C7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C8CE9A41-50F9-E89A-0242-A1B2B6E82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962401" y="39688"/>
                  <a:ext cx="3116263" cy="1922463"/>
                </a:xfrm>
                <a:custGeom>
                  <a:avLst/>
                  <a:gdLst>
                    <a:gd name="T0" fmla="*/ 77 w 829"/>
                    <a:gd name="T1" fmla="*/ 249 h 512"/>
                    <a:gd name="T2" fmla="*/ 151 w 829"/>
                    <a:gd name="T3" fmla="*/ 245 h 512"/>
                    <a:gd name="T4" fmla="*/ 652 w 829"/>
                    <a:gd name="T5" fmla="*/ 512 h 512"/>
                    <a:gd name="T6" fmla="*/ 782 w 829"/>
                    <a:gd name="T7" fmla="*/ 503 h 512"/>
                    <a:gd name="T8" fmla="*/ 829 w 829"/>
                    <a:gd name="T9" fmla="*/ 340 h 512"/>
                    <a:gd name="T10" fmla="*/ 151 w 829"/>
                    <a:gd name="T11" fmla="*/ 0 h 512"/>
                    <a:gd name="T12" fmla="*/ 0 w 829"/>
                    <a:gd name="T13" fmla="*/ 14 h 512"/>
                    <a:gd name="T14" fmla="*/ 125 w 829"/>
                    <a:gd name="T15" fmla="*/ 123 h 512"/>
                    <a:gd name="T16" fmla="*/ 77 w 829"/>
                    <a:gd name="T17" fmla="*/ 249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9" h="512">
                      <a:moveTo>
                        <a:pt x="77" y="249"/>
                      </a:moveTo>
                      <a:cubicBezTo>
                        <a:pt x="101" y="247"/>
                        <a:pt x="126" y="245"/>
                        <a:pt x="151" y="245"/>
                      </a:cubicBezTo>
                      <a:cubicBezTo>
                        <a:pt x="359" y="245"/>
                        <a:pt x="543" y="351"/>
                        <a:pt x="652" y="512"/>
                      </a:cubicBezTo>
                      <a:cubicBezTo>
                        <a:pt x="782" y="503"/>
                        <a:pt x="782" y="503"/>
                        <a:pt x="782" y="503"/>
                      </a:cubicBezTo>
                      <a:cubicBezTo>
                        <a:pt x="829" y="340"/>
                        <a:pt x="829" y="340"/>
                        <a:pt x="829" y="340"/>
                      </a:cubicBezTo>
                      <a:cubicBezTo>
                        <a:pt x="675" y="134"/>
                        <a:pt x="428" y="0"/>
                        <a:pt x="151" y="0"/>
                      </a:cubicBezTo>
                      <a:cubicBezTo>
                        <a:pt x="99" y="0"/>
                        <a:pt x="49" y="5"/>
                        <a:pt x="0" y="14"/>
                      </a:cubicBezTo>
                      <a:cubicBezTo>
                        <a:pt x="125" y="123"/>
                        <a:pt x="125" y="123"/>
                        <a:pt x="125" y="123"/>
                      </a:cubicBezTo>
                      <a:lnTo>
                        <a:pt x="77" y="249"/>
                      </a:lnTo>
                      <a:close/>
                    </a:path>
                  </a:pathLst>
                </a:custGeom>
                <a:solidFill>
                  <a:srgbClr val="FDA54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A9C68926-88CE-6647-F2DF-F1916085CC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445251" y="109538"/>
                  <a:ext cx="2867025" cy="2338388"/>
                </a:xfrm>
                <a:custGeom>
                  <a:avLst/>
                  <a:gdLst>
                    <a:gd name="T0" fmla="*/ 245 w 763"/>
                    <a:gd name="T1" fmla="*/ 622 h 622"/>
                    <a:gd name="T2" fmla="*/ 716 w 763"/>
                    <a:gd name="T3" fmla="*/ 234 h 622"/>
                    <a:gd name="T4" fmla="*/ 763 w 763"/>
                    <a:gd name="T5" fmla="*/ 110 h 622"/>
                    <a:gd name="T6" fmla="*/ 636 w 763"/>
                    <a:gd name="T7" fmla="*/ 0 h 622"/>
                    <a:gd name="T8" fmla="*/ 0 w 763"/>
                    <a:gd name="T9" fmla="*/ 582 h 622"/>
                    <a:gd name="T10" fmla="*/ 153 w 763"/>
                    <a:gd name="T11" fmla="*/ 521 h 622"/>
                    <a:gd name="T12" fmla="*/ 245 w 763"/>
                    <a:gd name="T13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63" h="622">
                      <a:moveTo>
                        <a:pt x="245" y="622"/>
                      </a:moveTo>
                      <a:cubicBezTo>
                        <a:pt x="319" y="420"/>
                        <a:pt x="498" y="269"/>
                        <a:pt x="716" y="234"/>
                      </a:cubicBezTo>
                      <a:cubicBezTo>
                        <a:pt x="763" y="110"/>
                        <a:pt x="763" y="110"/>
                        <a:pt x="763" y="110"/>
                      </a:cubicBezTo>
                      <a:cubicBezTo>
                        <a:pt x="636" y="0"/>
                        <a:pt x="636" y="0"/>
                        <a:pt x="636" y="0"/>
                      </a:cubicBezTo>
                      <a:cubicBezTo>
                        <a:pt x="333" y="63"/>
                        <a:pt x="90" y="289"/>
                        <a:pt x="0" y="582"/>
                      </a:cubicBezTo>
                      <a:cubicBezTo>
                        <a:pt x="153" y="521"/>
                        <a:pt x="153" y="521"/>
                        <a:pt x="153" y="521"/>
                      </a:cubicBezTo>
                      <a:lnTo>
                        <a:pt x="245" y="622"/>
                      </a:lnTo>
                      <a:close/>
                    </a:path>
                  </a:pathLst>
                </a:custGeom>
                <a:solidFill>
                  <a:srgbClr val="FF3DE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F08766D-DA82-6D0A-6C01-65B5990590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409951" y="4311650"/>
                  <a:ext cx="2901950" cy="2073275"/>
                </a:xfrm>
                <a:custGeom>
                  <a:avLst/>
                  <a:gdLst>
                    <a:gd name="T0" fmla="*/ 772 w 772"/>
                    <a:gd name="T1" fmla="*/ 71 h 552"/>
                    <a:gd name="T2" fmla="*/ 609 w 772"/>
                    <a:gd name="T3" fmla="*/ 111 h 552"/>
                    <a:gd name="T4" fmla="*/ 534 w 772"/>
                    <a:gd name="T5" fmla="*/ 0 h 552"/>
                    <a:gd name="T6" fmla="*/ 56 w 772"/>
                    <a:gd name="T7" fmla="*/ 312 h 552"/>
                    <a:gd name="T8" fmla="*/ 0 w 772"/>
                    <a:gd name="T9" fmla="*/ 434 h 552"/>
                    <a:gd name="T10" fmla="*/ 118 w 772"/>
                    <a:gd name="T11" fmla="*/ 552 h 552"/>
                    <a:gd name="T12" fmla="*/ 772 w 772"/>
                    <a:gd name="T13" fmla="*/ 71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72" h="552">
                      <a:moveTo>
                        <a:pt x="772" y="71"/>
                      </a:moveTo>
                      <a:cubicBezTo>
                        <a:pt x="609" y="111"/>
                        <a:pt x="609" y="111"/>
                        <a:pt x="609" y="111"/>
                      </a:cubicBezTo>
                      <a:cubicBezTo>
                        <a:pt x="534" y="0"/>
                        <a:pt x="534" y="0"/>
                        <a:pt x="534" y="0"/>
                      </a:cubicBezTo>
                      <a:cubicBezTo>
                        <a:pt x="439" y="173"/>
                        <a:pt x="262" y="295"/>
                        <a:pt x="56" y="312"/>
                      </a:cubicBezTo>
                      <a:cubicBezTo>
                        <a:pt x="0" y="434"/>
                        <a:pt x="0" y="434"/>
                        <a:pt x="0" y="434"/>
                      </a:cubicBezTo>
                      <a:cubicBezTo>
                        <a:pt x="118" y="552"/>
                        <a:pt x="118" y="552"/>
                        <a:pt x="118" y="552"/>
                      </a:cubicBezTo>
                      <a:cubicBezTo>
                        <a:pt x="408" y="513"/>
                        <a:pt x="652" y="327"/>
                        <a:pt x="772" y="71"/>
                      </a:cubicBezTo>
                      <a:close/>
                    </a:path>
                  </a:pathLst>
                </a:custGeom>
                <a:solidFill>
                  <a:srgbClr val="79D80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1D5C2E6-21AB-766A-AF53-789858F74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1466851" y="1392238"/>
                  <a:ext cx="1258888" cy="3252788"/>
                </a:xfrm>
                <a:custGeom>
                  <a:avLst/>
                  <a:gdLst>
                    <a:gd name="T0" fmla="*/ 0 w 335"/>
                    <a:gd name="T1" fmla="*/ 171 h 866"/>
                    <a:gd name="T2" fmla="*/ 90 w 335"/>
                    <a:gd name="T3" fmla="*/ 488 h 866"/>
                    <a:gd name="T4" fmla="*/ 27 w 335"/>
                    <a:gd name="T5" fmla="*/ 757 h 866"/>
                    <a:gd name="T6" fmla="*/ 101 w 335"/>
                    <a:gd name="T7" fmla="*/ 866 h 866"/>
                    <a:gd name="T8" fmla="*/ 265 w 335"/>
                    <a:gd name="T9" fmla="*/ 825 h 866"/>
                    <a:gd name="T10" fmla="*/ 335 w 335"/>
                    <a:gd name="T11" fmla="*/ 488 h 866"/>
                    <a:gd name="T12" fmla="*/ 180 w 335"/>
                    <a:gd name="T13" fmla="*/ 0 h 866"/>
                    <a:gd name="T14" fmla="*/ 133 w 335"/>
                    <a:gd name="T15" fmla="*/ 162 h 866"/>
                    <a:gd name="T16" fmla="*/ 0 w 335"/>
                    <a:gd name="T17" fmla="*/ 171 h 8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5" h="866">
                      <a:moveTo>
                        <a:pt x="0" y="171"/>
                      </a:moveTo>
                      <a:cubicBezTo>
                        <a:pt x="57" y="264"/>
                        <a:pt x="90" y="372"/>
                        <a:pt x="90" y="488"/>
                      </a:cubicBezTo>
                      <a:cubicBezTo>
                        <a:pt x="90" y="585"/>
                        <a:pt x="67" y="676"/>
                        <a:pt x="27" y="757"/>
                      </a:cubicBezTo>
                      <a:cubicBezTo>
                        <a:pt x="101" y="866"/>
                        <a:pt x="101" y="866"/>
                        <a:pt x="101" y="866"/>
                      </a:cubicBezTo>
                      <a:cubicBezTo>
                        <a:pt x="265" y="825"/>
                        <a:pt x="265" y="825"/>
                        <a:pt x="265" y="825"/>
                      </a:cubicBezTo>
                      <a:cubicBezTo>
                        <a:pt x="310" y="722"/>
                        <a:pt x="335" y="608"/>
                        <a:pt x="335" y="488"/>
                      </a:cubicBezTo>
                      <a:cubicBezTo>
                        <a:pt x="335" y="307"/>
                        <a:pt x="278" y="138"/>
                        <a:pt x="180" y="0"/>
                      </a:cubicBezTo>
                      <a:cubicBezTo>
                        <a:pt x="133" y="162"/>
                        <a:pt x="133" y="162"/>
                        <a:pt x="133" y="162"/>
                      </a:cubicBezTo>
                      <a:lnTo>
                        <a:pt x="0" y="171"/>
                      </a:lnTo>
                      <a:close/>
                    </a:path>
                  </a:pathLst>
                </a:custGeom>
                <a:solidFill>
                  <a:srgbClr val="FFF53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76675EC-AED2-2C36-4A57-3F25BFB2B9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580188" y="2154238"/>
                  <a:ext cx="1300163" cy="2987675"/>
                </a:xfrm>
                <a:custGeom>
                  <a:avLst/>
                  <a:gdLst>
                    <a:gd name="T0" fmla="*/ 346 w 346"/>
                    <a:gd name="T1" fmla="*/ 621 h 795"/>
                    <a:gd name="T2" fmla="*/ 244 w 346"/>
                    <a:gd name="T3" fmla="*/ 285 h 795"/>
                    <a:gd name="T4" fmla="*/ 273 w 346"/>
                    <a:gd name="T5" fmla="*/ 100 h 795"/>
                    <a:gd name="T6" fmla="*/ 183 w 346"/>
                    <a:gd name="T7" fmla="*/ 0 h 795"/>
                    <a:gd name="T8" fmla="*/ 29 w 346"/>
                    <a:gd name="T9" fmla="*/ 62 h 795"/>
                    <a:gd name="T10" fmla="*/ 0 w 346"/>
                    <a:gd name="T11" fmla="*/ 285 h 795"/>
                    <a:gd name="T12" fmla="*/ 170 w 346"/>
                    <a:gd name="T13" fmla="*/ 795 h 795"/>
                    <a:gd name="T14" fmla="*/ 210 w 346"/>
                    <a:gd name="T15" fmla="*/ 636 h 795"/>
                    <a:gd name="T16" fmla="*/ 346 w 346"/>
                    <a:gd name="T17" fmla="*/ 621 h 7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6" h="795">
                      <a:moveTo>
                        <a:pt x="346" y="621"/>
                      </a:moveTo>
                      <a:cubicBezTo>
                        <a:pt x="282" y="525"/>
                        <a:pt x="244" y="410"/>
                        <a:pt x="244" y="285"/>
                      </a:cubicBezTo>
                      <a:cubicBezTo>
                        <a:pt x="244" y="221"/>
                        <a:pt x="255" y="158"/>
                        <a:pt x="273" y="100"/>
                      </a:cubicBezTo>
                      <a:cubicBezTo>
                        <a:pt x="183" y="0"/>
                        <a:pt x="183" y="0"/>
                        <a:pt x="183" y="0"/>
                      </a:cubicBezTo>
                      <a:cubicBezTo>
                        <a:pt x="29" y="62"/>
                        <a:pt x="29" y="62"/>
                        <a:pt x="29" y="62"/>
                      </a:cubicBezTo>
                      <a:cubicBezTo>
                        <a:pt x="10" y="133"/>
                        <a:pt x="0" y="208"/>
                        <a:pt x="0" y="285"/>
                      </a:cubicBezTo>
                      <a:cubicBezTo>
                        <a:pt x="0" y="476"/>
                        <a:pt x="63" y="653"/>
                        <a:pt x="170" y="795"/>
                      </a:cubicBezTo>
                      <a:cubicBezTo>
                        <a:pt x="210" y="636"/>
                        <a:pt x="210" y="636"/>
                        <a:pt x="210" y="636"/>
                      </a:cubicBezTo>
                      <a:lnTo>
                        <a:pt x="346" y="621"/>
                      </a:lnTo>
                      <a:close/>
                    </a:path>
                  </a:pathLst>
                </a:custGeom>
                <a:solidFill>
                  <a:srgbClr val="FF3D3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2474CF-CE89-3206-36C9-334990AADCE5}"/>
                  </a:ext>
                </a:extLst>
              </p:cNvPr>
              <p:cNvSpPr txBox="1"/>
              <p:nvPr/>
            </p:nvSpPr>
            <p:spPr>
              <a:xfrm rot="19347858">
                <a:off x="1339383" y="1910051"/>
                <a:ext cx="2853145" cy="1990673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8626940"/>
                  </a:avLst>
                </a:prstTxWarp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bg-BG" sz="2000" b="1" dirty="0">
                    <a:solidFill>
                      <a:srgbClr val="000000"/>
                    </a:solidFill>
                    <a:cs typeface="Calibri" panose="020F0502020204030204" pitchFamily="34" charset="0"/>
                  </a:rPr>
                  <a:t>Оптимизация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14462DB-BE8E-04E9-52D4-C1B9BA7376FD}"/>
                  </a:ext>
                </a:extLst>
              </p:cNvPr>
              <p:cNvSpPr txBox="1"/>
              <p:nvPr/>
            </p:nvSpPr>
            <p:spPr>
              <a:xfrm rot="1430453">
                <a:off x="2500631" y="1819971"/>
                <a:ext cx="2853145" cy="1990673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8626940"/>
                  </a:avLst>
                </a:prstTxWarp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bg-BG" sz="2000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Планиране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ABC204-DA7B-EB00-C593-6C47A29B21CE}"/>
                </a:ext>
              </a:extLst>
            </p:cNvPr>
            <p:cNvSpPr txBox="1"/>
            <p:nvPr/>
          </p:nvSpPr>
          <p:spPr>
            <a:xfrm rot="16004287">
              <a:off x="6149098" y="3049866"/>
              <a:ext cx="2853145" cy="199067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bg-BG" sz="2200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Проектиране</a:t>
              </a:r>
            </a:p>
            <a:p>
              <a:pPr algn="ctr">
                <a:lnSpc>
                  <a:spcPct val="90000"/>
                </a:lnSpc>
              </a:pPr>
              <a:r>
                <a:rPr lang="bg-BG" sz="2200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и графичен дизайн</a:t>
              </a:r>
              <a:endPara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90F511-7D2D-3A0D-265D-82D532D09685}"/>
                </a:ext>
              </a:extLst>
            </p:cNvPr>
            <p:cNvSpPr txBox="1"/>
            <p:nvPr/>
          </p:nvSpPr>
          <p:spPr>
            <a:xfrm rot="19886401">
              <a:off x="5619407" y="4256444"/>
              <a:ext cx="2853145" cy="199067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bg-BG" sz="2200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Изграждане</a:t>
              </a:r>
              <a:endPara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F6EEC0-36A9-2747-7048-2436AE8ACF16}"/>
                </a:ext>
              </a:extLst>
            </p:cNvPr>
            <p:cNvSpPr txBox="1"/>
            <p:nvPr/>
          </p:nvSpPr>
          <p:spPr>
            <a:xfrm rot="1694651">
              <a:off x="4248404" y="4206458"/>
              <a:ext cx="2853145" cy="199067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bg-BG" sz="2200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Тестване</a:t>
              </a:r>
              <a:endPara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160D76-1081-CB9F-EFEC-814D6B3DAA35}"/>
                </a:ext>
              </a:extLst>
            </p:cNvPr>
            <p:cNvSpPr txBox="1"/>
            <p:nvPr/>
          </p:nvSpPr>
          <p:spPr>
            <a:xfrm rot="5156243">
              <a:off x="3566377" y="3137613"/>
              <a:ext cx="2853145" cy="199067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bg-BG" sz="2200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Публикуване</a:t>
              </a:r>
              <a:endPara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387EFE4-8AA8-E843-B1A5-1B1F1D86C9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486799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Етапите</a:t>
            </a:r>
            <a:r>
              <a:rPr lang="bg-BG" sz="3200" dirty="0"/>
              <a:t> при </a:t>
            </a:r>
            <a:r>
              <a:rPr lang="bg-BG" sz="3200" b="1" dirty="0"/>
              <a:t>създаване на уеб сайт</a:t>
            </a:r>
            <a:r>
              <a:rPr lang="bg-BG" sz="3200" dirty="0"/>
              <a:t> осигуряват </a:t>
            </a:r>
            <a:r>
              <a:rPr lang="bg-BG" sz="3200" b="1" dirty="0">
                <a:solidFill>
                  <a:schemeClr val="bg1"/>
                </a:solidFill>
              </a:rPr>
              <a:t>последователност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качество</a:t>
            </a:r>
            <a:r>
              <a:rPr lang="bg-BG" sz="3200" dirty="0"/>
              <a:t> на </a:t>
            </a:r>
            <a:r>
              <a:rPr lang="bg-BG" sz="3200" b="1" dirty="0"/>
              <a:t>работата</a:t>
            </a:r>
          </a:p>
          <a:p>
            <a:r>
              <a:rPr lang="bg-BG" sz="3200" dirty="0"/>
              <a:t>Помагат за </a:t>
            </a:r>
            <a:r>
              <a:rPr lang="bg-BG" sz="3200" b="1" dirty="0">
                <a:solidFill>
                  <a:schemeClr val="bg1"/>
                </a:solidFill>
              </a:rPr>
              <a:t>плавен процес </a:t>
            </a:r>
            <a:r>
              <a:rPr lang="bg-BG" sz="3200" b="1" dirty="0"/>
              <a:t>от идеята до готовия уеб сайт</a:t>
            </a:r>
          </a:p>
          <a:p>
            <a:r>
              <a:rPr lang="bg-BG" sz="3200" dirty="0"/>
              <a:t>Основните етапи са: </a:t>
            </a:r>
            <a:r>
              <a:rPr lang="bg-BG" sz="3200" b="1" dirty="0"/>
              <a:t>планиране</a:t>
            </a:r>
            <a:r>
              <a:rPr lang="bg-BG" sz="3200" dirty="0"/>
              <a:t>, </a:t>
            </a:r>
            <a:r>
              <a:rPr lang="bg-BG" sz="3200" b="1" dirty="0"/>
              <a:t>проектиране и графичен дизайн</a:t>
            </a:r>
            <a:r>
              <a:rPr lang="bg-BG" sz="3200" dirty="0"/>
              <a:t>, </a:t>
            </a:r>
            <a:r>
              <a:rPr lang="bg-BG" sz="3200" b="1" dirty="0"/>
              <a:t>изграждане</a:t>
            </a:r>
            <a:r>
              <a:rPr lang="bg-BG" sz="3200" dirty="0"/>
              <a:t>, </a:t>
            </a:r>
            <a:r>
              <a:rPr lang="bg-BG" sz="3200" b="1" dirty="0"/>
              <a:t>тестване</a:t>
            </a:r>
            <a:r>
              <a:rPr lang="bg-BG" sz="3200" dirty="0"/>
              <a:t>, </a:t>
            </a:r>
            <a:r>
              <a:rPr lang="bg-BG" sz="3200" b="1" dirty="0"/>
              <a:t>публикуване</a:t>
            </a:r>
            <a:r>
              <a:rPr lang="bg-BG" sz="3200" dirty="0"/>
              <a:t>, </a:t>
            </a:r>
            <a:r>
              <a:rPr lang="bg-BG" sz="3200" b="1" dirty="0"/>
              <a:t>оптимизация</a:t>
            </a:r>
          </a:p>
        </p:txBody>
      </p:sp>
    </p:spTree>
    <p:extLst>
      <p:ext uri="{BB962C8B-B14F-4D97-AF65-F5344CB8AC3E}">
        <p14:creationId xmlns:p14="http://schemas.microsoft.com/office/powerpoint/2010/main" val="876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създаване на уеб сайт (2)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Планиране</a:t>
            </a:r>
          </a:p>
          <a:p>
            <a:pPr lvl="1"/>
            <a:r>
              <a:rPr lang="bg-BG" sz="3200" b="1" dirty="0"/>
              <a:t>Определяне</a:t>
            </a:r>
            <a:r>
              <a:rPr lang="bg-BG" sz="3200" dirty="0"/>
              <a:t> на </a:t>
            </a:r>
            <a:r>
              <a:rPr lang="bg-BG" sz="3200" b="1" dirty="0"/>
              <a:t>целта</a:t>
            </a:r>
            <a:r>
              <a:rPr lang="bg-BG" sz="3200" dirty="0"/>
              <a:t> и </a:t>
            </a:r>
            <a:r>
              <a:rPr lang="bg-BG" sz="3200" b="1" dirty="0"/>
              <a:t>аудиторията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Проектиране и графичен дизайн</a:t>
            </a:r>
          </a:p>
          <a:p>
            <a:pPr lvl="1"/>
            <a:r>
              <a:rPr lang="bg-BG" sz="3200" b="1" dirty="0"/>
              <a:t>Създаване</a:t>
            </a:r>
            <a:r>
              <a:rPr lang="bg-BG" sz="3200" dirty="0"/>
              <a:t> на </a:t>
            </a:r>
            <a:r>
              <a:rPr lang="bg-BG" sz="3200" b="1" dirty="0"/>
              <a:t>структура</a:t>
            </a:r>
            <a:r>
              <a:rPr lang="bg-BG" sz="3200" dirty="0"/>
              <a:t> и </a:t>
            </a:r>
            <a:r>
              <a:rPr lang="bg-BG" sz="3200" b="1" dirty="0"/>
              <a:t>дизайн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Изграждане</a:t>
            </a:r>
          </a:p>
          <a:p>
            <a:pPr lvl="1"/>
            <a:r>
              <a:rPr lang="bg-BG" sz="3200" b="1" dirty="0"/>
              <a:t>Разработване</a:t>
            </a:r>
            <a:r>
              <a:rPr lang="bg-BG" sz="3200" dirty="0"/>
              <a:t> (</a:t>
            </a:r>
            <a:r>
              <a:rPr lang="bg-BG" sz="3200" b="1" dirty="0"/>
              <a:t>програмиране</a:t>
            </a:r>
            <a:r>
              <a:rPr lang="en-US" sz="3200" dirty="0"/>
              <a:t>) </a:t>
            </a:r>
            <a:r>
              <a:rPr lang="bg-BG" sz="3200" dirty="0"/>
              <a:t>на уеб сайта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A5838-5655-536E-AA99-36BDE4B0B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00" y="1400408"/>
            <a:ext cx="2654714" cy="157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AAE37-153C-BE22-7F34-98FDC6748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00" y="2952142"/>
            <a:ext cx="2654714" cy="157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6FA15-8E73-E4C6-4000-20EA02928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00" y="4523542"/>
            <a:ext cx="2654714" cy="157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7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създаване на уеб сайт (3)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830598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Тестване</a:t>
            </a:r>
          </a:p>
          <a:p>
            <a:pPr lvl="1"/>
            <a:r>
              <a:rPr lang="bg-BG" sz="3200" b="1" dirty="0"/>
              <a:t>Проверка</a:t>
            </a:r>
            <a:r>
              <a:rPr lang="bg-BG" sz="3200" dirty="0"/>
              <a:t> за </a:t>
            </a:r>
            <a:r>
              <a:rPr lang="bg-BG" sz="3200" b="1" dirty="0"/>
              <a:t>грешки</a:t>
            </a:r>
            <a:endParaRPr lang="bg-BG" sz="3200" dirty="0"/>
          </a:p>
          <a:p>
            <a:r>
              <a:rPr lang="bg-BG" sz="3600" b="1" dirty="0">
                <a:solidFill>
                  <a:schemeClr val="bg1"/>
                </a:solidFill>
              </a:rPr>
              <a:t>Публикуване</a:t>
            </a:r>
          </a:p>
          <a:p>
            <a:pPr lvl="1"/>
            <a:r>
              <a:rPr lang="bg-BG" sz="3200" b="1" dirty="0"/>
              <a:t>Качване</a:t>
            </a:r>
            <a:r>
              <a:rPr lang="bg-BG" sz="3200" dirty="0"/>
              <a:t> на уеб сайта </a:t>
            </a:r>
            <a:r>
              <a:rPr lang="bg-BG" sz="3200" b="1" dirty="0"/>
              <a:t>онлайн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Оптимизация</a:t>
            </a:r>
          </a:p>
          <a:p>
            <a:pPr lvl="1"/>
            <a:r>
              <a:rPr lang="bg-BG" sz="3200" b="1" dirty="0"/>
              <a:t>Подобряване </a:t>
            </a:r>
            <a:r>
              <a:rPr lang="bg-BG" sz="3200" dirty="0"/>
              <a:t>на</a:t>
            </a:r>
            <a:r>
              <a:rPr lang="bg-BG" sz="3200" b="1" dirty="0"/>
              <a:t> скоростта</a:t>
            </a:r>
            <a:r>
              <a:rPr lang="bg-BG" sz="3200" dirty="0"/>
              <a:t>, </a:t>
            </a:r>
            <a:r>
              <a:rPr lang="bg-BG" sz="3200" b="1" dirty="0"/>
              <a:t>съдържанието</a:t>
            </a:r>
            <a:r>
              <a:rPr lang="bg-BG" sz="3200" dirty="0"/>
              <a:t> и </a:t>
            </a:r>
            <a:r>
              <a:rPr lang="bg-BG" sz="3200" b="1" dirty="0"/>
              <a:t>видимостта</a:t>
            </a:r>
            <a:r>
              <a:rPr lang="bg-BG" sz="3200" dirty="0"/>
              <a:t> на уеб сайта в </a:t>
            </a:r>
            <a:r>
              <a:rPr lang="bg-BG" sz="3200" b="1" dirty="0"/>
              <a:t>търсачките</a:t>
            </a:r>
            <a:r>
              <a:rPr lang="bg-BG" sz="32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B35236-919C-15D8-C527-DE5A220C3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643" y="1537738"/>
            <a:ext cx="2654714" cy="157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FC58F-E910-54C4-FF25-797B3154D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643" y="3109138"/>
            <a:ext cx="2654714" cy="157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C1EC8-0B08-4E18-9F1A-5FCFF3B4E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643" y="4680538"/>
            <a:ext cx="2654714" cy="9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4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Роли при създаване на уеб сайт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Ръководител на проекта </a:t>
            </a:r>
            <a:r>
              <a:rPr lang="bg-BG" sz="3000" b="1" dirty="0"/>
              <a:t>(</a:t>
            </a:r>
            <a:r>
              <a:rPr lang="en-US" sz="3000" b="1" dirty="0"/>
              <a:t>Project Manager)</a:t>
            </a:r>
            <a:endParaRPr lang="bg-BG" sz="3000" b="1" dirty="0"/>
          </a:p>
          <a:p>
            <a:pPr lvl="1"/>
            <a:r>
              <a:rPr lang="bg-BG" sz="2800" b="1" dirty="0"/>
              <a:t>Координира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целия процес</a:t>
            </a:r>
            <a:r>
              <a:rPr lang="bg-BG" sz="2800" dirty="0"/>
              <a:t>, </a:t>
            </a:r>
            <a:r>
              <a:rPr lang="bg-BG" sz="2800" b="1" dirty="0"/>
              <a:t>разпределя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задачите</a:t>
            </a:r>
            <a:r>
              <a:rPr lang="bg-BG" sz="2800" dirty="0"/>
              <a:t> и </a:t>
            </a:r>
            <a:r>
              <a:rPr lang="bg-BG" sz="2800" b="1" dirty="0"/>
              <a:t>следи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сроковете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качеството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Редактор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en-US" sz="3000" b="1" dirty="0"/>
              <a:t>(Content Editor/Copywriter)</a:t>
            </a:r>
            <a:endParaRPr lang="bg-BG" sz="3000" b="1" dirty="0"/>
          </a:p>
          <a:p>
            <a:pPr lvl="1"/>
            <a:r>
              <a:rPr lang="bg-BG" sz="2800" b="1" dirty="0"/>
              <a:t>Създава</a:t>
            </a:r>
            <a:r>
              <a:rPr lang="bg-BG" sz="2800" dirty="0"/>
              <a:t> и </a:t>
            </a:r>
            <a:r>
              <a:rPr lang="bg-BG" sz="2800" b="1" dirty="0"/>
              <a:t>преглежда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текстовото съдържание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Уеб дизайнер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en-US" sz="3000" b="1" dirty="0"/>
              <a:t>(Web Designer)</a:t>
            </a:r>
            <a:endParaRPr lang="bg-BG" sz="3000" b="1" dirty="0"/>
          </a:p>
          <a:p>
            <a:pPr lvl="1"/>
            <a:r>
              <a:rPr lang="bg-BG" sz="2800" b="1" dirty="0"/>
              <a:t>Планира</a:t>
            </a:r>
            <a:r>
              <a:rPr lang="bg-BG" sz="2800" dirty="0"/>
              <a:t> и </a:t>
            </a:r>
            <a:r>
              <a:rPr lang="bg-BG" sz="2800" b="1" dirty="0"/>
              <a:t>изработва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визуалния облик </a:t>
            </a:r>
            <a:r>
              <a:rPr lang="bg-BG" sz="2800" dirty="0"/>
              <a:t>на </a:t>
            </a:r>
            <a:r>
              <a:rPr lang="bg-BG" sz="2800" b="1" dirty="0"/>
              <a:t>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Уеб разработчик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en-US" sz="3000" b="1" dirty="0"/>
              <a:t>(Web Developer)</a:t>
            </a:r>
            <a:endParaRPr lang="bg-BG" sz="3000" b="1" dirty="0"/>
          </a:p>
          <a:p>
            <a:pPr lvl="1"/>
            <a:r>
              <a:rPr lang="bg-BG" sz="2800" b="1" dirty="0"/>
              <a:t>Превръща</a:t>
            </a:r>
            <a:r>
              <a:rPr lang="bg-BG" sz="2800" dirty="0"/>
              <a:t> </a:t>
            </a:r>
            <a:r>
              <a:rPr lang="bg-BG" sz="2800" b="1" dirty="0"/>
              <a:t>дизайна</a:t>
            </a:r>
            <a:r>
              <a:rPr lang="bg-BG" sz="2800" dirty="0"/>
              <a:t> в </a:t>
            </a:r>
            <a:r>
              <a:rPr lang="bg-BG" sz="2800" b="1" dirty="0">
                <a:solidFill>
                  <a:schemeClr val="bg1"/>
                </a:solidFill>
              </a:rPr>
              <a:t>работещ код</a:t>
            </a:r>
            <a:r>
              <a:rPr lang="bg-BG" sz="2800" dirty="0">
                <a:solidFill>
                  <a:schemeClr val="bg1"/>
                </a:solidFill>
              </a:rPr>
              <a:t>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функционалност</a:t>
            </a:r>
          </a:p>
          <a:p>
            <a:endParaRPr lang="bg-BG" sz="3000" dirty="0"/>
          </a:p>
        </p:txBody>
      </p:sp>
    </p:spTree>
    <p:extLst>
      <p:ext uri="{BB962C8B-B14F-4D97-AF65-F5344CB8AC3E}">
        <p14:creationId xmlns:p14="http://schemas.microsoft.com/office/powerpoint/2010/main" val="394764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Цел и целеви групи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215598" cy="5528766"/>
          </a:xfrm>
        </p:spPr>
        <p:txBody>
          <a:bodyPr>
            <a:normAutofit/>
          </a:bodyPr>
          <a:lstStyle/>
          <a:p>
            <a:r>
              <a:rPr lang="bg-BG" sz="3200" b="1" dirty="0"/>
              <a:t>Определянето</a:t>
            </a:r>
            <a:r>
              <a:rPr lang="bg-BG" sz="3200" dirty="0"/>
              <a:t> на правилната </a:t>
            </a:r>
            <a:r>
              <a:rPr lang="bg-BG" sz="3200" b="1" dirty="0"/>
              <a:t>цел</a:t>
            </a:r>
            <a:r>
              <a:rPr lang="bg-BG" sz="3200" dirty="0"/>
              <a:t> и </a:t>
            </a:r>
            <a:r>
              <a:rPr lang="bg-BG" sz="3200" b="1" dirty="0"/>
              <a:t>аудитория</a:t>
            </a:r>
            <a:r>
              <a:rPr lang="bg-BG" sz="3200" dirty="0"/>
              <a:t> е </a:t>
            </a:r>
            <a:r>
              <a:rPr lang="bg-BG" sz="3200" b="1" dirty="0">
                <a:solidFill>
                  <a:schemeClr val="bg1"/>
                </a:solidFill>
              </a:rPr>
              <a:t>ключово</a:t>
            </a:r>
            <a:r>
              <a:rPr lang="bg-BG" sz="3200" dirty="0"/>
              <a:t> за </a:t>
            </a:r>
            <a:r>
              <a:rPr lang="bg-BG" sz="3200" b="1" dirty="0"/>
              <a:t>успешен уеб сайт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Цел</a:t>
            </a:r>
          </a:p>
          <a:p>
            <a:pPr lvl="1"/>
            <a:r>
              <a:rPr lang="bg-BG" sz="3000" b="1" dirty="0"/>
              <a:t>Какво искаме да постигнем?</a:t>
            </a:r>
            <a:endParaRPr lang="en-US" sz="3000" b="1" dirty="0"/>
          </a:p>
          <a:p>
            <a:pPr lvl="1"/>
            <a:r>
              <a:rPr lang="bg-BG" sz="3000" b="1" dirty="0"/>
              <a:t>Определя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защо съществува уеб сайтът </a:t>
            </a:r>
            <a:r>
              <a:rPr lang="bg-BG" sz="3000" dirty="0"/>
              <a:t>(информиране, продажба, реклама и т.н.</a:t>
            </a:r>
            <a:r>
              <a:rPr lang="en-US" sz="3000" dirty="0"/>
              <a:t>)</a:t>
            </a:r>
            <a:endParaRPr lang="bg-BG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9A4B4-3F1A-0E0E-F312-2288A9038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000" y="4417797"/>
            <a:ext cx="2340000" cy="230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9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Цел и целеви групи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215598" cy="5528766"/>
          </a:xfrm>
        </p:spPr>
        <p:txBody>
          <a:bodyPr>
            <a:normAutofit/>
          </a:bodyPr>
          <a:lstStyle/>
          <a:p>
            <a:r>
              <a:rPr lang="bg-BG" sz="3400" b="1" dirty="0">
                <a:solidFill>
                  <a:schemeClr val="bg1"/>
                </a:solidFill>
              </a:rPr>
              <a:t>Целева група</a:t>
            </a:r>
          </a:p>
          <a:p>
            <a:pPr lvl="1"/>
            <a:r>
              <a:rPr lang="bg-BG" sz="3200" b="1" dirty="0"/>
              <a:t>Кои потребители искаме да достигнем?</a:t>
            </a:r>
            <a:endParaRPr lang="en-US" sz="3200" b="1" dirty="0"/>
          </a:p>
          <a:p>
            <a:pPr lvl="1"/>
            <a:r>
              <a:rPr lang="bg-BG" sz="3200" b="1" dirty="0"/>
              <a:t>Определя </a:t>
            </a:r>
            <a:r>
              <a:rPr lang="bg-BG" sz="3200" b="1" dirty="0">
                <a:solidFill>
                  <a:schemeClr val="bg1"/>
                </a:solidFill>
              </a:rPr>
              <a:t>аудиторията</a:t>
            </a:r>
            <a:r>
              <a:rPr lang="bg-BG" sz="3200" dirty="0"/>
              <a:t>, към която е </a:t>
            </a:r>
            <a:r>
              <a:rPr lang="bg-BG" sz="3200" b="1" dirty="0"/>
              <a:t>насочен</a:t>
            </a:r>
            <a:r>
              <a:rPr lang="bg-BG" sz="3200" dirty="0"/>
              <a:t> </a:t>
            </a:r>
            <a:r>
              <a:rPr lang="en-US" sz="3200" dirty="0"/>
              <a:t>(</a:t>
            </a:r>
            <a:r>
              <a:rPr lang="bg-BG" sz="3200" dirty="0"/>
              <a:t>ученици, клиенти, родители и т.н.</a:t>
            </a:r>
            <a:r>
              <a:rPr lang="en-US" sz="3200" dirty="0"/>
              <a:t>)</a:t>
            </a:r>
            <a:endParaRPr lang="bg-BG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6B824-20CC-3EC5-865C-418FFE50F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801" y="3595100"/>
            <a:ext cx="6120799" cy="30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Видове и характеристики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Уеб страници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AD6B3-25EE-5857-BB18-D3B8AABA7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268" y="729000"/>
            <a:ext cx="5165464" cy="361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400" b="1" dirty="0">
                <a:solidFill>
                  <a:schemeClr val="bg1"/>
                </a:solidFill>
              </a:rPr>
              <a:t>Отделен документ</a:t>
            </a:r>
            <a:r>
              <a:rPr lang="bg-BG" sz="3400" dirty="0"/>
              <a:t>, който </a:t>
            </a:r>
            <a:r>
              <a:rPr lang="bg-BG" sz="3400" b="1" dirty="0"/>
              <a:t>съдържа</a:t>
            </a:r>
            <a:r>
              <a:rPr lang="bg-BG" sz="3400" dirty="0"/>
              <a:t> </a:t>
            </a:r>
            <a:r>
              <a:rPr lang="bg-BG" sz="3400" b="1" dirty="0"/>
              <a:t>различни </a:t>
            </a:r>
            <a:r>
              <a:rPr lang="bg-BG" sz="3400" b="1" dirty="0">
                <a:solidFill>
                  <a:schemeClr val="bg1"/>
                </a:solidFill>
              </a:rPr>
              <a:t>елементи</a:t>
            </a:r>
            <a:r>
              <a:rPr lang="bg-BG" sz="3400" b="1" dirty="0"/>
              <a:t> </a:t>
            </a:r>
            <a:r>
              <a:rPr lang="bg-BG" sz="3400" dirty="0"/>
              <a:t>(информация, изображения, връзки и т.н.)</a:t>
            </a:r>
          </a:p>
          <a:p>
            <a:pPr>
              <a:buClr>
                <a:schemeClr val="tx1"/>
              </a:buClr>
            </a:pPr>
            <a:r>
              <a:rPr lang="bg-BG" sz="3400" b="1" dirty="0"/>
              <a:t>Всички страници </a:t>
            </a:r>
            <a:r>
              <a:rPr lang="bg-BG" sz="3400" dirty="0"/>
              <a:t>заедно </a:t>
            </a:r>
            <a:r>
              <a:rPr lang="bg-BG" sz="3400" b="1" dirty="0"/>
              <a:t>образуват уеб сайта</a:t>
            </a:r>
            <a:endParaRPr lang="bg-BG" sz="3400" b="1" dirty="0">
              <a:solidFill>
                <a:schemeClr val="bg1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Уеб страница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E2535-C3F0-030B-5364-329A38361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608" y="3305611"/>
            <a:ext cx="5778784" cy="334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8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</a:rPr>
              <a:t>Начална уеб страница </a:t>
            </a:r>
            <a:r>
              <a:rPr lang="bg-BG" sz="3200" b="1" dirty="0"/>
              <a:t>(</a:t>
            </a:r>
            <a:r>
              <a:rPr lang="en-US" sz="3200" b="1" dirty="0"/>
              <a:t>Home Page)</a:t>
            </a:r>
            <a:endParaRPr lang="bg-BG" sz="3200" b="1" dirty="0"/>
          </a:p>
          <a:p>
            <a:pPr lvl="1"/>
            <a:r>
              <a:rPr lang="bg-BG" sz="3000" b="1" dirty="0"/>
              <a:t>Входната точка</a:t>
            </a:r>
            <a:r>
              <a:rPr lang="bg-BG" sz="3000" dirty="0"/>
              <a:t>, която </a:t>
            </a:r>
            <a:r>
              <a:rPr lang="bg-BG" sz="3000" b="1" dirty="0"/>
              <a:t>представя уеб сайта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Информационни уеб страници</a:t>
            </a:r>
          </a:p>
          <a:p>
            <a:pPr lvl="1"/>
            <a:r>
              <a:rPr lang="bg-BG" sz="3000" dirty="0"/>
              <a:t>Предоставят </a:t>
            </a:r>
            <a:r>
              <a:rPr lang="bg-BG" sz="3000" b="1" dirty="0"/>
              <a:t>подробна информация </a:t>
            </a:r>
            <a:r>
              <a:rPr lang="bg-BG" sz="3000" dirty="0"/>
              <a:t>по </a:t>
            </a:r>
            <a:r>
              <a:rPr lang="bg-BG" sz="3000" b="1" dirty="0"/>
              <a:t>дадена тема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Страници с продукти и</a:t>
            </a:r>
            <a:r>
              <a:rPr lang="en-GB" sz="3200" b="1" dirty="0">
                <a:solidFill>
                  <a:schemeClr val="bg1"/>
                </a:solidFill>
              </a:rPr>
              <a:t>/</a:t>
            </a:r>
            <a:r>
              <a:rPr lang="bg-BG" sz="3200" b="1" dirty="0">
                <a:solidFill>
                  <a:schemeClr val="bg1"/>
                </a:solidFill>
              </a:rPr>
              <a:t>или услуги</a:t>
            </a:r>
          </a:p>
          <a:p>
            <a:pPr lvl="1"/>
            <a:r>
              <a:rPr lang="bg-BG" sz="3000" dirty="0"/>
              <a:t>Предоставят </a:t>
            </a:r>
            <a:r>
              <a:rPr lang="bg-BG" sz="3000" b="1" dirty="0"/>
              <a:t>конкретни предложения</a:t>
            </a:r>
            <a:r>
              <a:rPr lang="bg-BG" sz="3000" dirty="0"/>
              <a:t>, </a:t>
            </a:r>
            <a:r>
              <a:rPr lang="bg-BG" sz="3000" b="1" dirty="0"/>
              <a:t>характеристики</a:t>
            </a:r>
            <a:r>
              <a:rPr lang="bg-BG" sz="3000" dirty="0"/>
              <a:t> и </a:t>
            </a:r>
            <a:r>
              <a:rPr lang="bg-BG" sz="3000" b="1" dirty="0"/>
              <a:t>цени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Контактна</a:t>
            </a:r>
            <a:r>
              <a:rPr lang="bg-BG" sz="3400" b="1" dirty="0">
                <a:solidFill>
                  <a:schemeClr val="bg1"/>
                </a:solidFill>
              </a:rPr>
              <a:t> уеб страница</a:t>
            </a:r>
          </a:p>
          <a:p>
            <a:pPr lvl="1"/>
            <a:r>
              <a:rPr lang="bg-BG" sz="3000" dirty="0"/>
              <a:t>Предоставят </a:t>
            </a:r>
            <a:r>
              <a:rPr lang="bg-BG" sz="3000" b="1" dirty="0"/>
              <a:t>начини за връзка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Видове уеб страници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7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750598" cy="5528766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bg-BG" sz="3600" b="1" dirty="0"/>
              <a:t>Всяка страница </a:t>
            </a:r>
            <a:r>
              <a:rPr lang="bg-BG" sz="3600" dirty="0"/>
              <a:t>има </a:t>
            </a:r>
            <a:r>
              <a:rPr lang="bg-BG" sz="3600" b="1" dirty="0">
                <a:solidFill>
                  <a:schemeClr val="bg1"/>
                </a:solidFill>
              </a:rPr>
              <a:t>уникален уеб адрес </a:t>
            </a:r>
            <a:r>
              <a:rPr lang="bg-BG" sz="3600" b="1" dirty="0"/>
              <a:t>(</a:t>
            </a:r>
            <a:r>
              <a:rPr lang="en-US" sz="3600" b="1" dirty="0"/>
              <a:t>URL)</a:t>
            </a:r>
            <a:endParaRPr lang="bg-BG" sz="3600" b="1" dirty="0"/>
          </a:p>
          <a:p>
            <a:pPr>
              <a:buClr>
                <a:schemeClr val="tx1"/>
              </a:buClr>
            </a:pPr>
            <a:r>
              <a:rPr lang="bg-BG" sz="3600" b="1" dirty="0"/>
              <a:t>Страниците</a:t>
            </a:r>
            <a:r>
              <a:rPr lang="bg-BG" sz="3600" dirty="0"/>
              <a:t> са </a:t>
            </a:r>
            <a:r>
              <a:rPr lang="bg-BG" sz="3600" b="1" dirty="0"/>
              <a:t>свързани</a:t>
            </a:r>
            <a:r>
              <a:rPr lang="bg-BG" sz="3600" dirty="0"/>
              <a:t> чрез </a:t>
            </a:r>
            <a:r>
              <a:rPr lang="bg-BG" sz="3600" b="1" dirty="0">
                <a:solidFill>
                  <a:schemeClr val="bg1"/>
                </a:solidFill>
              </a:rPr>
              <a:t>хипервръзки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Хипервръзка</a:t>
            </a:r>
            <a:r>
              <a:rPr lang="bg-BG" sz="3400" dirty="0"/>
              <a:t> </a:t>
            </a:r>
            <a:r>
              <a:rPr lang="en-US" sz="3400" dirty="0"/>
              <a:t>–</a:t>
            </a:r>
            <a:r>
              <a:rPr lang="bg-BG" sz="3400" dirty="0"/>
              <a:t> </a:t>
            </a:r>
            <a:r>
              <a:rPr lang="bg-BG" sz="3400" b="1" dirty="0"/>
              <a:t>елемент</a:t>
            </a:r>
            <a:r>
              <a:rPr lang="bg-BG" sz="3400" dirty="0"/>
              <a:t>, позволяващ </a:t>
            </a:r>
            <a:r>
              <a:rPr lang="bg-BG" sz="3400" b="1" dirty="0"/>
              <a:t>преминаване</a:t>
            </a:r>
            <a:r>
              <a:rPr lang="bg-BG" sz="3400" dirty="0"/>
              <a:t> към </a:t>
            </a:r>
            <a:r>
              <a:rPr lang="bg-BG" sz="3400" b="1" dirty="0"/>
              <a:t>друга страница</a:t>
            </a:r>
            <a:r>
              <a:rPr lang="bg-BG" sz="3400" dirty="0"/>
              <a:t>, </a:t>
            </a:r>
            <a:r>
              <a:rPr lang="bg-BG" sz="3400" b="1" dirty="0"/>
              <a:t>документ</a:t>
            </a:r>
            <a:r>
              <a:rPr lang="bg-BG" sz="3400" dirty="0"/>
              <a:t>, </a:t>
            </a:r>
            <a:r>
              <a:rPr lang="bg-BG" sz="3400" b="1" dirty="0"/>
              <a:t>част от същата страница </a:t>
            </a:r>
            <a:r>
              <a:rPr lang="bg-BG" sz="3400" dirty="0"/>
              <a:t>или </a:t>
            </a:r>
            <a:r>
              <a:rPr lang="bg-BG" sz="3400" b="1" dirty="0"/>
              <a:t>външен уеб сайт</a:t>
            </a:r>
          </a:p>
          <a:p>
            <a:r>
              <a:rPr lang="bg-BG" sz="3600" b="1" dirty="0"/>
              <a:t>Визията</a:t>
            </a:r>
            <a:r>
              <a:rPr lang="bg-BG" sz="3600" dirty="0"/>
              <a:t> и </a:t>
            </a:r>
            <a:r>
              <a:rPr lang="bg-BG" sz="3600" b="1" dirty="0"/>
              <a:t>структурата</a:t>
            </a:r>
            <a:r>
              <a:rPr lang="bg-BG" sz="3600" dirty="0"/>
              <a:t> на </a:t>
            </a:r>
            <a:r>
              <a:rPr lang="bg-BG" sz="3600" b="1" dirty="0"/>
              <a:t>страниците</a:t>
            </a:r>
            <a:r>
              <a:rPr lang="bg-BG" sz="3600" dirty="0"/>
              <a:t> се определят </a:t>
            </a:r>
            <a:r>
              <a:rPr lang="bg-BG" sz="3600" b="1" dirty="0"/>
              <a:t>по време на </a:t>
            </a:r>
            <a:r>
              <a:rPr lang="bg-BG" sz="3600" b="1" dirty="0">
                <a:solidFill>
                  <a:schemeClr val="bg1"/>
                </a:solidFill>
              </a:rPr>
              <a:t>проектирането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Основни характеристики на уеб страниците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BB6013-705D-772B-AAEC-BD7499EB1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941" y="2184123"/>
            <a:ext cx="3982089" cy="355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9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Адрес и място за съхранение в интернет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Домейн и хостинг услуги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089B8D-CA2E-871F-360F-17F4E9BED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8500" y="1494000"/>
            <a:ext cx="2475000" cy="24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Уникалното име </a:t>
            </a:r>
            <a:r>
              <a:rPr lang="bg-BG" sz="3600" dirty="0"/>
              <a:t>на даден </a:t>
            </a:r>
            <a:r>
              <a:rPr lang="bg-BG" sz="3600" b="1" dirty="0"/>
              <a:t>уеб сайт</a:t>
            </a:r>
            <a:r>
              <a:rPr lang="bg-BG" sz="3600" dirty="0"/>
              <a:t> в </a:t>
            </a:r>
            <a:r>
              <a:rPr lang="bg-BG" sz="3600" b="1" dirty="0"/>
              <a:t>интернет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Насочва</a:t>
            </a:r>
            <a:r>
              <a:rPr lang="bg-BG" sz="3600" dirty="0"/>
              <a:t> към </a:t>
            </a:r>
            <a:r>
              <a:rPr lang="bg-BG" sz="3600" b="1" dirty="0">
                <a:solidFill>
                  <a:schemeClr val="bg1"/>
                </a:solidFill>
              </a:rPr>
              <a:t>сървъра</a:t>
            </a:r>
            <a:r>
              <a:rPr lang="bg-BG" sz="3600" dirty="0"/>
              <a:t>, където е </a:t>
            </a:r>
            <a:r>
              <a:rPr lang="bg-BG" sz="3600" b="1" dirty="0"/>
              <a:t>уеб сайтът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Служи като </a:t>
            </a:r>
            <a:r>
              <a:rPr lang="bg-BG" sz="3600" b="1" dirty="0"/>
              <a:t>лесен за запомняне адрес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Пример</a:t>
            </a:r>
            <a:r>
              <a:rPr lang="en-US" sz="3600" b="1" dirty="0"/>
              <a:t>: </a:t>
            </a:r>
            <a:r>
              <a:rPr lang="bg-BG" sz="3600" dirty="0"/>
              <a:t>В </a:t>
            </a: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mon.bg</a:t>
            </a:r>
            <a:r>
              <a:rPr lang="en-US" sz="3600" dirty="0"/>
              <a:t>, </a:t>
            </a:r>
            <a:r>
              <a:rPr lang="bg-BG" sz="3600" b="1" dirty="0"/>
              <a:t>името</a:t>
            </a:r>
            <a:r>
              <a:rPr lang="bg-BG" sz="3600" dirty="0"/>
              <a:t> е </a:t>
            </a:r>
            <a:r>
              <a:rPr lang="bg-BG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-US" sz="3600" dirty="0"/>
              <a:t>,</a:t>
            </a:r>
            <a:r>
              <a:rPr lang="bg-BG" sz="3600" dirty="0"/>
              <a:t> а </a:t>
            </a:r>
            <a:r>
              <a:rPr lang="bg-BG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600" dirty="0"/>
              <a:t>е </a:t>
            </a:r>
            <a:r>
              <a:rPr lang="bg-BG" sz="3600" b="1" dirty="0"/>
              <a:t>разширението</a:t>
            </a:r>
          </a:p>
          <a:p>
            <a:pPr>
              <a:buClr>
                <a:schemeClr val="tx2"/>
              </a:buClr>
            </a:pPr>
            <a:endParaRPr lang="bg-BG" sz="3600" b="1" dirty="0">
              <a:highlight>
                <a:srgbClr val="FFFF00"/>
              </a:highlight>
            </a:endParaRPr>
          </a:p>
          <a:p>
            <a:pPr>
              <a:buClr>
                <a:schemeClr val="tx2"/>
              </a:buClr>
            </a:pPr>
            <a:endParaRPr lang="bg-BG" sz="3600" b="1" dirty="0">
              <a:highlight>
                <a:srgbClr val="FFFF00"/>
              </a:highlight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Домейн (</a:t>
            </a:r>
            <a:r>
              <a:rPr lang="en-US" dirty="0"/>
              <a:t>Domain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734FC3-E781-12E8-88C5-F296AA12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012" y="4585072"/>
            <a:ext cx="2115002" cy="77210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mon</a:t>
            </a:r>
            <a:r>
              <a:rPr lang="en-GB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.bg</a:t>
            </a:r>
            <a:endParaRPr lang="en-US" sz="36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3" name="Rounded Rectangular Callout 8">
            <a:extLst>
              <a:ext uri="{FF2B5EF4-FFF2-40B4-BE49-F238E27FC236}">
                <a16:creationId xmlns:a16="http://schemas.microsoft.com/office/drawing/2014/main" id="{9E9175EA-2DF4-148E-70A1-A7A942D7195C}"/>
              </a:ext>
            </a:extLst>
          </p:cNvPr>
          <p:cNvSpPr/>
          <p:nvPr/>
        </p:nvSpPr>
        <p:spPr bwMode="auto">
          <a:xfrm>
            <a:off x="4296001" y="5569900"/>
            <a:ext cx="1270599" cy="649100"/>
          </a:xfrm>
          <a:prstGeom prst="wedgeRoundRectCallout">
            <a:avLst>
              <a:gd name="adj1" fmla="val 26106"/>
              <a:gd name="adj2" fmla="val -11057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8">
            <a:extLst>
              <a:ext uri="{FF2B5EF4-FFF2-40B4-BE49-F238E27FC236}">
                <a16:creationId xmlns:a16="http://schemas.microsoft.com/office/drawing/2014/main" id="{CE3177F2-27EF-8AAA-596B-2C2717C1009D}"/>
              </a:ext>
            </a:extLst>
          </p:cNvPr>
          <p:cNvSpPr/>
          <p:nvPr/>
        </p:nvSpPr>
        <p:spPr bwMode="auto">
          <a:xfrm>
            <a:off x="6871256" y="4708079"/>
            <a:ext cx="2430000" cy="649100"/>
          </a:xfrm>
          <a:prstGeom prst="wedgeRoundRectCallout">
            <a:avLst>
              <a:gd name="adj1" fmla="val -73588"/>
              <a:gd name="adj2" fmla="val 102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Разширение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400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Имената</a:t>
            </a:r>
            <a:r>
              <a:rPr lang="bg-BG" sz="3400" dirty="0"/>
              <a:t> на </a:t>
            </a:r>
            <a:r>
              <a:rPr lang="bg-BG" sz="3400" b="1" dirty="0"/>
              <a:t>домейни</a:t>
            </a:r>
            <a:r>
              <a:rPr lang="bg-BG" sz="3400" dirty="0"/>
              <a:t> се състоят от </a:t>
            </a:r>
            <a:r>
              <a:rPr lang="bg-BG" sz="3400" b="1" dirty="0"/>
              <a:t>части</a:t>
            </a:r>
            <a:r>
              <a:rPr lang="bg-BG" sz="3400" dirty="0"/>
              <a:t>, </a:t>
            </a:r>
            <a:r>
              <a:rPr lang="bg-BG" sz="3400" b="1" dirty="0"/>
              <a:t>разделени</a:t>
            </a:r>
            <a:r>
              <a:rPr lang="bg-BG" sz="3400" dirty="0"/>
              <a:t> с </a:t>
            </a:r>
            <a:r>
              <a:rPr lang="bg-BG" sz="3400" b="1" dirty="0">
                <a:solidFill>
                  <a:schemeClr val="bg1"/>
                </a:solidFill>
              </a:rPr>
              <a:t>точки</a:t>
            </a:r>
            <a:endParaRPr lang="en-US" sz="3400" b="1" dirty="0">
              <a:solidFill>
                <a:schemeClr val="bg1"/>
              </a:solidFill>
            </a:endParaRPr>
          </a:p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Домейн от първо ниво </a:t>
            </a:r>
            <a:r>
              <a:rPr lang="bg-BG" sz="3400" b="1" dirty="0"/>
              <a:t>(</a:t>
            </a:r>
            <a:r>
              <a:rPr lang="en-US" sz="3400" b="1" dirty="0"/>
              <a:t>TLD</a:t>
            </a:r>
            <a:r>
              <a:rPr lang="bg-BG" sz="3400" b="1" dirty="0"/>
              <a:t> </a:t>
            </a:r>
            <a:r>
              <a:rPr lang="en-US" sz="3400" b="1" dirty="0"/>
              <a:t>– Top Level Domain</a:t>
            </a:r>
            <a:r>
              <a:rPr lang="bg-BG" sz="3400" b="1" dirty="0"/>
              <a:t>)</a:t>
            </a:r>
          </a:p>
          <a:p>
            <a:pPr lvl="1">
              <a:buClr>
                <a:schemeClr val="tx2"/>
              </a:buClr>
            </a:pPr>
            <a:r>
              <a:rPr lang="bg-BG" sz="3200" b="1" dirty="0"/>
              <a:t>Най-дясната част </a:t>
            </a:r>
            <a:r>
              <a:rPr lang="bg-BG" sz="3200" dirty="0"/>
              <a:t>на </a:t>
            </a:r>
            <a:r>
              <a:rPr lang="bg-BG" sz="3200" b="1" dirty="0"/>
              <a:t>домейна</a:t>
            </a:r>
            <a:r>
              <a:rPr lang="bg-BG" sz="3200" dirty="0"/>
              <a:t>, показваща </a:t>
            </a:r>
            <a:r>
              <a:rPr lang="bg-BG" sz="3200" b="1" dirty="0"/>
              <a:t>типа</a:t>
            </a:r>
            <a:r>
              <a:rPr lang="bg-BG" sz="3200" dirty="0"/>
              <a:t> или </a:t>
            </a:r>
            <a:r>
              <a:rPr lang="bg-BG" sz="3200" b="1" dirty="0"/>
              <a:t>страната</a:t>
            </a:r>
          </a:p>
          <a:p>
            <a:pPr lvl="1">
              <a:buClr>
                <a:schemeClr val="tx2"/>
              </a:buClr>
            </a:pPr>
            <a:r>
              <a:rPr lang="bg-BG" sz="3200" b="1" dirty="0"/>
              <a:t>Пример: </a:t>
            </a:r>
            <a:r>
              <a:rPr lang="bg-BG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com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.org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.net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.bg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.edu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dirty="0"/>
              <a:t>и др.</a:t>
            </a:r>
          </a:p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Домейн от второ ниво </a:t>
            </a:r>
            <a:r>
              <a:rPr lang="bg-BG" sz="3400" b="1" dirty="0"/>
              <a:t>(</a:t>
            </a:r>
            <a:r>
              <a:rPr lang="en-US" sz="3400" b="1" dirty="0"/>
              <a:t>SLD – Second Level Domain)</a:t>
            </a:r>
            <a:endParaRPr lang="bg-BG" sz="3400" b="1" dirty="0"/>
          </a:p>
          <a:p>
            <a:pPr lvl="1">
              <a:buClr>
                <a:schemeClr val="tx2"/>
              </a:buClr>
            </a:pPr>
            <a:r>
              <a:rPr lang="bg-BG" sz="3200" b="1" dirty="0"/>
              <a:t>Основното име</a:t>
            </a:r>
            <a:r>
              <a:rPr lang="bg-BG" sz="3200" dirty="0"/>
              <a:t>, което потребителят избира</a:t>
            </a:r>
          </a:p>
          <a:p>
            <a:pPr lvl="1">
              <a:buClr>
                <a:schemeClr val="tx2"/>
              </a:buClr>
            </a:pPr>
            <a:r>
              <a:rPr lang="bg-BG" sz="3200" b="1" dirty="0"/>
              <a:t>Пример: </a:t>
            </a:r>
            <a:r>
              <a:rPr lang="bg-BG" sz="3200" dirty="0"/>
              <a:t>В </a:t>
            </a:r>
            <a:r>
              <a:rPr lang="bg-BG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oogle.com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google</a:t>
            </a:r>
            <a:r>
              <a:rPr lang="en-US" sz="3200" dirty="0"/>
              <a:t> </a:t>
            </a:r>
            <a:r>
              <a:rPr lang="bg-BG" sz="3200" dirty="0"/>
              <a:t>е </a:t>
            </a:r>
            <a:r>
              <a:rPr lang="bg-BG" sz="3200" b="1" dirty="0"/>
              <a:t>домейна от второ ниво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Нива на домейните </a:t>
            </a:r>
            <a:r>
              <a:rPr lang="en-US" dirty="0"/>
              <a:t>(Domain Levels) (1)</a:t>
            </a:r>
          </a:p>
        </p:txBody>
      </p:sp>
    </p:spTree>
    <p:extLst>
      <p:ext uri="{BB962C8B-B14F-4D97-AF65-F5344CB8AC3E}">
        <p14:creationId xmlns:p14="http://schemas.microsoft.com/office/powerpoint/2010/main" val="414292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Домейн от трето ниво </a:t>
            </a:r>
            <a:r>
              <a:rPr lang="bg-BG" sz="3400" b="1" dirty="0"/>
              <a:t>(</a:t>
            </a:r>
            <a:r>
              <a:rPr lang="en-US" sz="3400" b="1" dirty="0"/>
              <a:t>Subdomain</a:t>
            </a:r>
            <a:r>
              <a:rPr lang="bg-BG" sz="3400" b="1" dirty="0"/>
              <a:t>)</a:t>
            </a:r>
            <a:endParaRPr lang="en-US" sz="3400" b="1" dirty="0"/>
          </a:p>
          <a:p>
            <a:pPr lvl="1">
              <a:buClr>
                <a:schemeClr val="tx2"/>
              </a:buClr>
            </a:pPr>
            <a:r>
              <a:rPr lang="bg-BG" sz="3200" b="1" dirty="0"/>
              <a:t>Частта</a:t>
            </a:r>
            <a:r>
              <a:rPr lang="bg-BG" sz="3200" dirty="0"/>
              <a:t> </a:t>
            </a:r>
            <a:r>
              <a:rPr lang="bg-BG" sz="3200" b="1" dirty="0"/>
              <a:t>пред основния домейн</a:t>
            </a:r>
            <a:r>
              <a:rPr lang="bg-BG" sz="3200" dirty="0"/>
              <a:t>, използвана за </a:t>
            </a:r>
            <a:r>
              <a:rPr lang="bg-BG" sz="3200" b="1" dirty="0"/>
              <a:t>разделяне на съдържание</a:t>
            </a:r>
          </a:p>
          <a:p>
            <a:pPr lvl="1">
              <a:buClr>
                <a:schemeClr val="tx2"/>
              </a:buClr>
            </a:pPr>
            <a:r>
              <a:rPr lang="bg-BG" sz="3200" b="1" dirty="0"/>
              <a:t>Пример: </a:t>
            </a:r>
            <a:r>
              <a:rPr lang="bg-BG" sz="3200" dirty="0"/>
              <a:t>В 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bg.wikipedia.org</a:t>
            </a:r>
            <a:r>
              <a:rPr lang="bg-BG" sz="3200" dirty="0"/>
              <a:t>, </a:t>
            </a:r>
            <a:r>
              <a:rPr lang="bg-BG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/>
              <a:t>e </a:t>
            </a:r>
            <a:r>
              <a:rPr lang="bg-BG" sz="3200" b="1" dirty="0"/>
              <a:t>домейна от трето ниво</a:t>
            </a:r>
            <a:endParaRPr lang="en-US" sz="3200" b="1" dirty="0">
              <a:highlight>
                <a:srgbClr val="FFFF00"/>
              </a:highlight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Нива на домейните </a:t>
            </a:r>
            <a:r>
              <a:rPr lang="en-US" dirty="0"/>
              <a:t>(Domain Levels)</a:t>
            </a:r>
            <a:r>
              <a:rPr lang="bg-BG" dirty="0"/>
              <a:t> (2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161C9-7343-0887-6588-16E7DA9A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00" y="4194000"/>
            <a:ext cx="4500000" cy="77210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GB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bg.wikipedia.org</a:t>
            </a:r>
            <a:endParaRPr lang="en-US" sz="36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3" name="Rounded Rectangular Callout 8">
            <a:extLst>
              <a:ext uri="{FF2B5EF4-FFF2-40B4-BE49-F238E27FC236}">
                <a16:creationId xmlns:a16="http://schemas.microsoft.com/office/drawing/2014/main" id="{64850ECD-8F21-DE9D-B14D-5AEA5C8D5A31}"/>
              </a:ext>
            </a:extLst>
          </p:cNvPr>
          <p:cNvSpPr/>
          <p:nvPr/>
        </p:nvSpPr>
        <p:spPr bwMode="auto">
          <a:xfrm>
            <a:off x="8239418" y="5462420"/>
            <a:ext cx="2970000" cy="649100"/>
          </a:xfrm>
          <a:prstGeom prst="wedgeRoundRectCallout">
            <a:avLst>
              <a:gd name="adj1" fmla="val -72951"/>
              <a:gd name="adj2" fmla="val -15448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Първо ниво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TLD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8">
            <a:extLst>
              <a:ext uri="{FF2B5EF4-FFF2-40B4-BE49-F238E27FC236}">
                <a16:creationId xmlns:a16="http://schemas.microsoft.com/office/drawing/2014/main" id="{2E39709D-7650-A141-8A8C-552DD218F6EF}"/>
              </a:ext>
            </a:extLst>
          </p:cNvPr>
          <p:cNvSpPr/>
          <p:nvPr/>
        </p:nvSpPr>
        <p:spPr bwMode="auto">
          <a:xfrm>
            <a:off x="4997612" y="5460149"/>
            <a:ext cx="2970000" cy="649100"/>
          </a:xfrm>
          <a:prstGeom prst="wedgeRoundRectCallout">
            <a:avLst>
              <a:gd name="adj1" fmla="val -16573"/>
              <a:gd name="adj2" fmla="val -1563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Второ ниво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SLD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889BCB42-5078-41FD-6E89-A0BFD69CFB89}"/>
              </a:ext>
            </a:extLst>
          </p:cNvPr>
          <p:cNvSpPr/>
          <p:nvPr/>
        </p:nvSpPr>
        <p:spPr bwMode="auto">
          <a:xfrm>
            <a:off x="570609" y="5460149"/>
            <a:ext cx="4155197" cy="649100"/>
          </a:xfrm>
          <a:prstGeom prst="wedgeRoundRectCallout">
            <a:avLst>
              <a:gd name="adj1" fmla="val 37321"/>
              <a:gd name="adj2" fmla="val -1508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Трето ниво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(поддомейн)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79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50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b="1" dirty="0"/>
              <a:t>Услуга</a:t>
            </a:r>
            <a:r>
              <a:rPr lang="bg-BG" sz="3600" dirty="0"/>
              <a:t>, осигуряваща </a:t>
            </a:r>
            <a:r>
              <a:rPr lang="bg-BG" sz="3600" b="1" dirty="0">
                <a:solidFill>
                  <a:schemeClr val="bg1"/>
                </a:solidFill>
              </a:rPr>
              <a:t>сървърно пространство </a:t>
            </a:r>
            <a:r>
              <a:rPr lang="bg-BG" sz="3600" dirty="0"/>
              <a:t>за </a:t>
            </a:r>
            <a:r>
              <a:rPr lang="bg-BG" sz="3600" b="1" dirty="0"/>
              <a:t>съхранение на файловете</a:t>
            </a:r>
            <a:r>
              <a:rPr lang="bg-BG" sz="3600" dirty="0"/>
              <a:t> на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Позволява </a:t>
            </a:r>
            <a:r>
              <a:rPr lang="bg-BG" sz="3600" b="1" dirty="0"/>
              <a:t>уеб сайтът </a:t>
            </a:r>
            <a:r>
              <a:rPr lang="bg-BG" sz="3600" dirty="0"/>
              <a:t>да бъде </a:t>
            </a:r>
            <a:r>
              <a:rPr lang="bg-BG" sz="3600" b="1" dirty="0">
                <a:solidFill>
                  <a:schemeClr val="bg1"/>
                </a:solidFill>
              </a:rPr>
              <a:t>достъпен</a:t>
            </a:r>
            <a:r>
              <a:rPr lang="bg-BG" sz="3600" dirty="0"/>
              <a:t> в </a:t>
            </a:r>
            <a:r>
              <a:rPr lang="bg-BG" sz="3600" b="1" dirty="0"/>
              <a:t>интернет</a:t>
            </a:r>
            <a:r>
              <a:rPr lang="bg-BG" sz="3600" dirty="0"/>
              <a:t> по </a:t>
            </a:r>
            <a:r>
              <a:rPr lang="bg-BG" sz="3600" b="1" dirty="0"/>
              <a:t>всяко време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Всеки </a:t>
            </a:r>
            <a:r>
              <a:rPr lang="bg-BG" sz="3600" b="1" dirty="0"/>
              <a:t>уеб сайт </a:t>
            </a:r>
            <a:r>
              <a:rPr lang="bg-BG" sz="3600" dirty="0"/>
              <a:t>се нуждае от </a:t>
            </a:r>
            <a:r>
              <a:rPr lang="bg-BG" sz="3600" b="1" dirty="0"/>
              <a:t>домейн</a:t>
            </a:r>
            <a:r>
              <a:rPr lang="bg-BG" sz="3600" dirty="0"/>
              <a:t> и </a:t>
            </a:r>
            <a:r>
              <a:rPr lang="bg-BG" sz="3600" b="1" dirty="0"/>
              <a:t>хостинг</a:t>
            </a:r>
            <a:r>
              <a:rPr lang="bg-BG" sz="3600" dirty="0"/>
              <a:t>, за да </a:t>
            </a:r>
            <a:r>
              <a:rPr lang="bg-BG" sz="3600" b="1" dirty="0">
                <a:solidFill>
                  <a:schemeClr val="bg1"/>
                </a:solidFill>
              </a:rPr>
              <a:t>функционира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Хостинг (</a:t>
            </a:r>
            <a:r>
              <a:rPr lang="en-US" dirty="0"/>
              <a:t>Hosting</a:t>
            </a:r>
            <a:r>
              <a:rPr lang="bg-BG" dirty="0"/>
              <a:t>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ACF9C-5ECA-7F57-B347-F3C1CD135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276" y="1449000"/>
            <a:ext cx="3987478" cy="477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4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Споделен хостинг </a:t>
            </a:r>
            <a:r>
              <a:rPr lang="bg-BG" sz="3000" b="1" dirty="0"/>
              <a:t>(</a:t>
            </a:r>
            <a:r>
              <a:rPr lang="en-US" sz="3000" b="1" dirty="0"/>
              <a:t>Shared Hosting</a:t>
            </a:r>
            <a:r>
              <a:rPr lang="bg-BG" sz="3000" b="1" dirty="0"/>
              <a:t>)</a:t>
            </a:r>
            <a:r>
              <a:rPr lang="en-US" sz="3000" b="1" dirty="0"/>
              <a:t> </a:t>
            </a:r>
          </a:p>
          <a:p>
            <a:pPr lvl="1">
              <a:buClr>
                <a:schemeClr val="tx2"/>
              </a:buClr>
            </a:pPr>
            <a:r>
              <a:rPr lang="bg-BG" sz="2800" b="1" dirty="0"/>
              <a:t>Няколко уеб сайта </a:t>
            </a:r>
            <a:r>
              <a:rPr lang="bg-BG" sz="2800" dirty="0"/>
              <a:t>използват </a:t>
            </a:r>
            <a:r>
              <a:rPr lang="bg-BG" sz="2800" b="1" dirty="0"/>
              <a:t>един и същ сървър</a:t>
            </a:r>
            <a:r>
              <a:rPr lang="bg-BG" sz="2800" dirty="0"/>
              <a:t> (по-евтин, но по-бавен)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Виртуален частен сървър </a:t>
            </a:r>
            <a:r>
              <a:rPr lang="en-US" sz="3000" b="1" dirty="0"/>
              <a:t>(VPS Hosting)</a:t>
            </a:r>
          </a:p>
          <a:p>
            <a:pPr lvl="1">
              <a:buClr>
                <a:schemeClr val="tx2"/>
              </a:buClr>
            </a:pPr>
            <a:r>
              <a:rPr lang="bg-BG" sz="2800" b="1" dirty="0"/>
              <a:t>Сървърът</a:t>
            </a:r>
            <a:r>
              <a:rPr lang="bg-BG" sz="2800" dirty="0"/>
              <a:t> е </a:t>
            </a:r>
            <a:r>
              <a:rPr lang="bg-BG" sz="2800" b="1" dirty="0"/>
              <a:t>разделен</a:t>
            </a:r>
            <a:r>
              <a:rPr lang="bg-BG" sz="2800" dirty="0"/>
              <a:t> на </a:t>
            </a:r>
            <a:r>
              <a:rPr lang="bg-BG" sz="2800" b="1" dirty="0"/>
              <a:t>отделни части</a:t>
            </a:r>
            <a:r>
              <a:rPr lang="bg-BG" sz="2800" dirty="0"/>
              <a:t>, всяка със </a:t>
            </a:r>
            <a:r>
              <a:rPr lang="bg-BG" sz="2800" b="1" dirty="0"/>
              <a:t>собствени ресурси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Специализиран хостинг </a:t>
            </a:r>
            <a:r>
              <a:rPr lang="bg-BG" sz="3000" b="1" dirty="0"/>
              <a:t>(</a:t>
            </a:r>
            <a:r>
              <a:rPr lang="en-US" sz="3000" b="1" dirty="0"/>
              <a:t>Dedicated Hosting)</a:t>
            </a:r>
          </a:p>
          <a:p>
            <a:pPr lvl="1">
              <a:buClr>
                <a:schemeClr val="tx2"/>
              </a:buClr>
            </a:pPr>
            <a:r>
              <a:rPr lang="bg-BG" sz="2800" b="1" dirty="0"/>
              <a:t>Цял сървър </a:t>
            </a:r>
            <a:r>
              <a:rPr lang="bg-BG" sz="2800" dirty="0"/>
              <a:t>е </a:t>
            </a:r>
            <a:r>
              <a:rPr lang="bg-BG" sz="2800" b="1" dirty="0"/>
              <a:t>само за един уеб сайт </a:t>
            </a:r>
            <a:r>
              <a:rPr lang="en-US" sz="2800" dirty="0"/>
              <a:t>(</a:t>
            </a:r>
            <a:r>
              <a:rPr lang="bg-BG" sz="2800" dirty="0"/>
              <a:t>висока скорост и сигурност</a:t>
            </a:r>
            <a:r>
              <a:rPr lang="en-US" sz="2800" dirty="0"/>
              <a:t>)</a:t>
            </a:r>
            <a:endParaRPr lang="bg-BG" sz="2800" dirty="0"/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Имейл хостинг </a:t>
            </a:r>
            <a:r>
              <a:rPr lang="bg-BG" sz="3000" b="1" dirty="0"/>
              <a:t>(</a:t>
            </a:r>
            <a:r>
              <a:rPr lang="en-US" sz="3000" b="1" dirty="0"/>
              <a:t>E-mail Hosting</a:t>
            </a:r>
            <a:r>
              <a:rPr lang="bg-BG" sz="3000" b="1" dirty="0"/>
              <a:t>)</a:t>
            </a:r>
            <a:endParaRPr lang="en-US" sz="3000" b="1" dirty="0"/>
          </a:p>
          <a:p>
            <a:pPr lvl="1">
              <a:buClr>
                <a:schemeClr val="tx2"/>
              </a:buClr>
            </a:pPr>
            <a:r>
              <a:rPr lang="bg-BG" sz="2800" dirty="0"/>
              <a:t>Предоставя </a:t>
            </a:r>
            <a:r>
              <a:rPr lang="bg-BG" sz="2800" b="1" dirty="0"/>
              <a:t>място</a:t>
            </a:r>
            <a:r>
              <a:rPr lang="bg-BG" sz="2800" dirty="0"/>
              <a:t> за </a:t>
            </a:r>
            <a:r>
              <a:rPr lang="bg-BG" sz="2800" b="1" dirty="0"/>
              <a:t>фирмени пощенски кутии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Файлов хостинг </a:t>
            </a:r>
            <a:r>
              <a:rPr lang="en-US" sz="3000" b="1" dirty="0"/>
              <a:t>(File Hosting)</a:t>
            </a:r>
          </a:p>
          <a:p>
            <a:pPr lvl="1">
              <a:buClr>
                <a:schemeClr val="tx2"/>
              </a:buClr>
            </a:pPr>
            <a:r>
              <a:rPr lang="bg-BG" sz="2800" b="1" dirty="0"/>
              <a:t>Съхранява</a:t>
            </a:r>
            <a:r>
              <a:rPr lang="bg-BG" sz="2800" dirty="0"/>
              <a:t> и </a:t>
            </a:r>
            <a:r>
              <a:rPr lang="bg-BG" sz="2800" b="1" dirty="0"/>
              <a:t>споделя</a:t>
            </a:r>
            <a:r>
              <a:rPr lang="bg-BG" sz="2800" dirty="0"/>
              <a:t> </a:t>
            </a:r>
            <a:r>
              <a:rPr lang="bg-BG" sz="2800" b="1" dirty="0"/>
              <a:t>файлове онлайн </a:t>
            </a:r>
            <a:r>
              <a:rPr lang="bg-BG" sz="2800" dirty="0"/>
              <a:t>(документи, снимки и т.н.)</a:t>
            </a:r>
            <a:endParaRPr lang="ru-RU" sz="28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Видове хостинг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8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Скорост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Колко </a:t>
            </a:r>
            <a:r>
              <a:rPr lang="bg-BG" sz="3000" b="1" dirty="0"/>
              <a:t>бързо</a:t>
            </a:r>
            <a:r>
              <a:rPr lang="bg-BG" sz="3000" dirty="0"/>
              <a:t> </a:t>
            </a:r>
            <a:r>
              <a:rPr lang="bg-BG" sz="3000" b="1" dirty="0"/>
              <a:t>зареждат страниците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Свързаност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Колко е </a:t>
            </a:r>
            <a:r>
              <a:rPr lang="bg-BG" sz="3000" b="1" dirty="0"/>
              <a:t>стабилна</a:t>
            </a:r>
            <a:r>
              <a:rPr lang="bg-BG" sz="3000" dirty="0"/>
              <a:t> </a:t>
            </a:r>
            <a:r>
              <a:rPr lang="bg-BG" sz="3000" b="1" dirty="0"/>
              <a:t>връзката</a:t>
            </a:r>
            <a:r>
              <a:rPr lang="bg-BG" sz="3000" dirty="0"/>
              <a:t> със </a:t>
            </a:r>
            <a:r>
              <a:rPr lang="bg-BG" sz="3000" b="1" dirty="0"/>
              <a:t>сървъра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Съхранение на данни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Колко </a:t>
            </a:r>
            <a:r>
              <a:rPr lang="bg-BG" sz="3000" b="1" dirty="0"/>
              <a:t>място</a:t>
            </a:r>
            <a:r>
              <a:rPr lang="bg-BG" sz="3000" dirty="0"/>
              <a:t> е достъпно за </a:t>
            </a:r>
            <a:r>
              <a:rPr lang="bg-BG" sz="3000" b="1" dirty="0"/>
              <a:t>данни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Скалируемост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Възможност</a:t>
            </a:r>
            <a:r>
              <a:rPr lang="bg-BG" sz="3000" dirty="0"/>
              <a:t> за </a:t>
            </a:r>
            <a:r>
              <a:rPr lang="bg-BG" sz="3000" b="1" dirty="0"/>
              <a:t>разширяване</a:t>
            </a:r>
            <a:r>
              <a:rPr lang="bg-BG" sz="3000" dirty="0"/>
              <a:t> при нужда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Контролен панел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Инструмент</a:t>
            </a:r>
            <a:r>
              <a:rPr lang="bg-BG" sz="3000" dirty="0"/>
              <a:t> за </a:t>
            </a:r>
            <a:r>
              <a:rPr lang="bg-BG" sz="3000" b="1" dirty="0"/>
              <a:t>управление</a:t>
            </a:r>
            <a:r>
              <a:rPr lang="bg-BG" sz="3000" dirty="0"/>
              <a:t> на </a:t>
            </a:r>
            <a:r>
              <a:rPr lang="bg-BG" sz="3000" b="1" dirty="0"/>
              <a:t>настройките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Поддръжка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Помощ</a:t>
            </a:r>
            <a:r>
              <a:rPr lang="bg-BG" sz="3000" dirty="0"/>
              <a:t> от </a:t>
            </a:r>
            <a:r>
              <a:rPr lang="bg-BG" sz="3000" b="1" dirty="0"/>
              <a:t>хостинг компанията </a:t>
            </a:r>
            <a:r>
              <a:rPr lang="bg-BG" sz="3000" dirty="0"/>
              <a:t>при </a:t>
            </a:r>
            <a:r>
              <a:rPr lang="bg-BG" sz="3000" b="1" dirty="0"/>
              <a:t>проблеми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Основни характеристики на хостинга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6F514-A432-F264-F656-4871ED1B93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0" t="33596" r="21786" b="32283"/>
          <a:stretch/>
        </p:blipFill>
        <p:spPr>
          <a:xfrm>
            <a:off x="6742134" y="2371570"/>
            <a:ext cx="5194603" cy="31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2C971-7FD4-9A24-DEA3-AEE55894B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1B438B-7CF3-6FB0-8177-88433530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Контролен панел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EDCC3-A2CA-E778-B225-CA689BE5B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03" y="1263674"/>
            <a:ext cx="9685594" cy="54907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977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2DDE11-8846-0004-8599-4D45D65AC3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3600" b="1" dirty="0">
                <a:solidFill>
                  <a:schemeClr val="bg1"/>
                </a:solidFill>
              </a:rPr>
              <a:t>Хостинг</a:t>
            </a:r>
            <a:r>
              <a:rPr lang="bg-BG" sz="3600" dirty="0"/>
              <a:t> </a:t>
            </a:r>
            <a:r>
              <a:rPr lang="en-US" sz="3600" dirty="0"/>
              <a:t>==</a:t>
            </a:r>
            <a:r>
              <a:rPr lang="bg-BG" sz="3600" dirty="0"/>
              <a:t> </a:t>
            </a:r>
            <a:r>
              <a:rPr lang="bg-BG" sz="3600" b="1" dirty="0"/>
              <a:t>мястото</a:t>
            </a:r>
            <a:r>
              <a:rPr lang="bg-BG" sz="3600" dirty="0"/>
              <a:t>, където се намират </a:t>
            </a:r>
            <a:r>
              <a:rPr lang="bg-BG" sz="3600" b="1" dirty="0"/>
              <a:t>файловете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  <a:endParaRPr lang="en-BG" b="1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Домейн</a:t>
            </a:r>
            <a:r>
              <a:rPr lang="bg-BG" sz="3200" dirty="0"/>
              <a:t> </a:t>
            </a:r>
            <a:r>
              <a:rPr lang="en-US" sz="3600" dirty="0"/>
              <a:t>==</a:t>
            </a:r>
            <a:r>
              <a:rPr lang="bg-BG" sz="3600" dirty="0"/>
              <a:t> </a:t>
            </a:r>
            <a:r>
              <a:rPr lang="bg-BG" sz="3600" b="1" dirty="0"/>
              <a:t>името</a:t>
            </a:r>
            <a:r>
              <a:rPr lang="bg-BG" sz="3600" dirty="0"/>
              <a:t>, което </a:t>
            </a:r>
            <a:r>
              <a:rPr lang="bg-BG" sz="3600" b="1" dirty="0"/>
              <a:t>потребителят въвежда</a:t>
            </a:r>
            <a:r>
              <a:rPr lang="en-GB" sz="3600" b="1" dirty="0"/>
              <a:t> </a:t>
            </a:r>
            <a:r>
              <a:rPr lang="bg-BG" sz="3600" dirty="0"/>
              <a:t>в търсачката</a:t>
            </a:r>
            <a:endParaRPr lang="bg-BG" sz="32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Връзка между домейн и хостинг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ADCDE-848B-C4F0-2FD7-4348EF4B4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00" y="3204000"/>
            <a:ext cx="4455000" cy="25477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6AA423-3981-354B-A5D7-356C505E0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798" y="3077367"/>
            <a:ext cx="4140000" cy="280096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047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800" dirty="0"/>
              <a:t>IP </a:t>
            </a:r>
            <a:r>
              <a:rPr lang="bg-BG" sz="4800" dirty="0"/>
              <a:t>адрес, </a:t>
            </a:r>
            <a:r>
              <a:rPr lang="en-US" sz="4800" dirty="0"/>
              <a:t>DNS, URL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Интернет адресиране</a:t>
            </a:r>
            <a:endParaRPr lang="en-US" sz="60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1DB4079-60C0-230D-5A0B-54468A484F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258" t="27559" r="13664" b="22572"/>
          <a:stretch/>
        </p:blipFill>
        <p:spPr>
          <a:xfrm>
            <a:off x="5061000" y="1224000"/>
            <a:ext cx="2070000" cy="29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600" b="1" dirty="0">
                <a:solidFill>
                  <a:schemeClr val="bg1"/>
                </a:solidFill>
              </a:rPr>
              <a:t>Уникален идентификатор </a:t>
            </a:r>
            <a:r>
              <a:rPr lang="bg-BG" sz="3600" dirty="0"/>
              <a:t>на </a:t>
            </a:r>
            <a:r>
              <a:rPr lang="bg-BG" sz="3600" b="1" dirty="0"/>
              <a:t>всяко устройство</a:t>
            </a:r>
            <a:r>
              <a:rPr lang="bg-BG" sz="3600" dirty="0"/>
              <a:t>, свързано към </a:t>
            </a:r>
            <a:r>
              <a:rPr lang="bg-BG" sz="3600" b="1" dirty="0"/>
              <a:t>интернет</a:t>
            </a:r>
          </a:p>
          <a:p>
            <a:r>
              <a:rPr lang="bg-BG" sz="3600" dirty="0"/>
              <a:t>Намира </a:t>
            </a:r>
            <a:r>
              <a:rPr lang="bg-BG" sz="3600" b="1" dirty="0"/>
              <a:t>конкретния </a:t>
            </a:r>
            <a:r>
              <a:rPr lang="bg-BG" sz="3600" b="1" dirty="0">
                <a:solidFill>
                  <a:schemeClr val="bg1"/>
                </a:solidFill>
              </a:rPr>
              <a:t>сървър</a:t>
            </a:r>
            <a:r>
              <a:rPr lang="bg-BG" sz="3600" dirty="0"/>
              <a:t>, на който е даден </a:t>
            </a:r>
            <a:r>
              <a:rPr lang="bg-BG" sz="3600" b="1" dirty="0"/>
              <a:t>уеб сайт</a:t>
            </a:r>
            <a:endParaRPr lang="en-US" sz="3600" b="1" dirty="0"/>
          </a:p>
          <a:p>
            <a:r>
              <a:rPr lang="bg-BG" sz="3600" b="1" dirty="0"/>
              <a:t>Пример:</a:t>
            </a:r>
            <a:endParaRPr lang="bg-BG" sz="3600" b="1" dirty="0">
              <a:highlight>
                <a:srgbClr val="FFFF00"/>
              </a:highlight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IP </a:t>
            </a:r>
            <a:r>
              <a:rPr lang="bg-BG" dirty="0"/>
              <a:t>адрес (</a:t>
            </a:r>
            <a:r>
              <a:rPr lang="en-US" dirty="0"/>
              <a:t>Internet Protocol Address)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7A0EDC-E251-C92B-6BEA-D20E969FE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00" y="4419000"/>
            <a:ext cx="3600000" cy="7105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3200" b="1" noProof="1">
                <a:latin typeface="Consolas" pitchFamily="49" charset="0"/>
                <a:cs typeface="Consolas" pitchFamily="49" charset="0"/>
                <a:hlinkClick r:id="rId3"/>
              </a:rPr>
              <a:t>www.google.com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F434B-FE20-73C3-3F08-B779959DD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00" y="4419001"/>
            <a:ext cx="3456251" cy="7105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BG" sz="3200" b="1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142.250.186.78</a:t>
            </a:r>
            <a:endParaRPr lang="en-US" sz="32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5" name="Arrow: Right 10">
            <a:extLst>
              <a:ext uri="{FF2B5EF4-FFF2-40B4-BE49-F238E27FC236}">
                <a16:creationId xmlns:a16="http://schemas.microsoft.com/office/drawing/2014/main" id="{F30F77E6-665A-20C0-3C4D-DA0B089955AB}"/>
              </a:ext>
            </a:extLst>
          </p:cNvPr>
          <p:cNvSpPr/>
          <p:nvPr/>
        </p:nvSpPr>
        <p:spPr>
          <a:xfrm>
            <a:off x="5313502" y="4284000"/>
            <a:ext cx="1095571" cy="9257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12921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IPv4</a:t>
            </a:r>
          </a:p>
          <a:p>
            <a:pPr lvl="1"/>
            <a:r>
              <a:rPr lang="bg-BG" sz="3400" dirty="0"/>
              <a:t>Използва </a:t>
            </a:r>
            <a:r>
              <a:rPr lang="bg-BG" sz="3400" b="1" dirty="0"/>
              <a:t>числа</a:t>
            </a:r>
            <a:r>
              <a:rPr lang="bg-BG" sz="3400" dirty="0"/>
              <a:t> от </a:t>
            </a:r>
            <a:r>
              <a:rPr lang="bg-BG" sz="3400" b="1" dirty="0"/>
              <a:t>0</a:t>
            </a:r>
            <a:r>
              <a:rPr lang="bg-BG" sz="3400" dirty="0"/>
              <a:t> до </a:t>
            </a:r>
            <a:r>
              <a:rPr lang="bg-BG" sz="3400" b="1" dirty="0"/>
              <a:t>255</a:t>
            </a:r>
            <a:r>
              <a:rPr lang="bg-BG" sz="3400" dirty="0"/>
              <a:t>, </a:t>
            </a:r>
            <a:r>
              <a:rPr lang="bg-BG" sz="3400" b="1" dirty="0"/>
              <a:t>разделени с точки</a:t>
            </a:r>
          </a:p>
          <a:p>
            <a:pPr lvl="1"/>
            <a:r>
              <a:rPr lang="bg-BG" sz="3400" b="1" dirty="0"/>
              <a:t>Най-разпространен</a:t>
            </a:r>
            <a:r>
              <a:rPr lang="bg-BG" sz="3400" dirty="0"/>
              <a:t>, но с </a:t>
            </a:r>
            <a:r>
              <a:rPr lang="bg-BG" sz="3400" b="1" dirty="0"/>
              <a:t>ограничен брой адреси</a:t>
            </a:r>
          </a:p>
          <a:p>
            <a:pPr lvl="1"/>
            <a:r>
              <a:rPr lang="bg-BG" sz="3400" b="1" dirty="0"/>
              <a:t>Пример: </a:t>
            </a:r>
            <a:r>
              <a:rPr lang="en-BG" sz="3600" dirty="0">
                <a:latin typeface="Consolas" panose="020B0609020204030204" pitchFamily="49" charset="0"/>
                <a:cs typeface="Consolas" panose="020B0609020204030204" pitchFamily="49" charset="0"/>
              </a:rPr>
              <a:t>192.168.0.10</a:t>
            </a:r>
            <a:endParaRPr lang="bg-BG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Pv6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осем групи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от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числа и букви </a:t>
            </a:r>
            <a:endParaRPr lang="en-US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Поддържа много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повече устройства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и е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бъдещия стандарт</a:t>
            </a:r>
          </a:p>
          <a:p>
            <a:pPr lvl="1"/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Пример: </a:t>
            </a:r>
            <a:r>
              <a:rPr lang="en-GB" sz="3400" dirty="0">
                <a:latin typeface="Consolas" panose="020B0609020204030204" pitchFamily="49" charset="0"/>
                <a:cs typeface="Consolas" panose="020B0609020204030204" pitchFamily="49" charset="0"/>
              </a:rPr>
              <a:t>2001:0db8:85a3:0000:0000:8a2e:0370:7334</a:t>
            </a:r>
            <a:endParaRPr lang="bg-BG" sz="3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Видове </a:t>
            </a:r>
            <a:r>
              <a:rPr lang="en-US" dirty="0"/>
              <a:t>IP </a:t>
            </a:r>
            <a:r>
              <a:rPr lang="bg-BG" dirty="0"/>
              <a:t>адреси</a:t>
            </a:r>
            <a:r>
              <a:rPr lang="en-US" dirty="0"/>
              <a:t> </a:t>
            </a:r>
            <a:r>
              <a:rPr lang="bg-BG" dirty="0"/>
              <a:t>според версията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Система</a:t>
            </a:r>
            <a:r>
              <a:rPr lang="bg-BG" sz="3600" dirty="0"/>
              <a:t> за </a:t>
            </a:r>
            <a:r>
              <a:rPr lang="bg-BG" sz="3600" b="1" dirty="0"/>
              <a:t>имена</a:t>
            </a:r>
            <a:r>
              <a:rPr lang="bg-BG" sz="3600" dirty="0"/>
              <a:t> на </a:t>
            </a:r>
            <a:r>
              <a:rPr lang="bg-BG" sz="3600" b="1" dirty="0"/>
              <a:t>домейни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Превежда</a:t>
            </a:r>
            <a:r>
              <a:rPr lang="bg-BG" sz="3600" dirty="0"/>
              <a:t> </a:t>
            </a:r>
            <a:r>
              <a:rPr lang="bg-BG" sz="3600" b="1" dirty="0"/>
              <a:t>домейн имената </a:t>
            </a:r>
            <a:r>
              <a:rPr lang="bg-BG" sz="3600" dirty="0"/>
              <a:t>в </a:t>
            </a:r>
            <a:r>
              <a:rPr lang="en-US" sz="3600" b="1" dirty="0"/>
              <a:t>IP</a:t>
            </a:r>
            <a:r>
              <a:rPr lang="bg-BG" sz="3600" b="1" dirty="0"/>
              <a:t> адреси</a:t>
            </a:r>
          </a:p>
          <a:p>
            <a:r>
              <a:rPr lang="bg-BG" sz="3600" dirty="0"/>
              <a:t>Позволява</a:t>
            </a:r>
            <a:r>
              <a:rPr lang="en-US" sz="3600" dirty="0"/>
              <a:t> </a:t>
            </a:r>
            <a:r>
              <a:rPr lang="bg-BG" sz="3600" dirty="0"/>
              <a:t>въвеждане на </a:t>
            </a:r>
            <a:r>
              <a:rPr lang="bg-BG" sz="3600" b="1" dirty="0"/>
              <a:t>лесни за запомняне имена вместо числа</a:t>
            </a:r>
            <a:endParaRPr lang="en-US" sz="3600" b="1" dirty="0"/>
          </a:p>
          <a:p>
            <a:r>
              <a:rPr lang="bg-BG" sz="3600" b="1" dirty="0"/>
              <a:t>Съответствието</a:t>
            </a:r>
            <a:r>
              <a:rPr lang="bg-BG" sz="3600" dirty="0"/>
              <a:t> на </a:t>
            </a:r>
            <a:r>
              <a:rPr lang="bg-BG" sz="3600" b="1" dirty="0"/>
              <a:t>I</a:t>
            </a:r>
            <a:r>
              <a:rPr lang="en-US" sz="3600" b="1" dirty="0"/>
              <a:t>P</a:t>
            </a:r>
            <a:r>
              <a:rPr lang="bg-BG" sz="3600" b="1" dirty="0"/>
              <a:t> адрес </a:t>
            </a:r>
            <a:r>
              <a:rPr lang="bg-BG" sz="3600" dirty="0"/>
              <a:t>и </a:t>
            </a:r>
            <a:r>
              <a:rPr lang="bg-BG" sz="3600" b="1" dirty="0"/>
              <a:t>домейн</a:t>
            </a:r>
            <a:r>
              <a:rPr lang="bg-BG" sz="3600" dirty="0"/>
              <a:t> е записано на </a:t>
            </a:r>
            <a:r>
              <a:rPr lang="en-US" sz="3600" b="1" dirty="0">
                <a:solidFill>
                  <a:schemeClr val="bg1"/>
                </a:solidFill>
              </a:rPr>
              <a:t>DNS </a:t>
            </a:r>
            <a:r>
              <a:rPr lang="bg-BG" sz="3600" b="1" dirty="0">
                <a:solidFill>
                  <a:schemeClr val="bg1"/>
                </a:solidFill>
              </a:rPr>
              <a:t>сървъри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DNS </a:t>
            </a:r>
            <a:r>
              <a:rPr lang="bg-BG" dirty="0"/>
              <a:t>(</a:t>
            </a:r>
            <a:r>
              <a:rPr lang="en-US" dirty="0"/>
              <a:t>Domain Name System</a:t>
            </a:r>
            <a:r>
              <a:rPr lang="bg-BG" dirty="0"/>
              <a:t>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E180F-D256-D24A-01A6-633A632709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4" b="7354"/>
          <a:stretch/>
        </p:blipFill>
        <p:spPr>
          <a:xfrm>
            <a:off x="3643500" y="4587250"/>
            <a:ext cx="4905000" cy="206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7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Пълният уеб адрес </a:t>
            </a:r>
            <a:r>
              <a:rPr lang="bg-BG" sz="3600" dirty="0"/>
              <a:t>на </a:t>
            </a:r>
            <a:r>
              <a:rPr lang="bg-BG" sz="3600" b="1" dirty="0"/>
              <a:t>конкретен ресурс</a:t>
            </a:r>
            <a:r>
              <a:rPr lang="en-US" sz="3600" b="1" dirty="0"/>
              <a:t> </a:t>
            </a:r>
            <a:r>
              <a:rPr lang="en-US" sz="3600" dirty="0"/>
              <a:t>(</a:t>
            </a:r>
            <a:r>
              <a:rPr lang="bg-BG" sz="3600" dirty="0"/>
              <a:t>страница, изображение, документ и др.</a:t>
            </a:r>
            <a:r>
              <a:rPr lang="en-US" sz="3600" dirty="0"/>
              <a:t>)</a:t>
            </a:r>
            <a:endParaRPr lang="bg-BG" sz="3600" dirty="0"/>
          </a:p>
          <a:p>
            <a:r>
              <a:rPr lang="bg-BG" sz="3600" dirty="0"/>
              <a:t>Състои се от </a:t>
            </a:r>
            <a:r>
              <a:rPr lang="bg-BG" sz="3600" b="1" dirty="0"/>
              <a:t>протокол</a:t>
            </a:r>
            <a:r>
              <a:rPr lang="bg-BG" sz="3600" dirty="0"/>
              <a:t>, </a:t>
            </a:r>
            <a:r>
              <a:rPr lang="bg-BG" sz="3600" b="1" dirty="0"/>
              <a:t>домейн</a:t>
            </a:r>
            <a:r>
              <a:rPr lang="bg-BG" sz="3600" dirty="0"/>
              <a:t> и </a:t>
            </a:r>
            <a:r>
              <a:rPr lang="bg-BG" sz="3600" b="1" dirty="0"/>
              <a:t>път до ресурс</a:t>
            </a:r>
          </a:p>
          <a:p>
            <a:r>
              <a:rPr lang="bg-BG" sz="3600" b="1" dirty="0"/>
              <a:t>Пример:</a:t>
            </a:r>
            <a:endParaRPr lang="bg-BG" sz="32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URL </a:t>
            </a:r>
            <a:r>
              <a:rPr lang="bg-BG" dirty="0"/>
              <a:t>(</a:t>
            </a:r>
            <a:r>
              <a:rPr lang="en-US" dirty="0"/>
              <a:t>Uniform Resource Locator</a:t>
            </a:r>
            <a:r>
              <a:rPr lang="bg-BG" dirty="0"/>
              <a:t>)</a:t>
            </a:r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C9EBAF-5D74-E427-A3FA-2054C9D6D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00" y="4642004"/>
            <a:ext cx="10080000" cy="7105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</a:pPr>
            <a:r>
              <a:rPr lang="en-US" sz="3200" b="1" noProof="1">
                <a:latin typeface="Consolas" pitchFamily="49" charset="0"/>
                <a:cs typeface="Consolas" pitchFamily="49" charset="0"/>
                <a:hlinkClick r:id="rId3"/>
              </a:rPr>
              <a:t>https://www.nasa.gov/about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Rounded Rectangular Callout 8">
            <a:extLst>
              <a:ext uri="{FF2B5EF4-FFF2-40B4-BE49-F238E27FC236}">
                <a16:creationId xmlns:a16="http://schemas.microsoft.com/office/drawing/2014/main" id="{7CA34CE9-65AE-56A4-4DD7-4A7B2A6A5CF5}"/>
              </a:ext>
            </a:extLst>
          </p:cNvPr>
          <p:cNvSpPr/>
          <p:nvPr/>
        </p:nvSpPr>
        <p:spPr bwMode="auto">
          <a:xfrm>
            <a:off x="2523502" y="5675901"/>
            <a:ext cx="1800000" cy="649100"/>
          </a:xfrm>
          <a:prstGeom prst="wedgeRoundRectCallout">
            <a:avLst>
              <a:gd name="adj1" fmla="val 17610"/>
              <a:gd name="adj2" fmla="val -1152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Протокол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8">
            <a:extLst>
              <a:ext uri="{FF2B5EF4-FFF2-40B4-BE49-F238E27FC236}">
                <a16:creationId xmlns:a16="http://schemas.microsoft.com/office/drawing/2014/main" id="{03603DDE-4076-0017-9C0D-3433651E3D49}"/>
              </a:ext>
            </a:extLst>
          </p:cNvPr>
          <p:cNvSpPr/>
          <p:nvPr/>
        </p:nvSpPr>
        <p:spPr bwMode="auto">
          <a:xfrm>
            <a:off x="5106000" y="3780183"/>
            <a:ext cx="1800000" cy="649100"/>
          </a:xfrm>
          <a:prstGeom prst="wedgeRoundRectCallout">
            <a:avLst>
              <a:gd name="adj1" fmla="val 20259"/>
              <a:gd name="adj2" fmla="val 1078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Домейн</a:t>
            </a:r>
            <a:endParaRPr lang="en-BG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1B69832A-7ED9-7122-222F-809EC0F2EC79}"/>
              </a:ext>
            </a:extLst>
          </p:cNvPr>
          <p:cNvSpPr/>
          <p:nvPr/>
        </p:nvSpPr>
        <p:spPr bwMode="auto">
          <a:xfrm>
            <a:off x="6906000" y="5675901"/>
            <a:ext cx="2430000" cy="649100"/>
          </a:xfrm>
          <a:prstGeom prst="wedgeRoundRectCallout">
            <a:avLst>
              <a:gd name="adj1" fmla="val 18540"/>
              <a:gd name="adj2" fmla="val -11438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Път до 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ресурс</a:t>
            </a:r>
            <a:endParaRPr lang="en-BG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976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200" b="1" dirty="0"/>
              <a:t>Потребителят</a:t>
            </a:r>
            <a:r>
              <a:rPr lang="bg-BG" sz="3200" dirty="0"/>
              <a:t> въвежда </a:t>
            </a:r>
            <a:r>
              <a:rPr lang="en-US" sz="3200" b="1" dirty="0">
                <a:solidFill>
                  <a:schemeClr val="bg1"/>
                </a:solidFill>
              </a:rPr>
              <a:t>URL </a:t>
            </a:r>
            <a:r>
              <a:rPr lang="bg-BG" sz="3200" b="1" dirty="0">
                <a:solidFill>
                  <a:schemeClr val="bg1"/>
                </a:solidFill>
              </a:rPr>
              <a:t>адрес </a:t>
            </a:r>
            <a:r>
              <a:rPr lang="bg-BG" sz="3200" dirty="0"/>
              <a:t>в </a:t>
            </a:r>
            <a:r>
              <a:rPr lang="bg-BG" sz="3200" b="1" dirty="0"/>
              <a:t>браузъра</a:t>
            </a:r>
          </a:p>
          <a:p>
            <a:r>
              <a:rPr lang="bg-BG" sz="3200" b="1" dirty="0"/>
              <a:t>D</a:t>
            </a:r>
            <a:r>
              <a:rPr lang="en-US" sz="3200" b="1" dirty="0"/>
              <a:t>NS </a:t>
            </a:r>
            <a:r>
              <a:rPr lang="bg-BG" sz="3200" b="1" dirty="0"/>
              <a:t>сървърът</a:t>
            </a:r>
            <a:r>
              <a:rPr lang="bg-BG" sz="3200" dirty="0"/>
              <a:t> превежда </a:t>
            </a:r>
            <a:r>
              <a:rPr lang="bg-BG" sz="3200" b="1" dirty="0"/>
              <a:t>домейна </a:t>
            </a:r>
            <a:r>
              <a:rPr lang="bg-BG" sz="3200" dirty="0"/>
              <a:t>в</a:t>
            </a:r>
            <a:r>
              <a:rPr lang="bg-BG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IP </a:t>
            </a:r>
            <a:r>
              <a:rPr lang="bg-BG" sz="3200" b="1" dirty="0">
                <a:solidFill>
                  <a:schemeClr val="bg1"/>
                </a:solidFill>
              </a:rPr>
              <a:t>адрес</a:t>
            </a:r>
          </a:p>
          <a:p>
            <a:r>
              <a:rPr lang="bg-BG" sz="3200" b="1" dirty="0"/>
              <a:t>Браузърът</a:t>
            </a:r>
            <a:r>
              <a:rPr lang="bg-BG" sz="3200" dirty="0"/>
              <a:t> се свързва със </a:t>
            </a:r>
            <a:r>
              <a:rPr lang="bg-BG" sz="3200" b="1" dirty="0">
                <a:solidFill>
                  <a:schemeClr val="bg1"/>
                </a:solidFill>
              </a:rPr>
              <a:t>сървъра</a:t>
            </a:r>
            <a:r>
              <a:rPr lang="bg-BG" sz="3200" dirty="0"/>
              <a:t>, на който е </a:t>
            </a:r>
            <a:r>
              <a:rPr lang="bg-BG" sz="3200" b="1" dirty="0"/>
              <a:t>хостван</a:t>
            </a:r>
            <a:r>
              <a:rPr lang="bg-BG" sz="3200" dirty="0"/>
              <a:t> </a:t>
            </a:r>
            <a:r>
              <a:rPr lang="bg-BG" sz="3200" b="1" dirty="0"/>
              <a:t>уеб сайтът</a:t>
            </a:r>
          </a:p>
          <a:p>
            <a:r>
              <a:rPr lang="bg-BG" sz="3200" b="1" dirty="0"/>
              <a:t>Сървърът</a:t>
            </a:r>
            <a:r>
              <a:rPr lang="bg-BG" sz="3200" dirty="0"/>
              <a:t> изпраща </a:t>
            </a:r>
            <a:r>
              <a:rPr lang="bg-BG" sz="3200" b="1" dirty="0">
                <a:solidFill>
                  <a:schemeClr val="bg1"/>
                </a:solidFill>
              </a:rPr>
              <a:t>файловете</a:t>
            </a:r>
            <a:r>
              <a:rPr lang="bg-BG" sz="3200" dirty="0"/>
              <a:t> на </a:t>
            </a:r>
            <a:r>
              <a:rPr lang="bg-BG" sz="3200" b="1" dirty="0"/>
              <a:t>страницата</a:t>
            </a:r>
          </a:p>
          <a:p>
            <a:r>
              <a:rPr lang="bg-BG" sz="3200" b="1" dirty="0"/>
              <a:t>Браузърът</a:t>
            </a:r>
            <a:r>
              <a:rPr lang="bg-BG" sz="3200" dirty="0"/>
              <a:t> ги </a:t>
            </a:r>
            <a:r>
              <a:rPr lang="bg-BG" sz="3200" b="1" dirty="0">
                <a:solidFill>
                  <a:schemeClr val="bg1"/>
                </a:solidFill>
              </a:rPr>
              <a:t>зарежда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визуализира</a:t>
            </a:r>
            <a:r>
              <a:rPr lang="bg-BG" sz="3200" dirty="0"/>
              <a:t> на </a:t>
            </a:r>
            <a:r>
              <a:rPr lang="bg-BG" sz="3200" b="1" dirty="0"/>
              <a:t>екрана</a:t>
            </a:r>
            <a:r>
              <a:rPr lang="bg-BG" sz="3200" dirty="0"/>
              <a:t> на </a:t>
            </a:r>
            <a:r>
              <a:rPr lang="bg-BG" sz="3200" b="1" dirty="0"/>
              <a:t>потребителя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Зареждане на уеб сайт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Цел и целева група за уеб сайт</a:t>
            </a:r>
            <a:endParaRPr lang="bg-BG" sz="44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0205E-0349-E030-E202-0878775837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46"/>
          <a:stretch/>
        </p:blipFill>
        <p:spPr>
          <a:xfrm>
            <a:off x="4776134" y="1584000"/>
            <a:ext cx="2639732" cy="23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FF77AF-1244-5C56-2322-474024354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5" name="Slide Subtitle">
            <a:extLst>
              <a:ext uri="{FF2B5EF4-FFF2-40B4-BE49-F238E27FC236}">
                <a16:creationId xmlns:a16="http://schemas.microsoft.com/office/drawing/2014/main" id="{BFFB6AD3-7C0E-8812-206A-6FE13F32A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600" dirty="0"/>
              <a:t>Нека определим </a:t>
            </a:r>
            <a:r>
              <a:rPr lang="bg-BG" sz="3600" b="1" dirty="0">
                <a:solidFill>
                  <a:schemeClr val="bg1"/>
                </a:solidFill>
              </a:rPr>
              <a:t>целта</a:t>
            </a:r>
            <a:r>
              <a:rPr lang="bg-BG" sz="3600" dirty="0"/>
              <a:t>, </a:t>
            </a:r>
            <a:r>
              <a:rPr lang="bg-BG" sz="3600" b="1" dirty="0">
                <a:solidFill>
                  <a:schemeClr val="bg1"/>
                </a:solidFill>
              </a:rPr>
              <a:t>целевата група </a:t>
            </a:r>
            <a:r>
              <a:rPr lang="bg-BG" sz="3600" dirty="0"/>
              <a:t>и </a:t>
            </a:r>
            <a:r>
              <a:rPr lang="bg-BG" sz="3600" b="1" dirty="0">
                <a:solidFill>
                  <a:schemeClr val="bg1"/>
                </a:solidFill>
              </a:rPr>
              <a:t>примерните страници</a:t>
            </a:r>
            <a:r>
              <a:rPr lang="bg-BG" sz="3600" dirty="0"/>
              <a:t> на следните </a:t>
            </a:r>
            <a:r>
              <a:rPr lang="bg-BG" sz="3600" b="1" dirty="0"/>
              <a:t>уеб сайтове</a:t>
            </a:r>
            <a:r>
              <a:rPr lang="bg-BG" sz="3600" dirty="0"/>
              <a:t>:</a:t>
            </a:r>
          </a:p>
          <a:p>
            <a:pPr lvl="1"/>
            <a:r>
              <a:rPr lang="bg-BG" sz="3400" dirty="0"/>
              <a:t>Министерство на образованието и науката </a:t>
            </a:r>
            <a:r>
              <a:rPr lang="en-US" sz="3400" dirty="0"/>
              <a:t>– </a:t>
            </a:r>
            <a:r>
              <a:rPr lang="en-US" sz="3400" dirty="0">
                <a:hlinkClick r:id="rId2"/>
              </a:rPr>
              <a:t>mon.bg</a:t>
            </a:r>
            <a:r>
              <a:rPr lang="en-US" sz="3400" dirty="0"/>
              <a:t> </a:t>
            </a:r>
            <a:endParaRPr lang="bg-BG" sz="3400" dirty="0"/>
          </a:p>
          <a:p>
            <a:pPr lvl="1"/>
            <a:r>
              <a:rPr lang="bg-BG" sz="3400" dirty="0"/>
              <a:t>Електронен дневник</a:t>
            </a:r>
            <a:r>
              <a:rPr lang="en-US" sz="3400" dirty="0"/>
              <a:t> – </a:t>
            </a:r>
            <a:r>
              <a:rPr lang="en-US" sz="3400" dirty="0">
                <a:hlinkClick r:id="rId3"/>
              </a:rPr>
              <a:t>shkolo.bg</a:t>
            </a:r>
            <a:endParaRPr lang="en-US" sz="3400" dirty="0"/>
          </a:p>
          <a:p>
            <a:pPr lvl="1"/>
            <a:r>
              <a:rPr lang="en-US" sz="3400" dirty="0"/>
              <a:t>Google – </a:t>
            </a:r>
            <a:r>
              <a:rPr lang="en-GB" sz="3400" dirty="0">
                <a:hlinkClick r:id="rId4"/>
              </a:rPr>
              <a:t>google.com</a:t>
            </a:r>
            <a:endParaRPr lang="en-US" sz="3400" dirty="0"/>
          </a:p>
          <a:p>
            <a:pPr lvl="1"/>
            <a:r>
              <a:rPr lang="en-US" sz="3400" dirty="0"/>
              <a:t>ChatGPT – </a:t>
            </a:r>
            <a:r>
              <a:rPr lang="en-US" sz="3400" dirty="0">
                <a:hlinkClick r:id="rId5"/>
              </a:rPr>
              <a:t>chatgpt.com</a:t>
            </a:r>
            <a:endParaRPr lang="bg-BG" sz="34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C0175147-B272-7FDD-3726-0C1BF0BD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Цел и целева група на уеб сайт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1296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FF77AF-1244-5C56-2322-474024354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7E1991-AC2A-2C4E-62C5-36E7E05869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b="1" dirty="0"/>
              <a:t>Защо</a:t>
            </a:r>
            <a:r>
              <a:rPr lang="bg-BG" dirty="0"/>
              <a:t> </a:t>
            </a:r>
            <a:r>
              <a:rPr lang="bg-BG" b="1" dirty="0"/>
              <a:t>съществува</a:t>
            </a:r>
            <a:r>
              <a:rPr lang="bg-BG" dirty="0"/>
              <a:t> уеб сайтът?</a:t>
            </a:r>
            <a:endParaRPr lang="en-BG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793D230-3288-2AA8-95D9-642A7838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цел на уеб сайта</a:t>
            </a:r>
            <a:endParaRPr lang="en-B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57BAB7-1DD9-DD1C-75EF-CEE8D24AD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73443"/>
              </p:ext>
            </p:extLst>
          </p:nvPr>
        </p:nvGraphicFramePr>
        <p:xfrm>
          <a:off x="490080" y="2124000"/>
          <a:ext cx="11211840" cy="4078572"/>
        </p:xfrm>
        <a:graphic>
          <a:graphicData uri="http://schemas.openxmlformats.org/drawingml/2006/table">
            <a:tbl>
              <a:tblPr firstRow="1">
                <a:tableStyleId>{22838BEF-8BB2-4498-84A7-C5851F593DF1}</a:tableStyleId>
              </a:tblPr>
              <a:tblGrid>
                <a:gridCol w="1960920">
                  <a:extLst>
                    <a:ext uri="{9D8B030D-6E8A-4147-A177-3AD203B41FA5}">
                      <a16:colId xmlns:a16="http://schemas.microsoft.com/office/drawing/2014/main" val="1918126379"/>
                    </a:ext>
                  </a:extLst>
                </a:gridCol>
                <a:gridCol w="6435000">
                  <a:extLst>
                    <a:ext uri="{9D8B030D-6E8A-4147-A177-3AD203B41FA5}">
                      <a16:colId xmlns:a16="http://schemas.microsoft.com/office/drawing/2014/main" val="3700237570"/>
                    </a:ext>
                  </a:extLst>
                </a:gridCol>
                <a:gridCol w="1035000">
                  <a:extLst>
                    <a:ext uri="{9D8B030D-6E8A-4147-A177-3AD203B41FA5}">
                      <a16:colId xmlns:a16="http://schemas.microsoft.com/office/drawing/2014/main" val="3761518300"/>
                    </a:ext>
                  </a:extLst>
                </a:gridCol>
                <a:gridCol w="1780920">
                  <a:extLst>
                    <a:ext uri="{9D8B030D-6E8A-4147-A177-3AD203B41FA5}">
                      <a16:colId xmlns:a16="http://schemas.microsoft.com/office/drawing/2014/main" val="1399144962"/>
                    </a:ext>
                  </a:extLst>
                </a:gridCol>
              </a:tblGrid>
              <a:tr h="5888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Уеб сайт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Целева група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Примерни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страници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49732"/>
                  </a:ext>
                </a:extLst>
              </a:tr>
              <a:tr h="383553">
                <a:tc>
                  <a:txBody>
                    <a:bodyPr/>
                    <a:lstStyle/>
                    <a:p>
                      <a:pPr marL="0" marR="0" lvl="1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bg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bg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212"/>
                  </a:ext>
                </a:extLst>
              </a:tr>
              <a:tr h="783766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bg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80378"/>
                  </a:ext>
                </a:extLst>
              </a:tr>
              <a:tr h="756134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147020"/>
                  </a:ext>
                </a:extLst>
              </a:tr>
              <a:tr h="803393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8546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552E3B-524C-D001-2386-139F2F02CAE2}"/>
              </a:ext>
            </a:extLst>
          </p:cNvPr>
          <p:cNvSpPr txBox="1"/>
          <p:nvPr/>
        </p:nvSpPr>
        <p:spPr>
          <a:xfrm>
            <a:off x="825140" y="3114125"/>
            <a:ext cx="1236000" cy="61789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marR="0" lvl="1" indent="0" algn="ctr" defTabSz="1218438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hlinkClick r:id="rId2"/>
              </a:rPr>
              <a:t>mon.bg</a:t>
            </a:r>
            <a:r>
              <a:rPr lang="en-US" sz="2400" dirty="0"/>
              <a:t> </a:t>
            </a:r>
            <a:endParaRPr lang="bg-B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CA193-86AA-762F-AE44-0AE600C2A679}"/>
              </a:ext>
            </a:extLst>
          </p:cNvPr>
          <p:cNvSpPr txBox="1"/>
          <p:nvPr/>
        </p:nvSpPr>
        <p:spPr>
          <a:xfrm>
            <a:off x="552294" y="5446968"/>
            <a:ext cx="1927012" cy="61789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marR="0" lvl="0" indent="0" algn="ctr" defTabSz="1218438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hlinkClick r:id="rId3"/>
              </a:rPr>
              <a:t>chatgpt.com</a:t>
            </a:r>
            <a:endParaRPr lang="bg-BG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32B91-66B9-C15D-4B89-73A74EEF5124}"/>
              </a:ext>
            </a:extLst>
          </p:cNvPr>
          <p:cNvSpPr txBox="1"/>
          <p:nvPr/>
        </p:nvSpPr>
        <p:spPr>
          <a:xfrm>
            <a:off x="639400" y="4687632"/>
            <a:ext cx="1756800" cy="61789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marR="0" lvl="0" indent="0" algn="ctr" defTabSz="1218438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hlinkClick r:id="rId4"/>
              </a:rPr>
              <a:t>google.com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4FEE1-609D-8D5E-945A-8EB663C922A0}"/>
              </a:ext>
            </a:extLst>
          </p:cNvPr>
          <p:cNvSpPr txBox="1"/>
          <p:nvPr/>
        </p:nvSpPr>
        <p:spPr>
          <a:xfrm>
            <a:off x="592897" y="3916274"/>
            <a:ext cx="1700486" cy="61789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marR="0" lvl="0" indent="0" algn="ctr" defTabSz="1218438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hlinkClick r:id="rId5"/>
              </a:rPr>
              <a:t>shkolo.bg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A535B-2267-CB05-5E9D-0D62EAE12A3F}"/>
              </a:ext>
            </a:extLst>
          </p:cNvPr>
          <p:cNvSpPr txBox="1"/>
          <p:nvPr/>
        </p:nvSpPr>
        <p:spPr>
          <a:xfrm>
            <a:off x="2396200" y="2942021"/>
            <a:ext cx="6860423" cy="97395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bg-BG" sz="2200" b="0" dirty="0">
                <a:effectLst/>
              </a:rPr>
              <a:t>Предоставя </a:t>
            </a:r>
            <a:r>
              <a:rPr lang="bg-BG" sz="2200" b="1" dirty="0">
                <a:effectLst/>
              </a:rPr>
              <a:t>официална информация</a:t>
            </a:r>
            <a:r>
              <a:rPr lang="bg-BG" sz="2200" b="0" dirty="0">
                <a:effectLst/>
              </a:rPr>
              <a:t>, </a:t>
            </a:r>
            <a:r>
              <a:rPr lang="bg-BG" sz="2200" b="1" dirty="0">
                <a:effectLst/>
              </a:rPr>
              <a:t>документи</a:t>
            </a:r>
            <a:r>
              <a:rPr lang="bg-BG" sz="2200" b="0" dirty="0">
                <a:effectLst/>
              </a:rPr>
              <a:t> и </a:t>
            </a:r>
            <a:r>
              <a:rPr lang="bg-BG" sz="2200" b="1" dirty="0">
                <a:effectLst/>
              </a:rPr>
              <a:t>новини</a:t>
            </a:r>
            <a:r>
              <a:rPr lang="bg-BG" sz="2200" b="0" dirty="0">
                <a:effectLst/>
              </a:rPr>
              <a:t> в сферата на </a:t>
            </a:r>
            <a:r>
              <a:rPr lang="bg-BG" sz="2200" b="1" dirty="0">
                <a:effectLst/>
              </a:rPr>
              <a:t>образованието </a:t>
            </a:r>
            <a:r>
              <a:rPr lang="bg-BG" sz="2200" b="0" dirty="0">
                <a:effectLst/>
              </a:rPr>
              <a:t>в България</a:t>
            </a:r>
            <a:endParaRPr lang="en-BG" sz="22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0B827-546C-53CC-49B6-3741E4D97B2A}"/>
              </a:ext>
            </a:extLst>
          </p:cNvPr>
          <p:cNvSpPr txBox="1"/>
          <p:nvPr/>
        </p:nvSpPr>
        <p:spPr>
          <a:xfrm>
            <a:off x="2396200" y="4507365"/>
            <a:ext cx="6612645" cy="97395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bg-BG" sz="22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Предоставя </a:t>
            </a:r>
            <a:r>
              <a:rPr lang="bg-BG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търсачка</a:t>
            </a:r>
            <a:r>
              <a:rPr lang="bg-BG" sz="22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и помага за </a:t>
            </a:r>
            <a:r>
              <a:rPr lang="bg-BG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намирането</a:t>
            </a:r>
            <a:r>
              <a:rPr lang="bg-BG" sz="22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на </a:t>
            </a:r>
            <a:r>
              <a:rPr lang="bg-BG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информация</a:t>
            </a:r>
            <a:endParaRPr lang="en-BG" sz="22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A4A3A-007D-BD69-50F8-C00915CB3D51}"/>
              </a:ext>
            </a:extLst>
          </p:cNvPr>
          <p:cNvSpPr txBox="1"/>
          <p:nvPr/>
        </p:nvSpPr>
        <p:spPr>
          <a:xfrm>
            <a:off x="2396200" y="3720839"/>
            <a:ext cx="6605520" cy="97395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bg-BG" sz="2200" b="0" dirty="0">
                <a:effectLst/>
              </a:rPr>
              <a:t>Осигурява </a:t>
            </a:r>
            <a:r>
              <a:rPr lang="bg-BG" sz="2200" b="1" dirty="0">
                <a:effectLst/>
              </a:rPr>
              <a:t>онлайн достъп </a:t>
            </a:r>
            <a:r>
              <a:rPr lang="bg-BG" sz="2200" b="0" dirty="0">
                <a:effectLst/>
              </a:rPr>
              <a:t>до </a:t>
            </a:r>
            <a:r>
              <a:rPr lang="bg-BG" sz="2200" b="1" dirty="0">
                <a:effectLst/>
              </a:rPr>
              <a:t>оценки</a:t>
            </a:r>
            <a:r>
              <a:rPr lang="bg-BG" sz="2200" b="0" dirty="0">
                <a:effectLst/>
              </a:rPr>
              <a:t>, </a:t>
            </a:r>
            <a:r>
              <a:rPr lang="bg-BG" sz="2200" b="1" dirty="0">
                <a:effectLst/>
              </a:rPr>
              <a:t>отсъствия</a:t>
            </a:r>
            <a:r>
              <a:rPr lang="bg-BG" sz="2200" b="0" dirty="0">
                <a:effectLst/>
              </a:rPr>
              <a:t> и </a:t>
            </a:r>
            <a:r>
              <a:rPr lang="bg-BG" sz="2200" b="1" dirty="0">
                <a:effectLst/>
              </a:rPr>
              <a:t>съобщения</a:t>
            </a:r>
            <a:endParaRPr lang="en-BG" sz="22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D9C000-4B78-5324-1694-9DBB45019BAD}"/>
              </a:ext>
            </a:extLst>
          </p:cNvPr>
          <p:cNvSpPr txBox="1"/>
          <p:nvPr/>
        </p:nvSpPr>
        <p:spPr>
          <a:xfrm>
            <a:off x="2479306" y="5488089"/>
            <a:ext cx="6612645" cy="5846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2200" b="1" dirty="0">
                <a:effectLst/>
              </a:rPr>
              <a:t>AI </a:t>
            </a:r>
            <a:r>
              <a:rPr lang="bg-BG" sz="2200" b="1" dirty="0">
                <a:effectLst/>
              </a:rPr>
              <a:t>платформа </a:t>
            </a:r>
            <a:r>
              <a:rPr lang="bg-BG" sz="2200" b="0" dirty="0">
                <a:effectLst/>
              </a:rPr>
              <a:t>за </a:t>
            </a:r>
            <a:r>
              <a:rPr lang="bg-BG" sz="2200" b="1" dirty="0">
                <a:effectLst/>
              </a:rPr>
              <a:t>писане</a:t>
            </a:r>
            <a:r>
              <a:rPr lang="bg-BG" sz="2200" b="0" dirty="0">
                <a:effectLst/>
              </a:rPr>
              <a:t>, </a:t>
            </a:r>
            <a:r>
              <a:rPr lang="bg-BG" sz="2200" b="1" dirty="0">
                <a:effectLst/>
              </a:rPr>
              <a:t>помощ</a:t>
            </a:r>
            <a:r>
              <a:rPr lang="bg-BG" sz="2200" b="0" dirty="0">
                <a:effectLst/>
              </a:rPr>
              <a:t> и </a:t>
            </a:r>
            <a:r>
              <a:rPr lang="bg-BG" sz="2200" b="1" dirty="0">
                <a:effectLst/>
              </a:rPr>
              <a:t>обучение</a:t>
            </a:r>
            <a:endParaRPr lang="en-BG" sz="22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FF77AF-1244-5C56-2322-474024354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9CEF1-68D1-DFE8-9B07-7B5EEAD7F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b="1" dirty="0"/>
              <a:t>Коя</a:t>
            </a:r>
            <a:r>
              <a:rPr lang="bg-BG" dirty="0"/>
              <a:t> е </a:t>
            </a:r>
            <a:r>
              <a:rPr lang="bg-BG" b="1" dirty="0"/>
              <a:t>аудиторията</a:t>
            </a:r>
            <a:r>
              <a:rPr lang="bg-BG" dirty="0"/>
              <a:t>, към която е насочен уеб сайта</a:t>
            </a:r>
            <a:endParaRPr lang="en-BG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FE571EC-DC55-1E76-6D00-A4F5E4AF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целева група на уеб сайта</a:t>
            </a:r>
            <a:endParaRPr lang="en-B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588D7-9DE5-777E-19F2-9EEC94A55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703688"/>
              </p:ext>
            </p:extLst>
          </p:nvPr>
        </p:nvGraphicFramePr>
        <p:xfrm>
          <a:off x="490080" y="2124000"/>
          <a:ext cx="11211840" cy="4141867"/>
        </p:xfrm>
        <a:graphic>
          <a:graphicData uri="http://schemas.openxmlformats.org/drawingml/2006/table">
            <a:tbl>
              <a:tblPr firstRow="1">
                <a:tableStyleId>{22838BEF-8BB2-4498-84A7-C5851F593DF1}</a:tableStyleId>
              </a:tblPr>
              <a:tblGrid>
                <a:gridCol w="1356840">
                  <a:extLst>
                    <a:ext uri="{9D8B030D-6E8A-4147-A177-3AD203B41FA5}">
                      <a16:colId xmlns:a16="http://schemas.microsoft.com/office/drawing/2014/main" val="1918126379"/>
                    </a:ext>
                  </a:extLst>
                </a:gridCol>
                <a:gridCol w="4455000">
                  <a:extLst>
                    <a:ext uri="{9D8B030D-6E8A-4147-A177-3AD203B41FA5}">
                      <a16:colId xmlns:a16="http://schemas.microsoft.com/office/drawing/2014/main" val="3700237570"/>
                    </a:ext>
                  </a:extLst>
                </a:gridCol>
                <a:gridCol w="3934080">
                  <a:extLst>
                    <a:ext uri="{9D8B030D-6E8A-4147-A177-3AD203B41FA5}">
                      <a16:colId xmlns:a16="http://schemas.microsoft.com/office/drawing/2014/main" val="3761518300"/>
                    </a:ext>
                  </a:extLst>
                </a:gridCol>
                <a:gridCol w="1465920">
                  <a:extLst>
                    <a:ext uri="{9D8B030D-6E8A-4147-A177-3AD203B41FA5}">
                      <a16:colId xmlns:a16="http://schemas.microsoft.com/office/drawing/2014/main" val="1399144962"/>
                    </a:ext>
                  </a:extLst>
                </a:gridCol>
              </a:tblGrid>
              <a:tr h="5888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Уеб сайт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Целева група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Примерни страници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49732"/>
                  </a:ext>
                </a:extLst>
              </a:tr>
              <a:tr h="383553">
                <a:tc>
                  <a:txBody>
                    <a:bodyPr/>
                    <a:lstStyle/>
                    <a:p>
                      <a:pPr marL="0" marR="0" lvl="1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2"/>
                        </a:rPr>
                        <a:t>mon.bg</a:t>
                      </a:r>
                      <a:r>
                        <a:rPr lang="en-US" sz="2000" dirty="0"/>
                        <a:t> </a:t>
                      </a: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Предоставя </a:t>
                      </a:r>
                      <a:r>
                        <a:rPr lang="bg-BG" sz="2000" b="1" dirty="0">
                          <a:effectLst/>
                        </a:rPr>
                        <a:t>официална информация</a:t>
                      </a:r>
                      <a:r>
                        <a:rPr lang="bg-BG" sz="2000" b="0" dirty="0">
                          <a:effectLst/>
                        </a:rPr>
                        <a:t>,       </a:t>
                      </a:r>
                      <a:r>
                        <a:rPr lang="bg-BG" sz="2000" b="1" dirty="0">
                          <a:effectLst/>
                        </a:rPr>
                        <a:t>документи</a:t>
                      </a:r>
                      <a:r>
                        <a:rPr lang="bg-BG" sz="2000" b="0" dirty="0">
                          <a:effectLst/>
                        </a:rPr>
                        <a:t> и </a:t>
                      </a:r>
                      <a:r>
                        <a:rPr lang="bg-BG" sz="2000" b="1" dirty="0">
                          <a:effectLst/>
                        </a:rPr>
                        <a:t>новини</a:t>
                      </a:r>
                      <a:r>
                        <a:rPr lang="bg-BG" sz="2000" b="0" dirty="0">
                          <a:effectLst/>
                        </a:rPr>
                        <a:t> в сферата на             </a:t>
                      </a:r>
                      <a:r>
                        <a:rPr lang="bg-BG" sz="2000" b="1" dirty="0">
                          <a:effectLst/>
                        </a:rPr>
                        <a:t>образованието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212"/>
                  </a:ext>
                </a:extLst>
              </a:tr>
              <a:tr h="783766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3"/>
                        </a:rPr>
                        <a:t>shkolo.bg</a:t>
                      </a: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Осигурява </a:t>
                      </a:r>
                      <a:r>
                        <a:rPr lang="bg-BG" sz="2000" b="1" dirty="0">
                          <a:effectLst/>
                        </a:rPr>
                        <a:t>онлайн достъп </a:t>
                      </a:r>
                      <a:r>
                        <a:rPr lang="bg-BG" sz="2000" b="0" dirty="0">
                          <a:effectLst/>
                        </a:rPr>
                        <a:t>до </a:t>
                      </a:r>
                      <a:r>
                        <a:rPr lang="bg-BG" sz="2000" b="1" dirty="0">
                          <a:effectLst/>
                        </a:rPr>
                        <a:t>оценки</a:t>
                      </a:r>
                      <a:r>
                        <a:rPr lang="bg-BG" sz="2000" b="0" dirty="0">
                          <a:effectLst/>
                        </a:rPr>
                        <a:t>,       </a:t>
                      </a:r>
                      <a:r>
                        <a:rPr lang="bg-BG" sz="2000" b="1" dirty="0">
                          <a:effectLst/>
                        </a:rPr>
                        <a:t>отсъствия</a:t>
                      </a:r>
                      <a:r>
                        <a:rPr lang="bg-BG" sz="2000" b="0" dirty="0">
                          <a:effectLst/>
                        </a:rPr>
                        <a:t> и </a:t>
                      </a:r>
                      <a:r>
                        <a:rPr lang="bg-BG" sz="2000" b="1" dirty="0">
                          <a:effectLst/>
                        </a:rPr>
                        <a:t>съобщения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80378"/>
                  </a:ext>
                </a:extLst>
              </a:tr>
              <a:tr h="756134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hlinkClick r:id="rId4"/>
                        </a:rPr>
                        <a:t>google.com</a:t>
                      </a: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Предоставя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търсачка</a:t>
                      </a: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и помага за              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намирането</a:t>
                      </a: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на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информация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147020"/>
                  </a:ext>
                </a:extLst>
              </a:tr>
              <a:tr h="803393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5"/>
                        </a:rPr>
                        <a:t>chatgpt.com</a:t>
                      </a: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</a:rPr>
                        <a:t>AI </a:t>
                      </a:r>
                      <a:r>
                        <a:rPr lang="bg-BG" sz="2000" b="1" dirty="0">
                          <a:effectLst/>
                        </a:rPr>
                        <a:t>платформа </a:t>
                      </a:r>
                      <a:r>
                        <a:rPr lang="bg-BG" sz="2000" b="0" dirty="0">
                          <a:effectLst/>
                        </a:rPr>
                        <a:t>за </a:t>
                      </a:r>
                      <a:r>
                        <a:rPr lang="bg-BG" sz="2000" b="1" dirty="0">
                          <a:effectLst/>
                        </a:rPr>
                        <a:t>писане</a:t>
                      </a:r>
                      <a:r>
                        <a:rPr lang="bg-BG" sz="2000" b="0" dirty="0">
                          <a:effectLst/>
                        </a:rPr>
                        <a:t>, </a:t>
                      </a:r>
                      <a:r>
                        <a:rPr lang="bg-BG" sz="2000" b="1" dirty="0">
                          <a:effectLst/>
                        </a:rPr>
                        <a:t>помощ</a:t>
                      </a:r>
                      <a:r>
                        <a:rPr lang="bg-BG" sz="2000" b="0" dirty="0">
                          <a:effectLst/>
                        </a:rPr>
                        <a:t> и         </a:t>
                      </a:r>
                      <a:r>
                        <a:rPr lang="bg-BG" sz="2000" b="1" dirty="0">
                          <a:effectLst/>
                        </a:rPr>
                        <a:t>обучение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8546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4C6F9A-8116-D3CD-FE4D-CDBE0DFC68A8}"/>
              </a:ext>
            </a:extLst>
          </p:cNvPr>
          <p:cNvSpPr txBox="1"/>
          <p:nvPr/>
        </p:nvSpPr>
        <p:spPr>
          <a:xfrm>
            <a:off x="6264290" y="3980874"/>
            <a:ext cx="4038727" cy="55127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bg-BG" sz="2000" b="0" dirty="0">
                <a:effectLst/>
              </a:rPr>
              <a:t>Учители,</a:t>
            </a:r>
            <a:r>
              <a:rPr lang="en-US" sz="2000" b="0" dirty="0">
                <a:effectLst/>
              </a:rPr>
              <a:t> </a:t>
            </a:r>
            <a:r>
              <a:rPr lang="bg-BG" sz="2000" b="0" dirty="0">
                <a:effectLst/>
              </a:rPr>
              <a:t>ученици,</a:t>
            </a:r>
            <a:r>
              <a:rPr lang="en-US" sz="2000" b="0" dirty="0">
                <a:effectLst/>
              </a:rPr>
              <a:t> </a:t>
            </a:r>
            <a:r>
              <a:rPr lang="bg-BG" sz="2000" b="0" dirty="0">
                <a:effectLst/>
              </a:rPr>
              <a:t>родители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A3349-1058-2BD3-5DF1-32D981D87D68}"/>
              </a:ext>
            </a:extLst>
          </p:cNvPr>
          <p:cNvSpPr txBox="1"/>
          <p:nvPr/>
        </p:nvSpPr>
        <p:spPr>
          <a:xfrm>
            <a:off x="6287273" y="2924211"/>
            <a:ext cx="4173727" cy="124896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Учители, ученици, родители, училищни администрации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BG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25AC2-C68E-F76B-4224-74F21DC074EA}"/>
              </a:ext>
            </a:extLst>
          </p:cNvPr>
          <p:cNvSpPr txBox="1"/>
          <p:nvPr/>
        </p:nvSpPr>
        <p:spPr>
          <a:xfrm>
            <a:off x="6264290" y="4844353"/>
            <a:ext cx="3588727" cy="87829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Всички интернет</a:t>
            </a:r>
            <a:r>
              <a:rPr lang="en-US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потребители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BG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43E1E3-0981-F019-69F8-102B72DE79B5}"/>
              </a:ext>
            </a:extLst>
          </p:cNvPr>
          <p:cNvSpPr txBox="1"/>
          <p:nvPr/>
        </p:nvSpPr>
        <p:spPr>
          <a:xfrm>
            <a:off x="6290173" y="5416173"/>
            <a:ext cx="3330000" cy="128115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Ученици, професионалисти, любители на технологиите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BG" sz="2400" dirty="0"/>
          </a:p>
        </p:txBody>
      </p:sp>
    </p:spTree>
    <p:extLst>
      <p:ext uri="{BB962C8B-B14F-4D97-AF65-F5344CB8AC3E}">
        <p14:creationId xmlns:p14="http://schemas.microsoft.com/office/powerpoint/2010/main" val="11133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FF77AF-1244-5C56-2322-474024354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A871D-4FD2-7D7F-8844-6F7E8464A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b="1" dirty="0"/>
              <a:t>Какви основни страници </a:t>
            </a:r>
            <a:r>
              <a:rPr lang="bg-BG" dirty="0"/>
              <a:t>съдържа уеб сайтът</a:t>
            </a:r>
            <a:endParaRPr lang="en-BG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604B3BD-1FA4-9F3B-512E-1D5C16AC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Примерни страници</a:t>
            </a:r>
            <a:endParaRPr lang="en-B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415755-F599-BB12-2F4B-3121BA2C7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55423"/>
              </p:ext>
            </p:extLst>
          </p:nvPr>
        </p:nvGraphicFramePr>
        <p:xfrm>
          <a:off x="490080" y="2124000"/>
          <a:ext cx="11211840" cy="4209767"/>
        </p:xfrm>
        <a:graphic>
          <a:graphicData uri="http://schemas.openxmlformats.org/drawingml/2006/table">
            <a:tbl>
              <a:tblPr firstRow="1">
                <a:tableStyleId>{22838BEF-8BB2-4498-84A7-C5851F593DF1}</a:tableStyleId>
              </a:tblPr>
              <a:tblGrid>
                <a:gridCol w="1356840">
                  <a:extLst>
                    <a:ext uri="{9D8B030D-6E8A-4147-A177-3AD203B41FA5}">
                      <a16:colId xmlns:a16="http://schemas.microsoft.com/office/drawing/2014/main" val="1918126379"/>
                    </a:ext>
                  </a:extLst>
                </a:gridCol>
                <a:gridCol w="4455000">
                  <a:extLst>
                    <a:ext uri="{9D8B030D-6E8A-4147-A177-3AD203B41FA5}">
                      <a16:colId xmlns:a16="http://schemas.microsoft.com/office/drawing/2014/main" val="370023757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7615183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1399144962"/>
                    </a:ext>
                  </a:extLst>
                </a:gridCol>
              </a:tblGrid>
              <a:tr h="5888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Уеб сайт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Целева група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200" b="1" dirty="0">
                          <a:solidFill>
                            <a:schemeClr val="bg2"/>
                          </a:solidFill>
                          <a:effectLst/>
                        </a:rPr>
                        <a:t>Примерни страници</a:t>
                      </a:r>
                      <a:endParaRPr lang="en-BG" sz="22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49732"/>
                  </a:ext>
                </a:extLst>
              </a:tr>
              <a:tr h="383553">
                <a:tc>
                  <a:txBody>
                    <a:bodyPr/>
                    <a:lstStyle/>
                    <a:p>
                      <a:pPr marL="0" marR="0" lvl="1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2"/>
                        </a:rPr>
                        <a:t>mon.bg</a:t>
                      </a:r>
                      <a:r>
                        <a:rPr lang="en-US" sz="2000" dirty="0"/>
                        <a:t> </a:t>
                      </a: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Предоставя </a:t>
                      </a:r>
                      <a:r>
                        <a:rPr lang="bg-BG" sz="2000" b="1" dirty="0">
                          <a:effectLst/>
                        </a:rPr>
                        <a:t>официална информация</a:t>
                      </a:r>
                      <a:r>
                        <a:rPr lang="bg-BG" sz="2000" b="0" dirty="0">
                          <a:effectLst/>
                        </a:rPr>
                        <a:t>,       </a:t>
                      </a:r>
                      <a:r>
                        <a:rPr lang="bg-BG" sz="2000" b="1" dirty="0">
                          <a:effectLst/>
                        </a:rPr>
                        <a:t>документи</a:t>
                      </a:r>
                      <a:r>
                        <a:rPr lang="bg-BG" sz="2000" b="0" dirty="0">
                          <a:effectLst/>
                        </a:rPr>
                        <a:t> и </a:t>
                      </a:r>
                      <a:r>
                        <a:rPr lang="bg-BG" sz="2000" b="1" dirty="0">
                          <a:effectLst/>
                        </a:rPr>
                        <a:t>новини</a:t>
                      </a:r>
                      <a:r>
                        <a:rPr lang="bg-BG" sz="2000" b="0" dirty="0">
                          <a:effectLst/>
                        </a:rPr>
                        <a:t> в сферата на             </a:t>
                      </a:r>
                      <a:r>
                        <a:rPr lang="bg-BG" sz="2000" b="1" dirty="0">
                          <a:effectLst/>
                        </a:rPr>
                        <a:t>образованието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Учители, ученици,      родители, училищни администрации</a:t>
                      </a: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212"/>
                  </a:ext>
                </a:extLst>
              </a:tr>
              <a:tr h="783766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3"/>
                        </a:rPr>
                        <a:t>shkolo.bg</a:t>
                      </a: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Осигурява </a:t>
                      </a:r>
                      <a:r>
                        <a:rPr lang="bg-BG" sz="2000" b="1" dirty="0">
                          <a:effectLst/>
                        </a:rPr>
                        <a:t>онлайн достъп </a:t>
                      </a:r>
                      <a:r>
                        <a:rPr lang="bg-BG" sz="2000" b="0" dirty="0">
                          <a:effectLst/>
                        </a:rPr>
                        <a:t>до </a:t>
                      </a:r>
                      <a:r>
                        <a:rPr lang="bg-BG" sz="2000" b="1" dirty="0">
                          <a:effectLst/>
                        </a:rPr>
                        <a:t>оценки</a:t>
                      </a:r>
                      <a:r>
                        <a:rPr lang="bg-BG" sz="2000" b="0" dirty="0">
                          <a:effectLst/>
                        </a:rPr>
                        <a:t>,       </a:t>
                      </a:r>
                      <a:r>
                        <a:rPr lang="bg-BG" sz="2000" b="1" dirty="0">
                          <a:effectLst/>
                        </a:rPr>
                        <a:t>отсъствия</a:t>
                      </a:r>
                      <a:r>
                        <a:rPr lang="bg-BG" sz="2000" b="0" dirty="0">
                          <a:effectLst/>
                        </a:rPr>
                        <a:t> и </a:t>
                      </a:r>
                      <a:r>
                        <a:rPr lang="bg-BG" sz="2000" b="1" dirty="0">
                          <a:effectLst/>
                        </a:rPr>
                        <a:t>съобщения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Учители, ученици,     родители</a:t>
                      </a: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80378"/>
                  </a:ext>
                </a:extLst>
              </a:tr>
              <a:tr h="756134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hlinkClick r:id="rId4"/>
                        </a:rPr>
                        <a:t>google.com</a:t>
                      </a:r>
                      <a:endParaRPr lang="en-US" sz="2000" dirty="0"/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Предоставя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търсачка</a:t>
                      </a: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и помага за              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намирането</a:t>
                      </a: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на </a:t>
                      </a:r>
                      <a:r>
                        <a:rPr lang="bg-BG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информация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</a:rPr>
                        <a:t>Всички интернет        потребители</a:t>
                      </a: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147020"/>
                  </a:ext>
                </a:extLst>
              </a:tr>
              <a:tr h="803393"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linkClick r:id="rId5"/>
                        </a:rPr>
                        <a:t>chatgpt.com</a:t>
                      </a:r>
                      <a:endParaRPr lang="bg-BG" sz="2000" dirty="0"/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</a:rPr>
                        <a:t>AI </a:t>
                      </a:r>
                      <a:r>
                        <a:rPr lang="bg-BG" sz="2000" b="1" dirty="0">
                          <a:effectLst/>
                        </a:rPr>
                        <a:t>платформа </a:t>
                      </a:r>
                      <a:r>
                        <a:rPr lang="bg-BG" sz="2000" b="0" dirty="0">
                          <a:effectLst/>
                        </a:rPr>
                        <a:t>за </a:t>
                      </a:r>
                      <a:r>
                        <a:rPr lang="bg-BG" sz="2000" b="1" dirty="0">
                          <a:effectLst/>
                        </a:rPr>
                        <a:t>писане</a:t>
                      </a:r>
                      <a:r>
                        <a:rPr lang="bg-BG" sz="2000" b="0" dirty="0">
                          <a:effectLst/>
                        </a:rPr>
                        <a:t>, </a:t>
                      </a:r>
                      <a:r>
                        <a:rPr lang="bg-BG" sz="2000" b="1" dirty="0">
                          <a:effectLst/>
                        </a:rPr>
                        <a:t>помощ</a:t>
                      </a:r>
                      <a:r>
                        <a:rPr lang="bg-BG" sz="2000" b="0" dirty="0">
                          <a:effectLst/>
                        </a:rPr>
                        <a:t> и         </a:t>
                      </a:r>
                      <a:r>
                        <a:rPr lang="bg-BG" sz="2000" b="1" dirty="0">
                          <a:effectLst/>
                        </a:rPr>
                        <a:t>обучение</a:t>
                      </a:r>
                      <a:endParaRPr lang="en-BG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bg-BG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Ученици, професио- налисти, любители    на технологиите</a:t>
                      </a: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BG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0480" marR="30480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8546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8E572D-6F1B-166B-3246-85918AC9987B}"/>
              </a:ext>
            </a:extLst>
          </p:cNvPr>
          <p:cNvSpPr txBox="1"/>
          <p:nvPr/>
        </p:nvSpPr>
        <p:spPr>
          <a:xfrm>
            <a:off x="8646230" y="2754000"/>
            <a:ext cx="3105000" cy="90522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bg-BG" sz="20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Начало, Новини,                     Документи, Контакти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74E4A-B467-11B9-931C-EFE5535DF140}"/>
              </a:ext>
            </a:extLst>
          </p:cNvPr>
          <p:cNvSpPr txBox="1"/>
          <p:nvPr/>
        </p:nvSpPr>
        <p:spPr>
          <a:xfrm>
            <a:off x="8632130" y="3680621"/>
            <a:ext cx="3105000" cy="90522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bg-BG" sz="20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Вход, Оценки, Разписание, Съобщения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2F432-B201-8442-351D-1BAD3964D9B2}"/>
              </a:ext>
            </a:extLst>
          </p:cNvPr>
          <p:cNvSpPr txBox="1"/>
          <p:nvPr/>
        </p:nvSpPr>
        <p:spPr>
          <a:xfrm>
            <a:off x="8643430" y="4464000"/>
            <a:ext cx="3105000" cy="90522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bg-BG" sz="20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Търсене, Изображения,       Карти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C5E82-0CD8-1456-AB5B-8CD21FC104AF}"/>
              </a:ext>
            </a:extLst>
          </p:cNvPr>
          <p:cNvSpPr txBox="1"/>
          <p:nvPr/>
        </p:nvSpPr>
        <p:spPr>
          <a:xfrm>
            <a:off x="8632130" y="5361516"/>
            <a:ext cx="3105000" cy="90522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bg-BG" sz="20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Начало, Нов чат, История,   Настройки</a:t>
            </a:r>
            <a:endParaRPr lang="en-BG" sz="20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85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rmAutofit fontScale="47500" lnSpcReduction="20000"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Уеб сайт </a:t>
            </a:r>
            <a:r>
              <a:rPr lang="bg-BG" sz="4400" dirty="0"/>
              <a:t>=</a:t>
            </a:r>
            <a:r>
              <a:rPr lang="en-US" sz="4400" dirty="0"/>
              <a:t>= </a:t>
            </a:r>
            <a:r>
              <a:rPr lang="bg-BG" sz="4400" dirty="0"/>
              <a:t>съвкупност от </a:t>
            </a:r>
            <a:r>
              <a:rPr lang="bg-BG" sz="4400" b="1" dirty="0"/>
              <a:t>свързани помежду си уебстраници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Статичен уеб сайт </a:t>
            </a:r>
            <a:r>
              <a:rPr lang="bg-BG" sz="4200" dirty="0">
                <a:solidFill>
                  <a:schemeClr val="bg2"/>
                </a:solidFill>
              </a:rPr>
              <a:t>=</a:t>
            </a:r>
            <a:r>
              <a:rPr lang="en-US" sz="4200" dirty="0">
                <a:solidFill>
                  <a:schemeClr val="bg2"/>
                </a:solidFill>
              </a:rPr>
              <a:t>= </a:t>
            </a:r>
            <a:r>
              <a:rPr lang="bg-BG" sz="4200" b="1" dirty="0">
                <a:solidFill>
                  <a:schemeClr val="bg2"/>
                </a:solidFill>
              </a:rPr>
              <a:t>съдържанието</a:t>
            </a:r>
            <a:r>
              <a:rPr lang="bg-BG" sz="4200" dirty="0">
                <a:solidFill>
                  <a:schemeClr val="bg2"/>
                </a:solidFill>
              </a:rPr>
              <a:t> се </a:t>
            </a:r>
            <a:r>
              <a:rPr lang="bg-BG" sz="4200" b="1" dirty="0">
                <a:solidFill>
                  <a:schemeClr val="bg2"/>
                </a:solidFill>
              </a:rPr>
              <a:t>променя</a:t>
            </a:r>
            <a:r>
              <a:rPr lang="bg-BG" sz="4200" dirty="0">
                <a:solidFill>
                  <a:schemeClr val="bg2"/>
                </a:solidFill>
              </a:rPr>
              <a:t> </a:t>
            </a: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ръчно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Динамичен уеб сайт </a:t>
            </a:r>
            <a:r>
              <a:rPr lang="en-US" sz="4200" dirty="0">
                <a:solidFill>
                  <a:schemeClr val="bg2"/>
                </a:solidFill>
              </a:rPr>
              <a:t>== </a:t>
            </a:r>
            <a:r>
              <a:rPr lang="bg-BG" sz="4200" b="1" dirty="0">
                <a:solidFill>
                  <a:schemeClr val="bg2"/>
                </a:solidFill>
              </a:rPr>
              <a:t>съдържанието</a:t>
            </a:r>
            <a:r>
              <a:rPr lang="bg-BG" sz="4200" dirty="0">
                <a:solidFill>
                  <a:schemeClr val="bg2"/>
                </a:solidFill>
              </a:rPr>
              <a:t> се </a:t>
            </a:r>
            <a:r>
              <a:rPr lang="bg-BG" sz="4200" b="1" dirty="0">
                <a:solidFill>
                  <a:schemeClr val="bg2"/>
                </a:solidFill>
              </a:rPr>
              <a:t>променя </a:t>
            </a: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автоматично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Цел </a:t>
            </a:r>
            <a:r>
              <a:rPr lang="en-US" sz="4200" dirty="0">
                <a:solidFill>
                  <a:schemeClr val="bg2"/>
                </a:solidFill>
              </a:rPr>
              <a:t>–</a:t>
            </a:r>
            <a:r>
              <a:rPr lang="bg-BG" sz="4200" b="1" dirty="0">
                <a:solidFill>
                  <a:schemeClr val="bg2"/>
                </a:solidFill>
              </a:rPr>
              <a:t> Какво</a:t>
            </a:r>
            <a:r>
              <a:rPr lang="bg-BG" sz="4200" dirty="0">
                <a:solidFill>
                  <a:schemeClr val="bg2"/>
                </a:solidFill>
              </a:rPr>
              <a:t> искаме да постигнем?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Целева група</a:t>
            </a:r>
            <a:r>
              <a:rPr lang="en-US" sz="4200" dirty="0">
                <a:solidFill>
                  <a:schemeClr val="bg2"/>
                </a:solidFill>
              </a:rPr>
              <a:t> –</a:t>
            </a:r>
            <a:r>
              <a:rPr lang="bg-BG" sz="4200" b="1" dirty="0">
                <a:solidFill>
                  <a:schemeClr val="bg2"/>
                </a:solidFill>
              </a:rPr>
              <a:t> Кои потребители </a:t>
            </a:r>
            <a:r>
              <a:rPr lang="bg-BG" sz="4200" dirty="0">
                <a:solidFill>
                  <a:schemeClr val="bg2"/>
                </a:solidFill>
              </a:rPr>
              <a:t>искаме да достигнем?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Уеб страница</a:t>
            </a:r>
            <a:r>
              <a:rPr lang="bg-BG" sz="4400" dirty="0"/>
              <a:t> </a:t>
            </a:r>
            <a:r>
              <a:rPr lang="en-US" sz="4400" dirty="0"/>
              <a:t>== </a:t>
            </a:r>
            <a:r>
              <a:rPr lang="bg-BG" sz="4400" b="1" dirty="0"/>
              <a:t>документ</a:t>
            </a:r>
            <a:r>
              <a:rPr lang="bg-BG" sz="4400" dirty="0"/>
              <a:t> с </a:t>
            </a:r>
            <a:r>
              <a:rPr lang="bg-BG" sz="4400" b="1" dirty="0"/>
              <a:t>елементи</a:t>
            </a:r>
            <a:r>
              <a:rPr lang="bg-BG" sz="4400" dirty="0"/>
              <a:t> (текст, изображения, връзки и др.)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Домейн</a:t>
            </a:r>
            <a:r>
              <a:rPr lang="bg-BG" sz="4400" dirty="0"/>
              <a:t> =</a:t>
            </a:r>
            <a:r>
              <a:rPr lang="en-US" sz="4400" dirty="0"/>
              <a:t>=</a:t>
            </a:r>
            <a:r>
              <a:rPr lang="bg-BG" sz="4400" dirty="0"/>
              <a:t> </a:t>
            </a:r>
            <a:r>
              <a:rPr lang="bg-BG" sz="4400" b="1" dirty="0"/>
              <a:t>уникалното име </a:t>
            </a:r>
            <a:r>
              <a:rPr lang="bg-BG" sz="4400" dirty="0"/>
              <a:t>на </a:t>
            </a:r>
            <a:r>
              <a:rPr lang="bg-BG" sz="4400" b="1" dirty="0"/>
              <a:t>уеб сайт </a:t>
            </a:r>
            <a:r>
              <a:rPr lang="bg-BG" sz="4400" dirty="0"/>
              <a:t>в </a:t>
            </a:r>
            <a:r>
              <a:rPr lang="bg-BG" sz="4400" b="1" dirty="0"/>
              <a:t>интернет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Хостинг</a:t>
            </a:r>
            <a:r>
              <a:rPr lang="bg-BG" sz="4400" dirty="0"/>
              <a:t> =</a:t>
            </a:r>
            <a:r>
              <a:rPr lang="en-US" sz="4400" dirty="0"/>
              <a:t>= </a:t>
            </a:r>
            <a:r>
              <a:rPr lang="bg-BG" sz="4400" b="1" dirty="0"/>
              <a:t>услуга</a:t>
            </a:r>
            <a:r>
              <a:rPr lang="bg-BG" sz="4400" dirty="0"/>
              <a:t>, осигуряваща </a:t>
            </a:r>
            <a:r>
              <a:rPr lang="bg-BG" sz="4400" b="1" dirty="0"/>
              <a:t>сървърно пространство </a:t>
            </a:r>
            <a:r>
              <a:rPr lang="bg-BG" sz="4400" dirty="0"/>
              <a:t>за </a:t>
            </a:r>
            <a:r>
              <a:rPr lang="bg-BG" sz="4400" b="1" dirty="0"/>
              <a:t>съхранение на данни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IP </a:t>
            </a:r>
            <a:r>
              <a:rPr lang="bg-BG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адрес </a:t>
            </a:r>
            <a:r>
              <a:rPr lang="bg-BG" sz="4400" dirty="0"/>
              <a:t>=</a:t>
            </a:r>
            <a:r>
              <a:rPr lang="en-US" sz="4400" dirty="0"/>
              <a:t>= </a:t>
            </a:r>
            <a:r>
              <a:rPr lang="bg-BG" sz="4400" b="1" dirty="0"/>
              <a:t>уникален цифров идентификатор </a:t>
            </a:r>
            <a:r>
              <a:rPr lang="bg-BG" sz="4400" dirty="0"/>
              <a:t>на </a:t>
            </a:r>
            <a:r>
              <a:rPr lang="bg-BG" sz="4400" b="1" dirty="0"/>
              <a:t>устройство</a:t>
            </a:r>
            <a:r>
              <a:rPr lang="bg-BG" sz="4400" dirty="0"/>
              <a:t> или </a:t>
            </a:r>
            <a:r>
              <a:rPr lang="bg-BG" sz="4400" b="1" dirty="0"/>
              <a:t>сървър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DNS </a:t>
            </a:r>
            <a:r>
              <a:rPr lang="en-US" sz="4400" dirty="0"/>
              <a:t>== </a:t>
            </a:r>
            <a:r>
              <a:rPr lang="bg-BG" sz="4400" b="1" dirty="0"/>
              <a:t>система</a:t>
            </a:r>
            <a:r>
              <a:rPr lang="bg-BG" sz="4400" dirty="0"/>
              <a:t> за </a:t>
            </a:r>
            <a:r>
              <a:rPr lang="bg-BG" sz="4400" b="1" dirty="0"/>
              <a:t>превеждане</a:t>
            </a:r>
            <a:r>
              <a:rPr lang="bg-BG" sz="4400" dirty="0"/>
              <a:t> на </a:t>
            </a:r>
            <a:r>
              <a:rPr lang="bg-BG" sz="4400" b="1" dirty="0"/>
              <a:t>домейна</a:t>
            </a:r>
            <a:r>
              <a:rPr lang="bg-BG" sz="4400" dirty="0"/>
              <a:t> в </a:t>
            </a:r>
            <a:r>
              <a:rPr lang="en-US" sz="4400" b="1" dirty="0"/>
              <a:t>IP</a:t>
            </a:r>
            <a:r>
              <a:rPr lang="bg-BG" sz="4400" b="1" dirty="0"/>
              <a:t> адрес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4400" dirty="0"/>
              <a:t> == </a:t>
            </a:r>
            <a:r>
              <a:rPr lang="bg-BG" sz="4400" b="1" dirty="0"/>
              <a:t>пълният уеб адрес</a:t>
            </a:r>
            <a:r>
              <a:rPr lang="bg-BG" sz="4400" dirty="0"/>
              <a:t>, показващ </a:t>
            </a:r>
            <a:r>
              <a:rPr lang="bg-BG" sz="4400" b="1" dirty="0"/>
              <a:t>местоположението</a:t>
            </a:r>
            <a:r>
              <a:rPr lang="bg-BG" sz="4400" dirty="0"/>
              <a:t> на </a:t>
            </a:r>
            <a:r>
              <a:rPr lang="bg-BG" sz="4400" b="1" dirty="0"/>
              <a:t>конкретен ресурс </a:t>
            </a:r>
            <a:r>
              <a:rPr lang="bg-BG" sz="4400" dirty="0"/>
              <a:t>в </a:t>
            </a:r>
            <a:r>
              <a:rPr lang="bg-BG" sz="4400" b="1" dirty="0"/>
              <a:t>интернет</a:t>
            </a:r>
          </a:p>
          <a:p>
            <a:pPr marL="360363" indent="-360363" fontAlgn="base">
              <a:buClr>
                <a:schemeClr val="bg2"/>
              </a:buClr>
            </a:pPr>
            <a:endParaRPr lang="bg-BG" sz="4400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18471</TotalTime>
  <Words>2463</Words>
  <Application>Microsoft Macintosh PowerPoint</Application>
  <PresentationFormat>Widescreen</PresentationFormat>
  <Paragraphs>378</Paragraphs>
  <Slides>41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Wingdings</vt:lpstr>
      <vt:lpstr>SoftUni</vt:lpstr>
      <vt:lpstr>Уеб сайтове</vt:lpstr>
      <vt:lpstr>Съдържание</vt:lpstr>
      <vt:lpstr>Уеб сайтове</vt:lpstr>
      <vt:lpstr>Уеб сайт</vt:lpstr>
      <vt:lpstr>Основни видове уеб сайтове (1)</vt:lpstr>
      <vt:lpstr>Основни видове уеб сайтове (2)</vt:lpstr>
      <vt:lpstr>Видове уеб сайтове според предназначението (1)</vt:lpstr>
      <vt:lpstr>Видове уеб сайтове според предназначението (2)</vt:lpstr>
      <vt:lpstr>Етапи при създаване на уеб сайт (1)</vt:lpstr>
      <vt:lpstr>Етапи при създаване на уеб сайт (2)</vt:lpstr>
      <vt:lpstr>Етапи при създаване на уеб сайт (3)</vt:lpstr>
      <vt:lpstr>Роли при създаване на уеб сайт</vt:lpstr>
      <vt:lpstr>Цел и целеви групи (1)</vt:lpstr>
      <vt:lpstr>Цел и целеви групи (2)</vt:lpstr>
      <vt:lpstr>Уеб страници</vt:lpstr>
      <vt:lpstr>Уеб страница</vt:lpstr>
      <vt:lpstr>Видове уеб страници</vt:lpstr>
      <vt:lpstr>Основни характеристики на уеб страниците</vt:lpstr>
      <vt:lpstr>Домейн и хостинг услуги</vt:lpstr>
      <vt:lpstr>Домейн (Domain)</vt:lpstr>
      <vt:lpstr>Нива на домейните (Domain Levels) (1)</vt:lpstr>
      <vt:lpstr>Нива на домейните (Domain Levels) (2)</vt:lpstr>
      <vt:lpstr>Хостинг (Hosting)</vt:lpstr>
      <vt:lpstr>Видове хостинг</vt:lpstr>
      <vt:lpstr>Основни характеристики на хостинга</vt:lpstr>
      <vt:lpstr>Контролен панел</vt:lpstr>
      <vt:lpstr>Връзка между домейн и хостинг</vt:lpstr>
      <vt:lpstr>Интернет адресиране</vt:lpstr>
      <vt:lpstr>IP адрес (Internet Protocol Address)</vt:lpstr>
      <vt:lpstr>Видове IP адреси според версията</vt:lpstr>
      <vt:lpstr>DNS (Domain Name System)</vt:lpstr>
      <vt:lpstr>URL (Uniform Resource Locator) </vt:lpstr>
      <vt:lpstr>Зареждане на уеб сайт</vt:lpstr>
      <vt:lpstr>Пример</vt:lpstr>
      <vt:lpstr>Цел и целева група на уеб сайт</vt:lpstr>
      <vt:lpstr>Определяне на цел на уеб сайта</vt:lpstr>
      <vt:lpstr>Определяне на целева група на уеб сайта</vt:lpstr>
      <vt:lpstr>Примерни страници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Уеб сайтове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265</cp:revision>
  <dcterms:created xsi:type="dcterms:W3CDTF">2018-05-23T13:08:44Z</dcterms:created>
  <dcterms:modified xsi:type="dcterms:W3CDTF">2026-09-04T11:05:33Z</dcterms:modified>
  <cp:category/>
</cp:coreProperties>
</file>