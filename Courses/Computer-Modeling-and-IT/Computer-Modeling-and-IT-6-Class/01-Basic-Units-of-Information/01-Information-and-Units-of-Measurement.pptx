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handoutMasterIdLst>
    <p:handoutMasterId r:id="rId20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4" r:id="rId10"/>
    <p:sldId id="595" r:id="rId11"/>
    <p:sldId id="596" r:id="rId12"/>
    <p:sldId id="597" r:id="rId13"/>
    <p:sldId id="598" r:id="rId14"/>
    <p:sldId id="599" r:id="rId15"/>
    <p:sldId id="586" r:id="rId16"/>
    <p:sldId id="504" r:id="rId17"/>
    <p:sldId id="5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Информация" id="{AF27D06C-29D0-423A-91CD-6FA572A2D139}">
          <p14:sldIdLst>
            <p14:sldId id="587"/>
            <p14:sldId id="588"/>
            <p14:sldId id="589"/>
            <p14:sldId id="590"/>
            <p14:sldId id="591"/>
            <p14:sldId id="592"/>
            <p14:sldId id="594"/>
            <p14:sldId id="595"/>
          </p14:sldIdLst>
        </p14:section>
        <p14:section name="Основни единици за измерване на информация" id="{4108FE9B-7A77-4C86-BC4F-AD6E3BE63059}">
          <p14:sldIdLst>
            <p14:sldId id="596"/>
            <p14:sldId id="597"/>
            <p14:sldId id="598"/>
            <p14:sldId id="599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2" autoAdjust="0"/>
    <p:restoredTop sz="95215" autoAdjust="0"/>
  </p:normalViewPr>
  <p:slideViewPr>
    <p:cSldViewPr showGuides="1">
      <p:cViewPr varScale="1">
        <p:scale>
          <a:sx n="105" d="100"/>
          <a:sy n="105" d="100"/>
        </p:scale>
        <p:origin x="900" y="10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470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01009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2124001"/>
            <a:ext cx="11083636" cy="629999"/>
          </a:xfrm>
        </p:spPr>
        <p:txBody>
          <a:bodyPr>
            <a:normAutofit/>
          </a:bodyPr>
          <a:lstStyle/>
          <a:p>
            <a:r>
              <a:rPr lang="bg-BG" dirty="0"/>
              <a:t>Действия с информация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128" y="321501"/>
            <a:ext cx="8008872" cy="1647646"/>
          </a:xfrm>
        </p:spPr>
        <p:txBody>
          <a:bodyPr>
            <a:normAutofit fontScale="90000"/>
          </a:bodyPr>
          <a:lstStyle/>
          <a:p>
            <a:r>
              <a:rPr lang="bg-BG" dirty="0"/>
              <a:t>Информация. Мерни единици за информация</a:t>
            </a:r>
            <a:endParaRPr lang="en-US" dirty="0"/>
          </a:p>
        </p:txBody>
      </p:sp>
      <p:pic>
        <p:nvPicPr>
          <p:cNvPr id="1028" name="Picture 4" descr="Prestigieus Verblinding mode is a computer an information system kraai  wenselijk Overredend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r="205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Информация</a:t>
            </a:r>
            <a:r>
              <a:rPr lang="bg-BG" dirty="0"/>
              <a:t>:</a:t>
            </a:r>
          </a:p>
          <a:p>
            <a:pPr lvl="1"/>
            <a:r>
              <a:rPr lang="bg-BG" dirty="0"/>
              <a:t>Събиране</a:t>
            </a:r>
          </a:p>
          <a:p>
            <a:pPr lvl="1"/>
            <a:r>
              <a:rPr lang="bg-BG" dirty="0"/>
              <a:t>Съхраняване</a:t>
            </a:r>
          </a:p>
          <a:p>
            <a:pPr lvl="1"/>
            <a:r>
              <a:rPr lang="bg-BG" dirty="0"/>
              <a:t>Обработване</a:t>
            </a:r>
          </a:p>
          <a:p>
            <a:pPr lvl="1"/>
            <a:r>
              <a:rPr lang="bg-BG" dirty="0"/>
              <a:t>Разпространяване</a:t>
            </a:r>
          </a:p>
          <a:p>
            <a:r>
              <a:rPr lang="bg-BG" dirty="0"/>
              <a:t>Основни </a:t>
            </a:r>
            <a:r>
              <a:rPr lang="bg-BG" b="1" dirty="0"/>
              <a:t>единици</a:t>
            </a:r>
            <a:r>
              <a:rPr lang="bg-BG" dirty="0"/>
              <a:t> за </a:t>
            </a:r>
            <a:r>
              <a:rPr lang="bg-BG" b="1" dirty="0"/>
              <a:t>измерване</a:t>
            </a:r>
            <a:r>
              <a:rPr lang="bg-BG" dirty="0"/>
              <a:t> на информация</a:t>
            </a:r>
          </a:p>
          <a:p>
            <a:pPr lvl="1"/>
            <a:r>
              <a:rPr lang="bg-BG" dirty="0"/>
              <a:t>Бит, байт, килобайт, мегабайт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F428AF-5C0F-FF61-F1B9-EB743FEAB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>
          <a:xfrm>
            <a:off x="615109" y="5720916"/>
            <a:ext cx="10961783" cy="768084"/>
          </a:xfrm>
        </p:spPr>
        <p:txBody>
          <a:bodyPr/>
          <a:lstStyle/>
          <a:p>
            <a:r>
              <a:rPr lang="bg-BG" dirty="0"/>
              <a:t>Основни действия с информацията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839825"/>
            <a:ext cx="10961783" cy="768084"/>
          </a:xfrm>
        </p:spPr>
        <p:txBody>
          <a:bodyPr/>
          <a:lstStyle/>
          <a:p>
            <a:r>
              <a:rPr lang="bg-BG" dirty="0"/>
              <a:t>Информация</a:t>
            </a:r>
            <a:endParaRPr lang="en-US" dirty="0"/>
          </a:p>
        </p:txBody>
      </p:sp>
      <p:pic>
        <p:nvPicPr>
          <p:cNvPr id="2050" name="Picture 2" descr="Computer Information Systems (CIS) – College of Alame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787" y="559520"/>
            <a:ext cx="5760425" cy="403229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73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dirty="0"/>
              <a:t>Какво представляват </a:t>
            </a:r>
            <a:r>
              <a:rPr lang="bg-BG" b="1" dirty="0">
                <a:solidFill>
                  <a:schemeClr val="bg1"/>
                </a:solidFill>
              </a:rPr>
              <a:t>данните</a:t>
            </a:r>
            <a:r>
              <a:rPr lang="bg-BG" dirty="0"/>
              <a:t>?</a:t>
            </a:r>
          </a:p>
          <a:p>
            <a:pPr lvl="1"/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Данни</a:t>
            </a:r>
            <a:r>
              <a:rPr lang="bg-BG" dirty="0"/>
              <a:t> – символно записани факти</a:t>
            </a:r>
          </a:p>
          <a:p>
            <a:pPr lvl="2"/>
            <a:r>
              <a:rPr lang="ru-RU" dirty="0"/>
              <a:t>Те са </a:t>
            </a:r>
            <a:r>
              <a:rPr lang="ru-RU" b="1" dirty="0"/>
              <a:t>неструктурирани сведения </a:t>
            </a:r>
            <a:r>
              <a:rPr lang="ru-RU" dirty="0"/>
              <a:t>за даден обект или явление</a:t>
            </a:r>
            <a:endParaRPr lang="bg-BG" dirty="0"/>
          </a:p>
          <a:p>
            <a:pPr lvl="2"/>
            <a:r>
              <a:rPr lang="bg-BG" dirty="0"/>
              <a:t>Текст, звук, изображение, ...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Нека си припомним! (1)</a:t>
            </a:r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4044950" cy="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2" name="Picture 10" descr="What is a Good Master's in Information Technology Salary?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4"/>
          <a:stretch/>
        </p:blipFill>
        <p:spPr bwMode="auto">
          <a:xfrm>
            <a:off x="1341070" y="4059000"/>
            <a:ext cx="4169232" cy="241935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omputer Science &amp; Information Technology – Shree M. &amp; N. Virani Science  Colle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000" y="4059000"/>
            <a:ext cx="4876800" cy="241935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66950D3-34FC-A4B8-6EBF-FE8459B5E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768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Какво е </a:t>
            </a:r>
            <a:r>
              <a:rPr lang="bg-BG" b="1" dirty="0"/>
              <a:t>информация</a:t>
            </a:r>
            <a:r>
              <a:rPr lang="bg-BG" dirty="0"/>
              <a:t>?</a:t>
            </a:r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Информация</a:t>
            </a:r>
            <a:r>
              <a:rPr lang="bg-BG" dirty="0"/>
              <a:t> </a:t>
            </a:r>
            <a:r>
              <a:rPr lang="en-US" dirty="0"/>
              <a:t>– </a:t>
            </a:r>
            <a:r>
              <a:rPr lang="bg-BG" dirty="0"/>
              <a:t>съвкупност от структурирани </a:t>
            </a:r>
            <a:r>
              <a:rPr lang="bg-BG" b="1" dirty="0"/>
              <a:t>данни</a:t>
            </a:r>
            <a:r>
              <a:rPr lang="bg-BG" dirty="0"/>
              <a:t> за обекти, процеси и явления, които </a:t>
            </a:r>
            <a:r>
              <a:rPr lang="bg-BG" b="1" dirty="0"/>
              <a:t>обогатяват</a:t>
            </a:r>
            <a:r>
              <a:rPr lang="bg-BG" dirty="0"/>
              <a:t> представата ни за тях</a:t>
            </a:r>
            <a:endParaRPr lang="bg-BG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Нека си припомним! (2)</a:t>
            </a:r>
            <a:endParaRPr lang="en-US" dirty="0"/>
          </a:p>
        </p:txBody>
      </p:sp>
      <p:pic>
        <p:nvPicPr>
          <p:cNvPr id="4098" name="Picture 2" descr="Information Dissemination - CyberHo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67" y="3336088"/>
            <a:ext cx="5422733" cy="308794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bout UMIT | University of Miami Information Technolog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038" y="3339000"/>
            <a:ext cx="4640962" cy="308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408E2-236F-76A8-A4B1-5C8FCC674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971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Събирането на </a:t>
            </a:r>
            <a:r>
              <a:rPr lang="bg-BG" b="1" dirty="0"/>
              <a:t>информация</a:t>
            </a:r>
            <a:r>
              <a:rPr lang="bg-BG" dirty="0"/>
              <a:t> в компютрите се извършва с помощта на </a:t>
            </a:r>
            <a:r>
              <a:rPr lang="bg-BG" b="1" dirty="0"/>
              <a:t>входни устройства </a:t>
            </a:r>
            <a:r>
              <a:rPr lang="bg-BG" dirty="0"/>
              <a:t>като например:</a:t>
            </a:r>
          </a:p>
          <a:p>
            <a:pPr lvl="1"/>
            <a:r>
              <a:rPr lang="bg-BG" dirty="0"/>
              <a:t>Клавиатура</a:t>
            </a:r>
          </a:p>
          <a:p>
            <a:pPr lvl="1"/>
            <a:r>
              <a:rPr lang="bg-BG" dirty="0"/>
              <a:t>Мишка</a:t>
            </a:r>
          </a:p>
          <a:p>
            <a:pPr lvl="1"/>
            <a:r>
              <a:rPr lang="bg-BG" dirty="0"/>
              <a:t>Микрофон</a:t>
            </a:r>
          </a:p>
          <a:p>
            <a:pPr lvl="1"/>
            <a:r>
              <a:rPr lang="bg-BG" dirty="0"/>
              <a:t>Скенер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Събиране на информация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4" b="30549"/>
          <a:stretch/>
        </p:blipFill>
        <p:spPr>
          <a:xfrm>
            <a:off x="3486915" y="2345636"/>
            <a:ext cx="4319085" cy="18933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5" t="25459" r="13099" b="18529"/>
          <a:stretch/>
        </p:blipFill>
        <p:spPr>
          <a:xfrm>
            <a:off x="8668055" y="1896920"/>
            <a:ext cx="2565000" cy="1968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817" y="4509000"/>
            <a:ext cx="1814977" cy="199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00" y="4052718"/>
            <a:ext cx="2477526" cy="27681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80136-86CC-0A3B-F9F7-F2BBDD044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258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 цел </a:t>
            </a:r>
            <a:r>
              <a:rPr lang="bg-BG" b="1" dirty="0"/>
              <a:t>запазване</a:t>
            </a:r>
            <a:r>
              <a:rPr lang="bg-BG" dirty="0"/>
              <a:t> и </a:t>
            </a:r>
            <a:r>
              <a:rPr lang="bg-BG" b="1" dirty="0"/>
              <a:t>преизползване</a:t>
            </a:r>
            <a:r>
              <a:rPr lang="bg-BG" dirty="0"/>
              <a:t> на информация, тя се </a:t>
            </a:r>
            <a:r>
              <a:rPr lang="bg-BG" b="1" dirty="0"/>
              <a:t>съхранява</a:t>
            </a:r>
            <a:r>
              <a:rPr lang="bg-BG" dirty="0"/>
              <a:t> на различни</a:t>
            </a:r>
            <a:r>
              <a:rPr lang="en-US" dirty="0"/>
              <a:t> </a:t>
            </a:r>
            <a:r>
              <a:rPr lang="bg-BG" dirty="0"/>
              <a:t>носители на информация (</a:t>
            </a:r>
            <a:r>
              <a:rPr lang="bg-BG" b="1" dirty="0"/>
              <a:t>НИ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Твърд диск</a:t>
            </a:r>
            <a:r>
              <a:rPr lang="en-US" dirty="0"/>
              <a:t> (</a:t>
            </a:r>
            <a:r>
              <a:rPr lang="en-US" b="1" dirty="0"/>
              <a:t>HDD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Дигитален видеодиск </a:t>
            </a:r>
            <a:r>
              <a:rPr lang="en-US" dirty="0"/>
              <a:t>(</a:t>
            </a:r>
            <a:r>
              <a:rPr lang="en-US" b="1" dirty="0"/>
              <a:t>DVD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Флашпамет (</a:t>
            </a:r>
            <a:r>
              <a:rPr lang="en-US" b="1" dirty="0"/>
              <a:t>USB</a:t>
            </a:r>
            <a:r>
              <a:rPr lang="bg-BG" b="1" dirty="0"/>
              <a:t> </a:t>
            </a:r>
            <a:r>
              <a:rPr lang="en-US" b="1" dirty="0"/>
              <a:t>stick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Съхраняване на информация</a:t>
            </a:r>
            <a:endParaRPr lang="en-US" dirty="0"/>
          </a:p>
        </p:txBody>
      </p:sp>
      <p:pic>
        <p:nvPicPr>
          <p:cNvPr id="5" name="Picture 2" descr="Download HDD Hard Disk Drive PNG Image for Free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76548" y="2297491"/>
            <a:ext cx="2934452" cy="282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823" y="3901037"/>
            <a:ext cx="2629716" cy="2541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602" y="4710985"/>
            <a:ext cx="4500000" cy="172304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790103-9754-5FB0-CE40-678948F27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675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/>
              <a:t>Обработването</a:t>
            </a:r>
            <a:r>
              <a:rPr lang="bg-BG" dirty="0"/>
              <a:t> на информация включва </a:t>
            </a:r>
            <a:r>
              <a:rPr lang="bg-BG" b="1" dirty="0"/>
              <a:t>анализиране</a:t>
            </a:r>
            <a:r>
              <a:rPr lang="bg-BG" dirty="0"/>
              <a:t>, </a:t>
            </a:r>
            <a:r>
              <a:rPr lang="bg-BG" b="1" dirty="0"/>
              <a:t>редактиране</a:t>
            </a:r>
            <a:r>
              <a:rPr lang="bg-BG" dirty="0"/>
              <a:t> и извършване на различни операции</a:t>
            </a:r>
          </a:p>
          <a:p>
            <a:pPr lvl="1"/>
            <a:r>
              <a:rPr lang="bg-BG" dirty="0"/>
              <a:t>Осъществява се от различни </a:t>
            </a:r>
            <a:r>
              <a:rPr lang="bg-BG" b="1" dirty="0"/>
              <a:t>компютърни програми</a:t>
            </a:r>
          </a:p>
          <a:p>
            <a:r>
              <a:rPr lang="bg-BG" dirty="0"/>
              <a:t>Вие вече познавате и използвате различни програми за обработка на:</a:t>
            </a:r>
          </a:p>
          <a:p>
            <a:pPr lvl="1"/>
            <a:r>
              <a:rPr lang="bg-BG" dirty="0"/>
              <a:t>Текст</a:t>
            </a:r>
          </a:p>
          <a:p>
            <a:pPr lvl="1"/>
            <a:r>
              <a:rPr lang="bg-BG" dirty="0"/>
              <a:t>Изображения</a:t>
            </a:r>
          </a:p>
          <a:p>
            <a:pPr lvl="1"/>
            <a:r>
              <a:rPr lang="bg-BG" dirty="0"/>
              <a:t>Таблици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Обработване на информация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887" y="4147525"/>
            <a:ext cx="2117433" cy="1969212"/>
          </a:xfrm>
          <a:prstGeom prst="rect">
            <a:avLst/>
          </a:prstGeom>
        </p:spPr>
      </p:pic>
      <p:pic>
        <p:nvPicPr>
          <p:cNvPr id="6146" name="Picture 2" descr="This the paint logo. Paint allows you to draw on th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460" y="394833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000" y="4147525"/>
            <a:ext cx="2118144" cy="19692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1671F-B946-ABB2-7FC6-798F4BACC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41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Информацията може да бъде </a:t>
            </a:r>
            <a:r>
              <a:rPr lang="bg-BG" b="1" dirty="0"/>
              <a:t>разпространявана</a:t>
            </a:r>
            <a:r>
              <a:rPr lang="bg-BG" dirty="0"/>
              <a:t> чрез </a:t>
            </a:r>
            <a:r>
              <a:rPr lang="bg-BG" b="1" dirty="0"/>
              <a:t>изходни устройства</a:t>
            </a:r>
            <a:r>
              <a:rPr lang="bg-BG" dirty="0"/>
              <a:t>:</a:t>
            </a:r>
          </a:p>
          <a:p>
            <a:pPr lvl="1"/>
            <a:r>
              <a:rPr lang="bg-BG" dirty="0"/>
              <a:t>Принтер</a:t>
            </a:r>
          </a:p>
          <a:p>
            <a:pPr lvl="1"/>
            <a:r>
              <a:rPr lang="bg-BG" dirty="0"/>
              <a:t>Тонколони</a:t>
            </a:r>
          </a:p>
          <a:p>
            <a:pPr lvl="1"/>
            <a:r>
              <a:rPr lang="bg-BG" dirty="0"/>
              <a:t>Слушалки</a:t>
            </a:r>
          </a:p>
          <a:p>
            <a:pPr lvl="1"/>
            <a:r>
              <a:rPr lang="bg-BG" dirty="0"/>
              <a:t>Монитор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Разпостраняване на информация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4" b="15044"/>
          <a:stretch/>
        </p:blipFill>
        <p:spPr>
          <a:xfrm>
            <a:off x="4296000" y="2343552"/>
            <a:ext cx="2671995" cy="19051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2" b="14572"/>
          <a:stretch/>
        </p:blipFill>
        <p:spPr>
          <a:xfrm>
            <a:off x="7776834" y="2046279"/>
            <a:ext cx="2858425" cy="19458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/>
          <a:stretch/>
        </p:blipFill>
        <p:spPr>
          <a:xfrm>
            <a:off x="3126000" y="4355102"/>
            <a:ext cx="1984272" cy="24093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4" b="5015"/>
          <a:stretch/>
        </p:blipFill>
        <p:spPr>
          <a:xfrm>
            <a:off x="7414110" y="4098530"/>
            <a:ext cx="3204075" cy="2520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D0899-D7E7-ADD5-D216-C8BD7BD4C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583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Информация – схема 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 bwMode="auto">
          <a:xfrm>
            <a:off x="4678500" y="1944000"/>
            <a:ext cx="2835000" cy="126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Събиране на информация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966000" y="3381926"/>
            <a:ext cx="2835000" cy="126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Съхраняване на информация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8481000" y="3381926"/>
            <a:ext cx="2835000" cy="126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Обработване на информация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4430999" y="4869000"/>
            <a:ext cx="3349251" cy="126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Разпространяване на информация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736000" y="1314000"/>
            <a:ext cx="0" cy="49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080040" y="1314000"/>
            <a:ext cx="0" cy="49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456000" y="1314000"/>
            <a:ext cx="0" cy="49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901000" y="2484000"/>
            <a:ext cx="1530000" cy="72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780251" y="2484000"/>
            <a:ext cx="1692309" cy="72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080040" y="3294000"/>
            <a:ext cx="0" cy="148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638286" y="4912539"/>
            <a:ext cx="1692309" cy="72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7861405" y="4906822"/>
            <a:ext cx="1530000" cy="72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736000" y="6259500"/>
            <a:ext cx="0" cy="49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080040" y="6259500"/>
            <a:ext cx="0" cy="49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456000" y="6259500"/>
            <a:ext cx="0" cy="495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3981000" y="3781822"/>
            <a:ext cx="4275000" cy="71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985664" y="4263741"/>
            <a:ext cx="4270336" cy="130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CBCB68-48B3-65B4-6790-8B9332371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4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831001" y="4776662"/>
            <a:ext cx="10530000" cy="1802338"/>
          </a:xfrm>
        </p:spPr>
        <p:txBody>
          <a:bodyPr/>
          <a:lstStyle/>
          <a:p>
            <a:r>
              <a:rPr lang="ru-RU" dirty="0"/>
              <a:t>Основни единици за измерване на информация</a:t>
            </a:r>
            <a:endParaRPr lang="en-US" dirty="0"/>
          </a:p>
        </p:txBody>
      </p:sp>
      <p:pic>
        <p:nvPicPr>
          <p:cNvPr id="7170" name="Picture 2" descr="Binary code zero one matrix green background Vector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4124"/>
          <a:stretch/>
        </p:blipFill>
        <p:spPr bwMode="auto">
          <a:xfrm>
            <a:off x="3433500" y="464507"/>
            <a:ext cx="5325000" cy="424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87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210598" cy="5528766"/>
          </a:xfrm>
        </p:spPr>
        <p:txBody>
          <a:bodyPr anchor="ctr">
            <a:normAutofit/>
          </a:bodyPr>
          <a:lstStyle/>
          <a:p>
            <a:r>
              <a:rPr lang="bg-BG" dirty="0"/>
              <a:t>През </a:t>
            </a:r>
            <a:r>
              <a:rPr lang="bg-BG" b="1" dirty="0"/>
              <a:t>1946</a:t>
            </a:r>
            <a:r>
              <a:rPr lang="bg-BG" dirty="0"/>
              <a:t> г. американският учен </a:t>
            </a:r>
            <a:r>
              <a:rPr lang="bg-BG" b="1" dirty="0"/>
              <a:t>Джон фон Нойман </a:t>
            </a:r>
            <a:r>
              <a:rPr lang="bg-BG" dirty="0"/>
              <a:t>разработва</a:t>
            </a:r>
          </a:p>
          <a:p>
            <a:pPr lvl="1"/>
            <a:r>
              <a:rPr lang="bg-BG" dirty="0"/>
              <a:t>Архитектурата на днешните компютърни системи</a:t>
            </a:r>
          </a:p>
          <a:p>
            <a:r>
              <a:rPr lang="bg-BG" dirty="0"/>
              <a:t>Предлага информацията в компютрите да се представя чрез </a:t>
            </a:r>
            <a:r>
              <a:rPr lang="bg-BG" b="1" dirty="0"/>
              <a:t>двоична бройна система</a:t>
            </a:r>
          </a:p>
          <a:p>
            <a:pPr lvl="1"/>
            <a:r>
              <a:rPr lang="bg-BG" dirty="0"/>
              <a:t>Използва само две цифри: "</a:t>
            </a:r>
            <a:r>
              <a:rPr lang="bg-BG" b="1" dirty="0"/>
              <a:t>0</a:t>
            </a:r>
            <a:r>
              <a:rPr lang="bg-BG" dirty="0"/>
              <a:t>" и "</a:t>
            </a:r>
            <a:r>
              <a:rPr lang="bg-BG" b="1" dirty="0"/>
              <a:t>1</a:t>
            </a:r>
            <a:r>
              <a:rPr lang="bg-BG" dirty="0"/>
              <a:t>"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История на </a:t>
            </a:r>
            <a:r>
              <a:rPr lang="ru-RU" dirty="0"/>
              <a:t>компютърната архитектура</a:t>
            </a:r>
            <a:endParaRPr lang="en-US" dirty="0"/>
          </a:p>
        </p:txBody>
      </p:sp>
      <p:pic>
        <p:nvPicPr>
          <p:cNvPr id="8194" name="Picture 2" descr="Джон фон Нойман – Уикипед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000" y="1336107"/>
            <a:ext cx="4050000" cy="52488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7E5F3A-EAED-FB67-EB19-217E0627E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82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000" y="1196125"/>
            <a:ext cx="11942498" cy="5528766"/>
          </a:xfrm>
        </p:spPr>
        <p:txBody>
          <a:bodyPr/>
          <a:lstStyle/>
          <a:p>
            <a:r>
              <a:rPr lang="ru-RU" dirty="0"/>
              <a:t>Най-малката единица за измерване е </a:t>
            </a:r>
            <a:r>
              <a:rPr lang="ru-RU" b="1" dirty="0">
                <a:solidFill>
                  <a:schemeClr val="bg1"/>
                </a:solidFill>
              </a:rPr>
              <a:t>бит</a:t>
            </a:r>
            <a:r>
              <a:rPr lang="ru-RU" dirty="0"/>
              <a:t> (</a:t>
            </a:r>
            <a:r>
              <a:rPr lang="en-US" b="1" dirty="0"/>
              <a:t>bit</a:t>
            </a:r>
            <a:r>
              <a:rPr lang="ru-RU" dirty="0"/>
              <a:t>), произлизащ от "</a:t>
            </a:r>
            <a:r>
              <a:rPr lang="ru-RU" b="1" dirty="0">
                <a:solidFill>
                  <a:schemeClr val="bg1"/>
                </a:solidFill>
              </a:rPr>
              <a:t>bi</a:t>
            </a:r>
            <a:r>
              <a:rPr lang="ru-RU" b="1" dirty="0"/>
              <a:t>nary digi</a:t>
            </a:r>
            <a:r>
              <a:rPr lang="ru-RU" b="1" dirty="0">
                <a:solidFill>
                  <a:schemeClr val="bg1"/>
                </a:solidFill>
              </a:rPr>
              <a:t>t</a:t>
            </a:r>
            <a:r>
              <a:rPr lang="ru-RU" dirty="0"/>
              <a:t>"</a:t>
            </a:r>
            <a:r>
              <a:rPr lang="en-US" dirty="0"/>
              <a:t> </a:t>
            </a:r>
            <a:r>
              <a:rPr lang="bg-BG" dirty="0"/>
              <a:t>(двоична цифра)</a:t>
            </a:r>
          </a:p>
          <a:p>
            <a:pPr lvl="1"/>
            <a:r>
              <a:rPr lang="bg-BG" dirty="0"/>
              <a:t>Битът може да приема стойностите "</a:t>
            </a:r>
            <a:r>
              <a:rPr lang="bg-BG" b="1" dirty="0"/>
              <a:t>0</a:t>
            </a:r>
            <a:r>
              <a:rPr lang="bg-BG" dirty="0"/>
              <a:t>" или "</a:t>
            </a:r>
            <a:r>
              <a:rPr lang="bg-BG" b="1" dirty="0"/>
              <a:t>1</a:t>
            </a:r>
            <a:r>
              <a:rPr lang="bg-BG" dirty="0"/>
              <a:t>" (</a:t>
            </a:r>
            <a:r>
              <a:rPr lang="en-US" b="1" dirty="0"/>
              <a:t>false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/>
              <a:t>true</a:t>
            </a:r>
            <a:r>
              <a:rPr lang="bg-BG" dirty="0"/>
              <a:t>)</a:t>
            </a:r>
            <a:endParaRPr lang="ru-RU" dirty="0"/>
          </a:p>
          <a:p>
            <a:r>
              <a:rPr lang="ru-RU" dirty="0"/>
              <a:t>За по-голям обем информация се използват поредици от битове, където </a:t>
            </a:r>
            <a:r>
              <a:rPr lang="ru-RU" b="1" dirty="0"/>
              <a:t>осем бита </a:t>
            </a:r>
            <a:r>
              <a:rPr lang="ru-RU" dirty="0"/>
              <a:t>формират </a:t>
            </a:r>
            <a:r>
              <a:rPr lang="ru-RU" b="1" dirty="0">
                <a:solidFill>
                  <a:schemeClr val="bg1"/>
                </a:solidFill>
              </a:rPr>
              <a:t>байт</a:t>
            </a:r>
            <a:r>
              <a:rPr lang="ru-RU" dirty="0"/>
              <a:t> (</a:t>
            </a:r>
            <a:r>
              <a:rPr lang="en-US" b="1" dirty="0"/>
              <a:t>byte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единици</a:t>
            </a:r>
            <a:r>
              <a:rPr lang="en-US" dirty="0"/>
              <a:t>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7869" y="4300750"/>
            <a:ext cx="1728308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dirty="0"/>
              <a:t>8 Bits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CD23E5-D242-08B6-7249-974CF2F94253}"/>
              </a:ext>
            </a:extLst>
          </p:cNvPr>
          <p:cNvGrpSpPr/>
          <p:nvPr/>
        </p:nvGrpSpPr>
        <p:grpSpPr>
          <a:xfrm>
            <a:off x="643754" y="5273356"/>
            <a:ext cx="3803183" cy="675644"/>
            <a:chOff x="643754" y="5273356"/>
            <a:chExt cx="3803183" cy="675644"/>
          </a:xfrm>
        </p:grpSpPr>
        <p:sp>
          <p:nvSpPr>
            <p:cNvPr id="5" name="Rectangle 4"/>
            <p:cNvSpPr/>
            <p:nvPr/>
          </p:nvSpPr>
          <p:spPr bwMode="auto">
            <a:xfrm>
              <a:off x="643754" y="5274000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130040" y="5274000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618799" y="5274000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101215" y="5273999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587501" y="5273356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069917" y="5273356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560816" y="5273356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4044962" y="5273356"/>
              <a:ext cx="401975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7" name="Equal 6"/>
          <p:cNvSpPr/>
          <p:nvPr/>
        </p:nvSpPr>
        <p:spPr bwMode="auto">
          <a:xfrm>
            <a:off x="5384148" y="5273356"/>
            <a:ext cx="775860" cy="675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03838" y="4300750"/>
            <a:ext cx="1728308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dirty="0"/>
              <a:t>1 Byte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E32F93A-A6FA-A870-ABBD-21A428A64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4854F7-9F57-B47C-18D0-70D91E2594F0}"/>
              </a:ext>
            </a:extLst>
          </p:cNvPr>
          <p:cNvGrpSpPr/>
          <p:nvPr/>
        </p:nvGrpSpPr>
        <p:grpSpPr>
          <a:xfrm>
            <a:off x="6974385" y="5050474"/>
            <a:ext cx="4315414" cy="1142648"/>
            <a:chOff x="6810285" y="5085477"/>
            <a:chExt cx="4315414" cy="1142648"/>
          </a:xfrm>
        </p:grpSpPr>
        <p:sp>
          <p:nvSpPr>
            <p:cNvPr id="15" name="Rectangle 14"/>
            <p:cNvSpPr/>
            <p:nvPr/>
          </p:nvSpPr>
          <p:spPr bwMode="auto">
            <a:xfrm>
              <a:off x="6810285" y="5085477"/>
              <a:ext cx="4315414" cy="1142648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186DA60-4D62-A119-695F-0F151FB332DF}"/>
                </a:ext>
              </a:extLst>
            </p:cNvPr>
            <p:cNvSpPr/>
            <p:nvPr/>
          </p:nvSpPr>
          <p:spPr bwMode="auto">
            <a:xfrm>
              <a:off x="7112872" y="5324375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99388ED-82AA-F7E3-4AB9-C0463FE5A401}"/>
                </a:ext>
              </a:extLst>
            </p:cNvPr>
            <p:cNvSpPr/>
            <p:nvPr/>
          </p:nvSpPr>
          <p:spPr bwMode="auto">
            <a:xfrm>
              <a:off x="7599158" y="5324375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1C4AF6A-3537-6956-9BBC-E381D2566E43}"/>
                </a:ext>
              </a:extLst>
            </p:cNvPr>
            <p:cNvSpPr/>
            <p:nvPr/>
          </p:nvSpPr>
          <p:spPr bwMode="auto">
            <a:xfrm>
              <a:off x="8087917" y="5324375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9B4F81-0AD4-FA49-A0B6-05F7CC8C2965}"/>
                </a:ext>
              </a:extLst>
            </p:cNvPr>
            <p:cNvSpPr/>
            <p:nvPr/>
          </p:nvSpPr>
          <p:spPr bwMode="auto">
            <a:xfrm>
              <a:off x="8570333" y="5324374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8341998-4129-F1AE-F1D5-CBAB4DB345CA}"/>
                </a:ext>
              </a:extLst>
            </p:cNvPr>
            <p:cNvSpPr/>
            <p:nvPr/>
          </p:nvSpPr>
          <p:spPr bwMode="auto">
            <a:xfrm>
              <a:off x="9056619" y="5323731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93AE69-7E85-5D31-055F-2924428ED6DB}"/>
                </a:ext>
              </a:extLst>
            </p:cNvPr>
            <p:cNvSpPr/>
            <p:nvPr/>
          </p:nvSpPr>
          <p:spPr bwMode="auto">
            <a:xfrm>
              <a:off x="9539035" y="5323731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AD743A6-3A14-A5ED-088C-031431CAD298}"/>
                </a:ext>
              </a:extLst>
            </p:cNvPr>
            <p:cNvSpPr/>
            <p:nvPr/>
          </p:nvSpPr>
          <p:spPr bwMode="auto">
            <a:xfrm>
              <a:off x="10029934" y="5323731"/>
              <a:ext cx="371823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D829F8-9BD4-366A-8288-CCAA49291AB8}"/>
                </a:ext>
              </a:extLst>
            </p:cNvPr>
            <p:cNvSpPr/>
            <p:nvPr/>
          </p:nvSpPr>
          <p:spPr bwMode="auto">
            <a:xfrm>
              <a:off x="10514080" y="5323731"/>
              <a:ext cx="401975" cy="675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414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Бит</a:t>
            </a:r>
            <a:r>
              <a:rPr lang="bg-BG" dirty="0"/>
              <a:t> (</a:t>
            </a:r>
            <a:r>
              <a:rPr lang="en-US" dirty="0"/>
              <a:t>b</a:t>
            </a:r>
            <a:r>
              <a:rPr lang="bg-BG" dirty="0"/>
              <a:t>)</a:t>
            </a:r>
            <a:endParaRPr lang="en-US" dirty="0"/>
          </a:p>
          <a:p>
            <a:r>
              <a:rPr lang="bg-BG" b="1" dirty="0"/>
              <a:t>Байт</a:t>
            </a:r>
            <a:r>
              <a:rPr lang="bg-BG" dirty="0"/>
              <a:t> (</a:t>
            </a:r>
            <a:r>
              <a:rPr lang="en-US" dirty="0"/>
              <a:t>B</a:t>
            </a:r>
            <a:r>
              <a:rPr lang="bg-BG" dirty="0"/>
              <a:t>)</a:t>
            </a:r>
            <a:r>
              <a:rPr lang="en-US" dirty="0"/>
              <a:t>: 1B = 8</a:t>
            </a:r>
            <a:r>
              <a:rPr lang="bg-BG" dirty="0"/>
              <a:t> бита</a:t>
            </a:r>
            <a:endParaRPr lang="en-US" dirty="0"/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͏Кило</a:t>
            </a:r>
            <a:r>
              <a:rPr lang="bg-BG" b="1" dirty="0"/>
              <a:t>байт</a:t>
            </a:r>
            <a:r>
              <a:rPr lang="bg-BG" dirty="0"/>
              <a:t> </a:t>
            </a:r>
            <a:r>
              <a:rPr lang="en-US" dirty="0"/>
              <a:t>(KB): 1KB = 10</a:t>
            </a:r>
            <a:r>
              <a:rPr lang="en-US" baseline="30000" dirty="0"/>
              <a:t>3</a:t>
            </a:r>
            <a:r>
              <a:rPr lang="en-US" dirty="0"/>
              <a:t> </a:t>
            </a:r>
            <a:r>
              <a:rPr lang="bg-BG" dirty="0"/>
              <a:t>байта = 1000 </a:t>
            </a:r>
            <a:r>
              <a:rPr lang="en-US" dirty="0"/>
              <a:t>B</a:t>
            </a:r>
            <a:endParaRPr lang="bg-BG" baseline="30000" dirty="0"/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Мега</a:t>
            </a:r>
            <a:r>
              <a:rPr lang="bg-BG" b="1" dirty="0"/>
              <a:t>байт</a:t>
            </a:r>
            <a:r>
              <a:rPr lang="en-US" dirty="0"/>
              <a:t> (MB): 1MB = 10</a:t>
            </a:r>
            <a:r>
              <a:rPr lang="en-US" baseline="30000" dirty="0"/>
              <a:t>6</a:t>
            </a:r>
            <a:r>
              <a:rPr lang="en-US" dirty="0"/>
              <a:t> </a:t>
            </a:r>
            <a:r>
              <a:rPr lang="bg-BG" dirty="0"/>
              <a:t>байта  = 1000 </a:t>
            </a:r>
            <a:r>
              <a:rPr lang="en-US" dirty="0"/>
              <a:t>KB</a:t>
            </a:r>
            <a:endParaRPr lang="bg-BG" dirty="0"/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Гига</a:t>
            </a:r>
            <a:r>
              <a:rPr lang="bg-BG" b="1" dirty="0"/>
              <a:t>байт</a:t>
            </a:r>
            <a:r>
              <a:rPr lang="en-US" dirty="0"/>
              <a:t> (GB) : 1GB = 10</a:t>
            </a:r>
            <a:r>
              <a:rPr lang="en-US" baseline="30000" dirty="0"/>
              <a:t>9</a:t>
            </a:r>
            <a:r>
              <a:rPr lang="en-US" dirty="0"/>
              <a:t> </a:t>
            </a:r>
            <a:r>
              <a:rPr lang="bg-BG" dirty="0"/>
              <a:t>байта  = 1000 </a:t>
            </a:r>
            <a:r>
              <a:rPr lang="en-US" dirty="0"/>
              <a:t>MB</a:t>
            </a:r>
            <a:endParaRPr lang="bg-BG" dirty="0"/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͏Тера</a:t>
            </a:r>
            <a:r>
              <a:rPr lang="bg-BG" b="1" dirty="0"/>
              <a:t>байт</a:t>
            </a:r>
            <a:r>
              <a:rPr lang="en-US" dirty="0"/>
              <a:t> (TB) : 1TB = 10</a:t>
            </a:r>
            <a:r>
              <a:rPr lang="en-US" baseline="30000" dirty="0"/>
              <a:t>12</a:t>
            </a:r>
            <a:r>
              <a:rPr lang="en-US" dirty="0"/>
              <a:t> </a:t>
            </a:r>
            <a:r>
              <a:rPr lang="bg-BG" dirty="0"/>
              <a:t>байта  = 1000 </a:t>
            </a:r>
            <a:r>
              <a:rPr lang="en-US" dirty="0"/>
              <a:t>GB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единици</a:t>
            </a:r>
            <a:r>
              <a:rPr lang="en-US" dirty="0"/>
              <a:t> (2)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AE2E7-F9B2-61F0-7BFE-106869329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2556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Информация</a:t>
            </a:r>
            <a:r>
              <a:rPr lang="bg-BG" sz="2800" dirty="0">
                <a:solidFill>
                  <a:schemeClr val="bg2"/>
                </a:solidFill>
              </a:rPr>
              <a:t>: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Събиране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Съхраняване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Обработване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Разпространяване</a:t>
            </a:r>
          </a:p>
          <a:p>
            <a:r>
              <a:rPr lang="ru-RU" sz="3200" dirty="0">
                <a:solidFill>
                  <a:schemeClr val="bg2"/>
                </a:solidFill>
              </a:rPr>
              <a:t>Основни </a:t>
            </a:r>
            <a:r>
              <a:rPr lang="ru-RU" sz="3200" b="1" dirty="0">
                <a:solidFill>
                  <a:schemeClr val="bg2"/>
                </a:solidFill>
              </a:rPr>
              <a:t>единици </a:t>
            </a:r>
            <a:r>
              <a:rPr lang="ru-RU" sz="3200" dirty="0">
                <a:solidFill>
                  <a:schemeClr val="bg2"/>
                </a:solidFill>
              </a:rPr>
              <a:t>за</a:t>
            </a:r>
            <a:r>
              <a:rPr lang="ru-RU" sz="3200" b="1" dirty="0">
                <a:solidFill>
                  <a:schemeClr val="bg2"/>
                </a:solidFill>
              </a:rPr>
              <a:t> измерване </a:t>
            </a:r>
            <a:r>
              <a:rPr lang="ru-RU" sz="3200" dirty="0">
                <a:solidFill>
                  <a:schemeClr val="bg2"/>
                </a:solidFill>
              </a:rPr>
              <a:t>на информация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Бит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Байт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endParaRPr lang="bg-BG" sz="2600" dirty="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6754" y="5228081"/>
            <a:ext cx="2565000" cy="12768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532781" indent="-380762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bg-BG" sz="2800" dirty="0">
                <a:solidFill>
                  <a:schemeClr val="bg2"/>
                </a:solidFill>
              </a:rPr>
              <a:t>Килобайт</a:t>
            </a:r>
          </a:p>
          <a:p>
            <a:pPr marL="532781" indent="-380762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bg-BG" sz="2800" dirty="0">
                <a:solidFill>
                  <a:schemeClr val="bg2"/>
                </a:solidFill>
              </a:rPr>
              <a:t>Мегабайт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69768" y="5228080"/>
            <a:ext cx="2565000" cy="12768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532781" indent="-380762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bg-BG" sz="2800" dirty="0">
                <a:solidFill>
                  <a:schemeClr val="bg2"/>
                </a:solidFill>
              </a:rPr>
              <a:t>Гигабайт</a:t>
            </a:r>
          </a:p>
          <a:p>
            <a:pPr marL="532781" indent="-380762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bg-BG" sz="2800" dirty="0">
                <a:solidFill>
                  <a:schemeClr val="bg2"/>
                </a:solidFill>
              </a:rPr>
              <a:t>Терабайт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93F853-6A03-1CC4-6499-BF1062CC3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AC1DA-FAB2-C7A1-F292-7F020438E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3996</TotalTime>
  <Words>690</Words>
  <Application>Microsoft Office PowerPoint</Application>
  <PresentationFormat>Widescreen</PresentationFormat>
  <Paragraphs>140</Paragraphs>
  <Slides>17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Söhne</vt:lpstr>
      <vt:lpstr>Wingdings</vt:lpstr>
      <vt:lpstr>SoftUni</vt:lpstr>
      <vt:lpstr>Информация. Мерни единици за информация</vt:lpstr>
      <vt:lpstr>Съдържание</vt:lpstr>
      <vt:lpstr>Информация</vt:lpstr>
      <vt:lpstr>Нека си припомним! (1)</vt:lpstr>
      <vt:lpstr>Нека си припомним! (2)</vt:lpstr>
      <vt:lpstr>Събиране на информация</vt:lpstr>
      <vt:lpstr>Съхраняване на информация</vt:lpstr>
      <vt:lpstr>Обработване на информация</vt:lpstr>
      <vt:lpstr>Разпостраняване на информация</vt:lpstr>
      <vt:lpstr>Информация – схема </vt:lpstr>
      <vt:lpstr>Основни единици за измерване на информация</vt:lpstr>
      <vt:lpstr>История на компютърната архитектура</vt:lpstr>
      <vt:lpstr>Основни единици (1)</vt:lpstr>
      <vt:lpstr>Основни единици (2)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Основни единици за измерване на информация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209</cp:revision>
  <dcterms:created xsi:type="dcterms:W3CDTF">2018-05-23T13:08:44Z</dcterms:created>
  <dcterms:modified xsi:type="dcterms:W3CDTF">2026-09-25T08:54:10Z</dcterms:modified>
  <cp:category/>
</cp:coreProperties>
</file>