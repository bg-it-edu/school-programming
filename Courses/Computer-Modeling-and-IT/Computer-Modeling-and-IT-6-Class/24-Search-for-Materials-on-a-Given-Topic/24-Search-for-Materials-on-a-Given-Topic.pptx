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34"/>
  </p:notesMasterIdLst>
  <p:handoutMasterIdLst>
    <p:handoutMasterId r:id="rId35"/>
  </p:handoutMasterIdLst>
  <p:sldIdLst>
    <p:sldId id="503" r:id="rId2"/>
    <p:sldId id="276" r:id="rId3"/>
    <p:sldId id="587" r:id="rId4"/>
    <p:sldId id="588" r:id="rId5"/>
    <p:sldId id="589" r:id="rId6"/>
    <p:sldId id="590" r:id="rId7"/>
    <p:sldId id="591" r:id="rId8"/>
    <p:sldId id="592" r:id="rId9"/>
    <p:sldId id="593" r:id="rId10"/>
    <p:sldId id="594" r:id="rId11"/>
    <p:sldId id="595" r:id="rId12"/>
    <p:sldId id="596" r:id="rId13"/>
    <p:sldId id="597" r:id="rId14"/>
    <p:sldId id="598" r:id="rId15"/>
    <p:sldId id="599" r:id="rId16"/>
    <p:sldId id="600" r:id="rId17"/>
    <p:sldId id="601" r:id="rId18"/>
    <p:sldId id="602" r:id="rId19"/>
    <p:sldId id="603" r:id="rId20"/>
    <p:sldId id="604" r:id="rId21"/>
    <p:sldId id="605" r:id="rId22"/>
    <p:sldId id="606" r:id="rId23"/>
    <p:sldId id="607" r:id="rId24"/>
    <p:sldId id="608" r:id="rId25"/>
    <p:sldId id="609" r:id="rId26"/>
    <p:sldId id="610" r:id="rId27"/>
    <p:sldId id="611" r:id="rId28"/>
    <p:sldId id="612" r:id="rId29"/>
    <p:sldId id="613" r:id="rId30"/>
    <p:sldId id="586" r:id="rId31"/>
    <p:sldId id="504" r:id="rId32"/>
    <p:sldId id="505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Интегриране на дейности" id="{2DD3A0D1-3345-4113-BD7C-FE6F0F7A287F}">
          <p14:sldIdLst>
            <p14:sldId id="587"/>
            <p14:sldId id="588"/>
            <p14:sldId id="589"/>
          </p14:sldIdLst>
        </p14:section>
        <p14:section name="͏Търсене и запазване на информация от интернет" id="{5E0750EA-F0C7-4C55-9FED-7331F67F08FE}">
          <p14:sldIdLst>
            <p14:sldId id="590"/>
            <p14:sldId id="591"/>
            <p14:sldId id="592"/>
            <p14:sldId id="593"/>
          </p14:sldIdLst>
        </p14:section>
        <p14:section name="͏Google преводач" id="{9EBC57B0-4051-42B1-9FA7-3801EEAB795C}">
          <p14:sldIdLst>
            <p14:sldId id="594"/>
            <p14:sldId id="595"/>
            <p14:sldId id="596"/>
            <p14:sldId id="597"/>
            <p14:sldId id="598"/>
            <p14:sldId id="599"/>
            <p14:sldId id="600"/>
          </p14:sldIdLst>
        </p14:section>
        <p14:section name="Авторски права в интернет" id="{91F85B97-56A2-43F8-8FA0-C3CED2958F53}">
          <p14:sldIdLst>
            <p14:sldId id="601"/>
            <p14:sldId id="602"/>
            <p14:sldId id="603"/>
            <p14:sldId id="604"/>
            <p14:sldId id="605"/>
            <p14:sldId id="606"/>
            <p14:sldId id="607"/>
          </p14:sldIdLst>
        </p14:section>
        <p14:section name="͏Лицензионни споразумения" id="{EF5B4749-7F21-4F49-8B65-8393D693175D}">
          <p14:sldIdLst>
            <p14:sldId id="608"/>
            <p14:sldId id="609"/>
            <p14:sldId id="610"/>
          </p14:sldIdLst>
        </p14:section>
        <p14:section name="Общ публичен лиценз" id="{37BEF555-DC52-44A4-A2DD-E4F37629FC95}">
          <p14:sldIdLst>
            <p14:sldId id="611"/>
            <p14:sldId id="612"/>
            <p14:sldId id="613"/>
          </p14:sldIdLst>
        </p14:section>
        <p14:section name="Заключение" id="{E19D07F1-86E2-47E9-B2AB-7ADC4F89DC12}">
          <p14:sldIdLst>
            <p14:sldId id="586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465"/>
    <a:srgbClr val="ADB4C3"/>
    <a:srgbClr val="EA9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31" autoAdjust="0"/>
    <p:restoredTop sz="95214" autoAdjust="0"/>
  </p:normalViewPr>
  <p:slideViewPr>
    <p:cSldViewPr showGuides="1">
      <p:cViewPr varScale="1">
        <p:scale>
          <a:sx n="111" d="100"/>
          <a:sy n="111" d="100"/>
        </p:scale>
        <p:origin x="546" y="96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3822" y="66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25.9.2026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50227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43662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47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fr.wikipedia.org/wiki/Fournisseur_d'acc%C3%A8s_%C3%A0_Internet" TargetMode="External"/><Relationship Id="rId2" Type="http://schemas.openxmlformats.org/officeDocument/2006/relationships/hyperlink" Target="https://bg.wikipedia.org/wiki/&#1048;&#1085;&#1090;&#1077;&#1088;&#1085;&#1077;&#1090;_&#1076;&#1086;&#1089;&#1090;&#1072;&#1074;&#1095;&#1080;&#1082;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translate.google.com/" TargetMode="Externa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jpeg"/><Relationship Id="rId5" Type="http://schemas.openxmlformats.org/officeDocument/2006/relationships/image" Target="../media/image39.png"/><Relationship Id="rId4" Type="http://schemas.openxmlformats.org/officeDocument/2006/relationships/image" Target="../media/image3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9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i&amp;url=https://bg.wikipedia.org/wiki/Firefox&amp;psig=AOvVaw2N8GhJ2RBhwSJzCXx1gSBt&amp;ust=1727364906833000&amp;source=images&amp;cd=vfe&amp;opi=89978449&amp;ved=0CBQQjRxqFwoTCJDV7e613ogDFQAAAAAdAAAAABAE" TargetMode="External"/><Relationship Id="rId7" Type="http://schemas.openxmlformats.org/officeDocument/2006/relationships/image" Target="../media/image64.jpe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6</a:t>
            </a:r>
            <a:r>
              <a:rPr lang="bg-BG" dirty="0"/>
              <a:t> клас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Компютърно моделиране и ИТ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3" name="Presentation Subtitle">
            <a:extLst>
              <a:ext uri="{FF2B5EF4-FFF2-40B4-BE49-F238E27FC236}">
                <a16:creationId xmlns:a16="http://schemas.microsoft.com/office/drawing/2014/main" id="{A004DC04-DA2A-41C0-8578-4B8D2F08E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46" y="1994508"/>
            <a:ext cx="11083636" cy="714491"/>
          </a:xfrm>
        </p:spPr>
        <p:txBody>
          <a:bodyPr>
            <a:normAutofit fontScale="92500"/>
          </a:bodyPr>
          <a:lstStyle/>
          <a:p>
            <a:r>
              <a:rPr lang="ru-RU" dirty="0"/>
              <a:t>Авторски права на информация, публикувана в интернет</a:t>
            </a:r>
            <a:endParaRPr lang="en-US" dirty="0"/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187" y="321501"/>
            <a:ext cx="9925627" cy="1563818"/>
          </a:xfrm>
        </p:spPr>
        <p:txBody>
          <a:bodyPr>
            <a:normAutofit fontScale="90000"/>
          </a:bodyPr>
          <a:lstStyle/>
          <a:p>
            <a:r>
              <a:rPr lang="ru-RU" dirty="0"/>
              <a:t>Търсене на материали по зададена тема на български и на чужд език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302" y="3204321"/>
            <a:ext cx="1902125" cy="852457"/>
          </a:xfrm>
          <a:prstGeom prst="rect">
            <a:avLst/>
          </a:prstGeom>
        </p:spPr>
      </p:pic>
      <p:pic>
        <p:nvPicPr>
          <p:cNvPr id="5" name="Picture 2" descr="How To Reverse Image Search On A Mobile Device Or Computer"/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4" b="12911"/>
          <a:stretch/>
        </p:blipFill>
        <p:spPr bwMode="auto">
          <a:xfrm>
            <a:off x="6390123" y="3249001"/>
            <a:ext cx="5248260" cy="23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8284234" cy="5207396"/>
          </a:xfrm>
        </p:spPr>
        <p:txBody>
          <a:bodyPr/>
          <a:lstStyle/>
          <a:p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Интегриране</a:t>
            </a:r>
            <a:r>
              <a:rPr lang="bg-BG" dirty="0"/>
              <a:t> на </a:t>
            </a:r>
            <a:r>
              <a:rPr lang="bg-BG" b="1" dirty="0"/>
              <a:t>дейности</a:t>
            </a:r>
          </a:p>
          <a:p>
            <a:r>
              <a:rPr lang="bg-BG" dirty="0"/>
              <a:t>͏</a:t>
            </a:r>
            <a:r>
              <a:rPr lang="bg-BG" b="1" dirty="0"/>
              <a:t>Търсене</a:t>
            </a:r>
            <a:r>
              <a:rPr lang="bg-BG" dirty="0"/>
              <a:t> и </a:t>
            </a:r>
            <a:r>
              <a:rPr lang="bg-BG" b="1" dirty="0"/>
              <a:t>запазване</a:t>
            </a:r>
            <a:r>
              <a:rPr lang="bg-BG" dirty="0"/>
              <a:t> на </a:t>
            </a:r>
            <a:r>
              <a:rPr lang="bg-BG" b="1" dirty="0"/>
              <a:t>информация</a:t>
            </a:r>
            <a:r>
              <a:rPr lang="bg-BG" dirty="0"/>
              <a:t> от интернет</a:t>
            </a:r>
          </a:p>
          <a:p>
            <a:r>
              <a:rPr lang="en-US" dirty="0"/>
              <a:t>͏</a:t>
            </a:r>
            <a:r>
              <a:rPr lang="en-US" b="1" dirty="0">
                <a:solidFill>
                  <a:schemeClr val="accent3"/>
                </a:solidFill>
              </a:rPr>
              <a:t>G</a:t>
            </a:r>
            <a:r>
              <a:rPr lang="en-US" b="1" dirty="0">
                <a:solidFill>
                  <a:srgbClr val="FF0000"/>
                </a:solidFill>
              </a:rPr>
              <a:t>o</a:t>
            </a:r>
            <a:r>
              <a:rPr lang="en-US" b="1" dirty="0">
                <a:solidFill>
                  <a:schemeClr val="accent1"/>
                </a:solidFill>
              </a:rPr>
              <a:t>o</a:t>
            </a:r>
            <a:r>
              <a:rPr lang="en-US" b="1" dirty="0">
                <a:solidFill>
                  <a:srgbClr val="00B0F0"/>
                </a:solidFill>
              </a:rPr>
              <a:t>g</a:t>
            </a:r>
            <a:r>
              <a:rPr lang="en-US" b="1" dirty="0">
                <a:solidFill>
                  <a:schemeClr val="accent2"/>
                </a:solidFill>
              </a:rPr>
              <a:t>l</a:t>
            </a:r>
            <a:r>
              <a:rPr lang="en-US" b="1" dirty="0">
                <a:solidFill>
                  <a:srgbClr val="FF0000"/>
                </a:solidFill>
              </a:rPr>
              <a:t>e</a:t>
            </a:r>
            <a:r>
              <a:rPr lang="bg-BG" dirty="0"/>
              <a:t> </a:t>
            </a:r>
            <a:r>
              <a:rPr lang="bg-BG" b="1" dirty="0"/>
              <a:t>преводач</a:t>
            </a:r>
            <a:endParaRPr lang="en-US" b="1" dirty="0"/>
          </a:p>
          <a:p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Авторски права </a:t>
            </a:r>
            <a:r>
              <a:rPr lang="bg-BG" dirty="0"/>
              <a:t>в интернет</a:t>
            </a:r>
          </a:p>
          <a:p>
            <a:r>
              <a:rPr lang="bg-BG" dirty="0"/>
              <a:t>͏Лицензионни </a:t>
            </a:r>
            <a:r>
              <a:rPr lang="bg-BG" b="1" dirty="0"/>
              <a:t>споразумения</a:t>
            </a:r>
          </a:p>
          <a:p>
            <a:r>
              <a:rPr lang="bg-BG" dirty="0"/>
              <a:t>͏Общ </a:t>
            </a:r>
            <a:r>
              <a:rPr lang="bg-BG" b="1" dirty="0"/>
              <a:t>публичен лиценз</a:t>
            </a:r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5CDFB-0E94-0132-177D-CD4B4F85B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11000" y="1584000"/>
            <a:ext cx="1581246" cy="21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sz="quarter" idx="10"/>
          </p:nvPr>
        </p:nvSpPr>
        <p:spPr>
          <a:xfrm>
            <a:off x="615109" y="5139000"/>
            <a:ext cx="10961783" cy="768084"/>
          </a:xfrm>
        </p:spPr>
        <p:txBody>
          <a:bodyPr/>
          <a:lstStyle/>
          <a:p>
            <a:r>
              <a:rPr lang="bg-BG" dirty="0"/>
              <a:t>Интегриране на дейности</a:t>
            </a:r>
            <a:endParaRPr lang="en-US" dirty="0"/>
          </a:p>
        </p:txBody>
      </p:sp>
      <p:pic>
        <p:nvPicPr>
          <p:cNvPr id="2054" name="Picture 6" descr="Integration - Free computer ic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500" y="1269000"/>
            <a:ext cx="2835000" cy="283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7761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Интегриран документ </a:t>
            </a:r>
            <a:r>
              <a:rPr lang="bg-BG" dirty="0"/>
              <a:t>– </a:t>
            </a:r>
            <a:r>
              <a:rPr lang="bg-BG" b="1" dirty="0"/>
              <a:t>документ</a:t>
            </a:r>
            <a:r>
              <a:rPr lang="bg-BG" dirty="0"/>
              <a:t> с </a:t>
            </a:r>
            <a:r>
              <a:rPr lang="bg-BG" b="1" dirty="0"/>
              <a:t>вмъкнати</a:t>
            </a:r>
            <a:r>
              <a:rPr lang="bg-BG" dirty="0"/>
              <a:t> отделни </a:t>
            </a:r>
            <a:r>
              <a:rPr lang="bg-BG" b="1" dirty="0"/>
              <a:t>елементи</a:t>
            </a:r>
            <a:r>
              <a:rPr lang="bg-BG" dirty="0"/>
              <a:t> </a:t>
            </a:r>
            <a:r>
              <a:rPr lang="ru-RU" dirty="0"/>
              <a:t>(текст, таблици, снимки и др.)</a:t>
            </a:r>
          </a:p>
          <a:p>
            <a:pPr lvl="1"/>
            <a:r>
              <a:rPr lang="ru-RU" b="1" dirty="0"/>
              <a:t>Вмъкнати елементи </a:t>
            </a:r>
            <a:r>
              <a:rPr lang="ru-RU" dirty="0"/>
              <a:t>са тези, които съставят документа и са </a:t>
            </a:r>
            <a:r>
              <a:rPr lang="ru-RU" b="1" dirty="0"/>
              <a:t>създадени</a:t>
            </a:r>
            <a:r>
              <a:rPr lang="ru-RU" dirty="0"/>
              <a:t> с </a:t>
            </a:r>
            <a:r>
              <a:rPr lang="ru-RU" b="1" dirty="0"/>
              <a:t>друга програма</a:t>
            </a:r>
            <a:endParaRPr lang="ru-RU" b="1" dirty="0">
              <a:solidFill>
                <a:schemeClr val="bg1"/>
              </a:solidFill>
            </a:endParaRPr>
          </a:p>
          <a:p>
            <a:r>
              <a:rPr lang="ru-RU" dirty="0"/>
              <a:t>͏</a:t>
            </a:r>
            <a:r>
              <a:rPr lang="ru-RU" b="1" dirty="0">
                <a:solidFill>
                  <a:schemeClr val="bg1"/>
                </a:solidFill>
              </a:rPr>
              <a:t>Интегриране на дейности </a:t>
            </a:r>
            <a:r>
              <a:rPr lang="ru-RU" dirty="0"/>
              <a:t>– </a:t>
            </a:r>
            <a:r>
              <a:rPr lang="ru-RU" b="1" dirty="0"/>
              <a:t>процесът</a:t>
            </a:r>
            <a:r>
              <a:rPr lang="ru-RU" dirty="0"/>
              <a:t> на </a:t>
            </a:r>
            <a:r>
              <a:rPr lang="ru-RU" b="1" dirty="0"/>
              <a:t>копиране</a:t>
            </a:r>
            <a:r>
              <a:rPr lang="ru-RU" dirty="0"/>
              <a:t> и </a:t>
            </a:r>
            <a:r>
              <a:rPr lang="ru-RU" b="1" dirty="0"/>
              <a:t>вмъкване</a:t>
            </a:r>
            <a:r>
              <a:rPr lang="ru-RU" dirty="0"/>
              <a:t> на </a:t>
            </a:r>
            <a:r>
              <a:rPr lang="ru-RU" b="1" dirty="0"/>
              <a:t>информация</a:t>
            </a:r>
            <a:r>
              <a:rPr lang="ru-RU" dirty="0"/>
              <a:t> в документа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Интегриране на дейности</a:t>
            </a:r>
            <a:endParaRPr lang="en-US" dirty="0"/>
          </a:p>
        </p:txBody>
      </p:sp>
      <p:pic>
        <p:nvPicPr>
          <p:cNvPr id="3074" name="Picture 2" descr="Document Automation Software Integrations | HotDoc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597" y="4846217"/>
            <a:ext cx="2970000" cy="1889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Benefits of Automation and Integration | Cyclr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5194" y="4914016"/>
            <a:ext cx="3350383" cy="1753716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Document Automation Software Integrations | HotDoc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1020" y="4846217"/>
            <a:ext cx="2970000" cy="1889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Benefits of Automation and Integration | Cyclr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0617" y="4914016"/>
            <a:ext cx="3350383" cy="1753716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1242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Вмъкване на елементи</a:t>
            </a:r>
            <a:r>
              <a:rPr lang="en-US" dirty="0"/>
              <a:t> – </a:t>
            </a:r>
            <a:r>
              <a:rPr lang="bg-BG" dirty="0"/>
              <a:t>видео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750" y="1269000"/>
            <a:ext cx="10282500" cy="543542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55589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615109" y="4704824"/>
            <a:ext cx="10961783" cy="1739175"/>
          </a:xfrm>
        </p:spPr>
        <p:txBody>
          <a:bodyPr/>
          <a:lstStyle/>
          <a:p>
            <a:r>
              <a:rPr lang="ru-RU" dirty="0"/>
              <a:t>͏Търсене и запазване на информация от интернет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9750" y="1179000"/>
            <a:ext cx="2872500" cy="28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369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00598" cy="5528766"/>
          </a:xfrm>
        </p:spPr>
        <p:txBody>
          <a:bodyPr/>
          <a:lstStyle/>
          <a:p>
            <a:r>
              <a:rPr lang="bg-BG" dirty="0"/>
              <a:t>За да </a:t>
            </a:r>
            <a:r>
              <a:rPr lang="bg-BG" b="1" dirty="0"/>
              <a:t>копирате </a:t>
            </a:r>
            <a:r>
              <a:rPr lang="bg-BG" dirty="0"/>
              <a:t>текстов материал от </a:t>
            </a:r>
            <a:r>
              <a:rPr lang="bg-BG" b="1" dirty="0"/>
              <a:t>интернет</a:t>
            </a:r>
            <a:r>
              <a:rPr lang="bg-BG" dirty="0"/>
              <a:t>, трябва да:</a:t>
            </a:r>
          </a:p>
          <a:p>
            <a:pPr lvl="1"/>
            <a:r>
              <a:rPr lang="bg-BG" b="1" dirty="0"/>
              <a:t>Маркирате текста </a:t>
            </a:r>
            <a:r>
              <a:rPr lang="bg-BG" dirty="0"/>
              <a:t>от уеб страница</a:t>
            </a:r>
          </a:p>
          <a:p>
            <a:pPr lvl="1"/>
            <a:r>
              <a:rPr lang="en-US" dirty="0"/>
              <a:t>K</a:t>
            </a:r>
            <a:r>
              <a:rPr lang="bg-BG" dirty="0"/>
              <a:t>опирате с </a:t>
            </a:r>
            <a:r>
              <a:rPr lang="bg-BG" b="1" dirty="0"/>
              <a:t>комбинацията</a:t>
            </a:r>
            <a:r>
              <a:rPr lang="bg-BG" dirty="0"/>
              <a:t> </a:t>
            </a:r>
            <a:r>
              <a:rPr lang="en-US" dirty="0"/>
              <a:t>[</a:t>
            </a:r>
            <a:r>
              <a:rPr lang="en-US" b="1" dirty="0">
                <a:solidFill>
                  <a:schemeClr val="bg1"/>
                </a:solidFill>
              </a:rPr>
              <a:t>Ctrl</a:t>
            </a:r>
            <a:r>
              <a:rPr lang="en-US" dirty="0"/>
              <a:t> + </a:t>
            </a:r>
            <a:r>
              <a:rPr lang="en-US" b="1" dirty="0">
                <a:solidFill>
                  <a:schemeClr val="bg1"/>
                </a:solidFill>
              </a:rPr>
              <a:t>C</a:t>
            </a:r>
            <a:r>
              <a:rPr lang="en-US" dirty="0"/>
              <a:t>]</a:t>
            </a:r>
            <a:r>
              <a:rPr lang="bg-BG" dirty="0"/>
              <a:t> или</a:t>
            </a:r>
            <a:r>
              <a:rPr lang="en-US" dirty="0"/>
              <a:t> </a:t>
            </a:r>
            <a:r>
              <a:rPr lang="bg-BG" b="1" dirty="0"/>
              <a:t>командата </a:t>
            </a:r>
            <a:r>
              <a:rPr lang="en-US" b="1" dirty="0">
                <a:solidFill>
                  <a:schemeClr val="bg1"/>
                </a:solidFill>
              </a:rPr>
              <a:t>Copy</a:t>
            </a:r>
            <a:r>
              <a:rPr lang="en-US" b="1" dirty="0"/>
              <a:t> </a:t>
            </a:r>
            <a:r>
              <a:rPr lang="bg-BG" dirty="0"/>
              <a:t>от </a:t>
            </a:r>
            <a:r>
              <a:rPr lang="bg-BG" b="1" dirty="0"/>
              <a:t>контекстното меню </a:t>
            </a:r>
            <a:endParaRPr lang="en-US" b="1" dirty="0"/>
          </a:p>
          <a:p>
            <a:r>
              <a:rPr lang="bg-BG" dirty="0"/>
              <a:t>Така може да </a:t>
            </a:r>
            <a:r>
              <a:rPr lang="bg-BG" b="1" dirty="0"/>
              <a:t>вмъкнете</a:t>
            </a:r>
            <a:r>
              <a:rPr lang="bg-BG" dirty="0"/>
              <a:t> копирания </a:t>
            </a:r>
            <a:r>
              <a:rPr lang="bg-BG" b="1" dirty="0"/>
              <a:t>текст</a:t>
            </a:r>
            <a:r>
              <a:rPr lang="bg-BG" dirty="0"/>
              <a:t> в </a:t>
            </a:r>
            <a:r>
              <a:rPr lang="bg-BG" b="1" dirty="0"/>
              <a:t>текстови документ</a:t>
            </a:r>
            <a:r>
              <a:rPr lang="bg-BG" dirty="0"/>
              <a:t> и да го </a:t>
            </a:r>
            <a:r>
              <a:rPr lang="bg-BG" b="1" dirty="0"/>
              <a:t>редактирате</a:t>
            </a:r>
            <a:r>
              <a:rPr lang="bg-BG" dirty="0"/>
              <a:t> или </a:t>
            </a:r>
            <a:r>
              <a:rPr lang="bg-BG" b="1" dirty="0"/>
              <a:t>форматирате</a:t>
            </a:r>
            <a:endParaRPr lang="en-US" b="1" dirty="0"/>
          </a:p>
        </p:txBody>
      </p:sp>
      <p:sp>
        <p:nvSpPr>
          <p:cNvPr id="30" name="Rectangle 29"/>
          <p:cNvSpPr/>
          <p:nvPr/>
        </p:nvSpPr>
        <p:spPr bwMode="auto">
          <a:xfrm>
            <a:off x="3459106" y="5201419"/>
            <a:ext cx="5265000" cy="396086"/>
          </a:xfrm>
          <a:prstGeom prst="rect">
            <a:avLst/>
          </a:prstGeom>
          <a:solidFill>
            <a:schemeClr val="accent3">
              <a:alpha val="80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3570701" y="5639533"/>
            <a:ext cx="5040000" cy="396969"/>
          </a:xfrm>
          <a:prstGeom prst="rect">
            <a:avLst/>
          </a:prstGeom>
          <a:solidFill>
            <a:schemeClr val="accent3">
              <a:alpha val="80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3711000" y="6078530"/>
            <a:ext cx="4770000" cy="365469"/>
          </a:xfrm>
          <a:prstGeom prst="rect">
            <a:avLst/>
          </a:prstGeom>
          <a:solidFill>
            <a:schemeClr val="accent3">
              <a:alpha val="80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52050" y="5068229"/>
            <a:ext cx="5487901" cy="1510771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/>
            <a:r>
              <a:rPr lang="ru-RU" sz="2800" i="1" dirty="0"/>
              <a:t>Две хубави очи. Душата на дете</a:t>
            </a:r>
            <a:br>
              <a:rPr lang="ru-RU" sz="2800" i="1" dirty="0"/>
            </a:br>
            <a:r>
              <a:rPr lang="ru-RU" sz="2800" i="1" dirty="0"/>
              <a:t>в две хубави очи; -музика – лъчи</a:t>
            </a:r>
            <a:br>
              <a:rPr lang="ru-RU" sz="2800" i="1" dirty="0"/>
            </a:br>
            <a:r>
              <a:rPr lang="ru-RU" sz="2800" i="1" dirty="0"/>
              <a:t>Не искат и не обещават те…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Копиране на текст от интернет</a:t>
            </a:r>
            <a:endParaRPr lang="en-US" dirty="0"/>
          </a:p>
        </p:txBody>
      </p:sp>
      <p:pic>
        <p:nvPicPr>
          <p:cNvPr id="2050" name="Picture 2" descr="Mouse Cursor Symbol on Transparent Background 17178335 PNG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1451" y="5310812"/>
            <a:ext cx="677099" cy="677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56" b="23811"/>
          <a:stretch/>
        </p:blipFill>
        <p:spPr>
          <a:xfrm>
            <a:off x="486237" y="5192882"/>
            <a:ext cx="2478391" cy="1358390"/>
          </a:xfrm>
          <a:prstGeom prst="rect">
            <a:avLst/>
          </a:prstGeom>
        </p:spPr>
      </p:pic>
      <p:pic>
        <p:nvPicPr>
          <p:cNvPr id="2049" name="Picture 2048"/>
          <p:cNvPicPr>
            <a:picLocks noChangeAspect="1"/>
          </p:cNvPicPr>
          <p:nvPr/>
        </p:nvPicPr>
        <p:blipFill rotWithShape="1">
          <a:blip r:embed="rId5"/>
          <a:srcRect l="4314" t="654" r="4658" b="6580"/>
          <a:stretch/>
        </p:blipFill>
        <p:spPr>
          <a:xfrm>
            <a:off x="9776176" y="4689000"/>
            <a:ext cx="2225423" cy="201347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67334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2.59259E-6 L 0.41979 -2.59259E-6 " pathEditMode="relative" rAng="0" ptsTypes="AA">
                                      <p:cBhvr>
                                        <p:cTn id="17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99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6 0.06296 L 0.41159 0.06296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29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367 0.11597 L 0.40443 0.11597 " pathEditMode="relative" rAng="0" ptsTypes="AA">
                                      <p:cBhvr>
                                        <p:cTn id="29" dur="125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3" grpId="0" animBg="1"/>
      <p:bldP spid="3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691038" cy="5528766"/>
          </a:xfrm>
        </p:spPr>
        <p:txBody>
          <a:bodyPr/>
          <a:lstStyle/>
          <a:p>
            <a:r>
              <a:rPr lang="bg-BG" dirty="0"/>
              <a:t>За да </a:t>
            </a:r>
            <a:r>
              <a:rPr lang="bg-BG" b="1" dirty="0"/>
              <a:t>копирате </a:t>
            </a:r>
            <a:r>
              <a:rPr lang="bg-BG" dirty="0"/>
              <a:t>изображение от </a:t>
            </a:r>
            <a:r>
              <a:rPr lang="bg-BG" b="1" dirty="0"/>
              <a:t>интернет</a:t>
            </a:r>
            <a:r>
              <a:rPr lang="bg-BG" dirty="0"/>
              <a:t>, трябва да:</a:t>
            </a:r>
          </a:p>
          <a:p>
            <a:pPr lvl="1"/>
            <a:r>
              <a:rPr lang="bg-BG" dirty="0"/>
              <a:t>Щракнете с </a:t>
            </a:r>
            <a:r>
              <a:rPr lang="bg-BG" b="1" dirty="0"/>
              <a:t>десния бутон </a:t>
            </a:r>
            <a:r>
              <a:rPr lang="bg-BG" dirty="0"/>
              <a:t>на </a:t>
            </a:r>
            <a:r>
              <a:rPr lang="bg-BG" b="1" dirty="0"/>
              <a:t>мишката</a:t>
            </a:r>
            <a:r>
              <a:rPr lang="bg-BG" dirty="0"/>
              <a:t> върху графичното изображение</a:t>
            </a:r>
          </a:p>
          <a:p>
            <a:pPr lvl="1"/>
            <a:r>
              <a:rPr lang="bg-BG" dirty="0"/>
              <a:t>Изберете </a:t>
            </a:r>
            <a:r>
              <a:rPr lang="bg-BG" b="1" dirty="0"/>
              <a:t>командата</a:t>
            </a:r>
            <a:r>
              <a:rPr lang="bg-BG" dirty="0"/>
              <a:t> </a:t>
            </a:r>
            <a:r>
              <a:rPr lang="en-US" b="1" dirty="0">
                <a:solidFill>
                  <a:schemeClr val="bg1"/>
                </a:solidFill>
              </a:rPr>
              <a:t>Copy image</a:t>
            </a:r>
          </a:p>
          <a:p>
            <a:r>
              <a:rPr lang="bg-BG" dirty="0"/>
              <a:t>Може да </a:t>
            </a:r>
            <a:r>
              <a:rPr lang="bg-BG" b="1" dirty="0"/>
              <a:t>вмъкнете</a:t>
            </a:r>
            <a:r>
              <a:rPr lang="bg-BG" dirty="0"/>
              <a:t> графичното</a:t>
            </a:r>
            <a:r>
              <a:rPr lang="bg-BG" b="1" dirty="0"/>
              <a:t> изображение</a:t>
            </a:r>
            <a:r>
              <a:rPr lang="bg-BG" dirty="0"/>
              <a:t> във </a:t>
            </a:r>
            <a:r>
              <a:rPr lang="bg-BG" b="1" dirty="0"/>
              <a:t>файла</a:t>
            </a:r>
            <a:r>
              <a:rPr lang="bg-BG" dirty="0"/>
              <a:t>, в който работите, с </a:t>
            </a:r>
            <a:r>
              <a:rPr lang="bg-BG" b="1" dirty="0"/>
              <a:t>командата</a:t>
            </a:r>
            <a:r>
              <a:rPr lang="bg-BG" dirty="0"/>
              <a:t> </a:t>
            </a:r>
            <a:r>
              <a:rPr lang="en-US" b="1" dirty="0">
                <a:solidFill>
                  <a:schemeClr val="bg1"/>
                </a:solidFill>
              </a:rPr>
              <a:t>Paste</a:t>
            </a:r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Копиране на графично изображение от интернет</a:t>
            </a:r>
            <a:endParaRPr lang="en-US" dirty="0"/>
          </a:p>
        </p:txBody>
      </p:sp>
      <p:pic>
        <p:nvPicPr>
          <p:cNvPr id="8" name="Picture 4" descr="Kangaroo facts and photos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1440" y="1989000"/>
            <a:ext cx="4103706" cy="4103706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11323" t="50179" r="11025" b="8371"/>
          <a:stretch/>
        </p:blipFill>
        <p:spPr>
          <a:xfrm>
            <a:off x="8771214" y="4236161"/>
            <a:ext cx="2713425" cy="235118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3078" name="Picture 6" descr="200+ Free Cursor &amp; Click Images - Pixabay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6555" y="4145285"/>
            <a:ext cx="749533" cy="971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22919">
            <a:off x="8111847" y="3821826"/>
            <a:ext cx="1318731" cy="131873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 bwMode="auto">
          <a:xfrm>
            <a:off x="8771212" y="4976239"/>
            <a:ext cx="2713427" cy="310553"/>
          </a:xfrm>
          <a:prstGeom prst="rect">
            <a:avLst/>
          </a:prstGeom>
          <a:noFill/>
          <a:ln w="38100">
            <a:solidFill>
              <a:schemeClr val="bg1">
                <a:lumMod val="60000"/>
                <a:lumOff val="40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68223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Тасманийски дяволи се родиха в австралийската пустиня за първи път от 3  хиляди години - Dimitrovgrad.bgvesti.N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7500" y="1716355"/>
            <a:ext cx="4637645" cy="4637645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120598" cy="5528766"/>
          </a:xfrm>
        </p:spPr>
        <p:txBody>
          <a:bodyPr/>
          <a:lstStyle/>
          <a:p>
            <a:r>
              <a:rPr lang="bg-BG" dirty="0"/>
              <a:t>За да </a:t>
            </a:r>
            <a:r>
              <a:rPr lang="bg-BG" b="1" dirty="0"/>
              <a:t>запазите </a:t>
            </a:r>
            <a:r>
              <a:rPr lang="bg-BG" dirty="0"/>
              <a:t>изображение от </a:t>
            </a:r>
            <a:r>
              <a:rPr lang="bg-BG" b="1" dirty="0"/>
              <a:t>интернет</a:t>
            </a:r>
            <a:r>
              <a:rPr lang="bg-BG" dirty="0"/>
              <a:t>, трябва да:</a:t>
            </a:r>
          </a:p>
          <a:p>
            <a:pPr lvl="1"/>
            <a:r>
              <a:rPr lang="bg-BG" dirty="0"/>
              <a:t>Щракнете с </a:t>
            </a:r>
            <a:r>
              <a:rPr lang="bg-BG" b="1" dirty="0"/>
              <a:t>десния бутон </a:t>
            </a:r>
            <a:r>
              <a:rPr lang="bg-BG" dirty="0"/>
              <a:t>на </a:t>
            </a:r>
            <a:r>
              <a:rPr lang="bg-BG" b="1" dirty="0"/>
              <a:t>мишката</a:t>
            </a:r>
            <a:r>
              <a:rPr lang="bg-BG" dirty="0"/>
              <a:t> върху графичното изображение</a:t>
            </a:r>
          </a:p>
          <a:p>
            <a:pPr lvl="1"/>
            <a:r>
              <a:rPr lang="bg-BG" dirty="0"/>
              <a:t>Изберете </a:t>
            </a:r>
            <a:r>
              <a:rPr lang="bg-BG" b="1" dirty="0"/>
              <a:t>командата</a:t>
            </a:r>
            <a:r>
              <a:rPr lang="bg-BG" dirty="0"/>
              <a:t> </a:t>
            </a:r>
            <a:r>
              <a:rPr lang="en-US" b="1" dirty="0">
                <a:solidFill>
                  <a:schemeClr val="bg1"/>
                </a:solidFill>
              </a:rPr>
              <a:t>Save image as </a:t>
            </a:r>
          </a:p>
          <a:p>
            <a:pPr lvl="1"/>
            <a:r>
              <a:rPr lang="bg-BG" dirty="0"/>
              <a:t>Укажете </a:t>
            </a:r>
            <a:r>
              <a:rPr lang="bg-BG" b="1" dirty="0"/>
              <a:t>мястото</a:t>
            </a:r>
            <a:r>
              <a:rPr lang="bg-BG" dirty="0"/>
              <a:t>, където да се </a:t>
            </a:r>
            <a:r>
              <a:rPr lang="bg-BG" b="1" dirty="0"/>
              <a:t>съхрани изображението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Запазване на графично изображеие от интернет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1323" t="50179" r="11025" b="8371"/>
          <a:stretch/>
        </p:blipFill>
        <p:spPr>
          <a:xfrm>
            <a:off x="8133657" y="3654000"/>
            <a:ext cx="2713425" cy="235118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7" name="Picture 6" descr="200+ Free Cursor &amp; Click Images - Pixabay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8998" y="3563124"/>
            <a:ext cx="749533" cy="971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22919">
            <a:off x="7474290" y="3239665"/>
            <a:ext cx="1318731" cy="131873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auto">
          <a:xfrm>
            <a:off x="8133655" y="4059000"/>
            <a:ext cx="2713427" cy="310553"/>
          </a:xfrm>
          <a:prstGeom prst="rect">
            <a:avLst/>
          </a:prstGeom>
          <a:noFill/>
          <a:ln w="38100">
            <a:solidFill>
              <a:schemeClr val="bg1">
                <a:lumMod val="60000"/>
                <a:lumOff val="40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3796" y="1252091"/>
            <a:ext cx="5049234" cy="294190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97534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Електронен речник за превод на текст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͏</a:t>
            </a:r>
            <a:r>
              <a:rPr lang="en-US" dirty="0">
                <a:solidFill>
                  <a:schemeClr val="accent3"/>
                </a:solidFill>
              </a:rPr>
              <a:t>G</a:t>
            </a:r>
            <a:r>
              <a:rPr lang="en-US" dirty="0">
                <a:solidFill>
                  <a:srgbClr val="FF0000"/>
                </a:solidFill>
              </a:rPr>
              <a:t>o</a:t>
            </a:r>
            <a:r>
              <a:rPr lang="en-US" dirty="0">
                <a:solidFill>
                  <a:schemeClr val="accent1"/>
                </a:solidFill>
              </a:rPr>
              <a:t>o</a:t>
            </a:r>
            <a:r>
              <a:rPr lang="en-US" dirty="0">
                <a:solidFill>
                  <a:srgbClr val="00B0F0"/>
                </a:solidFill>
              </a:rPr>
              <a:t>g</a:t>
            </a:r>
            <a:r>
              <a:rPr lang="en-US" dirty="0">
                <a:solidFill>
                  <a:schemeClr val="accent2"/>
                </a:solidFill>
              </a:rPr>
              <a:t>l</a:t>
            </a:r>
            <a:r>
              <a:rPr lang="en-US" dirty="0">
                <a:solidFill>
                  <a:srgbClr val="FF0000"/>
                </a:solidFill>
              </a:rPr>
              <a:t>e</a:t>
            </a:r>
            <a:r>
              <a:rPr lang="bg-BG" dirty="0"/>
              <a:t> преводач</a:t>
            </a:r>
            <a:endParaRPr lang="en-US" dirty="0"/>
          </a:p>
        </p:txBody>
      </p:sp>
      <p:pic>
        <p:nvPicPr>
          <p:cNvPr id="1026" name="Picture 2" descr="File:Google Translate logo.svg - Wikimedia Commons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000" y="1584000"/>
            <a:ext cx="2171413" cy="2171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1840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Често при </a:t>
            </a:r>
            <a:r>
              <a:rPr lang="bg-BG" b="1" dirty="0"/>
              <a:t>разработване</a:t>
            </a:r>
            <a:r>
              <a:rPr lang="bg-BG" dirty="0"/>
              <a:t> на </a:t>
            </a:r>
            <a:r>
              <a:rPr lang="bg-BG" b="1" dirty="0"/>
              <a:t>проект</a:t>
            </a:r>
            <a:r>
              <a:rPr lang="bg-BG" dirty="0"/>
              <a:t> намираме </a:t>
            </a:r>
            <a:r>
              <a:rPr lang="bg-BG" b="1" dirty="0"/>
              <a:t>информация</a:t>
            </a:r>
            <a:r>
              <a:rPr lang="bg-BG" dirty="0"/>
              <a:t> на </a:t>
            </a:r>
            <a:r>
              <a:rPr lang="bg-BG" b="1" dirty="0"/>
              <a:t>чужд език</a:t>
            </a:r>
            <a:r>
              <a:rPr lang="bg-BG" dirty="0"/>
              <a:t>, която невинаги разбираме</a:t>
            </a:r>
          </a:p>
          <a:p>
            <a:r>
              <a:rPr lang="bg-BG" dirty="0"/>
              <a:t>В </a:t>
            </a:r>
            <a:r>
              <a:rPr lang="bg-BG" b="1" dirty="0"/>
              <a:t>Уикипедия</a:t>
            </a:r>
            <a:r>
              <a:rPr lang="bg-BG" dirty="0"/>
              <a:t> някои </a:t>
            </a:r>
            <a:r>
              <a:rPr lang="bg-BG" b="1" dirty="0"/>
              <a:t>страници</a:t>
            </a:r>
            <a:r>
              <a:rPr lang="bg-BG" dirty="0"/>
              <a:t> на </a:t>
            </a:r>
            <a:r>
              <a:rPr lang="bg-BG" b="1" dirty="0"/>
              <a:t>чужд език </a:t>
            </a:r>
            <a:r>
              <a:rPr lang="bg-BG" dirty="0"/>
              <a:t>са много </a:t>
            </a:r>
            <a:r>
              <a:rPr lang="bg-BG" b="1" dirty="0"/>
              <a:t>по-развити</a:t>
            </a:r>
            <a:r>
              <a:rPr lang="bg-BG" dirty="0"/>
              <a:t> от тези на родния ни език</a:t>
            </a:r>
            <a:endParaRPr lang="en-US" dirty="0"/>
          </a:p>
          <a:p>
            <a:r>
              <a:rPr lang="bg-BG" dirty="0"/>
              <a:t>Сравнете страницата за </a:t>
            </a:r>
            <a:r>
              <a:rPr lang="bg-BG" b="1" dirty="0"/>
              <a:t>интернет доставчик </a:t>
            </a:r>
            <a:r>
              <a:rPr lang="bg-BG" dirty="0"/>
              <a:t>на </a:t>
            </a:r>
            <a:r>
              <a:rPr lang="bg-BG" b="1" dirty="0"/>
              <a:t>български</a:t>
            </a:r>
            <a:r>
              <a:rPr lang="bg-BG" dirty="0"/>
              <a:t> и </a:t>
            </a:r>
            <a:r>
              <a:rPr lang="bg-BG" b="1" dirty="0"/>
              <a:t>френски</a:t>
            </a:r>
            <a:r>
              <a:rPr lang="bg-BG" dirty="0"/>
              <a:t> език:</a:t>
            </a:r>
          </a:p>
          <a:p>
            <a:pPr lvl="1"/>
            <a:r>
              <a:rPr lang="en-US" dirty="0">
                <a:hlinkClick r:id="rId2"/>
              </a:rPr>
              <a:t>https://bg.wikipedia.org/wiki/</a:t>
            </a:r>
            <a:r>
              <a:rPr lang="bg-BG" dirty="0">
                <a:hlinkClick r:id="rId2"/>
              </a:rPr>
              <a:t>Интернет_доставчик</a:t>
            </a:r>
            <a:endParaRPr lang="bg-BG" dirty="0"/>
          </a:p>
          <a:p>
            <a:pPr lvl="1"/>
            <a:r>
              <a:rPr lang="en-US" dirty="0">
                <a:hlinkClick r:id="rId3"/>
              </a:rPr>
              <a:t>https://fr.wikipedia.org/wiki/</a:t>
            </a:r>
            <a:r>
              <a:rPr lang="en-US" dirty="0" err="1">
                <a:hlinkClick r:id="rId3"/>
              </a:rPr>
              <a:t>Fournisseur_d'accès_à_Internet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Материали на чужд език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23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Един от </a:t>
            </a:r>
            <a:r>
              <a:rPr lang="bg-BG" b="1" dirty="0"/>
              <a:t>най-известните</a:t>
            </a:r>
            <a:r>
              <a:rPr lang="bg-BG" dirty="0"/>
              <a:t> </a:t>
            </a:r>
            <a:r>
              <a:rPr lang="bg-BG" b="1" dirty="0"/>
              <a:t>преводачи</a:t>
            </a:r>
            <a:r>
              <a:rPr lang="bg-BG" dirty="0"/>
              <a:t> е този на </a:t>
            </a:r>
            <a:r>
              <a:rPr lang="en-US" b="1" dirty="0">
                <a:solidFill>
                  <a:schemeClr val="accent3"/>
                </a:solidFill>
              </a:rPr>
              <a:t>G</a:t>
            </a:r>
            <a:r>
              <a:rPr lang="en-US" b="1" dirty="0">
                <a:solidFill>
                  <a:srgbClr val="FF0000"/>
                </a:solidFill>
              </a:rPr>
              <a:t>o</a:t>
            </a:r>
            <a:r>
              <a:rPr lang="en-US" b="1" dirty="0">
                <a:solidFill>
                  <a:schemeClr val="accent1"/>
                </a:solidFill>
              </a:rPr>
              <a:t>o</a:t>
            </a:r>
            <a:r>
              <a:rPr lang="en-US" b="1" dirty="0">
                <a:solidFill>
                  <a:srgbClr val="00B0F0"/>
                </a:solidFill>
              </a:rPr>
              <a:t>g</a:t>
            </a:r>
            <a:r>
              <a:rPr lang="en-US" b="1" dirty="0">
                <a:solidFill>
                  <a:schemeClr val="accent2"/>
                </a:solidFill>
              </a:rPr>
              <a:t>l</a:t>
            </a:r>
            <a:r>
              <a:rPr lang="en-US" b="1" dirty="0">
                <a:solidFill>
                  <a:srgbClr val="FF0000"/>
                </a:solidFill>
              </a:rPr>
              <a:t>e</a:t>
            </a:r>
            <a:endParaRPr lang="bg-BG" b="1" dirty="0">
              <a:solidFill>
                <a:srgbClr val="FF0000"/>
              </a:solidFill>
            </a:endParaRPr>
          </a:p>
          <a:p>
            <a:r>
              <a:rPr lang="bg-BG" dirty="0"/>
              <a:t>Може да достъпите преводача от следния адрес:</a:t>
            </a:r>
          </a:p>
          <a:p>
            <a:pPr lvl="1"/>
            <a:r>
              <a:rPr lang="en-US" dirty="0">
                <a:hlinkClick r:id="rId2"/>
              </a:rPr>
              <a:t>https://translate.google.com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Използване на </a:t>
            </a:r>
            <a:r>
              <a:rPr lang="en-US" dirty="0"/>
              <a:t>Google </a:t>
            </a:r>
            <a:r>
              <a:rPr lang="bg-BG" dirty="0"/>
              <a:t>преводач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1000" y="3273166"/>
            <a:ext cx="6390000" cy="346125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18070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3231"/>
          <a:stretch/>
        </p:blipFill>
        <p:spPr>
          <a:xfrm>
            <a:off x="840900" y="1224000"/>
            <a:ext cx="10510200" cy="550907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Елементи на </a:t>
            </a:r>
            <a:r>
              <a:rPr lang="en-US" dirty="0"/>
              <a:t>Google </a:t>
            </a:r>
            <a:r>
              <a:rPr lang="bg-BG" dirty="0"/>
              <a:t>преводач</a:t>
            </a:r>
            <a:endParaRPr lang="en-US" dirty="0"/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8391000" y="4734000"/>
            <a:ext cx="2655000" cy="720000"/>
          </a:xfrm>
          <a:prstGeom prst="wedgeRoundRectCallout">
            <a:avLst>
              <a:gd name="adj1" fmla="val -67798"/>
              <a:gd name="adj2" fmla="val -4256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Преведен текст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3216000" y="4711908"/>
            <a:ext cx="2700000" cy="1057092"/>
          </a:xfrm>
          <a:prstGeom prst="wedgeRoundRectCallout">
            <a:avLst>
              <a:gd name="adj1" fmla="val -68554"/>
              <a:gd name="adj2" fmla="val -5253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Въвеждане на текст за превод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9174407" y="2263809"/>
            <a:ext cx="2822030" cy="1013565"/>
          </a:xfrm>
          <a:prstGeom prst="wedgeRoundRectCallout">
            <a:avLst>
              <a:gd name="adj1" fmla="val 1661"/>
              <a:gd name="adj2" fmla="val 8588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Избор на езици за превод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4333537" y="1224000"/>
            <a:ext cx="4230000" cy="1039809"/>
          </a:xfrm>
          <a:prstGeom prst="wedgeRoundRectCallout">
            <a:avLst>
              <a:gd name="adj1" fmla="val -30462"/>
              <a:gd name="adj2" fmla="val 7798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Превод на изображения, документи и уебсайтове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1056000" y="3412374"/>
            <a:ext cx="9495000" cy="523617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532687" y="2633014"/>
            <a:ext cx="6120000" cy="644360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91193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2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За да преведете </a:t>
            </a:r>
            <a:r>
              <a:rPr lang="bg-BG" b="1" dirty="0"/>
              <a:t>изображение</a:t>
            </a:r>
            <a:r>
              <a:rPr lang="bg-BG" dirty="0"/>
              <a:t> или </a:t>
            </a:r>
            <a:r>
              <a:rPr lang="bg-BG" b="1" dirty="0"/>
              <a:t>документ</a:t>
            </a:r>
            <a:r>
              <a:rPr lang="bg-BG" dirty="0"/>
              <a:t>, трябва да го </a:t>
            </a:r>
            <a:r>
              <a:rPr lang="bg-BG" b="1" dirty="0"/>
              <a:t>качите</a:t>
            </a:r>
            <a:r>
              <a:rPr lang="bg-BG" dirty="0"/>
              <a:t> в </a:t>
            </a:r>
            <a:r>
              <a:rPr lang="bg-BG" b="1" dirty="0"/>
              <a:t>преводача</a:t>
            </a:r>
            <a:r>
              <a:rPr lang="bg-BG" dirty="0"/>
              <a:t> и да </a:t>
            </a:r>
            <a:r>
              <a:rPr lang="bg-BG" b="1" dirty="0"/>
              <a:t>изберете език </a:t>
            </a:r>
            <a:r>
              <a:rPr lang="bg-BG" dirty="0"/>
              <a:t>за </a:t>
            </a:r>
            <a:r>
              <a:rPr lang="bg-BG" b="1" dirty="0"/>
              <a:t>превода</a:t>
            </a:r>
            <a:endParaRPr lang="en-US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Превод на изображения и документи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504" t="8902" r="2256" b="6425"/>
          <a:stretch/>
        </p:blipFill>
        <p:spPr>
          <a:xfrm>
            <a:off x="5961000" y="3159001"/>
            <a:ext cx="6043276" cy="2880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b="2260"/>
          <a:stretch/>
        </p:blipFill>
        <p:spPr>
          <a:xfrm>
            <a:off x="351651" y="2718366"/>
            <a:ext cx="4974052" cy="376126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cxnSp>
        <p:nvCxnSpPr>
          <p:cNvPr id="10" name="Straight Arrow Connector 9"/>
          <p:cNvCxnSpPr/>
          <p:nvPr/>
        </p:nvCxnSpPr>
        <p:spPr>
          <a:xfrm flipV="1">
            <a:off x="5376000" y="4599000"/>
            <a:ext cx="545297" cy="1"/>
          </a:xfrm>
          <a:prstGeom prst="straightConnector1">
            <a:avLst/>
          </a:prstGeom>
          <a:ln w="984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4"/>
          <a:srcRect b="7788"/>
          <a:stretch/>
        </p:blipFill>
        <p:spPr>
          <a:xfrm>
            <a:off x="6347905" y="2718366"/>
            <a:ext cx="5269466" cy="375929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5470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/>
              <a:t>Преводачът</a:t>
            </a:r>
            <a:r>
              <a:rPr lang="bg-BG" dirty="0"/>
              <a:t> позволява и </a:t>
            </a:r>
            <a:r>
              <a:rPr lang="bg-BG" b="1" dirty="0"/>
              <a:t>превод</a:t>
            </a:r>
            <a:r>
              <a:rPr lang="bg-BG" dirty="0"/>
              <a:t> на </a:t>
            </a:r>
            <a:r>
              <a:rPr lang="bg-BG" b="1" dirty="0"/>
              <a:t>цели уебсайтове</a:t>
            </a:r>
            <a:endParaRPr lang="en-US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Превод на уебсайт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10" y="2214000"/>
            <a:ext cx="5684535" cy="41715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cxnSp>
        <p:nvCxnSpPr>
          <p:cNvPr id="8" name="Straight Arrow Connector 7"/>
          <p:cNvCxnSpPr/>
          <p:nvPr/>
        </p:nvCxnSpPr>
        <p:spPr>
          <a:xfrm flipV="1">
            <a:off x="6228329" y="4299750"/>
            <a:ext cx="545297" cy="1"/>
          </a:xfrm>
          <a:prstGeom prst="straightConnector1">
            <a:avLst/>
          </a:prstGeom>
          <a:ln w="984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810" y="2214000"/>
            <a:ext cx="4768190" cy="41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15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/>
              <a:t>Обръщайте</a:t>
            </a:r>
            <a:r>
              <a:rPr lang="bg-BG" dirty="0"/>
              <a:t> </a:t>
            </a:r>
            <a:r>
              <a:rPr lang="bg-BG" b="1" dirty="0"/>
              <a:t>внимание</a:t>
            </a:r>
            <a:r>
              <a:rPr lang="bg-BG" dirty="0"/>
              <a:t> на </a:t>
            </a:r>
            <a:r>
              <a:rPr lang="bg-BG" b="1" dirty="0"/>
              <a:t>преведения текст</a:t>
            </a:r>
            <a:r>
              <a:rPr lang="bg-BG" dirty="0"/>
              <a:t>, тъй като той може да съдържа </a:t>
            </a:r>
            <a:r>
              <a:rPr lang="bg-BG" b="1" dirty="0"/>
              <a:t>грешки</a:t>
            </a:r>
          </a:p>
          <a:p>
            <a:r>
              <a:rPr lang="bg-BG" b="1" dirty="0"/>
              <a:t>Прочетете</a:t>
            </a:r>
            <a:r>
              <a:rPr lang="bg-BG" dirty="0"/>
              <a:t> внимателно </a:t>
            </a:r>
            <a:r>
              <a:rPr lang="bg-BG" b="1" dirty="0"/>
              <a:t>текста</a:t>
            </a:r>
            <a:r>
              <a:rPr lang="bg-BG" dirty="0"/>
              <a:t>, който ще използвате, и го </a:t>
            </a:r>
            <a:r>
              <a:rPr lang="bg-BG" b="1" dirty="0"/>
              <a:t>коригирайте</a:t>
            </a:r>
            <a:r>
              <a:rPr lang="bg-BG" dirty="0"/>
              <a:t> при нужда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Грешки</a:t>
            </a:r>
            <a:endParaRPr lang="en-US" dirty="0"/>
          </a:p>
        </p:txBody>
      </p:sp>
      <p:pic>
        <p:nvPicPr>
          <p:cNvPr id="1028" name="Picture 4" descr="139 Translation Fails That Will Have You Rolling On The Floor Laughing |  Bored Pan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62" b="11410"/>
          <a:stretch/>
        </p:blipFill>
        <p:spPr bwMode="auto">
          <a:xfrm>
            <a:off x="7266000" y="3514403"/>
            <a:ext cx="3735000" cy="3086155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 bad translation is a disservice to everyone • Animefangirl!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000" y="3948624"/>
            <a:ext cx="5270297" cy="2651934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6659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Права за ползване на информация от интернет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Авторски права в интернет</a:t>
            </a:r>
            <a:endParaRPr lang="en-US" dirty="0"/>
          </a:p>
        </p:txBody>
      </p:sp>
      <p:pic>
        <p:nvPicPr>
          <p:cNvPr id="1026" name="Picture 2" descr="https://www.eff.org/files/banner_library/dmca-copyright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000" y="594000"/>
            <a:ext cx="7920000" cy="396000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1863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В интернет има много </a:t>
            </a:r>
            <a:r>
              <a:rPr lang="ru-RU" b="1" dirty="0"/>
              <a:t>публична информация</a:t>
            </a:r>
            <a:r>
              <a:rPr lang="ru-RU" dirty="0"/>
              <a:t>, която може да бъде </a:t>
            </a:r>
            <a:r>
              <a:rPr lang="ru-RU" b="1" dirty="0"/>
              <a:t>използвана</a:t>
            </a:r>
            <a:r>
              <a:rPr lang="ru-RU" dirty="0"/>
              <a:t> за различни цели</a:t>
            </a:r>
          </a:p>
          <a:p>
            <a:r>
              <a:rPr lang="ru-RU" dirty="0"/>
              <a:t>За </a:t>
            </a:r>
            <a:r>
              <a:rPr lang="ru-RU" b="1" dirty="0"/>
              <a:t>използването</a:t>
            </a:r>
            <a:r>
              <a:rPr lang="ru-RU" dirty="0"/>
              <a:t> ѝ в </a:t>
            </a:r>
            <a:r>
              <a:rPr lang="ru-RU" b="1" dirty="0"/>
              <a:t>наши документи </a:t>
            </a:r>
            <a:r>
              <a:rPr lang="ru-RU" dirty="0"/>
              <a:t>трябва да </a:t>
            </a:r>
            <a:r>
              <a:rPr lang="ru-RU" b="1" dirty="0"/>
              <a:t>спазваме</a:t>
            </a:r>
            <a:r>
              <a:rPr lang="ru-RU" dirty="0"/>
              <a:t> определени </a:t>
            </a:r>
            <a:r>
              <a:rPr lang="ru-RU" b="1" dirty="0">
                <a:solidFill>
                  <a:schemeClr val="bg1"/>
                </a:solidFill>
              </a:rPr>
              <a:t>правила</a:t>
            </a:r>
          </a:p>
          <a:p>
            <a:r>
              <a:rPr lang="ru-RU" dirty="0"/>
              <a:t>Тези </a:t>
            </a:r>
            <a:r>
              <a:rPr lang="ru-RU" b="1" dirty="0"/>
              <a:t>правила</a:t>
            </a:r>
            <a:r>
              <a:rPr lang="ru-RU" dirty="0"/>
              <a:t> са посочени в </a:t>
            </a:r>
            <a:r>
              <a:rPr lang="ru-RU" b="1" dirty="0">
                <a:solidFill>
                  <a:schemeClr val="bg1"/>
                </a:solidFill>
              </a:rPr>
              <a:t>Закона за авторско право</a:t>
            </a:r>
          </a:p>
          <a:p>
            <a:pPr lvl="1"/>
            <a:r>
              <a:rPr lang="ru-RU" dirty="0"/>
              <a:t>Правилата се </a:t>
            </a:r>
            <a:r>
              <a:rPr lang="ru-RU" b="1" dirty="0"/>
              <a:t>определят</a:t>
            </a:r>
            <a:r>
              <a:rPr lang="ru-RU" dirty="0"/>
              <a:t> от </a:t>
            </a:r>
            <a:r>
              <a:rPr lang="ru-RU" b="1" dirty="0"/>
              <a:t>всяка държава</a:t>
            </a:r>
            <a:endParaRPr lang="en-US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Закон за авторското право</a:t>
            </a:r>
            <a:endParaRPr lang="en-US" dirty="0"/>
          </a:p>
        </p:txBody>
      </p:sp>
      <p:pic>
        <p:nvPicPr>
          <p:cNvPr id="2052" name="Picture 4" descr="What Is The Purpose of Copyright Law | Copyright Allian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9450" y="5078000"/>
            <a:ext cx="5400000" cy="163600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705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/>
              <a:t>Обекти</a:t>
            </a:r>
            <a:r>
              <a:rPr lang="bg-BG" dirty="0"/>
              <a:t> на </a:t>
            </a:r>
            <a:r>
              <a:rPr lang="bg-BG" b="1" dirty="0">
                <a:solidFill>
                  <a:schemeClr val="bg1"/>
                </a:solidFill>
              </a:rPr>
              <a:t>авторското право </a:t>
            </a:r>
            <a:r>
              <a:rPr lang="bg-BG" dirty="0"/>
              <a:t>са:</a:t>
            </a:r>
          </a:p>
          <a:p>
            <a:pPr lvl="1"/>
            <a:r>
              <a:rPr lang="bg-BG" dirty="0"/>
              <a:t>Литературни произведения</a:t>
            </a:r>
          </a:p>
          <a:p>
            <a:pPr lvl="1"/>
            <a:r>
              <a:rPr lang="bg-BG" dirty="0"/>
              <a:t>Публицистични статии</a:t>
            </a:r>
          </a:p>
          <a:p>
            <a:pPr lvl="1"/>
            <a:r>
              <a:rPr lang="bg-BG" dirty="0"/>
              <a:t>Компютърни програми</a:t>
            </a:r>
          </a:p>
          <a:p>
            <a:pPr lvl="1"/>
            <a:r>
              <a:rPr lang="bg-BG" dirty="0"/>
              <a:t>Музикални произведения</a:t>
            </a:r>
          </a:p>
          <a:p>
            <a:pPr lvl="1"/>
            <a:r>
              <a:rPr lang="bg-BG" dirty="0"/>
              <a:t>Графични изображения</a:t>
            </a:r>
          </a:p>
          <a:p>
            <a:pPr lvl="1"/>
            <a:r>
              <a:rPr lang="bg-BG" dirty="0"/>
              <a:t>Проекти</a:t>
            </a:r>
          </a:p>
          <a:p>
            <a:pPr lvl="1"/>
            <a:r>
              <a:rPr lang="bg-BG" dirty="0"/>
              <a:t>...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Обекти на авторско право</a:t>
            </a:r>
            <a:endParaRPr lang="en-US" dirty="0"/>
          </a:p>
        </p:txBody>
      </p:sp>
      <p:pic>
        <p:nvPicPr>
          <p:cNvPr id="3074" name="Picture 2" descr="Literature - Wiki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20" y="1099951"/>
            <a:ext cx="2852936" cy="1572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News - Wikipedi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273"/>
          <a:stretch/>
        </p:blipFill>
        <p:spPr bwMode="auto">
          <a:xfrm>
            <a:off x="9664694" y="1515703"/>
            <a:ext cx="1985922" cy="2648519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Portal:Computer programming - Wikipedi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6950" y="2787537"/>
            <a:ext cx="2979050" cy="1670266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Sheet music - Wikipedi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8928" y="5143417"/>
            <a:ext cx="2422796" cy="1615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Category:Graphic design - Wikimedia Commons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1527" y="4606463"/>
            <a:ext cx="2035321" cy="2055573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2280" y="4483800"/>
            <a:ext cx="219075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725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b="1" dirty="0"/>
              <a:t>Изключения</a:t>
            </a:r>
            <a:r>
              <a:rPr lang="ru-RU" dirty="0"/>
              <a:t> от </a:t>
            </a:r>
            <a:r>
              <a:rPr lang="ru-RU" b="1" dirty="0">
                <a:solidFill>
                  <a:schemeClr val="bg1"/>
                </a:solidFill>
              </a:rPr>
              <a:t>Закона за авторското право </a:t>
            </a:r>
            <a:r>
              <a:rPr lang="ru-RU" dirty="0"/>
              <a:t>са:</a:t>
            </a:r>
          </a:p>
          <a:p>
            <a:pPr lvl="1"/>
            <a:r>
              <a:rPr lang="ru-RU" dirty="0"/>
              <a:t>Законите и другите административни актове</a:t>
            </a:r>
          </a:p>
          <a:p>
            <a:pPr lvl="1"/>
            <a:r>
              <a:rPr lang="bg-BG" dirty="0"/>
              <a:t>Актуалните новини</a:t>
            </a:r>
          </a:p>
          <a:p>
            <a:pPr lvl="1"/>
            <a:r>
              <a:rPr lang="bg-BG" dirty="0"/>
              <a:t>Фактите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Изключения от Закона за авторското право</a:t>
            </a:r>
            <a:endParaRPr lang="en-US" dirty="0"/>
          </a:p>
        </p:txBody>
      </p:sp>
      <p:pic>
        <p:nvPicPr>
          <p:cNvPr id="4100" name="Picture 4" descr="What Is Administrative Law? Definition and Examples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00" y="4255894"/>
            <a:ext cx="3375000" cy="225000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Latest News Isolated Icon Megaphone Or Bullhorn Breaking Report Vector Info  Announcement And Tv Or Radio Broadcast Stock Illustration - Download Image  Now - iStoc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6659" y="4314282"/>
            <a:ext cx="3199836" cy="2133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Migraine: Facts, Fiction, and Frequently Asked Questions - Migraine Canada™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7154" y="4254789"/>
            <a:ext cx="4003930" cy="2252211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1589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b="1" dirty="0"/>
              <a:t>Обектите</a:t>
            </a:r>
            <a:r>
              <a:rPr lang="ru-RU" dirty="0"/>
              <a:t> на </a:t>
            </a:r>
            <a:r>
              <a:rPr lang="ru-RU" b="1" dirty="0"/>
              <a:t>авторско право </a:t>
            </a:r>
            <a:r>
              <a:rPr lang="ru-RU" dirty="0"/>
              <a:t>лесно се разпознават по </a:t>
            </a:r>
            <a:r>
              <a:rPr lang="ru-RU" b="1" dirty="0">
                <a:solidFill>
                  <a:schemeClr val="bg1"/>
                </a:solidFill>
              </a:rPr>
              <a:t>идентификационния символ</a:t>
            </a:r>
          </a:p>
          <a:p>
            <a:pPr lvl="1"/>
            <a:r>
              <a:rPr lang="ru-RU" dirty="0"/>
              <a:t>Този символ най-често се </a:t>
            </a:r>
            <a:r>
              <a:rPr lang="ru-RU" b="1" dirty="0"/>
              <a:t>поставя</a:t>
            </a:r>
            <a:r>
              <a:rPr lang="ru-RU" dirty="0"/>
              <a:t> в </a:t>
            </a:r>
            <a:r>
              <a:rPr lang="ru-RU" b="1" dirty="0"/>
              <a:t>долния край </a:t>
            </a:r>
            <a:r>
              <a:rPr lang="ru-RU" dirty="0"/>
              <a:t>на </a:t>
            </a:r>
            <a:r>
              <a:rPr lang="ru-RU" b="1" dirty="0"/>
              <a:t>произведението</a:t>
            </a:r>
          </a:p>
          <a:p>
            <a:pPr lvl="1"/>
            <a:r>
              <a:rPr lang="ru-RU" dirty="0"/>
              <a:t>Символът </a:t>
            </a:r>
            <a:r>
              <a:rPr lang="ru-RU" b="1" dirty="0"/>
              <a:t>произлиза</a:t>
            </a:r>
            <a:r>
              <a:rPr lang="ru-RU" dirty="0"/>
              <a:t> от "</a:t>
            </a:r>
            <a:r>
              <a:rPr lang="ru-RU" b="1" dirty="0"/>
              <a:t>copyright</a:t>
            </a:r>
            <a:r>
              <a:rPr lang="ru-RU" dirty="0"/>
              <a:t>", което в превод означава "</a:t>
            </a:r>
            <a:r>
              <a:rPr lang="ru-RU" b="1" dirty="0"/>
              <a:t>авторско право</a:t>
            </a:r>
            <a:r>
              <a:rPr lang="ru-RU" dirty="0"/>
              <a:t>"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Идентифициране на обекти на авторско право</a:t>
            </a:r>
            <a:endParaRPr lang="en-US" dirty="0"/>
          </a:p>
        </p:txBody>
      </p:sp>
      <p:pic>
        <p:nvPicPr>
          <p:cNvPr id="5124" name="Picture 4" descr="Copyright Logo Desig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9450" y="4394800"/>
            <a:ext cx="3600000" cy="226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5133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8380598" cy="5528766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Използването на </a:t>
            </a:r>
            <a:r>
              <a:rPr lang="ru-RU" b="1" dirty="0"/>
              <a:t>чужда информация </a:t>
            </a:r>
            <a:r>
              <a:rPr lang="ru-RU" dirty="0"/>
              <a:t>(</a:t>
            </a:r>
            <a:r>
              <a:rPr lang="bg-BG" dirty="0"/>
              <a:t>графика, текст и т.н.</a:t>
            </a:r>
            <a:r>
              <a:rPr lang="ru-RU" dirty="0"/>
              <a:t>) в </a:t>
            </a:r>
            <a:r>
              <a:rPr lang="ru-RU" b="1" dirty="0"/>
              <a:t>документ</a:t>
            </a:r>
            <a:r>
              <a:rPr lang="ru-RU" dirty="0"/>
              <a:t> се нарича </a:t>
            </a:r>
            <a:r>
              <a:rPr lang="ru-RU" b="1" dirty="0">
                <a:solidFill>
                  <a:schemeClr val="bg1"/>
                </a:solidFill>
              </a:rPr>
              <a:t>цитиране</a:t>
            </a:r>
          </a:p>
          <a:p>
            <a:r>
              <a:rPr lang="ru-RU" dirty="0"/>
              <a:t>При </a:t>
            </a:r>
            <a:r>
              <a:rPr lang="ru-RU" b="1" dirty="0"/>
              <a:t>цитиране</a:t>
            </a:r>
            <a:r>
              <a:rPr lang="ru-RU" dirty="0"/>
              <a:t> трябва да </a:t>
            </a:r>
            <a:r>
              <a:rPr lang="ru-RU" b="1" dirty="0"/>
              <a:t>спазваме</a:t>
            </a:r>
            <a:r>
              <a:rPr lang="ru-RU" dirty="0"/>
              <a:t> определени </a:t>
            </a:r>
            <a:r>
              <a:rPr lang="ru-RU" b="1" dirty="0"/>
              <a:t>правила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Трябва да посочим </a:t>
            </a:r>
            <a:r>
              <a:rPr lang="ru-RU" b="1" dirty="0"/>
              <a:t>името</a:t>
            </a:r>
            <a:r>
              <a:rPr lang="ru-RU" dirty="0"/>
              <a:t> на </a:t>
            </a:r>
            <a:r>
              <a:rPr lang="ru-RU" b="1" dirty="0"/>
              <a:t>автора</a:t>
            </a:r>
            <a:r>
              <a:rPr lang="ru-RU" dirty="0"/>
              <a:t> и </a:t>
            </a:r>
            <a:r>
              <a:rPr lang="ru-RU" b="1" dirty="0"/>
              <a:t>източника</a:t>
            </a:r>
            <a:r>
              <a:rPr lang="ru-RU" dirty="0"/>
              <a:t> на </a:t>
            </a:r>
            <a:r>
              <a:rPr lang="ru-RU" b="1" dirty="0"/>
              <a:t>информацията</a:t>
            </a:r>
          </a:p>
          <a:p>
            <a:pPr lvl="1"/>
            <a:r>
              <a:rPr lang="ru-RU" b="1" dirty="0"/>
              <a:t>Цитираният текст </a:t>
            </a:r>
            <a:r>
              <a:rPr lang="ru-RU" dirty="0"/>
              <a:t>трябва да се </a:t>
            </a:r>
            <a:r>
              <a:rPr lang="ru-RU" b="1" dirty="0"/>
              <a:t>отличава</a:t>
            </a:r>
            <a:r>
              <a:rPr lang="ru-RU" dirty="0"/>
              <a:t> от останалата информация в документа</a:t>
            </a:r>
          </a:p>
          <a:p>
            <a:pPr lvl="2"/>
            <a:r>
              <a:rPr lang="ru-RU" dirty="0"/>
              <a:t>Текстът може да бъде ограден в </a:t>
            </a:r>
            <a:r>
              <a:rPr lang="ru-RU" b="1" dirty="0"/>
              <a:t>кавички</a:t>
            </a:r>
            <a:r>
              <a:rPr lang="ru-RU" dirty="0"/>
              <a:t>, оцветен в </a:t>
            </a:r>
            <a:r>
              <a:rPr lang="ru-RU" b="1" dirty="0"/>
              <a:t>различен цвят</a:t>
            </a:r>
            <a:r>
              <a:rPr lang="ru-RU" dirty="0"/>
              <a:t>, или написан с </a:t>
            </a:r>
            <a:r>
              <a:rPr lang="ru-RU" b="1" dirty="0"/>
              <a:t>различен шрифт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Правила за цитиране на чужда информация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162174" y="4970964"/>
            <a:ext cx="3743780" cy="522808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dirty="0"/>
              <a:t>Снимка: </a:t>
            </a:r>
            <a:r>
              <a:rPr lang="en-US" dirty="0"/>
              <a:t>Viktor </a:t>
            </a:r>
            <a:r>
              <a:rPr lang="en-US" dirty="0" err="1"/>
              <a:t>Valchev</a:t>
            </a:r>
            <a:r>
              <a:rPr lang="bg-BG" dirty="0"/>
              <a:t>, </a:t>
            </a:r>
            <a:r>
              <a:rPr lang="en-US" dirty="0" err="1"/>
              <a:t>VikGallery</a:t>
            </a:r>
            <a:r>
              <a:rPr lang="bg-BG" dirty="0"/>
              <a:t> </a:t>
            </a:r>
            <a:endParaRPr lang="en-US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5715"/>
          <a:stretch/>
        </p:blipFill>
        <p:spPr>
          <a:xfrm>
            <a:off x="8404404" y="1341218"/>
            <a:ext cx="3277965" cy="35071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66000" y="5706493"/>
            <a:ext cx="3743780" cy="827507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i="1" dirty="0"/>
              <a:t>"</a:t>
            </a:r>
            <a:r>
              <a:rPr lang="bg-BG" b="1" i="1" dirty="0"/>
              <a:t>Нещастието сплотява хората</a:t>
            </a:r>
            <a:r>
              <a:rPr lang="bg-BG" i="1" dirty="0"/>
              <a:t>" – Аристотел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28292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419472" cy="5528766"/>
          </a:xfrm>
        </p:spPr>
        <p:txBody>
          <a:bodyPr>
            <a:normAutofit/>
          </a:bodyPr>
          <a:lstStyle/>
          <a:p>
            <a:r>
              <a:rPr lang="ru-RU" b="1" dirty="0"/>
              <a:t>Забранено</a:t>
            </a:r>
            <a:r>
              <a:rPr lang="ru-RU" dirty="0"/>
              <a:t> е </a:t>
            </a:r>
            <a:r>
              <a:rPr lang="ru-RU" b="1" dirty="0"/>
              <a:t>инсталирането</a:t>
            </a:r>
            <a:r>
              <a:rPr lang="ru-RU" dirty="0"/>
              <a:t> на платени програми </a:t>
            </a:r>
            <a:r>
              <a:rPr lang="ru-RU" b="1" dirty="0"/>
              <a:t>без </a:t>
            </a:r>
            <a:r>
              <a:rPr lang="ru-RU" b="1" dirty="0">
                <a:solidFill>
                  <a:schemeClr val="bg1"/>
                </a:solidFill>
              </a:rPr>
              <a:t>лиценз</a:t>
            </a:r>
          </a:p>
          <a:p>
            <a:pPr lvl="1"/>
            <a:r>
              <a:rPr lang="ru-RU" b="1" dirty="0"/>
              <a:t>͏</a:t>
            </a:r>
            <a:r>
              <a:rPr lang="ru-RU" b="1" dirty="0">
                <a:solidFill>
                  <a:schemeClr val="bg1"/>
                </a:solidFill>
              </a:rPr>
              <a:t>Лицензът</a:t>
            </a:r>
            <a:r>
              <a:rPr lang="ru-RU" dirty="0"/>
              <a:t> разрешава </a:t>
            </a:r>
            <a:r>
              <a:rPr lang="ru-RU" b="1" dirty="0"/>
              <a:t>законното използване</a:t>
            </a:r>
            <a:r>
              <a:rPr lang="ru-RU" dirty="0"/>
              <a:t> на продукта</a:t>
            </a:r>
          </a:p>
          <a:p>
            <a:r>
              <a:rPr lang="ru-RU" b="1" dirty="0"/>
              <a:t>Свалянето</a:t>
            </a:r>
            <a:r>
              <a:rPr lang="ru-RU" dirty="0"/>
              <a:t> на </a:t>
            </a:r>
            <a:r>
              <a:rPr lang="ru-RU" b="1" dirty="0"/>
              <a:t>филми</a:t>
            </a:r>
            <a:r>
              <a:rPr lang="ru-RU" dirty="0"/>
              <a:t> и </a:t>
            </a:r>
            <a:r>
              <a:rPr lang="ru-RU" b="1" dirty="0"/>
              <a:t>музика</a:t>
            </a:r>
            <a:r>
              <a:rPr lang="ru-RU" dirty="0"/>
              <a:t> е позволено само от </a:t>
            </a:r>
            <a:r>
              <a:rPr lang="ru-RU" b="1" dirty="0">
                <a:solidFill>
                  <a:schemeClr val="bg1"/>
                </a:solidFill>
              </a:rPr>
              <a:t>оторизирани сайтове</a:t>
            </a:r>
            <a:endParaRPr lang="en-US" b="1" dirty="0">
              <a:solidFill>
                <a:schemeClr val="bg1"/>
              </a:solidFill>
            </a:endParaRPr>
          </a:p>
          <a:p>
            <a:pPr lvl="1"/>
            <a:r>
              <a:rPr lang="bg-BG" dirty="0"/>
              <a:t>Те трябва да са о</a:t>
            </a:r>
            <a:r>
              <a:rPr lang="ru-RU" b="1" dirty="0"/>
              <a:t>добрени</a:t>
            </a:r>
            <a:r>
              <a:rPr lang="ru-RU" dirty="0"/>
              <a:t> от </a:t>
            </a:r>
            <a:r>
              <a:rPr lang="ru-RU" b="1" dirty="0"/>
              <a:t>притежателите</a:t>
            </a:r>
            <a:r>
              <a:rPr lang="ru-RU" dirty="0"/>
              <a:t> на </a:t>
            </a:r>
            <a:r>
              <a:rPr lang="ru-RU" b="1" dirty="0"/>
              <a:t>авторските права</a:t>
            </a:r>
            <a:endParaRPr lang="en-US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Използване на софтуер, филми и музика</a:t>
            </a:r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7806000" y="4283158"/>
            <a:ext cx="4005000" cy="2252813"/>
            <a:chOff x="6636000" y="4472078"/>
            <a:chExt cx="4005000" cy="2252813"/>
          </a:xfrm>
        </p:grpSpPr>
        <p:pic>
          <p:nvPicPr>
            <p:cNvPr id="7173" name="Picture 5" descr="Zamunda излезе с официална позиция след съдебните драми - Webcafe.b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36000" y="4472078"/>
              <a:ext cx="4005000" cy="2252813"/>
            </a:xfrm>
            <a:prstGeom prst="rect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75" name="Picture 7" descr="File:X mark.svg - Wikimedia Commons"/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36625" y="4673758"/>
              <a:ext cx="3003750" cy="18864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177" name="Picture 9" descr="What Are Software License? | SION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1312" y="1314000"/>
            <a:ext cx="3594375" cy="2756437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6368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 dirty="0"/>
              <a:t>Creative Commons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͏Лицензионни споразумения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000" y="1899000"/>
            <a:ext cx="3051375" cy="160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637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9990000" cy="5546589"/>
          </a:xfrm>
        </p:spPr>
        <p:txBody>
          <a:bodyPr/>
          <a:lstStyle/>
          <a:p>
            <a:r>
              <a:rPr lang="ru-RU" dirty="0"/>
              <a:t>͏</a:t>
            </a:r>
            <a:r>
              <a:rPr lang="ru-RU" b="1" dirty="0">
                <a:solidFill>
                  <a:schemeClr val="bg1"/>
                </a:solidFill>
              </a:rPr>
              <a:t>Creative Commons </a:t>
            </a:r>
            <a:r>
              <a:rPr lang="en-US" dirty="0"/>
              <a:t>–</a:t>
            </a:r>
            <a:r>
              <a:rPr lang="ru-RU" dirty="0"/>
              <a:t> </a:t>
            </a:r>
            <a:r>
              <a:rPr lang="ru-RU" b="1" dirty="0"/>
              <a:t>нетърговска организация</a:t>
            </a:r>
            <a:r>
              <a:rPr lang="ru-RU" dirty="0"/>
              <a:t>, предлагаща </a:t>
            </a:r>
            <a:r>
              <a:rPr lang="ru-RU" b="1" dirty="0"/>
              <a:t>безплатни</a:t>
            </a:r>
            <a:r>
              <a:rPr lang="ru-RU" dirty="0"/>
              <a:t> типове </a:t>
            </a:r>
            <a:r>
              <a:rPr lang="ru-RU" b="1" dirty="0"/>
              <a:t>договори</a:t>
            </a:r>
            <a:r>
              <a:rPr lang="ru-RU" dirty="0"/>
              <a:t> (</a:t>
            </a:r>
            <a:r>
              <a:rPr lang="ru-RU" b="1" dirty="0"/>
              <a:t>публични лицензии</a:t>
            </a:r>
            <a:r>
              <a:rPr lang="ru-RU" dirty="0"/>
              <a:t>)</a:t>
            </a:r>
            <a:endParaRPr lang="en-US" dirty="0"/>
          </a:p>
          <a:p>
            <a:pPr lvl="1"/>
            <a:r>
              <a:rPr lang="ru-RU" dirty="0"/>
              <a:t>Тези лицензи помагат на </a:t>
            </a:r>
            <a:r>
              <a:rPr lang="ru-RU" b="1" dirty="0"/>
              <a:t>авторите</a:t>
            </a:r>
            <a:r>
              <a:rPr lang="ru-RU" dirty="0"/>
              <a:t> да </a:t>
            </a:r>
            <a:r>
              <a:rPr lang="ru-RU" b="1" dirty="0"/>
              <a:t>определят правата </a:t>
            </a:r>
            <a:r>
              <a:rPr lang="ru-RU" dirty="0"/>
              <a:t>и </a:t>
            </a:r>
            <a:r>
              <a:rPr lang="ru-RU" b="1" dirty="0"/>
              <a:t>задълженията</a:t>
            </a:r>
            <a:r>
              <a:rPr lang="ru-RU" dirty="0"/>
              <a:t> на </a:t>
            </a:r>
            <a:r>
              <a:rPr lang="ru-RU" b="1" dirty="0"/>
              <a:t>потребителите</a:t>
            </a:r>
            <a:endParaRPr lang="en-US" b="1" dirty="0"/>
          </a:p>
          <a:p>
            <a:pPr lvl="1"/>
            <a:r>
              <a:rPr lang="ru-RU" b="1" dirty="0"/>
              <a:t>Означението</a:t>
            </a:r>
            <a:r>
              <a:rPr lang="ru-RU" dirty="0"/>
              <a:t> на </a:t>
            </a:r>
            <a:r>
              <a:rPr lang="ru-RU" b="1" dirty="0"/>
              <a:t>лиценза</a:t>
            </a:r>
            <a:r>
              <a:rPr lang="ru-RU" dirty="0"/>
              <a:t> се </a:t>
            </a:r>
            <a:r>
              <a:rPr lang="ru-RU" b="1" dirty="0"/>
              <a:t>поставя</a:t>
            </a:r>
            <a:r>
              <a:rPr lang="ru-RU" dirty="0"/>
              <a:t> до </a:t>
            </a:r>
            <a:r>
              <a:rPr lang="ru-RU" b="1" dirty="0"/>
              <a:t>обекта</a:t>
            </a:r>
            <a:r>
              <a:rPr lang="ru-RU" dirty="0"/>
              <a:t> на </a:t>
            </a:r>
            <a:r>
              <a:rPr lang="ru-RU" b="1" dirty="0"/>
              <a:t>авторско право </a:t>
            </a:r>
            <a:r>
              <a:rPr lang="ru-RU" dirty="0"/>
              <a:t>(</a:t>
            </a:r>
            <a:r>
              <a:rPr lang="bg-BG" dirty="0"/>
              <a:t>фотографии</a:t>
            </a:r>
            <a:r>
              <a:rPr lang="ru-RU" dirty="0"/>
              <a:t>, анимации и т.н.)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Creative Commons и публични лицензи</a:t>
            </a:r>
            <a:endParaRPr lang="en-US" dirty="0"/>
          </a:p>
        </p:txBody>
      </p:sp>
      <p:pic>
        <p:nvPicPr>
          <p:cNvPr id="8196" name="Picture 4" descr="Can You Revoke a Creative Commons License? - Lireo Desig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5617" y="5364000"/>
            <a:ext cx="5310000" cy="1266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30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>
          <a:xfrm>
            <a:off x="11803586" y="6552000"/>
            <a:ext cx="367414" cy="297000"/>
          </a:xfrm>
        </p:spPr>
        <p:txBody>
          <a:bodyPr/>
          <a:lstStyle/>
          <a:p>
            <a:fld id="{2BF067CD-8E6B-4360-9AA8-C5DF2A48A6D1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Договори в </a:t>
            </a:r>
            <a:r>
              <a:rPr lang="en-US" dirty="0"/>
              <a:t>Creative Commons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541307"/>
              </p:ext>
            </p:extLst>
          </p:nvPr>
        </p:nvGraphicFramePr>
        <p:xfrm>
          <a:off x="270182" y="1269000"/>
          <a:ext cx="11651637" cy="535087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82068">
                  <a:extLst>
                    <a:ext uri="{9D8B030D-6E8A-4147-A177-3AD203B41FA5}">
                      <a16:colId xmlns:a16="http://schemas.microsoft.com/office/drawing/2014/main" val="422122316"/>
                    </a:ext>
                  </a:extLst>
                </a:gridCol>
                <a:gridCol w="1739969">
                  <a:extLst>
                    <a:ext uri="{9D8B030D-6E8A-4147-A177-3AD203B41FA5}">
                      <a16:colId xmlns:a16="http://schemas.microsoft.com/office/drawing/2014/main" val="1461651857"/>
                    </a:ext>
                  </a:extLst>
                </a:gridCol>
                <a:gridCol w="3414600">
                  <a:extLst>
                    <a:ext uri="{9D8B030D-6E8A-4147-A177-3AD203B41FA5}">
                      <a16:colId xmlns:a16="http://schemas.microsoft.com/office/drawing/2014/main" val="859241849"/>
                    </a:ext>
                  </a:extLst>
                </a:gridCol>
                <a:gridCol w="3915000">
                  <a:extLst>
                    <a:ext uri="{9D8B030D-6E8A-4147-A177-3AD203B41FA5}">
                      <a16:colId xmlns:a16="http://schemas.microsoft.com/office/drawing/2014/main" val="1661762633"/>
                    </a:ext>
                  </a:extLst>
                </a:gridCol>
              </a:tblGrid>
              <a:tr h="598874">
                <a:tc>
                  <a:txBody>
                    <a:bodyPr/>
                    <a:lstStyle/>
                    <a:p>
                      <a:pPr algn="ctr"/>
                      <a:r>
                        <a:rPr lang="bg-BG" sz="2400" dirty="0">
                          <a:solidFill>
                            <a:schemeClr val="bg2"/>
                          </a:solidFill>
                        </a:rPr>
                        <a:t>Символ</a:t>
                      </a:r>
                      <a:endParaRPr lang="en-US" sz="2400" dirty="0">
                        <a:solidFill>
                          <a:schemeClr val="bg2"/>
                        </a:solidFill>
                      </a:endParaRPr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2400" dirty="0">
                          <a:solidFill>
                            <a:schemeClr val="bg2"/>
                          </a:solidFill>
                        </a:rPr>
                        <a:t>Означение</a:t>
                      </a:r>
                      <a:endParaRPr lang="en-US" sz="2400" dirty="0">
                        <a:solidFill>
                          <a:schemeClr val="bg2"/>
                        </a:solidFill>
                      </a:endParaRPr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2400" dirty="0">
                          <a:solidFill>
                            <a:schemeClr val="bg2"/>
                          </a:solidFill>
                        </a:rPr>
                        <a:t>Позволява да</a:t>
                      </a:r>
                      <a:endParaRPr lang="en-US" sz="2400" dirty="0">
                        <a:solidFill>
                          <a:schemeClr val="bg2"/>
                        </a:solidFill>
                      </a:endParaRPr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2400" dirty="0">
                          <a:solidFill>
                            <a:schemeClr val="bg2"/>
                          </a:solidFill>
                        </a:rPr>
                        <a:t>Трябва да</a:t>
                      </a:r>
                      <a:endParaRPr lang="en-US" sz="2400" dirty="0">
                        <a:solidFill>
                          <a:schemeClr val="bg2"/>
                        </a:solidFill>
                      </a:endParaRPr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92744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CC BY</a:t>
                      </a:r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bg-BG" sz="2000" dirty="0"/>
                        <a:t>Споделям,</a:t>
                      </a:r>
                      <a:r>
                        <a:rPr lang="bg-BG" sz="2000" baseline="0" dirty="0"/>
                        <a:t> променям, печеля</a:t>
                      </a:r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bg-BG" sz="2000" dirty="0"/>
                        <a:t>Спомена</a:t>
                      </a:r>
                      <a:r>
                        <a:rPr lang="bg-BG" sz="2000" baseline="0" dirty="0"/>
                        <a:t> автора</a:t>
                      </a:r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4102070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CC BY</a:t>
                      </a:r>
                      <a:r>
                        <a:rPr lang="en-US" sz="2000" baseline="0" dirty="0"/>
                        <a:t>-SA</a:t>
                      </a:r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84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2000" dirty="0"/>
                        <a:t>Споделям,</a:t>
                      </a:r>
                      <a:r>
                        <a:rPr lang="bg-BG" sz="2000" baseline="0" dirty="0"/>
                        <a:t> променям, печеля</a:t>
                      </a:r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84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2000" dirty="0"/>
                        <a:t>Спомена</a:t>
                      </a:r>
                      <a:r>
                        <a:rPr lang="bg-BG" sz="2000" baseline="0" dirty="0"/>
                        <a:t> автора и запазя лиценза</a:t>
                      </a:r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466863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4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CC BY</a:t>
                      </a:r>
                      <a:r>
                        <a:rPr lang="en-US" sz="2000" baseline="0" dirty="0"/>
                        <a:t>-ND</a:t>
                      </a:r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84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2000" dirty="0"/>
                        <a:t>Споделям</a:t>
                      </a:r>
                      <a:r>
                        <a:rPr lang="bg-BG" sz="2000" baseline="0" dirty="0"/>
                        <a:t>, печеля</a:t>
                      </a:r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84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/>
                        <a:t>Спомена автора и не променям</a:t>
                      </a:r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9742838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4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CC BY-NC</a:t>
                      </a:r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bg-BG" sz="2000" dirty="0"/>
                        <a:t>Споделям</a:t>
                      </a:r>
                      <a:r>
                        <a:rPr lang="bg-BG" sz="2000" baseline="0" dirty="0"/>
                        <a:t>, променям</a:t>
                      </a:r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84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2000" dirty="0"/>
                        <a:t>Спомена</a:t>
                      </a:r>
                      <a:r>
                        <a:rPr lang="bg-BG" sz="2000" baseline="0" dirty="0"/>
                        <a:t> автора и </a:t>
                      </a:r>
                      <a:r>
                        <a:rPr lang="bg-BG" sz="2000" dirty="0"/>
                        <a:t>не</a:t>
                      </a:r>
                      <a:r>
                        <a:rPr lang="bg-BG" sz="2000" baseline="0" dirty="0"/>
                        <a:t> печеля</a:t>
                      </a:r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985519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4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CC BY-NC-SA</a:t>
                      </a:r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bg-BG" sz="2000" dirty="0"/>
                        <a:t>Споделям</a:t>
                      </a:r>
                      <a:r>
                        <a:rPr lang="bg-BG" sz="2000" baseline="0" dirty="0"/>
                        <a:t>, променям</a:t>
                      </a:r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84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2000" dirty="0"/>
                        <a:t>Спомена</a:t>
                      </a:r>
                      <a:r>
                        <a:rPr lang="bg-BG" sz="2000" baseline="0" dirty="0"/>
                        <a:t> автора, </a:t>
                      </a:r>
                    </a:p>
                    <a:p>
                      <a:pPr marL="0" marR="0" lvl="0" indent="0" algn="l" defTabSz="12184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2000" baseline="0" dirty="0"/>
                        <a:t>запазя същия лиценз, не печеля</a:t>
                      </a:r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0225567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4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CC BY-NC-ND</a:t>
                      </a:r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bg-BG" sz="2000" dirty="0"/>
                        <a:t>Споделям</a:t>
                      </a:r>
                      <a:endParaRPr lang="en-US" sz="200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84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2000" dirty="0"/>
                        <a:t>Спомена</a:t>
                      </a:r>
                      <a:r>
                        <a:rPr lang="bg-BG" sz="2000" baseline="0" dirty="0"/>
                        <a:t> автора, не променям,</a:t>
                      </a:r>
                    </a:p>
                    <a:p>
                      <a:pPr marL="0" marR="0" lvl="0" indent="0" algn="l" defTabSz="12184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2000" baseline="0" dirty="0"/>
                        <a:t>не печеля, запазя същия лиценз</a:t>
                      </a:r>
                      <a:endParaRPr lang="en-US" sz="2000" baseline="0" dirty="0"/>
                    </a:p>
                  </a:txBody>
                  <a:tcPr marR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5608731"/>
                  </a:ext>
                </a:extLst>
              </a:tr>
            </a:tbl>
          </a:graphicData>
        </a:graphic>
      </p:graphicFrame>
      <p:pic>
        <p:nvPicPr>
          <p:cNvPr id="9220" name="Picture 4" descr="https://mirrors.creativecommons.org/presskit/buttons/88x31/png/b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50" y="1921860"/>
            <a:ext cx="1980000" cy="692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https://mirrors.creativecommons.org/presskit/buttons/88x31/png/by-s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50" y="2715885"/>
            <a:ext cx="1980000" cy="687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https://mirrors.creativecommons.org/presskit/buttons/88x31/png/by-nd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51" y="3508145"/>
            <a:ext cx="1980000" cy="692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6" name="Picture 10" descr="https://mirrors.creativecommons.org/presskit/buttons/88x31/png/by-nc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50" y="4297250"/>
            <a:ext cx="1980000" cy="692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8" name="Picture 12" descr="https://mirrors.creativecommons.org/presskit/buttons/88x31/png/by-nc-sa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51" y="5089495"/>
            <a:ext cx="1980000" cy="692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0" name="Picture 14" descr="https://mirrors.creativecommons.org/presskit/buttons/88x31/png/by-nc-nd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51" y="5878600"/>
            <a:ext cx="1980000" cy="695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29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 dirty="0"/>
              <a:t>GNU General Public License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Общ публичен лиценз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000" y="1359000"/>
            <a:ext cx="2692818" cy="2692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243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͏</a:t>
            </a:r>
            <a:r>
              <a:rPr lang="en-US" b="1" dirty="0">
                <a:solidFill>
                  <a:schemeClr val="bg1"/>
                </a:solidFill>
              </a:rPr>
              <a:t>GNU General Public License </a:t>
            </a:r>
            <a:r>
              <a:rPr lang="en-US" dirty="0"/>
              <a:t>(</a:t>
            </a:r>
            <a:r>
              <a:rPr lang="bg-BG" b="1" dirty="0"/>
              <a:t>общ публичен лиценз</a:t>
            </a:r>
            <a:r>
              <a:rPr lang="en-US" dirty="0"/>
              <a:t>)</a:t>
            </a:r>
            <a:r>
              <a:rPr lang="bg-BG" dirty="0"/>
              <a:t> – </a:t>
            </a:r>
            <a:r>
              <a:rPr lang="bg-BG" b="1" dirty="0"/>
              <a:t>документ</a:t>
            </a:r>
            <a:r>
              <a:rPr lang="ru-RU" dirty="0"/>
              <a:t>, който </a:t>
            </a:r>
            <a:r>
              <a:rPr lang="ru-RU" b="1" dirty="0"/>
              <a:t>гарантира права </a:t>
            </a:r>
            <a:r>
              <a:rPr lang="ru-RU" dirty="0"/>
              <a:t>на </a:t>
            </a:r>
            <a:r>
              <a:rPr lang="ru-RU" b="1" dirty="0"/>
              <a:t>потребителите</a:t>
            </a:r>
            <a:r>
              <a:rPr lang="ru-RU" dirty="0"/>
              <a:t> на даден </a:t>
            </a:r>
            <a:r>
              <a:rPr lang="ru-RU" b="1" dirty="0"/>
              <a:t>софтуер</a:t>
            </a:r>
          </a:p>
          <a:p>
            <a:r>
              <a:rPr lang="ru-RU" b="1" dirty="0"/>
              <a:t>Потребителите</a:t>
            </a:r>
            <a:r>
              <a:rPr lang="ru-RU" dirty="0"/>
              <a:t> могат да:</a:t>
            </a:r>
          </a:p>
          <a:p>
            <a:pPr lvl="1"/>
            <a:r>
              <a:rPr lang="ru-RU" b="1" dirty="0"/>
              <a:t>Ползват програмата </a:t>
            </a:r>
            <a:r>
              <a:rPr lang="ru-RU" dirty="0"/>
              <a:t>за каквато и да е цел</a:t>
            </a:r>
          </a:p>
          <a:p>
            <a:pPr lvl="1"/>
            <a:r>
              <a:rPr lang="ru-RU" b="1" dirty="0"/>
              <a:t>Изучават</a:t>
            </a:r>
            <a:r>
              <a:rPr lang="ru-RU" dirty="0"/>
              <a:t> как работи</a:t>
            </a:r>
          </a:p>
          <a:p>
            <a:pPr lvl="1"/>
            <a:r>
              <a:rPr lang="ru-RU" b="1" dirty="0"/>
              <a:t>Променят</a:t>
            </a:r>
            <a:r>
              <a:rPr lang="ru-RU" dirty="0"/>
              <a:t> програмата</a:t>
            </a:r>
          </a:p>
          <a:p>
            <a:pPr lvl="1"/>
            <a:r>
              <a:rPr lang="ru-RU" b="1" dirty="0"/>
              <a:t>Разпространяват</a:t>
            </a:r>
            <a:r>
              <a:rPr lang="ru-RU" dirty="0"/>
              <a:t> копия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GNU General Public License</a:t>
            </a:r>
          </a:p>
        </p:txBody>
      </p:sp>
      <p:pic>
        <p:nvPicPr>
          <p:cNvPr id="11272" name="Picture 8" descr="undefined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6000" y="4464000"/>
            <a:ext cx="3872447" cy="1925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2187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29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b="1" dirty="0"/>
              <a:t>Най-известните</a:t>
            </a:r>
            <a:r>
              <a:rPr lang="bg-BG" dirty="0"/>
              <a:t> програми с </a:t>
            </a:r>
            <a:r>
              <a:rPr lang="en-US" b="1" dirty="0">
                <a:solidFill>
                  <a:schemeClr val="bg1"/>
                </a:solidFill>
              </a:rPr>
              <a:t>GPL</a:t>
            </a:r>
            <a:r>
              <a:rPr lang="en-US" dirty="0"/>
              <a:t> </a:t>
            </a:r>
            <a:r>
              <a:rPr lang="bg-BG" dirty="0"/>
              <a:t>са:</a:t>
            </a:r>
          </a:p>
          <a:p>
            <a:pPr lvl="1"/>
            <a:r>
              <a:rPr lang="en-US" dirty="0"/>
              <a:t>Linux</a:t>
            </a:r>
          </a:p>
          <a:p>
            <a:pPr lvl="1"/>
            <a:r>
              <a:rPr lang="en-US" dirty="0"/>
              <a:t>Firefox</a:t>
            </a:r>
          </a:p>
          <a:p>
            <a:pPr lvl="1"/>
            <a:r>
              <a:rPr lang="en-US" dirty="0"/>
              <a:t>Inkscape</a:t>
            </a:r>
          </a:p>
          <a:p>
            <a:pPr lvl="1"/>
            <a:r>
              <a:rPr lang="en-US" dirty="0"/>
              <a:t>GIMP</a:t>
            </a:r>
          </a:p>
          <a:p>
            <a:pPr lvl="1"/>
            <a:r>
              <a:rPr lang="en-US" dirty="0"/>
              <a:t>Audacity</a:t>
            </a:r>
          </a:p>
          <a:p>
            <a:pPr marL="442912" lvl="1" indent="0">
              <a:buNone/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Продукти с </a:t>
            </a:r>
            <a:r>
              <a:rPr lang="en-US" dirty="0"/>
              <a:t>GPL</a:t>
            </a:r>
          </a:p>
        </p:txBody>
      </p:sp>
      <p:pic>
        <p:nvPicPr>
          <p:cNvPr id="12290" name="Picture 2" descr="Linux - Wikipedia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2589" y="2052263"/>
            <a:ext cx="1796976" cy="2129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Firefox – Уикипедия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105" y="2025526"/>
            <a:ext cx="2100616" cy="2182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5" name="Picture 7" descr="Inkscape – Уикипедия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7261" y="1908526"/>
            <a:ext cx="2416891" cy="2416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7" name="Picture 9" descr="GIMP – Уикипедия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5634" y="4121031"/>
            <a:ext cx="2856001" cy="285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9" name="Picture 11" descr="Audacity: An audio editing tool - Cyber-Seniors Inc.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1000" y="4266953"/>
            <a:ext cx="2430000" cy="243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974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57798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Какво научихме днес?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11566412" y="6397196"/>
            <a:ext cx="428822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/>
              <a:pPr/>
              <a:t>30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6766" y="1314000"/>
            <a:ext cx="11798468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668236" y="1610812"/>
            <a:ext cx="11113508" cy="4894130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456915" indent="-45691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bg-BG" sz="2800" dirty="0">
                <a:solidFill>
                  <a:schemeClr val="bg2"/>
                </a:solidFill>
              </a:rPr>
              <a:t>͏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Интегриран документ </a:t>
            </a:r>
            <a:r>
              <a:rPr lang="bg-BG" sz="2800" dirty="0">
                <a:solidFill>
                  <a:schemeClr val="bg2"/>
                </a:solidFill>
              </a:rPr>
              <a:t>– </a:t>
            </a:r>
            <a:r>
              <a:rPr lang="bg-BG" sz="2800" b="1" dirty="0">
                <a:solidFill>
                  <a:schemeClr val="bg2"/>
                </a:solidFill>
              </a:rPr>
              <a:t>документ</a:t>
            </a:r>
            <a:r>
              <a:rPr lang="bg-BG" sz="2800" dirty="0">
                <a:solidFill>
                  <a:schemeClr val="bg2"/>
                </a:solidFill>
              </a:rPr>
              <a:t> с </a:t>
            </a:r>
            <a:r>
              <a:rPr lang="bg-BG" sz="2800" b="1" dirty="0">
                <a:solidFill>
                  <a:schemeClr val="bg2"/>
                </a:solidFill>
              </a:rPr>
              <a:t>вмъкнати елементи</a:t>
            </a: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bg-BG" sz="2800" b="1" dirty="0">
                <a:solidFill>
                  <a:schemeClr val="bg2"/>
                </a:solidFill>
              </a:rPr>
              <a:t>Търсене</a:t>
            </a:r>
            <a:r>
              <a:rPr lang="bg-BG" sz="2800" dirty="0">
                <a:solidFill>
                  <a:schemeClr val="bg2"/>
                </a:solidFill>
              </a:rPr>
              <a:t> и </a:t>
            </a:r>
            <a:r>
              <a:rPr lang="bg-BG" sz="2800" b="1" dirty="0">
                <a:solidFill>
                  <a:schemeClr val="bg2"/>
                </a:solidFill>
              </a:rPr>
              <a:t>запазване</a:t>
            </a:r>
            <a:r>
              <a:rPr lang="bg-BG" sz="2800" dirty="0">
                <a:solidFill>
                  <a:schemeClr val="bg2"/>
                </a:solidFill>
              </a:rPr>
              <a:t> на </a:t>
            </a:r>
            <a:r>
              <a:rPr lang="bg-BG" sz="2800" b="1" dirty="0">
                <a:solidFill>
                  <a:schemeClr val="bg2"/>
                </a:solidFill>
              </a:rPr>
              <a:t>информация</a:t>
            </a:r>
            <a:r>
              <a:rPr lang="bg-BG" sz="2800" dirty="0">
                <a:solidFill>
                  <a:schemeClr val="bg2"/>
                </a:solidFill>
              </a:rPr>
              <a:t> от интернет</a:t>
            </a:r>
            <a:endParaRPr lang="en-US" sz="2800" dirty="0">
              <a:solidFill>
                <a:schemeClr val="bg2"/>
              </a:solidFill>
            </a:endParaRP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en-US" sz="2800" dirty="0"/>
              <a:t>͏</a:t>
            </a:r>
            <a:r>
              <a:rPr lang="en-US" sz="2800" b="1" dirty="0">
                <a:solidFill>
                  <a:schemeClr val="accent3"/>
                </a:solidFill>
              </a:rPr>
              <a:t>G</a:t>
            </a:r>
            <a:r>
              <a:rPr lang="en-US" sz="2800" b="1" dirty="0">
                <a:solidFill>
                  <a:srgbClr val="FF0000"/>
                </a:solidFill>
              </a:rPr>
              <a:t>o</a:t>
            </a:r>
            <a:r>
              <a:rPr lang="en-US" sz="2800" b="1" dirty="0">
                <a:solidFill>
                  <a:schemeClr val="accent1"/>
                </a:solidFill>
              </a:rPr>
              <a:t>o</a:t>
            </a:r>
            <a:r>
              <a:rPr lang="en-US" sz="2800" b="1" dirty="0">
                <a:solidFill>
                  <a:srgbClr val="00B0F0"/>
                </a:solidFill>
              </a:rPr>
              <a:t>g</a:t>
            </a:r>
            <a:r>
              <a:rPr lang="en-US" sz="2800" b="1" dirty="0">
                <a:solidFill>
                  <a:schemeClr val="accent2"/>
                </a:solidFill>
              </a:rPr>
              <a:t>l</a:t>
            </a:r>
            <a:r>
              <a:rPr lang="en-US" sz="2800" b="1" dirty="0">
                <a:solidFill>
                  <a:srgbClr val="FF0000"/>
                </a:solidFill>
              </a:rPr>
              <a:t>e</a:t>
            </a:r>
            <a:r>
              <a:rPr lang="bg-BG" sz="2800" dirty="0"/>
              <a:t> </a:t>
            </a:r>
            <a:r>
              <a:rPr lang="bg-BG" sz="2800" dirty="0">
                <a:solidFill>
                  <a:schemeClr val="bg2"/>
                </a:solidFill>
              </a:rPr>
              <a:t>преводач</a:t>
            </a:r>
            <a:r>
              <a:rPr lang="en-US" sz="2800" dirty="0">
                <a:solidFill>
                  <a:schemeClr val="bg2"/>
                </a:solidFill>
              </a:rPr>
              <a:t> – </a:t>
            </a:r>
            <a:r>
              <a:rPr lang="bg-BG" sz="2800" dirty="0">
                <a:solidFill>
                  <a:schemeClr val="bg2"/>
                </a:solidFill>
              </a:rPr>
              <a:t>е</a:t>
            </a:r>
            <a:r>
              <a:rPr lang="ru-RU" sz="2800" dirty="0">
                <a:solidFill>
                  <a:schemeClr val="bg2"/>
                </a:solidFill>
              </a:rPr>
              <a:t>лектронен речник за </a:t>
            </a:r>
            <a:r>
              <a:rPr lang="ru-RU" sz="2800" b="1" dirty="0">
                <a:solidFill>
                  <a:schemeClr val="bg2"/>
                </a:solidFill>
              </a:rPr>
              <a:t>превод </a:t>
            </a:r>
            <a:r>
              <a:rPr lang="ru-RU" sz="2800" dirty="0">
                <a:solidFill>
                  <a:schemeClr val="bg2"/>
                </a:solidFill>
              </a:rPr>
              <a:t>на</a:t>
            </a:r>
            <a:r>
              <a:rPr lang="ru-RU" sz="2800" b="1" dirty="0">
                <a:solidFill>
                  <a:schemeClr val="bg2"/>
                </a:solidFill>
              </a:rPr>
              <a:t> текст</a:t>
            </a: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ru-RU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Авторско право </a:t>
            </a:r>
            <a:r>
              <a:rPr lang="ru-RU" sz="2800" dirty="0">
                <a:solidFill>
                  <a:schemeClr val="bg2"/>
                </a:solidFill>
              </a:rPr>
              <a:t>– осигурява </a:t>
            </a:r>
            <a:r>
              <a:rPr lang="ru-RU" sz="2800" b="1" dirty="0">
                <a:solidFill>
                  <a:schemeClr val="bg2"/>
                </a:solidFill>
              </a:rPr>
              <a:t>защита</a:t>
            </a:r>
            <a:r>
              <a:rPr lang="ru-RU" sz="2800" dirty="0">
                <a:solidFill>
                  <a:schemeClr val="bg2"/>
                </a:solidFill>
              </a:rPr>
              <a:t> на </a:t>
            </a:r>
            <a:r>
              <a:rPr lang="ru-RU" sz="2800" b="1" dirty="0">
                <a:solidFill>
                  <a:schemeClr val="bg2"/>
                </a:solidFill>
              </a:rPr>
              <a:t>правата</a:t>
            </a:r>
            <a:r>
              <a:rPr lang="ru-RU" sz="2800" dirty="0">
                <a:solidFill>
                  <a:schemeClr val="bg2"/>
                </a:solidFill>
              </a:rPr>
              <a:t> и </a:t>
            </a:r>
            <a:r>
              <a:rPr lang="ru-RU" sz="2800" b="1" dirty="0">
                <a:solidFill>
                  <a:schemeClr val="bg2"/>
                </a:solidFill>
              </a:rPr>
              <a:t>оригиналността</a:t>
            </a:r>
            <a:r>
              <a:rPr lang="ru-RU" sz="2800" dirty="0">
                <a:solidFill>
                  <a:schemeClr val="bg2"/>
                </a:solidFill>
              </a:rPr>
              <a:t> на труда на </a:t>
            </a:r>
            <a:r>
              <a:rPr lang="ru-RU" sz="2800" b="1" dirty="0">
                <a:solidFill>
                  <a:schemeClr val="bg2"/>
                </a:solidFill>
              </a:rPr>
              <a:t>автора</a:t>
            </a:r>
            <a:r>
              <a:rPr lang="ru-RU" sz="2800" dirty="0">
                <a:solidFill>
                  <a:schemeClr val="bg2"/>
                </a:solidFill>
              </a:rPr>
              <a:t> на конкретно произведение</a:t>
            </a:r>
            <a:endParaRPr lang="bg-BG" sz="2800" dirty="0">
              <a:solidFill>
                <a:schemeClr val="bg2"/>
              </a:solidFill>
            </a:endParaRP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Лиценз</a:t>
            </a:r>
            <a:r>
              <a:rPr lang="bg-BG" sz="2800" dirty="0">
                <a:solidFill>
                  <a:schemeClr val="bg2"/>
                </a:solidFill>
              </a:rPr>
              <a:t> – </a:t>
            </a:r>
            <a:r>
              <a:rPr lang="bg-BG" sz="2800" b="1" dirty="0">
                <a:solidFill>
                  <a:schemeClr val="bg2"/>
                </a:solidFill>
              </a:rPr>
              <a:t>разрешение</a:t>
            </a:r>
            <a:r>
              <a:rPr lang="bg-BG" sz="2800" dirty="0">
                <a:solidFill>
                  <a:schemeClr val="bg2"/>
                </a:solidFill>
              </a:rPr>
              <a:t> на </a:t>
            </a:r>
            <a:r>
              <a:rPr lang="bg-BG" sz="2800" b="1" dirty="0">
                <a:solidFill>
                  <a:schemeClr val="bg2"/>
                </a:solidFill>
              </a:rPr>
              <a:t>собственика</a:t>
            </a:r>
            <a:r>
              <a:rPr lang="bg-BG" sz="2800" dirty="0">
                <a:solidFill>
                  <a:schemeClr val="bg2"/>
                </a:solidFill>
              </a:rPr>
              <a:t> за </a:t>
            </a:r>
            <a:r>
              <a:rPr lang="bg-BG" sz="2800" b="1" dirty="0">
                <a:solidFill>
                  <a:schemeClr val="bg2"/>
                </a:solidFill>
              </a:rPr>
              <a:t>използване</a:t>
            </a:r>
            <a:r>
              <a:rPr lang="bg-BG" sz="2800" dirty="0">
                <a:solidFill>
                  <a:schemeClr val="bg2"/>
                </a:solidFill>
              </a:rPr>
              <a:t> на определен продукт</a:t>
            </a: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en-US" sz="2800" b="1" dirty="0">
                <a:solidFill>
                  <a:schemeClr val="bg2"/>
                </a:solidFill>
              </a:rPr>
              <a:t>Creative Commons </a:t>
            </a:r>
            <a:r>
              <a:rPr lang="en-US" sz="2800" dirty="0">
                <a:solidFill>
                  <a:schemeClr val="bg2"/>
                </a:solidFill>
              </a:rPr>
              <a:t>– </a:t>
            </a:r>
            <a:r>
              <a:rPr lang="bg-BG" sz="2800" b="1" dirty="0">
                <a:solidFill>
                  <a:schemeClr val="bg2"/>
                </a:solidFill>
              </a:rPr>
              <a:t>безплатни</a:t>
            </a:r>
            <a:r>
              <a:rPr lang="bg-BG" sz="2800" dirty="0">
                <a:solidFill>
                  <a:schemeClr val="bg2"/>
                </a:solidFill>
              </a:rPr>
              <a:t> за използване </a:t>
            </a:r>
            <a:r>
              <a:rPr lang="bg-BG" sz="2800" b="1" dirty="0">
                <a:solidFill>
                  <a:schemeClr val="bg2"/>
                </a:solidFill>
              </a:rPr>
              <a:t>договори</a:t>
            </a: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en-US" sz="2800" b="1" dirty="0">
                <a:solidFill>
                  <a:schemeClr val="bg2"/>
                </a:solidFill>
              </a:rPr>
              <a:t>GNU General Public License </a:t>
            </a:r>
            <a:r>
              <a:rPr lang="en-US" sz="2800" dirty="0">
                <a:solidFill>
                  <a:schemeClr val="bg2"/>
                </a:solidFill>
              </a:rPr>
              <a:t>– </a:t>
            </a:r>
            <a:r>
              <a:rPr lang="bg-BG" sz="2800" b="1" dirty="0">
                <a:solidFill>
                  <a:schemeClr val="bg2"/>
                </a:solidFill>
              </a:rPr>
              <a:t>лиценз</a:t>
            </a:r>
            <a:r>
              <a:rPr lang="bg-BG" sz="2800" dirty="0">
                <a:solidFill>
                  <a:schemeClr val="bg2"/>
                </a:solidFill>
              </a:rPr>
              <a:t> на </a:t>
            </a:r>
            <a:r>
              <a:rPr lang="bg-BG" sz="2800" b="1" dirty="0">
                <a:solidFill>
                  <a:schemeClr val="bg2"/>
                </a:solidFill>
              </a:rPr>
              <a:t>свободен софтуер</a:t>
            </a:r>
            <a:endParaRPr lang="ru-RU" sz="28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39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4862</TotalTime>
  <Words>1261</Words>
  <Application>Microsoft Office PowerPoint</Application>
  <PresentationFormat>Widescreen</PresentationFormat>
  <Paragraphs>195</Paragraphs>
  <Slides>32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Consolas</vt:lpstr>
      <vt:lpstr>Wingdings</vt:lpstr>
      <vt:lpstr>SoftUni</vt:lpstr>
      <vt:lpstr>Търсене на материали по зададена тема на български и на чужд език</vt:lpstr>
      <vt:lpstr>Съдържание</vt:lpstr>
      <vt:lpstr>Интегриране на дейности</vt:lpstr>
      <vt:lpstr>Интегриране на дейности</vt:lpstr>
      <vt:lpstr>Вмъкване на елементи – видео</vt:lpstr>
      <vt:lpstr>͏Търсене и запазване на информация от интернет</vt:lpstr>
      <vt:lpstr>Копиране на текст от интернет</vt:lpstr>
      <vt:lpstr>Копиране на графично изображение от интернет</vt:lpstr>
      <vt:lpstr>Запазване на графично изображеие от интернет</vt:lpstr>
      <vt:lpstr>͏Google преводач</vt:lpstr>
      <vt:lpstr>Материали на чужд език</vt:lpstr>
      <vt:lpstr>Използване на Google преводач</vt:lpstr>
      <vt:lpstr>Елементи на Google преводач</vt:lpstr>
      <vt:lpstr>Превод на изображения и документи</vt:lpstr>
      <vt:lpstr>Превод на уебсайт</vt:lpstr>
      <vt:lpstr>Грешки</vt:lpstr>
      <vt:lpstr>Авторски права в интернет</vt:lpstr>
      <vt:lpstr>Закон за авторското право</vt:lpstr>
      <vt:lpstr>Обекти на авторско право</vt:lpstr>
      <vt:lpstr>Изключения от Закона за авторското право</vt:lpstr>
      <vt:lpstr>Идентифициране на обекти на авторско право</vt:lpstr>
      <vt:lpstr>Правила за цитиране на чужда информация</vt:lpstr>
      <vt:lpstr>Използване на софтуер, филми и музика</vt:lpstr>
      <vt:lpstr>͏Лицензионни споразумения</vt:lpstr>
      <vt:lpstr>Creative Commons и публични лицензи</vt:lpstr>
      <vt:lpstr>Договори в Creative Commons</vt:lpstr>
      <vt:lpstr>Общ публичен лиценз</vt:lpstr>
      <vt:lpstr>GNU General Public License</vt:lpstr>
      <vt:lpstr>Продукти с GPL</vt:lpstr>
      <vt:lpstr>Какво научихме днес?</vt:lpstr>
      <vt:lpstr>Въпроси?</vt:lpstr>
      <vt:lpstr>Лиценз</vt:lpstr>
    </vt:vector>
  </TitlesOfParts>
  <Company>BG-IT-Edu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Търсене на материали по зададена тема на български и на чужд език. Авторски права на информация, публикувана в интернет</dc:title>
  <dc:subject>КМИТ - 6 клас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Zaraliev</cp:lastModifiedBy>
  <cp:revision>1135</cp:revision>
  <dcterms:created xsi:type="dcterms:W3CDTF">2018-05-23T13:08:44Z</dcterms:created>
  <dcterms:modified xsi:type="dcterms:W3CDTF">2026-09-25T09:03:35Z</dcterms:modified>
  <cp:category/>
</cp:coreProperties>
</file>