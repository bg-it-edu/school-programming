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0"/>
  </p:notesMasterIdLst>
  <p:handoutMasterIdLst>
    <p:handoutMasterId r:id="rId31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93" r:id="rId10"/>
    <p:sldId id="594" r:id="rId11"/>
    <p:sldId id="595" r:id="rId12"/>
    <p:sldId id="596" r:id="rId13"/>
    <p:sldId id="597" r:id="rId14"/>
    <p:sldId id="598" r:id="rId15"/>
    <p:sldId id="599" r:id="rId16"/>
    <p:sldId id="600" r:id="rId17"/>
    <p:sldId id="601" r:id="rId18"/>
    <p:sldId id="602" r:id="rId19"/>
    <p:sldId id="603" r:id="rId20"/>
    <p:sldId id="604" r:id="rId21"/>
    <p:sldId id="605" r:id="rId22"/>
    <p:sldId id="606" r:id="rId23"/>
    <p:sldId id="607" r:id="rId24"/>
    <p:sldId id="608" r:id="rId25"/>
    <p:sldId id="609" r:id="rId26"/>
    <p:sldId id="586" r:id="rId27"/>
    <p:sldId id="504" r:id="rId28"/>
    <p:sldId id="50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Вмъкване на специални знаци и символи" id="{BB67F55B-B863-45E8-8685-EE4AEE4A06DA}">
          <p14:sldIdLst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</p14:sldIdLst>
        </p14:section>
        <p14:section name="Вмъкване на графични изображения" id="{38C8A0DC-4C79-4F44-8B1B-52BB8D166154}">
          <p14:sldIdLst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</p14:sldIdLst>
        </p14:section>
        <p14:section name="Форматиране на графични изображния" id="{5676587A-BC3A-4773-91EB-3BFFC4C37D0D}">
          <p14:sldIdLst>
            <p14:sldId id="604"/>
            <p14:sldId id="605"/>
            <p14:sldId id="606"/>
            <p14:sldId id="607"/>
            <p14:sldId id="608"/>
            <p14:sldId id="609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3" autoAdjust="0"/>
    <p:restoredTop sz="95238" autoAdjust="0"/>
  </p:normalViewPr>
  <p:slideViewPr>
    <p:cSldViewPr showGuides="1">
      <p:cViewPr varScale="1">
        <p:scale>
          <a:sx n="105" d="100"/>
          <a:sy n="105" d="100"/>
        </p:scale>
        <p:origin x="834" y="138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83936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60686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51039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63971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93902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hyperlink" Target="https://github.com/BG-IT-Ed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15 Best Image File Types (Pros vs Cons of Each Format)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88" b="8288"/>
          <a:stretch/>
        </p:blipFill>
        <p:spPr bwMode="auto">
          <a:xfrm>
            <a:off x="6390123" y="3400017"/>
            <a:ext cx="5248260" cy="2188983"/>
          </a:xfr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4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BD67034F-3F1A-3FD4-10D6-226170AA9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5165" y="1852943"/>
            <a:ext cx="11082798" cy="1306057"/>
          </a:xfrm>
        </p:spPr>
        <p:txBody>
          <a:bodyPr>
            <a:normAutofit/>
          </a:bodyPr>
          <a:lstStyle/>
          <a:p>
            <a:r>
              <a:rPr lang="bg-BG" dirty="0"/>
              <a:t>Работа със специални символи.</a:t>
            </a:r>
            <a:br>
              <a:rPr lang="bg-BG" dirty="0"/>
            </a:br>
            <a:r>
              <a:rPr lang="bg-BG" dirty="0"/>
              <a:t>Вмъкване и форматиране на изображения</a:t>
            </a:r>
            <a:endParaRPr lang="en-US" dirty="0"/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002" y="322263"/>
            <a:ext cx="9629998" cy="1350680"/>
          </a:xfrm>
        </p:spPr>
        <p:txBody>
          <a:bodyPr>
            <a:normAutofit fontScale="90000"/>
          </a:bodyPr>
          <a:lstStyle/>
          <a:p>
            <a:r>
              <a:rPr lang="bg-BG" dirty="0"/>
              <a:t>Вмъкване на специални символи и графични изображения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159338"/>
            <a:ext cx="2002460" cy="89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9679234" cy="5207396"/>
          </a:xfrm>
        </p:spPr>
        <p:txBody>
          <a:bodyPr/>
          <a:lstStyle/>
          <a:p>
            <a:r>
              <a:rPr lang="bg-BG" dirty="0"/>
              <a:t>͏Вмъкване на </a:t>
            </a:r>
            <a:r>
              <a:rPr lang="bg-BG" b="1" dirty="0"/>
              <a:t>специални знаци </a:t>
            </a:r>
            <a:r>
              <a:rPr lang="bg-BG" dirty="0"/>
              <a:t>и </a:t>
            </a:r>
            <a:r>
              <a:rPr lang="bg-BG" b="1" dirty="0"/>
              <a:t>символи</a:t>
            </a:r>
          </a:p>
          <a:p>
            <a:r>
              <a:rPr lang="bg-BG" dirty="0"/>
              <a:t>Вмъкване на </a:t>
            </a:r>
            <a:r>
              <a:rPr lang="bg-BG" b="1" dirty="0"/>
              <a:t>графични изображения</a:t>
            </a:r>
          </a:p>
          <a:p>
            <a:r>
              <a:rPr lang="bg-BG" dirty="0"/>
              <a:t>͏</a:t>
            </a:r>
            <a:r>
              <a:rPr lang="bg-BG" b="1" dirty="0"/>
              <a:t>Форматиране</a:t>
            </a:r>
            <a:r>
              <a:rPr lang="bg-BG" dirty="0"/>
              <a:t> на графични изображения</a:t>
            </a:r>
          </a:p>
          <a:p>
            <a:endParaRPr lang="en-US" b="1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44E730-4D6A-9120-AB3F-9FD645D47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4704824"/>
            <a:ext cx="10961783" cy="1739175"/>
          </a:xfrm>
        </p:spPr>
        <p:txBody>
          <a:bodyPr/>
          <a:lstStyle/>
          <a:p>
            <a:r>
              <a:rPr lang="bg-BG" dirty="0"/>
              <a:t>Вмъкване на специални знаци и символи</a:t>
            </a:r>
            <a:endParaRPr lang="en-US" dirty="0"/>
          </a:p>
        </p:txBody>
      </p:sp>
      <p:sp>
        <p:nvSpPr>
          <p:cNvPr id="7" name="Smiley Face 6"/>
          <p:cNvSpPr/>
          <p:nvPr/>
        </p:nvSpPr>
        <p:spPr bwMode="auto">
          <a:xfrm>
            <a:off x="5061000" y="1584000"/>
            <a:ext cx="2070000" cy="2070000"/>
          </a:xfrm>
          <a:prstGeom prst="smileyFace">
            <a:avLst/>
          </a:prstGeom>
          <a:solidFill>
            <a:schemeClr val="bg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0125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͏</a:t>
            </a:r>
            <a:r>
              <a:rPr lang="bg-BG" b="1" dirty="0">
                <a:solidFill>
                  <a:schemeClr val="bg1"/>
                </a:solidFill>
              </a:rPr>
              <a:t>Символ</a:t>
            </a:r>
            <a:r>
              <a:rPr lang="bg-BG" dirty="0"/>
              <a:t> – най-малкият</a:t>
            </a:r>
            <a:r>
              <a:rPr lang="bg-BG" b="1" dirty="0"/>
              <a:t> неделим елемент </a:t>
            </a:r>
            <a:r>
              <a:rPr lang="bg-BG" dirty="0"/>
              <a:t>на текста</a:t>
            </a:r>
          </a:p>
          <a:p>
            <a:pPr lvl="1"/>
            <a:r>
              <a:rPr lang="bg-BG" dirty="0"/>
              <a:t>Включва: </a:t>
            </a:r>
            <a:r>
              <a:rPr lang="bg-BG" b="1" dirty="0"/>
              <a:t>букви</a:t>
            </a:r>
            <a:r>
              <a:rPr lang="bg-BG" dirty="0"/>
              <a:t>, </a:t>
            </a:r>
            <a:r>
              <a:rPr lang="bg-BG" b="1" dirty="0"/>
              <a:t>цифри</a:t>
            </a:r>
            <a:r>
              <a:rPr lang="bg-BG" dirty="0"/>
              <a:t>, </a:t>
            </a:r>
            <a:r>
              <a:rPr lang="bg-BG" b="1" dirty="0"/>
              <a:t>препинателни знаци </a:t>
            </a:r>
            <a:r>
              <a:rPr lang="bg-BG" dirty="0"/>
              <a:t>и </a:t>
            </a:r>
            <a:r>
              <a:rPr lang="bg-BG" b="1" dirty="0"/>
              <a:t>др.</a:t>
            </a:r>
            <a:r>
              <a:rPr lang="bg-BG" dirty="0"/>
              <a:t> </a:t>
            </a:r>
            <a:r>
              <a:rPr lang="bg-BG" b="1" dirty="0"/>
              <a:t>специални знаци </a:t>
            </a:r>
            <a:r>
              <a:rPr lang="bg-BG" dirty="0"/>
              <a:t>(@, №, $, %, *, ...)</a:t>
            </a:r>
          </a:p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Дума</a:t>
            </a:r>
            <a:r>
              <a:rPr lang="bg-BG" dirty="0"/>
              <a:t> – </a:t>
            </a:r>
            <a:r>
              <a:rPr lang="bg-BG" b="1" dirty="0"/>
              <a:t>последователност</a:t>
            </a:r>
            <a:r>
              <a:rPr lang="bg-BG" dirty="0"/>
              <a:t> </a:t>
            </a:r>
            <a:r>
              <a:rPr lang="bg-BG" b="1" dirty="0"/>
              <a:t>от знаци</a:t>
            </a:r>
            <a:r>
              <a:rPr lang="bg-BG" dirty="0"/>
              <a:t>, между които </a:t>
            </a:r>
            <a:r>
              <a:rPr lang="bg-BG" b="1" dirty="0"/>
              <a:t>няма интервал</a:t>
            </a:r>
          </a:p>
          <a:p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Изречение</a:t>
            </a:r>
            <a:r>
              <a:rPr lang="bg-BG" b="1" dirty="0"/>
              <a:t> </a:t>
            </a:r>
            <a:r>
              <a:rPr lang="bg-BG" dirty="0"/>
              <a:t>–</a:t>
            </a:r>
            <a:r>
              <a:rPr lang="bg-BG" b="1" dirty="0"/>
              <a:t> последователност от думи </a:t>
            </a:r>
            <a:r>
              <a:rPr lang="bg-BG" dirty="0"/>
              <a:t>и </a:t>
            </a:r>
            <a:r>
              <a:rPr lang="bg-BG" b="1" dirty="0"/>
              <a:t>препинателни знаци</a:t>
            </a:r>
            <a:r>
              <a:rPr lang="bg-BG" dirty="0"/>
              <a:t>, завършващи със знак за </a:t>
            </a:r>
            <a:r>
              <a:rPr lang="bg-BG" b="1" dirty="0"/>
              <a:t>край на изречение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Нека си припомним!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75050" y="5807058"/>
            <a:ext cx="765000" cy="73273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3200" dirty="0"/>
              <a:t>Е</a:t>
            </a:r>
            <a:endParaRPr 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2991000" y="5769000"/>
            <a:ext cx="7605000" cy="759796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3200" dirty="0"/>
              <a:t>ден на нашата врата почука странен тип.</a:t>
            </a:r>
            <a:endParaRPr 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2226000" y="5796059"/>
            <a:ext cx="1170000" cy="73273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ru-RU" sz="3200" dirty="0"/>
              <a:t>дин</a:t>
            </a:r>
            <a:endParaRPr 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1891950" y="5747254"/>
            <a:ext cx="8704050" cy="85234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6C86CA-66B6-35A9-19E3-3A542CF22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95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͏</a:t>
            </a:r>
            <a:r>
              <a:rPr lang="bg-BG" b="1" dirty="0">
                <a:solidFill>
                  <a:schemeClr val="bg1"/>
                </a:solidFill>
              </a:rPr>
              <a:t>Абзац</a:t>
            </a:r>
            <a:r>
              <a:rPr lang="bg-BG" dirty="0"/>
              <a:t> – </a:t>
            </a:r>
            <a:r>
              <a:rPr lang="bg-BG" b="1" dirty="0"/>
              <a:t>поредица от изречения</a:t>
            </a:r>
          </a:p>
          <a:p>
            <a:pPr lvl="1"/>
            <a:r>
              <a:rPr lang="bg-BG" dirty="0"/>
              <a:t>Започва на </a:t>
            </a:r>
            <a:r>
              <a:rPr lang="bg-BG" b="1" dirty="0"/>
              <a:t>нов ред</a:t>
            </a:r>
            <a:r>
              <a:rPr lang="bg-BG" dirty="0"/>
              <a:t>, отделен от другите изречения с </a:t>
            </a:r>
            <a:r>
              <a:rPr lang="bg-BG" b="1" dirty="0"/>
              <a:t>разстояние</a:t>
            </a:r>
            <a:r>
              <a:rPr lang="bg-BG" dirty="0"/>
              <a:t> или </a:t>
            </a:r>
            <a:r>
              <a:rPr lang="bg-BG" b="1" dirty="0"/>
              <a:t>отстъп</a:t>
            </a:r>
          </a:p>
          <a:p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Страница</a:t>
            </a:r>
            <a:r>
              <a:rPr lang="bg-BG" b="1" dirty="0"/>
              <a:t> </a:t>
            </a:r>
            <a:r>
              <a:rPr lang="bg-BG" dirty="0"/>
              <a:t>–</a:t>
            </a:r>
            <a:r>
              <a:rPr lang="bg-BG" b="1" dirty="0"/>
              <a:t> текст</a:t>
            </a:r>
            <a:r>
              <a:rPr lang="bg-BG" dirty="0"/>
              <a:t>, който може да се отпечатва на един лист</a:t>
            </a:r>
            <a:endParaRPr lang="bg-BG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Нека си припомним!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6000" y="3901612"/>
            <a:ext cx="11340000" cy="271110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ru-RU" dirty="0"/>
              <a:t>	Оркестърът свиреше румънската "Дойна". По-право казано, свиреше само Анчето, с флейта соло, а другите приглашаха. Ний слушахме от вътрешния салон. Ама, ще речете, кои са тези </a:t>
            </a:r>
            <a:r>
              <a:rPr lang="ru-RU" i="1" dirty="0"/>
              <a:t>ний</a:t>
            </a:r>
            <a:r>
              <a:rPr lang="ru-RU" dirty="0"/>
              <a:t>? Кои ли? Известно е кои: Сенаторът, Отело, Стувенчо и аз. Пред нас стърчеше едно дълго шише бяло Chateau Sandrovo и друго Giesshuebler. Безгрижно разположени около масата, с папироски в уста, ний ловяхме фиоритурите на "Дойна" и бяхме се предали на приятно far niente. Утре е неделя - няма работа, може да поседим и по-късничко. Музиката сносна, слечинките хубавички, ний - попревтасали ергени. Тамам!</a:t>
            </a:r>
          </a:p>
          <a:p>
            <a:r>
              <a:rPr lang="ru-RU" dirty="0"/>
              <a:t>	Седим си така и по едно време флейтата задразни ухото ми с няколко фалшиви ноти, същевременно и целият оркестър сфалшиви. В този същия миг Стувенчо се изсмя и извика: "Пустият му Отело! Страшен зевзек! Я го вижте!.." Обръщаме се веднага двамата със Сенатора и какво да видим! Дявол Отело! Отде му идат на ум...</a:t>
            </a:r>
            <a:endParaRPr lang="en-US" sz="2400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1D160BD-E077-D4FA-E9BF-CE233C184937}"/>
              </a:ext>
            </a:extLst>
          </p:cNvPr>
          <p:cNvSpPr/>
          <p:nvPr/>
        </p:nvSpPr>
        <p:spPr bwMode="auto">
          <a:xfrm>
            <a:off x="606000" y="4059000"/>
            <a:ext cx="810000" cy="225000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bg-BG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861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Често при писането на текстове е необходимо да използваме </a:t>
            </a:r>
            <a:r>
              <a:rPr lang="ru-RU" b="1" dirty="0"/>
              <a:t>специални символи</a:t>
            </a:r>
            <a:r>
              <a:rPr lang="ru-RU" dirty="0"/>
              <a:t>, които не се намират на стандартната клавиатура</a:t>
            </a:r>
          </a:p>
          <a:p>
            <a:pPr lvl="1"/>
            <a:r>
              <a:rPr lang="bg-BG" b="1" dirty="0"/>
              <a:t>М</a:t>
            </a:r>
            <a:r>
              <a:rPr lang="ru-RU" b="1" dirty="0"/>
              <a:t>атематически символи </a:t>
            </a:r>
            <a:r>
              <a:rPr lang="ru-RU" dirty="0"/>
              <a:t>(≈, ≤, ≠)</a:t>
            </a:r>
          </a:p>
          <a:p>
            <a:pPr lvl="1"/>
            <a:r>
              <a:rPr lang="bg-BG" dirty="0"/>
              <a:t>Б</a:t>
            </a:r>
            <a:r>
              <a:rPr lang="ru-RU" dirty="0"/>
              <a:t>укви от </a:t>
            </a:r>
            <a:r>
              <a:rPr lang="ru-RU" b="1" dirty="0"/>
              <a:t>гръцката азбука</a:t>
            </a:r>
            <a:r>
              <a:rPr lang="ru-RU" dirty="0"/>
              <a:t>, </a:t>
            </a:r>
            <a:r>
              <a:rPr lang="ru-RU" b="1" dirty="0"/>
              <a:t>валутни обозначения </a:t>
            </a:r>
            <a:r>
              <a:rPr lang="ru-RU" dirty="0"/>
              <a:t>и т.н. (</a:t>
            </a:r>
            <a:r>
              <a:rPr lang="el-GR" dirty="0"/>
              <a:t>β</a:t>
            </a:r>
            <a:r>
              <a:rPr lang="ru-RU" dirty="0"/>
              <a:t>, €)</a:t>
            </a:r>
          </a:p>
          <a:p>
            <a:r>
              <a:rPr lang="ru-RU" dirty="0"/>
              <a:t>Те </a:t>
            </a:r>
            <a:r>
              <a:rPr lang="bg-BG" dirty="0"/>
              <a:t>могат да се</a:t>
            </a:r>
            <a:r>
              <a:rPr lang="ru-RU" dirty="0"/>
              <a:t> вмъкват от </a:t>
            </a:r>
            <a:r>
              <a:rPr lang="ru-RU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Symbols</a:t>
            </a:r>
            <a:r>
              <a:rPr lang="en-US" b="1" dirty="0"/>
              <a:t> </a:t>
            </a:r>
            <a:r>
              <a:rPr lang="bg-BG" dirty="0"/>
              <a:t>в </a:t>
            </a:r>
            <a:r>
              <a:rPr lang="bg-BG" b="1" dirty="0"/>
              <a:t>менюто </a:t>
            </a:r>
            <a:r>
              <a:rPr lang="en-US" b="1" dirty="0">
                <a:solidFill>
                  <a:schemeClr val="bg1"/>
                </a:solidFill>
              </a:rPr>
              <a:t>Insert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Вмъкване на специални знаци и символи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9EC2B6-76DC-F4D1-A531-726C4DFCD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710" y="5097843"/>
            <a:ext cx="1610581" cy="139741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17505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Вмъкване на специални символи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11835" y="1494000"/>
            <a:ext cx="6334165" cy="486441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336000" y="4990500"/>
            <a:ext cx="4995000" cy="1665000"/>
          </a:xfrm>
          <a:prstGeom prst="wedgeRoundRectCallout">
            <a:avLst>
              <a:gd name="adj1" fmla="val -20247"/>
              <a:gd name="adj2" fmla="val 4527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Като изберем </a:t>
            </a:r>
            <a:r>
              <a:rPr lang="en-US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Symbol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се отваря диалогов прозорец с всички възможни символи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283794" y="1404000"/>
            <a:ext cx="3870000" cy="1080000"/>
          </a:xfrm>
          <a:prstGeom prst="wedgeRoundRectCallout">
            <a:avLst>
              <a:gd name="adj1" fmla="val 5533"/>
              <a:gd name="adj2" fmla="val 13634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Селектираме желания от нас символ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8256000" y="5077267"/>
            <a:ext cx="3195000" cy="945000"/>
          </a:xfrm>
          <a:prstGeom prst="wedgeRoundRectCallout">
            <a:avLst>
              <a:gd name="adj1" fmla="val -87091"/>
              <a:gd name="adj2" fmla="val 4447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натискаме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</a:t>
            </a:r>
            <a:r>
              <a:rPr 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7794750" y="2799000"/>
            <a:ext cx="4027500" cy="1793535"/>
          </a:xfrm>
          <a:prstGeom prst="wedgeRoundRectCallout">
            <a:avLst>
              <a:gd name="adj1" fmla="val -39597"/>
              <a:gd name="adj2" fmla="val -6391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 списъка </a:t>
            </a:r>
            <a:r>
              <a:rPr lang="en-US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Subset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може да изберете кои символи да се покажат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998918" y="2269628"/>
            <a:ext cx="3150000" cy="349372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6673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Вмъкване на специални символи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3" b="377"/>
          <a:stretch/>
        </p:blipFill>
        <p:spPr>
          <a:xfrm>
            <a:off x="1386603" y="1243833"/>
            <a:ext cx="9418794" cy="542203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Rounded Rectangular Callout 6"/>
          <p:cNvSpPr/>
          <p:nvPr/>
        </p:nvSpPr>
        <p:spPr bwMode="auto">
          <a:xfrm>
            <a:off x="4701000" y="3099851"/>
            <a:ext cx="4005000" cy="1710000"/>
          </a:xfrm>
          <a:prstGeom prst="wedgeRoundRectCallout">
            <a:avLst>
              <a:gd name="adj1" fmla="val -70731"/>
              <a:gd name="adj2" fmla="val 3824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Избраният от нас символ се поставя на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работния лист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300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83EC96-C3D5-F520-1D92-B19B09309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77" y="1297575"/>
            <a:ext cx="3003209" cy="53415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Вмъкване на математически символи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1944936" y="2227330"/>
            <a:ext cx="4772637" cy="1725919"/>
          </a:xfrm>
          <a:prstGeom prst="wedgeRoundRectCallout">
            <a:avLst>
              <a:gd name="adj1" fmla="val -32243"/>
              <a:gd name="adj2" fmla="val -7547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Падащото меню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Equation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ни дава достъп до различни математически сивмоли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" r="39274"/>
          <a:stretch/>
        </p:blipFill>
        <p:spPr>
          <a:xfrm>
            <a:off x="6411000" y="4568051"/>
            <a:ext cx="4322638" cy="195847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Rectangle 7"/>
          <p:cNvSpPr/>
          <p:nvPr/>
        </p:nvSpPr>
        <p:spPr bwMode="auto">
          <a:xfrm>
            <a:off x="783363" y="5800499"/>
            <a:ext cx="2882637" cy="838575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981000" y="5932575"/>
            <a:ext cx="2070000" cy="28575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ular Callout 10"/>
          <p:cNvSpPr/>
          <p:nvPr/>
        </p:nvSpPr>
        <p:spPr bwMode="auto">
          <a:xfrm>
            <a:off x="6927558" y="2009333"/>
            <a:ext cx="4871063" cy="1924943"/>
          </a:xfrm>
          <a:prstGeom prst="wedgeRoundRectCallout">
            <a:avLst>
              <a:gd name="adj1" fmla="val -29929"/>
              <a:gd name="adj2" fmla="val 11297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да вмъкнем математически формули, изрази и символи, избираме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 New Equation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endParaRPr lang="en-US" sz="2800" b="1" dirty="0">
              <a:solidFill>
                <a:schemeClr val="bg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9112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F991A41-E323-9315-104E-1D60D0531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3500" y="1219762"/>
            <a:ext cx="9585000" cy="553291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Вмъкване на математически символи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000" y="3939969"/>
            <a:ext cx="3780000" cy="1633730"/>
          </a:xfrm>
          <a:prstGeom prst="rect">
            <a:avLst/>
          </a:prstGeom>
        </p:spPr>
      </p:pic>
      <p:sp>
        <p:nvSpPr>
          <p:cNvPr id="8" name="Rounded Rectangular Callout 7"/>
          <p:cNvSpPr/>
          <p:nvPr/>
        </p:nvSpPr>
        <p:spPr bwMode="auto">
          <a:xfrm>
            <a:off x="7635349" y="3204000"/>
            <a:ext cx="4295784" cy="2025000"/>
          </a:xfrm>
          <a:prstGeom prst="wedgeRoundRectCallout">
            <a:avLst>
              <a:gd name="adj1" fmla="val -48707"/>
              <a:gd name="adj2" fmla="val -7973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Отваря се нов панел с математически символи, които можем да вмъкнем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9084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sz="quarter" idx="10"/>
          </p:nvPr>
        </p:nvSpPr>
        <p:spPr>
          <a:xfrm>
            <a:off x="615109" y="4704825"/>
            <a:ext cx="10961783" cy="1694176"/>
          </a:xfrm>
        </p:spPr>
        <p:txBody>
          <a:bodyPr/>
          <a:lstStyle/>
          <a:p>
            <a:r>
              <a:rPr lang="bg-BG" dirty="0"/>
              <a:t>Вмъкване на графични изображения</a:t>
            </a:r>
            <a:endParaRPr lang="en-US" dirty="0"/>
          </a:p>
        </p:txBody>
      </p:sp>
      <p:pic>
        <p:nvPicPr>
          <p:cNvPr id="2050" name="Picture 2" descr="Image Generic color lineal-color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800" y="1404000"/>
            <a:ext cx="2618400" cy="261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81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 изготвянето на документ могат да се използват различни </a:t>
            </a:r>
            <a:r>
              <a:rPr lang="bg-BG" b="1" dirty="0"/>
              <a:t>картинки</a:t>
            </a:r>
            <a:r>
              <a:rPr lang="bg-BG" dirty="0"/>
              <a:t> и </a:t>
            </a:r>
            <a:r>
              <a:rPr lang="bg-BG" b="1" dirty="0"/>
              <a:t>графични обекти</a:t>
            </a:r>
          </a:p>
          <a:p>
            <a:pPr lvl="1"/>
            <a:r>
              <a:rPr lang="bg-BG" b="1" dirty="0"/>
              <a:t>Разкрасяват</a:t>
            </a:r>
            <a:r>
              <a:rPr lang="bg-BG" dirty="0"/>
              <a:t> документа</a:t>
            </a:r>
          </a:p>
          <a:p>
            <a:pPr lvl="1"/>
            <a:r>
              <a:rPr lang="bg-BG" dirty="0"/>
              <a:t>Правят документа </a:t>
            </a:r>
            <a:r>
              <a:rPr lang="bg-BG" b="1" dirty="0"/>
              <a:t>по-разбираем</a:t>
            </a:r>
            <a:r>
              <a:rPr lang="bg-BG" dirty="0"/>
              <a:t> за читателите</a:t>
            </a:r>
          </a:p>
          <a:p>
            <a:r>
              <a:rPr lang="bg-BG" dirty="0"/>
              <a:t>Изображения и други елементи се вмъкват от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Illustration</a:t>
            </a:r>
            <a:r>
              <a:rPr lang="en-US" dirty="0"/>
              <a:t> </a:t>
            </a:r>
            <a:r>
              <a:rPr lang="bg-BG" dirty="0"/>
              <a:t>от </a:t>
            </a:r>
            <a:r>
              <a:rPr lang="bg-BG" b="1" dirty="0"/>
              <a:t>менюто </a:t>
            </a:r>
            <a:r>
              <a:rPr lang="en-US" b="1" dirty="0">
                <a:solidFill>
                  <a:schemeClr val="bg1"/>
                </a:solidFill>
              </a:rPr>
              <a:t>Insert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Вмъкване на графични изображения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" r="691"/>
          <a:stretch/>
        </p:blipFill>
        <p:spPr>
          <a:xfrm>
            <a:off x="6113532" y="4626776"/>
            <a:ext cx="5579547" cy="20115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C870BB-BDDF-D4EF-F198-CC0C1F647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248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9C55E4-B73F-58D5-40DB-CDBBB87ED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000" y="1405499"/>
            <a:ext cx="3465000" cy="525000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Вмъкване на</a:t>
            </a:r>
            <a:r>
              <a:rPr lang="en-GB" dirty="0"/>
              <a:t> </a:t>
            </a:r>
            <a:r>
              <a:rPr lang="bg-BG" dirty="0"/>
              <a:t>локални графични изображения (1)</a:t>
            </a:r>
            <a:endParaRPr lang="en-US" dirty="0"/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118030" y="3853341"/>
            <a:ext cx="4635000" cy="1620000"/>
          </a:xfrm>
          <a:prstGeom prst="wedgeRoundRectCallout">
            <a:avLst>
              <a:gd name="adj1" fmla="val -68912"/>
              <a:gd name="adj2" fmla="val -2902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Избираме опцията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Pictures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се отваря диалогов прозорец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 Pictures</a:t>
            </a:r>
          </a:p>
        </p:txBody>
      </p:sp>
    </p:spTree>
    <p:extLst>
      <p:ext uri="{BB962C8B-B14F-4D97-AF65-F5344CB8AC3E}">
        <p14:creationId xmlns:p14="http://schemas.microsoft.com/office/powerpoint/2010/main" val="414460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Вмъкване на</a:t>
            </a:r>
            <a:r>
              <a:rPr lang="en-GB" dirty="0"/>
              <a:t> </a:t>
            </a:r>
            <a:r>
              <a:rPr lang="bg-BG" dirty="0"/>
              <a:t>локални графични изображения (2)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9348" y="1269000"/>
            <a:ext cx="8593304" cy="538902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6572841" y="4104000"/>
            <a:ext cx="4500000" cy="1260000"/>
          </a:xfrm>
          <a:prstGeom prst="wedgeRoundRectCallout">
            <a:avLst>
              <a:gd name="adj1" fmla="val 6019"/>
              <a:gd name="adj2" fmla="val 10828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Избираме желаната от нас снимка и натискаме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382543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6C8DDB-6D4F-FBF4-05F2-6AB53AA3A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000" y="1250312"/>
            <a:ext cx="9540000" cy="550693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Вмъкване на</a:t>
            </a:r>
            <a:r>
              <a:rPr lang="en-GB" dirty="0"/>
              <a:t> </a:t>
            </a:r>
            <a:r>
              <a:rPr lang="bg-BG" dirty="0"/>
              <a:t>локални графични изображения (</a:t>
            </a:r>
            <a:r>
              <a:rPr lang="en-GB" dirty="0"/>
              <a:t>3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5961000" y="2934000"/>
            <a:ext cx="4320000" cy="1575000"/>
          </a:xfrm>
          <a:prstGeom prst="wedgeRoundRectCallout">
            <a:avLst>
              <a:gd name="adj1" fmla="val -53465"/>
              <a:gd name="adj2" fmla="val 8729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желаното от нас изображение се зарежда на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работния лист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357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ACF4D6-B0E6-91B0-C750-A7DA7EDA4A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790" b="25399"/>
          <a:stretch/>
        </p:blipFill>
        <p:spPr>
          <a:xfrm>
            <a:off x="5421000" y="1539000"/>
            <a:ext cx="6018888" cy="506133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Вмъкване на графични изображения от интернет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471000" y="3699000"/>
            <a:ext cx="4721494" cy="2385000"/>
          </a:xfrm>
          <a:prstGeom prst="wedgeRoundRectCallout">
            <a:avLst>
              <a:gd name="adj1" fmla="val 96328"/>
              <a:gd name="adj2" fmla="val -1261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Ако изберем опцията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Online Pictures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 отваря нов прозорец, в който може да потърсим снимка директно в интернет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095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Вмъкване на графични изображения от интернет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83" b="-283"/>
          <a:stretch/>
        </p:blipFill>
        <p:spPr>
          <a:xfrm>
            <a:off x="1641000" y="1404000"/>
            <a:ext cx="8910000" cy="517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3846000" y="1314000"/>
            <a:ext cx="5220000" cy="1260000"/>
          </a:xfrm>
          <a:prstGeom prst="wedgeRoundRectCallout">
            <a:avLst>
              <a:gd name="adj1" fmla="val -78882"/>
              <a:gd name="adj2" fmla="val 4449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диалоговия прозорец пишем какво изображение търсим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22769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2758" y="1415602"/>
            <a:ext cx="8806483" cy="508609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0" name="Rounded Rectangular Callout 9"/>
          <p:cNvSpPr/>
          <p:nvPr/>
        </p:nvSpPr>
        <p:spPr bwMode="auto">
          <a:xfrm>
            <a:off x="7311000" y="2640122"/>
            <a:ext cx="4545000" cy="1395000"/>
          </a:xfrm>
          <a:prstGeom prst="wedgeRoundRectCallout">
            <a:avLst>
              <a:gd name="adj1" fmla="val -148607"/>
              <a:gd name="adj2" fmla="val 4955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chemeClr val="bg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Вмъкване на графични изображения от интернет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336000" y="5094000"/>
            <a:ext cx="4590000" cy="1215000"/>
          </a:xfrm>
          <a:prstGeom prst="wedgeRoundRectCallout">
            <a:avLst>
              <a:gd name="adj1" fmla="val -20625"/>
              <a:gd name="adj2" fmla="val 4525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се зареждат различни изображения от интернет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311000" y="2620097"/>
            <a:ext cx="4545000" cy="1395000"/>
          </a:xfrm>
          <a:prstGeom prst="wedgeRoundRectCallout">
            <a:avLst>
              <a:gd name="adj1" fmla="val -29857"/>
              <a:gd name="adj2" fmla="val 19206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Избираме желаното от нас и натискаме бутона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5917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44B084-E6C7-2F7A-A9B1-4057DFE11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00" y="1216483"/>
            <a:ext cx="9495000" cy="548096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Вмъкване на графични изображения от интернет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7434905" y="1539000"/>
            <a:ext cx="4320000" cy="1575000"/>
          </a:xfrm>
          <a:prstGeom prst="wedgeRoundRectCallout">
            <a:avLst>
              <a:gd name="adj1" fmla="val -32298"/>
              <a:gd name="adj2" fmla="val 4859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избраното от нас изображение се зарежда на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работния лист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2724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sz="quarter" idx="10"/>
          </p:nvPr>
        </p:nvSpPr>
        <p:spPr>
          <a:xfrm>
            <a:off x="615109" y="4704824"/>
            <a:ext cx="10961783" cy="1784175"/>
          </a:xfrm>
        </p:spPr>
        <p:txBody>
          <a:bodyPr/>
          <a:lstStyle/>
          <a:p>
            <a:r>
              <a:rPr lang="bg-BG" dirty="0"/>
              <a:t>Форматиране на графични изображния</a:t>
            </a:r>
            <a:endParaRPr lang="en-US" dirty="0"/>
          </a:p>
        </p:txBody>
      </p:sp>
      <p:pic>
        <p:nvPicPr>
          <p:cNvPr id="4098" name="Picture 2" descr="Format - Free interface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300" y="1539000"/>
            <a:ext cx="2303400" cy="230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72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Изображенията могат да бъдат форматирани чрез </a:t>
            </a:r>
            <a:r>
              <a:rPr lang="ru-RU" b="1" dirty="0"/>
              <a:t>менюто </a:t>
            </a:r>
            <a:r>
              <a:rPr lang="en-US" b="1" dirty="0">
                <a:solidFill>
                  <a:schemeClr val="bg1"/>
                </a:solidFill>
              </a:rPr>
              <a:t>Picture Format</a:t>
            </a:r>
            <a:r>
              <a:rPr lang="ru-RU" dirty="0"/>
              <a:t>, което става достъпно </a:t>
            </a:r>
            <a:r>
              <a:rPr lang="ru-RU" b="1" dirty="0"/>
              <a:t>след </a:t>
            </a:r>
            <a:r>
              <a:rPr lang="bg-BG" b="1" dirty="0"/>
              <a:t>маркирането</a:t>
            </a:r>
            <a:r>
              <a:rPr lang="ru-RU" b="1" dirty="0"/>
              <a:t> </a:t>
            </a:r>
            <a:r>
              <a:rPr lang="ru-RU" dirty="0"/>
              <a:t>на съответната снимка</a:t>
            </a:r>
          </a:p>
          <a:p>
            <a:r>
              <a:rPr lang="ru-RU" dirty="0"/>
              <a:t>В менюто има различни панели като:</a:t>
            </a:r>
          </a:p>
          <a:p>
            <a:pPr lvl="1"/>
            <a:r>
              <a:rPr lang="en-US" b="1" dirty="0"/>
              <a:t>Adjust</a:t>
            </a:r>
          </a:p>
          <a:p>
            <a:pPr lvl="1"/>
            <a:r>
              <a:rPr lang="en-US" b="1" dirty="0"/>
              <a:t>Picture Styles</a:t>
            </a:r>
          </a:p>
          <a:p>
            <a:pPr lvl="1"/>
            <a:r>
              <a:rPr lang="en-US" b="1" dirty="0"/>
              <a:t>Arrange</a:t>
            </a:r>
          </a:p>
          <a:p>
            <a:pPr lvl="1"/>
            <a:r>
              <a:rPr lang="en-US" b="1" dirty="0"/>
              <a:t>Size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Форматиране на графични изображния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10194B-DF6F-E483-2F62-06DB878A5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CAFDE8-AB74-39C4-A4DA-C64D0092FB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"/>
          <a:stretch/>
        </p:blipFill>
        <p:spPr>
          <a:xfrm>
            <a:off x="2946000" y="4963735"/>
            <a:ext cx="8633486" cy="154326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2072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Adjust</a:t>
            </a:r>
            <a:r>
              <a:rPr lang="en-US" b="1" dirty="0"/>
              <a:t> </a:t>
            </a:r>
            <a:r>
              <a:rPr lang="bg-BG" dirty="0"/>
              <a:t>може да променяте:</a:t>
            </a:r>
          </a:p>
          <a:p>
            <a:pPr lvl="1"/>
            <a:r>
              <a:rPr lang="bg-BG" b="1" dirty="0"/>
              <a:t>Яркостта</a:t>
            </a:r>
          </a:p>
          <a:p>
            <a:pPr lvl="1"/>
            <a:r>
              <a:rPr lang="bg-BG" b="1" dirty="0"/>
              <a:t>Контраста</a:t>
            </a:r>
          </a:p>
          <a:p>
            <a:pPr lvl="1"/>
            <a:r>
              <a:rPr lang="bg-BG" dirty="0"/>
              <a:t>...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" r="885"/>
          <a:stretch/>
        </p:blipFill>
        <p:spPr>
          <a:xfrm>
            <a:off x="4836000" y="1989000"/>
            <a:ext cx="5950266" cy="1440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/>
          <p:cNvPicPr/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000" y="3984600"/>
            <a:ext cx="3783600" cy="25224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/>
          <p:cNvPicPr/>
          <p:nvPr/>
        </p:nvPicPr>
        <p:blipFill>
          <a:blip r:embed="rId5" cstate="hqprint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400" y="3989294"/>
            <a:ext cx="3783600" cy="25224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9" name="Straight Arrow Connector 8"/>
          <p:cNvCxnSpPr/>
          <p:nvPr/>
        </p:nvCxnSpPr>
        <p:spPr>
          <a:xfrm>
            <a:off x="5646000" y="5274000"/>
            <a:ext cx="9000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18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Picture Styles </a:t>
            </a:r>
            <a:r>
              <a:rPr lang="bg-BG" dirty="0"/>
              <a:t>може да променяте:</a:t>
            </a:r>
          </a:p>
          <a:p>
            <a:pPr lvl="1"/>
            <a:r>
              <a:rPr lang="en-US" b="1" dirty="0"/>
              <a:t>Picture border </a:t>
            </a:r>
            <a:r>
              <a:rPr lang="en-US" dirty="0"/>
              <a:t>(</a:t>
            </a:r>
            <a:r>
              <a:rPr lang="bg-BG" dirty="0"/>
              <a:t>Граница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en-US" b="1" dirty="0"/>
              <a:t>Shadow Effects </a:t>
            </a:r>
            <a:r>
              <a:rPr lang="en-US" dirty="0"/>
              <a:t>(</a:t>
            </a:r>
            <a:r>
              <a:rPr lang="bg-BG" dirty="0"/>
              <a:t>Сенки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bg-BG" dirty="0"/>
              <a:t>...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 Styles</a:t>
            </a:r>
          </a:p>
        </p:txBody>
      </p:sp>
      <p:pic>
        <p:nvPicPr>
          <p:cNvPr id="7" name="Picture 6"/>
          <p:cNvPicPr/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941" y="3879000"/>
            <a:ext cx="3418518" cy="2535401"/>
          </a:xfrm>
          <a:prstGeom prst="rect">
            <a:avLst/>
          </a:prstGeom>
          <a:ln w="76200">
            <a:solidFill>
              <a:srgbClr val="C00000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132"/>
          <a:stretch/>
        </p:blipFill>
        <p:spPr>
          <a:xfrm>
            <a:off x="5961000" y="1899007"/>
            <a:ext cx="5698930" cy="143999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9" name="Picture 8"/>
          <p:cNvPicPr/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306" y="3892001"/>
            <a:ext cx="3400988" cy="25224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10" name="Straight Arrow Connector 9"/>
          <p:cNvCxnSpPr/>
          <p:nvPr/>
        </p:nvCxnSpPr>
        <p:spPr>
          <a:xfrm>
            <a:off x="5646000" y="5274000"/>
            <a:ext cx="9000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19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Arrange </a:t>
            </a:r>
            <a:r>
              <a:rPr lang="bg-BG" dirty="0"/>
              <a:t>може да задавате:</a:t>
            </a:r>
          </a:p>
          <a:p>
            <a:pPr lvl="1"/>
            <a:r>
              <a:rPr lang="bg-BG" b="1" dirty="0"/>
              <a:t>Позиция</a:t>
            </a:r>
          </a:p>
          <a:p>
            <a:pPr lvl="1">
              <a:spcAft>
                <a:spcPts val="0"/>
              </a:spcAft>
            </a:pPr>
            <a:r>
              <a:rPr lang="bg-BG" b="1" dirty="0"/>
              <a:t>Пренасяне на текста </a:t>
            </a:r>
          </a:p>
          <a:p>
            <a:pPr marL="442912" lvl="1" indent="0">
              <a:buNone/>
            </a:pPr>
            <a:r>
              <a:rPr lang="bg-BG" dirty="0"/>
              <a:t>(Разположението  на изображението спрямо текста)</a:t>
            </a:r>
          </a:p>
          <a:p>
            <a:pPr lvl="1"/>
            <a:r>
              <a:rPr lang="bg-BG" b="1" dirty="0"/>
              <a:t>Подравняване</a:t>
            </a:r>
          </a:p>
          <a:p>
            <a:pPr lvl="1"/>
            <a:r>
              <a:rPr lang="bg-BG" dirty="0"/>
              <a:t>...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96000" y="1689246"/>
            <a:ext cx="3943661" cy="136027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Arrange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" b="12445"/>
          <a:stretch/>
        </p:blipFill>
        <p:spPr>
          <a:xfrm>
            <a:off x="4926000" y="3802500"/>
            <a:ext cx="1782797" cy="2853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66" b="25466"/>
          <a:stretch/>
        </p:blipFill>
        <p:spPr>
          <a:xfrm>
            <a:off x="7626000" y="3999828"/>
            <a:ext cx="2749919" cy="259712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066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Size</a:t>
            </a:r>
            <a:r>
              <a:rPr lang="en-US" b="1" dirty="0"/>
              <a:t> </a:t>
            </a:r>
            <a:r>
              <a:rPr lang="bg-BG" dirty="0"/>
              <a:t>може да задавате </a:t>
            </a:r>
            <a:r>
              <a:rPr lang="bg-BG" b="1" dirty="0"/>
              <a:t>големината</a:t>
            </a:r>
            <a:r>
              <a:rPr lang="bg-BG" dirty="0"/>
              <a:t> на изображението:</a:t>
            </a:r>
          </a:p>
          <a:p>
            <a:pPr lvl="1"/>
            <a:r>
              <a:rPr lang="bg-BG" b="1" dirty="0"/>
              <a:t>Ширина</a:t>
            </a:r>
          </a:p>
          <a:p>
            <a:pPr lvl="1"/>
            <a:r>
              <a:rPr lang="bg-BG" b="1" dirty="0"/>
              <a:t>Височина</a:t>
            </a:r>
          </a:p>
          <a:p>
            <a:pPr lvl="1"/>
            <a:r>
              <a:rPr lang="bg-BG" b="1" dirty="0"/>
              <a:t>Изрязване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3086" y="2007128"/>
            <a:ext cx="2607545" cy="164687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000" y="3782788"/>
            <a:ext cx="4405611" cy="294210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50" t="3256" r="12058" b="28601"/>
          <a:stretch/>
        </p:blipFill>
        <p:spPr>
          <a:xfrm>
            <a:off x="8890389" y="4329000"/>
            <a:ext cx="2295000" cy="200483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8" name="Straight Arrow Connector 7"/>
          <p:cNvCxnSpPr/>
          <p:nvPr/>
        </p:nvCxnSpPr>
        <p:spPr>
          <a:xfrm>
            <a:off x="7806000" y="5319000"/>
            <a:ext cx="9000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1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741000" y="1610812"/>
            <a:ext cx="11040744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Основни елементи </a:t>
            </a:r>
            <a:r>
              <a:rPr lang="bg-BG" sz="2800" dirty="0">
                <a:solidFill>
                  <a:schemeClr val="bg2"/>
                </a:solidFill>
              </a:rPr>
              <a:t>на текстовия документ са: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dirty="0">
                <a:solidFill>
                  <a:schemeClr val="bg2"/>
                </a:solidFill>
              </a:rPr>
              <a:t>Символ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dirty="0">
                <a:solidFill>
                  <a:schemeClr val="bg2"/>
                </a:solidFill>
              </a:rPr>
              <a:t>Дума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dirty="0">
                <a:solidFill>
                  <a:schemeClr val="bg2"/>
                </a:solidFill>
              </a:rPr>
              <a:t>Изречение</a:t>
            </a:r>
            <a:endParaRPr lang="en-US" sz="2400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Вмъкване</a:t>
            </a:r>
            <a:r>
              <a:rPr lang="bg-BG" sz="2800" dirty="0">
                <a:solidFill>
                  <a:schemeClr val="bg2"/>
                </a:solidFill>
              </a:rPr>
              <a:t> на специални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сивмоли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dirty="0">
                <a:solidFill>
                  <a:schemeClr val="bg2"/>
                </a:solidFill>
              </a:rPr>
              <a:t>и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знаци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Вмъкване</a:t>
            </a:r>
            <a:r>
              <a:rPr lang="bg-BG" sz="2800" dirty="0">
                <a:solidFill>
                  <a:schemeClr val="bg2"/>
                </a:solidFill>
              </a:rPr>
              <a:t> на графични</a:t>
            </a:r>
            <a:r>
              <a:rPr lang="bg-BG" sz="2800" b="1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изображения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Форматиране</a:t>
            </a:r>
            <a:r>
              <a:rPr lang="bg-BG" sz="2800" dirty="0">
                <a:solidFill>
                  <a:schemeClr val="bg2"/>
                </a:solidFill>
              </a:rPr>
              <a:t> на изображения: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200" dirty="0">
                <a:solidFill>
                  <a:schemeClr val="bg2"/>
                </a:solidFill>
              </a:rPr>
              <a:t>Adjust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200" dirty="0">
                <a:solidFill>
                  <a:schemeClr val="bg2"/>
                </a:solidFill>
              </a:rPr>
              <a:t>Picture Styles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82799" y="2124000"/>
            <a:ext cx="2885808" cy="111066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lvl="1" indent="-355600" defTabSz="1218438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2"/>
                </a:solidFill>
              </a:rPr>
              <a:t>Абзац</a:t>
            </a:r>
          </a:p>
          <a:p>
            <a:pPr marL="0" lvl="1" indent="-355600" defTabSz="1218438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</a:pPr>
            <a:r>
              <a:rPr lang="bg-BG" sz="2400" dirty="0">
                <a:solidFill>
                  <a:schemeClr val="bg2"/>
                </a:solidFill>
              </a:rPr>
              <a:t>Страница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82799" y="5394281"/>
            <a:ext cx="2885808" cy="111066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lvl="1" indent="-355600" defTabSz="1218438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/>
                </a:solidFill>
              </a:rPr>
              <a:t>Arrange</a:t>
            </a:r>
          </a:p>
          <a:p>
            <a:pPr marL="0" lvl="1" indent="-355600" defTabSz="1218438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/>
                </a:solidFill>
              </a:rPr>
              <a:t>Size</a:t>
            </a: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4427</TotalTime>
  <Words>1100</Words>
  <Application>Microsoft Office PowerPoint</Application>
  <PresentationFormat>Widescreen</PresentationFormat>
  <Paragraphs>160</Paragraphs>
  <Slides>28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Consolas</vt:lpstr>
      <vt:lpstr>Wingdings</vt:lpstr>
      <vt:lpstr>SoftUni</vt:lpstr>
      <vt:lpstr>Вмъкване на специални символи и графични изображения</vt:lpstr>
      <vt:lpstr>Съдържание</vt:lpstr>
      <vt:lpstr>Вмъкване на специални знаци и символи</vt:lpstr>
      <vt:lpstr>Нека си припомним!</vt:lpstr>
      <vt:lpstr>Нека си припомним!</vt:lpstr>
      <vt:lpstr>Вмъкване на специални знаци и символи</vt:lpstr>
      <vt:lpstr>Вмъкване на специални символи</vt:lpstr>
      <vt:lpstr>Вмъкване на специални символи</vt:lpstr>
      <vt:lpstr>Вмъкване на математически символи</vt:lpstr>
      <vt:lpstr>Вмъкване на математически символи</vt:lpstr>
      <vt:lpstr>Вмъкване на графични изображения</vt:lpstr>
      <vt:lpstr>Вмъкване на графични изображения</vt:lpstr>
      <vt:lpstr>Вмъкване на локални графични изображения (1)</vt:lpstr>
      <vt:lpstr>Вмъкване на локални графични изображения (2)</vt:lpstr>
      <vt:lpstr>Вмъкване на локални графични изображения (3)</vt:lpstr>
      <vt:lpstr>Вмъкване на графични изображения от интернет</vt:lpstr>
      <vt:lpstr>Вмъкване на графични изображения от интернет</vt:lpstr>
      <vt:lpstr>Вмъкване на графични изображения от интернет</vt:lpstr>
      <vt:lpstr>Вмъкване на графични изображения от интернет</vt:lpstr>
      <vt:lpstr>Форматиране на графични изображния</vt:lpstr>
      <vt:lpstr>Форматиране на графични изображния</vt:lpstr>
      <vt:lpstr>Adjust</vt:lpstr>
      <vt:lpstr>Picture Styles</vt:lpstr>
      <vt:lpstr>Arrange</vt:lpstr>
      <vt:lpstr>Size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Въвеждане на текст със специални символи. Вмъкване и форматиране на графични изображения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509</cp:revision>
  <dcterms:created xsi:type="dcterms:W3CDTF">2018-05-23T13:08:44Z</dcterms:created>
  <dcterms:modified xsi:type="dcterms:W3CDTF">2026-09-25T08:55:55Z</dcterms:modified>
  <cp:category/>
</cp:coreProperties>
</file>