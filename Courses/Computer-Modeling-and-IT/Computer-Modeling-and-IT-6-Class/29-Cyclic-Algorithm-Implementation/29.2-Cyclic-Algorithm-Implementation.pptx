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3"/>
  </p:notesMasterIdLst>
  <p:handoutMasterIdLst>
    <p:handoutMasterId r:id="rId24"/>
  </p:handoutMasterIdLst>
  <p:sldIdLst>
    <p:sldId id="503" r:id="rId2"/>
    <p:sldId id="276" r:id="rId3"/>
    <p:sldId id="598" r:id="rId4"/>
    <p:sldId id="599" r:id="rId5"/>
    <p:sldId id="600" r:id="rId6"/>
    <p:sldId id="601" r:id="rId7"/>
    <p:sldId id="602" r:id="rId8"/>
    <p:sldId id="603" r:id="rId9"/>
    <p:sldId id="607" r:id="rId10"/>
    <p:sldId id="604" r:id="rId11"/>
    <p:sldId id="605" r:id="rId12"/>
    <p:sldId id="606" r:id="rId13"/>
    <p:sldId id="608" r:id="rId14"/>
    <p:sldId id="609" r:id="rId15"/>
    <p:sldId id="610" r:id="rId16"/>
    <p:sldId id="611" r:id="rId17"/>
    <p:sldId id="612" r:id="rId18"/>
    <p:sldId id="613" r:id="rId19"/>
    <p:sldId id="586" r:id="rId20"/>
    <p:sldId id="504" r:id="rId21"/>
    <p:sldId id="50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Работа с текст" id="{E0F1F0D5-05A6-4E87-BAD7-B514DF54C1AC}">
          <p14:sldIdLst>
            <p14:sldId id="598"/>
            <p14:sldId id="599"/>
            <p14:sldId id="600"/>
            <p14:sldId id="601"/>
          </p14:sldIdLst>
        </p14:section>
        <p14:section name="While цикъл" id="{973F4C15-2C32-4F6E-94D8-C3824AA3EDF2}">
          <p14:sldIdLst>
            <p14:sldId id="602"/>
            <p14:sldId id="603"/>
            <p14:sldId id="607"/>
            <p14:sldId id="604"/>
            <p14:sldId id="605"/>
            <p14:sldId id="606"/>
            <p14:sldId id="608"/>
            <p14:sldId id="609"/>
            <p14:sldId id="610"/>
            <p14:sldId id="611"/>
            <p14:sldId id="612"/>
            <p14:sldId id="613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0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510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FEAF58E-0ED1-4D01-A450-AEED9F74D0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055923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554746" y="1629000"/>
            <a:ext cx="11083636" cy="918803"/>
          </a:xfrm>
        </p:spPr>
        <p:txBody>
          <a:bodyPr>
            <a:normAutofit/>
          </a:bodyPr>
          <a:lstStyle/>
          <a:p>
            <a:r>
              <a:rPr lang="ru-RU" dirty="0"/>
              <a:t>Повторения с </a:t>
            </a:r>
            <a:r>
              <a:rPr lang="en-US" dirty="0"/>
              <a:t>While </a:t>
            </a:r>
            <a:r>
              <a:rPr lang="bg-BG" dirty="0"/>
              <a:t>цикъл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05" y="321501"/>
            <a:ext cx="10691191" cy="1455014"/>
          </a:xfrm>
        </p:spPr>
        <p:txBody>
          <a:bodyPr>
            <a:normAutofit fontScale="90000"/>
          </a:bodyPr>
          <a:lstStyle/>
          <a:p>
            <a:r>
              <a:rPr lang="bg-BG" dirty="0"/>
              <a:t>Реализиране на цикличен алгоритъм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  <p:pic>
        <p:nvPicPr>
          <p:cNvPr id="4" name="Picture Placeholder 3"/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2" b="177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8959234" cy="5207396"/>
          </a:xfrm>
        </p:spPr>
        <p:txBody>
          <a:bodyPr>
            <a:normAutofit/>
          </a:bodyPr>
          <a:lstStyle/>
          <a:p>
            <a:r>
              <a:rPr lang="bg-BG" dirty="0"/>
              <a:t>Работа с текст</a:t>
            </a:r>
          </a:p>
          <a:p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While</a:t>
            </a:r>
            <a:r>
              <a:rPr lang="en-US" b="1" dirty="0"/>
              <a:t> </a:t>
            </a:r>
            <a:r>
              <a:rPr lang="bg-BG" dirty="0"/>
              <a:t>цикъл</a:t>
            </a:r>
          </a:p>
          <a:p>
            <a:pPr lvl="1"/>
            <a:r>
              <a:rPr lang="bg-BG" dirty="0"/>
              <a:t>Конструкция</a:t>
            </a:r>
          </a:p>
          <a:p>
            <a:pPr lvl="1"/>
            <a:r>
              <a:rPr lang="bg-BG" b="1" dirty="0"/>
              <a:t>Безкраен</a:t>
            </a:r>
            <a:r>
              <a:rPr lang="bg-BG" dirty="0"/>
              <a:t> </a:t>
            </a:r>
            <a:r>
              <a:rPr lang="en-US" b="1" dirty="0">
                <a:solidFill>
                  <a:schemeClr val="bg1"/>
                </a:solidFill>
              </a:rPr>
              <a:t>while</a:t>
            </a:r>
            <a:r>
              <a:rPr lang="en-US" dirty="0"/>
              <a:t> </a:t>
            </a:r>
            <a:r>
              <a:rPr lang="bg-BG" dirty="0"/>
              <a:t>цикъл</a:t>
            </a:r>
          </a:p>
          <a:p>
            <a:pPr lvl="1"/>
            <a:r>
              <a:rPr lang="bg-BG" b="1" dirty="0"/>
              <a:t>Прекъсване</a:t>
            </a:r>
            <a:r>
              <a:rPr lang="bg-BG" dirty="0"/>
              <a:t> на цикъл</a:t>
            </a:r>
          </a:p>
          <a:p>
            <a:pPr lvl="1"/>
            <a:r>
              <a:rPr lang="bg-BG" b="1" dirty="0"/>
              <a:t>Продължаване</a:t>
            </a:r>
            <a:r>
              <a:rPr lang="bg-BG" dirty="0"/>
              <a:t> на цикъл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045916"/>
            <a:ext cx="10961783" cy="768084"/>
          </a:xfrm>
        </p:spPr>
        <p:txBody>
          <a:bodyPr/>
          <a:lstStyle/>
          <a:p>
            <a:r>
              <a:rPr lang="bg-BG" dirty="0"/>
              <a:t>Работа с текст</a:t>
            </a:r>
            <a:endParaRPr lang="en-US" dirty="0"/>
          </a:p>
        </p:txBody>
      </p:sp>
      <p:pic>
        <p:nvPicPr>
          <p:cNvPr id="7" name="Picture 6" descr="A typewriter on a table&#10;&#10;Description automatically generated">
            <a:extLst>
              <a:ext uri="{FF2B5EF4-FFF2-40B4-BE49-F238E27FC236}">
                <a16:creationId xmlns:a16="http://schemas.microsoft.com/office/drawing/2014/main" id="{0E26AB4F-CF4F-45F0-B144-2D6BC47261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76800" y="1447801"/>
            <a:ext cx="2667000" cy="22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87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ECD6AF-3B1B-4762-B1DD-4E62E5EA29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Можем да вземем дължината на текст</a:t>
            </a:r>
            <a:endParaRPr lang="en-US" sz="3600" dirty="0"/>
          </a:p>
          <a:p>
            <a:endParaRPr lang="en-US" sz="3600" dirty="0"/>
          </a:p>
          <a:p>
            <a:endParaRPr lang="bg-BG" sz="3600" dirty="0"/>
          </a:p>
          <a:p>
            <a:pPr marL="0" indent="0">
              <a:buNone/>
            </a:pPr>
            <a:endParaRPr lang="en-US" sz="3600" dirty="0"/>
          </a:p>
          <a:p>
            <a:r>
              <a:rPr lang="bg-BG" sz="3600" dirty="0"/>
              <a:t>Можем да вземем  символ от текст по индекс</a:t>
            </a:r>
            <a:endParaRPr lang="en-US" sz="3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42E1D9-AC52-406C-86A6-3CD18C41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Работа с текст</a:t>
            </a: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A4A9F1-D580-4DB9-9AB4-22BBDBDE3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00" y="5223715"/>
            <a:ext cx="5875350" cy="104028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text = "SoftUni"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letter = text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sz="2800" b="1" dirty="0">
                <a:latin typeface="Consolas" panose="020B0609020204030204" pitchFamily="49" charset="0"/>
              </a:rPr>
              <a:t>4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  <a:r>
              <a:rPr lang="en-US" sz="2800" b="1" dirty="0">
                <a:latin typeface="Consolas" panose="020B0609020204030204" pitchFamily="49" charset="0"/>
              </a:rPr>
              <a:t>	</a:t>
            </a:r>
            <a:endParaRPr lang="en-US" sz="28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835296-4858-42D6-BF3F-BCA553EDD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01" y="2298715"/>
            <a:ext cx="5919800" cy="104028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text = "SoftUni"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length =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2800" b="1" dirty="0">
                <a:latin typeface="Consolas" panose="020B0609020204030204" pitchFamily="49" charset="0"/>
              </a:rPr>
              <a:t>(text)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783ECD0A-A335-458D-80F1-A105CB3B7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316CDA61-884D-4DB8-BF9C-BC13F84F9D62}"/>
              </a:ext>
            </a:extLst>
          </p:cNvPr>
          <p:cNvSpPr txBox="1"/>
          <p:nvPr/>
        </p:nvSpPr>
        <p:spPr>
          <a:xfrm>
            <a:off x="4673600" y="2692465"/>
            <a:ext cx="1122649" cy="69208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7</a:t>
            </a:r>
            <a:endParaRPr lang="bg-BG" sz="28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4CED1126-88B9-4E91-8FC6-08620D72EF42}"/>
              </a:ext>
            </a:extLst>
          </p:cNvPr>
          <p:cNvSpPr txBox="1"/>
          <p:nvPr/>
        </p:nvSpPr>
        <p:spPr>
          <a:xfrm>
            <a:off x="4495800" y="5670615"/>
            <a:ext cx="1193093" cy="69208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 sz="2800" b="1">
                <a:solidFill>
                  <a:schemeClr val="accent2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i="1" dirty="0"/>
              <a:t># U</a:t>
            </a:r>
            <a:endParaRPr lang="bg-BG" i="1" dirty="0"/>
          </a:p>
        </p:txBody>
      </p:sp>
    </p:spTree>
    <p:extLst>
      <p:ext uri="{BB962C8B-B14F-4D97-AF65-F5344CB8AC3E}">
        <p14:creationId xmlns:p14="http://schemas.microsoft.com/office/powerpoint/2010/main" val="3564505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FF7925-5700-4AAA-A161-E8E89D0D0A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600" dirty="0"/>
              <a:t>Напишете програма, която </a:t>
            </a:r>
          </a:p>
          <a:p>
            <a:pPr lvl="1"/>
            <a:r>
              <a:rPr lang="bg-BG" sz="3400" dirty="0"/>
              <a:t>чете </a:t>
            </a:r>
            <a:r>
              <a:rPr lang="bg-BG" sz="3400" b="1" dirty="0"/>
              <a:t>текст</a:t>
            </a:r>
            <a:r>
              <a:rPr lang="bg-BG" sz="3400" dirty="0"/>
              <a:t> (</a:t>
            </a:r>
            <a:r>
              <a:rPr lang="bg-BG" sz="3400" b="1" dirty="0">
                <a:solidFill>
                  <a:schemeClr val="bg1"/>
                </a:solidFill>
              </a:rPr>
              <a:t>стринг</a:t>
            </a:r>
            <a:r>
              <a:rPr lang="bg-BG" sz="3400" dirty="0"/>
              <a:t>)</a:t>
            </a:r>
          </a:p>
          <a:p>
            <a:pPr lvl="1"/>
            <a:r>
              <a:rPr lang="bg-BG" sz="3400" dirty="0"/>
              <a:t>печата всеки </a:t>
            </a:r>
            <a:r>
              <a:rPr lang="bg-BG" sz="3400" b="1" dirty="0">
                <a:solidFill>
                  <a:schemeClr val="bg1"/>
                </a:solidFill>
              </a:rPr>
              <a:t>символ</a:t>
            </a:r>
            <a:r>
              <a:rPr lang="bg-BG" sz="3400" dirty="0"/>
              <a:t> от текста на </a:t>
            </a:r>
            <a:r>
              <a:rPr lang="bg-BG" sz="3400" b="1" dirty="0"/>
              <a:t>отделен ред</a:t>
            </a:r>
          </a:p>
          <a:p>
            <a:r>
              <a:rPr lang="bg-BG" sz="3600" dirty="0"/>
              <a:t>Примерен вход и изход:</a:t>
            </a:r>
            <a:endParaRPr lang="en-US" sz="3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5ABC71-2EC2-459D-BEE1-A3F5E610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Поток от символи – условие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F1ED1-406E-4D98-96D7-4BDF4D244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775976"/>
            <a:ext cx="1624002" cy="5232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softuni</a:t>
            </a:r>
            <a:endParaRPr lang="en-US" sz="36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49CF3-05BF-4E30-8ABE-78323940A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304" y="3482977"/>
            <a:ext cx="609600" cy="310854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o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f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t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u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n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ight Arrow 11">
            <a:extLst>
              <a:ext uri="{FF2B5EF4-FFF2-40B4-BE49-F238E27FC236}">
                <a16:creationId xmlns:a16="http://schemas.microsoft.com/office/drawing/2014/main" id="{35BD77F1-33C5-45DF-9298-35A6D21D20F2}"/>
              </a:ext>
            </a:extLst>
          </p:cNvPr>
          <p:cNvSpPr/>
          <p:nvPr/>
        </p:nvSpPr>
        <p:spPr>
          <a:xfrm>
            <a:off x="6096000" y="4885186"/>
            <a:ext cx="457200" cy="3048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910901-B738-4C36-AFB5-C0A9C83F8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30" y="4775976"/>
            <a:ext cx="1174183" cy="5232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anose="020B0609020204030204" pitchFamily="49" charset="0"/>
              </a:rPr>
              <a:t>hello</a:t>
            </a:r>
            <a:endParaRPr lang="en-US" sz="36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43C89C-8489-4FE2-B39C-6ECEE3080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683" y="3995991"/>
            <a:ext cx="609600" cy="2246769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h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e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l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l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o</a:t>
            </a:r>
          </a:p>
        </p:txBody>
      </p:sp>
      <p:sp>
        <p:nvSpPr>
          <p:cNvPr id="10" name="Right Arrow 11">
            <a:extLst>
              <a:ext uri="{FF2B5EF4-FFF2-40B4-BE49-F238E27FC236}">
                <a16:creationId xmlns:a16="http://schemas.microsoft.com/office/drawing/2014/main" id="{AF0DFC4F-ECFC-4AFA-B367-E42A8FCEBD3F}"/>
              </a:ext>
            </a:extLst>
          </p:cNvPr>
          <p:cNvSpPr/>
          <p:nvPr/>
        </p:nvSpPr>
        <p:spPr>
          <a:xfrm>
            <a:off x="2198095" y="4885186"/>
            <a:ext cx="457200" cy="3048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E0FE3F88-E964-4638-B1BB-61F084AFF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767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1FE2CD-4E0F-4724-9880-6C8489D33B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30475" y="2181172"/>
            <a:ext cx="7331050" cy="2003213"/>
          </a:xfrm>
          <a:solidFill>
            <a:schemeClr val="accent5">
              <a:lumMod val="60000"/>
              <a:lumOff val="40000"/>
              <a:alpha val="1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length = input()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for i in range(0, </a:t>
            </a:r>
            <a:r>
              <a:rPr lang="en-US" sz="3200" dirty="0" err="1"/>
              <a:t>len</a:t>
            </a:r>
            <a:r>
              <a:rPr lang="en-US" sz="3200" dirty="0"/>
              <a:t>(length)):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    print(length[i])</a:t>
            </a:r>
            <a:endParaRPr lang="bg-BG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7E9D6E-5044-49FE-8CB3-48D97D4CC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Поток от символи – решение</a:t>
            </a:r>
            <a:endParaRPr lang="en-US" dirty="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077DED82-9D9A-419F-8587-F3004CA2C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6000" y="1494000"/>
            <a:ext cx="3600000" cy="1055608"/>
          </a:xfrm>
          <a:prstGeom prst="wedgeRoundRectCallout">
            <a:avLst>
              <a:gd name="adj1" fmla="val -36650"/>
              <a:gd name="adj2" fmla="val 8911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Взимаме дължината на текста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5DE45991-1A40-4A49-B4A6-2CA1C7C88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1450" y="4718050"/>
            <a:ext cx="3600450" cy="1055608"/>
          </a:xfrm>
          <a:prstGeom prst="wedgeRoundRectCallout">
            <a:avLst>
              <a:gd name="adj1" fmla="val -35907"/>
              <a:gd name="adj2" fmla="val -10334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Взимаме всеки символ по индекс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noProof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</a:t>
            </a:r>
            <a:endParaRPr lang="en-US" sz="2800" b="1" noProof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07C88339-6AEF-4FF5-A869-35C5148D80D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35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Конструкция и употреба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While </a:t>
            </a:r>
            <a:r>
              <a:rPr lang="bg-BG" dirty="0"/>
              <a:t>цикъл</a:t>
            </a:r>
            <a:endParaRPr lang="en-US" dirty="0"/>
          </a:p>
        </p:txBody>
      </p:sp>
      <p:sp>
        <p:nvSpPr>
          <p:cNvPr id="10" name="Текстово поле 2"/>
          <p:cNvSpPr txBox="1"/>
          <p:nvPr/>
        </p:nvSpPr>
        <p:spPr>
          <a:xfrm>
            <a:off x="4788416" y="1975281"/>
            <a:ext cx="2615167" cy="1273719"/>
          </a:xfrm>
          <a:prstGeom prst="rect">
            <a:avLst/>
          </a:prstGeom>
          <a:solidFill>
            <a:schemeClr val="tx1">
              <a:alpha val="15000"/>
            </a:schemeClr>
          </a:solidFill>
          <a:ln w="12700">
            <a:noFill/>
          </a:ln>
        </p:spPr>
        <p:txBody>
          <a:bodyPr vert="horz" wrap="none" lIns="144000" tIns="108000" rIns="144000" bIns="108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6600" b="1" dirty="0">
                <a:solidFill>
                  <a:schemeClr val="bg2"/>
                </a:solidFill>
                <a:latin typeface="Consolas" panose="020B0609020204030204" pitchFamily="49" charset="0"/>
              </a:rPr>
              <a:t>while</a:t>
            </a:r>
            <a:endParaRPr lang="bg-BG" sz="7200" b="1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07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sz="3200" dirty="0"/>
              <a:t>Както вече разбрахме, в програмирането често се налага да изпълним блок с команди няколко пъти</a:t>
            </a:r>
          </a:p>
          <a:p>
            <a:pPr lvl="1">
              <a:lnSpc>
                <a:spcPct val="100000"/>
              </a:lnSpc>
            </a:pPr>
            <a:r>
              <a:rPr lang="bg-BG" sz="3200" dirty="0"/>
              <a:t>За целта използваме </a:t>
            </a:r>
            <a:r>
              <a:rPr lang="bg-BG" sz="3000" b="1" dirty="0"/>
              <a:t>цикли</a:t>
            </a:r>
            <a:r>
              <a:rPr lang="bg-BG" sz="3000" dirty="0"/>
              <a:t> </a:t>
            </a:r>
            <a:r>
              <a:rPr lang="bg-BG" sz="3000" dirty="0">
                <a:solidFill>
                  <a:schemeClr val="tx2">
                    <a:lumMod val="75000"/>
                  </a:schemeClr>
                </a:solidFill>
              </a:rPr>
              <a:t>–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while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bg-BG" sz="3000" dirty="0">
                <a:solidFill>
                  <a:schemeClr val="bg1"/>
                </a:solidFill>
                <a:latin typeface="+mj-lt"/>
              </a:rPr>
              <a:t> </a:t>
            </a:r>
            <a:r>
              <a:rPr lang="bg-BG" sz="3200" dirty="0">
                <a:latin typeface="+mj-lt"/>
              </a:rPr>
              <a:t>и други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</a:t>
            </a:r>
            <a:r>
              <a:rPr lang="bg-BG" dirty="0"/>
              <a:t>цикъл</a:t>
            </a:r>
            <a:r>
              <a:rPr lang="en-US" dirty="0"/>
              <a:t> – </a:t>
            </a:r>
            <a:r>
              <a:rPr lang="bg-BG" dirty="0"/>
              <a:t>конструкция</a:t>
            </a:r>
            <a:endParaRPr lang="en-US" dirty="0"/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E5BAD1EE-F7AB-4B15-A367-E2D4D34C0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6C1B76B8-D708-46CA-B30D-CC9767086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498" y="3785673"/>
            <a:ext cx="3211077" cy="1107996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3000" b="1" noProof="1">
                <a:latin typeface="Consolas" pitchFamily="49" charset="0"/>
                <a:cs typeface="Consolas" pitchFamily="49" charset="0"/>
              </a:rPr>
              <a:t>...</a:t>
            </a:r>
            <a:r>
              <a:rPr lang="pt-BR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:</a:t>
            </a:r>
            <a:r>
              <a:rPr lang="bg-BG" sz="30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</a:t>
            </a:r>
            <a:endParaRPr lang="bg-BG" sz="3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000" b="1" i="1" noProof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30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 </a:t>
            </a:r>
            <a:r>
              <a:rPr lang="bg-BG" sz="30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код</a:t>
            </a:r>
            <a:endParaRPr lang="pt-BR" sz="3000" b="1" i="1" noProof="1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2" name="AutoShape 7">
            <a:extLst>
              <a:ext uri="{FF2B5EF4-FFF2-40B4-BE49-F238E27FC236}">
                <a16:creationId xmlns:a16="http://schemas.microsoft.com/office/drawing/2014/main" id="{A4761844-C741-4555-91DC-5BEFDEAC9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000" y="3095541"/>
            <a:ext cx="1752306" cy="583772"/>
          </a:xfrm>
          <a:prstGeom prst="wedgeRoundRectCallout">
            <a:avLst>
              <a:gd name="adj1" fmla="val -45900"/>
              <a:gd name="adj2" fmla="val 98588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</a:t>
            </a:r>
          </a:p>
        </p:txBody>
      </p:sp>
      <p:sp>
        <p:nvSpPr>
          <p:cNvPr id="33" name="AutoShape 7">
            <a:extLst>
              <a:ext uri="{FF2B5EF4-FFF2-40B4-BE49-F238E27FC236}">
                <a16:creationId xmlns:a16="http://schemas.microsoft.com/office/drawing/2014/main" id="{6184FD68-ABF0-4793-8759-07E447EEC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4551" y="4789514"/>
            <a:ext cx="3337624" cy="1093612"/>
          </a:xfrm>
          <a:prstGeom prst="wedgeRoundRectCallout">
            <a:avLst>
              <a:gd name="adj1" fmla="val -59338"/>
              <a:gd name="adj2" fmla="val -4697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Код за изпълнение </a:t>
            </a:r>
            <a:r>
              <a:rPr lang="en-US" sz="2800" b="1" dirty="0">
                <a:solidFill>
                  <a:schemeClr val="bg2"/>
                </a:solidFill>
              </a:rPr>
              <a:t>(</a:t>
            </a:r>
            <a:r>
              <a:rPr lang="bg-BG" sz="2800" b="1" dirty="0">
                <a:solidFill>
                  <a:schemeClr val="bg2"/>
                </a:solidFill>
              </a:rPr>
              <a:t>повторение</a:t>
            </a:r>
            <a:r>
              <a:rPr lang="en-US" sz="2800" b="1" dirty="0">
                <a:solidFill>
                  <a:schemeClr val="bg2"/>
                </a:solidFill>
              </a:rPr>
              <a:t>)</a:t>
            </a:r>
            <a:endParaRPr lang="bg-BG" sz="2800" b="1" dirty="0">
              <a:solidFill>
                <a:schemeClr val="bg2"/>
              </a:solidFill>
            </a:endParaRPr>
          </a:p>
        </p:txBody>
      </p:sp>
      <p:cxnSp>
        <p:nvCxnSpPr>
          <p:cNvPr id="34" name="Straight Arrow Connector 19">
            <a:extLst>
              <a:ext uri="{FF2B5EF4-FFF2-40B4-BE49-F238E27FC236}">
                <a16:creationId xmlns:a16="http://schemas.microsoft.com/office/drawing/2014/main" id="{3BE75F93-CD24-443E-9D75-F16E1275035B}"/>
              </a:ext>
            </a:extLst>
          </p:cNvPr>
          <p:cNvCxnSpPr/>
          <p:nvPr/>
        </p:nvCxnSpPr>
        <p:spPr>
          <a:xfrm>
            <a:off x="9251044" y="2937361"/>
            <a:ext cx="0" cy="50972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Decision 20">
            <a:extLst>
              <a:ext uri="{FF2B5EF4-FFF2-40B4-BE49-F238E27FC236}">
                <a16:creationId xmlns:a16="http://schemas.microsoft.com/office/drawing/2014/main" id="{DDBEF108-2934-49E6-8894-920A31DA4FB1}"/>
              </a:ext>
            </a:extLst>
          </p:cNvPr>
          <p:cNvSpPr/>
          <p:nvPr/>
        </p:nvSpPr>
        <p:spPr>
          <a:xfrm>
            <a:off x="8413440" y="3422342"/>
            <a:ext cx="1675208" cy="1328800"/>
          </a:xfrm>
          <a:prstGeom prst="flowChartDecision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36" name="TextBox 21">
            <a:extLst>
              <a:ext uri="{FF2B5EF4-FFF2-40B4-BE49-F238E27FC236}">
                <a16:creationId xmlns:a16="http://schemas.microsoft.com/office/drawing/2014/main" id="{E31BB397-1BC5-4197-A2A0-C2501A1488FD}"/>
              </a:ext>
            </a:extLst>
          </p:cNvPr>
          <p:cNvSpPr txBox="1"/>
          <p:nvPr/>
        </p:nvSpPr>
        <p:spPr>
          <a:xfrm>
            <a:off x="8619461" y="3880650"/>
            <a:ext cx="1263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b="1" dirty="0">
                <a:solidFill>
                  <a:schemeClr val="bg2"/>
                </a:solidFill>
              </a:rPr>
              <a:t>условие</a:t>
            </a:r>
            <a:endParaRPr lang="en-US" b="1" dirty="0">
              <a:solidFill>
                <a:schemeClr val="bg2"/>
              </a:solidFill>
            </a:endParaRPr>
          </a:p>
        </p:txBody>
      </p:sp>
      <p:cxnSp>
        <p:nvCxnSpPr>
          <p:cNvPr id="37" name="Straight Arrow Connector 22">
            <a:extLst>
              <a:ext uri="{FF2B5EF4-FFF2-40B4-BE49-F238E27FC236}">
                <a16:creationId xmlns:a16="http://schemas.microsoft.com/office/drawing/2014/main" id="{52D5C6C5-06D0-47FC-9326-BD0031C46B29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9251044" y="4751142"/>
            <a:ext cx="0" cy="54618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23">
            <a:extLst>
              <a:ext uri="{FF2B5EF4-FFF2-40B4-BE49-F238E27FC236}">
                <a16:creationId xmlns:a16="http://schemas.microsoft.com/office/drawing/2014/main" id="{A78A613D-E2F1-4D24-962D-99B083AC2A12}"/>
              </a:ext>
            </a:extLst>
          </p:cNvPr>
          <p:cNvSpPr/>
          <p:nvPr/>
        </p:nvSpPr>
        <p:spPr>
          <a:xfrm>
            <a:off x="8413440" y="5286871"/>
            <a:ext cx="1675208" cy="596255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39" name="TextBox 24">
            <a:extLst>
              <a:ext uri="{FF2B5EF4-FFF2-40B4-BE49-F238E27FC236}">
                <a16:creationId xmlns:a16="http://schemas.microsoft.com/office/drawing/2014/main" id="{DE48F626-6BE8-410B-8DF7-1E57FAD6F735}"/>
              </a:ext>
            </a:extLst>
          </p:cNvPr>
          <p:cNvSpPr txBox="1"/>
          <p:nvPr/>
        </p:nvSpPr>
        <p:spPr>
          <a:xfrm>
            <a:off x="8558346" y="5421461"/>
            <a:ext cx="1388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b="1" dirty="0">
                <a:solidFill>
                  <a:schemeClr val="bg2"/>
                </a:solidFill>
              </a:rPr>
              <a:t>команди</a:t>
            </a:r>
            <a:endParaRPr lang="en-US" b="1" dirty="0">
              <a:solidFill>
                <a:schemeClr val="bg2"/>
              </a:solidFill>
            </a:endParaRPr>
          </a:p>
        </p:txBody>
      </p:sp>
      <p:cxnSp>
        <p:nvCxnSpPr>
          <p:cNvPr id="40" name="Elbow Connector 18">
            <a:extLst>
              <a:ext uri="{FF2B5EF4-FFF2-40B4-BE49-F238E27FC236}">
                <a16:creationId xmlns:a16="http://schemas.microsoft.com/office/drawing/2014/main" id="{2364DC40-C72A-473D-89FA-C7E853FB7D63}"/>
              </a:ext>
            </a:extLst>
          </p:cNvPr>
          <p:cNvCxnSpPr>
            <a:stCxn id="39" idx="2"/>
            <a:endCxn id="35" idx="1"/>
          </p:cNvCxnSpPr>
          <p:nvPr/>
        </p:nvCxnSpPr>
        <p:spPr>
          <a:xfrm rot="5400000" flipH="1">
            <a:off x="7934720" y="4565463"/>
            <a:ext cx="1796384" cy="838943"/>
          </a:xfrm>
          <a:prstGeom prst="bentConnector4">
            <a:avLst>
              <a:gd name="adj1" fmla="val -22800"/>
              <a:gd name="adj2" fmla="val 14541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19">
            <a:extLst>
              <a:ext uri="{FF2B5EF4-FFF2-40B4-BE49-F238E27FC236}">
                <a16:creationId xmlns:a16="http://schemas.microsoft.com/office/drawing/2014/main" id="{EDB83EFF-9CF2-40B0-ACFE-38805F62F93D}"/>
              </a:ext>
            </a:extLst>
          </p:cNvPr>
          <p:cNvCxnSpPr/>
          <p:nvPr/>
        </p:nvCxnSpPr>
        <p:spPr>
          <a:xfrm rot="16200000" flipH="1">
            <a:off x="9180784" y="4917253"/>
            <a:ext cx="2386947" cy="725923"/>
          </a:xfrm>
          <a:prstGeom prst="bentConnector3">
            <a:avLst>
              <a:gd name="adj1" fmla="val 27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27">
            <a:extLst>
              <a:ext uri="{FF2B5EF4-FFF2-40B4-BE49-F238E27FC236}">
                <a16:creationId xmlns:a16="http://schemas.microsoft.com/office/drawing/2014/main" id="{0E042A67-4B63-4182-8A42-0BBE513F72E4}"/>
              </a:ext>
            </a:extLst>
          </p:cNvPr>
          <p:cNvSpPr txBox="1"/>
          <p:nvPr/>
        </p:nvSpPr>
        <p:spPr>
          <a:xfrm>
            <a:off x="9341212" y="4721387"/>
            <a:ext cx="723145" cy="3860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b="1" dirty="0"/>
              <a:t>вярно</a:t>
            </a:r>
            <a:endParaRPr lang="en-US" b="1" dirty="0"/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06EDB149-B9D6-400C-BAFF-3AAE01AF9CC4}"/>
              </a:ext>
            </a:extLst>
          </p:cNvPr>
          <p:cNvSpPr txBox="1"/>
          <p:nvPr/>
        </p:nvSpPr>
        <p:spPr>
          <a:xfrm>
            <a:off x="10021658" y="3639022"/>
            <a:ext cx="960434" cy="3860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b="1" dirty="0"/>
              <a:t>невярно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4516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5" grpId="0" animBg="1"/>
      <p:bldP spid="36" grpId="0"/>
      <p:bldP spid="38" grpId="0" animBg="1"/>
      <p:bldP spid="39" grpId="0"/>
      <p:bldP spid="42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Scratch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</a:t>
            </a:r>
            <a:r>
              <a:rPr lang="bg-BG" dirty="0"/>
              <a:t>цикъл – </a:t>
            </a:r>
            <a:r>
              <a:rPr lang="en-US" dirty="0"/>
              <a:t>Scratch </a:t>
            </a:r>
            <a:r>
              <a:rPr lang="bg-BG" dirty="0"/>
              <a:t>срещу </a:t>
            </a:r>
            <a:r>
              <a:rPr lang="en-US" dirty="0"/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1000" y="2789668"/>
            <a:ext cx="4275000" cy="211401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i = 0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while i&lt;10: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  print("</a:t>
            </a:r>
            <a:r>
              <a:rPr lang="bg-BG" sz="2800" b="1" dirty="0">
                <a:latin typeface="Consolas" panose="020B0609020204030204" pitchFamily="49" charset="0"/>
              </a:rPr>
              <a:t>Здравей!</a:t>
            </a:r>
            <a:r>
              <a:rPr lang="en-US" sz="2800" b="1" dirty="0">
                <a:latin typeface="Consolas" panose="020B0609020204030204" pitchFamily="49" charset="0"/>
              </a:rPr>
              <a:t>")</a:t>
            </a:r>
            <a:endParaRPr lang="bg-BG" sz="28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dirty="0">
                <a:latin typeface="Consolas" panose="020B0609020204030204" pitchFamily="49" charset="0"/>
              </a:rPr>
              <a:t>  </a:t>
            </a:r>
            <a:r>
              <a:rPr lang="en-US" sz="2800" b="1" dirty="0">
                <a:latin typeface="Consolas" panose="020B0609020204030204" pitchFamily="49" charset="0"/>
              </a:rPr>
              <a:t>i = i + 1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00" y="1989000"/>
            <a:ext cx="4374351" cy="393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5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</a:t>
            </a:r>
            <a:r>
              <a:rPr lang="bg-BG" dirty="0"/>
              <a:t>цикъл – пример</a:t>
            </a:r>
            <a:endParaRPr lang="en-US" dirty="0">
              <a:latin typeface="+mn-lt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956C384-38D5-421E-AFF5-6F314D3E0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89" y="2400530"/>
            <a:ext cx="6122311" cy="263149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latin typeface="Consolas" pitchFamily="49" charset="0"/>
                <a:cs typeface="Consolas" pitchFamily="49" charset="0"/>
              </a:rPr>
              <a:t>a = 5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bg-BG" sz="30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a &lt;= 10:</a:t>
            </a:r>
            <a:endParaRPr lang="en-US" sz="3000" b="1" noProof="1">
              <a:solidFill>
                <a:srgbClr val="234465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latin typeface="Consolas" pitchFamily="49" charset="0"/>
                <a:cs typeface="Consolas" pitchFamily="49" charset="0"/>
              </a:rPr>
              <a:t>  print("a = " + str(a))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latin typeface="Consolas" pitchFamily="49" charset="0"/>
                <a:cs typeface="Consolas" pitchFamily="49" charset="0"/>
              </a:rPr>
              <a:t>  a += 1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42DA5656-96EF-4369-BFA6-0C2937F05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888" y="1555994"/>
            <a:ext cx="4358265" cy="1093612"/>
          </a:xfrm>
          <a:prstGeom prst="wedgeRoundRectCallout">
            <a:avLst>
              <a:gd name="adj1" fmla="val -50021"/>
              <a:gd name="adj2" fmla="val 123878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 за прекратяване на повторението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4A63BDE-C800-4D42-92A1-C489D569E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10" name="Картина 9">
            <a:extLst>
              <a:ext uri="{FF2B5EF4-FFF2-40B4-BE49-F238E27FC236}">
                <a16:creationId xmlns:a16="http://schemas.microsoft.com/office/drawing/2014/main" id="{2C6005E2-9045-4167-9E8B-3AD5A1C56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49706" y="2649606"/>
            <a:ext cx="4420217" cy="2105319"/>
          </a:xfrm>
          <a:prstGeom prst="rect">
            <a:avLst/>
          </a:prstGeom>
        </p:spPr>
      </p:pic>
      <p:sp>
        <p:nvSpPr>
          <p:cNvPr id="13" name="Arrow: Right 1">
            <a:extLst>
              <a:ext uri="{FF2B5EF4-FFF2-40B4-BE49-F238E27FC236}">
                <a16:creationId xmlns:a16="http://schemas.microsoft.com/office/drawing/2014/main" id="{65D3884F-A16A-4934-B507-03375230D7F3}"/>
              </a:ext>
            </a:extLst>
          </p:cNvPr>
          <p:cNvSpPr/>
          <p:nvPr/>
        </p:nvSpPr>
        <p:spPr bwMode="auto">
          <a:xfrm>
            <a:off x="6876966" y="3513781"/>
            <a:ext cx="428374" cy="37696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55526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</a:t>
            </a:r>
            <a:r>
              <a:rPr lang="bg-BG" dirty="0"/>
              <a:t>цикъл – пример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956C384-38D5-421E-AFF5-6F314D3E0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000" y="1889997"/>
            <a:ext cx="8153400" cy="338400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line = input()</a:t>
            </a: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pt-BR" sz="2800" b="1" noProof="1">
                <a:latin typeface="Consolas" pitchFamily="49" charset="0"/>
                <a:cs typeface="Consolas" pitchFamily="49" charset="0"/>
              </a:rPr>
              <a:t>line != 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"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Stop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"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:</a:t>
            </a: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print("Loop")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pt-BR" sz="2800" b="1" noProof="1">
                <a:latin typeface="Consolas" pitchFamily="49" charset="0"/>
                <a:cs typeface="Consolas" pitchFamily="49" charset="0"/>
              </a:rPr>
              <a:t>line = input()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42DA5656-96EF-4369-BFA6-0C2937F05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000" y="3040197"/>
            <a:ext cx="4358265" cy="1093612"/>
          </a:xfrm>
          <a:prstGeom prst="wedgeRoundRectCallout">
            <a:avLst>
              <a:gd name="adj1" fmla="val -35394"/>
              <a:gd name="adj2" fmla="val -6116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 за прекратяване на повторението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681D1555-33A9-4A04-B17E-594C30636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36685">
            <a:off x="679771" y="3023832"/>
            <a:ext cx="1837458" cy="1507838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16160BAA-7E13-43CF-B839-84C85D94C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512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Безкраен цикъл </a:t>
            </a:r>
            <a:r>
              <a:rPr lang="en-US" dirty="0"/>
              <a:t>– </a:t>
            </a:r>
            <a:r>
              <a:rPr lang="bg-BG" b="1" dirty="0"/>
              <a:t>повтаряне</a:t>
            </a:r>
            <a:r>
              <a:rPr lang="bg-BG" dirty="0"/>
              <a:t> на блок от код </a:t>
            </a:r>
            <a:r>
              <a:rPr lang="bg-BG" b="1" dirty="0"/>
              <a:t>безкраен брой </a:t>
            </a:r>
            <a:br>
              <a:rPr lang="en-US" b="1" dirty="0"/>
            </a:br>
            <a:r>
              <a:rPr lang="bg-BG" b="1" dirty="0"/>
              <a:t>пъти</a:t>
            </a:r>
            <a:endParaRPr lang="bg-BG" dirty="0"/>
          </a:p>
          <a:p>
            <a:endParaRPr lang="bg-BG" dirty="0"/>
          </a:p>
          <a:p>
            <a:pPr marL="0" indent="0">
              <a:buNone/>
            </a:pPr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Безкраен цикъл</a:t>
            </a:r>
            <a:endParaRPr lang="en-US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36F390F9-7ACA-4D63-ABA7-C2BBF90B2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FA8D92C9-95B1-450E-98C7-CAA555F08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17" y="3399914"/>
            <a:ext cx="4287208" cy="104028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while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True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: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print("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Здравей!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")</a:t>
            </a:r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id="{7865B552-F2FF-42D6-BE63-0E2D80534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1000" y="2186410"/>
            <a:ext cx="3429000" cy="958627"/>
          </a:xfrm>
          <a:prstGeom prst="wedgeRoundRectCallout">
            <a:avLst>
              <a:gd name="adj1" fmla="val -38288"/>
              <a:gd name="adj2" fmla="val 8099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Условието е винаги вярно</a:t>
            </a:r>
          </a:p>
        </p:txBody>
      </p:sp>
      <p:sp>
        <p:nvSpPr>
          <p:cNvPr id="20" name="Flowchart: Decision 7">
            <a:extLst>
              <a:ext uri="{FF2B5EF4-FFF2-40B4-BE49-F238E27FC236}">
                <a16:creationId xmlns:a16="http://schemas.microsoft.com/office/drawing/2014/main" id="{07D32FE4-FFFF-4FE6-9992-A8766EE17485}"/>
              </a:ext>
            </a:extLst>
          </p:cNvPr>
          <p:cNvSpPr/>
          <p:nvPr/>
        </p:nvSpPr>
        <p:spPr>
          <a:xfrm>
            <a:off x="9371012" y="2254923"/>
            <a:ext cx="2099222" cy="1665134"/>
          </a:xfrm>
          <a:prstGeom prst="flowChartDecision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3DF65C01-1FD7-43F8-A9D1-357C0061EAEF}"/>
              </a:ext>
            </a:extLst>
          </p:cNvPr>
          <p:cNvSpPr txBox="1"/>
          <p:nvPr/>
        </p:nvSpPr>
        <p:spPr>
          <a:xfrm>
            <a:off x="9629182" y="2807388"/>
            <a:ext cx="1582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b="1" dirty="0">
                <a:solidFill>
                  <a:schemeClr val="bg2"/>
                </a:solidFill>
              </a:rPr>
              <a:t>условие</a:t>
            </a:r>
            <a:endParaRPr lang="en-US" sz="2400" b="1" dirty="0">
              <a:solidFill>
                <a:schemeClr val="bg2"/>
              </a:solidFill>
            </a:endParaRPr>
          </a:p>
        </p:txBody>
      </p:sp>
      <p:cxnSp>
        <p:nvCxnSpPr>
          <p:cNvPr id="22" name="Straight Arrow Connector 9">
            <a:extLst>
              <a:ext uri="{FF2B5EF4-FFF2-40B4-BE49-F238E27FC236}">
                <a16:creationId xmlns:a16="http://schemas.microsoft.com/office/drawing/2014/main" id="{C1D8BA9D-81FD-4A0E-BA00-2F194F4F3618}"/>
              </a:ext>
            </a:extLst>
          </p:cNvPr>
          <p:cNvCxnSpPr>
            <a:cxnSpLocks/>
          </p:cNvCxnSpPr>
          <p:nvPr/>
        </p:nvCxnSpPr>
        <p:spPr>
          <a:xfrm>
            <a:off x="10420623" y="3643245"/>
            <a:ext cx="0" cy="9612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11">
            <a:extLst>
              <a:ext uri="{FF2B5EF4-FFF2-40B4-BE49-F238E27FC236}">
                <a16:creationId xmlns:a16="http://schemas.microsoft.com/office/drawing/2014/main" id="{96CBA515-9497-4CFB-B704-5D57964C7CFA}"/>
              </a:ext>
            </a:extLst>
          </p:cNvPr>
          <p:cNvSpPr/>
          <p:nvPr/>
        </p:nvSpPr>
        <p:spPr>
          <a:xfrm>
            <a:off x="9371012" y="4591385"/>
            <a:ext cx="2099222" cy="971215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26DB6F82-682D-4520-9F02-716829E40A20}"/>
              </a:ext>
            </a:extLst>
          </p:cNvPr>
          <p:cNvSpPr txBox="1"/>
          <p:nvPr/>
        </p:nvSpPr>
        <p:spPr>
          <a:xfrm>
            <a:off x="9552595" y="4824000"/>
            <a:ext cx="1739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b="1" dirty="0">
                <a:solidFill>
                  <a:schemeClr val="bg2"/>
                </a:solidFill>
              </a:rPr>
              <a:t>команди</a:t>
            </a:r>
            <a:endParaRPr lang="en-US" sz="2400" b="1" dirty="0">
              <a:solidFill>
                <a:schemeClr val="bg2"/>
              </a:solidFill>
            </a:endParaRPr>
          </a:p>
        </p:txBody>
      </p:sp>
      <p:cxnSp>
        <p:nvCxnSpPr>
          <p:cNvPr id="25" name="Elbow Connector 18">
            <a:extLst>
              <a:ext uri="{FF2B5EF4-FFF2-40B4-BE49-F238E27FC236}">
                <a16:creationId xmlns:a16="http://schemas.microsoft.com/office/drawing/2014/main" id="{C323C842-264C-4EAD-BFD3-CCD6122939B0}"/>
              </a:ext>
            </a:extLst>
          </p:cNvPr>
          <p:cNvCxnSpPr>
            <a:cxnSpLocks/>
            <a:stCxn id="23" idx="2"/>
            <a:endCxn id="20" idx="1"/>
          </p:cNvCxnSpPr>
          <p:nvPr/>
        </p:nvCxnSpPr>
        <p:spPr>
          <a:xfrm rot="5400000" flipH="1">
            <a:off x="8658262" y="3800240"/>
            <a:ext cx="2475110" cy="1049611"/>
          </a:xfrm>
          <a:prstGeom prst="bentConnector4">
            <a:avLst>
              <a:gd name="adj1" fmla="val -18343"/>
              <a:gd name="adj2" fmla="val 167761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5">
            <a:extLst>
              <a:ext uri="{FF2B5EF4-FFF2-40B4-BE49-F238E27FC236}">
                <a16:creationId xmlns:a16="http://schemas.microsoft.com/office/drawing/2014/main" id="{9C7B7A4E-588F-4B7D-9918-FDDF56AA6E60}"/>
              </a:ext>
            </a:extLst>
          </p:cNvPr>
          <p:cNvSpPr txBox="1"/>
          <p:nvPr/>
        </p:nvSpPr>
        <p:spPr>
          <a:xfrm>
            <a:off x="10533612" y="3882771"/>
            <a:ext cx="1199596" cy="49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/>
              <a:t>вярно</a:t>
            </a: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911" y="3057270"/>
            <a:ext cx="3632654" cy="327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97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/>
      <p:bldP spid="23" grpId="0" animBg="1"/>
      <p:bldP spid="24" grpId="0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D09B7C6-1512-42CC-8E81-A4414308E8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2" y="1196124"/>
            <a:ext cx="11923859" cy="5509915"/>
          </a:xfrm>
        </p:spPr>
        <p:txBody>
          <a:bodyPr>
            <a:normAutofit/>
          </a:bodyPr>
          <a:lstStyle/>
          <a:p>
            <a:pPr latinLnBrk="0"/>
            <a:r>
              <a:rPr lang="bg-BG" sz="3500" b="1" dirty="0"/>
              <a:t>Оператор</a:t>
            </a:r>
            <a:r>
              <a:rPr lang="bg-BG" sz="3500" dirty="0"/>
              <a:t> </a:t>
            </a:r>
            <a:r>
              <a:rPr lang="en-US" sz="3500" b="1" dirty="0">
                <a:solidFill>
                  <a:schemeClr val="bg1"/>
                </a:solidFill>
                <a:latin typeface="Consolas" panose="020B0609020204030204" pitchFamily="49" charset="0"/>
              </a:rPr>
              <a:t>break</a:t>
            </a:r>
            <a:r>
              <a:rPr lang="en-US" sz="3500" dirty="0">
                <a:solidFill>
                  <a:schemeClr val="bg1"/>
                </a:solidFill>
              </a:rPr>
              <a:t> </a:t>
            </a:r>
            <a:r>
              <a:rPr lang="en-US" sz="3500" dirty="0"/>
              <a:t>– </a:t>
            </a:r>
            <a:r>
              <a:rPr lang="bg-BG" sz="3500" dirty="0"/>
              <a:t>прекъсва цикъла</a:t>
            </a:r>
            <a:endParaRPr lang="en-US" dirty="0"/>
          </a:p>
          <a:p>
            <a:pPr latinLnBrk="0"/>
            <a:r>
              <a:rPr lang="bg-BG" sz="3500" b="1" dirty="0"/>
              <a:t>Не може </a:t>
            </a:r>
            <a:r>
              <a:rPr lang="bg-BG" sz="3500" dirty="0"/>
              <a:t>да </a:t>
            </a:r>
            <a:r>
              <a:rPr lang="bg-BG" sz="3500" b="1" dirty="0"/>
              <a:t>съществува самостоятелно  </a:t>
            </a:r>
            <a:r>
              <a:rPr lang="bg-BG" sz="3500" dirty="0"/>
              <a:t>извън цикъл</a:t>
            </a:r>
            <a:endParaRPr lang="en-US" sz="35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Прекратяване на цикъл</a:t>
            </a:r>
            <a:endParaRPr lang="en-US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586894" y="3024000"/>
            <a:ext cx="7130774" cy="1962076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True: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 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   print("Loop")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   if …: 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	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break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EC8C4527-BA9E-45BC-B811-881D4FB1C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4088360" y="5205356"/>
            <a:ext cx="4294496" cy="990600"/>
          </a:xfrm>
          <a:prstGeom prst="wedgeRoundRectCallout">
            <a:avLst>
              <a:gd name="adj1" fmla="val -37419"/>
              <a:gd name="adj2" fmla="val -8836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 за прекъсване на цикъла</a:t>
            </a:r>
          </a:p>
        </p:txBody>
      </p:sp>
    </p:spTree>
    <p:extLst>
      <p:ext uri="{BB962C8B-B14F-4D97-AF65-F5344CB8AC3E}">
        <p14:creationId xmlns:p14="http://schemas.microsoft.com/office/powerpoint/2010/main" val="5646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allAtOnce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Прекратяване на цикъл – пример</a:t>
            </a:r>
            <a:endParaRPr lang="en-US" dirty="0">
              <a:latin typeface="+mn-lt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956C384-38D5-421E-AFF5-6F314D3E0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689" y="2169000"/>
            <a:ext cx="6122311" cy="368684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latin typeface="Consolas" pitchFamily="49" charset="0"/>
                <a:cs typeface="Consolas" pitchFamily="49" charset="0"/>
              </a:rPr>
              <a:t>a = 5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bg-BG" sz="30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True:</a:t>
            </a:r>
            <a:r>
              <a:rPr lang="bg-BG" sz="3000" b="1" noProof="1">
                <a:latin typeface="Consolas" pitchFamily="49" charset="0"/>
                <a:cs typeface="Consolas" pitchFamily="49" charset="0"/>
              </a:rPr>
              <a:t> </a:t>
            </a:r>
            <a:endParaRPr lang="en-US" sz="30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latin typeface="Consolas" pitchFamily="49" charset="0"/>
                <a:cs typeface="Consolas" pitchFamily="49" charset="0"/>
              </a:rPr>
              <a:t>  if a &gt; 10: 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latin typeface="Consolas" pitchFamily="49" charset="0"/>
                <a:cs typeface="Consolas" pitchFamily="49" charset="0"/>
              </a:rPr>
              <a:t>	</a:t>
            </a:r>
            <a:r>
              <a:rPr lang="en-US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break</a:t>
            </a:r>
            <a:endParaRPr lang="en-US" sz="30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latin typeface="Consolas" pitchFamily="49" charset="0"/>
                <a:cs typeface="Consolas" pitchFamily="49" charset="0"/>
              </a:rPr>
              <a:t>  print("a = " + str(a))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latin typeface="Consolas" pitchFamily="49" charset="0"/>
                <a:cs typeface="Consolas" pitchFamily="49" charset="0"/>
              </a:rPr>
              <a:t>  a += 1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42DA5656-96EF-4369-BFA6-0C2937F05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6570" y="1590720"/>
            <a:ext cx="4358265" cy="1093612"/>
          </a:xfrm>
          <a:prstGeom prst="wedgeRoundRectCallout">
            <a:avLst>
              <a:gd name="adj1" fmla="val -53633"/>
              <a:gd name="adj2" fmla="val 14373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 за прекратяване на повторението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4A63BDE-C800-4D42-92A1-C489D569E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2" name="Картина 1">
            <a:extLst>
              <a:ext uri="{FF2B5EF4-FFF2-40B4-BE49-F238E27FC236}">
                <a16:creationId xmlns:a16="http://schemas.microsoft.com/office/drawing/2014/main" id="{AA037F46-7F49-4E21-BA1C-E392A93D4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49706" y="2959762"/>
            <a:ext cx="4420217" cy="2105319"/>
          </a:xfrm>
          <a:prstGeom prst="rect">
            <a:avLst/>
          </a:prstGeom>
        </p:spPr>
      </p:pic>
      <p:sp>
        <p:nvSpPr>
          <p:cNvPr id="10" name="Arrow: Right 1">
            <a:extLst>
              <a:ext uri="{FF2B5EF4-FFF2-40B4-BE49-F238E27FC236}">
                <a16:creationId xmlns:a16="http://schemas.microsoft.com/office/drawing/2014/main" id="{8CBC93F0-9F59-4FBD-AD0A-FFACCC3F5AEA}"/>
              </a:ext>
            </a:extLst>
          </p:cNvPr>
          <p:cNvSpPr/>
          <p:nvPr/>
        </p:nvSpPr>
        <p:spPr bwMode="auto">
          <a:xfrm>
            <a:off x="6876966" y="3823936"/>
            <a:ext cx="428374" cy="37696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45972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Прекратяване на цикъл – пример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956C384-38D5-421E-AFF5-6F314D3E0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1000" y="1828800"/>
            <a:ext cx="8153400" cy="338400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True:</a:t>
            </a: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  line = input()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if </a:t>
            </a:r>
            <a:r>
              <a:rPr lang="pt-BR" sz="2800" b="1" noProof="1">
                <a:latin typeface="Consolas" pitchFamily="49" charset="0"/>
                <a:cs typeface="Consolas" pitchFamily="49" charset="0"/>
              </a:rPr>
              <a:t>line == 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"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Stop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"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break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print("Loop")</a:t>
            </a:r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42DA5656-96EF-4369-BFA6-0C2937F05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076" y="3377133"/>
            <a:ext cx="4358265" cy="1093612"/>
          </a:xfrm>
          <a:prstGeom prst="wedgeRoundRectCallout">
            <a:avLst>
              <a:gd name="adj1" fmla="val -60105"/>
              <a:gd name="adj2" fmla="val -3236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 за прекратяване на повторението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681D1555-33A9-4A04-B17E-594C30636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36685">
            <a:off x="679771" y="3023832"/>
            <a:ext cx="1837458" cy="1507838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16160BAA-7E13-43CF-B839-84C85D94C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3095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Напишете програма, която:</a:t>
            </a:r>
          </a:p>
          <a:p>
            <a:pPr lvl="1"/>
            <a:r>
              <a:rPr lang="bg-BG" b="1" dirty="0"/>
              <a:t>Чете</a:t>
            </a:r>
            <a:r>
              <a:rPr lang="bg-BG" dirty="0"/>
              <a:t> от потребителя </a:t>
            </a:r>
            <a:r>
              <a:rPr lang="bg-BG" b="1" dirty="0"/>
              <a:t>текст</a:t>
            </a:r>
          </a:p>
          <a:p>
            <a:pPr lvl="1"/>
            <a:r>
              <a:rPr lang="bg-BG" b="1" dirty="0"/>
              <a:t>Приключва четенето </a:t>
            </a:r>
            <a:r>
              <a:rPr lang="bg-BG" dirty="0"/>
              <a:t>когато получи </a:t>
            </a:r>
            <a:r>
              <a:rPr lang="bg-BG" b="1" dirty="0"/>
              <a:t>командата</a:t>
            </a:r>
            <a:r>
              <a:rPr lang="bg-BG" dirty="0"/>
              <a:t> "</a:t>
            </a:r>
            <a:r>
              <a:rPr lang="en-US" b="1" dirty="0"/>
              <a:t>Stop</a:t>
            </a:r>
            <a:r>
              <a:rPr lang="bg-BG" dirty="0"/>
              <a:t>"</a:t>
            </a:r>
          </a:p>
          <a:p>
            <a:r>
              <a:rPr lang="bg-BG" sz="3200" dirty="0"/>
              <a:t>Примерен вход и изход: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Четене на текст – условие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CF14F280-D196-44D1-BE37-3C6A70F9A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8FACEAA3-3C4D-4328-BA4F-A771F476D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8936" y="3886201"/>
            <a:ext cx="2176672" cy="264559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Nakov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SoftUni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Sofia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Bulgaria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SomeText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Stop</a:t>
            </a:r>
          </a:p>
          <a:p>
            <a:r>
              <a:rPr lang="en-US" sz="2400" b="1" noProof="1">
                <a:latin typeface="Consolas" panose="020B0609020204030204" pitchFamily="49" charset="0"/>
                <a:cs typeface="Consolas" pitchFamily="49" charset="0"/>
              </a:rPr>
              <a:t>AfterStop</a:t>
            </a:r>
          </a:p>
        </p:txBody>
      </p:sp>
      <p:sp>
        <p:nvSpPr>
          <p:cNvPr id="13" name="Right Arrow 11">
            <a:extLst>
              <a:ext uri="{FF2B5EF4-FFF2-40B4-BE49-F238E27FC236}">
                <a16:creationId xmlns:a16="http://schemas.microsoft.com/office/drawing/2014/main" id="{42DEB2C5-A593-42F9-A1DB-4ECBB3770AD4}"/>
              </a:ext>
            </a:extLst>
          </p:cNvPr>
          <p:cNvSpPr/>
          <p:nvPr/>
        </p:nvSpPr>
        <p:spPr>
          <a:xfrm>
            <a:off x="5872152" y="5076556"/>
            <a:ext cx="447696" cy="3046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48E6B8E1-3DF2-41B7-9FBD-E893E2455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392" y="4258968"/>
            <a:ext cx="2176672" cy="1989432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Nakov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SoftUni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Sofia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Bulgaria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SomeText</a:t>
            </a:r>
          </a:p>
        </p:txBody>
      </p:sp>
    </p:spTree>
    <p:extLst>
      <p:ext uri="{BB962C8B-B14F-4D97-AF65-F5344CB8AC3E}">
        <p14:creationId xmlns:p14="http://schemas.microsoft.com/office/powerpoint/2010/main" val="3746430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Четене на текст – решение</a:t>
            </a:r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22387E3-FA6A-402A-9CE2-FE3E2838D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3743" y="1951896"/>
            <a:ext cx="4624514" cy="332398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pt-BR" sz="3000" b="1" noProof="1">
                <a:latin typeface="Consolas" pitchFamily="49" charset="0"/>
                <a:cs typeface="Consolas" pitchFamily="49" charset="0"/>
              </a:rPr>
              <a:t> True: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latin typeface="Consolas" pitchFamily="49" charset="0"/>
                <a:cs typeface="Consolas" pitchFamily="49" charset="0"/>
              </a:rPr>
              <a:t>  line =</a:t>
            </a:r>
            <a:r>
              <a:rPr lang="bg-BG" sz="30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input()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30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latin typeface="Consolas" pitchFamily="49" charset="0"/>
                <a:cs typeface="Consolas" pitchFamily="49" charset="0"/>
              </a:rPr>
              <a:t>  if line == </a:t>
            </a:r>
            <a:r>
              <a:rPr lang="bg-BG" sz="3000" b="1" noProof="1">
                <a:latin typeface="Consolas" pitchFamily="49" charset="0"/>
                <a:cs typeface="Consolas" pitchFamily="49" charset="0"/>
              </a:rPr>
              <a:t>"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Stop":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break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pt-BR" sz="3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latin typeface="Consolas" pitchFamily="49" charset="0"/>
                <a:cs typeface="Consolas" pitchFamily="49" charset="0"/>
              </a:rPr>
              <a:t>  print(line)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4112D6E-8536-49DD-B15F-EE4A80B53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4915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930042" cy="5528766"/>
          </a:xfrm>
        </p:spPr>
        <p:txBody>
          <a:bodyPr/>
          <a:lstStyle/>
          <a:p>
            <a:r>
              <a:rPr lang="bg-BG" b="1" dirty="0"/>
              <a:t>Оператор</a:t>
            </a:r>
            <a:r>
              <a:rPr lang="bg-BG" dirty="0"/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continue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– </a:t>
            </a:r>
            <a:r>
              <a:rPr lang="bg-BG" dirty="0"/>
              <a:t>преминава към </a:t>
            </a:r>
            <a:r>
              <a:rPr lang="bg-BG" b="1" dirty="0"/>
              <a:t>следващата</a:t>
            </a:r>
            <a:r>
              <a:rPr lang="bg-BG" dirty="0"/>
              <a:t> </a:t>
            </a:r>
            <a:r>
              <a:rPr lang="bg-BG" b="1" dirty="0"/>
              <a:t>итерация</a:t>
            </a:r>
            <a:r>
              <a:rPr lang="bg-BG" dirty="0"/>
              <a:t> на цикъла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Продължаване на цикъла</a:t>
            </a:r>
            <a:endParaRPr lang="en-US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091000" y="2601502"/>
            <a:ext cx="4228423" cy="332398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3000" b="1" dirty="0">
                <a:latin typeface="Consolas" pitchFamily="49" charset="0"/>
                <a:cs typeface="Consolas" pitchFamily="49" charset="0"/>
              </a:rPr>
              <a:t>i = 0</a:t>
            </a:r>
          </a:p>
          <a:p>
            <a:r>
              <a:rPr lang="en-US" sz="3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en-US" sz="3000" b="1" dirty="0">
                <a:latin typeface="Consolas" pitchFamily="49" charset="0"/>
                <a:cs typeface="Consolas" pitchFamily="49" charset="0"/>
              </a:rPr>
              <a:t>i &lt; 10:</a:t>
            </a:r>
          </a:p>
          <a:p>
            <a:r>
              <a:rPr lang="en-US" sz="3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3000" b="1" dirty="0">
                <a:latin typeface="Consolas" pitchFamily="49" charset="0"/>
                <a:cs typeface="Consolas" pitchFamily="49" charset="0"/>
              </a:rPr>
              <a:t>if i % 2 == 0:</a:t>
            </a:r>
          </a:p>
          <a:p>
            <a:r>
              <a:rPr lang="en-US" sz="3000" b="1" dirty="0">
                <a:latin typeface="Consolas" pitchFamily="49" charset="0"/>
                <a:cs typeface="Consolas" pitchFamily="49" charset="0"/>
              </a:rPr>
              <a:t>        i += 1</a:t>
            </a:r>
          </a:p>
          <a:p>
            <a:r>
              <a:rPr lang="en-US" sz="3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continue</a:t>
            </a:r>
          </a:p>
          <a:p>
            <a:r>
              <a:rPr lang="en-US" sz="3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3000" b="1" dirty="0">
                <a:latin typeface="Consolas" pitchFamily="49" charset="0"/>
                <a:cs typeface="Consolas" pitchFamily="49" charset="0"/>
              </a:rPr>
              <a:t>print(i)</a:t>
            </a:r>
          </a:p>
          <a:p>
            <a:r>
              <a:rPr lang="en-US" sz="3000" b="1" dirty="0">
                <a:latin typeface="Consolas" pitchFamily="49" charset="0"/>
                <a:cs typeface="Consolas" pitchFamily="49" charset="0"/>
              </a:rPr>
              <a:t>    i += 1</a:t>
            </a:r>
            <a:endParaRPr lang="nn-NO" sz="3000" b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75FFE32-EDB1-4731-9766-94FB5CAF9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1041A47D-8EF2-4E7C-B19E-80EACC4CC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447" y="3013454"/>
            <a:ext cx="2019300" cy="250008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</p:pic>
      <p:sp>
        <p:nvSpPr>
          <p:cNvPr id="9" name="Right Arrow 11">
            <a:extLst>
              <a:ext uri="{FF2B5EF4-FFF2-40B4-BE49-F238E27FC236}">
                <a16:creationId xmlns:a16="http://schemas.microsoft.com/office/drawing/2014/main" id="{B079940C-DD85-40A5-A486-A2260D67F6A1}"/>
              </a:ext>
            </a:extLst>
          </p:cNvPr>
          <p:cNvSpPr/>
          <p:nvPr/>
        </p:nvSpPr>
        <p:spPr>
          <a:xfrm>
            <a:off x="6709948" y="4052337"/>
            <a:ext cx="561974" cy="42231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06520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lnSpc>
                <a:spcPct val="100000"/>
              </a:lnSpc>
            </a:pPr>
            <a:r>
              <a:rPr lang="bg-BG" sz="2800" dirty="0">
                <a:solidFill>
                  <a:schemeClr val="bg2"/>
                </a:solidFill>
              </a:rPr>
              <a:t>Вземане на </a:t>
            </a:r>
            <a:r>
              <a:rPr lang="bg-BG" sz="2800" b="1" dirty="0">
                <a:solidFill>
                  <a:schemeClr val="bg2"/>
                </a:solidFill>
              </a:rPr>
              <a:t>символ</a:t>
            </a:r>
            <a:r>
              <a:rPr lang="bg-BG" sz="2800" dirty="0">
                <a:solidFill>
                  <a:schemeClr val="bg2"/>
                </a:solidFill>
              </a:rPr>
              <a:t> по </a:t>
            </a:r>
            <a:r>
              <a:rPr lang="bg-BG" sz="2800" b="1" dirty="0">
                <a:solidFill>
                  <a:schemeClr val="bg2"/>
                </a:solidFill>
              </a:rPr>
              <a:t>индекс</a:t>
            </a:r>
            <a:r>
              <a:rPr lang="bg-BG" sz="2800" dirty="0">
                <a:solidFill>
                  <a:schemeClr val="bg2"/>
                </a:solidFill>
              </a:rPr>
              <a:t> от текст</a:t>
            </a:r>
            <a:endParaRPr lang="en-US" sz="2800" dirty="0">
              <a:solidFill>
                <a:schemeClr val="bg2"/>
              </a:solidFill>
            </a:endParaRPr>
          </a:p>
          <a:p>
            <a:pPr marL="456565" indent="-456565">
              <a:lnSpc>
                <a:spcPct val="100000"/>
              </a:lnSpc>
            </a:pPr>
            <a:r>
              <a:rPr lang="bg-BG" sz="2800" b="1" dirty="0">
                <a:solidFill>
                  <a:schemeClr val="bg2"/>
                </a:solidFill>
              </a:rPr>
              <a:t>Повторение</a:t>
            </a:r>
            <a:r>
              <a:rPr lang="bg-BG" sz="2800" dirty="0">
                <a:solidFill>
                  <a:schemeClr val="bg2"/>
                </a:solidFill>
              </a:rPr>
              <a:t> на блок код с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while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цикъл</a:t>
            </a:r>
          </a:p>
          <a:p>
            <a:pPr marL="989631" lvl="1" indent="-456565">
              <a:lnSpc>
                <a:spcPct val="100000"/>
              </a:lnSpc>
            </a:pPr>
            <a:r>
              <a:rPr lang="bg-BG" sz="2800" b="1" dirty="0">
                <a:solidFill>
                  <a:schemeClr val="bg2"/>
                </a:solidFill>
              </a:rPr>
              <a:t>Прекъсване</a:t>
            </a:r>
            <a:r>
              <a:rPr lang="bg-BG" sz="2800" dirty="0">
                <a:solidFill>
                  <a:schemeClr val="bg2"/>
                </a:solidFill>
              </a:rPr>
              <a:t> на цикли с </a:t>
            </a:r>
            <a:r>
              <a:rPr lang="bg-BG" sz="2800" b="1" dirty="0">
                <a:solidFill>
                  <a:schemeClr val="bg2"/>
                </a:solidFill>
              </a:rPr>
              <a:t>оператора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break</a:t>
            </a:r>
          </a:p>
          <a:p>
            <a:pPr marL="989631" lvl="1" indent="-456565">
              <a:lnSpc>
                <a:spcPct val="100000"/>
              </a:lnSpc>
            </a:pPr>
            <a:r>
              <a:rPr lang="bg-BG" sz="2800" b="1" dirty="0">
                <a:solidFill>
                  <a:schemeClr val="bg2"/>
                </a:solidFill>
              </a:rPr>
              <a:t>Продължаване</a:t>
            </a:r>
            <a:r>
              <a:rPr lang="bg-BG" sz="2800" dirty="0">
                <a:solidFill>
                  <a:schemeClr val="bg2"/>
                </a:solidFill>
              </a:rPr>
              <a:t> към следващата итерация с </a:t>
            </a:r>
            <a:r>
              <a:rPr lang="bg-BG" sz="2800" b="1" dirty="0">
                <a:solidFill>
                  <a:schemeClr val="bg2"/>
                </a:solidFill>
              </a:rPr>
              <a:t>оператора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continue</a:t>
            </a:r>
            <a:endParaRPr lang="bg-BG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5764</TotalTime>
  <Words>814</Words>
  <Application>Microsoft Office PowerPoint</Application>
  <PresentationFormat>Widescreen</PresentationFormat>
  <Paragraphs>200</Paragraphs>
  <Slides>21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Wingdings</vt:lpstr>
      <vt:lpstr>SoftUni</vt:lpstr>
      <vt:lpstr>Реализиране на цикличен алгоритъм</vt:lpstr>
      <vt:lpstr>Съдържание</vt:lpstr>
      <vt:lpstr>Работа с текст</vt:lpstr>
      <vt:lpstr>Работа с текст</vt:lpstr>
      <vt:lpstr>Поток от символи – условие</vt:lpstr>
      <vt:lpstr>Поток от символи – решение</vt:lpstr>
      <vt:lpstr>While цикъл</vt:lpstr>
      <vt:lpstr>While цикъл – конструкция</vt:lpstr>
      <vt:lpstr>While цикъл – Scratch срещу Python</vt:lpstr>
      <vt:lpstr>While цикъл – пример</vt:lpstr>
      <vt:lpstr>While цикъл – пример</vt:lpstr>
      <vt:lpstr>Безкраен цикъл</vt:lpstr>
      <vt:lpstr>Прекратяване на цикъл</vt:lpstr>
      <vt:lpstr>Прекратяване на цикъл – пример</vt:lpstr>
      <vt:lpstr>Прекратяване на цикъл – пример</vt:lpstr>
      <vt:lpstr>Четене на текст – условие</vt:lpstr>
      <vt:lpstr>Четене на текст – решение</vt:lpstr>
      <vt:lpstr>Продължаване на цикъла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Реализиране на цикличен алгоритъм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1662</cp:revision>
  <dcterms:created xsi:type="dcterms:W3CDTF">2018-05-23T13:08:44Z</dcterms:created>
  <dcterms:modified xsi:type="dcterms:W3CDTF">2026-09-25T09:06:39Z</dcterms:modified>
  <cp:category/>
</cp:coreProperties>
</file>