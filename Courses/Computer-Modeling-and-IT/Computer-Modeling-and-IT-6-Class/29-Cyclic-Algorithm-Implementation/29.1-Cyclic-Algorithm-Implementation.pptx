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7"/>
  </p:notesMasterIdLst>
  <p:handoutMasterIdLst>
    <p:handoutMasterId r:id="rId18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6" r:id="rId9"/>
    <p:sldId id="593" r:id="rId10"/>
    <p:sldId id="594" r:id="rId11"/>
    <p:sldId id="595" r:id="rId12"/>
    <p:sldId id="597" r:id="rId13"/>
    <p:sldId id="586" r:id="rId14"/>
    <p:sldId id="504" r:id="rId15"/>
    <p:sldId id="5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Повторения на блокове код" id="{BF5980E3-F464-483D-9000-38E80664EE51}">
          <p14:sldIdLst>
            <p14:sldId id="587"/>
            <p14:sldId id="588"/>
            <p14:sldId id="589"/>
          </p14:sldIdLst>
        </p14:section>
        <p14:section name="For цикъл" id="{79844777-EA03-4D98-BC99-1375DEB14421}">
          <p14:sldIdLst>
            <p14:sldId id="590"/>
            <p14:sldId id="591"/>
            <p14:sldId id="596"/>
            <p14:sldId id="593"/>
            <p14:sldId id="594"/>
            <p14:sldId id="595"/>
            <p14:sldId id="597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ADFF4B7-D99E-4EF4-B1CE-7D21D8D454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1864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ADFF4B7-D99E-4EF4-B1CE-7D21D8D454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23008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6" y="1629000"/>
            <a:ext cx="11083636" cy="918803"/>
          </a:xfrm>
        </p:spPr>
        <p:txBody>
          <a:bodyPr>
            <a:normAutofit/>
          </a:bodyPr>
          <a:lstStyle/>
          <a:p>
            <a:r>
              <a:rPr lang="ru-RU" dirty="0"/>
              <a:t>Повторения с </a:t>
            </a:r>
            <a:r>
              <a:rPr lang="en-US" dirty="0"/>
              <a:t>For 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1455014"/>
          </a:xfrm>
        </p:spPr>
        <p:txBody>
          <a:bodyPr>
            <a:normAutofit fontScale="90000"/>
          </a:bodyPr>
          <a:lstStyle/>
          <a:p>
            <a:r>
              <a:rPr lang="bg-BG" dirty="0"/>
              <a:t>Реализиране на цикличен алгоритъм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2" b="177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r>
              <a:rPr lang="bg-BG" dirty="0"/>
              <a:t>͏</a:t>
            </a:r>
            <a:r>
              <a:rPr lang="bg-BG" b="1" dirty="0">
                <a:cs typeface="Calibri" panose="020F0502020204030204" pitchFamily="34" charset="0"/>
              </a:rPr>
              <a:t>Повторения</a:t>
            </a:r>
            <a:r>
              <a:rPr lang="bg-BG" dirty="0">
                <a:cs typeface="Calibri" panose="020F0502020204030204" pitchFamily="34" charset="0"/>
              </a:rPr>
              <a:t> на </a:t>
            </a:r>
            <a:r>
              <a:rPr lang="bg-BG" b="1" dirty="0">
                <a:cs typeface="Calibri" panose="020F0502020204030204" pitchFamily="34" charset="0"/>
              </a:rPr>
              <a:t>блокове код</a:t>
            </a:r>
          </a:p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For</a:t>
            </a:r>
            <a:r>
              <a:rPr lang="bg-BG" dirty="0"/>
              <a:t> цикъл</a:t>
            </a:r>
          </a:p>
          <a:p>
            <a:pPr lvl="1"/>
            <a:r>
              <a:rPr lang="bg-BG" dirty="0"/>
              <a:t>Конструкция</a:t>
            </a:r>
          </a:p>
          <a:p>
            <a:pPr lvl="1"/>
            <a:r>
              <a:rPr lang="bg-BG" dirty="0"/>
              <a:t>Цикли със </a:t>
            </a:r>
            <a:r>
              <a:rPr lang="bg-BG" b="1" dirty="0"/>
              <a:t>стъпка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9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Какво е цикъл?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>
                <a:cs typeface="Calibri" panose="020F0502020204030204" pitchFamily="34" charset="0"/>
              </a:rPr>
              <a:t>Повторения на блокове код</a:t>
            </a:r>
            <a:endParaRPr lang="en-US" dirty="0"/>
          </a:p>
        </p:txBody>
      </p:sp>
      <p:pic>
        <p:nvPicPr>
          <p:cNvPr id="1026" name="Picture 2" descr="Cycle Generic Outline Color icon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000" y="1297374"/>
            <a:ext cx="2475000" cy="24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73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216748" cy="5528766"/>
          </a:xfrm>
        </p:spPr>
        <p:txBody>
          <a:bodyPr/>
          <a:lstStyle/>
          <a:p>
            <a:r>
              <a:rPr lang="bg-BG" sz="3200" dirty="0"/>
              <a:t>Често ни се налага да </a:t>
            </a:r>
            <a:r>
              <a:rPr lang="bg-BG" sz="3200" b="1" dirty="0">
                <a:solidFill>
                  <a:schemeClr val="bg1"/>
                </a:solidFill>
              </a:rPr>
              <a:t>повтаряме</a:t>
            </a:r>
            <a:r>
              <a:rPr lang="bg-BG" sz="3200" dirty="0"/>
              <a:t> едно и също действие </a:t>
            </a:r>
            <a:r>
              <a:rPr lang="bg-BG" sz="3200" b="1" dirty="0">
                <a:solidFill>
                  <a:schemeClr val="bg1"/>
                </a:solidFill>
              </a:rPr>
              <a:t>многократно</a:t>
            </a:r>
          </a:p>
          <a:p>
            <a:r>
              <a:rPr lang="bg-BG" dirty="0"/>
              <a:t>Когато сме абитуриенти, броим до 12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цикъл? (1)</a:t>
            </a:r>
            <a:endParaRPr lang="en-US" dirty="0"/>
          </a:p>
        </p:txBody>
      </p:sp>
      <p:pic>
        <p:nvPicPr>
          <p:cNvPr id="31" name="Картина 5">
            <a:extLst>
              <a:ext uri="{FF2B5EF4-FFF2-40B4-BE49-F238E27FC236}">
                <a16:creationId xmlns:a16="http://schemas.microsoft.com/office/drawing/2014/main" id="{1F2DD9C8-BA4F-491F-BD89-D3504A5851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3688206"/>
            <a:ext cx="2530794" cy="2530794"/>
          </a:xfrm>
          <a:prstGeom prst="rect">
            <a:avLst/>
          </a:prstGeom>
        </p:spPr>
      </p:pic>
      <p:grpSp>
        <p:nvGrpSpPr>
          <p:cNvPr id="32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874000" y="5243956"/>
            <a:ext cx="1257216" cy="778597"/>
            <a:chOff x="5213760" y="4570824"/>
            <a:chExt cx="3375809" cy="2438818"/>
          </a:xfrm>
        </p:grpSpPr>
        <p:sp>
          <p:nvSpPr>
            <p:cNvPr id="33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41848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5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118350" y="4266056"/>
            <a:ext cx="1257216" cy="778597"/>
            <a:chOff x="5213760" y="4570824"/>
            <a:chExt cx="3375809" cy="2438818"/>
          </a:xfrm>
        </p:grpSpPr>
        <p:sp>
          <p:nvSpPr>
            <p:cNvPr id="36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2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8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229600" y="3866006"/>
            <a:ext cx="1257216" cy="778597"/>
            <a:chOff x="5213760" y="4570824"/>
            <a:chExt cx="3375809" cy="2438818"/>
          </a:xfrm>
        </p:grpSpPr>
        <p:sp>
          <p:nvSpPr>
            <p:cNvPr id="39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3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1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162800" y="3110356"/>
            <a:ext cx="1257216" cy="778597"/>
            <a:chOff x="5213760" y="4570824"/>
            <a:chExt cx="3375809" cy="2438818"/>
          </a:xfrm>
        </p:grpSpPr>
        <p:sp>
          <p:nvSpPr>
            <p:cNvPr id="42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4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4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496300" y="2932556"/>
            <a:ext cx="1257216" cy="778597"/>
            <a:chOff x="5213760" y="4570824"/>
            <a:chExt cx="3375809" cy="2438818"/>
          </a:xfrm>
        </p:grpSpPr>
        <p:sp>
          <p:nvSpPr>
            <p:cNvPr id="45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5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7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518400" y="2088006"/>
            <a:ext cx="1257216" cy="778597"/>
            <a:chOff x="5213760" y="4570824"/>
            <a:chExt cx="3375809" cy="2438818"/>
          </a:xfrm>
        </p:grpSpPr>
        <p:sp>
          <p:nvSpPr>
            <p:cNvPr id="48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6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50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540750" y="1776856"/>
            <a:ext cx="1346116" cy="778597"/>
            <a:chOff x="4975050" y="4570824"/>
            <a:chExt cx="3614519" cy="2438818"/>
          </a:xfrm>
        </p:grpSpPr>
        <p:sp>
          <p:nvSpPr>
            <p:cNvPr id="5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497505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…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53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9918700" y="2195956"/>
            <a:ext cx="1365166" cy="778597"/>
            <a:chOff x="4923898" y="4570824"/>
            <a:chExt cx="3665671" cy="2438818"/>
          </a:xfrm>
        </p:grpSpPr>
        <p:sp>
          <p:nvSpPr>
            <p:cNvPr id="54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4923898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12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758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CC26-1871-4B04-BD45-876727DE8C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81000" y="5389525"/>
            <a:ext cx="4636913" cy="1233772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for i in range(1, 13):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bg-BG" sz="2800" dirty="0"/>
              <a:t>  </a:t>
            </a:r>
            <a:r>
              <a:rPr lang="en-US" sz="2800" dirty="0"/>
              <a:t>print(</a:t>
            </a:r>
            <a:r>
              <a:rPr lang="en-US" sz="2800" dirty="0" err="1"/>
              <a:t>i</a:t>
            </a:r>
            <a:r>
              <a:rPr lang="en-US" sz="2800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DC080-6327-4781-804B-87B693B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0" dirty="0"/>
              <a:t>Какво е цикъл? (2)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71890CD-6E8A-430D-98D2-4E64EC63BEB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5DC53F2-A90C-4631-855D-B535CBB2D35B}"/>
              </a:ext>
            </a:extLst>
          </p:cNvPr>
          <p:cNvSpPr txBox="1">
            <a:spLocks/>
          </p:cNvSpPr>
          <p:nvPr/>
        </p:nvSpPr>
        <p:spPr>
          <a:xfrm>
            <a:off x="190501" y="1196126"/>
            <a:ext cx="6234460" cy="3132874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/>
          <a:p>
            <a:pPr marL="456915" marR="0" lvl="0" indent="-456915" algn="l" defTabSz="1218438" rtl="0" eaLnBrk="0" fontAlgn="auto" latinLnBrk="0" hangingPunct="0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bg-BG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Циклите в програмирането ни позволяват да повтаряме </a:t>
            </a:r>
            <a:r>
              <a:rPr kumimoji="0" lang="bg-BG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едни и същи действия </a:t>
            </a:r>
            <a:r>
              <a:rPr kumimoji="0" lang="bg-BG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определен брой пъти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556CC26-1871-4B04-BD45-876727DE8C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4525" y="4219974"/>
            <a:ext cx="3731475" cy="2403323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nn-NO" dirty="0"/>
              <a:t>i = 1</a:t>
            </a:r>
          </a:p>
          <a:p>
            <a:pPr>
              <a:lnSpc>
                <a:spcPct val="100000"/>
              </a:lnSpc>
            </a:pPr>
            <a:r>
              <a:rPr lang="nn-NO" dirty="0"/>
              <a:t>while i &lt; 13:</a:t>
            </a:r>
          </a:p>
          <a:p>
            <a:pPr>
              <a:lnSpc>
                <a:spcPct val="100000"/>
              </a:lnSpc>
            </a:pPr>
            <a:r>
              <a:rPr lang="nn-NO" dirty="0"/>
              <a:t>  print(i)</a:t>
            </a:r>
          </a:p>
          <a:p>
            <a:pPr>
              <a:lnSpc>
                <a:spcPct val="100000"/>
              </a:lnSpc>
            </a:pPr>
            <a:r>
              <a:rPr lang="nn-NO" dirty="0"/>
              <a:t>  i += 1</a:t>
            </a:r>
            <a:endParaRPr lang="en-US" sz="2800" dirty="0"/>
          </a:p>
        </p:txBody>
      </p:sp>
      <p:grpSp>
        <p:nvGrpSpPr>
          <p:cNvPr id="79" name="Group 78"/>
          <p:cNvGrpSpPr/>
          <p:nvPr/>
        </p:nvGrpSpPr>
        <p:grpSpPr>
          <a:xfrm>
            <a:off x="6517258" y="1269000"/>
            <a:ext cx="5049662" cy="3780000"/>
            <a:chOff x="6697186" y="1269000"/>
            <a:chExt cx="5027842" cy="3960000"/>
          </a:xfrm>
        </p:grpSpPr>
        <p:sp>
          <p:nvSpPr>
            <p:cNvPr id="2" name="Flowchart: Data 1"/>
            <p:cNvSpPr/>
            <p:nvPr/>
          </p:nvSpPr>
          <p:spPr bwMode="auto">
            <a:xfrm>
              <a:off x="7003048" y="4755232"/>
              <a:ext cx="1721084" cy="473768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6776425" y="1269000"/>
              <a:ext cx="2174330" cy="778298"/>
            </a:xfrm>
            <a:prstGeom prst="ellipse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bg-BG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6905027" y="2387234"/>
              <a:ext cx="1926639" cy="537753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 = 1</a:t>
              </a:r>
            </a:p>
          </p:txBody>
        </p:sp>
        <p:sp>
          <p:nvSpPr>
            <p:cNvPr id="28" name="Oval 27"/>
            <p:cNvSpPr/>
            <p:nvPr/>
          </p:nvSpPr>
          <p:spPr bwMode="auto">
            <a:xfrm>
              <a:off x="9723720" y="3484832"/>
              <a:ext cx="2001308" cy="784794"/>
            </a:xfrm>
            <a:prstGeom prst="ellipse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bg-BG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Край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Diamond 4"/>
            <p:cNvSpPr/>
            <p:nvPr/>
          </p:nvSpPr>
          <p:spPr bwMode="auto">
            <a:xfrm>
              <a:off x="6697186" y="3290784"/>
              <a:ext cx="2332808" cy="1172889"/>
            </a:xfrm>
            <a:prstGeom prst="diamond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 &lt; 13</a:t>
              </a:r>
            </a:p>
          </p:txBody>
        </p:sp>
        <p:cxnSp>
          <p:nvCxnSpPr>
            <p:cNvPr id="30" name="Straight Arrow Connector 29"/>
            <p:cNvCxnSpPr>
              <a:stCxn id="26" idx="4"/>
              <a:endCxn id="27" idx="0"/>
            </p:cNvCxnSpPr>
            <p:nvPr/>
          </p:nvCxnSpPr>
          <p:spPr>
            <a:xfrm>
              <a:off x="7863590" y="2047298"/>
              <a:ext cx="4756" cy="33993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7" idx="2"/>
              <a:endCxn id="5" idx="0"/>
            </p:cNvCxnSpPr>
            <p:nvPr/>
          </p:nvCxnSpPr>
          <p:spPr>
            <a:xfrm flipH="1">
              <a:off x="7863590" y="2924987"/>
              <a:ext cx="4756" cy="36579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5" idx="2"/>
              <a:endCxn id="2" idx="1"/>
            </p:cNvCxnSpPr>
            <p:nvPr/>
          </p:nvCxnSpPr>
          <p:spPr>
            <a:xfrm>
              <a:off x="7863590" y="4463673"/>
              <a:ext cx="1" cy="29155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2" idx="2"/>
              <a:endCxn id="5" idx="1"/>
            </p:cNvCxnSpPr>
            <p:nvPr/>
          </p:nvCxnSpPr>
          <p:spPr>
            <a:xfrm rot="10800000">
              <a:off x="6697187" y="3877230"/>
              <a:ext cx="477971" cy="1114888"/>
            </a:xfrm>
            <a:prstGeom prst="bentConnector3">
              <a:avLst>
                <a:gd name="adj1" fmla="val 147621"/>
              </a:avLst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5" idx="3"/>
              <a:endCxn id="28" idx="2"/>
            </p:cNvCxnSpPr>
            <p:nvPr/>
          </p:nvCxnSpPr>
          <p:spPr>
            <a:xfrm>
              <a:off x="9029994" y="3877229"/>
              <a:ext cx="69372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Box 36">
              <a:extLst>
                <a:ext uri="{FF2B5EF4-FFF2-40B4-BE49-F238E27FC236}">
                  <a16:creationId xmlns:a16="http://schemas.microsoft.com/office/drawing/2014/main" id="{951D766D-A451-4072-A48C-3FE65D7D0FE7}"/>
                </a:ext>
              </a:extLst>
            </p:cNvPr>
            <p:cNvSpPr txBox="1"/>
            <p:nvPr/>
          </p:nvSpPr>
          <p:spPr>
            <a:xfrm>
              <a:off x="7872734" y="4271324"/>
              <a:ext cx="675441" cy="4788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2000" dirty="0"/>
                <a:t>true</a:t>
              </a:r>
              <a:endParaRPr lang="en-US" sz="2400" dirty="0"/>
            </a:p>
          </p:txBody>
        </p:sp>
        <p:sp>
          <p:nvSpPr>
            <p:cNvPr id="78" name="TextBox 29">
              <a:extLst>
                <a:ext uri="{FF2B5EF4-FFF2-40B4-BE49-F238E27FC236}">
                  <a16:creationId xmlns:a16="http://schemas.microsoft.com/office/drawing/2014/main" id="{D856292C-764E-4006-AA7A-9896076EBDBC}"/>
                </a:ext>
              </a:extLst>
            </p:cNvPr>
            <p:cNvSpPr txBox="1"/>
            <p:nvPr/>
          </p:nvSpPr>
          <p:spPr>
            <a:xfrm>
              <a:off x="8974584" y="3348784"/>
              <a:ext cx="843005" cy="51553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dirty="0"/>
                <a:t>false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9621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25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Конструкция и употреба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10" name="Текстово поле 2"/>
          <p:cNvSpPr txBox="1"/>
          <p:nvPr/>
        </p:nvSpPr>
        <p:spPr>
          <a:xfrm>
            <a:off x="5188365" y="1944000"/>
            <a:ext cx="1815269" cy="1369707"/>
          </a:xfrm>
          <a:prstGeom prst="rect">
            <a:avLst/>
          </a:prstGeom>
          <a:solidFill>
            <a:schemeClr val="tx1">
              <a:alpha val="15000"/>
            </a:schemeClr>
          </a:solidFill>
          <a:ln w="12700">
            <a:noFill/>
          </a:ln>
        </p:spPr>
        <p:txBody>
          <a:bodyPr vert="horz" wrap="none" lIns="144000" tIns="108000" rIns="144000" bIns="108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7200" b="1" dirty="0">
                <a:solidFill>
                  <a:schemeClr val="bg2"/>
                </a:solidFill>
                <a:latin typeface="Consolas" panose="020B0609020204030204" pitchFamily="49" charset="0"/>
              </a:rPr>
              <a:t>for</a:t>
            </a:r>
            <a:endParaRPr lang="bg-BG" sz="72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85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/>
              <a:t>Можем да повтаряме действия до определен момент чрез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bg-BG" sz="3600" dirty="0"/>
              <a:t>цикли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bg-BG" dirty="0"/>
              <a:t>цикъл – конструкция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160200" y="3763563"/>
            <a:ext cx="4891600" cy="112646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i in range(1, 13):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print(i)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41475" y="2737801"/>
            <a:ext cx="2610000" cy="919401"/>
          </a:xfrm>
          <a:prstGeom prst="wedgeRoundRectCallout">
            <a:avLst>
              <a:gd name="adj1" fmla="val 48189"/>
              <a:gd name="adj2" fmla="val 8839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Ключова дума за конструкцията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5671350" y="2407039"/>
            <a:ext cx="1696890" cy="919401"/>
          </a:xfrm>
          <a:prstGeom prst="wedgeRoundRectCallout">
            <a:avLst>
              <a:gd name="adj1" fmla="val -17163"/>
              <a:gd name="adj2" fmla="val 10077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Начална стойност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7703350" y="2632485"/>
            <a:ext cx="1531200" cy="1328023"/>
          </a:xfrm>
          <a:prstGeom prst="wedgeRoundRectCallout">
            <a:avLst>
              <a:gd name="adj1" fmla="val -88451"/>
              <a:gd name="adj2" fmla="val 465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Крайна стойност</a:t>
            </a: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+1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81F5B2A-8734-4182-91B3-97107A839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950" y="5164599"/>
            <a:ext cx="4444050" cy="919401"/>
          </a:xfrm>
          <a:prstGeom prst="wedgeRoundRectCallout">
            <a:avLst>
              <a:gd name="adj1" fmla="val -32776"/>
              <a:gd name="adj2" fmla="val -7126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Тяло на цикъла: блок от код за </a:t>
            </a:r>
            <a:b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повторение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CE1933-0A7A-48D9-BE72-024204F972C3}"/>
              </a:ext>
            </a:extLst>
          </p:cNvPr>
          <p:cNvSpPr/>
          <p:nvPr/>
        </p:nvSpPr>
        <p:spPr>
          <a:xfrm>
            <a:off x="3880650" y="4376744"/>
            <a:ext cx="1828800" cy="432876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0DD79F17-0055-4CB2-9B37-E4ECAD551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3560754" y="2524014"/>
            <a:ext cx="1751550" cy="919401"/>
          </a:xfrm>
          <a:prstGeom prst="wedgeRoundRectCallout">
            <a:avLst>
              <a:gd name="adj1" fmla="val -17034"/>
              <a:gd name="adj2" fmla="val 9047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Брояч на цикъла</a:t>
            </a:r>
          </a:p>
        </p:txBody>
      </p:sp>
    </p:spTree>
    <p:extLst>
      <p:ext uri="{BB962C8B-B14F-4D97-AF65-F5344CB8AC3E}">
        <p14:creationId xmlns:p14="http://schemas.microsoft.com/office/powerpoint/2010/main" val="34870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Scratch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bg-BG" dirty="0"/>
              <a:t>цикъл – </a:t>
            </a:r>
            <a:r>
              <a:rPr lang="en-US" dirty="0"/>
              <a:t>Scratch </a:t>
            </a:r>
            <a:r>
              <a:rPr lang="bg-BG" dirty="0"/>
              <a:t>срещу </a:t>
            </a:r>
            <a:r>
              <a:rPr lang="en-US" dirty="0"/>
              <a:t>Python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92" y="2079000"/>
            <a:ext cx="3614072" cy="3535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61000" y="3263644"/>
            <a:ext cx="4275000" cy="116606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for i in range(10):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  print("</a:t>
            </a:r>
            <a:r>
              <a:rPr lang="bg-BG" sz="2800" b="1" dirty="0">
                <a:latin typeface="Consolas" panose="020B0609020204030204" pitchFamily="49" charset="0"/>
              </a:rPr>
              <a:t>Здравей!")</a:t>
            </a:r>
            <a:endParaRPr lang="en-US" sz="2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45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/>
              <a:t>Можем да използваме </a:t>
            </a:r>
            <a:r>
              <a:rPr lang="bg-BG" sz="3600" b="1" dirty="0">
                <a:solidFill>
                  <a:schemeClr val="bg1"/>
                </a:solidFill>
              </a:rPr>
              <a:t>стъпка</a:t>
            </a:r>
            <a:r>
              <a:rPr lang="bg-BG" sz="3600" dirty="0"/>
              <a:t>, ако искаме да променяме стойността на </a:t>
            </a:r>
            <a:r>
              <a:rPr lang="en-GB" sz="3600" b="1" dirty="0"/>
              <a:t>i</a:t>
            </a:r>
            <a:r>
              <a:rPr lang="en-GB" sz="3600" dirty="0"/>
              <a:t> </a:t>
            </a:r>
            <a:r>
              <a:rPr lang="bg-BG" sz="3600" dirty="0"/>
              <a:t>със стойност различна от </a:t>
            </a:r>
            <a:r>
              <a:rPr lang="bg-BG" sz="3600" b="1" dirty="0"/>
              <a:t>1</a:t>
            </a:r>
            <a:endParaRPr lang="en-US" sz="3600" b="1" dirty="0"/>
          </a:p>
          <a:p>
            <a:pPr>
              <a:lnSpc>
                <a:spcPct val="100000"/>
              </a:lnSpc>
            </a:pP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endParaRPr lang="bg-BG" sz="3600" dirty="0"/>
          </a:p>
          <a:p>
            <a:pPr>
              <a:lnSpc>
                <a:spcPct val="100000"/>
              </a:lnSpc>
            </a:pPr>
            <a:r>
              <a:rPr lang="bg-BG" sz="3600" dirty="0"/>
              <a:t>Стъпката може да бъде </a:t>
            </a:r>
            <a:r>
              <a:rPr lang="bg-BG" sz="3600" b="1" dirty="0"/>
              <a:t>негативна</a:t>
            </a:r>
          </a:p>
          <a:p>
            <a:pPr>
              <a:lnSpc>
                <a:spcPct val="100000"/>
              </a:lnSpc>
            </a:pPr>
            <a:endParaRPr lang="bg-BG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bg-BG" dirty="0"/>
              <a:t> цикъл</a:t>
            </a:r>
            <a:r>
              <a:rPr lang="en-GB" dirty="0"/>
              <a:t> </a:t>
            </a:r>
            <a:r>
              <a:rPr lang="bg-BG" dirty="0"/>
              <a:t>със стъпка</a:t>
            </a:r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0DD79F17-0055-4CB2-9B37-E4ECAD551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04ADCFB-31A8-4B9D-96E4-5AF942C98907}"/>
              </a:ext>
            </a:extLst>
          </p:cNvPr>
          <p:cNvSpPr txBox="1">
            <a:spLocks/>
          </p:cNvSpPr>
          <p:nvPr/>
        </p:nvSpPr>
        <p:spPr>
          <a:xfrm>
            <a:off x="700394" y="4648830"/>
            <a:ext cx="5755606" cy="117221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solidFill>
                  <a:schemeClr val="tx1"/>
                </a:solidFill>
              </a:rPr>
              <a:t>for </a:t>
            </a:r>
            <a:r>
              <a:rPr lang="en-US" sz="2600" dirty="0">
                <a:solidFill>
                  <a:schemeClr val="bg1"/>
                </a:solidFill>
              </a:rPr>
              <a:t>i</a:t>
            </a:r>
            <a:r>
              <a:rPr lang="en-US" sz="2600" dirty="0">
                <a:solidFill>
                  <a:schemeClr val="tx1"/>
                </a:solidFill>
              </a:rPr>
              <a:t> in </a:t>
            </a:r>
            <a:r>
              <a:rPr lang="en-US" sz="2600" dirty="0">
                <a:solidFill>
                  <a:schemeClr val="bg1"/>
                </a:solidFill>
              </a:rPr>
              <a:t>range(11, 0, -2)</a:t>
            </a:r>
            <a:r>
              <a:rPr lang="en-US" sz="2600" dirty="0">
                <a:solidFill>
                  <a:schemeClr val="tx1"/>
                </a:solidFill>
              </a:rPr>
              <a:t>:</a:t>
            </a:r>
          </a:p>
          <a:p>
            <a:r>
              <a:rPr lang="en-US" sz="2600" dirty="0">
                <a:solidFill>
                  <a:schemeClr val="tx1"/>
                </a:solidFill>
              </a:rPr>
              <a:t>  print(</a:t>
            </a:r>
            <a:r>
              <a:rPr lang="en-US" sz="2600" dirty="0">
                <a:solidFill>
                  <a:schemeClr val="bg1"/>
                </a:solidFill>
              </a:rPr>
              <a:t>i</a:t>
            </a:r>
            <a:r>
              <a:rPr lang="en-US" sz="2600" dirty="0">
                <a:solidFill>
                  <a:schemeClr val="tx1"/>
                </a:solidFill>
              </a:rPr>
              <a:t>,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>
                <a:solidFill>
                  <a:schemeClr val="tx1"/>
                </a:solidFill>
              </a:rPr>
              <a:t>end=" ")</a:t>
            </a:r>
            <a:endParaRPr lang="en-US" sz="2600" i="1" dirty="0">
              <a:solidFill>
                <a:schemeClr val="accent2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5543390-1A99-4B3C-B3E7-B3AB8E189F68}"/>
              </a:ext>
            </a:extLst>
          </p:cNvPr>
          <p:cNvSpPr txBox="1">
            <a:spLocks/>
          </p:cNvSpPr>
          <p:nvPr/>
        </p:nvSpPr>
        <p:spPr>
          <a:xfrm>
            <a:off x="703089" y="2572770"/>
            <a:ext cx="5752911" cy="117221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solidFill>
                  <a:schemeClr val="tx1"/>
                </a:solidFill>
              </a:rPr>
              <a:t>for </a:t>
            </a:r>
            <a:r>
              <a:rPr lang="en-US" sz="2600" dirty="0">
                <a:solidFill>
                  <a:schemeClr val="bg1"/>
                </a:solidFill>
              </a:rPr>
              <a:t>i</a:t>
            </a:r>
            <a:r>
              <a:rPr lang="en-US" sz="2600" dirty="0">
                <a:solidFill>
                  <a:schemeClr val="tx1"/>
                </a:solidFill>
              </a:rPr>
              <a:t> in </a:t>
            </a:r>
            <a:r>
              <a:rPr lang="en-US" sz="2600" dirty="0">
                <a:solidFill>
                  <a:schemeClr val="bg1"/>
                </a:solidFill>
              </a:rPr>
              <a:t>range(2, 11, 2)</a:t>
            </a:r>
            <a:r>
              <a:rPr lang="en-US" sz="2600" dirty="0">
                <a:solidFill>
                  <a:schemeClr val="tx1"/>
                </a:solidFill>
              </a:rPr>
              <a:t>:</a:t>
            </a:r>
          </a:p>
          <a:p>
            <a:r>
              <a:rPr lang="en-US" sz="2600" dirty="0">
                <a:solidFill>
                  <a:schemeClr val="tx1"/>
                </a:solidFill>
              </a:rPr>
              <a:t>  print(</a:t>
            </a:r>
            <a:r>
              <a:rPr lang="en-US" sz="2600" dirty="0">
                <a:solidFill>
                  <a:schemeClr val="bg1"/>
                </a:solidFill>
              </a:rPr>
              <a:t>i</a:t>
            </a:r>
            <a:r>
              <a:rPr lang="en-US" sz="2600" dirty="0">
                <a:solidFill>
                  <a:schemeClr val="tx1"/>
                </a:solidFill>
              </a:rPr>
              <a:t>) </a:t>
            </a:r>
            <a:endParaRPr lang="bg-BG" sz="2600" dirty="0">
              <a:solidFill>
                <a:schemeClr val="tx1"/>
              </a:solidFill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34ADE829-7648-48C9-B1D8-0B729370A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732" y="3183250"/>
            <a:ext cx="4359910" cy="492443"/>
          </a:xfrm>
          <a:custGeom>
            <a:avLst/>
            <a:gdLst>
              <a:gd name="connsiteX0" fmla="*/ 0 w 2133600"/>
              <a:gd name="connsiteY0" fmla="*/ 175938 h 1055608"/>
              <a:gd name="connsiteX1" fmla="*/ 51531 w 2133600"/>
              <a:gd name="connsiteY1" fmla="*/ 51531 h 1055608"/>
              <a:gd name="connsiteX2" fmla="*/ 175938 w 2133600"/>
              <a:gd name="connsiteY2" fmla="*/ 0 h 1055608"/>
              <a:gd name="connsiteX3" fmla="*/ 355600 w 2133600"/>
              <a:gd name="connsiteY3" fmla="*/ 0 h 1055608"/>
              <a:gd name="connsiteX4" fmla="*/ 355600 w 2133600"/>
              <a:gd name="connsiteY4" fmla="*/ 0 h 1055608"/>
              <a:gd name="connsiteX5" fmla="*/ 889000 w 2133600"/>
              <a:gd name="connsiteY5" fmla="*/ 0 h 1055608"/>
              <a:gd name="connsiteX6" fmla="*/ 1957662 w 2133600"/>
              <a:gd name="connsiteY6" fmla="*/ 0 h 1055608"/>
              <a:gd name="connsiteX7" fmla="*/ 2082069 w 2133600"/>
              <a:gd name="connsiteY7" fmla="*/ 51531 h 1055608"/>
              <a:gd name="connsiteX8" fmla="*/ 2133600 w 2133600"/>
              <a:gd name="connsiteY8" fmla="*/ 175938 h 1055608"/>
              <a:gd name="connsiteX9" fmla="*/ 2133600 w 2133600"/>
              <a:gd name="connsiteY9" fmla="*/ 175935 h 1055608"/>
              <a:gd name="connsiteX10" fmla="*/ 2133600 w 2133600"/>
              <a:gd name="connsiteY10" fmla="*/ 175935 h 1055608"/>
              <a:gd name="connsiteX11" fmla="*/ 2133600 w 2133600"/>
              <a:gd name="connsiteY11" fmla="*/ 439837 h 1055608"/>
              <a:gd name="connsiteX12" fmla="*/ 2133600 w 2133600"/>
              <a:gd name="connsiteY12" fmla="*/ 879670 h 1055608"/>
              <a:gd name="connsiteX13" fmla="*/ 2082069 w 2133600"/>
              <a:gd name="connsiteY13" fmla="*/ 1004077 h 1055608"/>
              <a:gd name="connsiteX14" fmla="*/ 1957662 w 2133600"/>
              <a:gd name="connsiteY14" fmla="*/ 1055608 h 1055608"/>
              <a:gd name="connsiteX15" fmla="*/ 889000 w 2133600"/>
              <a:gd name="connsiteY15" fmla="*/ 1055608 h 1055608"/>
              <a:gd name="connsiteX16" fmla="*/ 355600 w 2133600"/>
              <a:gd name="connsiteY16" fmla="*/ 1055608 h 1055608"/>
              <a:gd name="connsiteX17" fmla="*/ 355600 w 2133600"/>
              <a:gd name="connsiteY17" fmla="*/ 1055608 h 1055608"/>
              <a:gd name="connsiteX18" fmla="*/ 175938 w 2133600"/>
              <a:gd name="connsiteY18" fmla="*/ 1055608 h 1055608"/>
              <a:gd name="connsiteX19" fmla="*/ 51531 w 2133600"/>
              <a:gd name="connsiteY19" fmla="*/ 1004077 h 1055608"/>
              <a:gd name="connsiteX20" fmla="*/ 0 w 2133600"/>
              <a:gd name="connsiteY20" fmla="*/ 879670 h 1055608"/>
              <a:gd name="connsiteX21" fmla="*/ 0 w 2133600"/>
              <a:gd name="connsiteY21" fmla="*/ 439837 h 1055608"/>
              <a:gd name="connsiteX22" fmla="*/ -587658 w 2133600"/>
              <a:gd name="connsiteY22" fmla="*/ 396877 h 1055608"/>
              <a:gd name="connsiteX23" fmla="*/ 0 w 2133600"/>
              <a:gd name="connsiteY23" fmla="*/ 175935 h 1055608"/>
              <a:gd name="connsiteX24" fmla="*/ 0 w 2133600"/>
              <a:gd name="connsiteY24" fmla="*/ 175938 h 1055608"/>
              <a:gd name="connsiteX0" fmla="*/ 0 w 2133600"/>
              <a:gd name="connsiteY0" fmla="*/ 175938 h 1055608"/>
              <a:gd name="connsiteX1" fmla="*/ 51531 w 2133600"/>
              <a:gd name="connsiteY1" fmla="*/ 51531 h 1055608"/>
              <a:gd name="connsiteX2" fmla="*/ 175938 w 2133600"/>
              <a:gd name="connsiteY2" fmla="*/ 0 h 1055608"/>
              <a:gd name="connsiteX3" fmla="*/ 355600 w 2133600"/>
              <a:gd name="connsiteY3" fmla="*/ 0 h 1055608"/>
              <a:gd name="connsiteX4" fmla="*/ 355600 w 2133600"/>
              <a:gd name="connsiteY4" fmla="*/ 0 h 1055608"/>
              <a:gd name="connsiteX5" fmla="*/ 889000 w 2133600"/>
              <a:gd name="connsiteY5" fmla="*/ 0 h 1055608"/>
              <a:gd name="connsiteX6" fmla="*/ 1957662 w 2133600"/>
              <a:gd name="connsiteY6" fmla="*/ 0 h 1055608"/>
              <a:gd name="connsiteX7" fmla="*/ 2082069 w 2133600"/>
              <a:gd name="connsiteY7" fmla="*/ 51531 h 1055608"/>
              <a:gd name="connsiteX8" fmla="*/ 2133600 w 2133600"/>
              <a:gd name="connsiteY8" fmla="*/ 175938 h 1055608"/>
              <a:gd name="connsiteX9" fmla="*/ 2133600 w 2133600"/>
              <a:gd name="connsiteY9" fmla="*/ 175935 h 1055608"/>
              <a:gd name="connsiteX10" fmla="*/ 2133600 w 2133600"/>
              <a:gd name="connsiteY10" fmla="*/ 175935 h 1055608"/>
              <a:gd name="connsiteX11" fmla="*/ 2133600 w 2133600"/>
              <a:gd name="connsiteY11" fmla="*/ 439837 h 1055608"/>
              <a:gd name="connsiteX12" fmla="*/ 2133600 w 2133600"/>
              <a:gd name="connsiteY12" fmla="*/ 879670 h 1055608"/>
              <a:gd name="connsiteX13" fmla="*/ 2082069 w 2133600"/>
              <a:gd name="connsiteY13" fmla="*/ 1004077 h 1055608"/>
              <a:gd name="connsiteX14" fmla="*/ 1957662 w 2133600"/>
              <a:gd name="connsiteY14" fmla="*/ 1055608 h 1055608"/>
              <a:gd name="connsiteX15" fmla="*/ 889000 w 2133600"/>
              <a:gd name="connsiteY15" fmla="*/ 1055608 h 1055608"/>
              <a:gd name="connsiteX16" fmla="*/ 355600 w 2133600"/>
              <a:gd name="connsiteY16" fmla="*/ 1055608 h 1055608"/>
              <a:gd name="connsiteX17" fmla="*/ 355600 w 2133600"/>
              <a:gd name="connsiteY17" fmla="*/ 1055608 h 1055608"/>
              <a:gd name="connsiteX18" fmla="*/ 175938 w 2133600"/>
              <a:gd name="connsiteY18" fmla="*/ 1055608 h 1055608"/>
              <a:gd name="connsiteX19" fmla="*/ 51531 w 2133600"/>
              <a:gd name="connsiteY19" fmla="*/ 1004077 h 1055608"/>
              <a:gd name="connsiteX20" fmla="*/ 0 w 2133600"/>
              <a:gd name="connsiteY20" fmla="*/ 879670 h 1055608"/>
              <a:gd name="connsiteX21" fmla="*/ 0 w 2133600"/>
              <a:gd name="connsiteY21" fmla="*/ 439837 h 1055608"/>
              <a:gd name="connsiteX22" fmla="*/ 0 w 2133600"/>
              <a:gd name="connsiteY22" fmla="*/ 175935 h 1055608"/>
              <a:gd name="connsiteX23" fmla="*/ 0 w 2133600"/>
              <a:gd name="connsiteY23" fmla="*/ 175938 h 105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3600" h="1055608">
                <a:moveTo>
                  <a:pt x="0" y="175938"/>
                </a:moveTo>
                <a:cubicBezTo>
                  <a:pt x="0" y="129276"/>
                  <a:pt x="18536" y="84526"/>
                  <a:pt x="51531" y="51531"/>
                </a:cubicBezTo>
                <a:cubicBezTo>
                  <a:pt x="84526" y="18536"/>
                  <a:pt x="129276" y="0"/>
                  <a:pt x="175938" y="0"/>
                </a:cubicBezTo>
                <a:lnTo>
                  <a:pt x="355600" y="0"/>
                </a:lnTo>
                <a:lnTo>
                  <a:pt x="355600" y="0"/>
                </a:lnTo>
                <a:lnTo>
                  <a:pt x="889000" y="0"/>
                </a:lnTo>
                <a:lnTo>
                  <a:pt x="1957662" y="0"/>
                </a:lnTo>
                <a:cubicBezTo>
                  <a:pt x="2004324" y="0"/>
                  <a:pt x="2049074" y="18536"/>
                  <a:pt x="2082069" y="51531"/>
                </a:cubicBezTo>
                <a:cubicBezTo>
                  <a:pt x="2115064" y="84526"/>
                  <a:pt x="2133600" y="129276"/>
                  <a:pt x="2133600" y="175938"/>
                </a:cubicBezTo>
                <a:lnTo>
                  <a:pt x="2133600" y="175935"/>
                </a:lnTo>
                <a:lnTo>
                  <a:pt x="2133600" y="175935"/>
                </a:lnTo>
                <a:lnTo>
                  <a:pt x="2133600" y="439837"/>
                </a:lnTo>
                <a:lnTo>
                  <a:pt x="2133600" y="879670"/>
                </a:lnTo>
                <a:cubicBezTo>
                  <a:pt x="2133600" y="926332"/>
                  <a:pt x="2115064" y="971082"/>
                  <a:pt x="2082069" y="1004077"/>
                </a:cubicBezTo>
                <a:cubicBezTo>
                  <a:pt x="2049074" y="1037072"/>
                  <a:pt x="2004324" y="1055608"/>
                  <a:pt x="1957662" y="1055608"/>
                </a:cubicBezTo>
                <a:lnTo>
                  <a:pt x="889000" y="1055608"/>
                </a:lnTo>
                <a:lnTo>
                  <a:pt x="355600" y="1055608"/>
                </a:lnTo>
                <a:lnTo>
                  <a:pt x="355600" y="1055608"/>
                </a:lnTo>
                <a:lnTo>
                  <a:pt x="175938" y="1055608"/>
                </a:lnTo>
                <a:cubicBezTo>
                  <a:pt x="129276" y="1055608"/>
                  <a:pt x="84526" y="1037072"/>
                  <a:pt x="51531" y="1004077"/>
                </a:cubicBezTo>
                <a:cubicBezTo>
                  <a:pt x="18536" y="971082"/>
                  <a:pt x="0" y="926332"/>
                  <a:pt x="0" y="879670"/>
                </a:cubicBezTo>
                <a:lnTo>
                  <a:pt x="0" y="439837"/>
                </a:lnTo>
                <a:lnTo>
                  <a:pt x="0" y="175935"/>
                </a:lnTo>
                <a:lnTo>
                  <a:pt x="0" y="175938"/>
                </a:lnTo>
                <a:close/>
              </a:path>
            </a:pathLst>
          </a:cu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Задаване на стъпка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A3D0206E-586C-455D-B8CE-397C5F03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732" y="5280696"/>
            <a:ext cx="4359910" cy="492443"/>
          </a:xfrm>
          <a:custGeom>
            <a:avLst/>
            <a:gdLst>
              <a:gd name="connsiteX0" fmla="*/ 0 w 2133600"/>
              <a:gd name="connsiteY0" fmla="*/ 175938 h 1055608"/>
              <a:gd name="connsiteX1" fmla="*/ 51531 w 2133600"/>
              <a:gd name="connsiteY1" fmla="*/ 51531 h 1055608"/>
              <a:gd name="connsiteX2" fmla="*/ 175938 w 2133600"/>
              <a:gd name="connsiteY2" fmla="*/ 0 h 1055608"/>
              <a:gd name="connsiteX3" fmla="*/ 355600 w 2133600"/>
              <a:gd name="connsiteY3" fmla="*/ 0 h 1055608"/>
              <a:gd name="connsiteX4" fmla="*/ 355600 w 2133600"/>
              <a:gd name="connsiteY4" fmla="*/ 0 h 1055608"/>
              <a:gd name="connsiteX5" fmla="*/ 889000 w 2133600"/>
              <a:gd name="connsiteY5" fmla="*/ 0 h 1055608"/>
              <a:gd name="connsiteX6" fmla="*/ 1957662 w 2133600"/>
              <a:gd name="connsiteY6" fmla="*/ 0 h 1055608"/>
              <a:gd name="connsiteX7" fmla="*/ 2082069 w 2133600"/>
              <a:gd name="connsiteY7" fmla="*/ 51531 h 1055608"/>
              <a:gd name="connsiteX8" fmla="*/ 2133600 w 2133600"/>
              <a:gd name="connsiteY8" fmla="*/ 175938 h 1055608"/>
              <a:gd name="connsiteX9" fmla="*/ 2133600 w 2133600"/>
              <a:gd name="connsiteY9" fmla="*/ 175935 h 1055608"/>
              <a:gd name="connsiteX10" fmla="*/ 2133600 w 2133600"/>
              <a:gd name="connsiteY10" fmla="*/ 175935 h 1055608"/>
              <a:gd name="connsiteX11" fmla="*/ 2133600 w 2133600"/>
              <a:gd name="connsiteY11" fmla="*/ 439837 h 1055608"/>
              <a:gd name="connsiteX12" fmla="*/ 2133600 w 2133600"/>
              <a:gd name="connsiteY12" fmla="*/ 879670 h 1055608"/>
              <a:gd name="connsiteX13" fmla="*/ 2082069 w 2133600"/>
              <a:gd name="connsiteY13" fmla="*/ 1004077 h 1055608"/>
              <a:gd name="connsiteX14" fmla="*/ 1957662 w 2133600"/>
              <a:gd name="connsiteY14" fmla="*/ 1055608 h 1055608"/>
              <a:gd name="connsiteX15" fmla="*/ 889000 w 2133600"/>
              <a:gd name="connsiteY15" fmla="*/ 1055608 h 1055608"/>
              <a:gd name="connsiteX16" fmla="*/ 355600 w 2133600"/>
              <a:gd name="connsiteY16" fmla="*/ 1055608 h 1055608"/>
              <a:gd name="connsiteX17" fmla="*/ 355600 w 2133600"/>
              <a:gd name="connsiteY17" fmla="*/ 1055608 h 1055608"/>
              <a:gd name="connsiteX18" fmla="*/ 175938 w 2133600"/>
              <a:gd name="connsiteY18" fmla="*/ 1055608 h 1055608"/>
              <a:gd name="connsiteX19" fmla="*/ 51531 w 2133600"/>
              <a:gd name="connsiteY19" fmla="*/ 1004077 h 1055608"/>
              <a:gd name="connsiteX20" fmla="*/ 0 w 2133600"/>
              <a:gd name="connsiteY20" fmla="*/ 879670 h 1055608"/>
              <a:gd name="connsiteX21" fmla="*/ 0 w 2133600"/>
              <a:gd name="connsiteY21" fmla="*/ 439837 h 1055608"/>
              <a:gd name="connsiteX22" fmla="*/ -587658 w 2133600"/>
              <a:gd name="connsiteY22" fmla="*/ 396877 h 1055608"/>
              <a:gd name="connsiteX23" fmla="*/ 0 w 2133600"/>
              <a:gd name="connsiteY23" fmla="*/ 175935 h 1055608"/>
              <a:gd name="connsiteX24" fmla="*/ 0 w 2133600"/>
              <a:gd name="connsiteY24" fmla="*/ 175938 h 1055608"/>
              <a:gd name="connsiteX0" fmla="*/ 0 w 2133600"/>
              <a:gd name="connsiteY0" fmla="*/ 175938 h 1055608"/>
              <a:gd name="connsiteX1" fmla="*/ 51531 w 2133600"/>
              <a:gd name="connsiteY1" fmla="*/ 51531 h 1055608"/>
              <a:gd name="connsiteX2" fmla="*/ 175938 w 2133600"/>
              <a:gd name="connsiteY2" fmla="*/ 0 h 1055608"/>
              <a:gd name="connsiteX3" fmla="*/ 355600 w 2133600"/>
              <a:gd name="connsiteY3" fmla="*/ 0 h 1055608"/>
              <a:gd name="connsiteX4" fmla="*/ 355600 w 2133600"/>
              <a:gd name="connsiteY4" fmla="*/ 0 h 1055608"/>
              <a:gd name="connsiteX5" fmla="*/ 889000 w 2133600"/>
              <a:gd name="connsiteY5" fmla="*/ 0 h 1055608"/>
              <a:gd name="connsiteX6" fmla="*/ 1957662 w 2133600"/>
              <a:gd name="connsiteY6" fmla="*/ 0 h 1055608"/>
              <a:gd name="connsiteX7" fmla="*/ 2082069 w 2133600"/>
              <a:gd name="connsiteY7" fmla="*/ 51531 h 1055608"/>
              <a:gd name="connsiteX8" fmla="*/ 2133600 w 2133600"/>
              <a:gd name="connsiteY8" fmla="*/ 175938 h 1055608"/>
              <a:gd name="connsiteX9" fmla="*/ 2133600 w 2133600"/>
              <a:gd name="connsiteY9" fmla="*/ 175935 h 1055608"/>
              <a:gd name="connsiteX10" fmla="*/ 2133600 w 2133600"/>
              <a:gd name="connsiteY10" fmla="*/ 175935 h 1055608"/>
              <a:gd name="connsiteX11" fmla="*/ 2133600 w 2133600"/>
              <a:gd name="connsiteY11" fmla="*/ 439837 h 1055608"/>
              <a:gd name="connsiteX12" fmla="*/ 2133600 w 2133600"/>
              <a:gd name="connsiteY12" fmla="*/ 879670 h 1055608"/>
              <a:gd name="connsiteX13" fmla="*/ 2082069 w 2133600"/>
              <a:gd name="connsiteY13" fmla="*/ 1004077 h 1055608"/>
              <a:gd name="connsiteX14" fmla="*/ 1957662 w 2133600"/>
              <a:gd name="connsiteY14" fmla="*/ 1055608 h 1055608"/>
              <a:gd name="connsiteX15" fmla="*/ 889000 w 2133600"/>
              <a:gd name="connsiteY15" fmla="*/ 1055608 h 1055608"/>
              <a:gd name="connsiteX16" fmla="*/ 355600 w 2133600"/>
              <a:gd name="connsiteY16" fmla="*/ 1055608 h 1055608"/>
              <a:gd name="connsiteX17" fmla="*/ 355600 w 2133600"/>
              <a:gd name="connsiteY17" fmla="*/ 1055608 h 1055608"/>
              <a:gd name="connsiteX18" fmla="*/ 175938 w 2133600"/>
              <a:gd name="connsiteY18" fmla="*/ 1055608 h 1055608"/>
              <a:gd name="connsiteX19" fmla="*/ 51531 w 2133600"/>
              <a:gd name="connsiteY19" fmla="*/ 1004077 h 1055608"/>
              <a:gd name="connsiteX20" fmla="*/ 0 w 2133600"/>
              <a:gd name="connsiteY20" fmla="*/ 879670 h 1055608"/>
              <a:gd name="connsiteX21" fmla="*/ 0 w 2133600"/>
              <a:gd name="connsiteY21" fmla="*/ 439837 h 1055608"/>
              <a:gd name="connsiteX22" fmla="*/ 0 w 2133600"/>
              <a:gd name="connsiteY22" fmla="*/ 175935 h 1055608"/>
              <a:gd name="connsiteX23" fmla="*/ 0 w 2133600"/>
              <a:gd name="connsiteY23" fmla="*/ 175938 h 105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3600" h="1055608">
                <a:moveTo>
                  <a:pt x="0" y="175938"/>
                </a:moveTo>
                <a:cubicBezTo>
                  <a:pt x="0" y="129276"/>
                  <a:pt x="18536" y="84526"/>
                  <a:pt x="51531" y="51531"/>
                </a:cubicBezTo>
                <a:cubicBezTo>
                  <a:pt x="84526" y="18536"/>
                  <a:pt x="129276" y="0"/>
                  <a:pt x="175938" y="0"/>
                </a:cubicBezTo>
                <a:lnTo>
                  <a:pt x="355600" y="0"/>
                </a:lnTo>
                <a:lnTo>
                  <a:pt x="355600" y="0"/>
                </a:lnTo>
                <a:lnTo>
                  <a:pt x="889000" y="0"/>
                </a:lnTo>
                <a:lnTo>
                  <a:pt x="1957662" y="0"/>
                </a:lnTo>
                <a:cubicBezTo>
                  <a:pt x="2004324" y="0"/>
                  <a:pt x="2049074" y="18536"/>
                  <a:pt x="2082069" y="51531"/>
                </a:cubicBezTo>
                <a:cubicBezTo>
                  <a:pt x="2115064" y="84526"/>
                  <a:pt x="2133600" y="129276"/>
                  <a:pt x="2133600" y="175938"/>
                </a:cubicBezTo>
                <a:lnTo>
                  <a:pt x="2133600" y="175935"/>
                </a:lnTo>
                <a:lnTo>
                  <a:pt x="2133600" y="175935"/>
                </a:lnTo>
                <a:lnTo>
                  <a:pt x="2133600" y="439837"/>
                </a:lnTo>
                <a:lnTo>
                  <a:pt x="2133600" y="879670"/>
                </a:lnTo>
                <a:cubicBezTo>
                  <a:pt x="2133600" y="926332"/>
                  <a:pt x="2115064" y="971082"/>
                  <a:pt x="2082069" y="1004077"/>
                </a:cubicBezTo>
                <a:cubicBezTo>
                  <a:pt x="2049074" y="1037072"/>
                  <a:pt x="2004324" y="1055608"/>
                  <a:pt x="1957662" y="1055608"/>
                </a:cubicBezTo>
                <a:lnTo>
                  <a:pt x="889000" y="1055608"/>
                </a:lnTo>
                <a:lnTo>
                  <a:pt x="355600" y="1055608"/>
                </a:lnTo>
                <a:lnTo>
                  <a:pt x="355600" y="1055608"/>
                </a:lnTo>
                <a:lnTo>
                  <a:pt x="175938" y="1055608"/>
                </a:lnTo>
                <a:cubicBezTo>
                  <a:pt x="129276" y="1055608"/>
                  <a:pt x="84526" y="1037072"/>
                  <a:pt x="51531" y="1004077"/>
                </a:cubicBezTo>
                <a:cubicBezTo>
                  <a:pt x="18536" y="971082"/>
                  <a:pt x="0" y="926332"/>
                  <a:pt x="0" y="879670"/>
                </a:cubicBezTo>
                <a:lnTo>
                  <a:pt x="0" y="439837"/>
                </a:lnTo>
                <a:lnTo>
                  <a:pt x="0" y="175935"/>
                </a:lnTo>
                <a:lnTo>
                  <a:pt x="0" y="175938"/>
                </a:lnTo>
                <a:close/>
              </a:path>
            </a:pathLst>
          </a:cu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Задаване на стъпка 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295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Напишете програма, която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Прочита </a:t>
            </a:r>
            <a:r>
              <a:rPr lang="bg-BG" b="1" dirty="0">
                <a:latin typeface="Calibri" panose="020F0502020204030204" pitchFamily="34" charset="0"/>
                <a:cs typeface="Calibri" panose="020F0502020204030204" pitchFamily="34" charset="0"/>
              </a:rPr>
              <a:t>цяло число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lvl="1"/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Отпечатва числата от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до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със стъпка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3</a:t>
            </a:r>
            <a:endParaRPr lang="bg-BG" dirty="0">
              <a:solidFill>
                <a:schemeClr val="bg1"/>
              </a:solidFill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Числата от </a:t>
            </a:r>
            <a:r>
              <a:rPr lang="en-US" dirty="0"/>
              <a:t>1 </a:t>
            </a:r>
            <a:r>
              <a:rPr lang="bg-BG" dirty="0"/>
              <a:t>до</a:t>
            </a:r>
            <a:r>
              <a:rPr lang="en-US" dirty="0"/>
              <a:t> N </a:t>
            </a:r>
            <a:r>
              <a:rPr lang="bg-BG" dirty="0"/>
              <a:t>през 3 – условие</a:t>
            </a:r>
            <a:r>
              <a:rPr lang="en-US" dirty="0"/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093248" y="4181096"/>
            <a:ext cx="662495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Стрелка надясно 10"/>
          <p:cNvSpPr/>
          <p:nvPr/>
        </p:nvSpPr>
        <p:spPr>
          <a:xfrm>
            <a:off x="1984790" y="4369075"/>
            <a:ext cx="402964" cy="35532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611684" y="4200939"/>
            <a:ext cx="28956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1, 4, 7, 10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3A46F1-44E1-4D30-990B-60DEC284E2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268569"/>
            <a:ext cx="891990" cy="1985938"/>
          </a:xfrm>
          <a:prstGeom prst="rect">
            <a:avLst/>
          </a:prstGeom>
        </p:spPr>
      </p:pic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D3FDC0FE-F488-4D24-9223-EB0B6CB2DA99}"/>
              </a:ext>
            </a:extLst>
          </p:cNvPr>
          <p:cNvSpPr/>
          <p:nvPr/>
        </p:nvSpPr>
        <p:spPr>
          <a:xfrm rot="10394803" flipH="1">
            <a:off x="8249782" y="2995631"/>
            <a:ext cx="1805478" cy="866739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pic>
        <p:nvPicPr>
          <p:cNvPr id="13" name="Picture 12" descr="Ð ÐµÐ·ÑÐ»ÑÐ°Ñ Ñ Ð¸Ð·Ð¾Ð±ÑÐ°Ð¶ÐµÐ½Ð¸Ðµ Ð·Ð° number  4 png">
            <a:extLst>
              <a:ext uri="{FF2B5EF4-FFF2-40B4-BE49-F238E27FC236}">
                <a16:creationId xmlns:a16="http://schemas.microsoft.com/office/drawing/2014/main" id="{0DE9E3EB-25AA-48FA-B00A-D1F18A45B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00248">
            <a:off x="9603809" y="4132762"/>
            <a:ext cx="1463731" cy="197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1BFFF662-FE04-496F-AC16-023D95A11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7702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>
            <a:extLst>
              <a:ext uri="{FF2B5EF4-FFF2-40B4-BE49-F238E27FC236}">
                <a16:creationId xmlns:a16="http://schemas.microsoft.com/office/drawing/2014/main" id="{DA53BEB6-C51C-4683-917C-9B2E28E0B51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Числата от 1 до </a:t>
            </a:r>
            <a:r>
              <a:rPr lang="en-US" dirty="0"/>
              <a:t>N </a:t>
            </a:r>
            <a:r>
              <a:rPr lang="bg-BG" dirty="0"/>
              <a:t>през 3 – блок схема</a:t>
            </a:r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4566000" y="1359000"/>
            <a:ext cx="5024993" cy="5082831"/>
            <a:chOff x="4301839" y="1271169"/>
            <a:chExt cx="5024993" cy="5506141"/>
          </a:xfrm>
        </p:grpSpPr>
        <p:sp>
          <p:nvSpPr>
            <p:cNvPr id="28" name="Flowchart: Data 27"/>
            <p:cNvSpPr/>
            <p:nvPr/>
          </p:nvSpPr>
          <p:spPr bwMode="auto">
            <a:xfrm>
              <a:off x="4529445" y="5499000"/>
              <a:ext cx="1728553" cy="452233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29" name="Oval 28"/>
            <p:cNvSpPr/>
            <p:nvPr/>
          </p:nvSpPr>
          <p:spPr bwMode="auto">
            <a:xfrm>
              <a:off x="4301839" y="1271169"/>
              <a:ext cx="2183766" cy="742921"/>
            </a:xfrm>
            <a:prstGeom prst="ellipse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bg-BG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Начало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381222" y="3159000"/>
              <a:ext cx="2025000" cy="51331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 = 1</a:t>
              </a:r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7316839" y="4222065"/>
              <a:ext cx="2009993" cy="749122"/>
            </a:xfrm>
            <a:prstGeom prst="ellipse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bg-BG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Край</a:t>
              </a:r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Diamond 31"/>
            <p:cNvSpPr/>
            <p:nvPr/>
          </p:nvSpPr>
          <p:spPr bwMode="auto">
            <a:xfrm>
              <a:off x="4375850" y="4036839"/>
              <a:ext cx="2035742" cy="1119576"/>
            </a:xfrm>
            <a:prstGeom prst="diamond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 &lt;= n</a:t>
              </a:r>
            </a:p>
          </p:txBody>
        </p:sp>
        <p:cxnSp>
          <p:nvCxnSpPr>
            <p:cNvPr id="33" name="Straight Arrow Connector 32"/>
            <p:cNvCxnSpPr>
              <a:stCxn id="41" idx="4"/>
              <a:endCxn id="30" idx="0"/>
            </p:cNvCxnSpPr>
            <p:nvPr/>
          </p:nvCxnSpPr>
          <p:spPr>
            <a:xfrm flipH="1">
              <a:off x="5393722" y="2801233"/>
              <a:ext cx="9184" cy="35776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30" idx="2"/>
              <a:endCxn id="32" idx="0"/>
            </p:cNvCxnSpPr>
            <p:nvPr/>
          </p:nvCxnSpPr>
          <p:spPr>
            <a:xfrm flipH="1">
              <a:off x="5393721" y="3672310"/>
              <a:ext cx="1" cy="36452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32" idx="2"/>
              <a:endCxn id="28" idx="1"/>
            </p:cNvCxnSpPr>
            <p:nvPr/>
          </p:nvCxnSpPr>
          <p:spPr>
            <a:xfrm>
              <a:off x="5393721" y="5156414"/>
              <a:ext cx="1" cy="34258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Elbow Connector 35"/>
            <p:cNvCxnSpPr>
              <a:stCxn id="57" idx="1"/>
              <a:endCxn id="32" idx="1"/>
            </p:cNvCxnSpPr>
            <p:nvPr/>
          </p:nvCxnSpPr>
          <p:spPr>
            <a:xfrm rot="10800000">
              <a:off x="4375851" y="4596627"/>
              <a:ext cx="5371" cy="1924029"/>
            </a:xfrm>
            <a:prstGeom prst="bentConnector3">
              <a:avLst>
                <a:gd name="adj1" fmla="val 4356191"/>
              </a:avLst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32" idx="3"/>
              <a:endCxn id="31" idx="2"/>
            </p:cNvCxnSpPr>
            <p:nvPr/>
          </p:nvCxnSpPr>
          <p:spPr>
            <a:xfrm flipV="1">
              <a:off x="6411592" y="4596626"/>
              <a:ext cx="905247" cy="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6">
              <a:extLst>
                <a:ext uri="{FF2B5EF4-FFF2-40B4-BE49-F238E27FC236}">
                  <a16:creationId xmlns:a16="http://schemas.microsoft.com/office/drawing/2014/main" id="{951D766D-A451-4072-A48C-3FE65D7D0FE7}"/>
                </a:ext>
              </a:extLst>
            </p:cNvPr>
            <p:cNvSpPr txBox="1"/>
            <p:nvPr/>
          </p:nvSpPr>
          <p:spPr>
            <a:xfrm>
              <a:off x="5386249" y="5030690"/>
              <a:ext cx="678372" cy="45707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2000" dirty="0"/>
                <a:t>true</a:t>
              </a:r>
              <a:endParaRPr lang="en-US" sz="2400" dirty="0"/>
            </a:p>
          </p:txBody>
        </p:sp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D856292C-764E-4006-AA7A-9896076EBDBC}"/>
                </a:ext>
              </a:extLst>
            </p:cNvPr>
            <p:cNvSpPr txBox="1"/>
            <p:nvPr/>
          </p:nvSpPr>
          <p:spPr>
            <a:xfrm>
              <a:off x="6555851" y="4060327"/>
              <a:ext cx="846663" cy="49209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dirty="0"/>
                <a:t>false</a:t>
              </a:r>
              <a:endParaRPr lang="en-US" sz="2400" dirty="0"/>
            </a:p>
          </p:txBody>
        </p:sp>
        <p:sp>
          <p:nvSpPr>
            <p:cNvPr id="41" name="Flowchart: Data 40"/>
            <p:cNvSpPr/>
            <p:nvPr/>
          </p:nvSpPr>
          <p:spPr bwMode="auto">
            <a:xfrm>
              <a:off x="4538629" y="2349000"/>
              <a:ext cx="1728553" cy="452233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</a:p>
          </p:txBody>
        </p:sp>
        <p:cxnSp>
          <p:nvCxnSpPr>
            <p:cNvPr id="45" name="Straight Arrow Connector 44"/>
            <p:cNvCxnSpPr>
              <a:stCxn id="29" idx="4"/>
              <a:endCxn id="41" idx="1"/>
            </p:cNvCxnSpPr>
            <p:nvPr/>
          </p:nvCxnSpPr>
          <p:spPr>
            <a:xfrm>
              <a:off x="5393722" y="2014090"/>
              <a:ext cx="9184" cy="33491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 56"/>
            <p:cNvSpPr/>
            <p:nvPr/>
          </p:nvSpPr>
          <p:spPr bwMode="auto">
            <a:xfrm>
              <a:off x="4381221" y="6264000"/>
              <a:ext cx="2025000" cy="51331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 += 3</a:t>
              </a:r>
            </a:p>
          </p:txBody>
        </p:sp>
        <p:cxnSp>
          <p:nvCxnSpPr>
            <p:cNvPr id="72" name="Straight Arrow Connector 71"/>
            <p:cNvCxnSpPr>
              <a:stCxn id="28" idx="4"/>
              <a:endCxn id="57" idx="0"/>
            </p:cNvCxnSpPr>
            <p:nvPr/>
          </p:nvCxnSpPr>
          <p:spPr>
            <a:xfrm flipH="1">
              <a:off x="5393721" y="5951233"/>
              <a:ext cx="1" cy="31276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310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43550" y="1830093"/>
            <a:ext cx="7475050" cy="208672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n =</a:t>
            </a:r>
            <a:r>
              <a:rPr lang="bg-BG" sz="36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int(input())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for i in range(1, n + 1, 3):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6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 print(i)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Числата от </a:t>
            </a:r>
            <a:r>
              <a:rPr lang="en-US" dirty="0"/>
              <a:t>1 </a:t>
            </a:r>
            <a:r>
              <a:rPr lang="bg-BG" dirty="0"/>
              <a:t>до</a:t>
            </a:r>
            <a:r>
              <a:rPr lang="en-US" dirty="0"/>
              <a:t> N </a:t>
            </a:r>
            <a:r>
              <a:rPr lang="bg-BG" dirty="0"/>
              <a:t>през 3 – решение</a:t>
            </a:r>
            <a:r>
              <a:rPr lang="en-US" dirty="0"/>
              <a:t> 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725A426-4F07-4F6E-BDD8-9B123E2F2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7767600" y="2593070"/>
            <a:ext cx="533400" cy="53628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8436000" y="3389014"/>
            <a:ext cx="2356200" cy="1055608"/>
          </a:xfrm>
          <a:prstGeom prst="wedgeRoundRectCallout">
            <a:avLst>
              <a:gd name="adj1" fmla="val -61978"/>
              <a:gd name="adj2" fmla="val -5866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Задаване на стъпка 3 </a:t>
            </a:r>
          </a:p>
        </p:txBody>
      </p:sp>
    </p:spTree>
    <p:extLst>
      <p:ext uri="{BB962C8B-B14F-4D97-AF65-F5344CB8AC3E}">
        <p14:creationId xmlns:p14="http://schemas.microsoft.com/office/powerpoint/2010/main" val="110578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</a:pPr>
            <a:r>
              <a:rPr lang="bg-BG" sz="2800" b="1" dirty="0">
                <a:solidFill>
                  <a:schemeClr val="bg2"/>
                </a:solidFill>
              </a:rPr>
              <a:t>Повторение</a:t>
            </a:r>
            <a:r>
              <a:rPr lang="bg-BG" sz="2800" dirty="0">
                <a:solidFill>
                  <a:schemeClr val="bg2"/>
                </a:solidFill>
              </a:rPr>
              <a:t> на блок код с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цикъл</a:t>
            </a:r>
            <a:endParaRPr lang="en-US" sz="2800" b="1" dirty="0">
              <a:solidFill>
                <a:schemeClr val="bg2"/>
              </a:solidFill>
            </a:endParaRPr>
          </a:p>
          <a:p>
            <a:pPr lvl="1"/>
            <a:r>
              <a:rPr lang="bg-BG" sz="2800" dirty="0">
                <a:solidFill>
                  <a:schemeClr val="bg2"/>
                </a:solidFill>
              </a:rPr>
              <a:t>Цикли със стъпка</a:t>
            </a:r>
          </a:p>
          <a:p>
            <a:pPr lvl="2"/>
            <a:r>
              <a:rPr lang="bg-BG" sz="2400" dirty="0">
                <a:solidFill>
                  <a:schemeClr val="bg2"/>
                </a:solidFill>
              </a:rPr>
              <a:t>Цикли с </a:t>
            </a:r>
            <a:r>
              <a:rPr lang="bg-BG" sz="2400" b="1" dirty="0">
                <a:solidFill>
                  <a:schemeClr val="bg2"/>
                </a:solidFill>
              </a:rPr>
              <a:t>увеличаваща</a:t>
            </a:r>
            <a:r>
              <a:rPr lang="bg-BG" sz="2400" dirty="0">
                <a:solidFill>
                  <a:schemeClr val="bg2"/>
                </a:solidFill>
              </a:rPr>
              <a:t> стъпка</a:t>
            </a:r>
            <a:endParaRPr lang="en-US" sz="2400" dirty="0">
              <a:solidFill>
                <a:schemeClr val="bg2"/>
              </a:solidFill>
            </a:endParaRPr>
          </a:p>
          <a:p>
            <a:pPr lvl="2"/>
            <a:r>
              <a:rPr lang="bg-BG" sz="2400" dirty="0">
                <a:solidFill>
                  <a:schemeClr val="bg2"/>
                </a:solidFill>
              </a:rPr>
              <a:t>Цикли с </a:t>
            </a:r>
            <a:r>
              <a:rPr lang="bg-BG" sz="2400" b="1" dirty="0">
                <a:solidFill>
                  <a:schemeClr val="bg2"/>
                </a:solidFill>
              </a:rPr>
              <a:t>намаляваща</a:t>
            </a:r>
            <a:r>
              <a:rPr lang="bg-BG" sz="2400" dirty="0">
                <a:solidFill>
                  <a:schemeClr val="bg2"/>
                </a:solidFill>
              </a:rPr>
              <a:t> стъпка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5764</TotalTime>
  <Words>656</Words>
  <Application>Microsoft Office PowerPoint</Application>
  <PresentationFormat>Widescreen</PresentationFormat>
  <Paragraphs>128</Paragraphs>
  <Slides>15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Wingdings</vt:lpstr>
      <vt:lpstr>SoftUni</vt:lpstr>
      <vt:lpstr>Реализиране на цикличен алгоритъм</vt:lpstr>
      <vt:lpstr>Съдържание</vt:lpstr>
      <vt:lpstr>Повторения на блокове код</vt:lpstr>
      <vt:lpstr>Какво е цикъл? (1)</vt:lpstr>
      <vt:lpstr>Какво е цикъл? (2)</vt:lpstr>
      <vt:lpstr>For цикъл</vt:lpstr>
      <vt:lpstr>For цикъл – конструкция</vt:lpstr>
      <vt:lpstr>For цикъл – Scratch срещу Python</vt:lpstr>
      <vt:lpstr>For цикъл със стъпка</vt:lpstr>
      <vt:lpstr>Числата от 1 до N през 3 – условие </vt:lpstr>
      <vt:lpstr>Числата от 1 до N през 3 – блок схема</vt:lpstr>
      <vt:lpstr>Числата от 1 до N през 3 – решение 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Реализиране на цикличен алгоритъм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1660</cp:revision>
  <dcterms:created xsi:type="dcterms:W3CDTF">2018-05-23T13:08:44Z</dcterms:created>
  <dcterms:modified xsi:type="dcterms:W3CDTF">2026-09-25T09:06:29Z</dcterms:modified>
  <cp:category/>
</cp:coreProperties>
</file>