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7"/>
  </p:notesMasterIdLst>
  <p:handoutMasterIdLst>
    <p:handoutMasterId r:id="rId18"/>
  </p:handoutMasterIdLst>
  <p:sldIdLst>
    <p:sldId id="503" r:id="rId2"/>
    <p:sldId id="276" r:id="rId3"/>
    <p:sldId id="604" r:id="rId4"/>
    <p:sldId id="605" r:id="rId5"/>
    <p:sldId id="606" r:id="rId6"/>
    <p:sldId id="607" r:id="rId7"/>
    <p:sldId id="608" r:id="rId8"/>
    <p:sldId id="609" r:id="rId9"/>
    <p:sldId id="610" r:id="rId10"/>
    <p:sldId id="611" r:id="rId11"/>
    <p:sldId id="612" r:id="rId12"/>
    <p:sldId id="613" r:id="rId13"/>
    <p:sldId id="586" r:id="rId14"/>
    <p:sldId id="504" r:id="rId15"/>
    <p:sldId id="5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рости операции" id="{36B072EC-AD3E-4402-9E1A-06E6AEB30D3E}">
          <p14:sldIdLst>
            <p14:sldId id="604"/>
            <p14:sldId id="605"/>
            <p14:sldId id="606"/>
            <p14:sldId id="607"/>
            <p14:sldId id="608"/>
            <p14:sldId id="609"/>
            <p14:sldId id="610"/>
          </p14:sldIdLst>
        </p14:section>
        <p14:section name="Печатане на конзолата" id="{EC45F985-1FF0-4534-99C0-990C7CBEDF1F}">
          <p14:sldIdLst>
            <p14:sldId id="611"/>
            <p14:sldId id="612"/>
            <p14:sldId id="613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Работа с </a:t>
            </a:r>
            <a:r>
              <a:rPr lang="bg-BG" dirty="0"/>
              <a:t>конзола</a:t>
            </a:r>
            <a:r>
              <a:rPr lang="ru-RU" dirty="0"/>
              <a:t>, </a:t>
            </a:r>
            <a:r>
              <a:rPr lang="bg-BG" dirty="0"/>
              <a:t>аритметични</a:t>
            </a:r>
            <a:r>
              <a:rPr lang="ru-RU" dirty="0"/>
              <a:t> операции</a:t>
            </a:r>
            <a:r>
              <a:rPr lang="en-US" dirty="0"/>
              <a:t> </a:t>
            </a:r>
            <a:r>
              <a:rPr lang="bg-BG" dirty="0"/>
              <a:t>с числа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Прости операции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4104" name="Picture 8" descr="Logging in Python: A Developer's Guide | Product Blog • Sentry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596" t="11928" r="3048" b="12533"/>
          <a:stretch/>
        </p:blipFill>
        <p:spPr bwMode="auto">
          <a:xfrm>
            <a:off x="6390123" y="3024001"/>
            <a:ext cx="5248260" cy="25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/>
          <a:lstStyle/>
          <a:p>
            <a:r>
              <a:rPr lang="bg-BG" dirty="0"/>
              <a:t>Прости операции</a:t>
            </a:r>
            <a:endParaRPr lang="en-US" dirty="0"/>
          </a:p>
          <a:p>
            <a:r>
              <a:rPr lang="bg-BG" dirty="0"/>
              <a:t>͏</a:t>
            </a:r>
            <a:r>
              <a:rPr lang="bg-BG" b="1" dirty="0"/>
              <a:t>Печатане</a:t>
            </a:r>
            <a:r>
              <a:rPr lang="bg-BG" dirty="0"/>
              <a:t> на конзолата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ru-RU" dirty="0"/>
              <a:t>Работа с текст и числа</a:t>
            </a:r>
            <a:endParaRPr lang="bg-BG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Прости операции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445" y="1524000"/>
            <a:ext cx="2237110" cy="223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6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Да се </a:t>
            </a:r>
            <a:r>
              <a:rPr lang="bg-BG" b="1" dirty="0">
                <a:solidFill>
                  <a:schemeClr val="bg1"/>
                </a:solidFill>
              </a:rPr>
              <a:t>напише програма</a:t>
            </a:r>
            <a:r>
              <a:rPr lang="bg-BG" dirty="0"/>
              <a:t>, която</a:t>
            </a:r>
            <a:r>
              <a:rPr lang="en-US" dirty="0"/>
              <a:t>:</a:t>
            </a:r>
          </a:p>
          <a:p>
            <a:pPr lvl="1"/>
            <a:r>
              <a:rPr lang="bg-BG" sz="3200" dirty="0"/>
              <a:t>Чете от конзолата </a:t>
            </a:r>
            <a:r>
              <a:rPr lang="bg-BG" sz="3200" b="1" dirty="0">
                <a:solidFill>
                  <a:schemeClr val="bg1"/>
                </a:solidFill>
              </a:rPr>
              <a:t>име</a:t>
            </a:r>
            <a:r>
              <a:rPr lang="bg-BG" sz="3200" dirty="0"/>
              <a:t> на човек, въведено от </a:t>
            </a:r>
            <a:r>
              <a:rPr lang="bg-BG" sz="3200" b="1" dirty="0">
                <a:solidFill>
                  <a:schemeClr val="bg1"/>
                </a:solidFill>
              </a:rPr>
              <a:t>потребителя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bg-BG" sz="3200" dirty="0"/>
              <a:t>Отпечатва </a:t>
            </a:r>
            <a:r>
              <a:rPr lang="en-US" sz="3200" dirty="0"/>
              <a:t>"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Hello, &lt;name&gt;</a:t>
            </a:r>
            <a:r>
              <a:rPr lang="bg-BG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sz="3200" dirty="0"/>
              <a:t>"</a:t>
            </a:r>
            <a:r>
              <a:rPr lang="bg-BG" sz="3200" dirty="0"/>
              <a:t>, където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&lt;name&gt;</a:t>
            </a:r>
            <a:r>
              <a:rPr lang="en-US" sz="3200" b="1" dirty="0"/>
              <a:t> </a:t>
            </a:r>
            <a:r>
              <a:rPr lang="bg-BG" sz="3200" dirty="0"/>
              <a:t>е </a:t>
            </a:r>
            <a:r>
              <a:rPr lang="bg-BG" sz="3200" b="1" dirty="0">
                <a:solidFill>
                  <a:schemeClr val="bg1"/>
                </a:solidFill>
              </a:rPr>
              <a:t>въведеното</a:t>
            </a:r>
            <a:r>
              <a:rPr lang="bg-BG" sz="3200" dirty="0"/>
              <a:t> преди това </a:t>
            </a:r>
            <a:r>
              <a:rPr lang="bg-BG" sz="3200" b="1" dirty="0">
                <a:solidFill>
                  <a:schemeClr val="bg1"/>
                </a:solidFill>
              </a:rPr>
              <a:t>име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bg-BG" sz="3200" dirty="0"/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Поздрав по име – пример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24AC2-4AE6-4B50-B40C-A345D732B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242" y="4585082"/>
            <a:ext cx="1426084" cy="54014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Petar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442DDA5-0C08-4B68-914C-772E8D7F4961}"/>
              </a:ext>
            </a:extLst>
          </p:cNvPr>
          <p:cNvSpPr/>
          <p:nvPr/>
        </p:nvSpPr>
        <p:spPr>
          <a:xfrm>
            <a:off x="2651897" y="4691300"/>
            <a:ext cx="402630" cy="3144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7F45730-95E9-4323-BA16-F9056F43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099" y="4572001"/>
            <a:ext cx="2900902" cy="54014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Hello, Petar!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3C56C4-C2A2-4744-A0F3-01D47ABE2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048" y="5449598"/>
            <a:ext cx="1445277" cy="54014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Viktor</a:t>
            </a:r>
          </a:p>
        </p:txBody>
      </p:sp>
      <p:sp>
        <p:nvSpPr>
          <p:cNvPr id="12" name="Right Arrow 17">
            <a:extLst>
              <a:ext uri="{FF2B5EF4-FFF2-40B4-BE49-F238E27FC236}">
                <a16:creationId xmlns:a16="http://schemas.microsoft.com/office/drawing/2014/main" id="{A67CAE03-E619-4A3F-8240-196488EB65FB}"/>
              </a:ext>
            </a:extLst>
          </p:cNvPr>
          <p:cNvSpPr/>
          <p:nvPr/>
        </p:nvSpPr>
        <p:spPr>
          <a:xfrm>
            <a:off x="2638892" y="5562439"/>
            <a:ext cx="396883" cy="3144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7EC7A80-F465-4206-944C-905C43E2B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985" y="5449597"/>
            <a:ext cx="2931016" cy="54014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Hello, Viktor!</a:t>
            </a:r>
          </a:p>
        </p:txBody>
      </p:sp>
      <p:pic>
        <p:nvPicPr>
          <p:cNvPr id="14" name="Picture 2" descr="Ð ÐµÐ·ÑÐ»ÑÐ°Ñ Ñ Ð¸Ð·Ð¾Ð±ÑÐ°Ð¶ÐµÐ½Ð¸Ðµ Ð·Ð° hello png">
            <a:extLst>
              <a:ext uri="{FF2B5EF4-FFF2-40B4-BE49-F238E27FC236}">
                <a16:creationId xmlns:a16="http://schemas.microsoft.com/office/drawing/2014/main" id="{E0681DF8-7B45-406E-9E82-3627FC549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449" y="3499509"/>
            <a:ext cx="3081191" cy="256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02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Поздрав по име – решение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1000" y="1764000"/>
            <a:ext cx="5715000" cy="21509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name = input()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print</a:t>
            </a:r>
            <a:r>
              <a:rPr lang="en-US" sz="3200" b="1" dirty="0">
                <a:latin typeface="Consolas" panose="020B0609020204030204" pitchFamily="49" charset="0"/>
              </a:rPr>
              <a:t>('Hello, ',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end=''</a:t>
            </a:r>
            <a:r>
              <a:rPr lang="en-US" sz="3200" b="1" dirty="0"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print</a:t>
            </a:r>
            <a:r>
              <a:rPr lang="en-US" sz="3200" b="1" dirty="0">
                <a:latin typeface="Consolas" panose="020B0609020204030204" pitchFamily="49" charset="0"/>
              </a:rPr>
              <a:t>(name)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000" y="4695542"/>
            <a:ext cx="5445000" cy="130148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latin typeface="Consolas" panose="020B0609020204030204" pitchFamily="49" charset="0"/>
              </a:rPr>
              <a:t>name = input()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print</a:t>
            </a:r>
            <a:r>
              <a:rPr lang="en-US" sz="3200" b="1" dirty="0">
                <a:latin typeface="Consolas" panose="020B0609020204030204" pitchFamily="49" charset="0"/>
              </a:rPr>
              <a:t>('Hello, '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en-US" sz="3200" b="1" dirty="0">
                <a:latin typeface="Consolas" panose="020B0609020204030204" pitchFamily="49" charset="0"/>
              </a:rPr>
              <a:t> name)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7581000" y="1989000"/>
            <a:ext cx="2964671" cy="1017027"/>
          </a:xfrm>
          <a:prstGeom prst="wedgeRoundRectCallout">
            <a:avLst>
              <a:gd name="adj1" fmla="val -81612"/>
              <a:gd name="adj2" fmla="val 360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Курсорът остава на </a:t>
            </a:r>
            <a:r>
              <a:rPr lang="bg-BG" sz="2800" b="1" dirty="0">
                <a:solidFill>
                  <a:schemeClr val="bg2"/>
                </a:solidFill>
              </a:rPr>
              <a:t>същия ред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000" y="4803009"/>
            <a:ext cx="4095000" cy="1086548"/>
          </a:xfrm>
          <a:prstGeom prst="rect">
            <a:avLst/>
          </a:prstGeom>
        </p:spPr>
      </p:pic>
      <p:sp>
        <p:nvSpPr>
          <p:cNvPr id="11" name="Equal 10"/>
          <p:cNvSpPr/>
          <p:nvPr/>
        </p:nvSpPr>
        <p:spPr bwMode="auto">
          <a:xfrm>
            <a:off x="6478500" y="5076283"/>
            <a:ext cx="900000" cy="54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774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Съединяване на текст и число</a:t>
            </a:r>
            <a:r>
              <a:rPr lang="en-US" dirty="0"/>
              <a:t> (</a:t>
            </a:r>
            <a:r>
              <a:rPr lang="bg-BG" b="1" dirty="0">
                <a:solidFill>
                  <a:schemeClr val="bg1"/>
                </a:solidFill>
              </a:rPr>
              <a:t>оператор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en-US" dirty="0"/>
              <a:t>)</a:t>
            </a:r>
            <a:r>
              <a:rPr lang="bg-BG" dirty="0"/>
              <a:t>: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Съединяване на текст и число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362200" y="1896778"/>
            <a:ext cx="8915400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first_name= 'Maria'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last_name= 'Ivanova'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age = 19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str = first_name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 ' '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 last_name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 ' @ ' +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(age)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print(str) </a:t>
            </a:r>
            <a:endParaRPr lang="nn-NO" sz="2800" b="1" i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368596" y="4639131"/>
            <a:ext cx="8915400" cy="132343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a = 1.5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b = 2.5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sum = 'The sum is: ' +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str(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a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 + 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str(</a:t>
            </a:r>
            <a:r>
              <a:rPr lang="nn-NO" sz="2000" b="1" noProof="1">
                <a:latin typeface="Consolas" pitchFamily="49" charset="0"/>
                <a:cs typeface="Consolas" pitchFamily="49" charset="0"/>
              </a:rPr>
              <a:t>b</a:t>
            </a:r>
            <a:r>
              <a:rPr lang="nn-NO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000" b="1" noProof="1">
                <a:latin typeface="Consolas" pitchFamily="49" charset="0"/>
                <a:cs typeface="Consolas" pitchFamily="49" charset="0"/>
              </a:rPr>
              <a:t>print(sum)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30042-AE24-4843-AF77-47AA99DDA66B}"/>
              </a:ext>
            </a:extLst>
          </p:cNvPr>
          <p:cNvSpPr txBox="1"/>
          <p:nvPr/>
        </p:nvSpPr>
        <p:spPr>
          <a:xfrm>
            <a:off x="7638996" y="3564602"/>
            <a:ext cx="364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Maria </a:t>
            </a:r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</a:rPr>
              <a:t>Ivanova</a:t>
            </a:r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@ 19</a:t>
            </a:r>
            <a:endParaRPr lang="en-US" sz="2400" i="1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5AE42-FA14-4E0D-A356-651A6832D1F3}"/>
              </a:ext>
            </a:extLst>
          </p:cNvPr>
          <p:cNvSpPr txBox="1"/>
          <p:nvPr/>
        </p:nvSpPr>
        <p:spPr>
          <a:xfrm>
            <a:off x="7716000" y="5964100"/>
            <a:ext cx="356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The sum is</a:t>
            </a:r>
            <a:r>
              <a:rPr lang="bg-BG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:</a:t>
            </a:r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1.52.5</a:t>
            </a:r>
            <a:endParaRPr lang="en-US" sz="2400" b="1" i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861000" y="1754776"/>
            <a:ext cx="4416600" cy="954224"/>
          </a:xfrm>
          <a:custGeom>
            <a:avLst/>
            <a:gdLst>
              <a:gd name="connsiteX0" fmla="*/ 0 w 4124872"/>
              <a:gd name="connsiteY0" fmla="*/ 155404 h 932403"/>
              <a:gd name="connsiteX1" fmla="*/ 155404 w 4124872"/>
              <a:gd name="connsiteY1" fmla="*/ 0 h 932403"/>
              <a:gd name="connsiteX2" fmla="*/ 2406175 w 4124872"/>
              <a:gd name="connsiteY2" fmla="*/ 0 h 932403"/>
              <a:gd name="connsiteX3" fmla="*/ 2406175 w 4124872"/>
              <a:gd name="connsiteY3" fmla="*/ 0 h 932403"/>
              <a:gd name="connsiteX4" fmla="*/ 3437393 w 4124872"/>
              <a:gd name="connsiteY4" fmla="*/ 0 h 932403"/>
              <a:gd name="connsiteX5" fmla="*/ 3969468 w 4124872"/>
              <a:gd name="connsiteY5" fmla="*/ 0 h 932403"/>
              <a:gd name="connsiteX6" fmla="*/ 4124872 w 4124872"/>
              <a:gd name="connsiteY6" fmla="*/ 155404 h 932403"/>
              <a:gd name="connsiteX7" fmla="*/ 4124872 w 4124872"/>
              <a:gd name="connsiteY7" fmla="*/ 155401 h 932403"/>
              <a:gd name="connsiteX8" fmla="*/ 4383625 w 4124872"/>
              <a:gd name="connsiteY8" fmla="*/ -21044 h 932403"/>
              <a:gd name="connsiteX9" fmla="*/ 4124872 w 4124872"/>
              <a:gd name="connsiteY9" fmla="*/ 388501 h 932403"/>
              <a:gd name="connsiteX10" fmla="*/ 4124872 w 4124872"/>
              <a:gd name="connsiteY10" fmla="*/ 776999 h 932403"/>
              <a:gd name="connsiteX11" fmla="*/ 3969468 w 4124872"/>
              <a:gd name="connsiteY11" fmla="*/ 932403 h 932403"/>
              <a:gd name="connsiteX12" fmla="*/ 3437393 w 4124872"/>
              <a:gd name="connsiteY12" fmla="*/ 932403 h 932403"/>
              <a:gd name="connsiteX13" fmla="*/ 2406175 w 4124872"/>
              <a:gd name="connsiteY13" fmla="*/ 932403 h 932403"/>
              <a:gd name="connsiteX14" fmla="*/ 2406175 w 4124872"/>
              <a:gd name="connsiteY14" fmla="*/ 932403 h 932403"/>
              <a:gd name="connsiteX15" fmla="*/ 155404 w 4124872"/>
              <a:gd name="connsiteY15" fmla="*/ 932403 h 932403"/>
              <a:gd name="connsiteX16" fmla="*/ 0 w 4124872"/>
              <a:gd name="connsiteY16" fmla="*/ 776999 h 932403"/>
              <a:gd name="connsiteX17" fmla="*/ 0 w 4124872"/>
              <a:gd name="connsiteY17" fmla="*/ 388501 h 932403"/>
              <a:gd name="connsiteX18" fmla="*/ 0 w 4124872"/>
              <a:gd name="connsiteY18" fmla="*/ 155401 h 932403"/>
              <a:gd name="connsiteX19" fmla="*/ 0 w 4124872"/>
              <a:gd name="connsiteY19" fmla="*/ 155401 h 932403"/>
              <a:gd name="connsiteX20" fmla="*/ 0 w 4124872"/>
              <a:gd name="connsiteY20" fmla="*/ 155404 h 932403"/>
              <a:gd name="connsiteX0" fmla="*/ 0 w 4124872"/>
              <a:gd name="connsiteY0" fmla="*/ 155404 h 932403"/>
              <a:gd name="connsiteX1" fmla="*/ 155404 w 4124872"/>
              <a:gd name="connsiteY1" fmla="*/ 0 h 932403"/>
              <a:gd name="connsiteX2" fmla="*/ 2406175 w 4124872"/>
              <a:gd name="connsiteY2" fmla="*/ 0 h 932403"/>
              <a:gd name="connsiteX3" fmla="*/ 2406175 w 4124872"/>
              <a:gd name="connsiteY3" fmla="*/ 0 h 932403"/>
              <a:gd name="connsiteX4" fmla="*/ 3437393 w 4124872"/>
              <a:gd name="connsiteY4" fmla="*/ 0 h 932403"/>
              <a:gd name="connsiteX5" fmla="*/ 3969468 w 4124872"/>
              <a:gd name="connsiteY5" fmla="*/ 0 h 932403"/>
              <a:gd name="connsiteX6" fmla="*/ 4124872 w 4124872"/>
              <a:gd name="connsiteY6" fmla="*/ 155404 h 932403"/>
              <a:gd name="connsiteX7" fmla="*/ 4124872 w 4124872"/>
              <a:gd name="connsiteY7" fmla="*/ 155401 h 932403"/>
              <a:gd name="connsiteX8" fmla="*/ 4124872 w 4124872"/>
              <a:gd name="connsiteY8" fmla="*/ 388501 h 932403"/>
              <a:gd name="connsiteX9" fmla="*/ 4124872 w 4124872"/>
              <a:gd name="connsiteY9" fmla="*/ 776999 h 932403"/>
              <a:gd name="connsiteX10" fmla="*/ 3969468 w 4124872"/>
              <a:gd name="connsiteY10" fmla="*/ 932403 h 932403"/>
              <a:gd name="connsiteX11" fmla="*/ 3437393 w 4124872"/>
              <a:gd name="connsiteY11" fmla="*/ 932403 h 932403"/>
              <a:gd name="connsiteX12" fmla="*/ 2406175 w 4124872"/>
              <a:gd name="connsiteY12" fmla="*/ 932403 h 932403"/>
              <a:gd name="connsiteX13" fmla="*/ 2406175 w 4124872"/>
              <a:gd name="connsiteY13" fmla="*/ 932403 h 932403"/>
              <a:gd name="connsiteX14" fmla="*/ 155404 w 4124872"/>
              <a:gd name="connsiteY14" fmla="*/ 932403 h 932403"/>
              <a:gd name="connsiteX15" fmla="*/ 0 w 4124872"/>
              <a:gd name="connsiteY15" fmla="*/ 776999 h 932403"/>
              <a:gd name="connsiteX16" fmla="*/ 0 w 4124872"/>
              <a:gd name="connsiteY16" fmla="*/ 388501 h 932403"/>
              <a:gd name="connsiteX17" fmla="*/ 0 w 4124872"/>
              <a:gd name="connsiteY17" fmla="*/ 155401 h 932403"/>
              <a:gd name="connsiteX18" fmla="*/ 0 w 4124872"/>
              <a:gd name="connsiteY18" fmla="*/ 155401 h 932403"/>
              <a:gd name="connsiteX19" fmla="*/ 0 w 4124872"/>
              <a:gd name="connsiteY19" fmla="*/ 155404 h 932403"/>
              <a:gd name="connsiteX0" fmla="*/ 0 w 4124872"/>
              <a:gd name="connsiteY0" fmla="*/ 157952 h 934951"/>
              <a:gd name="connsiteX1" fmla="*/ 155404 w 4124872"/>
              <a:gd name="connsiteY1" fmla="*/ 2548 h 934951"/>
              <a:gd name="connsiteX2" fmla="*/ 1407543 w 4124872"/>
              <a:gd name="connsiteY2" fmla="*/ 0 h 934951"/>
              <a:gd name="connsiteX3" fmla="*/ 2406175 w 4124872"/>
              <a:gd name="connsiteY3" fmla="*/ 2548 h 934951"/>
              <a:gd name="connsiteX4" fmla="*/ 2406175 w 4124872"/>
              <a:gd name="connsiteY4" fmla="*/ 2548 h 934951"/>
              <a:gd name="connsiteX5" fmla="*/ 3437393 w 4124872"/>
              <a:gd name="connsiteY5" fmla="*/ 2548 h 934951"/>
              <a:gd name="connsiteX6" fmla="*/ 3969468 w 4124872"/>
              <a:gd name="connsiteY6" fmla="*/ 2548 h 934951"/>
              <a:gd name="connsiteX7" fmla="*/ 4124872 w 4124872"/>
              <a:gd name="connsiteY7" fmla="*/ 157952 h 934951"/>
              <a:gd name="connsiteX8" fmla="*/ 4124872 w 4124872"/>
              <a:gd name="connsiteY8" fmla="*/ 157949 h 934951"/>
              <a:gd name="connsiteX9" fmla="*/ 4124872 w 4124872"/>
              <a:gd name="connsiteY9" fmla="*/ 391049 h 934951"/>
              <a:gd name="connsiteX10" fmla="*/ 4124872 w 4124872"/>
              <a:gd name="connsiteY10" fmla="*/ 779547 h 934951"/>
              <a:gd name="connsiteX11" fmla="*/ 3969468 w 4124872"/>
              <a:gd name="connsiteY11" fmla="*/ 934951 h 934951"/>
              <a:gd name="connsiteX12" fmla="*/ 3437393 w 4124872"/>
              <a:gd name="connsiteY12" fmla="*/ 934951 h 934951"/>
              <a:gd name="connsiteX13" fmla="*/ 2406175 w 4124872"/>
              <a:gd name="connsiteY13" fmla="*/ 934951 h 934951"/>
              <a:gd name="connsiteX14" fmla="*/ 2406175 w 4124872"/>
              <a:gd name="connsiteY14" fmla="*/ 934951 h 934951"/>
              <a:gd name="connsiteX15" fmla="*/ 155404 w 4124872"/>
              <a:gd name="connsiteY15" fmla="*/ 934951 h 934951"/>
              <a:gd name="connsiteX16" fmla="*/ 0 w 4124872"/>
              <a:gd name="connsiteY16" fmla="*/ 779547 h 934951"/>
              <a:gd name="connsiteX17" fmla="*/ 0 w 4124872"/>
              <a:gd name="connsiteY17" fmla="*/ 391049 h 934951"/>
              <a:gd name="connsiteX18" fmla="*/ 0 w 4124872"/>
              <a:gd name="connsiteY18" fmla="*/ 157949 h 934951"/>
              <a:gd name="connsiteX19" fmla="*/ 0 w 4124872"/>
              <a:gd name="connsiteY19" fmla="*/ 157949 h 934951"/>
              <a:gd name="connsiteX20" fmla="*/ 0 w 4124872"/>
              <a:gd name="connsiteY20" fmla="*/ 157952 h 93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124872" h="934951">
                <a:moveTo>
                  <a:pt x="0" y="157952"/>
                </a:moveTo>
                <a:cubicBezTo>
                  <a:pt x="0" y="72125"/>
                  <a:pt x="69577" y="2548"/>
                  <a:pt x="155404" y="2548"/>
                </a:cubicBezTo>
                <a:lnTo>
                  <a:pt x="1407543" y="0"/>
                </a:lnTo>
                <a:lnTo>
                  <a:pt x="2406175" y="2548"/>
                </a:lnTo>
                <a:lnTo>
                  <a:pt x="2406175" y="2548"/>
                </a:lnTo>
                <a:lnTo>
                  <a:pt x="3437393" y="2548"/>
                </a:lnTo>
                <a:lnTo>
                  <a:pt x="3969468" y="2548"/>
                </a:lnTo>
                <a:cubicBezTo>
                  <a:pt x="4055295" y="2548"/>
                  <a:pt x="4124872" y="72125"/>
                  <a:pt x="4124872" y="157952"/>
                </a:cubicBezTo>
                <a:lnTo>
                  <a:pt x="4124872" y="157949"/>
                </a:lnTo>
                <a:lnTo>
                  <a:pt x="4124872" y="391049"/>
                </a:lnTo>
                <a:lnTo>
                  <a:pt x="4124872" y="779547"/>
                </a:lnTo>
                <a:cubicBezTo>
                  <a:pt x="4124872" y="865374"/>
                  <a:pt x="4055295" y="934951"/>
                  <a:pt x="3969468" y="934951"/>
                </a:cubicBezTo>
                <a:lnTo>
                  <a:pt x="3437393" y="934951"/>
                </a:lnTo>
                <a:lnTo>
                  <a:pt x="2406175" y="934951"/>
                </a:lnTo>
                <a:lnTo>
                  <a:pt x="2406175" y="934951"/>
                </a:lnTo>
                <a:lnTo>
                  <a:pt x="155404" y="934951"/>
                </a:lnTo>
                <a:cubicBezTo>
                  <a:pt x="69577" y="934951"/>
                  <a:pt x="0" y="865374"/>
                  <a:pt x="0" y="779547"/>
                </a:cubicBezTo>
                <a:lnTo>
                  <a:pt x="0" y="391049"/>
                </a:lnTo>
                <a:lnTo>
                  <a:pt x="0" y="157949"/>
                </a:lnTo>
                <a:lnTo>
                  <a:pt x="0" y="157949"/>
                </a:lnTo>
                <a:lnTo>
                  <a:pt x="0" y="157952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Резултатът е долепяне/конкатенация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951000" y="4344366"/>
            <a:ext cx="4326600" cy="929633"/>
          </a:xfrm>
          <a:custGeom>
            <a:avLst/>
            <a:gdLst>
              <a:gd name="connsiteX0" fmla="*/ 0 w 4124872"/>
              <a:gd name="connsiteY0" fmla="*/ 155404 h 932403"/>
              <a:gd name="connsiteX1" fmla="*/ 155404 w 4124872"/>
              <a:gd name="connsiteY1" fmla="*/ 0 h 932403"/>
              <a:gd name="connsiteX2" fmla="*/ 687479 w 4124872"/>
              <a:gd name="connsiteY2" fmla="*/ 0 h 932403"/>
              <a:gd name="connsiteX3" fmla="*/ 687479 w 4124872"/>
              <a:gd name="connsiteY3" fmla="*/ 0 h 932403"/>
              <a:gd name="connsiteX4" fmla="*/ 1718697 w 4124872"/>
              <a:gd name="connsiteY4" fmla="*/ 0 h 932403"/>
              <a:gd name="connsiteX5" fmla="*/ 3969468 w 4124872"/>
              <a:gd name="connsiteY5" fmla="*/ 0 h 932403"/>
              <a:gd name="connsiteX6" fmla="*/ 4124872 w 4124872"/>
              <a:gd name="connsiteY6" fmla="*/ 155404 h 932403"/>
              <a:gd name="connsiteX7" fmla="*/ 4124872 w 4124872"/>
              <a:gd name="connsiteY7" fmla="*/ 543902 h 932403"/>
              <a:gd name="connsiteX8" fmla="*/ 4124872 w 4124872"/>
              <a:gd name="connsiteY8" fmla="*/ 543902 h 932403"/>
              <a:gd name="connsiteX9" fmla="*/ 4124872 w 4124872"/>
              <a:gd name="connsiteY9" fmla="*/ 777003 h 932403"/>
              <a:gd name="connsiteX10" fmla="*/ 4124872 w 4124872"/>
              <a:gd name="connsiteY10" fmla="*/ 776999 h 932403"/>
              <a:gd name="connsiteX11" fmla="*/ 3969468 w 4124872"/>
              <a:gd name="connsiteY11" fmla="*/ 932403 h 932403"/>
              <a:gd name="connsiteX12" fmla="*/ 1718697 w 4124872"/>
              <a:gd name="connsiteY12" fmla="*/ 932403 h 932403"/>
              <a:gd name="connsiteX13" fmla="*/ 687479 w 4124872"/>
              <a:gd name="connsiteY13" fmla="*/ 932403 h 932403"/>
              <a:gd name="connsiteX14" fmla="*/ 687479 w 4124872"/>
              <a:gd name="connsiteY14" fmla="*/ 932403 h 932403"/>
              <a:gd name="connsiteX15" fmla="*/ 155404 w 4124872"/>
              <a:gd name="connsiteY15" fmla="*/ 932403 h 932403"/>
              <a:gd name="connsiteX16" fmla="*/ 0 w 4124872"/>
              <a:gd name="connsiteY16" fmla="*/ 776999 h 932403"/>
              <a:gd name="connsiteX17" fmla="*/ 0 w 4124872"/>
              <a:gd name="connsiteY17" fmla="*/ 777003 h 932403"/>
              <a:gd name="connsiteX18" fmla="*/ -340756 w 4124872"/>
              <a:gd name="connsiteY18" fmla="*/ 950510 h 932403"/>
              <a:gd name="connsiteX19" fmla="*/ 0 w 4124872"/>
              <a:gd name="connsiteY19" fmla="*/ 543902 h 932403"/>
              <a:gd name="connsiteX20" fmla="*/ 0 w 4124872"/>
              <a:gd name="connsiteY20" fmla="*/ 155404 h 932403"/>
              <a:gd name="connsiteX0" fmla="*/ 0 w 4124872"/>
              <a:gd name="connsiteY0" fmla="*/ 155404 h 932403"/>
              <a:gd name="connsiteX1" fmla="*/ 155404 w 4124872"/>
              <a:gd name="connsiteY1" fmla="*/ 0 h 932403"/>
              <a:gd name="connsiteX2" fmla="*/ 687479 w 4124872"/>
              <a:gd name="connsiteY2" fmla="*/ 0 h 932403"/>
              <a:gd name="connsiteX3" fmla="*/ 687479 w 4124872"/>
              <a:gd name="connsiteY3" fmla="*/ 0 h 932403"/>
              <a:gd name="connsiteX4" fmla="*/ 1718697 w 4124872"/>
              <a:gd name="connsiteY4" fmla="*/ 0 h 932403"/>
              <a:gd name="connsiteX5" fmla="*/ 3969468 w 4124872"/>
              <a:gd name="connsiteY5" fmla="*/ 0 h 932403"/>
              <a:gd name="connsiteX6" fmla="*/ 4124872 w 4124872"/>
              <a:gd name="connsiteY6" fmla="*/ 155404 h 932403"/>
              <a:gd name="connsiteX7" fmla="*/ 4124872 w 4124872"/>
              <a:gd name="connsiteY7" fmla="*/ 543902 h 932403"/>
              <a:gd name="connsiteX8" fmla="*/ 4124872 w 4124872"/>
              <a:gd name="connsiteY8" fmla="*/ 543902 h 932403"/>
              <a:gd name="connsiteX9" fmla="*/ 4124872 w 4124872"/>
              <a:gd name="connsiteY9" fmla="*/ 777003 h 932403"/>
              <a:gd name="connsiteX10" fmla="*/ 4124872 w 4124872"/>
              <a:gd name="connsiteY10" fmla="*/ 776999 h 932403"/>
              <a:gd name="connsiteX11" fmla="*/ 3969468 w 4124872"/>
              <a:gd name="connsiteY11" fmla="*/ 932403 h 932403"/>
              <a:gd name="connsiteX12" fmla="*/ 1718697 w 4124872"/>
              <a:gd name="connsiteY12" fmla="*/ 932403 h 932403"/>
              <a:gd name="connsiteX13" fmla="*/ 687479 w 4124872"/>
              <a:gd name="connsiteY13" fmla="*/ 932403 h 932403"/>
              <a:gd name="connsiteX14" fmla="*/ 687479 w 4124872"/>
              <a:gd name="connsiteY14" fmla="*/ 932403 h 932403"/>
              <a:gd name="connsiteX15" fmla="*/ 155404 w 4124872"/>
              <a:gd name="connsiteY15" fmla="*/ 932403 h 932403"/>
              <a:gd name="connsiteX16" fmla="*/ 0 w 4124872"/>
              <a:gd name="connsiteY16" fmla="*/ 776999 h 932403"/>
              <a:gd name="connsiteX17" fmla="*/ 0 w 4124872"/>
              <a:gd name="connsiteY17" fmla="*/ 777003 h 932403"/>
              <a:gd name="connsiteX18" fmla="*/ 0 w 4124872"/>
              <a:gd name="connsiteY18" fmla="*/ 543902 h 932403"/>
              <a:gd name="connsiteX19" fmla="*/ 0 w 4124872"/>
              <a:gd name="connsiteY19" fmla="*/ 155404 h 93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24872" h="932403">
                <a:moveTo>
                  <a:pt x="0" y="155404"/>
                </a:moveTo>
                <a:cubicBezTo>
                  <a:pt x="0" y="69577"/>
                  <a:pt x="69577" y="0"/>
                  <a:pt x="155404" y="0"/>
                </a:cubicBezTo>
                <a:lnTo>
                  <a:pt x="687479" y="0"/>
                </a:lnTo>
                <a:lnTo>
                  <a:pt x="687479" y="0"/>
                </a:lnTo>
                <a:lnTo>
                  <a:pt x="1718697" y="0"/>
                </a:lnTo>
                <a:lnTo>
                  <a:pt x="3969468" y="0"/>
                </a:lnTo>
                <a:cubicBezTo>
                  <a:pt x="4055295" y="0"/>
                  <a:pt x="4124872" y="69577"/>
                  <a:pt x="4124872" y="155404"/>
                </a:cubicBezTo>
                <a:lnTo>
                  <a:pt x="4124872" y="543902"/>
                </a:lnTo>
                <a:lnTo>
                  <a:pt x="4124872" y="543902"/>
                </a:lnTo>
                <a:lnTo>
                  <a:pt x="4124872" y="777003"/>
                </a:lnTo>
                <a:lnTo>
                  <a:pt x="4124872" y="776999"/>
                </a:lnTo>
                <a:cubicBezTo>
                  <a:pt x="4124872" y="862826"/>
                  <a:pt x="4055295" y="932403"/>
                  <a:pt x="3969468" y="932403"/>
                </a:cubicBezTo>
                <a:lnTo>
                  <a:pt x="1718697" y="932403"/>
                </a:lnTo>
                <a:lnTo>
                  <a:pt x="687479" y="932403"/>
                </a:lnTo>
                <a:lnTo>
                  <a:pt x="687479" y="932403"/>
                </a:lnTo>
                <a:lnTo>
                  <a:pt x="155404" y="932403"/>
                </a:lnTo>
                <a:cubicBezTo>
                  <a:pt x="69577" y="932403"/>
                  <a:pt x="0" y="862826"/>
                  <a:pt x="0" y="776999"/>
                </a:cubicBezTo>
                <a:lnTo>
                  <a:pt x="0" y="777003"/>
                </a:lnTo>
                <a:lnTo>
                  <a:pt x="0" y="543902"/>
                </a:lnTo>
                <a:lnTo>
                  <a:pt x="0" y="155404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Превръщане на числена стойност в текст</a:t>
            </a:r>
            <a:endParaRPr lang="bg-BG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09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Събиране на числа</a:t>
            </a:r>
            <a:r>
              <a:rPr lang="en-US" dirty="0"/>
              <a:t> (</a:t>
            </a:r>
            <a:r>
              <a:rPr lang="bg-BG" b="1" dirty="0"/>
              <a:t>оператор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en-US" dirty="0"/>
              <a:t>)</a:t>
            </a:r>
            <a:r>
              <a:rPr lang="bg-BG" dirty="0"/>
              <a:t>:</a:t>
            </a:r>
            <a:endParaRPr lang="en-US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Изваждане на числа</a:t>
            </a:r>
            <a:r>
              <a:rPr lang="en-US" dirty="0"/>
              <a:t> (</a:t>
            </a:r>
            <a:r>
              <a:rPr lang="bg-BG" b="1" dirty="0"/>
              <a:t>оператор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-</a:t>
            </a:r>
            <a:r>
              <a:rPr lang="en-US" dirty="0"/>
              <a:t>)</a:t>
            </a:r>
            <a:r>
              <a:rPr lang="bg-BG" dirty="0"/>
              <a:t>: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Аритметични операции</a:t>
            </a:r>
            <a:r>
              <a:rPr lang="en-US" dirty="0"/>
              <a:t>:</a:t>
            </a:r>
            <a:r>
              <a:rPr lang="bg-BG" dirty="0"/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–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96000" y="1894621"/>
            <a:ext cx="3645000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a = 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b = 7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sum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= a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b</a:t>
            </a:r>
            <a:r>
              <a:rPr lang="en-US" sz="2400" b="1" i="1" noProof="1">
                <a:latin typeface="Consolas" pitchFamily="49" charset="0"/>
                <a:cs typeface="Consolas" pitchFamily="49" charset="0"/>
              </a:rPr>
              <a:t> </a:t>
            </a:r>
            <a:endParaRPr lang="nn-NO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8C5C0-C41C-4795-9DFA-8109F58FB92D}"/>
              </a:ext>
            </a:extLst>
          </p:cNvPr>
          <p:cNvSpPr txBox="1"/>
          <p:nvPr/>
        </p:nvSpPr>
        <p:spPr>
          <a:xfrm>
            <a:off x="5286000" y="2617896"/>
            <a:ext cx="9073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2500" i="1" dirty="0">
                <a:solidFill>
                  <a:schemeClr val="accent2"/>
                </a:solidFill>
              </a:rPr>
              <a:t> </a:t>
            </a:r>
            <a:r>
              <a:rPr lang="bg-BG" sz="2500" b="1" i="1" dirty="0">
                <a:solidFill>
                  <a:schemeClr val="accent2"/>
                </a:solidFill>
                <a:latin typeface="Consolas" pitchFamily="49" charset="0"/>
              </a:rPr>
              <a:t>12</a:t>
            </a:r>
            <a:endParaRPr lang="en-US" sz="2500" b="1" i="1" dirty="0">
              <a:solidFill>
                <a:schemeClr val="accent2"/>
              </a:solidFill>
              <a:latin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91510" y="3932989"/>
            <a:ext cx="4009490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a = int(input())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b = int(input())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result = a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–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b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print(result)</a:t>
            </a:r>
            <a:endParaRPr lang="nn-NO" sz="2400" b="1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6427">
            <a:off x="8475160" y="3468162"/>
            <a:ext cx="3301436" cy="330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2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Умножение на числа</a:t>
            </a:r>
            <a:r>
              <a:rPr lang="en-US" dirty="0"/>
              <a:t> (</a:t>
            </a:r>
            <a:r>
              <a:rPr lang="bg-BG" b="1" dirty="0">
                <a:solidFill>
                  <a:schemeClr val="bg1"/>
                </a:solidFill>
              </a:rPr>
              <a:t>оператор </a:t>
            </a:r>
            <a:r>
              <a:rPr lang="en-US" b="1" dirty="0">
                <a:solidFill>
                  <a:schemeClr val="bg1"/>
                </a:solidFill>
              </a:rPr>
              <a:t>*</a:t>
            </a:r>
            <a:r>
              <a:rPr lang="en-US" dirty="0"/>
              <a:t>)</a:t>
            </a:r>
            <a:r>
              <a:rPr lang="bg-BG" dirty="0"/>
              <a:t>:</a:t>
            </a:r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Деление на числа</a:t>
            </a:r>
            <a:r>
              <a:rPr lang="en-US" dirty="0"/>
              <a:t> (</a:t>
            </a:r>
            <a:r>
              <a:rPr lang="bg-BG" b="1" dirty="0">
                <a:solidFill>
                  <a:schemeClr val="bg1"/>
                </a:solidFill>
              </a:rPr>
              <a:t>оператор /  и //</a:t>
            </a:r>
            <a:r>
              <a:rPr lang="en-US" dirty="0"/>
              <a:t>)</a:t>
            </a:r>
            <a:r>
              <a:rPr lang="bg-BG" dirty="0"/>
              <a:t>: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Аритметични операции</a:t>
            </a:r>
            <a:r>
              <a:rPr lang="en-US" dirty="0"/>
              <a:t>:</a:t>
            </a:r>
            <a:r>
              <a:rPr lang="bg-BG" dirty="0"/>
              <a:t> </a:t>
            </a:r>
            <a:r>
              <a:rPr lang="bg-BG" dirty="0">
                <a:solidFill>
                  <a:schemeClr val="bg1"/>
                </a:solidFill>
                <a:latin typeface="Consolas" panose="020B0609020204030204" pitchFamily="49" charset="0"/>
              </a:rPr>
              <a:t>*</a:t>
            </a:r>
            <a:r>
              <a:rPr lang="en-US" dirty="0"/>
              <a:t> , 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/>
              <a:t>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//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91510" y="1854000"/>
            <a:ext cx="3809999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a = 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b = 7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product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= a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b</a:t>
            </a:r>
            <a:r>
              <a:rPr lang="en-US" sz="2400" b="1" i="1" noProof="1">
                <a:latin typeface="Consolas" pitchFamily="49" charset="0"/>
                <a:cs typeface="Consolas" pitchFamily="49" charset="0"/>
              </a:rPr>
              <a:t> </a:t>
            </a:r>
            <a:endParaRPr lang="nn-NO" sz="2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491510" y="4104000"/>
            <a:ext cx="7852799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a = 25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f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= a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4</a:t>
            </a:r>
            <a:endParaRPr lang="en-US" sz="2400" b="1" i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i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= a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2400" b="1" noProof="1">
                <a:latin typeface="Consolas" pitchFamily="49" charset="0"/>
                <a:cs typeface="Consolas" pitchFamily="49" charset="0"/>
              </a:rPr>
              <a:t>4</a:t>
            </a:r>
            <a:r>
              <a:rPr lang="en-US" sz="2400" b="1" i="1" noProof="1">
                <a:latin typeface="Consolas" pitchFamily="49" charset="0"/>
                <a:cs typeface="Consolas" pitchFamily="49" charset="0"/>
              </a:rPr>
              <a:t> </a:t>
            </a:r>
            <a:endParaRPr lang="bg-BG" sz="2400" b="1" i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error = a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 0  </a:t>
            </a:r>
            <a:endParaRPr lang="nn-NO" sz="2400" b="1" i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8C5C0-C41C-4795-9DFA-8109F58FB92D}"/>
              </a:ext>
            </a:extLst>
          </p:cNvPr>
          <p:cNvSpPr txBox="1"/>
          <p:nvPr/>
        </p:nvSpPr>
        <p:spPr>
          <a:xfrm>
            <a:off x="5732463" y="4452983"/>
            <a:ext cx="46118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5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6</a:t>
            </a:r>
            <a:r>
              <a:rPr lang="en-US" sz="25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.25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427F3-F210-4947-92BB-187E4047F937}"/>
              </a:ext>
            </a:extLst>
          </p:cNvPr>
          <p:cNvSpPr txBox="1"/>
          <p:nvPr/>
        </p:nvSpPr>
        <p:spPr>
          <a:xfrm>
            <a:off x="5732463" y="4854595"/>
            <a:ext cx="46095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 b="1">
                <a:solidFill>
                  <a:schemeClr val="accent4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# </a:t>
            </a:r>
            <a:r>
              <a:rPr lang="bg-BG" i="1" noProof="1">
                <a:solidFill>
                  <a:schemeClr val="accent2"/>
                </a:solidFill>
              </a:rPr>
              <a:t>6 </a:t>
            </a:r>
            <a:r>
              <a:rPr lang="en-US" i="1" noProof="1">
                <a:solidFill>
                  <a:schemeClr val="accent2"/>
                </a:solidFill>
              </a:rPr>
              <a:t>-</a:t>
            </a:r>
            <a:r>
              <a:rPr lang="bg-BG" i="1" noProof="1">
                <a:solidFill>
                  <a:schemeClr val="accent2"/>
                </a:solidFill>
              </a:rPr>
              <a:t> целочислено деление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427F3-F210-4947-92BB-187E4047F937}"/>
              </a:ext>
            </a:extLst>
          </p:cNvPr>
          <p:cNvSpPr txBox="1"/>
          <p:nvPr/>
        </p:nvSpPr>
        <p:spPr>
          <a:xfrm>
            <a:off x="5732463" y="5200189"/>
            <a:ext cx="46118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 b="1">
                <a:solidFill>
                  <a:schemeClr val="accent4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# </a:t>
            </a:r>
            <a:r>
              <a:rPr lang="bg-BG" i="1" noProof="1">
                <a:solidFill>
                  <a:schemeClr val="accent2"/>
                </a:solidFill>
              </a:rPr>
              <a:t>Грешка: деление на 0</a:t>
            </a:r>
            <a:endParaRPr lang="en-US" i="1" noProof="1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8C5C0-C41C-4795-9DFA-8109F58FB92D}"/>
              </a:ext>
            </a:extLst>
          </p:cNvPr>
          <p:cNvSpPr txBox="1"/>
          <p:nvPr/>
        </p:nvSpPr>
        <p:spPr>
          <a:xfrm>
            <a:off x="5459235" y="2577275"/>
            <a:ext cx="83550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2500" i="1" dirty="0">
                <a:solidFill>
                  <a:schemeClr val="accent2"/>
                </a:solidFill>
              </a:rPr>
              <a:t> </a:t>
            </a:r>
            <a:r>
              <a:rPr lang="bg-BG" sz="2500" b="1" i="1" dirty="0">
                <a:solidFill>
                  <a:schemeClr val="accent2"/>
                </a:solidFill>
                <a:latin typeface="Consolas" pitchFamily="49" charset="0"/>
              </a:rPr>
              <a:t>35</a:t>
            </a:r>
            <a:endParaRPr lang="en-US" sz="2500" b="1" i="1" dirty="0">
              <a:solidFill>
                <a:schemeClr val="accent2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4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Модул</a:t>
            </a:r>
            <a:r>
              <a:rPr lang="en-US" sz="3600" dirty="0"/>
              <a:t>/</a:t>
            </a:r>
            <a:r>
              <a:rPr lang="bg-BG" sz="3600" dirty="0"/>
              <a:t>остатък от целочислено деление на числа</a:t>
            </a:r>
            <a:r>
              <a:rPr lang="en-US" sz="3600" dirty="0"/>
              <a:t> (</a:t>
            </a:r>
            <a:r>
              <a:rPr lang="bg-BG" sz="3600" b="1" dirty="0"/>
              <a:t>оператор</a:t>
            </a:r>
            <a:r>
              <a:rPr lang="bg-BG" sz="3600" b="1" dirty="0">
                <a:solidFill>
                  <a:schemeClr val="bg1"/>
                </a:solidFill>
              </a:rPr>
              <a:t> %</a:t>
            </a:r>
            <a:r>
              <a:rPr lang="en-US" sz="3600" dirty="0"/>
              <a:t>)</a:t>
            </a:r>
            <a:r>
              <a:rPr lang="bg-BG" sz="3600" dirty="0"/>
              <a:t>: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Аритметични операции</a:t>
            </a:r>
            <a:r>
              <a:rPr lang="en-US" dirty="0"/>
              <a:t>:</a:t>
            </a:r>
            <a:r>
              <a:rPr lang="bg-BG" dirty="0"/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%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93448" y="2372880"/>
            <a:ext cx="4394045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800" b="1" noProof="1">
                <a:latin typeface="Consolas" pitchFamily="49" charset="0"/>
                <a:cs typeface="Consolas" pitchFamily="49" charset="0"/>
              </a:rPr>
              <a:t>a = 7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800" b="1" noProof="1">
                <a:latin typeface="Consolas" pitchFamily="49" charset="0"/>
                <a:cs typeface="Consolas" pitchFamily="49" charset="0"/>
              </a:rPr>
              <a:t>b = </a:t>
            </a:r>
            <a:r>
              <a:rPr lang="en-GB" sz="2800" b="1" noProof="1">
                <a:latin typeface="Consolas" pitchFamily="49" charset="0"/>
                <a:cs typeface="Consolas" pitchFamily="49" charset="0"/>
              </a:rPr>
              <a:t>2</a:t>
            </a:r>
            <a:endParaRPr lang="nn-NO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product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= a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%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b</a:t>
            </a:r>
            <a:r>
              <a:rPr lang="en-US" sz="2800" b="1" i="1" noProof="1">
                <a:latin typeface="Consolas" pitchFamily="49" charset="0"/>
                <a:cs typeface="Consolas" pitchFamily="49" charset="0"/>
              </a:rPr>
              <a:t> </a:t>
            </a:r>
            <a:endParaRPr lang="nn-NO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8126" y="3219910"/>
            <a:ext cx="78254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900" b="1" i="1" noProof="1">
                <a:solidFill>
                  <a:schemeClr val="accent2"/>
                </a:solidFill>
                <a:cs typeface="Consolas" pitchFamily="49" charset="0"/>
              </a:rPr>
              <a:t>#  </a:t>
            </a:r>
            <a:r>
              <a:rPr lang="en-GB" sz="2900" b="1" i="1" noProof="1">
                <a:solidFill>
                  <a:schemeClr val="accent2"/>
                </a:solidFill>
                <a:cs typeface="Consolas" pitchFamily="49" charset="0"/>
              </a:rPr>
              <a:t>1</a:t>
            </a:r>
            <a:endParaRPr lang="nn-NO" sz="2900" b="1" i="1" noProof="1">
              <a:solidFill>
                <a:schemeClr val="accent2"/>
              </a:solidFill>
              <a:cs typeface="Consolas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000" y="1762180"/>
            <a:ext cx="3870000" cy="2123883"/>
          </a:xfrm>
          <a:prstGeom prst="rect">
            <a:avLst/>
          </a:prstGeom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393448" y="4368822"/>
            <a:ext cx="7961057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odd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= 3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%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2</a:t>
            </a:r>
            <a:endParaRPr lang="en-US" sz="2800" b="1" i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itchFamily="49" charset="0"/>
                <a:cs typeface="Consolas" pitchFamily="49" charset="0"/>
              </a:rPr>
              <a:t>е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ven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= 4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%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2</a:t>
            </a:r>
            <a:endParaRPr lang="en-US" sz="2800" b="1" i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error = 3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%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0</a:t>
            </a:r>
            <a:endParaRPr lang="nn-NO" sz="2800" b="1" i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20344" y="4368822"/>
            <a:ext cx="4876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 b="1">
                <a:solidFill>
                  <a:schemeClr val="accent4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#  1 </a:t>
            </a:r>
            <a:r>
              <a:rPr lang="bg-BG" i="1" noProof="1">
                <a:solidFill>
                  <a:schemeClr val="accent2"/>
                </a:solidFill>
              </a:rPr>
              <a:t>–</a:t>
            </a:r>
            <a:r>
              <a:rPr lang="en-US" i="1" noProof="1">
                <a:solidFill>
                  <a:schemeClr val="accent2"/>
                </a:solidFill>
              </a:rPr>
              <a:t> </a:t>
            </a:r>
            <a:r>
              <a:rPr lang="bg-BG" i="1" noProof="1">
                <a:solidFill>
                  <a:schemeClr val="accent2"/>
                </a:solidFill>
              </a:rPr>
              <a:t>числото</a:t>
            </a:r>
            <a:r>
              <a:rPr lang="en-US" i="1" noProof="1">
                <a:solidFill>
                  <a:schemeClr val="accent2"/>
                </a:solidFill>
              </a:rPr>
              <a:t> 3</a:t>
            </a:r>
            <a:r>
              <a:rPr lang="bg-BG" i="1" noProof="1">
                <a:solidFill>
                  <a:schemeClr val="accent2"/>
                </a:solidFill>
              </a:rPr>
              <a:t> е нечетно</a:t>
            </a:r>
            <a:r>
              <a:rPr lang="en-US" i="1" noProof="1">
                <a:solidFill>
                  <a:schemeClr val="accent2"/>
                </a:solidFill>
              </a:rPr>
              <a:t> 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20345" y="4783034"/>
            <a:ext cx="49167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 b="1">
                <a:solidFill>
                  <a:schemeClr val="accent4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#  </a:t>
            </a:r>
            <a:r>
              <a:rPr lang="bg-BG" i="1" noProof="1">
                <a:solidFill>
                  <a:schemeClr val="accent2"/>
                </a:solidFill>
              </a:rPr>
              <a:t>0 – числото</a:t>
            </a:r>
            <a:r>
              <a:rPr lang="en-US" i="1" noProof="1">
                <a:solidFill>
                  <a:schemeClr val="accent2"/>
                </a:solidFill>
              </a:rPr>
              <a:t> 4</a:t>
            </a:r>
            <a:r>
              <a:rPr lang="bg-BG" i="1" noProof="1">
                <a:solidFill>
                  <a:schemeClr val="accent2"/>
                </a:solidFill>
              </a:rPr>
              <a:t> е четно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20344" y="5192503"/>
            <a:ext cx="4495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 b="1">
                <a:solidFill>
                  <a:schemeClr val="accent4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#  </a:t>
            </a:r>
            <a:r>
              <a:rPr lang="bg-BG" i="1" noProof="1">
                <a:solidFill>
                  <a:schemeClr val="accent2"/>
                </a:solidFill>
              </a:rPr>
              <a:t>Грешка: деление на 0</a:t>
            </a:r>
            <a:endParaRPr lang="nn-NO" i="1" noProof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3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39000"/>
            <a:ext cx="10961783" cy="768084"/>
          </a:xfrm>
        </p:spPr>
        <p:txBody>
          <a:bodyPr/>
          <a:lstStyle/>
          <a:p>
            <a:r>
              <a:rPr lang="bg-BG" dirty="0"/>
              <a:t>Печатане на конзолата</a:t>
            </a:r>
            <a:endParaRPr lang="en-US" dirty="0"/>
          </a:p>
        </p:txBody>
      </p:sp>
      <p:sp>
        <p:nvSpPr>
          <p:cNvPr id="7" name="Oval Callout 7">
            <a:extLst>
              <a:ext uri="{FF2B5EF4-FFF2-40B4-BE49-F238E27FC236}">
                <a16:creationId xmlns:a16="http://schemas.microsoft.com/office/drawing/2014/main" id="{38CB8CA4-8746-4FE2-9DC1-E827FBD62AD7}"/>
              </a:ext>
            </a:extLst>
          </p:cNvPr>
          <p:cNvSpPr/>
          <p:nvPr/>
        </p:nvSpPr>
        <p:spPr>
          <a:xfrm>
            <a:off x="4937167" y="1512630"/>
            <a:ext cx="2317668" cy="2137918"/>
          </a:xfrm>
          <a:prstGeom prst="wedgeEllipseCallout">
            <a:avLst>
              <a:gd name="adj1" fmla="val -48582"/>
              <a:gd name="adj2" fmla="val 55368"/>
            </a:avLst>
          </a:prstGeom>
          <a:solidFill>
            <a:schemeClr val="tx2">
              <a:lumMod val="75000"/>
            </a:schemeClr>
          </a:solidFill>
          <a:ln w="66675">
            <a:solidFill>
              <a:srgbClr val="FF5549"/>
            </a:solidFill>
            <a:prstDash val="solid"/>
          </a:ln>
          <a:effectLst>
            <a:outerShdw dist="25400" dir="9600000" sx="98000" sy="98000" algn="ctr" rotWithShape="0">
              <a:schemeClr val="tx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59E77-E637-4906-9760-6FBE186260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50072">
            <a:off x="5282687" y="1768276"/>
            <a:ext cx="1626626" cy="162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3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Можем да</a:t>
            </a:r>
            <a:r>
              <a:rPr lang="en-US" sz="3600" dirty="0"/>
              <a:t> </a:t>
            </a:r>
            <a:r>
              <a:rPr lang="bg-BG" sz="3600" dirty="0"/>
              <a:t>форматираме изхода чрез </a:t>
            </a:r>
            <a:r>
              <a:rPr lang="bg-BG" sz="3600" b="1" dirty="0">
                <a:solidFill>
                  <a:schemeClr val="bg1"/>
                </a:solidFill>
              </a:rPr>
              <a:t>интерполация</a:t>
            </a:r>
            <a:r>
              <a:rPr lang="en-US" sz="3600" dirty="0"/>
              <a:t>,</a:t>
            </a:r>
            <a:r>
              <a:rPr lang="bg-BG" sz="3600" dirty="0"/>
              <a:t> която се означава със символа '</a:t>
            </a:r>
            <a:r>
              <a:rPr lang="en-US" sz="3600" b="1" dirty="0">
                <a:solidFill>
                  <a:schemeClr val="bg1"/>
                </a:solidFill>
              </a:rPr>
              <a:t>f</a:t>
            </a:r>
            <a:r>
              <a:rPr lang="bg-BG" sz="3600" dirty="0"/>
              <a:t>'</a:t>
            </a:r>
            <a:r>
              <a:rPr lang="en-US" sz="3600" dirty="0"/>
              <a:t>:</a:t>
            </a:r>
            <a:endParaRPr lang="bg-BG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Съединяване на текст и числа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85565" y="2723973"/>
            <a:ext cx="10210800" cy="293618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first_name = </a:t>
            </a:r>
            <a:r>
              <a:rPr lang="it-IT" sz="2800" b="1" noProof="1">
                <a:latin typeface="Consolas" pitchFamily="49" charset="0"/>
              </a:rPr>
              <a:t>input()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last_name = </a:t>
            </a:r>
            <a:r>
              <a:rPr lang="it-IT" sz="2800" b="1" noProof="1">
                <a:latin typeface="Consolas" pitchFamily="49" charset="0"/>
              </a:rPr>
              <a:t>input()</a:t>
            </a:r>
            <a:endParaRPr lang="it-IT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age = int(</a:t>
            </a:r>
            <a:r>
              <a:rPr lang="it-IT" sz="2800" b="1" noProof="1">
                <a:latin typeface="Consolas" pitchFamily="49" charset="0"/>
              </a:rPr>
              <a:t>input()</a:t>
            </a:r>
            <a:r>
              <a:rPr lang="it-IT" sz="2800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800" b="1" noProof="1">
                <a:latin typeface="Consolas" pitchFamily="49" charset="0"/>
                <a:cs typeface="Consolas" pitchFamily="49" charset="0"/>
              </a:rPr>
              <a:t>town = </a:t>
            </a:r>
            <a:r>
              <a:rPr lang="it-IT" sz="2800" b="1" noProof="1">
                <a:latin typeface="Consolas" pitchFamily="49" charset="0"/>
              </a:rPr>
              <a:t>input()</a:t>
            </a:r>
            <a:endParaRPr lang="bg-BG" sz="2800" b="1" noProof="1">
              <a:latin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itchFamily="49" charset="0"/>
                <a:cs typeface="Consolas" pitchFamily="49" charset="0"/>
              </a:rPr>
              <a:t>print(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"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Здравей, </a:t>
            </a:r>
            <a:r>
              <a:rPr lang="bg-BG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first_name} {last_name}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! 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Ти си на </a:t>
            </a:r>
            <a:r>
              <a:rPr lang="bg-BG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age} 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години и живееш в </a:t>
            </a:r>
            <a:r>
              <a:rPr lang="bg-BG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town}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.")</a:t>
            </a:r>
            <a:endParaRPr lang="it-IT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7952066" y="2979093"/>
            <a:ext cx="3550365" cy="1387183"/>
          </a:xfrm>
          <a:prstGeom prst="wedgeRoundRectCallout">
            <a:avLst>
              <a:gd name="adj1" fmla="val -5273"/>
              <a:gd name="adj2" fmla="val 151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В къдравите скоби поставяме името на променливата</a:t>
            </a:r>
          </a:p>
        </p:txBody>
      </p:sp>
    </p:spTree>
    <p:extLst>
      <p:ext uri="{BB962C8B-B14F-4D97-AF65-F5344CB8AC3E}">
        <p14:creationId xmlns:p14="http://schemas.microsoft.com/office/powerpoint/2010/main" val="420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Понякога се налага да </a:t>
            </a:r>
            <a:r>
              <a:rPr lang="ru-RU" b="1" dirty="0"/>
              <a:t>използваме</a:t>
            </a:r>
            <a:r>
              <a:rPr lang="ru-RU" dirty="0"/>
              <a:t> вече </a:t>
            </a:r>
            <a:r>
              <a:rPr lang="ru-RU" b="1" dirty="0"/>
              <a:t>готови програми</a:t>
            </a:r>
            <a:r>
              <a:rPr lang="ru-RU" dirty="0"/>
              <a:t>, за</a:t>
            </a:r>
            <a:r>
              <a:rPr lang="en-US" dirty="0"/>
              <a:t> </a:t>
            </a:r>
            <a:r>
              <a:rPr lang="ru-RU" dirty="0"/>
              <a:t>да ни е </a:t>
            </a:r>
            <a:r>
              <a:rPr lang="ru-RU" b="1" dirty="0"/>
              <a:t>по-лесно</a:t>
            </a:r>
            <a:r>
              <a:rPr lang="ru-RU" dirty="0"/>
              <a:t> да напишем нашата:</a:t>
            </a:r>
          </a:p>
          <a:p>
            <a:pPr lvl="1"/>
            <a:r>
              <a:rPr lang="ru-RU" dirty="0"/>
              <a:t>За целта трябва да ги "</a:t>
            </a:r>
            <a:r>
              <a:rPr lang="ru-RU" b="1" dirty="0"/>
              <a:t>заредим</a:t>
            </a:r>
            <a:r>
              <a:rPr lang="ru-RU" dirty="0"/>
              <a:t>":</a:t>
            </a:r>
          </a:p>
          <a:p>
            <a:pPr lvl="1"/>
            <a:endParaRPr lang="ru-RU" dirty="0"/>
          </a:p>
          <a:p>
            <a:pPr lvl="1"/>
            <a:r>
              <a:rPr lang="bg-BG" dirty="0"/>
              <a:t>Пример:</a:t>
            </a:r>
          </a:p>
          <a:p>
            <a:pPr lvl="1"/>
            <a:endParaRPr lang="bg-BG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Зареждане на библиотеки (</a:t>
            </a:r>
            <a:r>
              <a:rPr lang="en-US" dirty="0"/>
              <a:t>Import)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90601" y="3114000"/>
            <a:ext cx="6400801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import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Името на библиотеката</a:t>
            </a:r>
            <a:endParaRPr lang="nn-NO" sz="28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099F2-E289-4CB2-B7E6-3E8A40B8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580" y="4413897"/>
            <a:ext cx="1100946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import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math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Зарежда библиотеката с име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math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import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sys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Зарежда библиотеката с име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sys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import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math, sys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</a:t>
            </a:r>
            <a:r>
              <a:rPr lang="bg-BG" sz="28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Зарежда всички изредени библиотеки</a:t>
            </a:r>
            <a:endParaRPr lang="en-US" sz="28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44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bg2"/>
                </a:solidFill>
              </a:rPr>
              <a:t>Аритметичните операции </a:t>
            </a:r>
            <a:r>
              <a:rPr lang="bg-BG" sz="3200" dirty="0">
                <a:solidFill>
                  <a:schemeClr val="bg2"/>
                </a:solidFill>
              </a:rPr>
              <a:t>с числа: </a:t>
            </a:r>
          </a:p>
          <a:p>
            <a:pPr lvl="1"/>
            <a:r>
              <a:rPr lang="en-US" sz="2800" b="1" dirty="0">
                <a:solidFill>
                  <a:schemeClr val="bg2"/>
                </a:solidFill>
              </a:rPr>
              <a:t>͏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//</a:t>
            </a:r>
            <a:r>
              <a:rPr lang="en-US" sz="2800" dirty="0">
                <a:solidFill>
                  <a:schemeClr val="bg2"/>
                </a:solidFill>
              </a:rPr>
              <a:t>,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%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sz="3000" dirty="0">
                <a:solidFill>
                  <a:schemeClr val="bg2"/>
                </a:solidFill>
              </a:rPr>
              <a:t>Зареждане на </a:t>
            </a:r>
            <a:r>
              <a:rPr lang="bg-BG" sz="3000" b="1" dirty="0">
                <a:solidFill>
                  <a:schemeClr val="bg2"/>
                </a:solidFill>
              </a:rPr>
              <a:t>библиотеки</a:t>
            </a:r>
            <a:endParaRPr lang="en-US" sz="3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5501</TotalTime>
  <Words>792</Words>
  <Application>Microsoft Office PowerPoint</Application>
  <PresentationFormat>Widescreen</PresentationFormat>
  <Paragraphs>134</Paragraphs>
  <Slides>15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Wingdings</vt:lpstr>
      <vt:lpstr>SoftUni</vt:lpstr>
      <vt:lpstr>Прости операции</vt:lpstr>
      <vt:lpstr>Съдържание</vt:lpstr>
      <vt:lpstr>Прости операции</vt:lpstr>
      <vt:lpstr>Поздрав по име – пример</vt:lpstr>
      <vt:lpstr>Поздрав по име – решение</vt:lpstr>
      <vt:lpstr>Съединяване на текст и число</vt:lpstr>
      <vt:lpstr>Аритметични операции: + и –</vt:lpstr>
      <vt:lpstr>Аритметични операции: * , /, //</vt:lpstr>
      <vt:lpstr>Аритметични операции: %</vt:lpstr>
      <vt:lpstr>Печатане на конзолата</vt:lpstr>
      <vt:lpstr>Съединяване на текст и числа</vt:lpstr>
      <vt:lpstr>Зареждане на библиотеки (Import)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Прости операции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1444</cp:revision>
  <dcterms:created xsi:type="dcterms:W3CDTF">2018-05-23T13:08:44Z</dcterms:created>
  <dcterms:modified xsi:type="dcterms:W3CDTF">2026-09-25T09:05:51Z</dcterms:modified>
  <cp:category/>
</cp:coreProperties>
</file>