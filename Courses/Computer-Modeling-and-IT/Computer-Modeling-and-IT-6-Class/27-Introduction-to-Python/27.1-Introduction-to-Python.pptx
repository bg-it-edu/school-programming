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4"/>
  </p:notesMasterIdLst>
  <p:handoutMasterIdLst>
    <p:handoutMasterId r:id="rId25"/>
  </p:handoutMasterIdLst>
  <p:sldIdLst>
    <p:sldId id="503" r:id="rId2"/>
    <p:sldId id="276" r:id="rId3"/>
    <p:sldId id="588" r:id="rId4"/>
    <p:sldId id="589" r:id="rId5"/>
    <p:sldId id="587" r:id="rId6"/>
    <p:sldId id="590" r:id="rId7"/>
    <p:sldId id="592" r:id="rId8"/>
    <p:sldId id="614" r:id="rId9"/>
    <p:sldId id="591" r:id="rId10"/>
    <p:sldId id="595" r:id="rId11"/>
    <p:sldId id="593" r:id="rId12"/>
    <p:sldId id="594" r:id="rId13"/>
    <p:sldId id="596" r:id="rId14"/>
    <p:sldId id="597" r:id="rId15"/>
    <p:sldId id="598" r:id="rId16"/>
    <p:sldId id="599" r:id="rId17"/>
    <p:sldId id="600" r:id="rId18"/>
    <p:sldId id="601" r:id="rId19"/>
    <p:sldId id="603" r:id="rId20"/>
    <p:sldId id="586" r:id="rId21"/>
    <p:sldId id="504" r:id="rId22"/>
    <p:sldId id="50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Интересни факти за ͏Python" id="{DB19340D-3D41-44AA-8EF4-C80C4C52B687}">
          <p14:sldIdLst>
            <p14:sldId id="588"/>
            <p14:sldId id="589"/>
          </p14:sldIdLst>
        </p14:section>
        <p14:section name="͏Първа програма с Python" id="{E703499E-E28C-4935-8D6E-FED703514B10}">
          <p14:sldIdLst>
            <p14:sldId id="587"/>
            <p14:sldId id="590"/>
            <p14:sldId id="592"/>
            <p14:sldId id="614"/>
            <p14:sldId id="591"/>
            <p14:sldId id="595"/>
            <p14:sldId id="593"/>
            <p14:sldId id="594"/>
          </p14:sldIdLst>
        </p14:section>
        <p14:section name="Променливи и типове данни" id="{923671BB-B926-47BD-BA21-41742DA497AC}">
          <p14:sldIdLst>
            <p14:sldId id="596"/>
            <p14:sldId id="597"/>
            <p14:sldId id="598"/>
          </p14:sldIdLst>
        </p14:section>
        <p14:section name="Четене на потребителски вход" id="{9DF015E1-66AF-483E-A6F0-747B79FDFA92}">
          <p14:sldIdLst>
            <p14:sldId id="599"/>
            <p14:sldId id="600"/>
            <p14:sldId id="601"/>
            <p14:sldId id="603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3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6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bg.wikipedia.org/wiki/%D0%93%D1%83%D0%B8%D0%B4%D0%BE_%D0%B2%D0%B0%D0%BD_%D0%A0%D0%BE%D1%81%D1%83%D0%BC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thonny.org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Работа с </a:t>
            </a:r>
            <a:r>
              <a:rPr lang="bg-BG" dirty="0"/>
              <a:t>конзола</a:t>
            </a:r>
            <a:r>
              <a:rPr lang="ru-RU" dirty="0"/>
              <a:t>, </a:t>
            </a:r>
            <a:r>
              <a:rPr lang="bg-BG" dirty="0"/>
              <a:t>аритметични</a:t>
            </a:r>
            <a:r>
              <a:rPr lang="ru-RU" dirty="0"/>
              <a:t> операции</a:t>
            </a:r>
            <a:r>
              <a:rPr lang="en-US" dirty="0"/>
              <a:t> </a:t>
            </a:r>
            <a:r>
              <a:rPr lang="bg-BG" dirty="0"/>
              <a:t>с числа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Въведение в </a:t>
            </a:r>
            <a:r>
              <a:rPr lang="en-US" dirty="0"/>
              <a:t>Python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4104" name="Picture 8" descr="Logging in Python: A Developer's Guide | Product Blog • Sentry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7596" t="11928" r="3048" b="12533"/>
          <a:stretch/>
        </p:blipFill>
        <p:spPr bwMode="auto">
          <a:xfrm>
            <a:off x="6390123" y="3024001"/>
            <a:ext cx="5248260" cy="256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/>
              <a:t>Интересни факти </a:t>
            </a:r>
            <a:r>
              <a:rPr lang="bg-BG" dirty="0"/>
              <a:t>за ͏</a:t>
            </a:r>
            <a:r>
              <a:rPr lang="en-US" b="1" dirty="0">
                <a:solidFill>
                  <a:schemeClr val="bg1"/>
                </a:solidFill>
              </a:rPr>
              <a:t>Python</a:t>
            </a:r>
            <a:endParaRPr lang="bg-BG" b="1" dirty="0">
              <a:solidFill>
                <a:schemeClr val="bg1"/>
              </a:solidFill>
            </a:endParaRPr>
          </a:p>
          <a:p>
            <a:r>
              <a:rPr lang="bg-BG" dirty="0"/>
              <a:t>͏Първа програма с </a:t>
            </a:r>
            <a:r>
              <a:rPr lang="en-US" dirty="0"/>
              <a:t>Python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Променливи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типове данни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bg-BG" dirty="0"/>
              <a:t>͏</a:t>
            </a:r>
            <a:r>
              <a:rPr lang="bg-BG" b="1" dirty="0"/>
              <a:t>Четене</a:t>
            </a:r>
            <a:r>
              <a:rPr lang="bg-BG" dirty="0"/>
              <a:t> на </a:t>
            </a:r>
            <a:r>
              <a:rPr lang="bg-BG" b="1" dirty="0"/>
              <a:t>потребителски вход</a:t>
            </a:r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135916"/>
            <a:ext cx="10961783" cy="768084"/>
          </a:xfrm>
        </p:spPr>
        <p:txBody>
          <a:bodyPr/>
          <a:lstStyle/>
          <a:p>
            <a:r>
              <a:rPr lang="bg-BG" dirty="0"/>
              <a:t>Интересни факти за ͏</a:t>
            </a:r>
            <a:r>
              <a:rPr lang="en-US" dirty="0"/>
              <a:t>Python</a:t>
            </a: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78" b="14042"/>
          <a:stretch/>
        </p:blipFill>
        <p:spPr bwMode="auto">
          <a:xfrm>
            <a:off x="5106000" y="1630172"/>
            <a:ext cx="1980000" cy="202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23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300598" cy="5528766"/>
          </a:xfrm>
        </p:spPr>
        <p:txBody>
          <a:bodyPr/>
          <a:lstStyle/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Python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език за програмиране от </a:t>
            </a:r>
            <a:r>
              <a:rPr lang="ru-RU" b="1" dirty="0"/>
              <a:t>високо ниво</a:t>
            </a:r>
            <a:endParaRPr lang="en-US" b="1" dirty="0"/>
          </a:p>
          <a:p>
            <a:pPr lvl="1"/>
            <a:r>
              <a:rPr lang="bg-BG" dirty="0"/>
              <a:t>Създаден от </a:t>
            </a:r>
            <a:r>
              <a:rPr lang="bg-BG" dirty="0">
                <a:hlinkClick r:id="rId2"/>
              </a:rPr>
              <a:t>Гуидо ван Росум</a:t>
            </a:r>
            <a:r>
              <a:rPr lang="en-US" dirty="0"/>
              <a:t> </a:t>
            </a:r>
            <a:r>
              <a:rPr lang="ru-RU" dirty="0"/>
              <a:t>в началото на </a:t>
            </a:r>
            <a:r>
              <a:rPr lang="ru-RU" b="1" dirty="0"/>
              <a:t>90-те</a:t>
            </a:r>
            <a:r>
              <a:rPr lang="ru-RU" dirty="0"/>
              <a:t> години</a:t>
            </a:r>
            <a:endParaRPr lang="en-US" dirty="0"/>
          </a:p>
          <a:p>
            <a:r>
              <a:rPr lang="ru-RU" sz="3200" dirty="0">
                <a:cs typeface="Consolas" panose="020B0609020204030204" pitchFamily="49" charset="0"/>
              </a:rPr>
              <a:t>Синтаксис</a:t>
            </a:r>
            <a:r>
              <a:rPr lang="bg-BG" sz="3200" dirty="0">
                <a:cs typeface="Consolas" panose="020B0609020204030204" pitchFamily="49" charset="0"/>
              </a:rPr>
              <a:t>ът е </a:t>
            </a:r>
            <a:r>
              <a:rPr lang="en-US" sz="3200" dirty="0">
                <a:cs typeface="Consolas" panose="020B0609020204030204" pitchFamily="49" charset="0"/>
              </a:rPr>
              <a:t>близък</a:t>
            </a:r>
            <a:r>
              <a:rPr lang="ru-RU" sz="3200" dirty="0">
                <a:cs typeface="Consolas" panose="020B0609020204030204" pitchFamily="49" charset="0"/>
              </a:rPr>
              <a:t> до обикновения</a:t>
            </a:r>
            <a:r>
              <a:rPr lang="en-US" sz="3200" dirty="0">
                <a:cs typeface="Consolas" panose="020B0609020204030204" pitchFamily="49" charset="0"/>
              </a:rPr>
              <a:t> </a:t>
            </a:r>
            <a:r>
              <a:rPr lang="ru-RU" sz="3200" b="1" dirty="0">
                <a:solidFill>
                  <a:schemeClr val="bg1"/>
                </a:solidFill>
                <a:cs typeface="Consolas" panose="020B0609020204030204" pitchFamily="49" charset="0"/>
              </a:rPr>
              <a:t>английски език</a:t>
            </a:r>
          </a:p>
          <a:p>
            <a:r>
              <a:rPr lang="bg-BG" sz="3200" dirty="0">
                <a:cs typeface="Consolas" panose="020B0609020204030204" pitchFamily="49" charset="0"/>
              </a:rPr>
              <a:t>Един от </a:t>
            </a:r>
            <a:r>
              <a:rPr lang="bg-BG" sz="3200" b="1" dirty="0">
                <a:solidFill>
                  <a:schemeClr val="bg1"/>
                </a:solidFill>
                <a:cs typeface="Consolas" panose="020B0609020204030204" pitchFamily="49" charset="0"/>
              </a:rPr>
              <a:t>топ </a:t>
            </a:r>
            <a:r>
              <a:rPr lang="en-US" sz="3200" b="1" dirty="0">
                <a:solidFill>
                  <a:schemeClr val="bg1"/>
                </a:solidFill>
                <a:cs typeface="Consolas" panose="020B0609020204030204" pitchFamily="49" charset="0"/>
              </a:rPr>
              <a:t>3</a:t>
            </a:r>
            <a:r>
              <a:rPr lang="bg-BG" sz="3200" b="1" dirty="0">
                <a:solidFill>
                  <a:schemeClr val="tx2">
                    <a:lumMod val="75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bg-BG" sz="3200" dirty="0">
                <a:cs typeface="Consolas" panose="020B0609020204030204" pitchFamily="49" charset="0"/>
              </a:rPr>
              <a:t>на най-популярните езици за</a:t>
            </a:r>
            <a:r>
              <a:rPr lang="en-US" sz="3200" dirty="0">
                <a:cs typeface="Consolas" panose="020B0609020204030204" pitchFamily="49" charset="0"/>
              </a:rPr>
              <a:t> </a:t>
            </a:r>
            <a:r>
              <a:rPr lang="bg-BG" sz="3200" dirty="0">
                <a:cs typeface="Consolas" panose="020B0609020204030204" pitchFamily="49" charset="0"/>
              </a:rPr>
              <a:t>програмиране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Интересно за </a:t>
            </a:r>
            <a:r>
              <a:rPr lang="en-US" dirty="0"/>
              <a:t>Python</a:t>
            </a:r>
          </a:p>
        </p:txBody>
      </p:sp>
      <p:pic>
        <p:nvPicPr>
          <p:cNvPr id="2052" name="Picture 4" descr="Гуидо ван Росум на O'Reilly Open Source Convention през 2006 г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598" y="1603258"/>
            <a:ext cx="3107063" cy="466059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03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270916"/>
            <a:ext cx="10961783" cy="768084"/>
          </a:xfrm>
        </p:spPr>
        <p:txBody>
          <a:bodyPr/>
          <a:lstStyle/>
          <a:p>
            <a:r>
              <a:rPr lang="bg-BG" dirty="0"/>
              <a:t>͏Първа програма с </a:t>
            </a:r>
            <a:r>
              <a:rPr lang="en-US" dirty="0"/>
              <a:t>Python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F2ADB-5AE8-40AC-9025-4E72E756CD5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69" y="1314000"/>
            <a:ext cx="2622262" cy="267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0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200" dirty="0"/>
              <a:t>За обучението ни с </a:t>
            </a:r>
            <a:r>
              <a:rPr lang="en-US" sz="3200" b="1" dirty="0"/>
              <a:t>Python</a:t>
            </a:r>
            <a:r>
              <a:rPr lang="bg-BG" sz="3200" dirty="0"/>
              <a:t> ще използваме </a:t>
            </a:r>
            <a:r>
              <a:rPr lang="bg-BG" sz="3200" b="1" dirty="0"/>
              <a:t>средата за разработка </a:t>
            </a:r>
            <a:r>
              <a:rPr lang="en-US" sz="3200" dirty="0"/>
              <a:t>– </a:t>
            </a:r>
            <a:r>
              <a:rPr lang="en-US" sz="3200" b="1" dirty="0">
                <a:solidFill>
                  <a:schemeClr val="bg1"/>
                </a:solidFill>
              </a:rPr>
              <a:t>Thonny</a:t>
            </a:r>
            <a:endParaRPr lang="bg-BG" sz="3200" b="1" dirty="0">
              <a:solidFill>
                <a:schemeClr val="bg1"/>
              </a:solidFill>
            </a:endParaRPr>
          </a:p>
          <a:p>
            <a:r>
              <a:rPr lang="bg-BG" sz="3200" dirty="0"/>
              <a:t>Линк за</a:t>
            </a:r>
            <a:r>
              <a:rPr lang="en-US" sz="3200" dirty="0"/>
              <a:t> </a:t>
            </a:r>
            <a:r>
              <a:rPr lang="bg-BG" sz="3200" b="1" dirty="0"/>
              <a:t>сваляне </a:t>
            </a:r>
            <a:r>
              <a:rPr lang="bg-BG" sz="3200" dirty="0"/>
              <a:t>на</a:t>
            </a:r>
            <a:r>
              <a:rPr lang="en-US" sz="3200" b="1" dirty="0"/>
              <a:t> Thonny</a:t>
            </a:r>
            <a:r>
              <a:rPr lang="bg-BG" sz="3200" b="1" dirty="0"/>
              <a:t> </a:t>
            </a:r>
            <a:r>
              <a:rPr lang="en-US" sz="3200" b="1" dirty="0"/>
              <a:t>IDE </a:t>
            </a:r>
            <a:r>
              <a:rPr lang="en-US" sz="3200" dirty="0"/>
              <a:t>– </a:t>
            </a:r>
            <a:r>
              <a:rPr lang="en-US" sz="3200" dirty="0">
                <a:hlinkClick r:id="rId2"/>
              </a:rPr>
              <a:t>https://thonny.org</a:t>
            </a:r>
            <a:endParaRPr lang="bg-BG" sz="3200" dirty="0"/>
          </a:p>
          <a:p>
            <a:endParaRPr lang="en-US" sz="3200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Среда за разработка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925" y="3187761"/>
            <a:ext cx="4609050" cy="353360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876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484" y="1359000"/>
            <a:ext cx="6573167" cy="503942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Елементи на</a:t>
            </a:r>
            <a:r>
              <a:rPr lang="en-US" dirty="0"/>
              <a:t> IDE</a:t>
            </a:r>
            <a:r>
              <a:rPr lang="bg-BG" dirty="0"/>
              <a:t> </a:t>
            </a:r>
            <a:r>
              <a:rPr lang="en-US" dirty="0"/>
              <a:t>Thonny</a:t>
            </a:r>
            <a:r>
              <a:rPr lang="bg-BG" dirty="0"/>
              <a:t> (1)</a:t>
            </a:r>
            <a:endParaRPr lang="en-US" dirty="0"/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867887" y="1479388"/>
            <a:ext cx="3513244" cy="638084"/>
          </a:xfrm>
          <a:prstGeom prst="wedgeRoundRectCallout">
            <a:avLst>
              <a:gd name="adj1" fmla="val 63756"/>
              <a:gd name="adj2" fmla="val 2966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Лента с инструменти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14819" y="2439000"/>
            <a:ext cx="3766312" cy="1170000"/>
          </a:xfrm>
          <a:prstGeom prst="wedgeRoundRectCallout">
            <a:avLst>
              <a:gd name="adj1" fmla="val 79249"/>
              <a:gd name="adj2" fmla="val 1284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Тук е полето, където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ще пишем нашия </a:t>
            </a:r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</a:t>
            </a:r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257270" y="4301921"/>
            <a:ext cx="4060594" cy="2353579"/>
          </a:xfrm>
          <a:prstGeom prst="wedgeRoundRectCallout">
            <a:avLst>
              <a:gd name="adj1" fmla="val 66525"/>
              <a:gd name="adj2" fmla="val -592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Това е </a:t>
            </a:r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конзолата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която ще въвеждаме и отпечатваме нашия резултат от написаната програма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5646000" y="3744000"/>
            <a:ext cx="3960000" cy="623700"/>
          </a:xfrm>
          <a:prstGeom prst="wedgeRoundRectCallout">
            <a:avLst>
              <a:gd name="adj1" fmla="val 60387"/>
              <a:gd name="adj2" fmla="val -9482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Помощник при грешки</a:t>
            </a:r>
            <a:endParaRPr 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108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6" grpId="0" animBg="1"/>
      <p:bldP spid="7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615" y="3301709"/>
            <a:ext cx="5926170" cy="68378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Елементи на</a:t>
            </a:r>
            <a:r>
              <a:rPr lang="en-US" dirty="0"/>
              <a:t> IDE</a:t>
            </a:r>
            <a:r>
              <a:rPr lang="bg-BG" dirty="0"/>
              <a:t> </a:t>
            </a:r>
            <a:r>
              <a:rPr lang="en-US" dirty="0"/>
              <a:t>Thonny</a:t>
            </a:r>
            <a:r>
              <a:rPr lang="bg-BG" dirty="0"/>
              <a:t> (</a:t>
            </a:r>
            <a:r>
              <a:rPr lang="en-US" dirty="0"/>
              <a:t>2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1281000" y="1965158"/>
            <a:ext cx="2295000" cy="945000"/>
          </a:xfrm>
          <a:prstGeom prst="wedgeRoundRectCallout">
            <a:avLst>
              <a:gd name="adj1" fmla="val 48893"/>
              <a:gd name="adj2" fmla="val 10987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Отваряне на нов файл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3801000" y="1484850"/>
            <a:ext cx="3312600" cy="972600"/>
          </a:xfrm>
          <a:prstGeom prst="wedgeRoundRectCallout">
            <a:avLst>
              <a:gd name="adj1" fmla="val -33197"/>
              <a:gd name="adj2" fmla="val 14280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Отваряне на съществуващ файл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4476000" y="4599000"/>
            <a:ext cx="2765160" cy="972600"/>
          </a:xfrm>
          <a:prstGeom prst="wedgeRoundRectCallout">
            <a:avLst>
              <a:gd name="adj1" fmla="val -11937"/>
              <a:gd name="adj2" fmla="val -11769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Изпълнение на кода (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7438560" y="4224943"/>
            <a:ext cx="3493687" cy="972600"/>
          </a:xfrm>
          <a:prstGeom prst="wedgeRoundRectCallout">
            <a:avLst>
              <a:gd name="adj1" fmla="val -83812"/>
              <a:gd name="adj2" fmla="val -8929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Проверка за грешки в кода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Debugger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7421160" y="1894713"/>
            <a:ext cx="3849840" cy="972600"/>
          </a:xfrm>
          <a:prstGeom prst="wedgeRoundRectCallout">
            <a:avLst>
              <a:gd name="adj1" fmla="val -11431"/>
              <a:gd name="adj2" fmla="val 9775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Спиране на изпълнението на кода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ounded Rectangular Callout 17"/>
          <p:cNvSpPr/>
          <p:nvPr/>
        </p:nvSpPr>
        <p:spPr bwMode="auto">
          <a:xfrm>
            <a:off x="2181000" y="4340079"/>
            <a:ext cx="2097600" cy="945000"/>
          </a:xfrm>
          <a:prstGeom prst="wedgeRoundRectCallout">
            <a:avLst>
              <a:gd name="adj1" fmla="val 65909"/>
              <a:gd name="adj2" fmla="val -9776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Запазване на кода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521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5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1" t="1" r="44704" b="52928"/>
          <a:stretch/>
        </p:blipFill>
        <p:spPr>
          <a:xfrm>
            <a:off x="1130708" y="4592025"/>
            <a:ext cx="3634707" cy="18250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След като отворите </a:t>
            </a:r>
            <a:r>
              <a:rPr lang="en-US" b="1" dirty="0"/>
              <a:t>IDE</a:t>
            </a:r>
            <a:r>
              <a:rPr lang="bg-BG" dirty="0"/>
              <a:t>-то, е време да напишем първата ни </a:t>
            </a:r>
            <a:r>
              <a:rPr lang="bg-BG" b="1" dirty="0"/>
              <a:t>програма</a:t>
            </a:r>
            <a:endParaRPr lang="en-US" b="1" dirty="0"/>
          </a:p>
          <a:p>
            <a:r>
              <a:rPr lang="ru-RU" dirty="0"/>
              <a:t>В полето за писане на код </a:t>
            </a:r>
            <a:r>
              <a:rPr lang="ru-RU" b="1" dirty="0"/>
              <a:t>въведете</a:t>
            </a:r>
            <a:r>
              <a:rPr lang="ru-RU" dirty="0"/>
              <a:t> </a:t>
            </a:r>
            <a:r>
              <a:rPr lang="ru-RU" b="1" dirty="0"/>
              <a:t>следния код</a:t>
            </a:r>
            <a:r>
              <a:rPr lang="ru-RU" dirty="0"/>
              <a:t>: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Писане на</a:t>
            </a:r>
            <a:r>
              <a:rPr lang="en-US" dirty="0"/>
              <a:t> </a:t>
            </a:r>
            <a:r>
              <a:rPr lang="bg-BG" dirty="0"/>
              <a:t>програмен код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80562" y="3175443"/>
            <a:ext cx="3735000" cy="60404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print("Hello world")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948062" y="3858601"/>
            <a:ext cx="0" cy="45622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576" y="3715222"/>
            <a:ext cx="3589255" cy="1587555"/>
          </a:xfrm>
          <a:prstGeom prst="rect">
            <a:avLst/>
          </a:prstGeom>
        </p:spPr>
      </p:pic>
      <p:sp>
        <p:nvSpPr>
          <p:cNvPr id="8" name="Equal 7"/>
          <p:cNvSpPr/>
          <p:nvPr/>
        </p:nvSpPr>
        <p:spPr bwMode="auto">
          <a:xfrm>
            <a:off x="5646000" y="4239000"/>
            <a:ext cx="900000" cy="540000"/>
          </a:xfrm>
          <a:prstGeom prst="mathEqual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4556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F5 - javat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000" y="3699000"/>
            <a:ext cx="2341252" cy="221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bg-BG" sz="3600" dirty="0"/>
              <a:t>Има два начина за </a:t>
            </a:r>
            <a:r>
              <a:rPr lang="bg-BG" sz="3600" b="1" dirty="0"/>
              <a:t>стартиране</a:t>
            </a:r>
            <a:r>
              <a:rPr lang="bg-BG" sz="3600" dirty="0"/>
              <a:t> на </a:t>
            </a:r>
            <a:r>
              <a:rPr lang="bg-BG" sz="3600" b="1" dirty="0"/>
              <a:t>програмата</a:t>
            </a:r>
            <a:r>
              <a:rPr lang="bg-BG" sz="3600" dirty="0"/>
              <a:t>: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bg-BG" sz="3400" dirty="0"/>
              <a:t>Чрез натискане</a:t>
            </a:r>
            <a:r>
              <a:rPr lang="en-US" sz="3400" dirty="0"/>
              <a:t> </a:t>
            </a:r>
            <a:r>
              <a:rPr lang="bg-BG" sz="3400" dirty="0"/>
              <a:t>на </a:t>
            </a:r>
            <a:r>
              <a:rPr lang="bg-BG" sz="3400" b="1" dirty="0"/>
              <a:t>бутона</a:t>
            </a:r>
            <a:r>
              <a:rPr lang="bg-BG" sz="3400" dirty="0"/>
              <a:t> [</a:t>
            </a:r>
            <a:r>
              <a:rPr lang="en-US" sz="3400" b="1" dirty="0">
                <a:solidFill>
                  <a:schemeClr val="bg1"/>
                </a:solidFill>
              </a:rPr>
              <a:t>Run</a:t>
            </a:r>
            <a:r>
              <a:rPr lang="en-US" sz="3400" dirty="0"/>
              <a:t>]</a:t>
            </a:r>
            <a:endParaRPr lang="bg-BG" sz="3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bg-BG" sz="3400" dirty="0"/>
              <a:t>Чрез </a:t>
            </a:r>
            <a:r>
              <a:rPr lang="bg-BG" sz="3400" b="1" dirty="0"/>
              <a:t>клашива</a:t>
            </a:r>
            <a:r>
              <a:rPr lang="bg-BG" sz="3400" dirty="0"/>
              <a:t> </a:t>
            </a:r>
            <a:r>
              <a:rPr lang="en-US" sz="3400" dirty="0"/>
              <a:t>[</a:t>
            </a:r>
            <a:r>
              <a:rPr lang="en-US" sz="3400" b="1" dirty="0">
                <a:solidFill>
                  <a:schemeClr val="bg1"/>
                </a:solidFill>
              </a:rPr>
              <a:t>F5</a:t>
            </a:r>
            <a:r>
              <a:rPr lang="en-US" sz="3400" dirty="0"/>
              <a:t>]</a:t>
            </a:r>
            <a:endParaRPr lang="bg-BG" sz="3400" b="1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Стартиране на програмата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3273"/>
          <a:stretch/>
        </p:blipFill>
        <p:spPr>
          <a:xfrm>
            <a:off x="1866000" y="4142227"/>
            <a:ext cx="3928375" cy="132993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0525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208" y="2620811"/>
            <a:ext cx="6931584" cy="408863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bg-BG" sz="3600" dirty="0"/>
              <a:t>Ако </a:t>
            </a:r>
            <a:r>
              <a:rPr lang="bg-BG" sz="3600" b="1" dirty="0"/>
              <a:t>няма грешки</a:t>
            </a:r>
            <a:r>
              <a:rPr lang="bg-BG" sz="3600" dirty="0"/>
              <a:t>, програмата ще се изпълни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bg-BG" sz="3600" dirty="0"/>
              <a:t>Резултатът ще се изпише на </a:t>
            </a:r>
            <a:r>
              <a:rPr lang="bg-BG" sz="3600" b="1" dirty="0"/>
              <a:t>конзолата</a:t>
            </a:r>
            <a:r>
              <a:rPr lang="bg-BG" sz="3600" dirty="0"/>
              <a:t>:</a:t>
            </a:r>
            <a:endParaRPr lang="en-US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 от стартиране на програмата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161000" y="5589000"/>
            <a:ext cx="1164703" cy="405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72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518439" cy="5546589"/>
          </a:xfrm>
        </p:spPr>
        <p:txBody>
          <a:bodyPr>
            <a:normAutofit/>
          </a:bodyPr>
          <a:lstStyle/>
          <a:p>
            <a:r>
              <a:rPr lang="bg-BG" dirty="0"/>
              <a:t>Грешки на </a:t>
            </a:r>
            <a:r>
              <a:rPr lang="bg-BG" b="1" dirty="0"/>
              <a:t>синтаксиса</a:t>
            </a:r>
          </a:p>
          <a:p>
            <a:endParaRPr lang="bg-BG" dirty="0"/>
          </a:p>
          <a:p>
            <a:pPr marL="0" indent="0">
              <a:buNone/>
            </a:pPr>
            <a:endParaRPr lang="bg-BG" dirty="0"/>
          </a:p>
          <a:p>
            <a:pPr lvl="1"/>
            <a:r>
              <a:rPr lang="bg-BG" sz="3200" dirty="0"/>
              <a:t>Липсват </a:t>
            </a:r>
            <a:r>
              <a:rPr lang="bg-BG" sz="3200" b="1" dirty="0">
                <a:solidFill>
                  <a:schemeClr val="bg1"/>
                </a:solidFill>
              </a:rPr>
              <a:t>затварящите кавички </a:t>
            </a:r>
            <a:r>
              <a:rPr lang="bg-BG" sz="3200" dirty="0"/>
              <a:t>в скобите</a:t>
            </a:r>
          </a:p>
          <a:p>
            <a:r>
              <a:rPr lang="bg-BG" sz="3200" dirty="0"/>
              <a:t>Грешки при </a:t>
            </a:r>
            <a:r>
              <a:rPr lang="bg-BG" sz="3200" b="1" dirty="0"/>
              <a:t>индентацията</a:t>
            </a:r>
          </a:p>
          <a:p>
            <a:endParaRPr lang="bg-BG" sz="3400" dirty="0"/>
          </a:p>
          <a:p>
            <a:endParaRPr lang="bg-BG" sz="3400" dirty="0"/>
          </a:p>
          <a:p>
            <a:pPr lvl="1"/>
            <a:r>
              <a:rPr lang="bg-BG" sz="3400" dirty="0"/>
              <a:t>Има ненужна табулация пред </a:t>
            </a:r>
            <a:r>
              <a:rPr lang="bg-BG" sz="3400" b="1" dirty="0"/>
              <a:t>командата</a:t>
            </a:r>
            <a:r>
              <a:rPr lang="bg-BG" sz="3400" dirty="0"/>
              <a:t>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print</a:t>
            </a:r>
            <a:r>
              <a:rPr lang="bg-BG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  <a:endParaRPr lang="bg-BG" sz="3400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Типични грешки в </a:t>
            </a:r>
            <a:r>
              <a:rPr lang="en-US" dirty="0"/>
              <a:t>Python </a:t>
            </a:r>
            <a:r>
              <a:rPr lang="bg-BG" dirty="0"/>
              <a:t>програмите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000" y="1854000"/>
            <a:ext cx="4275000" cy="1273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000" y="4554000"/>
            <a:ext cx="3825000" cy="129184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53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045916"/>
            <a:ext cx="10961783" cy="768084"/>
          </a:xfrm>
        </p:spPr>
        <p:txBody>
          <a:bodyPr/>
          <a:lstStyle/>
          <a:p>
            <a:r>
              <a:rPr lang="bg-BG" dirty="0"/>
              <a:t>Променливи и типове данни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0A821A-27B2-407E-B66E-C7EA073B43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130" y="1944000"/>
            <a:ext cx="294174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4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200" dirty="0"/>
              <a:t>Компютрите са машини, които обработват </a:t>
            </a:r>
            <a:r>
              <a:rPr lang="bg-BG" sz="3200" b="1" dirty="0">
                <a:solidFill>
                  <a:schemeClr val="bg1"/>
                </a:solidFill>
              </a:rPr>
              <a:t>данни</a:t>
            </a:r>
            <a:endParaRPr lang="en-US" sz="3200" b="1" dirty="0">
              <a:solidFill>
                <a:schemeClr val="bg1"/>
              </a:solidFill>
            </a:endParaRPr>
          </a:p>
          <a:p>
            <a:pPr lvl="1"/>
            <a:r>
              <a:rPr lang="bg-BG" sz="3200" dirty="0"/>
              <a:t>Данните</a:t>
            </a:r>
            <a:r>
              <a:rPr lang="en-US" sz="3200" dirty="0"/>
              <a:t> </a:t>
            </a:r>
            <a:r>
              <a:rPr lang="bg-BG" sz="3200" dirty="0"/>
              <a:t>се записват в компютърната памет в</a:t>
            </a:r>
            <a:r>
              <a:rPr lang="en-US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променливи</a:t>
            </a:r>
            <a:endParaRPr lang="en-US" sz="3200" b="1" dirty="0">
              <a:solidFill>
                <a:schemeClr val="bg1"/>
              </a:solidFill>
            </a:endParaRPr>
          </a:p>
          <a:p>
            <a:pPr lvl="1"/>
            <a:r>
              <a:rPr lang="bg-BG" sz="3200" dirty="0"/>
              <a:t>Променливите имат</a:t>
            </a:r>
            <a:r>
              <a:rPr lang="en-US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име</a:t>
            </a:r>
            <a:r>
              <a:rPr lang="en-US" sz="3200" dirty="0"/>
              <a:t>, </a:t>
            </a:r>
            <a:r>
              <a:rPr lang="bg-BG" sz="3200" b="1" dirty="0">
                <a:solidFill>
                  <a:schemeClr val="bg1"/>
                </a:solidFill>
              </a:rPr>
              <a:t>тип</a:t>
            </a:r>
            <a:r>
              <a:rPr lang="bg-BG" sz="3200" dirty="0">
                <a:solidFill>
                  <a:schemeClr val="bg1"/>
                </a:solidFill>
              </a:rPr>
              <a:t> </a:t>
            </a:r>
            <a:r>
              <a:rPr lang="bg-BG" sz="3200" dirty="0"/>
              <a:t>и </a:t>
            </a:r>
            <a:r>
              <a:rPr lang="bg-BG" sz="3200" b="1" dirty="0">
                <a:solidFill>
                  <a:schemeClr val="bg1"/>
                </a:solidFill>
              </a:rPr>
              <a:t>стойност</a:t>
            </a:r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Дефиниране</a:t>
            </a:r>
            <a:r>
              <a:rPr lang="bg-BG" sz="3200" dirty="0"/>
              <a:t> на променлива и </a:t>
            </a:r>
            <a:r>
              <a:rPr lang="bg-BG" sz="3200" b="1" dirty="0">
                <a:solidFill>
                  <a:schemeClr val="bg1"/>
                </a:solidFill>
              </a:rPr>
              <a:t>присвояване</a:t>
            </a:r>
            <a:r>
              <a:rPr lang="bg-BG" sz="3200" dirty="0"/>
              <a:t> на стойност: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Променливи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631000" y="4869329"/>
            <a:ext cx="2742354" cy="75480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80000" tIns="72000" rIns="180000" bIns="7200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count = 5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811000" y="5049000"/>
            <a:ext cx="1291979" cy="40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728893" y="5044231"/>
            <a:ext cx="422723" cy="40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754021" y="3981608"/>
            <a:ext cx="3541979" cy="675000"/>
          </a:xfrm>
          <a:prstGeom prst="wedgeRoundRectCallout">
            <a:avLst>
              <a:gd name="adj1" fmla="val 16933"/>
              <a:gd name="adj2" fmla="val 9698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 на променлива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1101616" y="5894120"/>
            <a:ext cx="4050000" cy="675000"/>
          </a:xfrm>
          <a:prstGeom prst="wedgeRoundRectCallout">
            <a:avLst>
              <a:gd name="adj1" fmla="val 38276"/>
              <a:gd name="adj2" fmla="val -9409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Стойност (от тип число)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000" y="4656608"/>
            <a:ext cx="4285375" cy="1149463"/>
          </a:xfrm>
          <a:prstGeom prst="rect">
            <a:avLst/>
          </a:prstGeom>
        </p:spPr>
      </p:pic>
      <p:sp>
        <p:nvSpPr>
          <p:cNvPr id="16" name="Equal 15"/>
          <p:cNvSpPr/>
          <p:nvPr/>
        </p:nvSpPr>
        <p:spPr bwMode="auto">
          <a:xfrm>
            <a:off x="5853920" y="4961339"/>
            <a:ext cx="900000" cy="540000"/>
          </a:xfrm>
          <a:prstGeom prst="mathEqual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7410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001000" y="1121143"/>
            <a:ext cx="9994234" cy="5546589"/>
          </a:xfrm>
        </p:spPr>
        <p:txBody>
          <a:bodyPr>
            <a:normAutofit lnSpcReduction="10000"/>
          </a:bodyPr>
          <a:lstStyle/>
          <a:p>
            <a:r>
              <a:rPr lang="bg-BG" b="1" dirty="0"/>
              <a:t>Променливите</a:t>
            </a:r>
            <a:r>
              <a:rPr lang="bg-BG" dirty="0"/>
              <a:t> съхраняват </a:t>
            </a:r>
            <a:r>
              <a:rPr lang="bg-BG" b="1" dirty="0">
                <a:solidFill>
                  <a:schemeClr val="bg1"/>
                </a:solidFill>
              </a:rPr>
              <a:t>стойност от даден тип</a:t>
            </a:r>
          </a:p>
          <a:p>
            <a:pPr lvl="1"/>
            <a:r>
              <a:rPr lang="bg-BG" dirty="0"/>
              <a:t>Число, текст, дата, цвят, картинка, списък</a:t>
            </a:r>
            <a:r>
              <a:rPr lang="en-US" dirty="0"/>
              <a:t>, …</a:t>
            </a:r>
            <a:endParaRPr lang="bg-BG" dirty="0"/>
          </a:p>
          <a:p>
            <a:pPr>
              <a:spcBef>
                <a:spcPts val="1200"/>
              </a:spcBef>
            </a:pPr>
            <a:r>
              <a:rPr lang="bg-BG" b="1" dirty="0"/>
              <a:t>Типове данни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bg-BG" dirty="0"/>
              <a:t>примери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͏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bg-BG" dirty="0"/>
              <a:t> </a:t>
            </a:r>
            <a:r>
              <a:rPr lang="en-US" dirty="0"/>
              <a:t>– </a:t>
            </a:r>
            <a:r>
              <a:rPr lang="bg-BG" dirty="0"/>
              <a:t>цяло число</a:t>
            </a:r>
            <a:r>
              <a:rPr lang="en-US" dirty="0"/>
              <a:t>: </a:t>
            </a:r>
            <a:r>
              <a:rPr lang="en-US" b="1" dirty="0">
                <a:cs typeface="Consolas" pitchFamily="49" charset="0"/>
              </a:rPr>
              <a:t>1</a:t>
            </a:r>
            <a:r>
              <a:rPr lang="en-US" dirty="0"/>
              <a:t>, </a:t>
            </a:r>
            <a:r>
              <a:rPr lang="en-US" b="1" dirty="0">
                <a:cs typeface="Consolas" pitchFamily="49" charset="0"/>
              </a:rPr>
              <a:t>2</a:t>
            </a:r>
            <a:r>
              <a:rPr lang="en-US" dirty="0"/>
              <a:t>, </a:t>
            </a:r>
            <a:r>
              <a:rPr lang="en-US" b="1" dirty="0">
                <a:cs typeface="Consolas" pitchFamily="49" charset="0"/>
              </a:rPr>
              <a:t>3</a:t>
            </a:r>
            <a:r>
              <a:rPr lang="en-US" dirty="0"/>
              <a:t>, </a:t>
            </a:r>
            <a:r>
              <a:rPr lang="bg-BG" b="1" dirty="0">
                <a:cs typeface="Consolas" pitchFamily="49" charset="0"/>
              </a:rPr>
              <a:t>4</a:t>
            </a:r>
            <a:r>
              <a:rPr lang="en-US" dirty="0"/>
              <a:t>, </a:t>
            </a:r>
            <a:r>
              <a:rPr lang="bg-BG" b="1" dirty="0">
                <a:cs typeface="Consolas" pitchFamily="49" charset="0"/>
              </a:rPr>
              <a:t>5</a:t>
            </a:r>
            <a:r>
              <a:rPr lang="en-US" dirty="0"/>
              <a:t>, </a:t>
            </a:r>
            <a:r>
              <a:rPr lang="en-US" dirty="0">
                <a:cs typeface="Consolas" pitchFamily="49" charset="0"/>
              </a:rPr>
              <a:t>…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͏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float</a:t>
            </a:r>
            <a:r>
              <a:rPr lang="en-US" dirty="0"/>
              <a:t> – </a:t>
            </a:r>
            <a:r>
              <a:rPr lang="bg-BG" dirty="0"/>
              <a:t>дробно число</a:t>
            </a:r>
            <a:r>
              <a:rPr lang="en-US" dirty="0"/>
              <a:t>: </a:t>
            </a:r>
            <a:r>
              <a:rPr lang="bg-BG" b="1" dirty="0"/>
              <a:t>0.5</a:t>
            </a:r>
            <a:r>
              <a:rPr lang="en-US" dirty="0"/>
              <a:t>, </a:t>
            </a:r>
            <a:r>
              <a:rPr lang="bg-BG" b="1" dirty="0"/>
              <a:t>3.14</a:t>
            </a:r>
            <a:r>
              <a:rPr lang="en-US" dirty="0"/>
              <a:t>,</a:t>
            </a:r>
            <a:r>
              <a:rPr lang="bg-BG" dirty="0"/>
              <a:t> </a:t>
            </a:r>
            <a:r>
              <a:rPr lang="en-US" b="1" dirty="0"/>
              <a:t>-1.5</a:t>
            </a:r>
            <a:r>
              <a:rPr lang="en-US" dirty="0"/>
              <a:t>,</a:t>
            </a:r>
            <a:r>
              <a:rPr lang="bg-BG" dirty="0"/>
              <a:t> </a:t>
            </a:r>
            <a:r>
              <a:rPr lang="en-US" dirty="0">
                <a:cs typeface="Consolas" pitchFamily="49" charset="0"/>
              </a:rPr>
              <a:t>…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͏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str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/>
              <a:t>– </a:t>
            </a:r>
            <a:r>
              <a:rPr lang="bg-BG" dirty="0"/>
              <a:t>текст</a:t>
            </a:r>
            <a:r>
              <a:rPr lang="en-US" dirty="0"/>
              <a:t> </a:t>
            </a:r>
            <a:r>
              <a:rPr lang="bg-BG" dirty="0"/>
              <a:t>и символи</a:t>
            </a:r>
            <a:r>
              <a:rPr lang="en-US" dirty="0"/>
              <a:t>: </a:t>
            </a:r>
            <a:r>
              <a:rPr lang="en-US" b="1" dirty="0"/>
              <a:t>'a'</a:t>
            </a:r>
            <a:r>
              <a:rPr lang="en-US" dirty="0"/>
              <a:t>,</a:t>
            </a:r>
            <a:r>
              <a:rPr lang="en-US" b="1" dirty="0"/>
              <a:t> '</a:t>
            </a:r>
            <a:r>
              <a:rPr lang="bg-BG" b="1" dirty="0"/>
              <a:t>Здрасти'</a:t>
            </a:r>
            <a:r>
              <a:rPr lang="bg-BG" dirty="0"/>
              <a:t>,</a:t>
            </a:r>
            <a:r>
              <a:rPr lang="bg-BG" b="1" dirty="0"/>
              <a:t>'</a:t>
            </a:r>
            <a:r>
              <a:rPr lang="en-US" b="1" dirty="0"/>
              <a:t>Hi</a:t>
            </a:r>
            <a:r>
              <a:rPr lang="bg-BG" b="1" dirty="0"/>
              <a:t>'</a:t>
            </a:r>
            <a:r>
              <a:rPr lang="en-US" dirty="0"/>
              <a:t>,</a:t>
            </a:r>
            <a:r>
              <a:rPr lang="bg-BG" dirty="0"/>
              <a:t> </a:t>
            </a:r>
            <a:r>
              <a:rPr lang="en-US" dirty="0">
                <a:cs typeface="Consolas" pitchFamily="49" charset="0"/>
              </a:rPr>
              <a:t>…</a:t>
            </a:r>
            <a:endParaRPr lang="bg-BG" dirty="0">
              <a:cs typeface="Consolas" pitchFamily="49" charset="0"/>
            </a:endParaRPr>
          </a:p>
          <a:p>
            <a:pPr lvl="1"/>
            <a:r>
              <a:rPr lang="en-US" dirty="0">
                <a:cs typeface="Consolas" pitchFamily="49" charset="0"/>
              </a:rPr>
              <a:t>͏</a:t>
            </a:r>
            <a:r>
              <a:rPr lang="en-US" b="1" dirty="0">
                <a:solidFill>
                  <a:schemeClr val="bg1"/>
                </a:solidFill>
                <a:cs typeface="Consolas" pitchFamily="49" charset="0"/>
              </a:rPr>
              <a:t>bool</a:t>
            </a:r>
            <a:r>
              <a:rPr lang="en-US" dirty="0">
                <a:cs typeface="Consolas" pitchFamily="49" charset="0"/>
              </a:rPr>
              <a:t> – </a:t>
            </a:r>
            <a:r>
              <a:rPr lang="bg-BG" dirty="0">
                <a:cs typeface="Consolas" pitchFamily="49" charset="0"/>
              </a:rPr>
              <a:t>логическа стойност: </a:t>
            </a:r>
            <a:r>
              <a:rPr lang="en-US" b="1" dirty="0">
                <a:cs typeface="Consolas" pitchFamily="49" charset="0"/>
              </a:rPr>
              <a:t>True</a:t>
            </a:r>
            <a:r>
              <a:rPr lang="en-US" dirty="0">
                <a:cs typeface="Consolas" pitchFamily="49" charset="0"/>
              </a:rPr>
              <a:t>, </a:t>
            </a:r>
            <a:r>
              <a:rPr lang="en-US" b="1" dirty="0">
                <a:cs typeface="Consolas" pitchFamily="49" charset="0"/>
              </a:rPr>
              <a:t>False</a:t>
            </a:r>
          </a:p>
          <a:p>
            <a:r>
              <a:rPr lang="ru-RU" dirty="0">
                <a:cs typeface="Consolas" pitchFamily="49" charset="0"/>
              </a:rPr>
              <a:t>В езикът Python </a:t>
            </a:r>
            <a:r>
              <a:rPr lang="ru-RU" b="1" dirty="0">
                <a:cs typeface="Consolas" pitchFamily="49" charset="0"/>
              </a:rPr>
              <a:t>типът</a:t>
            </a:r>
            <a:r>
              <a:rPr lang="ru-RU" dirty="0">
                <a:cs typeface="Consolas" pitchFamily="49" charset="0"/>
              </a:rPr>
              <a:t> се </a:t>
            </a:r>
            <a:r>
              <a:rPr lang="ru-RU" b="1" dirty="0">
                <a:cs typeface="Consolas" pitchFamily="49" charset="0"/>
              </a:rPr>
              <a:t>определя</a:t>
            </a:r>
            <a:r>
              <a:rPr lang="ru-RU" dirty="0">
                <a:cs typeface="Consolas" pitchFamily="49" charset="0"/>
              </a:rPr>
              <a:t> от </a:t>
            </a:r>
            <a:r>
              <a:rPr lang="ru-RU" b="1" dirty="0">
                <a:cs typeface="Consolas" pitchFamily="49" charset="0"/>
              </a:rPr>
              <a:t>стойността</a:t>
            </a:r>
            <a:r>
              <a:rPr lang="ru-RU" dirty="0">
                <a:cs typeface="Consolas" pitchFamily="49" charset="0"/>
              </a:rPr>
              <a:t>, която се</a:t>
            </a:r>
            <a:r>
              <a:rPr lang="en-US" dirty="0">
                <a:cs typeface="Consolas" pitchFamily="49" charset="0"/>
              </a:rPr>
              <a:t> </a:t>
            </a:r>
            <a:r>
              <a:rPr lang="ru-RU" b="1" dirty="0">
                <a:cs typeface="Consolas" pitchFamily="49" charset="0"/>
              </a:rPr>
              <a:t>присвоява</a:t>
            </a:r>
            <a:endParaRPr lang="en-US" b="1" dirty="0">
              <a:cs typeface="Consolas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Типове данни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14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Работа с конзола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Четене на потребителски вход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1"/>
            <a:ext cx="2665008" cy="269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8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pPr fontAlgn="base"/>
            <a:r>
              <a:rPr lang="bg-BG" sz="3200" dirty="0"/>
              <a:t>Всичко, което </a:t>
            </a:r>
            <a:r>
              <a:rPr lang="bg-BG" sz="3200" b="1" dirty="0">
                <a:solidFill>
                  <a:schemeClr val="bg1"/>
                </a:solidFill>
              </a:rPr>
              <a:t>получаваме</a:t>
            </a:r>
            <a:r>
              <a:rPr lang="bg-BG" sz="3200" dirty="0"/>
              <a:t> от конзолата, </a:t>
            </a:r>
            <a:r>
              <a:rPr lang="en-US" sz="3200" dirty="0"/>
              <a:t>​</a:t>
            </a:r>
            <a:r>
              <a:rPr lang="bg-BG" sz="3200" dirty="0"/>
              <a:t>идва под формата на</a:t>
            </a:r>
            <a:r>
              <a:rPr lang="bg-BG" sz="3200" b="1" dirty="0"/>
              <a:t> </a:t>
            </a:r>
            <a:r>
              <a:rPr lang="bg-BG" sz="3200" b="1" dirty="0">
                <a:solidFill>
                  <a:schemeClr val="bg1"/>
                </a:solidFill>
              </a:rPr>
              <a:t>текст</a:t>
            </a:r>
            <a:r>
              <a:rPr lang="en-US" sz="3200" dirty="0"/>
              <a:t>​</a:t>
            </a:r>
          </a:p>
          <a:p>
            <a:pPr fontAlgn="base"/>
            <a:r>
              <a:rPr lang="bg-BG" sz="3200" dirty="0"/>
              <a:t>Всичко, което </a:t>
            </a:r>
            <a:r>
              <a:rPr lang="bg-BG" sz="3200" b="1" dirty="0">
                <a:solidFill>
                  <a:schemeClr val="bg1"/>
                </a:solidFill>
              </a:rPr>
              <a:t>печатаме</a:t>
            </a:r>
            <a:r>
              <a:rPr lang="bg-BG" sz="3200" dirty="0"/>
              <a:t> на конзолата, се </a:t>
            </a:r>
            <a:r>
              <a:rPr lang="bg-BG" sz="3200" b="1" dirty="0">
                <a:solidFill>
                  <a:schemeClr val="bg1"/>
                </a:solidFill>
              </a:rPr>
              <a:t>преобразува</a:t>
            </a:r>
            <a:r>
              <a:rPr lang="bg-BG" sz="3200" dirty="0">
                <a:solidFill>
                  <a:schemeClr val="bg1"/>
                </a:solidFill>
              </a:rPr>
              <a:t> </a:t>
            </a:r>
            <a:r>
              <a:rPr lang="bg-BG" sz="3200" b="1" dirty="0">
                <a:solidFill>
                  <a:schemeClr val="bg1"/>
                </a:solidFill>
              </a:rPr>
              <a:t>в текст</a:t>
            </a:r>
            <a:r>
              <a:rPr lang="en-US" sz="3200" dirty="0"/>
              <a:t>​</a:t>
            </a:r>
          </a:p>
          <a:p>
            <a:pPr fontAlgn="base"/>
            <a:r>
              <a:rPr lang="bg-BG" sz="3200" dirty="0"/>
              <a:t>Команда за четене от конзолата:</a:t>
            </a:r>
            <a:r>
              <a:rPr lang="en-US" sz="3200" dirty="0"/>
              <a:t>​</a:t>
            </a:r>
            <a:endParaRPr lang="bg-BG" sz="3200" dirty="0"/>
          </a:p>
          <a:p>
            <a:pPr marL="0" indent="0" fontAlgn="base">
              <a:buNone/>
            </a:pPr>
            <a:endParaRPr lang="en-US" sz="3200" dirty="0"/>
          </a:p>
          <a:p>
            <a:pPr lvl="1" fontAlgn="base"/>
            <a:r>
              <a:rPr lang="bg-BG" sz="3200" dirty="0"/>
              <a:t>Връща ни текстът, въведен от потребителя</a:t>
            </a:r>
            <a:r>
              <a:rPr lang="en-US" sz="3200" dirty="0"/>
              <a:t>​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Прочитане на текст</a:t>
            </a:r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631000" y="4194000"/>
            <a:ext cx="3048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name =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input()</a:t>
            </a:r>
          </a:p>
        </p:txBody>
      </p:sp>
    </p:spTree>
    <p:extLst>
      <p:ext uri="{BB962C8B-B14F-4D97-AF65-F5344CB8AC3E}">
        <p14:creationId xmlns:p14="http://schemas.microsoft.com/office/powerpoint/2010/main" val="35495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dirty="0"/>
              <a:t>Програма, която </a:t>
            </a:r>
            <a:r>
              <a:rPr lang="bg-BG" sz="3600" b="1" dirty="0">
                <a:solidFill>
                  <a:schemeClr val="bg1"/>
                </a:solidFill>
              </a:rPr>
              <a:t>чете</a:t>
            </a:r>
            <a:r>
              <a:rPr lang="bg-BG" sz="3600" dirty="0"/>
              <a:t> </a:t>
            </a:r>
            <a:r>
              <a:rPr lang="bg-BG" sz="3600" b="1" dirty="0"/>
              <a:t>име</a:t>
            </a:r>
            <a:r>
              <a:rPr lang="bg-BG" sz="3600" dirty="0"/>
              <a:t> от конзолата и го </a:t>
            </a:r>
            <a:r>
              <a:rPr lang="bg-BG" sz="3600" b="1" dirty="0">
                <a:solidFill>
                  <a:schemeClr val="bg1"/>
                </a:solidFill>
              </a:rPr>
              <a:t>принтира</a:t>
            </a:r>
            <a:r>
              <a:rPr lang="bg-BG" sz="3600" dirty="0"/>
              <a:t>: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Четене на текст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F7ECE2-EFD9-4733-B379-4078639EB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00" y="4241440"/>
            <a:ext cx="4621913" cy="1517116"/>
          </a:xfrm>
          <a:prstGeom prst="rect">
            <a:avLst/>
          </a:prstGeom>
          <a:ln w="9525">
            <a:solidFill>
              <a:schemeClr val="tx1">
                <a:lumMod val="7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011000" y="2304000"/>
            <a:ext cx="2790000" cy="103064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name =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input()</a:t>
            </a:r>
            <a:endParaRPr lang="bg-BG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print(name)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3216000" y="4053855"/>
            <a:ext cx="2970000" cy="561485"/>
          </a:xfrm>
          <a:prstGeom prst="wedgeRoundRectCallout">
            <a:avLst>
              <a:gd name="adj1" fmla="val 65944"/>
              <a:gd name="adj2" fmla="val 5611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Примерен вход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4836000" y="4848214"/>
            <a:ext cx="1350000" cy="561485"/>
          </a:xfrm>
          <a:prstGeom prst="wedgeRoundRectCallout">
            <a:avLst>
              <a:gd name="adj1" fmla="val 77897"/>
              <a:gd name="adj2" fmla="val -2212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Изход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000" y="2321897"/>
            <a:ext cx="4889535" cy="998387"/>
          </a:xfrm>
          <a:prstGeom prst="rect">
            <a:avLst/>
          </a:prstGeom>
        </p:spPr>
      </p:pic>
      <p:sp>
        <p:nvSpPr>
          <p:cNvPr id="15" name="Equal 14"/>
          <p:cNvSpPr/>
          <p:nvPr/>
        </p:nvSpPr>
        <p:spPr bwMode="auto">
          <a:xfrm>
            <a:off x="3958500" y="2549320"/>
            <a:ext cx="900000" cy="540000"/>
          </a:xfrm>
          <a:prstGeom prst="mathEqual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288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821000" y="1121143"/>
            <a:ext cx="10174236" cy="5546589"/>
          </a:xfrm>
        </p:spPr>
        <p:txBody>
          <a:bodyPr/>
          <a:lstStyle/>
          <a:p>
            <a:r>
              <a:rPr lang="bg-BG" sz="3600" dirty="0"/>
              <a:t>Четене на </a:t>
            </a:r>
            <a:r>
              <a:rPr lang="bg-BG" sz="3600" b="1" dirty="0"/>
              <a:t>цяло число</a:t>
            </a:r>
            <a:r>
              <a:rPr lang="bg-BG" sz="3600" dirty="0"/>
              <a:t>:</a:t>
            </a:r>
          </a:p>
          <a:p>
            <a:endParaRPr lang="bg-BG" sz="3600" dirty="0"/>
          </a:p>
          <a:p>
            <a:endParaRPr lang="bg-BG" sz="3600" dirty="0"/>
          </a:p>
          <a:p>
            <a:r>
              <a:rPr lang="bg-BG" sz="3600" dirty="0"/>
              <a:t>Четене на </a:t>
            </a:r>
            <a:r>
              <a:rPr lang="bg-BG" sz="3600" b="1" dirty="0"/>
              <a:t>дробно число</a:t>
            </a:r>
            <a:r>
              <a:rPr lang="bg-BG" sz="3600" dirty="0"/>
              <a:t>: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Четене на числа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71000" y="1963033"/>
            <a:ext cx="3240000" cy="103064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data = input()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num =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int(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9906" y="4149000"/>
            <a:ext cx="3240000" cy="95677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data = input()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n-NO" sz="2400" b="1" noProof="1">
                <a:latin typeface="Consolas" pitchFamily="49" charset="0"/>
                <a:cs typeface="Consolas" pitchFamily="49" charset="0"/>
              </a:rPr>
              <a:t>num = </a:t>
            </a:r>
            <a:r>
              <a:rPr lang="nn-NO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float(</a:t>
            </a:r>
            <a:r>
              <a:rPr lang="nn-NO" sz="2400" b="1" noProof="1">
                <a:latin typeface="Consolas" pitchFamily="49" charset="0"/>
                <a:cs typeface="Consolas" pitchFamily="49" charset="0"/>
              </a:rPr>
              <a:t>data</a:t>
            </a:r>
            <a:r>
              <a:rPr lang="nn-NO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en-US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7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3200" dirty="0">
                <a:solidFill>
                  <a:schemeClr val="bg2"/>
                </a:solidFill>
              </a:rPr>
              <a:t>Основни</a:t>
            </a:r>
            <a:r>
              <a:rPr lang="bg-BG" sz="3200" b="1" dirty="0">
                <a:solidFill>
                  <a:schemeClr val="bg2"/>
                </a:solidFill>
              </a:rPr>
              <a:t> типове данни: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float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bool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3200" b="1" dirty="0">
                <a:solidFill>
                  <a:schemeClr val="bg2"/>
                </a:solidFill>
              </a:rPr>
              <a:t>Четене </a:t>
            </a:r>
            <a:r>
              <a:rPr lang="bg-BG" sz="3200" dirty="0">
                <a:solidFill>
                  <a:schemeClr val="bg2"/>
                </a:solidFill>
              </a:rPr>
              <a:t>на</a:t>
            </a:r>
            <a:r>
              <a:rPr lang="bg-BG" sz="3200" b="1" dirty="0">
                <a:solidFill>
                  <a:schemeClr val="bg2"/>
                </a:solidFill>
              </a:rPr>
              <a:t> </a:t>
            </a:r>
            <a:r>
              <a:rPr lang="bg-BG" sz="3200" dirty="0">
                <a:solidFill>
                  <a:schemeClr val="bg2"/>
                </a:solidFill>
              </a:rPr>
              <a:t>потребителски вход</a:t>
            </a:r>
            <a:r>
              <a:rPr lang="en-US" sz="3200" dirty="0">
                <a:solidFill>
                  <a:schemeClr val="bg2"/>
                </a:solidFill>
              </a:rPr>
              <a:t> </a:t>
            </a:r>
            <a:r>
              <a:rPr lang="bg-BG" sz="3200" dirty="0">
                <a:solidFill>
                  <a:schemeClr val="bg2"/>
                </a:solidFill>
              </a:rPr>
              <a:t>–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input()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3200" b="1" dirty="0">
                <a:solidFill>
                  <a:schemeClr val="bg2"/>
                </a:solidFill>
              </a:rPr>
              <a:t>Печатане</a:t>
            </a:r>
            <a:r>
              <a:rPr lang="bg-BG" sz="3200" dirty="0">
                <a:solidFill>
                  <a:schemeClr val="bg2"/>
                </a:solidFill>
              </a:rPr>
              <a:t> на конзолата</a:t>
            </a:r>
            <a:r>
              <a:rPr lang="en-US" sz="3200" dirty="0">
                <a:solidFill>
                  <a:schemeClr val="bg2"/>
                </a:solidFill>
              </a:rPr>
              <a:t> – </a:t>
            </a:r>
            <a:r>
              <a:rPr lang="en-US" sz="32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print()</a:t>
            </a:r>
            <a:endParaRPr lang="bg-BG"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5501</TotalTime>
  <Words>784</Words>
  <Application>Microsoft Office PowerPoint</Application>
  <PresentationFormat>Widescreen</PresentationFormat>
  <Paragraphs>132</Paragraphs>
  <Slides>22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Wingdings</vt:lpstr>
      <vt:lpstr>SoftUni</vt:lpstr>
      <vt:lpstr>Въведение в Python</vt:lpstr>
      <vt:lpstr>Съдържание</vt:lpstr>
      <vt:lpstr>Интересни факти за ͏Python</vt:lpstr>
      <vt:lpstr>Интересно за Python</vt:lpstr>
      <vt:lpstr>͏Първа програма с Python</vt:lpstr>
      <vt:lpstr>Среда за разработка</vt:lpstr>
      <vt:lpstr>Елементи на IDE Thonny (1)</vt:lpstr>
      <vt:lpstr>Елементи на IDE Thonny (2)</vt:lpstr>
      <vt:lpstr>Писане на програмен код</vt:lpstr>
      <vt:lpstr>Стартиране на програмата</vt:lpstr>
      <vt:lpstr>Резултат от стартиране на програмата</vt:lpstr>
      <vt:lpstr>Типични грешки в Python програмите</vt:lpstr>
      <vt:lpstr>Променливи и типове данни</vt:lpstr>
      <vt:lpstr>Променливи</vt:lpstr>
      <vt:lpstr>Типове данни</vt:lpstr>
      <vt:lpstr>Четене на потребителски вход</vt:lpstr>
      <vt:lpstr>Прочитане на текст</vt:lpstr>
      <vt:lpstr>Четене на текст</vt:lpstr>
      <vt:lpstr>Четене на числа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Въведение в Python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1442</cp:revision>
  <dcterms:created xsi:type="dcterms:W3CDTF">2018-05-23T13:08:44Z</dcterms:created>
  <dcterms:modified xsi:type="dcterms:W3CDTF">2026-09-25T09:05:46Z</dcterms:modified>
  <cp:category/>
</cp:coreProperties>
</file>