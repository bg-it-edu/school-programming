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5" r:id="rId1"/>
  </p:sldMasterIdLst>
  <p:notesMasterIdLst>
    <p:notesMasterId r:id="rId28"/>
  </p:notesMasterIdLst>
  <p:handoutMasterIdLst>
    <p:handoutMasterId r:id="rId29"/>
  </p:handoutMasterIdLst>
  <p:sldIdLst>
    <p:sldId id="503" r:id="rId2"/>
    <p:sldId id="276" r:id="rId3"/>
    <p:sldId id="587" r:id="rId4"/>
    <p:sldId id="588" r:id="rId5"/>
    <p:sldId id="589" r:id="rId6"/>
    <p:sldId id="590" r:id="rId7"/>
    <p:sldId id="591" r:id="rId8"/>
    <p:sldId id="592" r:id="rId9"/>
    <p:sldId id="593" r:id="rId10"/>
    <p:sldId id="594" r:id="rId11"/>
    <p:sldId id="595" r:id="rId12"/>
    <p:sldId id="596" r:id="rId13"/>
    <p:sldId id="597" r:id="rId14"/>
    <p:sldId id="598" r:id="rId15"/>
    <p:sldId id="599" r:id="rId16"/>
    <p:sldId id="600" r:id="rId17"/>
    <p:sldId id="601" r:id="rId18"/>
    <p:sldId id="602" r:id="rId19"/>
    <p:sldId id="603" r:id="rId20"/>
    <p:sldId id="604" r:id="rId21"/>
    <p:sldId id="605" r:id="rId22"/>
    <p:sldId id="606" r:id="rId23"/>
    <p:sldId id="607" r:id="rId24"/>
    <p:sldId id="586" r:id="rId25"/>
    <p:sldId id="504" r:id="rId26"/>
    <p:sldId id="505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Въведение" id="{A0C7653D-1924-4F56-9E27-AA2B21F1DA92}">
          <p14:sldIdLst>
            <p14:sldId id="503"/>
            <p14:sldId id="276"/>
          </p14:sldIdLst>
        </p14:section>
        <p14:section name="Език за програмиране" id="{DB5D4DE6-FF1C-4EA9-915A-C119FA75E385}">
          <p14:sldIdLst>
            <p14:sldId id="587"/>
            <p14:sldId id="588"/>
            <p14:sldId id="589"/>
            <p14:sldId id="590"/>
            <p14:sldId id="591"/>
            <p14:sldId id="592"/>
            <p14:sldId id="593"/>
            <p14:sldId id="594"/>
            <p14:sldId id="595"/>
            <p14:sldId id="596"/>
          </p14:sldIdLst>
        </p14:section>
        <p14:section name="Компилиране и интерпретиране" id="{E1DAA2F6-64D8-46B0-AFD0-25BAB3D5FEAE}">
          <p14:sldIdLst>
            <p14:sldId id="597"/>
            <p14:sldId id="598"/>
            <p14:sldId id="599"/>
            <p14:sldId id="600"/>
            <p14:sldId id="601"/>
          </p14:sldIdLst>
        </p14:section>
        <p14:section name="Интегрираната среда за разработка" id="{49805DCE-D468-4058-8C25-F9AB97FA8A58}">
          <p14:sldIdLst>
            <p14:sldId id="602"/>
            <p14:sldId id="603"/>
            <p14:sldId id="604"/>
            <p14:sldId id="605"/>
            <p14:sldId id="606"/>
            <p14:sldId id="607"/>
          </p14:sldIdLst>
        </p14:section>
        <p14:section name="Заключение" id="{E19D07F1-86E2-47E9-B2AB-7ADC4F89DC12}">
          <p14:sldIdLst>
            <p14:sldId id="586"/>
            <p14:sldId id="504"/>
            <p14:sldId id="50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34465"/>
    <a:srgbClr val="ADB4C3"/>
    <a:srgbClr val="EA91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293" autoAdjust="0"/>
    <p:restoredTop sz="95214" autoAdjust="0"/>
  </p:normalViewPr>
  <p:slideViewPr>
    <p:cSldViewPr showGuides="1">
      <p:cViewPr varScale="1">
        <p:scale>
          <a:sx n="111" d="100"/>
          <a:sy n="111" d="100"/>
        </p:scale>
        <p:origin x="516" y="96"/>
      </p:cViewPr>
      <p:guideLst>
        <p:guide orient="horz" pos="2184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8" d="100"/>
          <a:sy n="88" d="100"/>
        </p:scale>
        <p:origin x="3822" y="66"/>
      </p:cViewPr>
      <p:guideLst/>
    </p:cSldViewPr>
  </p:notes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6F20103-83CC-4A54-8FDE-9D37FC2629C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bg-B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A53962-26EF-44E4-9E69-61B1727AB1C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087215-0C8F-4762-A664-737A353EC9A4}" type="datetimeFigureOut">
              <a:rPr lang="bg-BG" smtClean="0"/>
              <a:t>25.9.2026 г.</a:t>
            </a:fld>
            <a:endParaRPr lang="bg-B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A6967E-448F-4887-8FCB-34482EFBCC7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-1" y="8892000"/>
            <a:ext cx="6443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bg-BG" sz="1100" dirty="0"/>
              <a:t>Работна група </a:t>
            </a:r>
            <a:r>
              <a:rPr lang="ru-RU" sz="1100" dirty="0"/>
              <a:t>"Образование по програмиране и ИТ</a:t>
            </a:r>
            <a:r>
              <a:rPr lang="bg-BG" sz="1100" dirty="0"/>
              <a:t>",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B6554C2-DDBA-40E2-9536-53A07EC50274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6443999" y="8892000"/>
            <a:ext cx="412413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C318AE-53F9-47EA-B5FE-E9473933AF11}" type="slidenum">
              <a:rPr lang="bg-BG" smtClean="0"/>
              <a:t>‹#›</a:t>
            </a:fld>
            <a:endParaRPr lang="bg-BG" dirty="0"/>
          </a:p>
        </p:txBody>
      </p:sp>
    </p:spTree>
    <p:extLst>
      <p:ext uri="{BB962C8B-B14F-4D97-AF65-F5344CB8AC3E}">
        <p14:creationId xmlns:p14="http://schemas.microsoft.com/office/powerpoint/2010/main" val="415060296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hyperlink" Target="https://softuni.org/" TargetMode="External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2D84649-876A-46C9-8472-14CB09C070D8}" type="datetimeFigureOut">
              <a:rPr lang="en-US" smtClean="0"/>
              <a:t>9/25/2026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488999" y="8892000"/>
            <a:ext cx="367414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F067CD-8E6B-4360-9AA8-C5DF2A48A6D1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C3A49B-3196-44DF-AC28-085C72EFBFF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-1" y="8892000"/>
            <a:ext cx="6488999" cy="252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/>
            </a:lvl1pPr>
          </a:lstStyle>
          <a:p>
            <a:r>
              <a:rPr lang="bg-BG" sz="1100" dirty="0"/>
              <a:t>Работна група </a:t>
            </a:r>
            <a:r>
              <a:rPr lang="bg-BG" dirty="0"/>
              <a:t>"Образование по програмиране и ИТ"</a:t>
            </a:r>
            <a:r>
              <a:rPr lang="bg-BG" sz="1100" dirty="0"/>
              <a:t>, с подкрепата на </a:t>
            </a:r>
            <a:r>
              <a:rPr lang="en-US" sz="1100" dirty="0">
                <a:hlinkClick r:id="rId2"/>
              </a:rPr>
              <a:t>SoftUni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53084769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softuni.org/" TargetMode="External"/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Relationship Id="rId4" Type="http://schemas.openxmlformats.org/officeDocument/2006/relationships/hyperlink" Target="http://creativecommons.org/licenses/by-nc-sa/4.0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softuni.org/" TargetMode="External"/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1</a:t>
            </a:fld>
            <a:endParaRPr lang="en-US" dirty="0"/>
          </a:p>
        </p:txBody>
      </p:sp>
      <p:sp>
        <p:nvSpPr>
          <p:cNvPr id="8" name="Slide Image Placeholder 7">
            <a:extLst>
              <a:ext uri="{FF2B5EF4-FFF2-40B4-BE49-F238E27FC236}">
                <a16:creationId xmlns:a16="http://schemas.microsoft.com/office/drawing/2014/main" id="{78811095-27E9-49AB-972B-D4E20B3963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9" name="Notes Placeholder 8">
            <a:extLst>
              <a:ext uri="{FF2B5EF4-FFF2-40B4-BE49-F238E27FC236}">
                <a16:creationId xmlns:a16="http://schemas.microsoft.com/office/drawing/2014/main" id="{E923224B-0CC3-475A-8628-8A90751AE61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88A3F3-90B1-4930-8D00-5603BDABEF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9448943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lide Image Placeholder 13">
            <a:extLst>
              <a:ext uri="{FF2B5EF4-FFF2-40B4-BE49-F238E27FC236}">
                <a16:creationId xmlns:a16="http://schemas.microsoft.com/office/drawing/2014/main" id="{A1F0B3C6-2E53-4CA3-86D1-53D46EC35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15" name="Notes Placeholder 14">
            <a:extLst>
              <a:ext uri="{FF2B5EF4-FFF2-40B4-BE49-F238E27FC236}">
                <a16:creationId xmlns:a16="http://schemas.microsoft.com/office/drawing/2014/main" id="{149CC699-A079-49A5-A4D6-73B7F849A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121F4233-7E9A-40D2-9066-2DB14E2FA5A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18F1DFF-B3E7-4ABF-97EE-0BBF3A961E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853074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z="1000" dirty="0"/>
              <a:t>© Software University Foundation – </a:t>
            </a:r>
            <a:r>
              <a:rPr lang="en-US" sz="1000" u="sng" dirty="0">
                <a:hlinkClick r:id="rId3"/>
              </a:rPr>
              <a:t>http://softuni.org</a:t>
            </a:r>
            <a:endParaRPr lang="en-US" sz="1000" dirty="0"/>
          </a:p>
          <a:p>
            <a:r>
              <a:rPr lang="en-US" sz="1000" dirty="0"/>
              <a:t>This work is licensed under the </a:t>
            </a:r>
            <a:r>
              <a:rPr lang="en-US" sz="1000" u="sng" noProof="1">
                <a:hlinkClick r:id="rId4"/>
              </a:rPr>
              <a:t>Creative Commons Attribution-NonCommercial-ShareAlike</a:t>
            </a:r>
            <a:r>
              <a:rPr lang="en-US" sz="1000" noProof="1"/>
              <a:t> </a:t>
            </a:r>
            <a:r>
              <a:rPr lang="en-US" sz="1000" dirty="0"/>
              <a:t>license.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EBA5BD7-F043-4D1B-AA17-CD412FC534D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8047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49B984-F964-47FF-8179-0A3007CE21CD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E059BE0-D868-413B-AAA1-1CC88D1F52C5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665903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27548A-4D3C-449B-81A5-FA4BE4628490}"/>
              </a:ext>
            </a:extLst>
          </p:cNvPr>
          <p:cNvSpPr txBox="1">
            <a:spLocks/>
          </p:cNvSpPr>
          <p:nvPr/>
        </p:nvSpPr>
        <p:spPr>
          <a:xfrm>
            <a:off x="6488999" y="884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EBA5BD7-F043-4D1B-AA17-CD412FC534DE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472CE7-61C1-4B7B-B0C8-5A45F017871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© SoftUni – </a:t>
            </a:r>
            <a:r>
              <a:rPr lang="en-US" u="sng">
                <a:hlinkClick r:id="rId3"/>
              </a:rPr>
              <a:t>https://softuni.org</a:t>
            </a:r>
            <a:r>
              <a:rPr lang="en-US"/>
              <a:t>. Copyrighted document. Unauthorized copy or reproduction is not permitted.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8844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hyperlink" Target="http://creativecommons.org/licenses/by-nc-sa/4.0/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resenta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Bottom">
            <a:extLst>
              <a:ext uri="{FF2B5EF4-FFF2-40B4-BE49-F238E27FC236}">
                <a16:creationId xmlns:a16="http://schemas.microsoft.com/office/drawing/2014/main" id="{6854D183-0374-4B3E-B2CE-32F308A81591}"/>
              </a:ext>
            </a:extLst>
          </p:cNvPr>
          <p:cNvSpPr/>
          <p:nvPr userDrawn="1"/>
        </p:nvSpPr>
        <p:spPr>
          <a:xfrm>
            <a:off x="0" y="6702676"/>
            <a:ext cx="12195176" cy="15532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3" name="Picture Placeholder Title Image">
            <a:extLst>
              <a:ext uri="{FF2B5EF4-FFF2-40B4-BE49-F238E27FC236}">
                <a16:creationId xmlns:a16="http://schemas.microsoft.com/office/drawing/2014/main" id="{A04D819A-89E2-4714-8C56-1838BF467E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390123" y="3400017"/>
            <a:ext cx="5248260" cy="2188983"/>
          </a:xfrm>
        </p:spPr>
        <p:txBody>
          <a:bodyPr/>
          <a:lstStyle>
            <a:lvl1pPr marL="0" indent="0" algn="ctr" latinLnBrk="0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Click icon to add picture</a:t>
            </a:r>
          </a:p>
        </p:txBody>
      </p:sp>
      <p:sp>
        <p:nvSpPr>
          <p:cNvPr id="10" name="Company Web Site">
            <a:extLst>
              <a:ext uri="{FF2B5EF4-FFF2-40B4-BE49-F238E27FC236}">
                <a16:creationId xmlns:a16="http://schemas.microsoft.com/office/drawing/2014/main" id="{0B99B1EE-62FA-4AA4-920C-D444D6C0B77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390120" y="6086106"/>
            <a:ext cx="5248260" cy="341313"/>
          </a:xfrm>
        </p:spPr>
        <p:txBody>
          <a:bodyPr lIns="36000" rIns="36000" anchor="ctr" anchorCtr="0">
            <a:noAutofit/>
          </a:bodyPr>
          <a:lstStyle>
            <a:lvl1pPr marL="0" indent="0" algn="r">
              <a:buNone/>
              <a:defRPr sz="1800"/>
            </a:lvl1pPr>
          </a:lstStyle>
          <a:p>
            <a:pPr lvl="0"/>
            <a:r>
              <a:rPr lang="en-US" dirty="0"/>
              <a:t>https://softuni.foundation  </a:t>
            </a:r>
          </a:p>
        </p:txBody>
      </p:sp>
      <p:sp>
        <p:nvSpPr>
          <p:cNvPr id="6" name="Company Name">
            <a:extLst>
              <a:ext uri="{FF2B5EF4-FFF2-40B4-BE49-F238E27FC236}">
                <a16:creationId xmlns:a16="http://schemas.microsoft.com/office/drawing/2014/main" id="{2A76510A-0BAE-A827-E77C-BE88E38F52AA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0122" y="5698189"/>
            <a:ext cx="5248260" cy="374236"/>
          </a:xfrm>
        </p:spPr>
        <p:txBody>
          <a:bodyPr lIns="36000" rIns="36000" anchor="ctr" anchorCtr="0">
            <a:normAutofit/>
          </a:bodyPr>
          <a:lstStyle>
            <a:lvl1pPr marL="0" indent="0" algn="r">
              <a:buNone/>
              <a:defRPr sz="2000" b="1">
                <a:solidFill>
                  <a:schemeClr val="tx1">
                    <a:lumMod val="75000"/>
                  </a:schemeClr>
                </a:solidFill>
              </a:defRPr>
            </a:lvl1pPr>
          </a:lstStyle>
          <a:p>
            <a:pPr lvl="0"/>
            <a:r>
              <a:rPr lang="en-US" dirty="0"/>
              <a:t>SoftUni Foundation</a:t>
            </a:r>
          </a:p>
        </p:txBody>
      </p:sp>
      <p:sp>
        <p:nvSpPr>
          <p:cNvPr id="31" name="Author Position">
            <a:extLst>
              <a:ext uri="{FF2B5EF4-FFF2-40B4-BE49-F238E27FC236}">
                <a16:creationId xmlns:a16="http://schemas.microsoft.com/office/drawing/2014/main" id="{3E6B87B7-9D33-4EBB-BD4F-C0436BA3FD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auto">
          <a:xfrm>
            <a:off x="534045" y="6085863"/>
            <a:ext cx="4751953" cy="341556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1800" b="0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URL</a:t>
            </a:r>
          </a:p>
        </p:txBody>
      </p:sp>
      <p:sp>
        <p:nvSpPr>
          <p:cNvPr id="30" name="Author Name">
            <a:extLst>
              <a:ext uri="{FF2B5EF4-FFF2-40B4-BE49-F238E27FC236}">
                <a16:creationId xmlns:a16="http://schemas.microsoft.com/office/drawing/2014/main" id="{2EA92DCA-4DB5-4D03-ACD3-A6A296592D0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auto">
          <a:xfrm>
            <a:off x="534046" y="5251106"/>
            <a:ext cx="4751954" cy="724904"/>
          </a:xfrm>
          <a:prstGeom prst="rect">
            <a:avLst/>
          </a:prstGeom>
          <a:noFill/>
          <a:effectLst/>
        </p:spPr>
        <p:txBody>
          <a:bodyPr wrap="square" lIns="36000" tIns="36000" rIns="36000" bIns="36000" rtlCol="0" anchor="ctr" anchorCtr="0">
            <a:noAutofit/>
          </a:bodyPr>
          <a:lstStyle>
            <a:lvl1pPr marL="0" indent="0" algn="l" rtl="0" fontAlgn="base" latinLnBrk="0">
              <a:spcBef>
                <a:spcPct val="0"/>
              </a:spcBef>
              <a:spcAft>
                <a:spcPct val="0"/>
              </a:spcAft>
              <a:buNone/>
              <a:defRPr lang="en-US" sz="2000" b="1" kern="1200" dirty="0" smtClean="0">
                <a:solidFill>
                  <a:schemeClr val="tx1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noProof="0" dirty="0"/>
              <a:t>Authors</a:t>
            </a:r>
          </a:p>
        </p:txBody>
      </p:sp>
      <p:sp>
        <p:nvSpPr>
          <p:cNvPr id="43" name="Presentation Subtitle">
            <a:extLst>
              <a:ext uri="{FF2B5EF4-FFF2-40B4-BE49-F238E27FC236}">
                <a16:creationId xmlns:a16="http://schemas.microsoft.com/office/drawing/2014/main" id="{37BDB812-1395-4B02-ABCF-6A331EEE23E5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554746" y="1402942"/>
            <a:ext cx="11083636" cy="1306057"/>
          </a:xfrm>
        </p:spPr>
        <p:txBody>
          <a:bodyPr anchor="t" anchorCtr="0">
            <a:normAutofit/>
          </a:bodyPr>
          <a:lstStyle>
            <a:lvl1pPr marL="0" indent="0" algn="ctr" latinLnBrk="0">
              <a:buNone/>
              <a:defRPr sz="3600">
                <a:solidFill>
                  <a:schemeClr val="tx1"/>
                </a:solidFill>
              </a:defRPr>
            </a:lvl1pPr>
          </a:lstStyle>
          <a:p>
            <a:r>
              <a:rPr lang="en-US" noProof="0" dirty="0"/>
              <a:t>Presentation Subtitle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A4DF3AB8-E6E3-4FCE-8A4A-ECD147720A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4746" y="321501"/>
            <a:ext cx="11083636" cy="971589"/>
          </a:xfrm>
        </p:spPr>
        <p:txBody>
          <a:bodyPr>
            <a:normAutofit/>
          </a:bodyPr>
          <a:lstStyle>
            <a:lvl1pPr algn="ctr" latinLnBrk="0">
              <a:defRPr sz="5400"/>
            </a:lvl1pPr>
          </a:lstStyle>
          <a:p>
            <a:r>
              <a:rPr lang="en-US" noProof="0" dirty="0"/>
              <a:t>Presentation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24D0DB3-F60A-469B-7831-209CB666CCE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549" y="4325954"/>
            <a:ext cx="2538082" cy="633046"/>
          </a:xfrm>
          <a:prstGeom prst="rect">
            <a:avLst/>
          </a:prstGeom>
        </p:spPr>
      </p:pic>
      <p:pic>
        <p:nvPicPr>
          <p:cNvPr id="5" name="Picture 4" title="CC-BY-NC-SA License">
            <a:hlinkClick r:id="rId3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2D40731C-0303-A69D-63FD-E048A73CA59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402682" y="4321352"/>
            <a:ext cx="1809336" cy="633045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06541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4319736" y="86775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615109" y="5585916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615109" y="4704825"/>
            <a:ext cx="10961783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352921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">
            <a:extLst>
              <a:ext uri="{FF2B5EF4-FFF2-40B4-BE49-F238E27FC236}">
                <a16:creationId xmlns:a16="http://schemas.microsoft.com/office/drawing/2014/main" id="{C1780DB1-0AF0-4108-AFE1-9DA99F0DBC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Slide Body Text">
            <a:extLst>
              <a:ext uri="{FF2B5EF4-FFF2-40B4-BE49-F238E27FC236}">
                <a16:creationId xmlns:a16="http://schemas.microsoft.com/office/drawing/2014/main" id="{5A9D2960-6D42-439F-82E8-812822013A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6125"/>
            <a:ext cx="11818096" cy="5528766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391AFA4E-7870-4561-A1B8-AC956B0C8931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19B5B676-7892-440F-8191-7109B2C598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B9A1D0F-F579-6A3C-C698-4E2E7F1AB26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2970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portant Concep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0020EB61-2079-41A3-B356-B1D8D48D78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Rectangle Left"/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35205" y="1792355"/>
            <a:ext cx="1830304" cy="40622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CB4CB13C-66A1-466B-A6C1-B0BABF5CFE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866000" y="1121143"/>
            <a:ext cx="10129234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8" name="Slide Title">
            <a:extLst>
              <a:ext uri="{FF2B5EF4-FFF2-40B4-BE49-F238E27FC236}">
                <a16:creationId xmlns:a16="http://schemas.microsoft.com/office/drawing/2014/main" id="{E2DA9691-CDF5-499C-94BB-AAA61DAC1BF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8CA5371-2597-CF8F-1859-226395807433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5307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portant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">
            <a:extLst>
              <a:ext uri="{FF2B5EF4-FFF2-40B4-BE49-F238E27FC236}">
                <a16:creationId xmlns:a16="http://schemas.microsoft.com/office/drawing/2014/main" id="{1865BF6B-7F07-4E9C-879F-80E36EEB34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12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/>
        </p:nvSpPr>
        <p:spPr>
          <a:xfrm>
            <a:off x="0" y="0"/>
            <a:ext cx="115383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3074" name="Picture Bulb" descr="Bulb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20027" y="3314704"/>
            <a:ext cx="1260665" cy="2797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5" name="Slide Body Text">
            <a:extLst>
              <a:ext uri="{FF2B5EF4-FFF2-40B4-BE49-F238E27FC236}">
                <a16:creationId xmlns:a16="http://schemas.microsoft.com/office/drawing/2014/main" id="{6157C8DE-E0AF-422B-BBB1-F0AF1264B5E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673561" y="1121143"/>
            <a:ext cx="10321675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0D5CC956-5C4A-44BE-8F8B-327FAFA51E9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296956" y="100750"/>
            <a:ext cx="916404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37AF1B9-D67A-246A-86B6-E28F19C5239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9651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0B8C963-1813-4B69-AD27-6D02EBBBB5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3" name="Rectangle Left">
            <a:extLst>
              <a:ext uri="{FF2B5EF4-FFF2-40B4-BE49-F238E27FC236}">
                <a16:creationId xmlns:a16="http://schemas.microsoft.com/office/drawing/2014/main" id="{345FB1C8-7F66-4D5C-ACCE-AE919936BCFD}"/>
              </a:ext>
            </a:extLst>
          </p:cNvPr>
          <p:cNvSpPr/>
          <p:nvPr userDrawn="1"/>
        </p:nvSpPr>
        <p:spPr>
          <a:xfrm>
            <a:off x="0" y="0"/>
            <a:ext cx="429471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pic>
        <p:nvPicPr>
          <p:cNvPr id="4" name="Picture Bulb" descr="Bulb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156000" y="5098868"/>
            <a:ext cx="779209" cy="1729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Slide Body Text">
            <a:extLst>
              <a:ext uri="{FF2B5EF4-FFF2-40B4-BE49-F238E27FC236}">
                <a16:creationId xmlns:a16="http://schemas.microsoft.com/office/drawing/2014/main" id="{7296EDA7-D37D-4B31-A888-371F0804124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5176" y="1121143"/>
            <a:ext cx="11410061" cy="5546589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6" name="Slide Title">
            <a:extLst>
              <a:ext uri="{FF2B5EF4-FFF2-40B4-BE49-F238E27FC236}">
                <a16:creationId xmlns:a16="http://schemas.microsoft.com/office/drawing/2014/main" id="{55A88B09-3557-48A3-BF27-42699C2692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177" y="100750"/>
            <a:ext cx="9875824" cy="882654"/>
          </a:xfrm>
        </p:spPr>
        <p:txBody>
          <a:bodyPr/>
          <a:lstStyle>
            <a:lvl1pPr latinLnBrk="0">
              <a:defRPr/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C2C375B-43BF-D1DD-F160-1500A111885C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1877" y="362077"/>
            <a:ext cx="1443357" cy="36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4562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urce Code Exam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">
            <a:extLst>
              <a:ext uri="{FF2B5EF4-FFF2-40B4-BE49-F238E27FC236}">
                <a16:creationId xmlns:a16="http://schemas.microsoft.com/office/drawing/2014/main" id="{509D954E-A844-4072-A556-DE584BEB932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9" name="Rectangle Top">
            <a:extLst>
              <a:ext uri="{FF2B5EF4-FFF2-40B4-BE49-F238E27FC236}">
                <a16:creationId xmlns:a16="http://schemas.microsoft.com/office/drawing/2014/main" id="{A15CE03A-0933-4E5D-9EA1-718D4F802FFC}"/>
              </a:ext>
            </a:extLst>
          </p:cNvPr>
          <p:cNvSpPr/>
          <p:nvPr userDrawn="1"/>
        </p:nvSpPr>
        <p:spPr>
          <a:xfrm>
            <a:off x="0" y="1311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 dirty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2" name="Slide Body Text">
            <a:extLst>
              <a:ext uri="{FF2B5EF4-FFF2-40B4-BE49-F238E27FC236}">
                <a16:creationId xmlns:a16="http://schemas.microsoft.com/office/drawing/2014/main" id="{B608ED73-CE88-49E4-8BFC-DBD6E9AE6B1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6" y="1206668"/>
            <a:ext cx="11804831" cy="5550582"/>
          </a:xfrm>
        </p:spPr>
        <p:txBody>
          <a:bodyPr/>
          <a:lstStyle>
            <a:lvl1pPr latinLnBrk="0">
              <a:defRPr>
                <a:solidFill>
                  <a:schemeClr val="tx1"/>
                </a:solidFill>
              </a:defRPr>
            </a:lvl1pPr>
            <a:lvl2pPr latinLnBrk="0">
              <a:defRPr>
                <a:solidFill>
                  <a:schemeClr val="tx1"/>
                </a:solidFill>
              </a:defRPr>
            </a:lvl2pPr>
            <a:lvl3pPr latinLnBrk="0">
              <a:defRPr>
                <a:solidFill>
                  <a:schemeClr val="tx1"/>
                </a:solidFill>
              </a:defRPr>
            </a:lvl3pPr>
            <a:lvl4pPr latinLnBrk="0">
              <a:defRPr>
                <a:solidFill>
                  <a:schemeClr val="tx1"/>
                </a:solidFill>
              </a:defRPr>
            </a:lvl4pPr>
            <a:lvl5pPr latinLnBrk="0"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noProof="0" dirty="0"/>
              <a:t>This is a code example</a:t>
            </a:r>
          </a:p>
        </p:txBody>
      </p:sp>
      <p:sp>
        <p:nvSpPr>
          <p:cNvPr id="4" name="Code Box">
            <a:extLst>
              <a:ext uri="{FF2B5EF4-FFF2-40B4-BE49-F238E27FC236}">
                <a16:creationId xmlns:a16="http://schemas.microsoft.com/office/drawing/2014/main" id="{F4E021E9-D6DB-4272-8C9F-CEF4940FDC10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74683" y="2034000"/>
            <a:ext cx="10836275" cy="2237893"/>
          </a:xfr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50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>
            <a:lvl1pPr>
              <a:buNone/>
              <a:defRPr lang="en-US" sz="2800" b="1" smtClean="0">
                <a:latin typeface="Consolas" pitchFamily="49" charset="0"/>
              </a:defRPr>
            </a:lvl1pPr>
            <a:lvl2pPr>
              <a:defRPr lang="en-US" smtClean="0"/>
            </a:lvl2pPr>
            <a:lvl3pPr>
              <a:defRPr lang="en-US" smtClean="0"/>
            </a:lvl3pPr>
            <a:lvl4pPr>
              <a:defRPr lang="en-US" smtClean="0"/>
            </a:lvl4pPr>
            <a:lvl5pPr>
              <a:defRPr lang="en-US"/>
            </a:lvl5pPr>
          </a:lstStyle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Source code box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  <a:p>
            <a:pPr>
              <a:spcBef>
                <a:spcPts val="300"/>
              </a:spcBef>
              <a:spcAft>
                <a:spcPts val="300"/>
              </a:spcAft>
            </a:pPr>
            <a:r>
              <a:rPr lang="en-US" noProof="1"/>
              <a:t>…</a:t>
            </a:r>
          </a:p>
        </p:txBody>
      </p:sp>
      <p:sp>
        <p:nvSpPr>
          <p:cNvPr id="11" name="Slide Title">
            <a:extLst>
              <a:ext uri="{FF2B5EF4-FFF2-40B4-BE49-F238E27FC236}">
                <a16:creationId xmlns:a16="http://schemas.microsoft.com/office/drawing/2014/main" id="{47D60833-F0A9-4F29-8C06-A963A7C8BE9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39658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B69A4E8-9221-8F79-65B4-BF9AA7F87D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08298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Center Icon"/>
          <p:cNvSpPr>
            <a:spLocks noChangeAspect="1"/>
          </p:cNvSpPr>
          <p:nvPr/>
        </p:nvSpPr>
        <p:spPr>
          <a:xfrm>
            <a:off x="831000" y="1091471"/>
            <a:ext cx="3552529" cy="3552529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Subtitle"/>
          <p:cNvSpPr>
            <a:spLocks noGrp="1"/>
          </p:cNvSpPr>
          <p:nvPr>
            <p:ph type="subTitle" sz="quarter" idx="11" hasCustomPrompt="1"/>
          </p:nvPr>
        </p:nvSpPr>
        <p:spPr>
          <a:xfrm>
            <a:off x="5241000" y="3338387"/>
            <a:ext cx="6065892" cy="768084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3998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Subtitle</a:t>
            </a:r>
          </a:p>
        </p:txBody>
      </p:sp>
      <p:sp>
        <p:nvSpPr>
          <p:cNvPr id="10" name="Slide Title"/>
          <p:cNvSpPr>
            <a:spLocks noGrp="1"/>
          </p:cNvSpPr>
          <p:nvPr>
            <p:ph type="title" sz="quarter" idx="10" hasCustomPrompt="1"/>
          </p:nvPr>
        </p:nvSpPr>
        <p:spPr>
          <a:xfrm>
            <a:off x="5241000" y="1471047"/>
            <a:ext cx="6065892" cy="1754333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ctr" latinLnBrk="0">
              <a:buNone/>
              <a:defRPr sz="5396" b="1" baseline="0">
                <a:solidFill>
                  <a:schemeClr val="tx1"/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noProof="0" dirty="0"/>
              <a:t>Click to Edit Section Title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4239197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lide Number">
            <a:extLst>
              <a:ext uri="{FF2B5EF4-FFF2-40B4-BE49-F238E27FC236}">
                <a16:creationId xmlns:a16="http://schemas.microsoft.com/office/drawing/2014/main" id="{39DDE17E-5472-41F3-AF5F-54DFF10DC6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23" name="Slide Body Text">
            <a:extLst>
              <a:ext uri="{FF2B5EF4-FFF2-40B4-BE49-F238E27FC236}">
                <a16:creationId xmlns:a16="http://schemas.microsoft.com/office/drawing/2014/main" id="{889D93F4-ABFA-46BF-8E5D-FE6562ACB20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96766" y="1371604"/>
            <a:ext cx="11781606" cy="5207396"/>
          </a:xfrm>
        </p:spPr>
        <p:txBody>
          <a:bodyPr>
            <a:normAutofit/>
          </a:bodyPr>
          <a:lstStyle>
            <a:lvl1pPr marL="514042" indent="-514042" latinLnBrk="0">
              <a:buFont typeface="+mj-lt"/>
              <a:buAutoNum type="arabicPeriod"/>
              <a:defRPr sz="3600">
                <a:solidFill>
                  <a:schemeClr val="tx1"/>
                </a:solidFill>
              </a:defRPr>
            </a:lvl1pPr>
            <a:lvl2pPr>
              <a:defRPr sz="3400"/>
            </a:lvl2pPr>
          </a:lstStyle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1"/>
            <a:r>
              <a:rPr lang="en-US" noProof="0" dirty="0"/>
              <a:t>…</a:t>
            </a:r>
          </a:p>
          <a:p>
            <a:pPr lvl="0"/>
            <a:r>
              <a:rPr lang="en-US" noProof="0" dirty="0"/>
              <a:t>…</a:t>
            </a:r>
          </a:p>
        </p:txBody>
      </p:sp>
      <p:sp>
        <p:nvSpPr>
          <p:cNvPr id="8" name="Rectangle Top">
            <a:extLst>
              <a:ext uri="{FF2B5EF4-FFF2-40B4-BE49-F238E27FC236}">
                <a16:creationId xmlns:a16="http://schemas.microsoft.com/office/drawing/2014/main" id="{930E0800-9260-4369-8330-8264DD33C5CE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57D7BE1-6358-42CC-94F3-7BCDD91DCB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Table of Contents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FD808AB-EC49-1578-0005-D58D2A365AA1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87244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Bottom"/>
          <p:cNvSpPr/>
          <p:nvPr/>
        </p:nvSpPr>
        <p:spPr>
          <a:xfrm>
            <a:off x="2" y="6264000"/>
            <a:ext cx="12192000" cy="594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856" tIns="60928" rIns="121856" bIns="6092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Slide Number">
            <a:extLst>
              <a:ext uri="{FF2B5EF4-FFF2-40B4-BE49-F238E27FC236}">
                <a16:creationId xmlns:a16="http://schemas.microsoft.com/office/drawing/2014/main" id="{6750ECE4-94E0-469B-B8E4-562792823B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62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bg2"/>
                </a:solidFill>
              </a:defRPr>
            </a:lvl1pPr>
          </a:lstStyle>
          <a:p>
            <a:fld id="{2BF067CD-8E6B-4360-9AA8-C5DF2A48A6D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Oval Logo Holder"/>
          <p:cNvSpPr/>
          <p:nvPr/>
        </p:nvSpPr>
        <p:spPr>
          <a:xfrm>
            <a:off x="5161650" y="4824665"/>
            <a:ext cx="1868701" cy="1868701"/>
          </a:xfrm>
          <a:prstGeom prst="ellipse">
            <a:avLst/>
          </a:prstGeom>
          <a:solidFill>
            <a:schemeClr val="tx2"/>
          </a:solidFill>
          <a:ln w="63500"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Text Placeholder Right">
            <a:extLst>
              <a:ext uri="{FF2B5EF4-FFF2-40B4-BE49-F238E27FC236}">
                <a16:creationId xmlns:a16="http://schemas.microsoft.com/office/drawing/2014/main" id="{AF69A59F-C564-4A04-B1CC-31C261499991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456000" y="1195931"/>
            <a:ext cx="5545597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9" name="Text Placeholder Left">
            <a:extLst>
              <a:ext uri="{FF2B5EF4-FFF2-40B4-BE49-F238E27FC236}">
                <a16:creationId xmlns:a16="http://schemas.microsoft.com/office/drawing/2014/main" id="{C8A626D2-456B-41EF-9818-EA8DD7E314D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90402" y="1195931"/>
            <a:ext cx="5545598" cy="4957073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 dirty="0"/>
              <a:t>Edit Master text styles</a:t>
            </a:r>
          </a:p>
          <a:p>
            <a:pPr lvl="1"/>
            <a:r>
              <a:rPr lang="en-US" noProof="0" dirty="0"/>
              <a:t>Second level</a:t>
            </a:r>
          </a:p>
          <a:p>
            <a:pPr lvl="2"/>
            <a:r>
              <a:rPr lang="en-US" noProof="0" dirty="0"/>
              <a:t>Third level</a:t>
            </a:r>
          </a:p>
          <a:p>
            <a:pPr lvl="3"/>
            <a:r>
              <a:rPr lang="en-US" noProof="0" dirty="0"/>
              <a:t>Fourth level</a:t>
            </a:r>
          </a:p>
          <a:p>
            <a:pPr lvl="4"/>
            <a:r>
              <a:rPr lang="en-US" noProof="0" dirty="0"/>
              <a:t>Fifth level</a:t>
            </a:r>
          </a:p>
        </p:txBody>
      </p:sp>
      <p:sp>
        <p:nvSpPr>
          <p:cNvPr id="13" name="Rectangle Top">
            <a:extLst>
              <a:ext uri="{FF2B5EF4-FFF2-40B4-BE49-F238E27FC236}">
                <a16:creationId xmlns:a16="http://schemas.microsoft.com/office/drawing/2014/main" id="{E03301DA-D0AF-46FD-8740-2F761250203A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5" name="Slide Title">
            <a:extLst>
              <a:ext uri="{FF2B5EF4-FFF2-40B4-BE49-F238E27FC236}">
                <a16:creationId xmlns:a16="http://schemas.microsoft.com/office/drawing/2014/main" id="{EA9A94D1-F9F6-4D7B-85E3-896A987B6A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5" y="100750"/>
            <a:ext cx="10270595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C9792D8-D354-4699-B7D6-B8CB7F7759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398753" y="5340443"/>
            <a:ext cx="1334859" cy="9828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B6351E19-25DA-EAD2-9FBE-358B6135D728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0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Slide Number">
            <a:extLst>
              <a:ext uri="{FF2B5EF4-FFF2-40B4-BE49-F238E27FC236}">
                <a16:creationId xmlns:a16="http://schemas.microsoft.com/office/drawing/2014/main" id="{F888EE71-82B3-40F1-A63F-7417422F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753030" y="6444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noProof="0" smtClean="0"/>
              <a:pPr/>
              <a:t>‹#›</a:t>
            </a:fld>
            <a:endParaRPr lang="en-US" noProof="0"/>
          </a:p>
        </p:txBody>
      </p:sp>
      <p:sp>
        <p:nvSpPr>
          <p:cNvPr id="14" name="Text Placeholder Body">
            <a:extLst>
              <a:ext uri="{FF2B5EF4-FFF2-40B4-BE49-F238E27FC236}">
                <a16:creationId xmlns:a16="http://schemas.microsoft.com/office/drawing/2014/main" id="{A2ABE920-240F-4CF6-AD45-23ED489FAD6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9002" y="1353866"/>
            <a:ext cx="7426234" cy="5219931"/>
          </a:xfrm>
        </p:spPr>
        <p:txBody>
          <a:bodyPr/>
          <a:lstStyle>
            <a:lvl1pPr latinLnBrk="0">
              <a:defRPr/>
            </a:lvl1pPr>
            <a:lvl2pPr latinLnBrk="0">
              <a:defRPr/>
            </a:lvl2pPr>
            <a:lvl3pPr latinLnBrk="0">
              <a:defRPr/>
            </a:lvl3pPr>
            <a:lvl4pPr latinLnBrk="0">
              <a:defRPr/>
            </a:lvl4pPr>
            <a:lvl5pPr latinLnBrk="0">
              <a:defRPr/>
            </a:lvl5pPr>
          </a:lstStyle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" name="Picture Placeholder Left"/>
          <p:cNvSpPr>
            <a:spLocks noGrp="1"/>
          </p:cNvSpPr>
          <p:nvPr>
            <p:ph type="pic" idx="1" hasCustomPrompt="1"/>
          </p:nvPr>
        </p:nvSpPr>
        <p:spPr>
          <a:xfrm>
            <a:off x="190405" y="1355077"/>
            <a:ext cx="3889373" cy="536640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anchor="ctr"/>
          <a:lstStyle>
            <a:lvl1pPr marL="0" indent="0" algn="ctr" latinLnBrk="0">
              <a:buNone/>
              <a:defRPr sz="2131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  <a:lvl2pPr marL="609219" indent="0">
              <a:buNone/>
              <a:defRPr sz="3731"/>
            </a:lvl2pPr>
            <a:lvl3pPr marL="1218438" indent="0">
              <a:buNone/>
              <a:defRPr sz="3198"/>
            </a:lvl3pPr>
            <a:lvl4pPr marL="1827657" indent="0">
              <a:buNone/>
              <a:defRPr sz="2665"/>
            </a:lvl4pPr>
            <a:lvl5pPr marL="2436876" indent="0">
              <a:buNone/>
              <a:defRPr sz="2665"/>
            </a:lvl5pPr>
            <a:lvl6pPr marL="3046096" indent="0">
              <a:buNone/>
              <a:defRPr sz="2665"/>
            </a:lvl6pPr>
            <a:lvl7pPr marL="3655315" indent="0">
              <a:buNone/>
              <a:defRPr sz="2665"/>
            </a:lvl7pPr>
            <a:lvl8pPr marL="4264533" indent="0">
              <a:buNone/>
              <a:defRPr sz="2665"/>
            </a:lvl8pPr>
            <a:lvl9pPr marL="4873752" indent="0">
              <a:buNone/>
              <a:defRPr sz="2665"/>
            </a:lvl9pPr>
          </a:lstStyle>
          <a:p>
            <a:r>
              <a:rPr lang="en-US" altLang="ko-KR" noProof="0"/>
              <a:t>Your Picture Here</a:t>
            </a:r>
          </a:p>
        </p:txBody>
      </p:sp>
      <p:sp>
        <p:nvSpPr>
          <p:cNvPr id="3" name="Rectangle Left Second"/>
          <p:cNvSpPr/>
          <p:nvPr/>
        </p:nvSpPr>
        <p:spPr>
          <a:xfrm>
            <a:off x="4127777" y="1748999"/>
            <a:ext cx="240001" cy="3360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2" name="Rectangle Left First"/>
          <p:cNvSpPr/>
          <p:nvPr/>
        </p:nvSpPr>
        <p:spPr>
          <a:xfrm>
            <a:off x="4079775" y="1355073"/>
            <a:ext cx="48001" cy="550292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0" name="Rectangle Down">
            <a:extLst>
              <a:ext uri="{FF2B5EF4-FFF2-40B4-BE49-F238E27FC236}">
                <a16:creationId xmlns:a16="http://schemas.microsoft.com/office/drawing/2014/main" id="{E9B994EC-35A8-4A11-98CB-25DC28852F94}"/>
              </a:ext>
            </a:extLst>
          </p:cNvPr>
          <p:cNvSpPr/>
          <p:nvPr/>
        </p:nvSpPr>
        <p:spPr>
          <a:xfrm>
            <a:off x="2" y="6721482"/>
            <a:ext cx="12192000" cy="13651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1" name="Rectangle Top">
            <a:extLst>
              <a:ext uri="{FF2B5EF4-FFF2-40B4-BE49-F238E27FC236}">
                <a16:creationId xmlns:a16="http://schemas.microsoft.com/office/drawing/2014/main" id="{274B8F05-DFCE-47BD-BAFD-DF93E1A63BDD}"/>
              </a:ext>
            </a:extLst>
          </p:cNvPr>
          <p:cNvSpPr/>
          <p:nvPr userDrawn="1"/>
        </p:nvSpPr>
        <p:spPr>
          <a:xfrm>
            <a:off x="0" y="0"/>
            <a:ext cx="12196800" cy="1095376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13" name="Slide Title">
            <a:extLst>
              <a:ext uri="{FF2B5EF4-FFF2-40B4-BE49-F238E27FC236}">
                <a16:creationId xmlns:a16="http://schemas.microsoft.com/office/drawing/2014/main" id="{3F218E34-55D7-4290-BFE4-80F31F94155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0406" y="100750"/>
            <a:ext cx="10270594" cy="882654"/>
          </a:xfrm>
        </p:spPr>
        <p:txBody>
          <a:bodyPr/>
          <a:lstStyle>
            <a:lvl1pPr latinLnBrk="0">
              <a:defRPr>
                <a:solidFill>
                  <a:schemeClr val="bg2"/>
                </a:solidFill>
              </a:defRPr>
            </a:lvl1pPr>
          </a:lstStyle>
          <a:p>
            <a:r>
              <a:rPr lang="en-US" noProof="0" dirty="0"/>
              <a:t>Slide Title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2F3DB3E-BDAA-8201-9A01-2F52640A84CA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3573" y="368999"/>
            <a:ext cx="1443361" cy="360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40194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estions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Bottom">
            <a:extLst>
              <a:ext uri="{FF2B5EF4-FFF2-40B4-BE49-F238E27FC236}">
                <a16:creationId xmlns:a16="http://schemas.microsoft.com/office/drawing/2014/main" id="{550A59F9-9A9D-4956-95B4-F78CC0DB1D59}"/>
              </a:ext>
            </a:extLst>
          </p:cNvPr>
          <p:cNvSpPr/>
          <p:nvPr userDrawn="1"/>
        </p:nvSpPr>
        <p:spPr>
          <a:xfrm>
            <a:off x="0" y="6371332"/>
            <a:ext cx="12195176" cy="48723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38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2398" b="0" i="0" u="none" strike="noStrike" kern="1200" cap="none" spc="0" normalizeH="0" baseline="0" noProof="0">
              <a:ln>
                <a:noFill/>
              </a:ln>
              <a:solidFill>
                <a:srgbClr val="F7C86D"/>
              </a:solidFill>
              <a:effectLst/>
              <a:uLnTx/>
              <a:uFillTx/>
              <a:latin typeface="Calibri" panose="020F0502020204030204"/>
              <a:ea typeface="맑은 고딕" panose="020B0503020000020004" pitchFamily="34" charset="-127"/>
              <a:cs typeface="+mn-cs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107753B-8639-4399-B782-EE5377184D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26988" y="1461842"/>
            <a:ext cx="10731663" cy="3047158"/>
          </a:xfrm>
        </p:spPr>
        <p:txBody>
          <a:bodyPr>
            <a:normAutofit/>
          </a:bodyPr>
          <a:lstStyle>
            <a:lvl1pPr algn="ctr">
              <a:defRPr sz="13800"/>
            </a:lvl1pPr>
          </a:lstStyle>
          <a:p>
            <a:r>
              <a:rPr lang="bg-BG" dirty="0"/>
              <a:t>Въпроси?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920612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gray"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Body Text">
            <a:extLst>
              <a:ext uri="{FF2B5EF4-FFF2-40B4-BE49-F238E27FC236}">
                <a16:creationId xmlns:a16="http://schemas.microsoft.com/office/drawing/2014/main" id="{90CBFB32-9F46-4F2F-8A54-9EE8BED27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0404" y="1138844"/>
            <a:ext cx="11804830" cy="5530156"/>
          </a:xfrm>
          <a:prstGeom prst="rect">
            <a:avLst/>
          </a:prstGeom>
        </p:spPr>
        <p:txBody>
          <a:bodyPr vert="horz" lIns="108000" tIns="36000" rIns="108000" bIns="36000" rtlCol="0">
            <a:normAutofit/>
          </a:bodyPr>
          <a:lstStyle/>
          <a:p>
            <a:pPr lvl="0"/>
            <a:r>
              <a:rPr lang="en-US" dirty="0"/>
              <a:t>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dirty="0"/>
          </a:p>
        </p:txBody>
      </p:sp>
      <p:sp>
        <p:nvSpPr>
          <p:cNvPr id="10" name="Slide Title">
            <a:extLst>
              <a:ext uri="{FF2B5EF4-FFF2-40B4-BE49-F238E27FC236}">
                <a16:creationId xmlns:a16="http://schemas.microsoft.com/office/drawing/2014/main" id="{B770C392-3003-4C35-9625-BB041F825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0405" y="100750"/>
            <a:ext cx="11804829" cy="882654"/>
          </a:xfrm>
          <a:prstGeom prst="rect">
            <a:avLst/>
          </a:prstGeom>
        </p:spPr>
        <p:txBody>
          <a:bodyPr vert="horz" lIns="108000" tIns="36000" rIns="108000" bIns="3600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6789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89" r:id="rId2"/>
    <p:sldLayoutId id="2147483681" r:id="rId3"/>
    <p:sldLayoutId id="2147483679" r:id="rId4"/>
    <p:sldLayoutId id="2147483680" r:id="rId5"/>
    <p:sldLayoutId id="2147483688" r:id="rId6"/>
    <p:sldLayoutId id="2147483684" r:id="rId7"/>
    <p:sldLayoutId id="2147483690" r:id="rId8"/>
    <p:sldLayoutId id="2147483677" r:id="rId9"/>
    <p:sldLayoutId id="2147483683" r:id="rId10"/>
    <p:sldLayoutId id="2147483685" r:id="rId11"/>
    <p:sldLayoutId id="2147483686" r:id="rId12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hf hdr="0" ftr="0" dt="0"/>
  <p:txStyles>
    <p:titleStyle>
      <a:lvl1pPr algn="l" defTabSz="1218438" rtl="0" eaLnBrk="1" latinLnBrk="0" hangingPunct="1">
        <a:spcBef>
          <a:spcPct val="0"/>
        </a:spcBef>
        <a:buNone/>
        <a:defRPr sz="3998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36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398" kern="1200">
          <a:solidFill>
            <a:schemeClr val="tx1"/>
          </a:solidFill>
          <a:latin typeface="+mn-lt"/>
          <a:ea typeface="+mn-ea"/>
          <a:cs typeface="+mn-cs"/>
        </a:defRPr>
      </a:lvl1pPr>
      <a:lvl2pPr marL="803275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3198" kern="1200">
          <a:solidFill>
            <a:schemeClr val="tx1"/>
          </a:solidFill>
          <a:latin typeface="+mn-lt"/>
          <a:ea typeface="+mn-ea"/>
          <a:cs typeface="+mn-cs"/>
        </a:defRPr>
      </a:lvl2pPr>
      <a:lvl3pPr marL="1255713" indent="-360363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998" kern="1200">
          <a:solidFill>
            <a:schemeClr val="tx1"/>
          </a:solidFill>
          <a:latin typeface="+mn-lt"/>
          <a:ea typeface="+mn-ea"/>
          <a:cs typeface="+mn-cs"/>
        </a:defRPr>
      </a:lvl3pPr>
      <a:lvl4pPr marL="1700213" indent="-352425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798" kern="1200">
          <a:solidFill>
            <a:schemeClr val="tx1"/>
          </a:solidFill>
          <a:latin typeface="+mn-lt"/>
          <a:ea typeface="+mn-ea"/>
          <a:cs typeface="+mn-cs"/>
        </a:defRPr>
      </a:lvl4pPr>
      <a:lvl5pPr marL="2058988" indent="-266700" algn="l" defTabSz="1218438" rtl="0" eaLnBrk="1" latinLnBrk="0" hangingPunct="1">
        <a:lnSpc>
          <a:spcPct val="105000"/>
        </a:lnSpc>
        <a:spcBef>
          <a:spcPts val="600"/>
        </a:spcBef>
        <a:spcAft>
          <a:spcPts val="600"/>
        </a:spcAft>
        <a:buFont typeface="Wingdings" panose="05000000000000000000" pitchFamily="2" charset="2"/>
        <a:buChar char="§"/>
        <a:defRPr sz="2598" kern="1200">
          <a:solidFill>
            <a:schemeClr val="tx1"/>
          </a:solidFill>
          <a:latin typeface="+mn-lt"/>
          <a:ea typeface="+mn-ea"/>
          <a:cs typeface="+mn-cs"/>
        </a:defRPr>
      </a:lvl5pPr>
      <a:lvl6pPr marL="335070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6pPr>
      <a:lvl7pPr marL="3959924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7pPr>
      <a:lvl8pPr marL="4569143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8pPr>
      <a:lvl9pPr marL="5178362" indent="-304610" algn="l" defTabSz="1218438" rtl="0" eaLnBrk="1" latinLnBrk="1" hangingPunct="1">
        <a:spcBef>
          <a:spcPct val="20000"/>
        </a:spcBef>
        <a:buFont typeface="Arial" pitchFamily="34" charset="0"/>
        <a:buChar char="•"/>
        <a:defRPr sz="266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1pPr>
      <a:lvl2pPr marL="609219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2pPr>
      <a:lvl3pPr marL="1218438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3pPr>
      <a:lvl4pPr marL="1827657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4pPr>
      <a:lvl5pPr marL="243687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5pPr>
      <a:lvl6pPr marL="3046096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6pPr>
      <a:lvl7pPr marL="3655315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7pPr>
      <a:lvl8pPr marL="4264533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8pPr>
      <a:lvl9pPr marL="4873752" algn="l" defTabSz="1218438" rtl="0" eaLnBrk="1" latinLnBrk="1" hangingPunct="1">
        <a:defRPr sz="239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1843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4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2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G-IT-Edu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.png"/><Relationship Id="rId5" Type="http://schemas.openxmlformats.org/officeDocument/2006/relationships/hyperlink" Target="http://creativecommons.org/licenses/by-nc-sa/4.0/" TargetMode="External"/><Relationship Id="rId4" Type="http://schemas.openxmlformats.org/officeDocument/2006/relationships/hyperlink" Target="https://github.com/BG-IT-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Author Name">
            <a:extLst>
              <a:ext uri="{FF2B5EF4-FFF2-40B4-BE49-F238E27FC236}">
                <a16:creationId xmlns:a16="http://schemas.microsoft.com/office/drawing/2014/main" id="{FA396BB6-2053-4690-9672-BC528007D370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390120" y="6086106"/>
            <a:ext cx="5248260" cy="34131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6</a:t>
            </a:r>
            <a:r>
              <a:rPr lang="bg-BG" dirty="0"/>
              <a:t> клас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8DE66249-1FBD-414B-AF0D-550F7312AF7D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90122" y="5698189"/>
            <a:ext cx="5248260" cy="374236"/>
          </a:xfrm>
        </p:spPr>
        <p:txBody>
          <a:bodyPr>
            <a:normAutofit lnSpcReduction="10000"/>
          </a:bodyPr>
          <a:lstStyle/>
          <a:p>
            <a:r>
              <a:rPr lang="bg-BG" dirty="0"/>
              <a:t>Компютърно моделиране и ИТ</a:t>
            </a:r>
            <a:endParaRPr lang="en-US" dirty="0"/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520F80DC-BAF0-05EE-2BC1-37C2321904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4045" y="6085863"/>
            <a:ext cx="4751953" cy="341556"/>
          </a:xfrm>
        </p:spPr>
        <p:txBody>
          <a:bodyPr>
            <a:normAutofit lnSpcReduction="10000"/>
          </a:bodyPr>
          <a:lstStyle/>
          <a:p>
            <a:r>
              <a:rPr lang="en-US" dirty="0">
                <a:hlinkClick r:id="rId3"/>
              </a:rPr>
              <a:t>https://github.com/BG-IT-Edu</a:t>
            </a:r>
            <a:endParaRPr lang="en-US" dirty="0"/>
          </a:p>
        </p:txBody>
      </p:sp>
      <p:sp>
        <p:nvSpPr>
          <p:cNvPr id="40" name="Text Placeholder 39">
            <a:extLst>
              <a:ext uri="{FF2B5EF4-FFF2-40B4-BE49-F238E27FC236}">
                <a16:creationId xmlns:a16="http://schemas.microsoft.com/office/drawing/2014/main" id="{E4D839B2-02D1-883A-3CE0-7CF25557FB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4046" y="5251106"/>
            <a:ext cx="4751954" cy="724904"/>
          </a:xfrm>
        </p:spPr>
        <p:txBody>
          <a:bodyPr>
            <a:normAutofit/>
          </a:bodyPr>
          <a:lstStyle/>
          <a:p>
            <a:r>
              <a:rPr lang="bg-BG" dirty="0"/>
              <a:t>Проект "Отворено учебно съдържание по програмиране и ИТ", СофтУни Фондация </a:t>
            </a:r>
          </a:p>
        </p:txBody>
      </p:sp>
      <p:sp>
        <p:nvSpPr>
          <p:cNvPr id="2" name="Presentation Title">
            <a:extLst>
              <a:ext uri="{FF2B5EF4-FFF2-40B4-BE49-F238E27FC236}">
                <a16:creationId xmlns:a16="http://schemas.microsoft.com/office/drawing/2014/main" id="{37F91798-9AD5-4209-8887-9580295484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593" y="321500"/>
            <a:ext cx="11802814" cy="2297499"/>
          </a:xfrm>
        </p:spPr>
        <p:txBody>
          <a:bodyPr>
            <a:normAutofit fontScale="90000"/>
          </a:bodyPr>
          <a:lstStyle/>
          <a:p>
            <a:r>
              <a:rPr lang="ru-RU" dirty="0"/>
              <a:t>Преминаване от език с блоково програмиране към скриптов текстов език</a:t>
            </a:r>
            <a:endParaRPr lang="en-US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25302" y="3204321"/>
            <a:ext cx="1902125" cy="852457"/>
          </a:xfrm>
          <a:prstGeom prst="rect">
            <a:avLst/>
          </a:prstGeom>
        </p:spPr>
      </p:pic>
      <p:pic>
        <p:nvPicPr>
          <p:cNvPr id="1026" name="Picture 2" descr="Основни типове данни в скриптов текстов език за програмиране"/>
          <p:cNvPicPr>
            <a:picLocks noGrp="1" noChangeAspect="1" noChangeArrowheads="1"/>
          </p:cNvPicPr>
          <p:nvPr>
            <p:ph type="pic" sz="quarter" idx="10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32" b="18732"/>
          <a:stretch>
            <a:fillRect/>
          </a:stretch>
        </p:blipFill>
        <p:spPr bwMode="auto"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66405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6A760D59-0056-4F39-B077-DBDBE3D2927E}"/>
              </a:ext>
            </a:extLst>
          </p:cNvPr>
          <p:cNvSpPr txBox="1">
            <a:spLocks/>
          </p:cNvSpPr>
          <p:nvPr/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2BF067CD-8E6B-4360-9AA8-C5DF2A48A6D1}" type="slidenum">
              <a:rPr lang="en-US" smtClean="0"/>
              <a:pPr/>
              <a:t>2</a:t>
            </a:fld>
            <a:endParaRPr lang="en-US" dirty="0"/>
          </a:p>
        </p:txBody>
      </p:sp>
      <p:sp>
        <p:nvSpPr>
          <p:cNvPr id="444419" name="Slide Body"/>
          <p:cNvSpPr>
            <a:spLocks noGrp="1" noChangeArrowheads="1"/>
          </p:cNvSpPr>
          <p:nvPr>
            <p:ph type="body" sz="quarter" idx="13"/>
          </p:nvPr>
        </p:nvSpPr>
        <p:spPr>
          <a:xfrm>
            <a:off x="196766" y="1371604"/>
            <a:ext cx="8959234" cy="5207396"/>
          </a:xfrm>
        </p:spPr>
        <p:txBody>
          <a:bodyPr/>
          <a:lstStyle/>
          <a:p>
            <a:r>
              <a:rPr lang="bg-BG" dirty="0"/>
              <a:t>͏</a:t>
            </a:r>
            <a:r>
              <a:rPr lang="bg-BG" b="1" dirty="0"/>
              <a:t>Език за програмиране</a:t>
            </a:r>
          </a:p>
          <a:p>
            <a:r>
              <a:rPr lang="bg-BG" dirty="0"/>
              <a:t>͏</a:t>
            </a:r>
            <a:r>
              <a:rPr lang="bg-BG" b="1" dirty="0">
                <a:solidFill>
                  <a:schemeClr val="bg1"/>
                </a:solidFill>
              </a:rPr>
              <a:t>Компилиране</a:t>
            </a:r>
            <a:r>
              <a:rPr lang="bg-BG" dirty="0"/>
              <a:t> и </a:t>
            </a:r>
            <a:r>
              <a:rPr lang="bg-BG" b="1" dirty="0">
                <a:solidFill>
                  <a:schemeClr val="bg1"/>
                </a:solidFill>
              </a:rPr>
              <a:t>интерпретиране</a:t>
            </a:r>
          </a:p>
          <a:p>
            <a:r>
              <a:rPr lang="bg-BG" dirty="0"/>
              <a:t>Интегрирана среда за програмиране</a:t>
            </a:r>
            <a:r>
              <a:rPr lang="en-US" dirty="0"/>
              <a:t> (</a:t>
            </a:r>
            <a:r>
              <a:rPr lang="en-US" b="1" dirty="0"/>
              <a:t>IDE</a:t>
            </a:r>
            <a:r>
              <a:rPr lang="en-US" dirty="0"/>
              <a:t>)</a:t>
            </a:r>
            <a:endParaRPr lang="bg-BG" dirty="0"/>
          </a:p>
        </p:txBody>
      </p:sp>
      <p:sp>
        <p:nvSpPr>
          <p:cNvPr id="444418" name="Slide Title"/>
          <p:cNvSpPr>
            <a:spLocks noGrp="1" noChangeArrowheads="1"/>
          </p:cNvSpPr>
          <p:nvPr>
            <p:ph type="title"/>
          </p:nvPr>
        </p:nvSpPr>
        <p:spPr>
          <a:xfrm>
            <a:off x="190406" y="100750"/>
            <a:ext cx="10270594" cy="882654"/>
          </a:xfrm>
        </p:spPr>
        <p:txBody>
          <a:bodyPr/>
          <a:lstStyle/>
          <a:p>
            <a:r>
              <a:rPr lang="bg-BG"/>
              <a:t>Съдържание</a:t>
            </a:r>
            <a:endParaRPr lang="bg-B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835CDFB-0E94-0132-177D-CD4B4F85BF89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3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011000" y="1584000"/>
            <a:ext cx="1581246" cy="2115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6986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441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Основни концепции и предназначение</a:t>
            </a:r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Език за програмиране</a:t>
            </a:r>
            <a:endParaRPr lang="en-US" dirty="0"/>
          </a:p>
        </p:txBody>
      </p:sp>
      <p:pic>
        <p:nvPicPr>
          <p:cNvPr id="1026" name="Picture 2" descr="Top 5 Programming Languages to Learn in 2024 For Beginner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7784" y="819000"/>
            <a:ext cx="8056431" cy="3645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306452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͏͏</a:t>
            </a:r>
            <a:r>
              <a:rPr lang="bg-BG" b="1" dirty="0">
                <a:solidFill>
                  <a:schemeClr val="bg1"/>
                </a:solidFill>
              </a:rPr>
              <a:t>Език за програмиране </a:t>
            </a:r>
            <a:r>
              <a:rPr lang="bg-BG" dirty="0"/>
              <a:t>– </a:t>
            </a:r>
            <a:r>
              <a:rPr lang="ru-RU" b="1" dirty="0"/>
              <a:t>система</a:t>
            </a:r>
            <a:r>
              <a:rPr lang="ru-RU" dirty="0"/>
              <a:t> от </a:t>
            </a:r>
            <a:r>
              <a:rPr lang="ru-RU" b="1" dirty="0"/>
              <a:t>символи</a:t>
            </a:r>
            <a:r>
              <a:rPr lang="ru-RU" dirty="0"/>
              <a:t>, </a:t>
            </a:r>
            <a:r>
              <a:rPr lang="ru-RU" b="1" dirty="0"/>
              <a:t>команди</a:t>
            </a:r>
            <a:r>
              <a:rPr lang="ru-RU" dirty="0"/>
              <a:t> и </a:t>
            </a:r>
            <a:r>
              <a:rPr lang="ru-RU" b="1" dirty="0"/>
              <a:t>правила</a:t>
            </a:r>
            <a:r>
              <a:rPr lang="ru-RU" dirty="0"/>
              <a:t>, чрез които програмистът </a:t>
            </a:r>
            <a:r>
              <a:rPr lang="ru-RU" b="1" dirty="0"/>
              <a:t>инструктира</a:t>
            </a:r>
            <a:r>
              <a:rPr lang="ru-RU" dirty="0"/>
              <a:t> </a:t>
            </a:r>
            <a:r>
              <a:rPr lang="ru-RU" b="1" dirty="0"/>
              <a:t>компютъра</a:t>
            </a:r>
            <a:r>
              <a:rPr lang="ru-RU" dirty="0"/>
              <a:t> да </a:t>
            </a:r>
            <a:r>
              <a:rPr lang="ru-RU" b="1" dirty="0"/>
              <a:t>изпълнява задачи</a:t>
            </a:r>
          </a:p>
          <a:p>
            <a:pPr lvl="1"/>
            <a:r>
              <a:rPr lang="ru-RU" dirty="0"/>
              <a:t>С език за програмиране </a:t>
            </a:r>
            <a:r>
              <a:rPr lang="ru-RU" b="1" dirty="0"/>
              <a:t>преобразуваме алгоритми </a:t>
            </a:r>
            <a:r>
              <a:rPr lang="ru-RU" dirty="0"/>
              <a:t>в </a:t>
            </a:r>
            <a:r>
              <a:rPr lang="ru-RU" b="1" dirty="0"/>
              <a:t>програми</a:t>
            </a:r>
            <a:r>
              <a:rPr lang="ru-RU" dirty="0"/>
              <a:t>, </a:t>
            </a:r>
            <a:r>
              <a:rPr lang="ru-RU" b="1" dirty="0">
                <a:solidFill>
                  <a:schemeClr val="bg1"/>
                </a:solidFill>
              </a:rPr>
              <a:t>изпълними от компютъра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е език за програмиране?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910" t="10809" r="6007" b="10668"/>
          <a:stretch/>
        </p:blipFill>
        <p:spPr>
          <a:xfrm>
            <a:off x="4635617" y="4374000"/>
            <a:ext cx="4590000" cy="216310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785182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Езиците</a:t>
            </a:r>
            <a:r>
              <a:rPr lang="ru-RU" dirty="0"/>
              <a:t> за </a:t>
            </a:r>
            <a:r>
              <a:rPr lang="ru-RU" b="1" dirty="0"/>
              <a:t>програмиране</a:t>
            </a:r>
            <a:r>
              <a:rPr lang="ru-RU" dirty="0"/>
              <a:t> се </a:t>
            </a:r>
            <a:r>
              <a:rPr lang="ru-RU" b="1" dirty="0"/>
              <a:t>делят</a:t>
            </a:r>
            <a:r>
              <a:rPr lang="ru-RU" dirty="0"/>
              <a:t> на няколко </a:t>
            </a:r>
            <a:r>
              <a:rPr lang="ru-RU" b="1" dirty="0"/>
              <a:t>основни групи</a:t>
            </a:r>
            <a:r>
              <a:rPr lang="bg-BG" dirty="0"/>
              <a:t>:</a:t>
            </a:r>
          </a:p>
          <a:p>
            <a:pPr lvl="1"/>
            <a:r>
              <a:rPr lang="bg-BG" b="1" dirty="0"/>
              <a:t>͏</a:t>
            </a:r>
            <a:r>
              <a:rPr lang="bg-BG" b="1" dirty="0">
                <a:solidFill>
                  <a:schemeClr val="bg1"/>
                </a:solidFill>
              </a:rPr>
              <a:t>Машинни</a:t>
            </a:r>
            <a:r>
              <a:rPr lang="bg-BG" b="1" dirty="0"/>
              <a:t> </a:t>
            </a:r>
            <a:r>
              <a:rPr lang="bg-BG" dirty="0"/>
              <a:t>езици</a:t>
            </a:r>
          </a:p>
          <a:p>
            <a:pPr lvl="1"/>
            <a:r>
              <a:rPr lang="bg-BG" dirty="0"/>
              <a:t>Езици от </a:t>
            </a:r>
            <a:r>
              <a:rPr lang="bg-BG" b="1" dirty="0">
                <a:solidFill>
                  <a:schemeClr val="bg1"/>
                </a:solidFill>
              </a:rPr>
              <a:t>ниско ниво</a:t>
            </a:r>
          </a:p>
          <a:p>
            <a:pPr lvl="1"/>
            <a:r>
              <a:rPr lang="bg-BG" dirty="0"/>
              <a:t>Езици от </a:t>
            </a:r>
            <a:r>
              <a:rPr lang="bg-BG" b="1" dirty="0">
                <a:solidFill>
                  <a:schemeClr val="bg1"/>
                </a:solidFill>
              </a:rPr>
              <a:t>високо ниво</a:t>
            </a:r>
          </a:p>
          <a:p>
            <a:endParaRPr lang="en-US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Основни видове езици</a:t>
            </a:r>
            <a:endParaRPr lang="en-US" dirty="0"/>
          </a:p>
        </p:txBody>
      </p:sp>
      <p:pic>
        <p:nvPicPr>
          <p:cNvPr id="3075" name="Picture 3" descr="What is machine code? Definition and examples - Market Business New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8984" y="2062139"/>
            <a:ext cx="2892198" cy="21201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1000" y="4413295"/>
            <a:ext cx="5040000" cy="224220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5541"/>
          <a:stretch/>
        </p:blipFill>
        <p:spPr>
          <a:xfrm>
            <a:off x="8162042" y="2056028"/>
            <a:ext cx="3677030" cy="4593697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11034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r>
              <a:rPr lang="ru-RU" dirty="0"/>
              <a:t>Компютърът "</a:t>
            </a:r>
            <a:r>
              <a:rPr lang="ru-RU" b="1" dirty="0"/>
              <a:t>разбира</a:t>
            </a:r>
            <a:r>
              <a:rPr lang="ru-RU" dirty="0"/>
              <a:t>" само </a:t>
            </a:r>
            <a:r>
              <a:rPr lang="ru-RU" b="1" dirty="0">
                <a:solidFill>
                  <a:schemeClr val="bg1"/>
                </a:solidFill>
              </a:rPr>
              <a:t>машинните езици</a:t>
            </a:r>
            <a:r>
              <a:rPr lang="ru-RU" dirty="0"/>
              <a:t> </a:t>
            </a:r>
          </a:p>
          <a:p>
            <a:r>
              <a:rPr lang="bg-BG" dirty="0"/>
              <a:t>Тези езици представляват</a:t>
            </a:r>
            <a:r>
              <a:rPr lang="ru-RU" dirty="0"/>
              <a:t> </a:t>
            </a:r>
            <a:r>
              <a:rPr lang="ru-RU" b="1" dirty="0"/>
              <a:t>поредица</a:t>
            </a:r>
            <a:r>
              <a:rPr lang="ru-RU" dirty="0"/>
              <a:t> от </a:t>
            </a:r>
            <a:r>
              <a:rPr lang="ru-RU" b="1" dirty="0"/>
              <a:t>числа</a:t>
            </a:r>
          </a:p>
          <a:p>
            <a:pPr lvl="1"/>
            <a:r>
              <a:rPr lang="ru-RU" dirty="0"/>
              <a:t>Това ги прави </a:t>
            </a:r>
            <a:r>
              <a:rPr lang="ru-RU" b="1" dirty="0"/>
              <a:t>неудобни</a:t>
            </a:r>
            <a:r>
              <a:rPr lang="ru-RU" dirty="0"/>
              <a:t> за </a:t>
            </a:r>
            <a:r>
              <a:rPr lang="ru-RU" b="1" dirty="0"/>
              <a:t>използване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Машинни езици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5854" y="3564000"/>
            <a:ext cx="4857750" cy="268605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480999" y="4540655"/>
            <a:ext cx="2700000" cy="732737"/>
          </a:xfrm>
          <a:prstGeom prst="rect">
            <a:avLst/>
          </a:prstGeom>
          <a:solidFill>
            <a:schemeClr val="accent6">
              <a:lumMod val="75000"/>
              <a:alpha val="15000"/>
            </a:schemeClr>
          </a:solidFill>
          <a:ln w="12700">
            <a:solidFill>
              <a:schemeClr val="tx1">
                <a:lumMod val="75000"/>
              </a:schemeClr>
            </a:solidFill>
          </a:ln>
        </p:spPr>
        <p:txBody>
          <a:bodyPr vert="horz" wrap="square" lIns="144000" tIns="108000" rIns="144000" bIns="108000" rtlCol="0">
            <a:spAutoFit/>
          </a:bodyPr>
          <a:lstStyle/>
          <a:p>
            <a:pPr algn="ctr" eaLnBrk="0" hangingPunct="0">
              <a:lnSpc>
                <a:spcPct val="110000"/>
              </a:lnSpc>
              <a:buClr>
                <a:schemeClr val="accent5">
                  <a:lumMod val="40000"/>
                  <a:lumOff val="60000"/>
                </a:schemeClr>
              </a:buClr>
              <a:buSzPct val="70000"/>
            </a:pPr>
            <a:r>
              <a:rPr lang="en-US" sz="3200" b="1" dirty="0"/>
              <a:t>Hello World!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5721456" y="4914000"/>
            <a:ext cx="65131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100" name="Picture 4" descr="Free Convert SVG, PNG Icon, Symbol. Download Image.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90625" y="4355348"/>
            <a:ext cx="1103353" cy="110335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2" name="Straight Arrow Connector 21"/>
          <p:cNvCxnSpPr/>
          <p:nvPr/>
        </p:nvCxnSpPr>
        <p:spPr>
          <a:xfrm>
            <a:off x="7711830" y="4914000"/>
            <a:ext cx="65131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72006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66000" y="1196125"/>
            <a:ext cx="7335000" cy="5528766"/>
          </a:xfrm>
        </p:spPr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Асемблерните езици </a:t>
            </a:r>
            <a:r>
              <a:rPr lang="ru-RU" dirty="0"/>
              <a:t>са </a:t>
            </a:r>
            <a:r>
              <a:rPr lang="ru-RU" b="1" dirty="0"/>
              <a:t>най-близки</a:t>
            </a:r>
            <a:r>
              <a:rPr lang="ru-RU" dirty="0"/>
              <a:t> до </a:t>
            </a:r>
            <a:r>
              <a:rPr lang="ru-RU" b="1" dirty="0"/>
              <a:t>машинния език</a:t>
            </a:r>
            <a:r>
              <a:rPr lang="ru-RU" dirty="0"/>
              <a:t>, като </a:t>
            </a:r>
            <a:r>
              <a:rPr lang="ru-RU" b="1" dirty="0"/>
              <a:t>всяка</a:t>
            </a:r>
            <a:r>
              <a:rPr lang="ru-RU" dirty="0"/>
              <a:t> </a:t>
            </a:r>
            <a:r>
              <a:rPr lang="ru-RU" b="1" dirty="0"/>
              <a:t>команда</a:t>
            </a:r>
            <a:r>
              <a:rPr lang="ru-RU" dirty="0"/>
              <a:t> съответства на </a:t>
            </a:r>
            <a:r>
              <a:rPr lang="ru-RU" b="1" dirty="0"/>
              <a:t>машинен</a:t>
            </a:r>
            <a:r>
              <a:rPr lang="ru-RU" dirty="0"/>
              <a:t> </a:t>
            </a:r>
            <a:r>
              <a:rPr lang="ru-RU" b="1" dirty="0"/>
              <a:t>код</a:t>
            </a:r>
          </a:p>
          <a:p>
            <a:pPr lvl="1"/>
            <a:r>
              <a:rPr lang="ru-RU" dirty="0"/>
              <a:t>Асемблерните езици също </a:t>
            </a:r>
            <a:r>
              <a:rPr lang="ru-RU" b="1" dirty="0"/>
              <a:t>не са удобни</a:t>
            </a:r>
            <a:r>
              <a:rPr lang="ru-RU" dirty="0"/>
              <a:t> за </a:t>
            </a:r>
            <a:r>
              <a:rPr lang="ru-RU" b="1" dirty="0"/>
              <a:t>писане</a:t>
            </a:r>
            <a:r>
              <a:rPr lang="ru-RU" dirty="0"/>
              <a:t> на програми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Езици от ниско ниво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275" y="1919690"/>
            <a:ext cx="4640171" cy="4480950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5122" name="Picture 2" descr="Assembly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184" t="14531" r="9864" b="11252"/>
          <a:stretch/>
        </p:blipFill>
        <p:spPr bwMode="auto">
          <a:xfrm>
            <a:off x="2653500" y="4848706"/>
            <a:ext cx="1980000" cy="18052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762360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90402" y="1196125"/>
            <a:ext cx="11930042" cy="5528766"/>
          </a:xfrm>
        </p:spPr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Езиците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от високо </a:t>
            </a:r>
            <a:r>
              <a:rPr lang="ru-RU" dirty="0"/>
              <a:t>ниво предлагат </a:t>
            </a:r>
            <a:r>
              <a:rPr lang="ru-RU" b="1" dirty="0"/>
              <a:t>команди</a:t>
            </a:r>
            <a:r>
              <a:rPr lang="ru-RU" dirty="0"/>
              <a:t>, които са 	  </a:t>
            </a:r>
            <a:r>
              <a:rPr lang="ru-RU" b="1" dirty="0"/>
              <a:t>по-близки</a:t>
            </a:r>
            <a:r>
              <a:rPr lang="ru-RU" dirty="0"/>
              <a:t> до </a:t>
            </a:r>
            <a:r>
              <a:rPr lang="ru-RU" b="1" dirty="0"/>
              <a:t>човешкия език</a:t>
            </a:r>
            <a:r>
              <a:rPr lang="ru-RU" dirty="0"/>
              <a:t>, което </a:t>
            </a:r>
            <a:r>
              <a:rPr lang="ru-RU" b="1" dirty="0"/>
              <a:t>улеснява писането </a:t>
            </a:r>
            <a:r>
              <a:rPr lang="ru-RU" dirty="0"/>
              <a:t>на програми</a:t>
            </a:r>
          </a:p>
          <a:p>
            <a:pPr lvl="1"/>
            <a:r>
              <a:rPr lang="ru-RU" dirty="0"/>
              <a:t>Те </a:t>
            </a:r>
            <a:r>
              <a:rPr lang="ru-RU" b="1" dirty="0"/>
              <a:t>абстрахират детайлите </a:t>
            </a:r>
            <a:r>
              <a:rPr lang="ru-RU" dirty="0"/>
              <a:t>на </a:t>
            </a:r>
            <a:r>
              <a:rPr lang="ru-RU" b="1" dirty="0"/>
              <a:t>хардуера</a:t>
            </a:r>
            <a:r>
              <a:rPr lang="ru-RU" dirty="0"/>
              <a:t>, позволявайки на програмистите да се </a:t>
            </a:r>
            <a:r>
              <a:rPr lang="ru-RU" b="1" dirty="0"/>
              <a:t>фокусират</a:t>
            </a:r>
            <a:r>
              <a:rPr lang="ru-RU" dirty="0"/>
              <a:t> върху </a:t>
            </a:r>
            <a:r>
              <a:rPr lang="ru-RU" b="1" dirty="0"/>
              <a:t>логиката</a:t>
            </a:r>
            <a:r>
              <a:rPr lang="ru-RU" dirty="0"/>
              <a:t> на </a:t>
            </a:r>
            <a:r>
              <a:rPr lang="ru-RU" b="1" dirty="0"/>
              <a:t>програмата</a:t>
            </a:r>
            <a:endParaRPr lang="en-US" b="1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Езици от високо ниво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1950" y="4214317"/>
            <a:ext cx="5355000" cy="2510574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6554942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Едни от </a:t>
            </a:r>
            <a:r>
              <a:rPr lang="bg-BG" b="1" dirty="0">
                <a:solidFill>
                  <a:schemeClr val="bg1"/>
                </a:solidFill>
              </a:rPr>
              <a:t>най-популярните</a:t>
            </a:r>
            <a:r>
              <a:rPr lang="bg-BG" dirty="0"/>
              <a:t> </a:t>
            </a:r>
            <a:r>
              <a:rPr lang="bg-BG" b="1" dirty="0"/>
              <a:t>езици</a:t>
            </a:r>
            <a:r>
              <a:rPr lang="bg-BG" dirty="0"/>
              <a:t> от </a:t>
            </a:r>
            <a:r>
              <a:rPr lang="bg-BG" b="1" dirty="0"/>
              <a:t>високо ниво </a:t>
            </a:r>
            <a:r>
              <a:rPr lang="bg-BG" dirty="0"/>
              <a:t>са:</a:t>
            </a:r>
          </a:p>
          <a:p>
            <a:pPr lvl="1"/>
            <a:r>
              <a:rPr lang="en-US" dirty="0"/>
              <a:t>C#</a:t>
            </a:r>
          </a:p>
          <a:p>
            <a:pPr lvl="1"/>
            <a:r>
              <a:rPr lang="en-US" dirty="0"/>
              <a:t>C++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JavaScript</a:t>
            </a:r>
          </a:p>
          <a:p>
            <a:pPr lvl="1"/>
            <a:r>
              <a:rPr lang="en-US" dirty="0"/>
              <a:t>Java</a:t>
            </a:r>
          </a:p>
          <a:p>
            <a:pPr lvl="1"/>
            <a:r>
              <a:rPr lang="en-US" dirty="0"/>
              <a:t>PHP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Примери за езици от високо ниво</a:t>
            </a:r>
            <a:endParaRPr lang="en-US" dirty="0"/>
          </a:p>
        </p:txBody>
      </p:sp>
      <p:pic>
        <p:nvPicPr>
          <p:cNvPr id="1026" name="Picture 2" descr="File:Logo C sharp.svg - Wikimedia Commons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89746" y="2126201"/>
            <a:ext cx="1441888" cy="16221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ile:ISO C++ Logo.svg - Wikipedia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8563" y="2126201"/>
            <a:ext cx="1441888" cy="16231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File:Python-logo-notext.svg - Wikipedia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7" b="16043"/>
          <a:stretch/>
        </p:blipFill>
        <p:spPr bwMode="auto">
          <a:xfrm>
            <a:off x="7507380" y="2192656"/>
            <a:ext cx="1487290" cy="1489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File:JavaScript-logo.png - Wikipedia"/>
          <p:cNvPicPr>
            <a:picLocks noChangeAspect="1" noChangeArrowheads="1"/>
          </p:cNvPicPr>
          <p:nvPr/>
        </p:nvPicPr>
        <p:blipFill>
          <a:blip r:embed="rId5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61599" y="2208924"/>
            <a:ext cx="1539401" cy="153940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Java (programming language) - Wikipedia"/>
          <p:cNvPicPr>
            <a:picLocks noChangeAspect="1" noChangeArrowheads="1"/>
          </p:cNvPicPr>
          <p:nvPr/>
        </p:nvPicPr>
        <p:blipFill>
          <a:blip r:embed="rId6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95191" y="4080176"/>
            <a:ext cx="1261023" cy="2311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File:PHP-logo.svg - Wikipedia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37929" y="4678400"/>
            <a:ext cx="2925000" cy="157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299771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dirty="0"/>
              <a:t>Недостатъци:</a:t>
            </a:r>
          </a:p>
          <a:p>
            <a:pPr lvl="1"/>
            <a:r>
              <a:rPr lang="bg-BG" dirty="0"/>
              <a:t>П</a:t>
            </a:r>
            <a:r>
              <a:rPr lang="ru-RU" dirty="0"/>
              <a:t>риложенията често </a:t>
            </a:r>
            <a:r>
              <a:rPr lang="ru-RU" b="1" dirty="0">
                <a:solidFill>
                  <a:schemeClr val="bg1"/>
                </a:solidFill>
              </a:rPr>
              <a:t>консумират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повече ресурси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dirty="0"/>
              <a:t>като </a:t>
            </a:r>
            <a:r>
              <a:rPr lang="ru-RU" b="1" dirty="0"/>
              <a:t>памет</a:t>
            </a:r>
            <a:r>
              <a:rPr lang="ru-RU" dirty="0"/>
              <a:t> и </a:t>
            </a:r>
            <a:r>
              <a:rPr lang="ru-RU" b="1" dirty="0"/>
              <a:t>процесор</a:t>
            </a:r>
            <a:r>
              <a:rPr lang="ru-RU" dirty="0"/>
              <a:t> в сравнение с тези на езици като </a:t>
            </a:r>
            <a:r>
              <a:rPr lang="ru-RU" b="1" dirty="0"/>
              <a:t>C++</a:t>
            </a:r>
            <a:endParaRPr lang="en-US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Предимства:</a:t>
            </a:r>
          </a:p>
          <a:p>
            <a:pPr lvl="1"/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Гъвкав</a:t>
            </a:r>
            <a:r>
              <a:rPr lang="ru-RU" dirty="0"/>
              <a:t> и </a:t>
            </a:r>
            <a:r>
              <a:rPr lang="ru-RU" b="1" dirty="0">
                <a:solidFill>
                  <a:schemeClr val="bg1"/>
                </a:solidFill>
              </a:rPr>
              <a:t>мащабируем</a:t>
            </a:r>
            <a:r>
              <a:rPr lang="ru-RU" dirty="0"/>
              <a:t>, подходящ за малки и големи </a:t>
            </a:r>
            <a:r>
              <a:rPr lang="ru-RU" b="1" dirty="0"/>
              <a:t>уеб</a:t>
            </a:r>
            <a:r>
              <a:rPr lang="ru-RU" dirty="0"/>
              <a:t>, </a:t>
            </a:r>
            <a:r>
              <a:rPr lang="ru-RU" b="1" dirty="0"/>
              <a:t>десктоп</a:t>
            </a:r>
            <a:r>
              <a:rPr lang="ru-RU" dirty="0"/>
              <a:t> или </a:t>
            </a:r>
            <a:r>
              <a:rPr lang="ru-RU" b="1" dirty="0"/>
              <a:t>мобилни </a:t>
            </a:r>
            <a:r>
              <a:rPr lang="ru-RU" dirty="0"/>
              <a:t>приложения</a:t>
            </a:r>
            <a:endParaRPr lang="en-US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 и недостатъци на </a:t>
            </a:r>
            <a:r>
              <a:rPr lang="en-US" dirty="0"/>
              <a:t>C#</a:t>
            </a:r>
          </a:p>
        </p:txBody>
      </p:sp>
    </p:spTree>
    <p:extLst>
      <p:ext uri="{BB962C8B-B14F-4D97-AF65-F5344CB8AC3E}">
        <p14:creationId xmlns:p14="http://schemas.microsoft.com/office/powerpoint/2010/main" val="2440839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dirty="0"/>
              <a:t>Недостатъци:</a:t>
            </a:r>
          </a:p>
          <a:p>
            <a:pPr lvl="1"/>
            <a:r>
              <a:rPr lang="ru-RU" b="1" dirty="0"/>
              <a:t>Динамичната типизация </a:t>
            </a:r>
            <a:r>
              <a:rPr lang="ru-RU" dirty="0"/>
              <a:t>може да </a:t>
            </a:r>
            <a:r>
              <a:rPr lang="ru-RU" b="1" dirty="0"/>
              <a:t>доведе</a:t>
            </a:r>
            <a:r>
              <a:rPr lang="ru-RU" dirty="0"/>
              <a:t> до </a:t>
            </a:r>
            <a:r>
              <a:rPr lang="ru-RU" b="1" dirty="0">
                <a:solidFill>
                  <a:schemeClr val="bg1"/>
                </a:solidFill>
              </a:rPr>
              <a:t>грешки</a:t>
            </a:r>
            <a:r>
              <a:rPr lang="ru-RU" dirty="0"/>
              <a:t>, откривани едва по време на </a:t>
            </a:r>
            <a:r>
              <a:rPr lang="ru-RU" b="1" dirty="0"/>
              <a:t>изпълнение</a:t>
            </a:r>
            <a:r>
              <a:rPr lang="en-US" dirty="0"/>
              <a:t> </a:t>
            </a:r>
            <a:r>
              <a:rPr lang="bg-BG" dirty="0"/>
              <a:t>на </a:t>
            </a:r>
            <a:r>
              <a:rPr lang="bg-BG" b="1" dirty="0"/>
              <a:t>кода</a:t>
            </a:r>
            <a:endParaRPr lang="en-US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Предимства:</a:t>
            </a:r>
          </a:p>
          <a:p>
            <a:pPr lvl="1"/>
            <a:r>
              <a:rPr lang="ru-RU" b="1" dirty="0"/>
              <a:t>Лесен</a:t>
            </a:r>
            <a:r>
              <a:rPr lang="ru-RU" dirty="0"/>
              <a:t> за </a:t>
            </a:r>
            <a:r>
              <a:rPr lang="ru-RU" b="1" dirty="0"/>
              <a:t>научаване</a:t>
            </a:r>
            <a:r>
              <a:rPr lang="ru-RU" dirty="0"/>
              <a:t> благодарение на своя </a:t>
            </a:r>
            <a:r>
              <a:rPr lang="ru-RU" b="1" dirty="0">
                <a:solidFill>
                  <a:schemeClr val="bg1"/>
                </a:solidFill>
              </a:rPr>
              <a:t>прост</a:t>
            </a:r>
            <a:r>
              <a:rPr lang="ru-RU" dirty="0"/>
              <a:t> и </a:t>
            </a:r>
            <a:r>
              <a:rPr lang="ru-RU" b="1" dirty="0">
                <a:solidFill>
                  <a:schemeClr val="bg1"/>
                </a:solidFill>
              </a:rPr>
              <a:t>четим синтаксис</a:t>
            </a:r>
            <a:r>
              <a:rPr lang="ru-RU" dirty="0"/>
              <a:t>, което го прави </a:t>
            </a:r>
            <a:r>
              <a:rPr lang="ru-RU" b="1" dirty="0"/>
              <a:t>подходящ</a:t>
            </a:r>
            <a:r>
              <a:rPr lang="ru-RU" dirty="0"/>
              <a:t> за </a:t>
            </a:r>
            <a:r>
              <a:rPr lang="ru-RU" b="1" dirty="0"/>
              <a:t>начинаещи</a:t>
            </a:r>
            <a:endParaRPr lang="en-US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 и недостатъци на </a:t>
            </a:r>
            <a:r>
              <a:rPr lang="en-US" dirty="0"/>
              <a:t>Python</a:t>
            </a:r>
          </a:p>
        </p:txBody>
      </p:sp>
    </p:spTree>
    <p:extLst>
      <p:ext uri="{BB962C8B-B14F-4D97-AF65-F5344CB8AC3E}">
        <p14:creationId xmlns:p14="http://schemas.microsoft.com/office/powerpoint/2010/main" val="2606394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bg-BG" dirty="0"/>
              <a:t>Недостатъци:</a:t>
            </a:r>
          </a:p>
          <a:p>
            <a:pPr lvl="1"/>
            <a:r>
              <a:rPr lang="ru-RU" b="1" dirty="0"/>
              <a:t>Проектите</a:t>
            </a:r>
            <a:r>
              <a:rPr lang="ru-RU" dirty="0"/>
              <a:t> масово </a:t>
            </a:r>
            <a:r>
              <a:rPr lang="ru-RU" b="1" dirty="0">
                <a:solidFill>
                  <a:schemeClr val="bg1"/>
                </a:solidFill>
              </a:rPr>
              <a:t>разчитат</a:t>
            </a:r>
            <a:r>
              <a:rPr lang="ru-RU" dirty="0"/>
              <a:t> на </a:t>
            </a:r>
            <a:r>
              <a:rPr lang="ru-RU" b="1" dirty="0">
                <a:solidFill>
                  <a:schemeClr val="bg1"/>
                </a:solidFill>
              </a:rPr>
              <a:t>множество</a:t>
            </a:r>
            <a:r>
              <a:rPr lang="ru-RU" dirty="0">
                <a:solidFill>
                  <a:schemeClr val="bg1"/>
                </a:solidFill>
              </a:rPr>
              <a:t> </a:t>
            </a:r>
            <a:r>
              <a:rPr lang="ru-RU" b="1" dirty="0">
                <a:solidFill>
                  <a:schemeClr val="bg1"/>
                </a:solidFill>
              </a:rPr>
              <a:t>библиотеки</a:t>
            </a:r>
            <a:r>
              <a:rPr lang="ru-RU" dirty="0"/>
              <a:t>, което може да доведе до </a:t>
            </a:r>
            <a:r>
              <a:rPr lang="ru-RU" b="1" dirty="0"/>
              <a:t>проблеми</a:t>
            </a:r>
            <a:endParaRPr lang="bg-BG" b="1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bg-BG" dirty="0"/>
              <a:t>Предимства:</a:t>
            </a:r>
          </a:p>
          <a:p>
            <a:pPr lvl="1"/>
            <a:r>
              <a:rPr lang="ru-RU" dirty="0"/>
              <a:t>Един от </a:t>
            </a:r>
            <a:r>
              <a:rPr lang="ru-RU" b="1" dirty="0">
                <a:solidFill>
                  <a:schemeClr val="bg1"/>
                </a:solidFill>
              </a:rPr>
              <a:t>най-популярните езици</a:t>
            </a:r>
            <a:r>
              <a:rPr lang="ru-RU" b="1" dirty="0"/>
              <a:t> </a:t>
            </a:r>
            <a:r>
              <a:rPr lang="ru-RU" dirty="0"/>
              <a:t>за програмиране, с </a:t>
            </a:r>
            <a:r>
              <a:rPr lang="ru-RU" b="1" dirty="0"/>
              <a:t>голяма общност </a:t>
            </a:r>
            <a:r>
              <a:rPr lang="ru-RU" dirty="0"/>
              <a:t>и </a:t>
            </a:r>
            <a:r>
              <a:rPr lang="ru-RU" b="1" dirty="0"/>
              <a:t>много ресурси</a:t>
            </a:r>
            <a:endParaRPr lang="bg-BG" b="1" dirty="0"/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Предимства и недостатъци на </a:t>
            </a:r>
            <a:r>
              <a:rPr lang="en-US" dirty="0"/>
              <a:t>JavaScript</a:t>
            </a:r>
          </a:p>
        </p:txBody>
      </p:sp>
    </p:spTree>
    <p:extLst>
      <p:ext uri="{BB962C8B-B14F-4D97-AF65-F5344CB8AC3E}">
        <p14:creationId xmlns:p14="http://schemas.microsoft.com/office/powerpoint/2010/main" val="37115842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bg-BG" dirty="0"/>
              <a:t>"Превеждане" на машинен език</a:t>
            </a:r>
            <a:endParaRPr lang="en-US" dirty="0"/>
          </a:p>
        </p:txBody>
      </p:sp>
      <p:sp>
        <p:nvSpPr>
          <p:cNvPr id="6" name="Title 5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Компилиране и интерпретиране</a:t>
            </a:r>
            <a:endParaRPr lang="en-US" dirty="0"/>
          </a:p>
        </p:txBody>
      </p:sp>
      <p:pic>
        <p:nvPicPr>
          <p:cNvPr id="3074" name="Picture 2" descr="Programming Language Html icons for free download | Freepik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3900" y="1539000"/>
            <a:ext cx="2164200" cy="2164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2075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За да изпълни програма, </a:t>
            </a:r>
            <a:r>
              <a:rPr lang="ru-RU" b="1" dirty="0"/>
              <a:t>компютърът</a:t>
            </a:r>
            <a:r>
              <a:rPr lang="ru-RU" dirty="0"/>
              <a:t> трябва да "</a:t>
            </a:r>
            <a:r>
              <a:rPr lang="ru-RU" b="1" dirty="0">
                <a:solidFill>
                  <a:schemeClr val="bg1"/>
                </a:solidFill>
              </a:rPr>
              <a:t>преведе</a:t>
            </a:r>
            <a:r>
              <a:rPr lang="ru-RU" dirty="0"/>
              <a:t>" </a:t>
            </a:r>
            <a:r>
              <a:rPr lang="ru-RU" b="1" dirty="0"/>
              <a:t>кода</a:t>
            </a:r>
            <a:r>
              <a:rPr lang="ru-RU" dirty="0"/>
              <a:t> на </a:t>
            </a:r>
            <a:r>
              <a:rPr lang="ru-RU" b="1" dirty="0"/>
              <a:t>машинен език</a:t>
            </a:r>
          </a:p>
          <a:p>
            <a:r>
              <a:rPr lang="ru-RU" dirty="0"/>
              <a:t>Основните начини за "</a:t>
            </a:r>
            <a:r>
              <a:rPr lang="ru-RU" b="1" dirty="0"/>
              <a:t>превод</a:t>
            </a:r>
            <a:r>
              <a:rPr lang="ru-RU" dirty="0"/>
              <a:t>" са:</a:t>
            </a:r>
          </a:p>
          <a:p>
            <a:pPr lvl="1"/>
            <a:r>
              <a:rPr lang="bg-BG" dirty="0"/>
              <a:t>Компилиране</a:t>
            </a:r>
          </a:p>
          <a:p>
            <a:pPr lvl="1"/>
            <a:r>
              <a:rPr lang="bg-BG" dirty="0"/>
              <a:t>Интерпретиране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Превеждане на машинен език</a:t>
            </a:r>
            <a:endParaRPr lang="en-US" dirty="0"/>
          </a:p>
        </p:txBody>
      </p:sp>
      <p:pic>
        <p:nvPicPr>
          <p:cNvPr id="4099" name="Picture 3" descr="STOP IT! There are no Compiled and Interpreted Languages! | by Skrew  Everything | From The Scratch | Mediu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6000" y="3281505"/>
            <a:ext cx="7065000" cy="34433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63148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15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>
                <a:solidFill>
                  <a:schemeClr val="bg1"/>
                </a:solidFill>
              </a:rPr>
              <a:t>компилиране</a:t>
            </a:r>
            <a:r>
              <a:rPr lang="ru-RU" dirty="0"/>
              <a:t> се </a:t>
            </a:r>
            <a:r>
              <a:rPr lang="ru-RU" b="1" dirty="0"/>
              <a:t>превежда</a:t>
            </a:r>
            <a:r>
              <a:rPr lang="ru-RU" dirty="0"/>
              <a:t> </a:t>
            </a:r>
            <a:r>
              <a:rPr lang="ru-RU" b="1" dirty="0"/>
              <a:t>цялата програма </a:t>
            </a:r>
            <a:r>
              <a:rPr lang="ru-RU" dirty="0"/>
              <a:t>и се генерира </a:t>
            </a:r>
            <a:r>
              <a:rPr lang="ru-RU" b="1" dirty="0"/>
              <a:t>изпълним файл</a:t>
            </a:r>
            <a:endParaRPr lang="bg-BG" b="1" dirty="0"/>
          </a:p>
          <a:p>
            <a:r>
              <a:rPr lang="bg-BG" dirty="0"/>
              <a:t>Примери за езици, които се </a:t>
            </a:r>
            <a:r>
              <a:rPr lang="bg-BG" b="1" dirty="0"/>
              <a:t>компилират</a:t>
            </a:r>
            <a:r>
              <a:rPr lang="bg-BG" dirty="0"/>
              <a:t>, са:</a:t>
            </a:r>
          </a:p>
          <a:p>
            <a:pPr lvl="1"/>
            <a:r>
              <a:rPr lang="en-US" dirty="0"/>
              <a:t>C#, C++, Go, Rust </a:t>
            </a:r>
            <a:r>
              <a:rPr lang="bg-BG" dirty="0"/>
              <a:t>и др.</a:t>
            </a:r>
            <a:endParaRPr lang="ru-RU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Компилиране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202" y="4417508"/>
            <a:ext cx="2874083" cy="171298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grpSp>
        <p:nvGrpSpPr>
          <p:cNvPr id="13" name="Group 12"/>
          <p:cNvGrpSpPr/>
          <p:nvPr/>
        </p:nvGrpSpPr>
        <p:grpSpPr>
          <a:xfrm>
            <a:off x="3371914" y="4196954"/>
            <a:ext cx="2475933" cy="2221449"/>
            <a:chOff x="5230030" y="4122420"/>
            <a:chExt cx="2475933" cy="2221449"/>
          </a:xfrm>
        </p:grpSpPr>
        <p:pic>
          <p:nvPicPr>
            <p:cNvPr id="5130" name="Picture 10" descr="Compiler - Free electronics icon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697496" y="4122420"/>
              <a:ext cx="1541002" cy="154100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TextBox 8"/>
            <p:cNvSpPr txBox="1"/>
            <p:nvPr/>
          </p:nvSpPr>
          <p:spPr>
            <a:xfrm>
              <a:off x="5230030" y="5651784"/>
              <a:ext cx="2475933" cy="6920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800" b="1" i="1" dirty="0"/>
                <a:t>Компилатор</a:t>
              </a:r>
              <a:endParaRPr lang="en-US" sz="3200" b="1" i="1" dirty="0"/>
            </a:p>
          </p:txBody>
        </p:sp>
      </p:grpSp>
      <p:pic>
        <p:nvPicPr>
          <p:cNvPr id="12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75068" y="4413338"/>
            <a:ext cx="3134092" cy="171298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15" name="Straight Arrow Connector 14"/>
          <p:cNvCxnSpPr/>
          <p:nvPr/>
        </p:nvCxnSpPr>
        <p:spPr>
          <a:xfrm flipV="1">
            <a:off x="3261000" y="5273999"/>
            <a:ext cx="49500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 flipV="1">
            <a:off x="5556000" y="5273999"/>
            <a:ext cx="54345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7231" y="4413337"/>
            <a:ext cx="1704502" cy="1712983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26" name="Straight Arrow Connector 25"/>
          <p:cNvCxnSpPr/>
          <p:nvPr/>
        </p:nvCxnSpPr>
        <p:spPr>
          <a:xfrm flipV="1">
            <a:off x="9507284" y="5269828"/>
            <a:ext cx="543450" cy="1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2260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При </a:t>
            </a:r>
            <a:r>
              <a:rPr lang="ru-RU" b="1" dirty="0">
                <a:solidFill>
                  <a:schemeClr val="bg1"/>
                </a:solidFill>
              </a:rPr>
              <a:t>интерпретиране</a:t>
            </a:r>
            <a:r>
              <a:rPr lang="ru-RU" dirty="0"/>
              <a:t> </a:t>
            </a:r>
            <a:r>
              <a:rPr lang="ru-RU" b="1" dirty="0"/>
              <a:t>превеждането</a:t>
            </a:r>
            <a:r>
              <a:rPr lang="ru-RU" dirty="0"/>
              <a:t> и </a:t>
            </a:r>
            <a:r>
              <a:rPr lang="ru-RU" b="1" dirty="0"/>
              <a:t>изпълнението</a:t>
            </a:r>
            <a:r>
              <a:rPr lang="ru-RU" dirty="0"/>
              <a:t> става </a:t>
            </a:r>
            <a:r>
              <a:rPr lang="ru-RU" b="1" dirty="0"/>
              <a:t>команда по команда</a:t>
            </a:r>
          </a:p>
          <a:p>
            <a:pPr lvl="1"/>
            <a:r>
              <a:rPr lang="ru-RU" dirty="0"/>
              <a:t>Всяка команда се </a:t>
            </a:r>
            <a:r>
              <a:rPr lang="ru-RU" b="1" dirty="0"/>
              <a:t>превежда</a:t>
            </a:r>
            <a:r>
              <a:rPr lang="ru-RU" dirty="0"/>
              <a:t> и </a:t>
            </a:r>
            <a:r>
              <a:rPr lang="ru-RU" b="1" dirty="0"/>
              <a:t>изпълнява</a:t>
            </a:r>
            <a:r>
              <a:rPr lang="ru-RU" dirty="0"/>
              <a:t> </a:t>
            </a:r>
            <a:r>
              <a:rPr lang="ru-RU" b="1" dirty="0"/>
              <a:t>поотделно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Интерпретиране</a:t>
            </a:r>
            <a:r>
              <a:rPr lang="en-US" dirty="0"/>
              <a:t> (1)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4017" y="4298569"/>
            <a:ext cx="4021875" cy="1272375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grpSp>
        <p:nvGrpSpPr>
          <p:cNvPr id="11" name="Group 10"/>
          <p:cNvGrpSpPr/>
          <p:nvPr/>
        </p:nvGrpSpPr>
        <p:grpSpPr>
          <a:xfrm>
            <a:off x="4778182" y="3384000"/>
            <a:ext cx="3262070" cy="2829456"/>
            <a:chOff x="4610311" y="3555682"/>
            <a:chExt cx="3262070" cy="2829456"/>
          </a:xfrm>
        </p:grpSpPr>
        <p:pic>
          <p:nvPicPr>
            <p:cNvPr id="7172" name="Picture 4" descr="Compiler - Kostenlose elektronik-Icons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06000" y="3555682"/>
              <a:ext cx="2270692" cy="2270693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8" name="TextBox 7"/>
            <p:cNvSpPr txBox="1"/>
            <p:nvPr/>
          </p:nvSpPr>
          <p:spPr>
            <a:xfrm>
              <a:off x="4610311" y="5693053"/>
              <a:ext cx="3262070" cy="692085"/>
            </a:xfrm>
            <a:prstGeom prst="rect">
              <a:avLst/>
            </a:prstGeom>
            <a:noFill/>
            <a:ln w="12700">
              <a:noFill/>
            </a:ln>
          </p:spPr>
          <p:txBody>
            <a:bodyPr vert="horz" wrap="square" lIns="144000" tIns="108000" rIns="144000" bIns="108000" rtlCol="0">
              <a:spAutoFit/>
            </a:bodyPr>
            <a:lstStyle/>
            <a:p>
              <a:pPr algn="ctr" eaLnBrk="0" hangingPunct="0">
                <a:lnSpc>
                  <a:spcPct val="110000"/>
                </a:lnSpc>
                <a:buClr>
                  <a:schemeClr val="accent5">
                    <a:lumMod val="40000"/>
                    <a:lumOff val="60000"/>
                  </a:schemeClr>
                </a:buClr>
                <a:buSzPct val="70000"/>
              </a:pPr>
              <a:r>
                <a:rPr lang="bg-BG" sz="2800" b="1" i="1" dirty="0"/>
                <a:t>Интерпретатор</a:t>
              </a:r>
              <a:endParaRPr lang="en-US" sz="3200" b="1" i="1" dirty="0"/>
            </a:p>
          </p:txBody>
        </p:sp>
      </p:grp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0370" y="3968357"/>
            <a:ext cx="3420000" cy="1920591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cxnSp>
        <p:nvCxnSpPr>
          <p:cNvPr id="14" name="Straight Arrow Connector 13"/>
          <p:cNvCxnSpPr/>
          <p:nvPr/>
        </p:nvCxnSpPr>
        <p:spPr>
          <a:xfrm>
            <a:off x="4462869" y="4922551"/>
            <a:ext cx="644025" cy="122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7711540" y="4916448"/>
            <a:ext cx="644025" cy="12205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 bwMode="auto">
          <a:xfrm>
            <a:off x="8522542" y="4643999"/>
            <a:ext cx="2130630" cy="284653"/>
          </a:xfrm>
          <a:prstGeom prst="rect">
            <a:avLst/>
          </a:prstGeom>
          <a:solidFill>
            <a:srgbClr val="FFFF00">
              <a:alpha val="13000"/>
            </a:srgbClr>
          </a:solidFill>
          <a:ln w="1905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001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2800" b="1" dirty="0">
              <a:solidFill>
                <a:srgbClr val="FFFF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849466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Езиците</a:t>
            </a:r>
            <a:r>
              <a:rPr lang="ru-RU" dirty="0"/>
              <a:t>, които се интерпретират, се наричат </a:t>
            </a:r>
            <a:r>
              <a:rPr lang="ru-RU" b="1" dirty="0">
                <a:solidFill>
                  <a:schemeClr val="bg1"/>
                </a:solidFill>
              </a:rPr>
              <a:t>скриптови</a:t>
            </a:r>
            <a:r>
              <a:rPr lang="ru-RU" dirty="0"/>
              <a:t>, а </a:t>
            </a:r>
            <a:r>
              <a:rPr lang="ru-RU" b="1" dirty="0"/>
              <a:t>програмите</a:t>
            </a:r>
            <a:r>
              <a:rPr lang="ru-RU" dirty="0"/>
              <a:t> – </a:t>
            </a:r>
            <a:r>
              <a:rPr lang="ru-RU" b="1" dirty="0">
                <a:solidFill>
                  <a:schemeClr val="bg1"/>
                </a:solidFill>
              </a:rPr>
              <a:t>скриптове</a:t>
            </a:r>
          </a:p>
          <a:p>
            <a:r>
              <a:rPr lang="bg-BG" dirty="0"/>
              <a:t>Примери за </a:t>
            </a:r>
            <a:r>
              <a:rPr lang="bg-BG" b="1" dirty="0"/>
              <a:t>езици</a:t>
            </a:r>
            <a:r>
              <a:rPr lang="bg-BG" dirty="0"/>
              <a:t>, които се </a:t>
            </a:r>
            <a:r>
              <a:rPr lang="bg-BG" b="1" dirty="0"/>
              <a:t>интерпретират</a:t>
            </a:r>
            <a:r>
              <a:rPr lang="bg-BG" dirty="0"/>
              <a:t>, са:</a:t>
            </a:r>
            <a:endParaRPr lang="en-US" dirty="0"/>
          </a:p>
          <a:p>
            <a:pPr lvl="1"/>
            <a:r>
              <a:rPr lang="en-US" dirty="0"/>
              <a:t>JavaScript</a:t>
            </a:r>
          </a:p>
          <a:p>
            <a:pPr lvl="1"/>
            <a:r>
              <a:rPr lang="en-US" dirty="0"/>
              <a:t>Python</a:t>
            </a:r>
          </a:p>
          <a:p>
            <a:pPr lvl="1"/>
            <a:r>
              <a:rPr lang="en-US" dirty="0"/>
              <a:t>PHP</a:t>
            </a:r>
          </a:p>
          <a:p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Интерпретиране</a:t>
            </a:r>
            <a:r>
              <a:rPr lang="en-US" dirty="0"/>
              <a:t> (2)</a:t>
            </a:r>
          </a:p>
        </p:txBody>
      </p:sp>
      <p:pic>
        <p:nvPicPr>
          <p:cNvPr id="5" name="Picture 8" descr="File:JavaScript-logo.png - Wikipedia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80548" y="4133688"/>
            <a:ext cx="1755000" cy="17550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2" descr="File:PHP-logo.svg - Wikipedi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121000" y="4133688"/>
            <a:ext cx="2925000" cy="15772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 descr="File:Python-logo-notext.svg - Wikipedia"/>
          <p:cNvPicPr>
            <a:picLocks noChangeAspect="1" noChangeArrowheads="1"/>
          </p:cNvPicPr>
          <p:nvPr/>
        </p:nvPicPr>
        <p:blipFill rotWithShape="1"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987" b="16043"/>
          <a:stretch/>
        </p:blipFill>
        <p:spPr bwMode="auto">
          <a:xfrm>
            <a:off x="5750774" y="4116237"/>
            <a:ext cx="1755000" cy="17572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169672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/>
          <p:cNvSpPr>
            <a:spLocks noGrp="1"/>
          </p:cNvSpPr>
          <p:nvPr>
            <p:ph type="subTitle" sz="quarter" idx="11"/>
          </p:nvPr>
        </p:nvSpPr>
        <p:spPr/>
        <p:txBody>
          <a:bodyPr/>
          <a:lstStyle/>
          <a:p>
            <a:r>
              <a:rPr lang="ru-RU" dirty="0"/>
              <a:t>Улесняване на програмирането с IDE</a:t>
            </a:r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 sz="quarter" idx="10"/>
          </p:nvPr>
        </p:nvSpPr>
        <p:spPr/>
        <p:txBody>
          <a:bodyPr/>
          <a:lstStyle/>
          <a:p>
            <a:r>
              <a:rPr lang="bg-BG" dirty="0"/>
              <a:t>Интегрираната среда за разработка</a:t>
            </a:r>
            <a:endParaRPr lang="en-US" dirty="0"/>
          </a:p>
        </p:txBody>
      </p:sp>
      <p:pic>
        <p:nvPicPr>
          <p:cNvPr id="1028" name="Picture 4" descr="Programming - Free computer icons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0714"/>
          <a:stretch/>
        </p:blipFill>
        <p:spPr bwMode="auto">
          <a:xfrm>
            <a:off x="4836000" y="1359000"/>
            <a:ext cx="2520000" cy="2250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30302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͏</a:t>
            </a:r>
            <a:r>
              <a:rPr lang="ru-RU" b="1" dirty="0">
                <a:solidFill>
                  <a:schemeClr val="bg1"/>
                </a:solidFill>
              </a:rPr>
              <a:t>Интегрираната среда за разработка </a:t>
            </a:r>
            <a:r>
              <a:rPr lang="ru-RU" dirty="0"/>
              <a:t>(</a:t>
            </a:r>
            <a:r>
              <a:rPr lang="en-US" b="1" dirty="0">
                <a:solidFill>
                  <a:schemeClr val="bg1"/>
                </a:solidFill>
              </a:rPr>
              <a:t>I</a:t>
            </a:r>
            <a:r>
              <a:rPr lang="ru-RU" dirty="0"/>
              <a:t>ntegrated </a:t>
            </a:r>
            <a:r>
              <a:rPr lang="en-US" b="1" dirty="0">
                <a:solidFill>
                  <a:schemeClr val="bg1"/>
                </a:solidFill>
              </a:rPr>
              <a:t>D</a:t>
            </a:r>
            <a:r>
              <a:rPr lang="ru-RU" dirty="0"/>
              <a:t>evelopment </a:t>
            </a:r>
            <a:r>
              <a:rPr lang="en-US" b="1" dirty="0">
                <a:solidFill>
                  <a:schemeClr val="bg1"/>
                </a:solidFill>
              </a:rPr>
              <a:t>E</a:t>
            </a:r>
            <a:r>
              <a:rPr lang="ru-RU" dirty="0"/>
              <a:t>nvironment) </a:t>
            </a:r>
            <a:r>
              <a:rPr lang="en-US" dirty="0"/>
              <a:t>–</a:t>
            </a:r>
            <a:r>
              <a:rPr lang="ru-RU" dirty="0"/>
              <a:t> </a:t>
            </a:r>
            <a:r>
              <a:rPr lang="ru-RU" b="1" dirty="0"/>
              <a:t>софтуерно приложение</a:t>
            </a:r>
            <a:r>
              <a:rPr lang="ru-RU" dirty="0"/>
              <a:t>, което предоставя цялостна </a:t>
            </a:r>
            <a:r>
              <a:rPr lang="ru-RU" b="1" dirty="0"/>
              <a:t>среда</a:t>
            </a:r>
            <a:r>
              <a:rPr lang="ru-RU" dirty="0"/>
              <a:t> за </a:t>
            </a:r>
            <a:r>
              <a:rPr lang="ru-RU" b="1" dirty="0"/>
              <a:t>разработване</a:t>
            </a:r>
            <a:r>
              <a:rPr lang="ru-RU" dirty="0"/>
              <a:t> на </a:t>
            </a:r>
            <a:r>
              <a:rPr lang="ru-RU" b="1" dirty="0"/>
              <a:t>софтуер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е интегрирана среда за разработка?</a:t>
            </a:r>
            <a:endParaRPr lang="en-US" dirty="0"/>
          </a:p>
        </p:txBody>
      </p:sp>
      <p:pic>
        <p:nvPicPr>
          <p:cNvPr id="2050" name="Picture 2" descr="50 Stories To Learn About Ide | HackerNoon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000" y="3663882"/>
            <a:ext cx="4860425" cy="2733989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6000" y="3663882"/>
            <a:ext cx="5047365" cy="273398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sp>
        <p:nvSpPr>
          <p:cNvPr id="9" name="Slide Number Placeholder 1"/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</p:spPr>
        <p:txBody>
          <a:bodyPr/>
          <a:lstStyle/>
          <a:p>
            <a:r>
              <a:rPr lang="en-US" noProof="0" dirty="0"/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61753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20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͏</a:t>
            </a:r>
            <a:r>
              <a:rPr lang="en-US" b="1" dirty="0">
                <a:solidFill>
                  <a:schemeClr val="bg1"/>
                </a:solidFill>
              </a:rPr>
              <a:t>I</a:t>
            </a:r>
            <a:r>
              <a:rPr lang="ru-RU" b="1" dirty="0"/>
              <a:t>ntegrated</a:t>
            </a:r>
            <a:r>
              <a:rPr lang="ru-RU" dirty="0"/>
              <a:t> </a:t>
            </a:r>
            <a:r>
              <a:rPr lang="en-US" b="1" dirty="0">
                <a:solidFill>
                  <a:schemeClr val="bg1"/>
                </a:solidFill>
              </a:rPr>
              <a:t>D</a:t>
            </a:r>
            <a:r>
              <a:rPr lang="ru-RU" b="1" dirty="0"/>
              <a:t>evelopment</a:t>
            </a:r>
            <a:r>
              <a:rPr lang="ru-RU" dirty="0"/>
              <a:t> </a:t>
            </a:r>
            <a:r>
              <a:rPr lang="en-US" b="1" dirty="0">
                <a:solidFill>
                  <a:schemeClr val="bg1"/>
                </a:solidFill>
              </a:rPr>
              <a:t>E</a:t>
            </a:r>
            <a:r>
              <a:rPr lang="ru-RU" b="1" dirty="0"/>
              <a:t>nvironment</a:t>
            </a:r>
            <a:r>
              <a:rPr lang="ru-RU" dirty="0"/>
              <a:t> </a:t>
            </a:r>
            <a:r>
              <a:rPr lang="en-US" dirty="0"/>
              <a:t>(</a:t>
            </a:r>
            <a:r>
              <a:rPr lang="en-US" b="1" dirty="0">
                <a:solidFill>
                  <a:schemeClr val="bg1"/>
                </a:solidFill>
              </a:rPr>
              <a:t>IDE</a:t>
            </a:r>
            <a:r>
              <a:rPr lang="en-US" dirty="0"/>
              <a:t>) </a:t>
            </a:r>
            <a:r>
              <a:rPr lang="ru-RU" dirty="0"/>
              <a:t>обикновено се състои от</a:t>
            </a:r>
            <a:r>
              <a:rPr lang="en-US" dirty="0"/>
              <a:t>:</a:t>
            </a:r>
          </a:p>
          <a:p>
            <a:pPr lvl="1"/>
            <a:r>
              <a:rPr lang="bg-BG" dirty="0"/>
              <a:t>Р</a:t>
            </a:r>
            <a:r>
              <a:rPr lang="ru-RU" dirty="0"/>
              <a:t>едактор на код</a:t>
            </a:r>
            <a:endParaRPr lang="en-US" dirty="0"/>
          </a:p>
          <a:p>
            <a:pPr lvl="1"/>
            <a:r>
              <a:rPr lang="bg-BG" dirty="0"/>
              <a:t>Компилатор/Интерпретатор</a:t>
            </a:r>
            <a:endParaRPr lang="en-US" dirty="0"/>
          </a:p>
          <a:p>
            <a:pPr lvl="1"/>
            <a:r>
              <a:rPr lang="en-US" dirty="0"/>
              <a:t>Debugger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Какво съдържа </a:t>
            </a:r>
            <a:r>
              <a:rPr lang="en-US" dirty="0"/>
              <a:t>IDE?</a:t>
            </a:r>
          </a:p>
        </p:txBody>
      </p:sp>
      <p:pic>
        <p:nvPicPr>
          <p:cNvPr id="3074" name="Picture 2" descr="2,000+ Free Code Editor &amp; Code Images - Pixabay"/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796" y="4504618"/>
            <a:ext cx="3020551" cy="2142703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4" descr="Compiler - Kostenlose elektronik-Icon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1279" y="4443458"/>
            <a:ext cx="2270692" cy="22706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XpertLab - 7 Steps to Debug Efficiently and Effectively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829"/>
          <a:stretch/>
        </p:blipFill>
        <p:spPr bwMode="auto">
          <a:xfrm>
            <a:off x="7824903" y="4510289"/>
            <a:ext cx="3491097" cy="2159646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3449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21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Редакторът</a:t>
            </a:r>
            <a:r>
              <a:rPr lang="en-US" b="1" dirty="0">
                <a:solidFill>
                  <a:schemeClr val="bg1"/>
                </a:solidFill>
              </a:rPr>
              <a:t> </a:t>
            </a:r>
            <a:r>
              <a:rPr lang="ru-RU" dirty="0"/>
              <a:t>– програма за </a:t>
            </a:r>
            <a:r>
              <a:rPr lang="ru-RU" b="1" dirty="0"/>
              <a:t>писане</a:t>
            </a:r>
            <a:r>
              <a:rPr lang="ru-RU" dirty="0"/>
              <a:t> и </a:t>
            </a:r>
            <a:r>
              <a:rPr lang="ru-RU" b="1" dirty="0"/>
              <a:t>редактиране</a:t>
            </a:r>
            <a:r>
              <a:rPr lang="ru-RU" dirty="0"/>
              <a:t> на </a:t>
            </a:r>
            <a:r>
              <a:rPr lang="bg-BG" b="1" dirty="0"/>
              <a:t>програмен код</a:t>
            </a:r>
            <a:endParaRPr lang="ru-RU" b="1" dirty="0"/>
          </a:p>
          <a:p>
            <a:pPr lvl="1"/>
            <a:r>
              <a:rPr lang="ru-RU" b="1" dirty="0"/>
              <a:t>Оцветява</a:t>
            </a:r>
            <a:r>
              <a:rPr lang="ru-RU" dirty="0"/>
              <a:t> различните части на кода</a:t>
            </a:r>
          </a:p>
          <a:p>
            <a:pPr lvl="1"/>
            <a:r>
              <a:rPr lang="ru-RU" b="1" dirty="0"/>
              <a:t>Показва грешки</a:t>
            </a:r>
            <a:r>
              <a:rPr lang="ru-RU" dirty="0"/>
              <a:t>, когато кодът не е написан правилно</a:t>
            </a:r>
          </a:p>
          <a:p>
            <a:pPr lvl="1"/>
            <a:r>
              <a:rPr lang="ru-RU" dirty="0"/>
              <a:t>Има опция за </a:t>
            </a:r>
            <a:r>
              <a:rPr lang="ru-RU" b="1" dirty="0"/>
              <a:t>автоматично допълване на команди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Редактор</a:t>
            </a:r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l="33787" b="49005"/>
          <a:stretch/>
        </p:blipFill>
        <p:spPr>
          <a:xfrm>
            <a:off x="426000" y="4832012"/>
            <a:ext cx="3929853" cy="1639438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3"/>
          <a:srcRect l="33409" t="8224" r="28728" b="47574"/>
          <a:stretch/>
        </p:blipFill>
        <p:spPr>
          <a:xfrm>
            <a:off x="4641963" y="4531031"/>
            <a:ext cx="3309811" cy="209296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4"/>
          <a:srcRect l="27247" t="8666" r="13181" b="21840"/>
          <a:stretch/>
        </p:blipFill>
        <p:spPr>
          <a:xfrm>
            <a:off x="8237883" y="4526981"/>
            <a:ext cx="3312321" cy="2092969"/>
          </a:xfrm>
          <a:prstGeom prst="rect">
            <a:avLst/>
          </a:prstGeom>
          <a:ln>
            <a:solidFill>
              <a:schemeClr val="bg2">
                <a:lumMod val="7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46670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22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За да може компютърът да изпълни програма, е нужно тя да бъде </a:t>
            </a:r>
            <a:r>
              <a:rPr lang="ru-RU" b="1" dirty="0"/>
              <a:t>компилирана</a:t>
            </a:r>
            <a:r>
              <a:rPr lang="ru-RU" dirty="0"/>
              <a:t> или </a:t>
            </a:r>
            <a:r>
              <a:rPr lang="ru-RU" b="1" dirty="0"/>
              <a:t>интерпретирана</a:t>
            </a:r>
          </a:p>
          <a:p>
            <a:r>
              <a:rPr lang="ru-RU" dirty="0"/>
              <a:t>Инструментът, който осигурява това, се нарича </a:t>
            </a:r>
            <a:r>
              <a:rPr lang="ru-RU" b="1" dirty="0">
                <a:solidFill>
                  <a:schemeClr val="bg1"/>
                </a:solidFill>
              </a:rPr>
              <a:t>компилатор</a:t>
            </a:r>
            <a:r>
              <a:rPr lang="ru-RU" dirty="0"/>
              <a:t> или </a:t>
            </a:r>
            <a:r>
              <a:rPr lang="ru-RU" b="1" dirty="0">
                <a:solidFill>
                  <a:schemeClr val="bg1"/>
                </a:solidFill>
              </a:rPr>
              <a:t>интерпретатор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Компилатор/интерпретатор</a:t>
            </a:r>
            <a:endParaRPr lang="en-US" dirty="0"/>
          </a:p>
        </p:txBody>
      </p:sp>
      <p:pic>
        <p:nvPicPr>
          <p:cNvPr id="1033" name="Picture 9" descr="Differences Between Compiler and Interpreter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3825" y="3674516"/>
            <a:ext cx="6791250" cy="2949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22335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F067CD-8E6B-4360-9AA8-C5DF2A48A6D1}" type="slidenum">
              <a:rPr lang="en-US" noProof="0" smtClean="0"/>
              <a:pPr/>
              <a:t>23</a:t>
            </a:fld>
            <a:endParaRPr lang="en-US" noProof="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b="1" dirty="0"/>
              <a:t>͏</a:t>
            </a:r>
            <a:r>
              <a:rPr lang="ru-RU" b="1" dirty="0">
                <a:solidFill>
                  <a:schemeClr val="bg1"/>
                </a:solidFill>
              </a:rPr>
              <a:t>Debugger</a:t>
            </a:r>
            <a:r>
              <a:rPr lang="ru-RU" dirty="0"/>
              <a:t> </a:t>
            </a:r>
            <a:r>
              <a:rPr lang="en-US" dirty="0"/>
              <a:t>–</a:t>
            </a:r>
            <a:r>
              <a:rPr lang="ru-RU" dirty="0"/>
              <a:t> инструмент за </a:t>
            </a:r>
            <a:r>
              <a:rPr lang="ru-RU" b="1" dirty="0"/>
              <a:t>откриване</a:t>
            </a:r>
            <a:r>
              <a:rPr lang="ru-RU" dirty="0"/>
              <a:t> и </a:t>
            </a:r>
            <a:r>
              <a:rPr lang="ru-RU" b="1" dirty="0"/>
              <a:t>поправяне</a:t>
            </a:r>
            <a:r>
              <a:rPr lang="ru-RU" dirty="0"/>
              <a:t> на </a:t>
            </a:r>
            <a:r>
              <a:rPr lang="ru-RU" b="1" dirty="0"/>
              <a:t>грешки</a:t>
            </a:r>
            <a:r>
              <a:rPr lang="ru-RU" dirty="0"/>
              <a:t> в кода</a:t>
            </a:r>
            <a:endParaRPr lang="en-US" dirty="0"/>
          </a:p>
          <a:p>
            <a:pPr lvl="1"/>
            <a:r>
              <a:rPr lang="ru-RU" dirty="0"/>
              <a:t>Позволява изпълнение на програмата </a:t>
            </a:r>
            <a:r>
              <a:rPr lang="ru-RU" b="1" dirty="0"/>
              <a:t>стъпка по стъпка</a:t>
            </a:r>
            <a:endParaRPr lang="en-US" b="1" dirty="0"/>
          </a:p>
          <a:p>
            <a:pPr lvl="1"/>
            <a:r>
              <a:rPr lang="ru-RU" dirty="0"/>
              <a:t>Показва стойностите на променливите за </a:t>
            </a:r>
            <a:r>
              <a:rPr lang="ru-RU" b="1" dirty="0"/>
              <a:t>анализ на програмата</a:t>
            </a:r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Debugger</a:t>
            </a:r>
          </a:p>
        </p:txBody>
      </p:sp>
      <p:pic>
        <p:nvPicPr>
          <p:cNvPr id="2050" name="Picture 2" descr="First look at the debugger - Visual Studio (Windows) | Microsoft Learn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665" r="19956" b="22061"/>
          <a:stretch/>
        </p:blipFill>
        <p:spPr bwMode="auto">
          <a:xfrm>
            <a:off x="291000" y="4681350"/>
            <a:ext cx="5335304" cy="1805400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Tips and tricks in the debugger - Visual Studio (Windows) | Microsoft Learn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676" r="2752"/>
          <a:stretch/>
        </p:blipFill>
        <p:spPr bwMode="auto">
          <a:xfrm>
            <a:off x="5916000" y="4676999"/>
            <a:ext cx="5922390" cy="1809751"/>
          </a:xfrm>
          <a:prstGeom prst="rect">
            <a:avLst/>
          </a:prstGeom>
          <a:noFill/>
          <a:ln>
            <a:solidFill>
              <a:schemeClr val="bg2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Straight Arrow Connector 5"/>
          <p:cNvCxnSpPr/>
          <p:nvPr/>
        </p:nvCxnSpPr>
        <p:spPr>
          <a:xfrm>
            <a:off x="381000" y="5299952"/>
            <a:ext cx="360000" cy="0"/>
          </a:xfrm>
          <a:prstGeom prst="straightConnector1">
            <a:avLst/>
          </a:prstGeom>
          <a:ln w="76200">
            <a:solidFill>
              <a:srgbClr val="FFFF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42535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E49D336-45B6-44D3-97C4-E28F8DEA202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69725" y="1577986"/>
            <a:ext cx="7581212" cy="4772369"/>
          </a:xfrm>
        </p:spPr>
        <p:txBody>
          <a:bodyPr/>
          <a:lstStyle>
            <a:lvl1pPr marL="514350" indent="-514350">
              <a:buFont typeface="Wingdings" panose="05000000000000000000" pitchFamily="2" charset="2"/>
              <a:buChar char="§"/>
              <a:defRPr>
                <a:solidFill>
                  <a:schemeClr val="bg2"/>
                </a:solidFill>
              </a:defRPr>
            </a:lvl1pPr>
            <a:lvl2pPr marL="112393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2pPr>
            <a:lvl3pPr marL="1733520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3pPr>
            <a:lvl4pPr marL="2343105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4pPr>
            <a:lvl5pPr marL="2952689" indent="-514350"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…</a:t>
            </a:r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r>
              <a:rPr lang="en-GB" dirty="0"/>
              <a:t>…</a:t>
            </a:r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bg-BG" dirty="0"/>
              <a:t>Какво научихме днес?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>
          <a:xfrm>
            <a:off x="11566412" y="6397196"/>
            <a:ext cx="428822" cy="308845"/>
          </a:xfrm>
          <a:prstGeom prst="rect">
            <a:avLst/>
          </a:prstGeom>
        </p:spPr>
        <p:txBody>
          <a:bodyPr vert="horz" lIns="36000" tIns="36000" rIns="36000" bIns="36000" rtlCol="0" anchor="ctr"/>
          <a:lstStyle>
            <a:defPPr>
              <a:defRPr lang="en-US"/>
            </a:defPPr>
            <a:lvl1pPr marL="0" algn="r" defTabSz="914400" rtl="0" eaLnBrk="1" latinLnBrk="0" hangingPunct="1">
              <a:defRPr sz="1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014DD1E-5D91-48A3-AD6D-45FBA980D106}" type="slidenum">
              <a:rPr lang="en-US" smtClean="0"/>
              <a:pPr/>
              <a:t>24</a:t>
            </a:fld>
            <a:endParaRPr lang="en-US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BAFE522-EB7D-4931-A015-9A7E8A98517D}"/>
              </a:ext>
            </a:extLst>
          </p:cNvPr>
          <p:cNvGrpSpPr/>
          <p:nvPr/>
        </p:nvGrpSpPr>
        <p:grpSpPr>
          <a:xfrm>
            <a:off x="196766" y="1314000"/>
            <a:ext cx="11798468" cy="5300339"/>
            <a:chOff x="472011" y="1508786"/>
            <a:chExt cx="3799787" cy="4865561"/>
          </a:xfrm>
        </p:grpSpPr>
        <p:sp>
          <p:nvSpPr>
            <p:cNvPr id="10" name="Rounded Rectangle 10">
              <a:extLst>
                <a:ext uri="{FF2B5EF4-FFF2-40B4-BE49-F238E27FC236}">
                  <a16:creationId xmlns:a16="http://schemas.microsoft.com/office/drawing/2014/main" id="{18F78F23-3D09-4B63-8DF9-D49CFBB145EE}"/>
                </a:ext>
              </a:extLst>
            </p:cNvPr>
            <p:cNvSpPr/>
            <p:nvPr userDrawn="1"/>
          </p:nvSpPr>
          <p:spPr>
            <a:xfrm>
              <a:off x="472011" y="1508786"/>
              <a:ext cx="3799787" cy="4865561"/>
            </a:xfrm>
            <a:prstGeom prst="roundRect">
              <a:avLst>
                <a:gd name="adj" fmla="val 3968"/>
              </a:avLst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 dirty="0"/>
            </a:p>
          </p:txBody>
        </p:sp>
        <p:sp>
          <p:nvSpPr>
            <p:cNvPr id="11" name="Rounded Rectangle 16">
              <a:extLst>
                <a:ext uri="{FF2B5EF4-FFF2-40B4-BE49-F238E27FC236}">
                  <a16:creationId xmlns:a16="http://schemas.microsoft.com/office/drawing/2014/main" id="{F12C06CE-2BBE-46C2-B718-813794C58DF9}"/>
                </a:ext>
              </a:extLst>
            </p:cNvPr>
            <p:cNvSpPr/>
            <p:nvPr userDrawn="1"/>
          </p:nvSpPr>
          <p:spPr>
            <a:xfrm>
              <a:off x="540767" y="1781251"/>
              <a:ext cx="85794" cy="4320631"/>
            </a:xfrm>
            <a:prstGeom prst="roundRect">
              <a:avLst>
                <a:gd name="adj" fmla="val 50000"/>
              </a:avLst>
            </a:prstGeom>
            <a:solidFill>
              <a:schemeClr val="bg2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bg1"/>
                </a:solidFill>
              </a:endParaRPr>
            </a:p>
          </p:txBody>
        </p:sp>
        <p:sp>
          <p:nvSpPr>
            <p:cNvPr id="12" name="Half Frame 11">
              <a:extLst>
                <a:ext uri="{FF2B5EF4-FFF2-40B4-BE49-F238E27FC236}">
                  <a16:creationId xmlns:a16="http://schemas.microsoft.com/office/drawing/2014/main" id="{66CDBB1E-AF3C-43FC-9F34-2DD691F81726}"/>
                </a:ext>
              </a:extLst>
            </p:cNvPr>
            <p:cNvSpPr/>
            <p:nvPr userDrawn="1"/>
          </p:nvSpPr>
          <p:spPr>
            <a:xfrm rot="5400000">
              <a:off x="3762569" y="1912372"/>
              <a:ext cx="669775" cy="238503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2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2399">
                <a:solidFill>
                  <a:schemeClr val="tx1"/>
                </a:solidFill>
              </a:endParaRPr>
            </a:p>
          </p:txBody>
        </p:sp>
      </p:grpSp>
      <p:sp>
        <p:nvSpPr>
          <p:cNvPr id="15" name="Content Placeholder 4">
            <a:extLst>
              <a:ext uri="{FF2B5EF4-FFF2-40B4-BE49-F238E27FC236}">
                <a16:creationId xmlns:a16="http://schemas.microsoft.com/office/drawing/2014/main" id="{B96A0DF8-27E7-4DC8-BBE3-7238AAAEB845}"/>
              </a:ext>
            </a:extLst>
          </p:cNvPr>
          <p:cNvSpPr txBox="1">
            <a:spLocks/>
          </p:cNvSpPr>
          <p:nvPr/>
        </p:nvSpPr>
        <p:spPr>
          <a:xfrm>
            <a:off x="668236" y="1610812"/>
            <a:ext cx="11113508" cy="4894130"/>
          </a:xfrm>
          <a:prstGeom prst="rect">
            <a:avLst/>
          </a:prstGeom>
        </p:spPr>
        <p:txBody>
          <a:bodyPr vert="horz" lIns="108000" tIns="36000" rIns="108000" bIns="36000" rtlCol="0">
            <a:noAutofit/>
          </a:bodyPr>
          <a:lstStyle>
            <a:lvl1pPr marL="456915" indent="-456915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3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989981" indent="-380762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31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523048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9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132267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7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741485" indent="-304610" algn="l" defTabSz="1218438" rtl="0" eaLnBrk="1" latinLnBrk="0" hangingPunct="1">
              <a:lnSpc>
                <a:spcPct val="105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 sz="2598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335070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959924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4569143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178362" indent="-304610" algn="l" defTabSz="1218438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665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Език за програмиране </a:t>
            </a:r>
            <a:r>
              <a:rPr lang="ru-RU" sz="2400" dirty="0">
                <a:solidFill>
                  <a:schemeClr val="bg2"/>
                </a:solidFill>
              </a:rPr>
              <a:t>– система от </a:t>
            </a:r>
            <a:r>
              <a:rPr lang="ru-RU" sz="2400" b="1" dirty="0">
                <a:solidFill>
                  <a:schemeClr val="bg2"/>
                </a:solidFill>
              </a:rPr>
              <a:t>символи</a:t>
            </a:r>
            <a:r>
              <a:rPr lang="ru-RU" sz="2400" dirty="0">
                <a:solidFill>
                  <a:schemeClr val="bg2"/>
                </a:solidFill>
              </a:rPr>
              <a:t>, </a:t>
            </a:r>
            <a:r>
              <a:rPr lang="ru-RU" sz="2400" b="1" dirty="0">
                <a:solidFill>
                  <a:schemeClr val="bg2"/>
                </a:solidFill>
              </a:rPr>
              <a:t>команди</a:t>
            </a:r>
            <a:r>
              <a:rPr lang="ru-RU" sz="2400" dirty="0">
                <a:solidFill>
                  <a:schemeClr val="bg2"/>
                </a:solidFill>
              </a:rPr>
              <a:t> и </a:t>
            </a:r>
            <a:r>
              <a:rPr lang="ru-RU" sz="2400" b="1" dirty="0">
                <a:solidFill>
                  <a:schemeClr val="bg2"/>
                </a:solidFill>
              </a:rPr>
              <a:t>правила</a:t>
            </a:r>
            <a:r>
              <a:rPr lang="ru-RU" sz="2400" dirty="0">
                <a:solidFill>
                  <a:schemeClr val="bg2"/>
                </a:solidFill>
              </a:rPr>
              <a:t> за инструктиране на </a:t>
            </a:r>
            <a:r>
              <a:rPr lang="ru-RU" sz="2400" b="1" dirty="0">
                <a:solidFill>
                  <a:schemeClr val="bg2"/>
                </a:solidFill>
              </a:rPr>
              <a:t>компютъра</a:t>
            </a:r>
            <a:r>
              <a:rPr lang="ru-RU" sz="2400" dirty="0">
                <a:solidFill>
                  <a:schemeClr val="bg2"/>
                </a:solidFill>
              </a:rPr>
              <a:t> да </a:t>
            </a:r>
            <a:r>
              <a:rPr lang="ru-RU" sz="2400" b="1" dirty="0">
                <a:solidFill>
                  <a:schemeClr val="bg2"/>
                </a:solidFill>
              </a:rPr>
              <a:t>изпълнява задачи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bg2"/>
                </a:solidFill>
              </a:rPr>
              <a:t>Основни</a:t>
            </a:r>
            <a:r>
              <a:rPr lang="ru-RU" sz="2400" dirty="0">
                <a:solidFill>
                  <a:schemeClr val="bg2"/>
                </a:solidFill>
              </a:rPr>
              <a:t> </a:t>
            </a:r>
            <a:r>
              <a:rPr lang="ru-RU" sz="2400" b="1" dirty="0">
                <a:solidFill>
                  <a:schemeClr val="bg2"/>
                </a:solidFill>
              </a:rPr>
              <a:t>видове</a:t>
            </a:r>
            <a:r>
              <a:rPr lang="ru-RU" sz="2400" dirty="0">
                <a:solidFill>
                  <a:schemeClr val="bg2"/>
                </a:solidFill>
              </a:rPr>
              <a:t> езици: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dirty="0">
                <a:solidFill>
                  <a:schemeClr val="bg2"/>
                </a:solidFill>
              </a:rPr>
              <a:t>Машинни езици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dirty="0">
                <a:solidFill>
                  <a:schemeClr val="bg2"/>
                </a:solidFill>
              </a:rPr>
              <a:t>Езици от ниско ниво</a:t>
            </a:r>
          </a:p>
          <a:p>
            <a:pPr marL="888666" lvl="1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dirty="0">
                <a:solidFill>
                  <a:schemeClr val="bg2"/>
                </a:solidFill>
              </a:rPr>
              <a:t>Езици от високо ниво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Компилиране</a:t>
            </a:r>
            <a:r>
              <a:rPr lang="ru-RU" sz="2400" dirty="0">
                <a:solidFill>
                  <a:schemeClr val="bg2"/>
                </a:solidFill>
              </a:rPr>
              <a:t> – </a:t>
            </a:r>
            <a:r>
              <a:rPr lang="ru-RU" sz="2400" b="1" dirty="0">
                <a:solidFill>
                  <a:schemeClr val="bg2"/>
                </a:solidFill>
              </a:rPr>
              <a:t>превежда</a:t>
            </a:r>
            <a:r>
              <a:rPr lang="ru-RU" sz="2400" dirty="0">
                <a:solidFill>
                  <a:schemeClr val="bg2"/>
                </a:solidFill>
              </a:rPr>
              <a:t> се </a:t>
            </a:r>
            <a:r>
              <a:rPr lang="ru-RU" sz="2400" b="1" dirty="0">
                <a:solidFill>
                  <a:schemeClr val="bg2"/>
                </a:solidFill>
              </a:rPr>
              <a:t>цялата програма </a:t>
            </a:r>
            <a:r>
              <a:rPr lang="ru-RU" sz="2400" dirty="0">
                <a:solidFill>
                  <a:schemeClr val="bg2"/>
                </a:solidFill>
              </a:rPr>
              <a:t>и се </a:t>
            </a:r>
            <a:r>
              <a:rPr lang="ru-RU" sz="2400" b="1" dirty="0">
                <a:solidFill>
                  <a:schemeClr val="bg2"/>
                </a:solidFill>
              </a:rPr>
              <a:t>генерира изпълним файл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Интерпретиране</a:t>
            </a:r>
            <a:r>
              <a:rPr lang="ru-RU" sz="2400" dirty="0">
                <a:solidFill>
                  <a:schemeClr val="bg2"/>
                </a:solidFill>
              </a:rPr>
              <a:t> – </a:t>
            </a:r>
            <a:r>
              <a:rPr lang="ru-RU" sz="2400" b="1" dirty="0">
                <a:solidFill>
                  <a:schemeClr val="bg2"/>
                </a:solidFill>
              </a:rPr>
              <a:t>превеждане</a:t>
            </a:r>
            <a:r>
              <a:rPr lang="ru-RU" sz="2400" dirty="0">
                <a:solidFill>
                  <a:schemeClr val="bg2"/>
                </a:solidFill>
              </a:rPr>
              <a:t> и </a:t>
            </a:r>
            <a:r>
              <a:rPr lang="ru-RU" sz="2400" b="1" dirty="0">
                <a:solidFill>
                  <a:schemeClr val="bg2"/>
                </a:solidFill>
              </a:rPr>
              <a:t>изпълнение</a:t>
            </a:r>
            <a:r>
              <a:rPr lang="ru-RU" sz="2400" dirty="0">
                <a:solidFill>
                  <a:schemeClr val="bg2"/>
                </a:solidFill>
              </a:rPr>
              <a:t> на </a:t>
            </a:r>
            <a:r>
              <a:rPr lang="ru-RU" sz="2400" b="1" dirty="0">
                <a:solidFill>
                  <a:schemeClr val="bg2"/>
                </a:solidFill>
              </a:rPr>
              <a:t>команда</a:t>
            </a:r>
            <a:r>
              <a:rPr lang="ru-RU" sz="2400" dirty="0">
                <a:solidFill>
                  <a:schemeClr val="bg2"/>
                </a:solidFill>
              </a:rPr>
              <a:t> </a:t>
            </a:r>
            <a:r>
              <a:rPr lang="ru-RU" sz="2400" b="1" dirty="0">
                <a:solidFill>
                  <a:schemeClr val="bg2"/>
                </a:solidFill>
              </a:rPr>
              <a:t>по команда</a:t>
            </a:r>
          </a:p>
          <a:p>
            <a:pPr marL="355600" indent="-355600">
              <a:lnSpc>
                <a:spcPct val="100000"/>
              </a:lnSpc>
              <a:buClr>
                <a:schemeClr val="bg2"/>
              </a:buClr>
            </a:pPr>
            <a:r>
              <a:rPr lang="ru-RU" sz="2400" b="1" dirty="0">
                <a:solidFill>
                  <a:schemeClr val="accent1">
                    <a:lumMod val="60000"/>
                    <a:lumOff val="40000"/>
                  </a:schemeClr>
                </a:solidFill>
              </a:rPr>
              <a:t>Интегрирана среда за разработка</a:t>
            </a:r>
            <a:r>
              <a:rPr lang="ru-RU" sz="2400" dirty="0">
                <a:solidFill>
                  <a:schemeClr val="bg2"/>
                </a:solidFill>
              </a:rPr>
              <a:t> (</a:t>
            </a:r>
            <a:r>
              <a:rPr lang="ru-RU" sz="2400" b="1" dirty="0">
                <a:solidFill>
                  <a:schemeClr val="bg2"/>
                </a:solidFill>
              </a:rPr>
              <a:t>IDE</a:t>
            </a:r>
            <a:r>
              <a:rPr lang="ru-RU" sz="2400" dirty="0">
                <a:solidFill>
                  <a:schemeClr val="bg2"/>
                </a:solidFill>
              </a:rPr>
              <a:t>) – софтуер, който осигурява пълна среда за създаване на софтуер</a:t>
            </a:r>
          </a:p>
        </p:txBody>
      </p:sp>
    </p:spTree>
    <p:extLst>
      <p:ext uri="{BB962C8B-B14F-4D97-AF65-F5344CB8AC3E}">
        <p14:creationId xmlns:p14="http://schemas.microsoft.com/office/powerpoint/2010/main" val="352839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Title">
            <a:extLst>
              <a:ext uri="{FF2B5EF4-FFF2-40B4-BE49-F238E27FC236}">
                <a16:creationId xmlns:a16="http://schemas.microsoft.com/office/drawing/2014/main" id="{FA0703FC-0F8F-4C80-A615-E4B381EC0E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Въпроси</a:t>
            </a:r>
            <a:r>
              <a:rPr lang="en-US" dirty="0"/>
              <a:t>?</a:t>
            </a:r>
          </a:p>
        </p:txBody>
      </p:sp>
      <p:sp>
        <p:nvSpPr>
          <p:cNvPr id="2" name="Rectangle Bottom Copyright">
            <a:extLst>
              <a:ext uri="{FF2B5EF4-FFF2-40B4-BE49-F238E27FC236}">
                <a16:creationId xmlns:a16="http://schemas.microsoft.com/office/drawing/2014/main" id="{664812A4-2991-44D1-BFE9-32E55AADF8A5}"/>
              </a:ext>
            </a:extLst>
          </p:cNvPr>
          <p:cNvSpPr/>
          <p:nvPr/>
        </p:nvSpPr>
        <p:spPr>
          <a:xfrm>
            <a:off x="111000" y="6454758"/>
            <a:ext cx="11970000" cy="3042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Проект "</a:t>
            </a:r>
            <a:r>
              <a:rPr lang="bg-BG" sz="1600" dirty="0">
                <a:solidFill>
                  <a:schemeClr val="bg1">
                    <a:lumMod val="20000"/>
                    <a:lumOff val="80000"/>
                  </a:schemeClr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Отворено учебно съдържание по програмиране и ИТ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", СофтУни Фондация (лиценз </a:t>
            </a:r>
            <a:r>
              <a:rPr lang="en-US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CC-BY-NC-SA</a:t>
            </a:r>
            <a:r>
              <a:rPr lang="bg-BG" sz="1600" dirty="0">
                <a:solidFill>
                  <a:schemeClr val="bg2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Arial" panose="020B0604020202020204" pitchFamily="34" charset="0"/>
              </a:rPr>
              <a:t>)</a:t>
            </a:r>
            <a:endParaRPr lang="bg-BG" sz="2400" dirty="0">
              <a:solidFill>
                <a:schemeClr val="bg2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7253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">
            <a:extLst>
              <a:ext uri="{FF2B5EF4-FFF2-40B4-BE49-F238E27FC236}">
                <a16:creationId xmlns:a16="http://schemas.microsoft.com/office/drawing/2014/main" id="{F48C3C93-90A1-4D31-BEA6-B54D1106CE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11753030" y="6507000"/>
            <a:ext cx="367414" cy="2970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/>
            </a:lvl1pPr>
          </a:lstStyle>
          <a:p>
            <a:fld id="{2BF067CD-8E6B-4360-9AA8-C5DF2A48A6D1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2" name="Slide Body">
            <a:extLst>
              <a:ext uri="{FF2B5EF4-FFF2-40B4-BE49-F238E27FC236}">
                <a16:creationId xmlns:a16="http://schemas.microsoft.com/office/drawing/2014/main" id="{980F49B1-E4BE-4389-A747-7AB9B71AD92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90402" y="1269001"/>
            <a:ext cx="9865598" cy="2474999"/>
          </a:xfrm>
        </p:spPr>
        <p:txBody>
          <a:bodyPr>
            <a:normAutofit/>
          </a:bodyPr>
          <a:lstStyle/>
          <a:p>
            <a:pPr>
              <a:lnSpc>
                <a:spcPct val="120000"/>
              </a:lnSpc>
            </a:pPr>
            <a:r>
              <a:rPr lang="bg-BG" sz="3200" dirty="0"/>
              <a:t>Този курс</a:t>
            </a:r>
            <a:r>
              <a:rPr lang="en-US" sz="3200" dirty="0"/>
              <a:t> (</a:t>
            </a:r>
            <a:r>
              <a:rPr lang="bg-BG" sz="3200" dirty="0"/>
              <a:t>презентации, примери, демонстрационен код, упражнения, домашни, видео и други активи</a:t>
            </a:r>
            <a:r>
              <a:rPr lang="en-US" sz="3200" dirty="0"/>
              <a:t>) </a:t>
            </a:r>
            <a:r>
              <a:rPr lang="bg-BG" sz="3200" dirty="0"/>
              <a:t>представлява</a:t>
            </a:r>
            <a:r>
              <a:rPr lang="en-US" sz="3200" dirty="0"/>
              <a:t> </a:t>
            </a:r>
            <a:r>
              <a:rPr lang="bg-BG" sz="3200" b="1" dirty="0"/>
              <a:t>свободно учебно съдържание </a:t>
            </a:r>
            <a:r>
              <a:rPr lang="bg-BG" sz="3200" dirty="0"/>
              <a:t>и се разпространява под свободен лиценз </a:t>
            </a:r>
            <a:r>
              <a:rPr lang="en-US" sz="3200" b="1" dirty="0"/>
              <a:t>CC-BY-NC-SA</a:t>
            </a:r>
            <a:endParaRPr lang="bg-BG" sz="3200" dirty="0"/>
          </a:p>
        </p:txBody>
      </p:sp>
      <p:pic>
        <p:nvPicPr>
          <p:cNvPr id="6" name="Picture License" descr="License">
            <a:extLst>
              <a:ext uri="{FF2B5EF4-FFF2-40B4-BE49-F238E27FC236}">
                <a16:creationId xmlns:a16="http://schemas.microsoft.com/office/drawing/2014/main" id="{82BA520F-A037-4E01-AA18-27D9F1E930A6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226175" y="1440120"/>
            <a:ext cx="1198986" cy="1268880"/>
          </a:xfrm>
          <a:prstGeom prst="rect">
            <a:avLst/>
          </a:prstGeom>
        </p:spPr>
      </p:pic>
      <p:sp>
        <p:nvSpPr>
          <p:cNvPr id="3" name="Slide Title">
            <a:extLst>
              <a:ext uri="{FF2B5EF4-FFF2-40B4-BE49-F238E27FC236}">
                <a16:creationId xmlns:a16="http://schemas.microsoft.com/office/drawing/2014/main" id="{E5F1FB41-80C3-4816-BC47-CCC50632E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bg-BG" dirty="0"/>
              <a:t>Лиценз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C18DF19-B750-4C88-975B-661A6BF61F5E}"/>
              </a:ext>
            </a:extLst>
          </p:cNvPr>
          <p:cNvSpPr txBox="1"/>
          <p:nvPr/>
        </p:nvSpPr>
        <p:spPr>
          <a:xfrm>
            <a:off x="190401" y="3927519"/>
            <a:ext cx="11710599" cy="1979644"/>
          </a:xfrm>
          <a:prstGeom prst="rect">
            <a:avLst/>
          </a:prstGeom>
          <a:noFill/>
          <a:ln w="12700">
            <a:noFill/>
          </a:ln>
        </p:spPr>
        <p:txBody>
          <a:bodyPr wrap="square">
            <a:spAutoFit/>
          </a:bodyPr>
          <a:lstStyle/>
          <a:p>
            <a:pPr marL="360363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lang="bg-BG" sz="3200" dirty="0"/>
              <a:t>Проект "</a:t>
            </a:r>
            <a:r>
              <a:rPr lang="bg-BG" sz="3200" b="1" dirty="0"/>
              <a:t>Отворено учебно съдържание по програмиране и ИТ</a:t>
            </a:r>
            <a:r>
              <a:rPr lang="bg-BG" sz="3200" dirty="0"/>
              <a:t>" към Фондация "Софтуерен университет"</a:t>
            </a:r>
            <a:r>
              <a:rPr lang="en-US" sz="3200" dirty="0"/>
              <a:t>:</a:t>
            </a:r>
            <a:endParaRPr lang="bg-BG" sz="3200" dirty="0"/>
          </a:p>
          <a:p>
            <a:pPr marL="817563" lvl="1" indent="-360363" defTabSz="1218438">
              <a:lnSpc>
                <a:spcPct val="12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§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234465"/>
                </a:solidFill>
                <a:effectLst/>
                <a:uLnTx/>
                <a:uFillTx/>
                <a:latin typeface="Calibri"/>
                <a:ea typeface="+mn-ea"/>
                <a:cs typeface="+mn-cs"/>
                <a:hlinkClick r:id="rId4"/>
              </a:rPr>
              <a:t>https://github.com/BG-IT-Edu</a:t>
            </a:r>
            <a:endParaRPr kumimoji="0" lang="bg-BG" sz="3200" b="0" i="0" u="none" strike="noStrike" kern="1200" cap="none" spc="0" normalizeH="0" baseline="0" noProof="0" dirty="0">
              <a:ln>
                <a:noFill/>
              </a:ln>
              <a:solidFill>
                <a:srgbClr val="234465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7" name="Picture 6" title="CC-BY-NC-SA License">
            <a:hlinkClick r:id="rId5" tooltip="This work is licensed under the &quot;Creative Commons Attribution-NonCommercial-ShareAlike 4.0 International&quot; license"/>
            <a:extLst>
              <a:ext uri="{FF2B5EF4-FFF2-40B4-BE49-F238E27FC236}">
                <a16:creationId xmlns:a16="http://schemas.microsoft.com/office/drawing/2014/main" id="{F6C77C47-F7D8-A176-5C69-7FDE5C7E80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31000" y="2908593"/>
            <a:ext cx="1989336" cy="696022"/>
          </a:xfrm>
          <a:prstGeom prst="roundRect">
            <a:avLst>
              <a:gd name="adj" fmla="val 3940"/>
            </a:avLst>
          </a:prstGeom>
          <a:solidFill>
            <a:srgbClr val="231F20">
              <a:alpha val="50000"/>
            </a:srgbClr>
          </a:solidFill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79276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5000"/>
    </mc:Choice>
    <mc:Fallback xmlns="">
      <p:transition spd="slow" advClick="0" advTm="5000"/>
    </mc:Fallback>
  </mc:AlternateContent>
</p:sld>
</file>

<file path=ppt/theme/theme1.xml><?xml version="1.0" encoding="utf-8"?>
<a:theme xmlns:a="http://schemas.openxmlformats.org/drawingml/2006/main" name="SoftUni">
  <a:themeElements>
    <a:clrScheme name="Custom 2">
      <a:dk1>
        <a:srgbClr val="234465"/>
      </a:dk1>
      <a:lt1>
        <a:srgbClr val="BF7800"/>
      </a:lt1>
      <a:dk2>
        <a:srgbClr val="234465"/>
      </a:dk2>
      <a:lt2>
        <a:srgbClr val="FFFFFF"/>
      </a:lt2>
      <a:accent1>
        <a:srgbClr val="FFA000"/>
      </a:accent1>
      <a:accent2>
        <a:srgbClr val="00B050"/>
      </a:accent2>
      <a:accent3>
        <a:srgbClr val="44A9F8"/>
      </a:accent3>
      <a:accent4>
        <a:srgbClr val="7030A0"/>
      </a:accent4>
      <a:accent5>
        <a:srgbClr val="67748E"/>
      </a:accent5>
      <a:accent6>
        <a:srgbClr val="F4F5F7"/>
      </a:accent6>
      <a:hlink>
        <a:srgbClr val="BF7800"/>
      </a:hlink>
      <a:folHlink>
        <a:srgbClr val="EF9511"/>
      </a:folHlink>
    </a:clrScheme>
    <a:fontScheme name="SoftUni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dk2">
            <a:alpha val="80000"/>
          </a:schemeClr>
        </a:solidFill>
        <a:ln w="19050">
          <a:solidFill>
            <a:schemeClr val="tx1">
              <a:lumMod val="75000"/>
              <a:alpha val="80000"/>
            </a:schemeClr>
          </a:solidFill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2800" b="1" dirty="0">
            <a:solidFill>
              <a:srgbClr val="FFFFFF"/>
            </a:solidFill>
            <a:effectLst>
              <a:outerShdw blurRad="38100" dist="38100" dir="2700000" algn="tl">
                <a:srgbClr val="000000">
                  <a:alpha val="43137"/>
                </a:srgbClr>
              </a:outerShdw>
            </a:effectLst>
          </a:defRPr>
        </a:defPPr>
      </a:lstStyle>
      <a:style>
        <a:lnRef idx="2">
          <a:schemeClr val="accent1">
            <a:shade val="50000"/>
          </a:schemeClr>
        </a:lnRef>
        <a:fillRef idx="1001">
          <a:schemeClr val="dk2"/>
        </a:fillRef>
        <a:effectRef idx="0">
          <a:schemeClr val="accent1"/>
        </a:effectRef>
        <a:fontRef idx="minor">
          <a:schemeClr val="lt1"/>
        </a:fontRef>
      </a:style>
    </a:spDef>
    <a:txDef>
      <a:spPr>
        <a:solidFill>
          <a:schemeClr val="accent6">
            <a:lumMod val="75000"/>
            <a:alpha val="15000"/>
          </a:schemeClr>
        </a:solidFill>
        <a:ln w="12700">
          <a:solidFill>
            <a:schemeClr val="tx1">
              <a:lumMod val="75000"/>
            </a:schemeClr>
          </a:solidFill>
        </a:ln>
      </a:spPr>
      <a:bodyPr vert="horz" wrap="square" lIns="144000" tIns="108000" rIns="144000" bIns="108000" rtlCol="0">
        <a:spAutoFit/>
      </a:bodyPr>
      <a:lstStyle>
        <a:defPPr algn="l" eaLnBrk="0" hangingPunct="0">
          <a:lnSpc>
            <a:spcPct val="110000"/>
          </a:lnSpc>
          <a:buClr>
            <a:schemeClr val="accent5">
              <a:lumMod val="40000"/>
              <a:lumOff val="60000"/>
            </a:schemeClr>
          </a:buClr>
          <a:buSzPct val="70000"/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SoftUni" id="{D61FAD9B-6E74-4E03-BFE4-B363D484F1DA}" vid="{7089C1A3-635B-4B03-A017-DAF10A3A396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5308</TotalTime>
  <Words>919</Words>
  <Application>Microsoft Office PowerPoint</Application>
  <PresentationFormat>Widescreen</PresentationFormat>
  <Paragraphs>144</Paragraphs>
  <Slides>26</Slides>
  <Notes>5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Calibri</vt:lpstr>
      <vt:lpstr>Consolas</vt:lpstr>
      <vt:lpstr>Wingdings</vt:lpstr>
      <vt:lpstr>SoftUni</vt:lpstr>
      <vt:lpstr>Преминаване от език с блоково програмиране към скриптов текстов език</vt:lpstr>
      <vt:lpstr>Съдържание</vt:lpstr>
      <vt:lpstr>Език за програмиране</vt:lpstr>
      <vt:lpstr>Какво е език за програмиране?</vt:lpstr>
      <vt:lpstr>Основни видове езици</vt:lpstr>
      <vt:lpstr>Машинни езици</vt:lpstr>
      <vt:lpstr>Езици от ниско ниво</vt:lpstr>
      <vt:lpstr>Езици от високо ниво</vt:lpstr>
      <vt:lpstr>Примери за езици от високо ниво</vt:lpstr>
      <vt:lpstr>Предимства и недостатъци на C#</vt:lpstr>
      <vt:lpstr>Предимства и недостатъци на Python</vt:lpstr>
      <vt:lpstr>Предимства и недостатъци на JavaScript</vt:lpstr>
      <vt:lpstr>Компилиране и интерпретиране</vt:lpstr>
      <vt:lpstr>Превеждане на машинен език</vt:lpstr>
      <vt:lpstr>Компилиране</vt:lpstr>
      <vt:lpstr>Интерпретиране (1)</vt:lpstr>
      <vt:lpstr>Интерпретиране (2)</vt:lpstr>
      <vt:lpstr>Интегрираната среда за разработка</vt:lpstr>
      <vt:lpstr>Какво е интегрирана среда за разработка?</vt:lpstr>
      <vt:lpstr>Какво съдържа IDE?</vt:lpstr>
      <vt:lpstr>Редактор</vt:lpstr>
      <vt:lpstr>Компилатор/интерпретатор</vt:lpstr>
      <vt:lpstr>Debugger</vt:lpstr>
      <vt:lpstr>Какво научихме днес?</vt:lpstr>
      <vt:lpstr>Въпроси?</vt:lpstr>
      <vt:lpstr>Лиценз</vt:lpstr>
    </vt:vector>
  </TitlesOfParts>
  <Company>BG-IT-Edu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Преминаване от език с блоково програмиране към скриптов текстов език</dc:title>
  <dc:subject>КМИТ - 6 клас</dc:subject>
  <dc:creator>BG-IT-Edu</dc:creator>
  <cp:keywords>programming; training; course</cp:keywords>
  <dc:description>Open Programming and IT Courseware for IT Teachers (BG-IT-Edu): https://github.com/BG-IT-Edu
With the kind support of SoftUni: https://softuni.bg</dc:description>
  <cp:lastModifiedBy>Zaraliev</cp:lastModifiedBy>
  <cp:revision>1313</cp:revision>
  <dcterms:created xsi:type="dcterms:W3CDTF">2018-05-23T13:08:44Z</dcterms:created>
  <dcterms:modified xsi:type="dcterms:W3CDTF">2026-09-25T09:05:33Z</dcterms:modified>
  <cp:category/>
</cp:coreProperties>
</file>