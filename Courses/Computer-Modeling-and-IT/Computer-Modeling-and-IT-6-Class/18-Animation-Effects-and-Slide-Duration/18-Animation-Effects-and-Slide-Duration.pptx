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5"/>
  </p:notesMasterIdLst>
  <p:handoutMasterIdLst>
    <p:handoutMasterId r:id="rId26"/>
  </p:handoutMasterIdLst>
  <p:sldIdLst>
    <p:sldId id="503" r:id="rId2"/>
    <p:sldId id="276" r:id="rId3"/>
    <p:sldId id="587" r:id="rId4"/>
    <p:sldId id="588" r:id="rId5"/>
    <p:sldId id="589" r:id="rId6"/>
    <p:sldId id="590" r:id="rId7"/>
    <p:sldId id="591" r:id="rId8"/>
    <p:sldId id="592" r:id="rId9"/>
    <p:sldId id="593" r:id="rId10"/>
    <p:sldId id="594" r:id="rId11"/>
    <p:sldId id="595" r:id="rId12"/>
    <p:sldId id="596" r:id="rId13"/>
    <p:sldId id="597" r:id="rId14"/>
    <p:sldId id="598" r:id="rId15"/>
    <p:sldId id="599" r:id="rId16"/>
    <p:sldId id="600" r:id="rId17"/>
    <p:sldId id="601" r:id="rId18"/>
    <p:sldId id="602" r:id="rId19"/>
    <p:sldId id="603" r:id="rId20"/>
    <p:sldId id="604" r:id="rId21"/>
    <p:sldId id="586" r:id="rId22"/>
    <p:sldId id="504" r:id="rId23"/>
    <p:sldId id="50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͏͏Анимационни ефекти на елемент от слайд" id="{41D1F9D9-9EF7-4FF7-A9D6-FBA3D9DF3123}">
          <p14:sldIdLst>
            <p14:sldId id="587"/>
            <p14:sldId id="588"/>
            <p14:sldId id="589"/>
            <p14:sldId id="590"/>
            <p14:sldId id="591"/>
            <p14:sldId id="592"/>
            <p14:sldId id="593"/>
            <p14:sldId id="594"/>
            <p14:sldId id="595"/>
            <p14:sldId id="596"/>
            <p14:sldId id="597"/>
            <p14:sldId id="598"/>
          </p14:sldIdLst>
        </p14:section>
        <p14:section name="͏Анимационни ефекти при преход между слайдове" id="{248321BD-F980-4D67-8C70-F3D476772F5E}">
          <p14:sldIdLst>
            <p14:sldId id="599"/>
            <p14:sldId id="600"/>
            <p14:sldId id="601"/>
            <p14:sldId id="602"/>
            <p14:sldId id="603"/>
            <p14:sldId id="604"/>
          </p14:sldIdLst>
        </p14:section>
        <p14:section name="Заключение" id="{E19D07F1-86E2-47E9-B2AB-7ADC4F89DC12}">
          <p14:sldIdLst>
            <p14:sldId id="586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A00"/>
    <a:srgbClr val="080808"/>
    <a:srgbClr val="FF00FF"/>
    <a:srgbClr val="00FFFF"/>
    <a:srgbClr val="FFFFFF"/>
    <a:srgbClr val="EA9100"/>
    <a:srgbClr val="000000"/>
    <a:srgbClr val="234465"/>
    <a:srgbClr val="ADB4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4" autoAdjust="0"/>
    <p:restoredTop sz="93488" autoAdjust="0"/>
  </p:normalViewPr>
  <p:slideViewPr>
    <p:cSldViewPr showGuides="1">
      <p:cViewPr varScale="1">
        <p:scale>
          <a:sx n="103" d="100"/>
          <a:sy n="103" d="100"/>
        </p:scale>
        <p:origin x="912" y="114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25.9.2026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832878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032321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70576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93844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172678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4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6</a:t>
            </a:r>
            <a:r>
              <a:rPr lang="bg-BG" dirty="0"/>
              <a:t> клас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Компютърно моделиране и ИТ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6" y="321501"/>
            <a:ext cx="11083636" cy="2027499"/>
          </a:xfrm>
        </p:spPr>
        <p:txBody>
          <a:bodyPr>
            <a:normAutofit/>
          </a:bodyPr>
          <a:lstStyle/>
          <a:p>
            <a:r>
              <a:rPr lang="ru-RU" dirty="0"/>
              <a:t>Анимационни ефекти и времетраене на слайд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02" y="3159338"/>
            <a:ext cx="2002460" cy="897423"/>
          </a:xfrm>
          <a:prstGeom prst="rect">
            <a:avLst/>
          </a:prstGeom>
        </p:spPr>
      </p:pic>
      <p:pic>
        <p:nvPicPr>
          <p:cNvPr id="4" name="Picture 2" descr="How to loop a sequence of PowerPoint animations | BrightCarbon"/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13" t="4443" r="2113" b="5208"/>
          <a:stretch/>
        </p:blipFill>
        <p:spPr bwMode="auto">
          <a:xfrm>
            <a:off x="6390123" y="2844001"/>
            <a:ext cx="5248260" cy="274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9679234" cy="5207396"/>
          </a:xfrm>
        </p:spPr>
        <p:txBody>
          <a:bodyPr/>
          <a:lstStyle/>
          <a:p>
            <a:r>
              <a:rPr lang="bg-BG" dirty="0"/>
              <a:t>͏͏</a:t>
            </a:r>
            <a:r>
              <a:rPr lang="bg-BG" b="1" dirty="0"/>
              <a:t>Анимационни ефекти </a:t>
            </a:r>
            <a:r>
              <a:rPr lang="bg-BG" dirty="0"/>
              <a:t>на </a:t>
            </a:r>
            <a:r>
              <a:rPr lang="bg-BG" b="1" dirty="0"/>
              <a:t>елемент</a:t>
            </a:r>
            <a:r>
              <a:rPr lang="bg-BG" dirty="0"/>
              <a:t> от слайд</a:t>
            </a:r>
          </a:p>
          <a:p>
            <a:r>
              <a:rPr lang="ru-RU" dirty="0"/>
              <a:t>͏</a:t>
            </a:r>
            <a:r>
              <a:rPr lang="ru-RU" b="1" dirty="0"/>
              <a:t>Анимационни ефекти </a:t>
            </a:r>
            <a:r>
              <a:rPr lang="ru-RU" dirty="0"/>
              <a:t>при </a:t>
            </a:r>
            <a:r>
              <a:rPr lang="ru-RU" b="1" dirty="0"/>
              <a:t>преход</a:t>
            </a:r>
            <a:r>
              <a:rPr lang="ru-RU" dirty="0"/>
              <a:t> между слайдове</a:t>
            </a:r>
            <a:endParaRPr lang="bg-BG" dirty="0"/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CDFB-0E94-0132-177D-CD4B4F85B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1000" y="1584000"/>
            <a:ext cx="1581246" cy="21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615109" y="4704824"/>
            <a:ext cx="10961783" cy="1739175"/>
          </a:xfrm>
        </p:spPr>
        <p:txBody>
          <a:bodyPr/>
          <a:lstStyle/>
          <a:p>
            <a:r>
              <a:rPr lang="ru-RU" dirty="0"/>
              <a:t>͏͏Анимационни ефекти на </a:t>
            </a:r>
            <a:br>
              <a:rPr lang="en-US" dirty="0"/>
            </a:br>
            <a:r>
              <a:rPr lang="ru-RU" dirty="0"/>
              <a:t>елемент от слайд</a:t>
            </a:r>
            <a:endParaRPr lang="en-US" dirty="0"/>
          </a:p>
        </p:txBody>
      </p:sp>
      <p:pic>
        <p:nvPicPr>
          <p:cNvPr id="2050" name="Picture 2" descr="PowerPoint triggers: Make something happen | BrightCarb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750" y="1269000"/>
            <a:ext cx="3676500" cy="213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171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595" y="4829156"/>
            <a:ext cx="760923" cy="1574475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491" y="3160516"/>
            <a:ext cx="12201882" cy="3704879"/>
            <a:chOff x="-1491" y="3160516"/>
            <a:chExt cx="12201882" cy="3704879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13940" y="3160516"/>
              <a:ext cx="6586451" cy="3704879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491" y="3429000"/>
              <a:ext cx="6109146" cy="3436395"/>
            </a:xfrm>
            <a:prstGeom prst="rect">
              <a:avLst/>
            </a:prstGeom>
          </p:spPr>
        </p:pic>
      </p:grp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Обектите</a:t>
            </a:r>
            <a:r>
              <a:rPr lang="bg-BG" dirty="0"/>
              <a:t> на един слай могат да се </a:t>
            </a:r>
            <a:r>
              <a:rPr lang="bg-BG" b="1" dirty="0"/>
              <a:t>появяват</a:t>
            </a:r>
            <a:r>
              <a:rPr lang="bg-BG" dirty="0"/>
              <a:t> по </a:t>
            </a:r>
            <a:r>
              <a:rPr lang="bg-BG" b="1" dirty="0"/>
              <a:t>различно време </a:t>
            </a:r>
            <a:r>
              <a:rPr lang="bg-BG" dirty="0"/>
              <a:t>в него или да </a:t>
            </a:r>
            <a:r>
              <a:rPr lang="bg-BG" b="1" dirty="0"/>
              <a:t>изменят положението </a:t>
            </a:r>
            <a:r>
              <a:rPr lang="bg-BG" dirty="0"/>
              <a:t>си</a:t>
            </a:r>
          </a:p>
          <a:p>
            <a:r>
              <a:rPr lang="bg-BG" dirty="0"/>
              <a:t>Тези </a:t>
            </a:r>
            <a:r>
              <a:rPr lang="bg-BG" b="1" dirty="0"/>
              <a:t>движения</a:t>
            </a:r>
            <a:r>
              <a:rPr lang="bg-BG" dirty="0"/>
              <a:t> се означават като използване на </a:t>
            </a:r>
            <a:r>
              <a:rPr lang="bg-BG" b="1" dirty="0">
                <a:solidFill>
                  <a:schemeClr val="bg1"/>
                </a:solidFill>
              </a:rPr>
              <a:t>анимационни ефекти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Анимационни ефекти на елементи от слайд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62" t="9231" r="21538" b="10769"/>
          <a:stretch/>
        </p:blipFill>
        <p:spPr>
          <a:xfrm>
            <a:off x="-1672961" y="3953508"/>
            <a:ext cx="1755000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660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0" presetClass="path" presetSubtype="0" accel="50000" decel="5000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375E-6 -7.40741E-7 L 0.21224 0.08519 L 0.47122 0.0963 L 0.6875 0.03148 " pathEditMode="relative" rAng="0" ptsTypes="AAAA">
                                      <p:cBhvr>
                                        <p:cTn id="2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375" y="48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700"/>
                            </p:stCondLst>
                            <p:childTnLst>
                              <p:par>
                                <p:cTn id="2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За да </a:t>
            </a:r>
            <a:r>
              <a:rPr lang="bg-BG" b="1" dirty="0"/>
              <a:t>използвате анимация </a:t>
            </a:r>
            <a:r>
              <a:rPr lang="bg-BG" dirty="0"/>
              <a:t>върху даден елемент от слайда, е необходимо той да бъде </a:t>
            </a:r>
            <a:r>
              <a:rPr lang="bg-BG" b="1" dirty="0"/>
              <a:t>маркиран</a:t>
            </a:r>
          </a:p>
          <a:p>
            <a:r>
              <a:rPr lang="bg-BG" dirty="0"/>
              <a:t>Анимационните ефекти се избират от </a:t>
            </a:r>
            <a:r>
              <a:rPr lang="bg-BG" b="1" dirty="0"/>
              <a:t>панела </a:t>
            </a:r>
            <a:r>
              <a:rPr lang="en-US" b="1" dirty="0">
                <a:solidFill>
                  <a:schemeClr val="bg1"/>
                </a:solidFill>
              </a:rPr>
              <a:t>Animation</a:t>
            </a:r>
            <a:r>
              <a:rPr lang="en-US" dirty="0"/>
              <a:t> </a:t>
            </a:r>
            <a:r>
              <a:rPr lang="bg-BG" dirty="0"/>
              <a:t>(</a:t>
            </a:r>
            <a:r>
              <a:rPr lang="bg-BG" b="1" dirty="0"/>
              <a:t>Анимация</a:t>
            </a:r>
            <a:r>
              <a:rPr lang="bg-BG" dirty="0"/>
              <a:t>) от </a:t>
            </a:r>
            <a:r>
              <a:rPr lang="bg-BG" b="1" dirty="0"/>
              <a:t>менюто </a:t>
            </a:r>
            <a:r>
              <a:rPr lang="en-US" b="1" dirty="0">
                <a:solidFill>
                  <a:schemeClr val="bg1"/>
                </a:solidFill>
              </a:rPr>
              <a:t>Animations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bg-BG" b="1" dirty="0"/>
              <a:t>Анимации</a:t>
            </a:r>
            <a:r>
              <a:rPr lang="en-US" dirty="0"/>
              <a:t>)</a:t>
            </a:r>
            <a:endParaRPr lang="bg-BG" dirty="0"/>
          </a:p>
          <a:p>
            <a:r>
              <a:rPr lang="bg-BG" b="1" dirty="0"/>
              <a:t>Повече</a:t>
            </a:r>
            <a:r>
              <a:rPr lang="bg-BG" dirty="0"/>
              <a:t> анимационни</a:t>
            </a:r>
            <a:r>
              <a:rPr lang="bg-BG" b="1" dirty="0"/>
              <a:t> ефекти </a:t>
            </a:r>
            <a:r>
              <a:rPr lang="bg-BG" dirty="0"/>
              <a:t>може да намерите от </a:t>
            </a:r>
            <a:r>
              <a:rPr lang="bg-BG" b="1" dirty="0"/>
              <a:t>бутона</a:t>
            </a:r>
            <a:r>
              <a:rPr lang="bg-BG" dirty="0"/>
              <a:t> </a:t>
            </a:r>
            <a:r>
              <a:rPr lang="en-US" dirty="0"/>
              <a:t>[</a:t>
            </a:r>
            <a:r>
              <a:rPr lang="en-US" b="1" dirty="0">
                <a:solidFill>
                  <a:schemeClr val="bg1"/>
                </a:solidFill>
              </a:rPr>
              <a:t>Add Animation</a:t>
            </a:r>
            <a:r>
              <a:rPr lang="en-US" dirty="0"/>
              <a:t>] </a:t>
            </a:r>
            <a:r>
              <a:rPr lang="bg-BG" dirty="0"/>
              <a:t>(</a:t>
            </a:r>
            <a:r>
              <a:rPr lang="bg-BG" b="1" dirty="0"/>
              <a:t>Добавяне на анимации</a:t>
            </a:r>
            <a:r>
              <a:rPr lang="bg-BG" dirty="0"/>
              <a:t>)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Използване на анимация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8390" y="5252578"/>
            <a:ext cx="11475221" cy="123642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Rectangle 5"/>
          <p:cNvSpPr/>
          <p:nvPr/>
        </p:nvSpPr>
        <p:spPr bwMode="auto">
          <a:xfrm>
            <a:off x="1101000" y="5252578"/>
            <a:ext cx="4455000" cy="1236422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556000" y="5252578"/>
            <a:ext cx="990000" cy="1236422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56272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BC71B3E-F01D-D076-45C8-B66423C57A8D}"/>
              </a:ext>
            </a:extLst>
          </p:cNvPr>
          <p:cNvGrpSpPr/>
          <p:nvPr/>
        </p:nvGrpSpPr>
        <p:grpSpPr>
          <a:xfrm>
            <a:off x="7941000" y="1259853"/>
            <a:ext cx="3375000" cy="5457463"/>
            <a:chOff x="3551654" y="-54000"/>
            <a:chExt cx="3952316" cy="68580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2897880-3747-9070-A03B-05529EF90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51654" y="-54000"/>
              <a:ext cx="3952316" cy="68580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24D543C-7013-B56A-37A3-0BEF4E344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61814" y="5385816"/>
              <a:ext cx="3942156" cy="1418184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</p:pic>
      </p:grpSp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660598" cy="5528766"/>
          </a:xfrm>
        </p:spPr>
        <p:txBody>
          <a:bodyPr/>
          <a:lstStyle/>
          <a:p>
            <a:r>
              <a:rPr lang="bg-BG" dirty="0"/>
              <a:t>Като изберете </a:t>
            </a:r>
            <a:r>
              <a:rPr lang="bg-BG" b="1" dirty="0"/>
              <a:t>бутона</a:t>
            </a:r>
            <a:r>
              <a:rPr lang="bg-BG" dirty="0"/>
              <a:t> </a:t>
            </a:r>
            <a:r>
              <a:rPr lang="en-US" dirty="0"/>
              <a:t>[</a:t>
            </a:r>
            <a:r>
              <a:rPr lang="en-US" b="1" dirty="0">
                <a:solidFill>
                  <a:schemeClr val="bg1"/>
                </a:solidFill>
              </a:rPr>
              <a:t>Add Animation</a:t>
            </a:r>
            <a:r>
              <a:rPr lang="en-US" dirty="0"/>
              <a:t>] </a:t>
            </a:r>
            <a:r>
              <a:rPr lang="bg-BG" dirty="0"/>
              <a:t>се отваря </a:t>
            </a:r>
            <a:r>
              <a:rPr lang="bg-BG" b="1" dirty="0"/>
              <a:t>меню</a:t>
            </a:r>
            <a:r>
              <a:rPr lang="bg-BG" dirty="0"/>
              <a:t>, в което </a:t>
            </a:r>
            <a:r>
              <a:rPr lang="bg-BG" b="1" dirty="0"/>
              <a:t>ефектите</a:t>
            </a:r>
            <a:r>
              <a:rPr lang="bg-BG" dirty="0"/>
              <a:t> са събрани в </a:t>
            </a:r>
            <a:r>
              <a:rPr lang="bg-BG" b="1" dirty="0"/>
              <a:t>четири групи</a:t>
            </a:r>
            <a:r>
              <a:rPr lang="bg-BG" dirty="0"/>
              <a:t>:</a:t>
            </a:r>
          </a:p>
          <a:p>
            <a:pPr lvl="1"/>
            <a:r>
              <a:rPr lang="en-US" b="1" dirty="0"/>
              <a:t>͏</a:t>
            </a:r>
            <a:r>
              <a:rPr lang="en-US" b="1" dirty="0">
                <a:solidFill>
                  <a:schemeClr val="bg1"/>
                </a:solidFill>
              </a:rPr>
              <a:t>Entrance</a:t>
            </a:r>
            <a:r>
              <a:rPr lang="en-US" dirty="0"/>
              <a:t> (</a:t>
            </a:r>
            <a:r>
              <a:rPr lang="bg-BG" b="1" dirty="0"/>
              <a:t>въвеждащи</a:t>
            </a:r>
            <a:r>
              <a:rPr lang="en-US" dirty="0"/>
              <a:t>)</a:t>
            </a:r>
          </a:p>
          <a:p>
            <a:pPr lvl="1"/>
            <a:r>
              <a:rPr lang="en-US" b="1" dirty="0"/>
              <a:t>͏</a:t>
            </a:r>
            <a:r>
              <a:rPr lang="en-US" b="1" dirty="0">
                <a:solidFill>
                  <a:schemeClr val="bg1"/>
                </a:solidFill>
              </a:rPr>
              <a:t>Emphasis</a:t>
            </a:r>
            <a:r>
              <a:rPr lang="en-US" dirty="0"/>
              <a:t> (</a:t>
            </a:r>
            <a:r>
              <a:rPr lang="bg-BG" b="1" dirty="0"/>
              <a:t>акцентиращи</a:t>
            </a:r>
            <a:r>
              <a:rPr lang="en-US" dirty="0"/>
              <a:t>)</a:t>
            </a:r>
          </a:p>
          <a:p>
            <a:pPr lvl="1"/>
            <a:r>
              <a:rPr lang="en-US" b="1" dirty="0"/>
              <a:t>͏</a:t>
            </a:r>
            <a:r>
              <a:rPr lang="en-US" b="1" dirty="0">
                <a:solidFill>
                  <a:schemeClr val="bg1"/>
                </a:solidFill>
              </a:rPr>
              <a:t>Exit</a:t>
            </a:r>
            <a:r>
              <a:rPr lang="en-US" dirty="0"/>
              <a:t> (</a:t>
            </a:r>
            <a:r>
              <a:rPr lang="bg-BG" b="1" dirty="0"/>
              <a:t>завършващи</a:t>
            </a:r>
            <a:r>
              <a:rPr lang="en-US" dirty="0"/>
              <a:t>)</a:t>
            </a:r>
          </a:p>
          <a:p>
            <a:pPr lvl="1"/>
            <a:r>
              <a:rPr lang="en-US" b="1" dirty="0"/>
              <a:t>͏</a:t>
            </a:r>
            <a:r>
              <a:rPr lang="en-US" b="1" dirty="0">
                <a:solidFill>
                  <a:schemeClr val="bg1"/>
                </a:solidFill>
              </a:rPr>
              <a:t>Motion paths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(</a:t>
            </a:r>
            <a:r>
              <a:rPr lang="bg-BG" b="1" dirty="0"/>
              <a:t>траектории на движение</a:t>
            </a:r>
            <a:r>
              <a:rPr lang="en-US" dirty="0"/>
              <a:t>)</a:t>
            </a:r>
          </a:p>
          <a:p>
            <a:pPr lvl="1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Animation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7941000" y="1259853"/>
            <a:ext cx="3240000" cy="1494147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7941000" y="2754000"/>
            <a:ext cx="3240000" cy="193500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7941000" y="4689000"/>
            <a:ext cx="3240000" cy="907329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7941000" y="5596329"/>
            <a:ext cx="3240000" cy="1128563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59145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При въвеждащите ефекти </a:t>
            </a:r>
            <a:r>
              <a:rPr lang="bg-BG" b="1" dirty="0"/>
              <a:t>обектите</a:t>
            </a:r>
            <a:r>
              <a:rPr lang="bg-BG" dirty="0"/>
              <a:t> се </a:t>
            </a:r>
            <a:r>
              <a:rPr lang="bg-BG" b="1" dirty="0"/>
              <a:t>появяват отвън </a:t>
            </a:r>
            <a:r>
              <a:rPr lang="bg-BG" dirty="0"/>
              <a:t>на </a:t>
            </a:r>
            <a:r>
              <a:rPr lang="bg-BG" b="1" dirty="0"/>
              <a:t>слайда</a:t>
            </a:r>
            <a:r>
              <a:rPr lang="bg-BG" dirty="0"/>
              <a:t> и се </a:t>
            </a:r>
            <a:r>
              <a:rPr lang="bg-BG" b="1" dirty="0"/>
              <a:t>движат</a:t>
            </a:r>
            <a:r>
              <a:rPr lang="bg-BG" dirty="0"/>
              <a:t> към </a:t>
            </a:r>
            <a:r>
              <a:rPr lang="bg-BG" b="1" dirty="0"/>
              <a:t>мястото</a:t>
            </a:r>
            <a:r>
              <a:rPr lang="bg-BG" dirty="0"/>
              <a:t> си в него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Entrance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69" b="8295"/>
          <a:stretch/>
        </p:blipFill>
        <p:spPr>
          <a:xfrm>
            <a:off x="1686000" y="3042340"/>
            <a:ext cx="3427291" cy="38516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05" b="-1581"/>
          <a:stretch/>
        </p:blipFill>
        <p:spPr>
          <a:xfrm>
            <a:off x="5961000" y="3609000"/>
            <a:ext cx="4950000" cy="2475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85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При акцентиращите ефекти </a:t>
            </a:r>
            <a:r>
              <a:rPr lang="bg-BG" b="1" dirty="0"/>
              <a:t>обектите</a:t>
            </a:r>
            <a:r>
              <a:rPr lang="bg-BG" dirty="0"/>
              <a:t> се </a:t>
            </a:r>
            <a:r>
              <a:rPr lang="bg-BG" b="1" dirty="0"/>
              <a:t>акцентират </a:t>
            </a:r>
            <a:r>
              <a:rPr lang="bg-BG" dirty="0"/>
              <a:t>с цел </a:t>
            </a:r>
            <a:r>
              <a:rPr lang="bg-BG" b="1" dirty="0"/>
              <a:t>привличане</a:t>
            </a:r>
            <a:r>
              <a:rPr lang="bg-BG" dirty="0"/>
              <a:t> на </a:t>
            </a:r>
            <a:r>
              <a:rPr lang="bg-BG" b="1" dirty="0"/>
              <a:t>вниманието 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Emphasis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62" t="15270" r="10811" b="17162"/>
          <a:stretch/>
        </p:blipFill>
        <p:spPr>
          <a:xfrm>
            <a:off x="1416000" y="2709000"/>
            <a:ext cx="4216050" cy="36982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000" y="3642905"/>
            <a:ext cx="2618862" cy="206899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" b="375"/>
          <a:stretch/>
        </p:blipFill>
        <p:spPr>
          <a:xfrm>
            <a:off x="6305701" y="2979000"/>
            <a:ext cx="5029146" cy="3150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23356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При завършващите ефекти </a:t>
            </a:r>
            <a:r>
              <a:rPr lang="bg-BG" b="1" dirty="0"/>
              <a:t>обектите</a:t>
            </a:r>
            <a:r>
              <a:rPr lang="bg-BG" dirty="0"/>
              <a:t> се </a:t>
            </a:r>
            <a:r>
              <a:rPr lang="bg-BG" b="1" dirty="0"/>
              <a:t>движат </a:t>
            </a:r>
            <a:r>
              <a:rPr lang="bg-BG" dirty="0"/>
              <a:t>от </a:t>
            </a:r>
            <a:r>
              <a:rPr lang="bg-BG" b="1" dirty="0"/>
              <a:t>мястото</a:t>
            </a:r>
            <a:r>
              <a:rPr lang="bg-BG" dirty="0"/>
              <a:t> </a:t>
            </a:r>
            <a:r>
              <a:rPr lang="bg-BG" b="1" dirty="0"/>
              <a:t>си</a:t>
            </a:r>
            <a:r>
              <a:rPr lang="bg-BG" dirty="0"/>
              <a:t> в слайда към </a:t>
            </a:r>
            <a:r>
              <a:rPr lang="bg-BG" b="1" dirty="0"/>
              <a:t>външната</a:t>
            </a:r>
            <a:r>
              <a:rPr lang="bg-BG" dirty="0"/>
              <a:t> му </a:t>
            </a:r>
            <a:r>
              <a:rPr lang="bg-BG" b="1" dirty="0"/>
              <a:t>част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18" t="9187" r="19074"/>
          <a:stretch/>
        </p:blipFill>
        <p:spPr>
          <a:xfrm>
            <a:off x="1686000" y="3024000"/>
            <a:ext cx="3555001" cy="3114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98" b="879"/>
          <a:stretch/>
        </p:blipFill>
        <p:spPr>
          <a:xfrm>
            <a:off x="6049345" y="3204000"/>
            <a:ext cx="5275377" cy="2610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24733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Анимираните </a:t>
            </a:r>
            <a:r>
              <a:rPr lang="bg-BG" b="1" dirty="0"/>
              <a:t>обекти</a:t>
            </a:r>
            <a:r>
              <a:rPr lang="bg-BG" dirty="0"/>
              <a:t> се </a:t>
            </a:r>
            <a:r>
              <a:rPr lang="bg-BG" b="1" dirty="0"/>
              <a:t>движат</a:t>
            </a:r>
            <a:r>
              <a:rPr lang="bg-BG" dirty="0"/>
              <a:t> по предварително </a:t>
            </a:r>
            <a:r>
              <a:rPr lang="bg-BG" b="1" dirty="0"/>
              <a:t>зададена</a:t>
            </a:r>
            <a:r>
              <a:rPr lang="bg-BG" dirty="0"/>
              <a:t> </a:t>
            </a:r>
            <a:r>
              <a:rPr lang="bg-BG" b="1" dirty="0"/>
              <a:t>траектория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Motion paths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1000" y="3402120"/>
            <a:ext cx="5829300" cy="33623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55618" y="3429000"/>
            <a:ext cx="5730084" cy="2025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7060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2.22222E-6 L -0.17434 -0.09074 L -0.51875 2.22222E-6 L -0.88567 -0.00556 L -0.95599 -0.03704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799" y="-45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926252" cy="5528766"/>
          </a:xfrm>
        </p:spPr>
        <p:txBody>
          <a:bodyPr>
            <a:normAutofit/>
          </a:bodyPr>
          <a:lstStyle/>
          <a:p>
            <a:r>
              <a:rPr lang="bg-BG" sz="3200" dirty="0"/>
              <a:t>Анимационните ефекти на отделните елементи се </a:t>
            </a:r>
            <a:r>
              <a:rPr lang="bg-BG" sz="3200" b="1" dirty="0"/>
              <a:t>номерират</a:t>
            </a:r>
            <a:r>
              <a:rPr lang="bg-BG" sz="3200" dirty="0"/>
              <a:t> в </a:t>
            </a:r>
            <a:r>
              <a:rPr lang="bg-BG" sz="3200" b="1" dirty="0"/>
              <a:t>реда</a:t>
            </a:r>
            <a:r>
              <a:rPr lang="bg-BG" sz="3200" dirty="0"/>
              <a:t> на </a:t>
            </a:r>
            <a:r>
              <a:rPr lang="bg-BG" sz="3200" b="1" dirty="0"/>
              <a:t>поставянето</a:t>
            </a:r>
            <a:r>
              <a:rPr lang="bg-BG" sz="3200" dirty="0"/>
              <a:t> им в </a:t>
            </a:r>
            <a:r>
              <a:rPr lang="bg-BG" sz="3200" b="1" dirty="0"/>
              <a:t>слайда</a:t>
            </a:r>
          </a:p>
          <a:p>
            <a:pPr lvl="1"/>
            <a:r>
              <a:rPr lang="bg-BG" sz="2800" dirty="0"/>
              <a:t>Може да видите техния </a:t>
            </a:r>
            <a:r>
              <a:rPr lang="bg-BG" sz="2800" b="1" dirty="0"/>
              <a:t>ред</a:t>
            </a:r>
            <a:r>
              <a:rPr lang="bg-BG" sz="2800" dirty="0"/>
              <a:t> от </a:t>
            </a:r>
            <a:r>
              <a:rPr lang="bg-BG" sz="2800" b="1" dirty="0"/>
              <a:t>бутона</a:t>
            </a:r>
            <a:r>
              <a:rPr lang="bg-BG" sz="2800" dirty="0"/>
              <a:t> </a:t>
            </a:r>
            <a:r>
              <a:rPr lang="en-US" sz="2800" dirty="0"/>
              <a:t>[</a:t>
            </a:r>
            <a:r>
              <a:rPr lang="en-US" sz="2800" b="1" dirty="0">
                <a:solidFill>
                  <a:schemeClr val="bg1"/>
                </a:solidFill>
              </a:rPr>
              <a:t>Animation Pane</a:t>
            </a:r>
            <a:r>
              <a:rPr lang="en-US" sz="2800" dirty="0"/>
              <a:t>] (</a:t>
            </a:r>
            <a:r>
              <a:rPr lang="bg-BG" sz="2800" b="1" dirty="0"/>
              <a:t>Панел за анимация</a:t>
            </a:r>
            <a:r>
              <a:rPr lang="en-US" sz="2800" dirty="0"/>
              <a:t>)</a:t>
            </a:r>
            <a:endParaRPr lang="bg-BG" sz="2800" dirty="0"/>
          </a:p>
          <a:p>
            <a:r>
              <a:rPr lang="bg-BG" sz="3200" dirty="0"/>
              <a:t>С бутоните </a:t>
            </a:r>
            <a:r>
              <a:rPr lang="en-US" sz="3200" dirty="0"/>
              <a:t>[</a:t>
            </a:r>
            <a:r>
              <a:rPr lang="en-US" sz="3200" b="1" dirty="0">
                <a:solidFill>
                  <a:schemeClr val="bg1"/>
                </a:solidFill>
              </a:rPr>
              <a:t>Move Earlier</a:t>
            </a:r>
            <a:r>
              <a:rPr lang="en-US" sz="3200" dirty="0"/>
              <a:t>] (</a:t>
            </a:r>
            <a:r>
              <a:rPr lang="bg-BG" sz="3200" b="1" dirty="0"/>
              <a:t>Премести по-рано</a:t>
            </a:r>
            <a:r>
              <a:rPr lang="en-US" sz="3200" dirty="0"/>
              <a:t>) </a:t>
            </a:r>
            <a:r>
              <a:rPr lang="bg-BG" sz="3200" dirty="0"/>
              <a:t>и </a:t>
            </a:r>
            <a:r>
              <a:rPr lang="en-US" sz="3200" dirty="0"/>
              <a:t>[</a:t>
            </a:r>
            <a:r>
              <a:rPr lang="en-US" sz="3200" b="1" dirty="0">
                <a:solidFill>
                  <a:schemeClr val="bg1"/>
                </a:solidFill>
              </a:rPr>
              <a:t>Move Later</a:t>
            </a:r>
            <a:r>
              <a:rPr lang="en-US" sz="3200" dirty="0"/>
              <a:t>] (</a:t>
            </a:r>
            <a:r>
              <a:rPr lang="bg-BG" sz="3200" b="1" dirty="0"/>
              <a:t>Премести по-късно</a:t>
            </a:r>
            <a:r>
              <a:rPr lang="en-US" sz="3200" dirty="0"/>
              <a:t>)</a:t>
            </a:r>
            <a:r>
              <a:rPr lang="bg-BG" sz="3200" dirty="0"/>
              <a:t> може да променяте реда на показване на различните анимации</a:t>
            </a:r>
            <a:endParaRPr lang="en-US" sz="32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Ред на анимационните ефекти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77384" y="5261199"/>
            <a:ext cx="1689665" cy="134930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58730" y="1359000"/>
            <a:ext cx="2934539" cy="133797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8" name="Rectangle 7"/>
          <p:cNvSpPr/>
          <p:nvPr/>
        </p:nvSpPr>
        <p:spPr bwMode="auto">
          <a:xfrm>
            <a:off x="8955666" y="1369160"/>
            <a:ext cx="1755000" cy="341634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61294" y="1705776"/>
            <a:ext cx="2743743" cy="273358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69862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8176811" cy="5528766"/>
          </a:xfrm>
        </p:spPr>
        <p:txBody>
          <a:bodyPr/>
          <a:lstStyle/>
          <a:p>
            <a:r>
              <a:rPr lang="bg-BG" dirty="0"/>
              <a:t>От </a:t>
            </a:r>
            <a:r>
              <a:rPr lang="bg-BG" b="1" dirty="0"/>
              <a:t>падащото менюто </a:t>
            </a:r>
            <a:r>
              <a:rPr lang="en-US" b="1" dirty="0">
                <a:solidFill>
                  <a:schemeClr val="bg1"/>
                </a:solidFill>
              </a:rPr>
              <a:t>Effect Options </a:t>
            </a:r>
            <a:r>
              <a:rPr lang="bg-BG" dirty="0"/>
              <a:t>(</a:t>
            </a:r>
            <a:r>
              <a:rPr lang="bg-BG" b="1" dirty="0"/>
              <a:t>Опции за ефект</a:t>
            </a:r>
            <a:r>
              <a:rPr lang="bg-BG" dirty="0"/>
              <a:t>) може да </a:t>
            </a:r>
            <a:r>
              <a:rPr lang="bg-BG" b="1" dirty="0"/>
              <a:t>настройвате</a:t>
            </a:r>
            <a:r>
              <a:rPr lang="bg-BG" dirty="0"/>
              <a:t> допълнителни </a:t>
            </a:r>
            <a:r>
              <a:rPr lang="bg-BG" b="1" dirty="0"/>
              <a:t>характеристики</a:t>
            </a:r>
            <a:r>
              <a:rPr lang="bg-BG" dirty="0"/>
              <a:t> на анамационния ефект</a:t>
            </a:r>
          </a:p>
          <a:p>
            <a:pPr lvl="1"/>
            <a:r>
              <a:rPr lang="bg-BG" b="1" dirty="0"/>
              <a:t>Характеристиките</a:t>
            </a:r>
            <a:r>
              <a:rPr lang="bg-BG" dirty="0"/>
              <a:t> зависят от </a:t>
            </a:r>
            <a:r>
              <a:rPr lang="bg-BG" b="1" dirty="0"/>
              <a:t>избрания ефект</a:t>
            </a:r>
          </a:p>
          <a:p>
            <a:endParaRPr lang="bg-BG" dirty="0"/>
          </a:p>
          <a:p>
            <a:endParaRPr lang="bg-BG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Options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4465" y="1539000"/>
            <a:ext cx="1128901" cy="148614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42" b="23279"/>
          <a:stretch/>
        </p:blipFill>
        <p:spPr>
          <a:xfrm>
            <a:off x="8959914" y="2934000"/>
            <a:ext cx="2200415" cy="328385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0858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45598" cy="5528766"/>
          </a:xfrm>
        </p:spPr>
        <p:txBody>
          <a:bodyPr>
            <a:normAutofit fontScale="92500" lnSpcReduction="20000"/>
          </a:bodyPr>
          <a:lstStyle/>
          <a:p>
            <a:r>
              <a:rPr lang="bg-BG" dirty="0"/>
              <a:t>От </a:t>
            </a:r>
            <a:r>
              <a:rPr lang="bg-BG" b="1" dirty="0"/>
              <a:t>панела</a:t>
            </a:r>
            <a:r>
              <a:rPr lang="bg-BG" dirty="0"/>
              <a:t> </a:t>
            </a:r>
            <a:r>
              <a:rPr lang="en-US" b="1" dirty="0">
                <a:solidFill>
                  <a:schemeClr val="bg1"/>
                </a:solidFill>
              </a:rPr>
              <a:t>Timing</a:t>
            </a:r>
            <a:r>
              <a:rPr lang="en-US" dirty="0"/>
              <a:t> </a:t>
            </a:r>
            <a:r>
              <a:rPr lang="bg-BG" dirty="0"/>
              <a:t>(</a:t>
            </a:r>
            <a:r>
              <a:rPr lang="bg-BG" b="1" dirty="0"/>
              <a:t>Време</a:t>
            </a:r>
            <a:r>
              <a:rPr lang="bg-BG" dirty="0"/>
              <a:t>) се задават </a:t>
            </a:r>
            <a:r>
              <a:rPr lang="bg-BG" b="1" dirty="0"/>
              <a:t>времеви</a:t>
            </a:r>
            <a:r>
              <a:rPr lang="bg-BG" dirty="0"/>
              <a:t> </a:t>
            </a:r>
            <a:r>
              <a:rPr lang="bg-BG" b="1" dirty="0"/>
              <a:t>настройки</a:t>
            </a:r>
            <a:r>
              <a:rPr lang="bg-BG" dirty="0"/>
              <a:t> на анимирането:</a:t>
            </a:r>
          </a:p>
          <a:p>
            <a:pPr lvl="1"/>
            <a:r>
              <a:rPr lang="en-US" b="1" dirty="0"/>
              <a:t>͏</a:t>
            </a:r>
            <a:r>
              <a:rPr lang="en-US" b="1" dirty="0">
                <a:solidFill>
                  <a:schemeClr val="bg1"/>
                </a:solidFill>
              </a:rPr>
              <a:t>Start</a:t>
            </a:r>
            <a:r>
              <a:rPr lang="en-US" dirty="0"/>
              <a:t> (</a:t>
            </a:r>
            <a:r>
              <a:rPr lang="bg-BG" b="1" dirty="0"/>
              <a:t>Начало</a:t>
            </a:r>
            <a:r>
              <a:rPr lang="en-US" dirty="0"/>
              <a:t>)</a:t>
            </a:r>
            <a:endParaRPr lang="bg-BG" dirty="0"/>
          </a:p>
          <a:p>
            <a:pPr lvl="2"/>
            <a:r>
              <a:rPr lang="bg-BG" dirty="0"/>
              <a:t>От </a:t>
            </a:r>
            <a:r>
              <a:rPr lang="bg-BG" b="1" dirty="0"/>
              <a:t>падащата кутия</a:t>
            </a:r>
            <a:r>
              <a:rPr lang="bg-BG" dirty="0"/>
              <a:t> се избира </a:t>
            </a:r>
            <a:r>
              <a:rPr lang="bg-BG" b="1" dirty="0"/>
              <a:t>начинът</a:t>
            </a:r>
            <a:r>
              <a:rPr lang="bg-BG" dirty="0"/>
              <a:t> на </a:t>
            </a:r>
            <a:r>
              <a:rPr lang="bg-BG" b="1" dirty="0"/>
              <a:t>стартиране</a:t>
            </a:r>
            <a:r>
              <a:rPr lang="bg-BG" dirty="0"/>
              <a:t> на анимационните ефекти</a:t>
            </a:r>
            <a:endParaRPr lang="en-US" dirty="0"/>
          </a:p>
          <a:p>
            <a:pPr lvl="1"/>
            <a:r>
              <a:rPr lang="en-US" dirty="0"/>
              <a:t>͏</a:t>
            </a:r>
            <a:r>
              <a:rPr lang="en-US" b="1" dirty="0">
                <a:solidFill>
                  <a:schemeClr val="bg1"/>
                </a:solidFill>
              </a:rPr>
              <a:t>Duration</a:t>
            </a:r>
            <a:r>
              <a:rPr lang="en-US" dirty="0"/>
              <a:t> (</a:t>
            </a:r>
            <a:r>
              <a:rPr lang="bg-BG" b="1" dirty="0"/>
              <a:t>Времетраене</a:t>
            </a:r>
            <a:r>
              <a:rPr lang="en-US" dirty="0"/>
              <a:t>)</a:t>
            </a:r>
            <a:endParaRPr lang="bg-BG" dirty="0"/>
          </a:p>
          <a:p>
            <a:pPr lvl="2"/>
            <a:r>
              <a:rPr lang="bg-BG" dirty="0"/>
              <a:t>От </a:t>
            </a:r>
            <a:r>
              <a:rPr lang="bg-BG" b="1" dirty="0"/>
              <a:t>числовата кутия </a:t>
            </a:r>
            <a:r>
              <a:rPr lang="bg-BG" dirty="0"/>
              <a:t>се задава </a:t>
            </a:r>
          </a:p>
          <a:p>
            <a:pPr marL="895350" lvl="2" indent="0">
              <a:spcBef>
                <a:spcPts val="0"/>
              </a:spcBef>
              <a:buNone/>
            </a:pPr>
            <a:r>
              <a:rPr lang="bg-BG" b="1" dirty="0"/>
              <a:t>времетраенето</a:t>
            </a:r>
            <a:r>
              <a:rPr lang="bg-BG" dirty="0"/>
              <a:t> на анимационния ефект</a:t>
            </a:r>
          </a:p>
          <a:p>
            <a:pPr lvl="1"/>
            <a:r>
              <a:rPr lang="en-US" dirty="0"/>
              <a:t>͏</a:t>
            </a:r>
            <a:r>
              <a:rPr lang="en-US" b="1" dirty="0">
                <a:solidFill>
                  <a:schemeClr val="bg1"/>
                </a:solidFill>
              </a:rPr>
              <a:t>Delay</a:t>
            </a:r>
            <a:r>
              <a:rPr lang="en-US" dirty="0"/>
              <a:t> (</a:t>
            </a:r>
            <a:r>
              <a:rPr lang="bg-BG" b="1" dirty="0"/>
              <a:t>Закъснение</a:t>
            </a:r>
            <a:r>
              <a:rPr lang="en-US" dirty="0"/>
              <a:t>)</a:t>
            </a:r>
            <a:endParaRPr lang="bg-BG" dirty="0"/>
          </a:p>
          <a:p>
            <a:pPr lvl="2"/>
            <a:r>
              <a:rPr lang="bg-BG" dirty="0"/>
              <a:t>От </a:t>
            </a:r>
            <a:r>
              <a:rPr lang="bg-BG" b="1" dirty="0"/>
              <a:t>числовата кутия</a:t>
            </a:r>
            <a:r>
              <a:rPr lang="bg-BG" dirty="0"/>
              <a:t> се задава </a:t>
            </a:r>
            <a:r>
              <a:rPr lang="bg-BG" b="1" dirty="0"/>
              <a:t>закъснението</a:t>
            </a:r>
            <a:r>
              <a:rPr lang="bg-BG" dirty="0"/>
              <a:t>, с което да се </a:t>
            </a:r>
            <a:r>
              <a:rPr lang="bg-BG" b="1" dirty="0"/>
              <a:t>появи</a:t>
            </a:r>
            <a:r>
              <a:rPr lang="bg-BG" dirty="0"/>
              <a:t> следващият ефект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61708" y="3564000"/>
            <a:ext cx="4149292" cy="142365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Rectangle 5"/>
          <p:cNvSpPr/>
          <p:nvPr/>
        </p:nvSpPr>
        <p:spPr bwMode="auto">
          <a:xfrm>
            <a:off x="7671000" y="3564000"/>
            <a:ext cx="2430000" cy="396508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7671000" y="3960507"/>
            <a:ext cx="2430000" cy="385663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7671000" y="4346171"/>
            <a:ext cx="2430000" cy="351508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01043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00598" cy="5528766"/>
          </a:xfrm>
        </p:spPr>
        <p:txBody>
          <a:bodyPr>
            <a:normAutofit/>
          </a:bodyPr>
          <a:lstStyle/>
          <a:p>
            <a:r>
              <a:rPr lang="bg-BG" dirty="0"/>
              <a:t>Опциите на </a:t>
            </a:r>
            <a:r>
              <a:rPr lang="bg-BG" b="1" dirty="0"/>
              <a:t>падащта кутия </a:t>
            </a:r>
            <a:r>
              <a:rPr lang="en-US" b="1" dirty="0">
                <a:solidFill>
                  <a:schemeClr val="bg1"/>
                </a:solidFill>
              </a:rPr>
              <a:t>Start</a:t>
            </a:r>
            <a:r>
              <a:rPr lang="en-US" b="1" dirty="0"/>
              <a:t> </a:t>
            </a:r>
            <a:r>
              <a:rPr lang="bg-BG" dirty="0"/>
              <a:t>са:</a:t>
            </a:r>
            <a:endParaRPr lang="en-US" dirty="0"/>
          </a:p>
          <a:p>
            <a:pPr lvl="1"/>
            <a:r>
              <a:rPr lang="en-US" dirty="0"/>
              <a:t>͏</a:t>
            </a:r>
            <a:r>
              <a:rPr lang="en-US" b="1" dirty="0">
                <a:solidFill>
                  <a:schemeClr val="bg1"/>
                </a:solidFill>
              </a:rPr>
              <a:t>On Click </a:t>
            </a:r>
            <a:r>
              <a:rPr lang="bg-BG" dirty="0"/>
              <a:t>(</a:t>
            </a:r>
            <a:r>
              <a:rPr lang="bg-BG" b="1" dirty="0"/>
              <a:t>При щракване</a:t>
            </a:r>
            <a:r>
              <a:rPr lang="bg-BG" dirty="0"/>
              <a:t>)</a:t>
            </a:r>
          </a:p>
          <a:p>
            <a:pPr lvl="2"/>
            <a:r>
              <a:rPr lang="bg-BG" dirty="0"/>
              <a:t>Стартира анимацията </a:t>
            </a:r>
            <a:r>
              <a:rPr lang="bg-BG" b="1" dirty="0"/>
              <a:t>след щракване </a:t>
            </a:r>
            <a:r>
              <a:rPr lang="bg-BG" dirty="0"/>
              <a:t>с </a:t>
            </a:r>
            <a:r>
              <a:rPr lang="bg-BG" b="1" dirty="0"/>
              <a:t>мишката</a:t>
            </a:r>
          </a:p>
          <a:p>
            <a:pPr lvl="1"/>
            <a:r>
              <a:rPr lang="en-US" dirty="0"/>
              <a:t>͏</a:t>
            </a:r>
            <a:r>
              <a:rPr lang="en-US" b="1" dirty="0">
                <a:solidFill>
                  <a:schemeClr val="bg1"/>
                </a:solidFill>
              </a:rPr>
              <a:t>With Previous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dirty="0"/>
              <a:t>(</a:t>
            </a:r>
            <a:r>
              <a:rPr lang="bg-BG" b="1" dirty="0"/>
              <a:t>С предишния</a:t>
            </a:r>
            <a:r>
              <a:rPr lang="bg-BG" dirty="0"/>
              <a:t>)</a:t>
            </a:r>
            <a:endParaRPr lang="en-US" dirty="0"/>
          </a:p>
          <a:p>
            <a:pPr lvl="2"/>
            <a:r>
              <a:rPr lang="bg-BG" dirty="0"/>
              <a:t>Стартира анимацията </a:t>
            </a:r>
            <a:r>
              <a:rPr lang="bg-BG" b="1" dirty="0"/>
              <a:t>с предишната</a:t>
            </a:r>
          </a:p>
          <a:p>
            <a:pPr lvl="1"/>
            <a:r>
              <a:rPr lang="en-US" dirty="0"/>
              <a:t>͏</a:t>
            </a:r>
            <a:r>
              <a:rPr lang="en-US" b="1" dirty="0">
                <a:solidFill>
                  <a:schemeClr val="bg1"/>
                </a:solidFill>
              </a:rPr>
              <a:t>After Previous </a:t>
            </a:r>
            <a:r>
              <a:rPr lang="en-US" dirty="0"/>
              <a:t>(</a:t>
            </a:r>
            <a:r>
              <a:rPr lang="bg-BG" b="1" dirty="0"/>
              <a:t>След предишния</a:t>
            </a:r>
            <a:r>
              <a:rPr lang="en-US" dirty="0"/>
              <a:t>)</a:t>
            </a:r>
            <a:endParaRPr lang="bg-BG" dirty="0"/>
          </a:p>
          <a:p>
            <a:pPr lvl="2"/>
            <a:r>
              <a:rPr lang="bg-BG" dirty="0"/>
              <a:t>Стартира анимацията </a:t>
            </a:r>
            <a:r>
              <a:rPr lang="bg-BG" b="1" dirty="0"/>
              <a:t>след предишната</a:t>
            </a: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12" b="2451"/>
          <a:stretch/>
        </p:blipFill>
        <p:spPr>
          <a:xfrm>
            <a:off x="7895810" y="3249000"/>
            <a:ext cx="3157232" cy="184673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91212" y="3735418"/>
            <a:ext cx="1828144" cy="1444081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>
            <a:off x="10326000" y="4014000"/>
            <a:ext cx="115714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10833859" y="4477250"/>
            <a:ext cx="115714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10833859" y="4939950"/>
            <a:ext cx="115714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724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sz="quarter" idx="10"/>
          </p:nvPr>
        </p:nvSpPr>
        <p:spPr>
          <a:xfrm>
            <a:off x="615109" y="4704824"/>
            <a:ext cx="10961783" cy="1874175"/>
          </a:xfrm>
        </p:spPr>
        <p:txBody>
          <a:bodyPr/>
          <a:lstStyle/>
          <a:p>
            <a:r>
              <a:rPr lang="ru-RU" dirty="0"/>
              <a:t>͏Анимационни ефекти при преход между слайдове</a:t>
            </a:r>
            <a:endParaRPr lang="en-US" dirty="0"/>
          </a:p>
        </p:txBody>
      </p:sp>
      <p:pic>
        <p:nvPicPr>
          <p:cNvPr id="1026" name="Picture 2" descr="Sensational slide transitions in PowerPoint: Epic title slide transition |  BrightCarb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9125" y="1089000"/>
            <a:ext cx="4173750" cy="2416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1951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11000" y="1196125"/>
            <a:ext cx="12081000" cy="5528766"/>
          </a:xfrm>
        </p:spPr>
        <p:txBody>
          <a:bodyPr/>
          <a:lstStyle/>
          <a:p>
            <a:r>
              <a:rPr lang="bg-BG" b="1" dirty="0"/>
              <a:t>Преходите</a:t>
            </a:r>
            <a:r>
              <a:rPr lang="bg-BG" dirty="0"/>
              <a:t> между </a:t>
            </a:r>
            <a:r>
              <a:rPr lang="bg-BG" b="1" dirty="0"/>
              <a:t>слайдовете</a:t>
            </a:r>
            <a:r>
              <a:rPr lang="bg-BG" dirty="0"/>
              <a:t> са </a:t>
            </a:r>
            <a:r>
              <a:rPr lang="bg-BG" b="1" dirty="0"/>
              <a:t>подобни</a:t>
            </a:r>
            <a:r>
              <a:rPr lang="bg-BG" dirty="0"/>
              <a:t> на </a:t>
            </a:r>
            <a:r>
              <a:rPr lang="bg-BG" b="1" dirty="0"/>
              <a:t>анимационните</a:t>
            </a:r>
            <a:r>
              <a:rPr lang="bg-BG" dirty="0"/>
              <a:t> </a:t>
            </a:r>
            <a:r>
              <a:rPr lang="bg-BG" b="1" dirty="0"/>
              <a:t>ефекти</a:t>
            </a:r>
            <a:r>
              <a:rPr lang="bg-BG" dirty="0"/>
              <a:t> на елементи от слайд</a:t>
            </a:r>
          </a:p>
          <a:p>
            <a:r>
              <a:rPr lang="bg-BG" b="1" dirty="0"/>
              <a:t>Анимациите</a:t>
            </a:r>
            <a:r>
              <a:rPr lang="bg-BG" dirty="0"/>
              <a:t> между слайдовете са начина на </a:t>
            </a:r>
            <a:r>
              <a:rPr lang="bg-BG" b="1" dirty="0"/>
              <a:t>появяване</a:t>
            </a:r>
            <a:r>
              <a:rPr lang="bg-BG" dirty="0"/>
              <a:t> на </a:t>
            </a:r>
            <a:r>
              <a:rPr lang="bg-BG" b="1" dirty="0"/>
              <a:t>слайд</a:t>
            </a:r>
            <a:r>
              <a:rPr lang="bg-BG" dirty="0"/>
              <a:t> в </a:t>
            </a:r>
            <a:r>
              <a:rPr lang="bg-BG" b="1" dirty="0"/>
              <a:t>презентация</a:t>
            </a:r>
          </a:p>
          <a:p>
            <a:r>
              <a:rPr lang="bg-BG" b="1" dirty="0"/>
              <a:t>Преходите</a:t>
            </a:r>
            <a:r>
              <a:rPr lang="bg-BG" dirty="0"/>
              <a:t> се </a:t>
            </a:r>
            <a:r>
              <a:rPr lang="bg-BG" b="1" dirty="0"/>
              <a:t>задават</a:t>
            </a:r>
            <a:r>
              <a:rPr lang="bg-BG" dirty="0"/>
              <a:t> и </a:t>
            </a:r>
            <a:r>
              <a:rPr lang="bg-BG" b="1" dirty="0"/>
              <a:t>настройват</a:t>
            </a:r>
            <a:r>
              <a:rPr lang="bg-BG" dirty="0"/>
              <a:t> от </a:t>
            </a:r>
            <a:r>
              <a:rPr lang="bg-BG" b="1" dirty="0"/>
              <a:t>менюто </a:t>
            </a:r>
            <a:r>
              <a:rPr lang="en-US" b="1" dirty="0">
                <a:solidFill>
                  <a:schemeClr val="bg1"/>
                </a:solidFill>
              </a:rPr>
              <a:t>Transition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͏Анимационни ефекти между слайдове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2246" y="4869000"/>
            <a:ext cx="11267508" cy="133759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151907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Click="0" advTm="5000">
        <p15:prstTrans prst="curtains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11000" y="1196125"/>
            <a:ext cx="12009444" cy="5528766"/>
          </a:xfrm>
        </p:spPr>
        <p:txBody>
          <a:bodyPr/>
          <a:lstStyle/>
          <a:p>
            <a:r>
              <a:rPr lang="bg-BG" b="1" dirty="0"/>
              <a:t>Преходите</a:t>
            </a:r>
            <a:r>
              <a:rPr lang="bg-BG" dirty="0"/>
              <a:t> между слайдовете се </a:t>
            </a:r>
            <a:r>
              <a:rPr lang="bg-BG" b="1" dirty="0"/>
              <a:t>задават</a:t>
            </a:r>
            <a:r>
              <a:rPr lang="bg-BG" dirty="0"/>
              <a:t> от </a:t>
            </a:r>
            <a:r>
              <a:rPr lang="bg-BG" b="1" dirty="0"/>
              <a:t>панела </a:t>
            </a:r>
            <a:r>
              <a:rPr lang="en-US" b="1" dirty="0">
                <a:solidFill>
                  <a:schemeClr val="bg1"/>
                </a:solidFill>
              </a:rPr>
              <a:t>Transition to This Slide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Преходи между слайдове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" r="137"/>
          <a:stretch/>
        </p:blipFill>
        <p:spPr>
          <a:xfrm>
            <a:off x="3846000" y="2463019"/>
            <a:ext cx="4500000" cy="119410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89" b="21173"/>
          <a:stretch/>
        </p:blipFill>
        <p:spPr>
          <a:xfrm>
            <a:off x="2766000" y="3339000"/>
            <a:ext cx="7494673" cy="284987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63295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120598" cy="5528766"/>
          </a:xfrm>
        </p:spPr>
        <p:txBody>
          <a:bodyPr/>
          <a:lstStyle/>
          <a:p>
            <a:r>
              <a:rPr lang="bg-BG" dirty="0"/>
              <a:t>Както и при анимациите при елементи, можете да настройвате </a:t>
            </a:r>
            <a:r>
              <a:rPr lang="bg-BG" b="1" dirty="0"/>
              <a:t>допълнителни характеристики </a:t>
            </a:r>
            <a:r>
              <a:rPr lang="bg-BG" dirty="0"/>
              <a:t>на прехода от </a:t>
            </a:r>
            <a:r>
              <a:rPr lang="bg-BG" b="1" dirty="0"/>
              <a:t>падащото менюто </a:t>
            </a:r>
            <a:r>
              <a:rPr lang="en-US" b="1" dirty="0">
                <a:solidFill>
                  <a:schemeClr val="bg1"/>
                </a:solidFill>
              </a:rPr>
              <a:t>Effect Options </a:t>
            </a:r>
            <a:r>
              <a:rPr lang="bg-BG" dirty="0"/>
              <a:t>(</a:t>
            </a:r>
            <a:r>
              <a:rPr lang="bg-BG" b="1" dirty="0"/>
              <a:t>Опции за ефект</a:t>
            </a:r>
            <a:r>
              <a:rPr lang="bg-BG" dirty="0"/>
              <a:t>)</a:t>
            </a:r>
          </a:p>
          <a:p>
            <a:pPr lvl="1"/>
            <a:r>
              <a:rPr lang="bg-BG" b="1" dirty="0"/>
              <a:t>Характеристиките</a:t>
            </a:r>
            <a:r>
              <a:rPr lang="bg-BG" dirty="0"/>
              <a:t> зависят от </a:t>
            </a:r>
            <a:r>
              <a:rPr lang="bg-BG" b="1" dirty="0"/>
              <a:t>избрания ефект</a:t>
            </a:r>
          </a:p>
          <a:p>
            <a:pPr lvl="1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Options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06000" y="1854000"/>
            <a:ext cx="1203696" cy="174047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3" t="47320" r="4853" b="1993"/>
          <a:stretch/>
        </p:blipFill>
        <p:spPr>
          <a:xfrm>
            <a:off x="8076000" y="3370404"/>
            <a:ext cx="2610000" cy="294525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62363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11000" y="1196125"/>
            <a:ext cx="12009444" cy="5528766"/>
          </a:xfrm>
        </p:spPr>
        <p:txBody>
          <a:bodyPr>
            <a:normAutofit fontScale="92500"/>
          </a:bodyPr>
          <a:lstStyle/>
          <a:p>
            <a:r>
              <a:rPr lang="bg-BG" dirty="0"/>
              <a:t>От </a:t>
            </a:r>
            <a:r>
              <a:rPr lang="bg-BG" b="1" dirty="0"/>
              <a:t>панела</a:t>
            </a:r>
            <a:r>
              <a:rPr lang="bg-BG" dirty="0"/>
              <a:t> </a:t>
            </a:r>
            <a:r>
              <a:rPr lang="en-US" b="1" dirty="0">
                <a:solidFill>
                  <a:schemeClr val="bg1"/>
                </a:solidFill>
              </a:rPr>
              <a:t>Timing</a:t>
            </a:r>
            <a:r>
              <a:rPr lang="en-US" dirty="0"/>
              <a:t> </a:t>
            </a:r>
            <a:r>
              <a:rPr lang="bg-BG" dirty="0"/>
              <a:t>(</a:t>
            </a:r>
            <a:r>
              <a:rPr lang="bg-BG" b="1" dirty="0"/>
              <a:t>Време</a:t>
            </a:r>
            <a:r>
              <a:rPr lang="bg-BG" dirty="0"/>
              <a:t>) се задават </a:t>
            </a:r>
            <a:r>
              <a:rPr lang="bg-BG" b="1" dirty="0"/>
              <a:t>времеви </a:t>
            </a:r>
            <a:r>
              <a:rPr lang="bg-BG" dirty="0"/>
              <a:t>и</a:t>
            </a:r>
            <a:r>
              <a:rPr lang="bg-BG" b="1" dirty="0"/>
              <a:t> звукови</a:t>
            </a:r>
            <a:r>
              <a:rPr lang="bg-BG" dirty="0"/>
              <a:t> </a:t>
            </a:r>
            <a:r>
              <a:rPr lang="bg-BG" b="1" dirty="0"/>
              <a:t>настройки</a:t>
            </a:r>
            <a:r>
              <a:rPr lang="bg-BG" dirty="0"/>
              <a:t> на прехода:</a:t>
            </a:r>
          </a:p>
          <a:p>
            <a:pPr lvl="1"/>
            <a:r>
              <a:rPr lang="en-US" dirty="0"/>
              <a:t>͏</a:t>
            </a:r>
            <a:r>
              <a:rPr lang="en-US" b="1" dirty="0">
                <a:solidFill>
                  <a:schemeClr val="bg1"/>
                </a:solidFill>
              </a:rPr>
              <a:t>Sound</a:t>
            </a:r>
            <a:r>
              <a:rPr lang="bg-BG" dirty="0"/>
              <a:t> </a:t>
            </a:r>
            <a:r>
              <a:rPr lang="en-US" dirty="0"/>
              <a:t>(</a:t>
            </a:r>
            <a:r>
              <a:rPr lang="bg-BG" b="1" dirty="0"/>
              <a:t>Звук</a:t>
            </a:r>
            <a:r>
              <a:rPr lang="en-US" dirty="0"/>
              <a:t>)</a:t>
            </a:r>
          </a:p>
          <a:p>
            <a:pPr lvl="2">
              <a:spcAft>
                <a:spcPts val="0"/>
              </a:spcAft>
            </a:pPr>
            <a:r>
              <a:rPr lang="bg-BG" dirty="0"/>
              <a:t>От </a:t>
            </a:r>
            <a:r>
              <a:rPr lang="bg-BG" b="1" dirty="0"/>
              <a:t>падащата кутия</a:t>
            </a:r>
            <a:r>
              <a:rPr lang="bg-BG" dirty="0"/>
              <a:t> може да</a:t>
            </a:r>
          </a:p>
          <a:p>
            <a:pPr marL="895350" lvl="2" indent="0">
              <a:spcBef>
                <a:spcPts val="0"/>
              </a:spcBef>
              <a:buNone/>
            </a:pPr>
            <a:r>
              <a:rPr lang="bg-BG" dirty="0"/>
              <a:t>изберете </a:t>
            </a:r>
            <a:r>
              <a:rPr lang="bg-BG" b="1" dirty="0"/>
              <a:t>звук</a:t>
            </a:r>
            <a:r>
              <a:rPr lang="bg-BG" dirty="0"/>
              <a:t> при прехода</a:t>
            </a:r>
          </a:p>
          <a:p>
            <a:pPr lvl="1"/>
            <a:r>
              <a:rPr lang="en-US" dirty="0"/>
              <a:t>͏</a:t>
            </a:r>
            <a:r>
              <a:rPr lang="en-US" b="1" dirty="0">
                <a:solidFill>
                  <a:schemeClr val="bg1"/>
                </a:solidFill>
              </a:rPr>
              <a:t>Duration</a:t>
            </a:r>
            <a:r>
              <a:rPr lang="en-US" dirty="0"/>
              <a:t> (</a:t>
            </a:r>
            <a:r>
              <a:rPr lang="bg-BG" b="1" dirty="0"/>
              <a:t>Времетраене</a:t>
            </a:r>
            <a:r>
              <a:rPr lang="en-US" dirty="0"/>
              <a:t>)</a:t>
            </a:r>
            <a:endParaRPr lang="bg-BG" dirty="0"/>
          </a:p>
          <a:p>
            <a:pPr lvl="2"/>
            <a:r>
              <a:rPr lang="bg-BG" dirty="0"/>
              <a:t>От </a:t>
            </a:r>
            <a:r>
              <a:rPr lang="bg-BG" b="1" dirty="0"/>
              <a:t>числовата кутия </a:t>
            </a:r>
            <a:r>
              <a:rPr lang="bg-BG" dirty="0"/>
              <a:t>се задава </a:t>
            </a:r>
            <a:r>
              <a:rPr lang="bg-BG" b="1" dirty="0"/>
              <a:t>времетраенето</a:t>
            </a:r>
            <a:r>
              <a:rPr lang="bg-BG" dirty="0"/>
              <a:t> на</a:t>
            </a:r>
            <a:r>
              <a:rPr lang="en-US" dirty="0"/>
              <a:t> </a:t>
            </a:r>
            <a:r>
              <a:rPr lang="bg-BG" dirty="0"/>
              <a:t>прехода</a:t>
            </a:r>
          </a:p>
          <a:p>
            <a:pPr lvl="1"/>
            <a:r>
              <a:rPr lang="en-US" dirty="0"/>
              <a:t>͏</a:t>
            </a:r>
            <a:r>
              <a:rPr lang="en-US" b="1" dirty="0">
                <a:solidFill>
                  <a:schemeClr val="bg1"/>
                </a:solidFill>
              </a:rPr>
              <a:t>Advance Slide </a:t>
            </a:r>
            <a:r>
              <a:rPr lang="en-US" dirty="0"/>
              <a:t>(</a:t>
            </a:r>
            <a:r>
              <a:rPr lang="bg-BG" b="1" dirty="0"/>
              <a:t>Премини към следващ слайд</a:t>
            </a:r>
            <a:r>
              <a:rPr lang="en-US" dirty="0"/>
              <a:t>)</a:t>
            </a:r>
            <a:endParaRPr lang="bg-BG" dirty="0"/>
          </a:p>
          <a:p>
            <a:pPr lvl="2"/>
            <a:r>
              <a:rPr lang="bg-BG" dirty="0"/>
              <a:t>От </a:t>
            </a:r>
            <a:r>
              <a:rPr lang="bg-BG" b="1" dirty="0"/>
              <a:t>опциите</a:t>
            </a:r>
            <a:r>
              <a:rPr lang="bg-BG" dirty="0"/>
              <a:t> се задава </a:t>
            </a:r>
            <a:r>
              <a:rPr lang="bg-BG" b="1" dirty="0"/>
              <a:t>начина</a:t>
            </a:r>
            <a:r>
              <a:rPr lang="bg-BG" dirty="0"/>
              <a:t> за </a:t>
            </a:r>
            <a:r>
              <a:rPr lang="bg-BG" b="1" dirty="0"/>
              <a:t>преминаване</a:t>
            </a:r>
            <a:r>
              <a:rPr lang="bg-BG" dirty="0"/>
              <a:t> към следващ слайд</a:t>
            </a:r>
          </a:p>
          <a:p>
            <a:pPr lvl="1"/>
            <a:endParaRPr lang="bg-BG" dirty="0"/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91000" y="2551256"/>
            <a:ext cx="4875265" cy="153551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7" name="Rectangle 6"/>
          <p:cNvSpPr/>
          <p:nvPr/>
        </p:nvSpPr>
        <p:spPr bwMode="auto">
          <a:xfrm>
            <a:off x="6590999" y="2574000"/>
            <a:ext cx="2744999" cy="40500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590999" y="2979000"/>
            <a:ext cx="2744999" cy="40500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9336000" y="2574000"/>
            <a:ext cx="2130266" cy="121500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97738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66000" y="1196125"/>
            <a:ext cx="12126000" cy="5528766"/>
          </a:xfrm>
        </p:spPr>
        <p:txBody>
          <a:bodyPr/>
          <a:lstStyle/>
          <a:p>
            <a:r>
              <a:rPr lang="bg-BG" dirty="0"/>
              <a:t>Опциите на </a:t>
            </a:r>
            <a:r>
              <a:rPr lang="bg-BG" b="1" dirty="0"/>
              <a:t>падащта кутия </a:t>
            </a:r>
            <a:r>
              <a:rPr lang="en-US" b="1" dirty="0">
                <a:solidFill>
                  <a:schemeClr val="bg1"/>
                </a:solidFill>
              </a:rPr>
              <a:t>Advance Slide</a:t>
            </a:r>
            <a:r>
              <a:rPr lang="en-US" b="1" dirty="0"/>
              <a:t> </a:t>
            </a:r>
            <a:r>
              <a:rPr lang="bg-BG" dirty="0"/>
              <a:t>са:</a:t>
            </a:r>
          </a:p>
          <a:p>
            <a:pPr lvl="1"/>
            <a:r>
              <a:rPr lang="en-US" dirty="0"/>
              <a:t>͏</a:t>
            </a:r>
            <a:r>
              <a:rPr lang="en-US" b="1" dirty="0">
                <a:solidFill>
                  <a:schemeClr val="bg1"/>
                </a:solidFill>
              </a:rPr>
              <a:t>On Mouse Click </a:t>
            </a:r>
            <a:r>
              <a:rPr lang="en-US" dirty="0"/>
              <a:t>(</a:t>
            </a:r>
            <a:r>
              <a:rPr lang="bg-BG" b="1" dirty="0"/>
              <a:t>При щракване с мишката</a:t>
            </a:r>
            <a:r>
              <a:rPr lang="en-US" dirty="0"/>
              <a:t>)</a:t>
            </a:r>
          </a:p>
          <a:p>
            <a:pPr lvl="2"/>
            <a:r>
              <a:rPr lang="bg-BG" b="1" dirty="0"/>
              <a:t>Слайдът преминава </a:t>
            </a:r>
            <a:r>
              <a:rPr lang="bg-BG" dirty="0"/>
              <a:t>към следващия, когато </a:t>
            </a:r>
            <a:r>
              <a:rPr lang="bg-BG" b="1" dirty="0"/>
              <a:t>щракнем</a:t>
            </a:r>
            <a:r>
              <a:rPr lang="bg-BG" dirty="0"/>
              <a:t> с </a:t>
            </a:r>
            <a:r>
              <a:rPr lang="bg-BG" b="1" dirty="0"/>
              <a:t>мишката</a:t>
            </a:r>
          </a:p>
          <a:p>
            <a:pPr lvl="1"/>
            <a:r>
              <a:rPr lang="en-US" dirty="0"/>
              <a:t>͏</a:t>
            </a:r>
            <a:r>
              <a:rPr lang="en-US" b="1" dirty="0">
                <a:solidFill>
                  <a:schemeClr val="bg1"/>
                </a:solidFill>
              </a:rPr>
              <a:t>After</a:t>
            </a:r>
            <a:r>
              <a:rPr lang="en-US" dirty="0"/>
              <a:t> (</a:t>
            </a:r>
            <a:r>
              <a:rPr lang="bg-BG" b="1" dirty="0"/>
              <a:t>След</a:t>
            </a:r>
            <a:r>
              <a:rPr lang="en-US" dirty="0"/>
              <a:t>)</a:t>
            </a:r>
            <a:endParaRPr lang="bg-BG" dirty="0"/>
          </a:p>
          <a:p>
            <a:pPr lvl="2"/>
            <a:r>
              <a:rPr lang="bg-BG" dirty="0"/>
              <a:t>Преминава към следващия слайд </a:t>
            </a:r>
            <a:r>
              <a:rPr lang="bg-BG" b="1" dirty="0"/>
              <a:t>след</a:t>
            </a:r>
            <a:r>
              <a:rPr lang="bg-BG" dirty="0"/>
              <a:t> толкова </a:t>
            </a:r>
            <a:r>
              <a:rPr lang="bg-BG" b="1" dirty="0"/>
              <a:t>време</a:t>
            </a:r>
            <a:r>
              <a:rPr lang="bg-BG" dirty="0"/>
              <a:t>, колкото </a:t>
            </a:r>
            <a:r>
              <a:rPr lang="bg-BG" b="1" dirty="0"/>
              <a:t>изпишем</a:t>
            </a:r>
            <a:r>
              <a:rPr lang="bg-BG" dirty="0"/>
              <a:t> в </a:t>
            </a:r>
            <a:r>
              <a:rPr lang="bg-BG" b="1" dirty="0"/>
              <a:t>числовата кутия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 Slide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4800" y="5166068"/>
            <a:ext cx="4722399" cy="148737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cxnSp>
        <p:nvCxnSpPr>
          <p:cNvPr id="6" name="Straight Arrow Connector 5"/>
          <p:cNvCxnSpPr/>
          <p:nvPr/>
        </p:nvCxnSpPr>
        <p:spPr>
          <a:xfrm flipH="1">
            <a:off x="8321839" y="5769000"/>
            <a:ext cx="115714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8533633" y="6174000"/>
            <a:ext cx="115714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570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57798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66412" y="6397196"/>
            <a:ext cx="42882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6766" y="1314000"/>
            <a:ext cx="11798468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741000" y="1504870"/>
            <a:ext cx="10342617" cy="4894130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Анимационен ефект </a:t>
            </a:r>
            <a:r>
              <a:rPr lang="bg-BG" sz="2800" dirty="0">
                <a:solidFill>
                  <a:schemeClr val="bg2"/>
                </a:solidFill>
              </a:rPr>
              <a:t>– </a:t>
            </a:r>
            <a:r>
              <a:rPr lang="bg-BG" sz="2800" b="1" dirty="0">
                <a:solidFill>
                  <a:schemeClr val="bg2"/>
                </a:solidFill>
              </a:rPr>
              <a:t>поява</a:t>
            </a:r>
            <a:r>
              <a:rPr lang="bg-BG" sz="2800" dirty="0">
                <a:solidFill>
                  <a:schemeClr val="bg2"/>
                </a:solidFill>
              </a:rPr>
              <a:t> по </a:t>
            </a:r>
            <a:r>
              <a:rPr lang="bg-BG" sz="2800" b="1" dirty="0">
                <a:solidFill>
                  <a:schemeClr val="bg2"/>
                </a:solidFill>
              </a:rPr>
              <a:t>различно време </a:t>
            </a:r>
            <a:r>
              <a:rPr lang="bg-BG" sz="2800" dirty="0">
                <a:solidFill>
                  <a:schemeClr val="bg2"/>
                </a:solidFill>
              </a:rPr>
              <a:t>или </a:t>
            </a:r>
            <a:r>
              <a:rPr lang="bg-BG" sz="2800" b="1" dirty="0">
                <a:solidFill>
                  <a:schemeClr val="bg2"/>
                </a:solidFill>
              </a:rPr>
              <a:t>изменение</a:t>
            </a:r>
            <a:r>
              <a:rPr lang="bg-BG" sz="2800" dirty="0">
                <a:solidFill>
                  <a:schemeClr val="bg2"/>
                </a:solidFill>
              </a:rPr>
              <a:t> на </a:t>
            </a:r>
            <a:r>
              <a:rPr lang="bg-BG" sz="2800" b="1" dirty="0">
                <a:solidFill>
                  <a:schemeClr val="bg2"/>
                </a:solidFill>
              </a:rPr>
              <a:t>обектите</a:t>
            </a:r>
            <a:r>
              <a:rPr lang="bg-BG" sz="2800" dirty="0">
                <a:solidFill>
                  <a:schemeClr val="bg2"/>
                </a:solidFill>
              </a:rPr>
              <a:t>, които се съдържат в един слайд, или при </a:t>
            </a:r>
            <a:r>
              <a:rPr lang="bg-BG" sz="2800" b="1" dirty="0">
                <a:solidFill>
                  <a:schemeClr val="bg2"/>
                </a:solidFill>
              </a:rPr>
              <a:t>преход</a:t>
            </a:r>
            <a:r>
              <a:rPr lang="bg-BG" sz="2800" dirty="0">
                <a:solidFill>
                  <a:schemeClr val="bg2"/>
                </a:solidFill>
              </a:rPr>
              <a:t> </a:t>
            </a:r>
            <a:r>
              <a:rPr lang="bg-BG" sz="2800" b="1" dirty="0">
                <a:solidFill>
                  <a:schemeClr val="bg2"/>
                </a:solidFill>
              </a:rPr>
              <a:t>между слайдове</a:t>
            </a:r>
            <a:endParaRPr lang="ru-RU" sz="2800" dirty="0">
              <a:solidFill>
                <a:schemeClr val="bg2"/>
              </a:solidFill>
            </a:endParaRP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Видове анимационни ефекти</a:t>
            </a:r>
            <a:r>
              <a:rPr lang="bg-BG" sz="2800" b="1" dirty="0">
                <a:solidFill>
                  <a:schemeClr val="bg2"/>
                </a:solidFill>
              </a:rPr>
              <a:t>:</a:t>
            </a:r>
          </a:p>
          <a:p>
            <a:pPr lvl="1"/>
            <a:r>
              <a:rPr lang="en-US" sz="2400" b="1" dirty="0">
                <a:solidFill>
                  <a:schemeClr val="bg2"/>
                </a:solidFill>
              </a:rPr>
              <a:t>Entrance</a:t>
            </a:r>
            <a:r>
              <a:rPr lang="en-US" sz="2400" dirty="0">
                <a:solidFill>
                  <a:schemeClr val="bg2"/>
                </a:solidFill>
              </a:rPr>
              <a:t> (</a:t>
            </a:r>
            <a:r>
              <a:rPr lang="bg-BG" sz="2400" b="1" dirty="0">
                <a:solidFill>
                  <a:schemeClr val="bg2"/>
                </a:solidFill>
              </a:rPr>
              <a:t>въвеждащи</a:t>
            </a:r>
            <a:r>
              <a:rPr lang="en-US" sz="2400" dirty="0">
                <a:solidFill>
                  <a:schemeClr val="bg2"/>
                </a:solidFill>
              </a:rPr>
              <a:t>)</a:t>
            </a:r>
          </a:p>
          <a:p>
            <a:pPr lvl="1"/>
            <a:r>
              <a:rPr lang="en-US" sz="2400" b="1" dirty="0">
                <a:solidFill>
                  <a:schemeClr val="bg2"/>
                </a:solidFill>
              </a:rPr>
              <a:t>͏Emphasis</a:t>
            </a:r>
            <a:r>
              <a:rPr lang="en-US" sz="2400" dirty="0">
                <a:solidFill>
                  <a:schemeClr val="bg2"/>
                </a:solidFill>
              </a:rPr>
              <a:t> (</a:t>
            </a:r>
            <a:r>
              <a:rPr lang="bg-BG" sz="2400" b="1" dirty="0">
                <a:solidFill>
                  <a:schemeClr val="bg2"/>
                </a:solidFill>
              </a:rPr>
              <a:t>акцентиращи</a:t>
            </a:r>
            <a:r>
              <a:rPr lang="en-US" sz="2400" dirty="0">
                <a:solidFill>
                  <a:schemeClr val="bg2"/>
                </a:solidFill>
              </a:rPr>
              <a:t>)</a:t>
            </a:r>
          </a:p>
          <a:p>
            <a:pPr lvl="1"/>
            <a:r>
              <a:rPr lang="en-US" sz="2400" b="1" dirty="0">
                <a:solidFill>
                  <a:schemeClr val="bg2"/>
                </a:solidFill>
              </a:rPr>
              <a:t>͏Exit</a:t>
            </a:r>
            <a:r>
              <a:rPr lang="en-US" sz="2400" dirty="0">
                <a:solidFill>
                  <a:schemeClr val="bg2"/>
                </a:solidFill>
              </a:rPr>
              <a:t> (</a:t>
            </a:r>
            <a:r>
              <a:rPr lang="bg-BG" sz="2400" b="1" dirty="0">
                <a:solidFill>
                  <a:schemeClr val="bg2"/>
                </a:solidFill>
              </a:rPr>
              <a:t>завършващи</a:t>
            </a:r>
            <a:r>
              <a:rPr lang="en-US" sz="2400" dirty="0">
                <a:solidFill>
                  <a:schemeClr val="bg2"/>
                </a:solidFill>
              </a:rPr>
              <a:t>)</a:t>
            </a:r>
          </a:p>
          <a:p>
            <a:pPr lvl="1"/>
            <a:r>
              <a:rPr lang="en-US" sz="2400" b="1" dirty="0">
                <a:solidFill>
                  <a:schemeClr val="bg2"/>
                </a:solidFill>
              </a:rPr>
              <a:t>͏Motion paths</a:t>
            </a:r>
            <a:r>
              <a:rPr lang="en-US" sz="2400" dirty="0">
                <a:solidFill>
                  <a:schemeClr val="bg2"/>
                </a:solidFill>
              </a:rPr>
              <a:t> (</a:t>
            </a:r>
            <a:r>
              <a:rPr lang="bg-BG" sz="2400" b="1" dirty="0">
                <a:solidFill>
                  <a:schemeClr val="bg2"/>
                </a:solidFill>
              </a:rPr>
              <a:t>траектории на движение</a:t>
            </a:r>
            <a:r>
              <a:rPr lang="en-US" sz="2400" dirty="0">
                <a:solidFill>
                  <a:schemeClr val="bg2"/>
                </a:solidFill>
              </a:rPr>
              <a:t>)</a:t>
            </a:r>
          </a:p>
          <a:p>
            <a:pPr lvl="1">
              <a:lnSpc>
                <a:spcPct val="100000"/>
              </a:lnSpc>
              <a:buClr>
                <a:schemeClr val="bg2"/>
              </a:buClr>
            </a:pPr>
            <a:endParaRPr lang="en-US" sz="22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3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6402</TotalTime>
  <Words>953</Words>
  <Application>Microsoft Office PowerPoint</Application>
  <PresentationFormat>Widescreen</PresentationFormat>
  <Paragraphs>134</Paragraphs>
  <Slides>23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Consolas</vt:lpstr>
      <vt:lpstr>Wingdings</vt:lpstr>
      <vt:lpstr>SoftUni</vt:lpstr>
      <vt:lpstr>Анимационни ефекти и времетраене на слайд</vt:lpstr>
      <vt:lpstr>Съдържание</vt:lpstr>
      <vt:lpstr>͏͏Анимационни ефекти на  елемент от слайд</vt:lpstr>
      <vt:lpstr>Анимационни ефекти на елементи от слайд</vt:lpstr>
      <vt:lpstr>Използване на анимация</vt:lpstr>
      <vt:lpstr>Add Animation</vt:lpstr>
      <vt:lpstr>Entrance</vt:lpstr>
      <vt:lpstr>Emphasis</vt:lpstr>
      <vt:lpstr>Exit</vt:lpstr>
      <vt:lpstr>Motion paths</vt:lpstr>
      <vt:lpstr>Ред на анимационните ефекти</vt:lpstr>
      <vt:lpstr>Effect Options</vt:lpstr>
      <vt:lpstr>Timing</vt:lpstr>
      <vt:lpstr>Start</vt:lpstr>
      <vt:lpstr>͏Анимационни ефекти при преход между слайдове</vt:lpstr>
      <vt:lpstr>͏Анимационни ефекти между слайдове</vt:lpstr>
      <vt:lpstr>Преходи между слайдове</vt:lpstr>
      <vt:lpstr>Effect Options</vt:lpstr>
      <vt:lpstr>Timing</vt:lpstr>
      <vt:lpstr>Advance Slide </vt:lpstr>
      <vt:lpstr>Какво научихме днес?</vt:lpstr>
      <vt:lpstr>Въпроси?</vt:lpstr>
      <vt:lpstr>Лиценз</vt:lpstr>
    </vt:vector>
  </TitlesOfParts>
  <Company>BG-IT-Edu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Анимационни ефекти и времетраене на слайд</dc:title>
  <dc:subject>КМИТ - 6 клас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Zaraliev</cp:lastModifiedBy>
  <cp:revision>1712</cp:revision>
  <dcterms:created xsi:type="dcterms:W3CDTF">2018-05-23T13:08:44Z</dcterms:created>
  <dcterms:modified xsi:type="dcterms:W3CDTF">2026-09-25T09:00:46Z</dcterms:modified>
  <cp:category/>
</cp:coreProperties>
</file>