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3"/>
  </p:notesMasterIdLst>
  <p:handoutMasterIdLst>
    <p:handoutMasterId r:id="rId44"/>
  </p:handoutMasterIdLst>
  <p:sldIdLst>
    <p:sldId id="503" r:id="rId2"/>
    <p:sldId id="276" r:id="rId3"/>
    <p:sldId id="587" r:id="rId4"/>
    <p:sldId id="588" r:id="rId5"/>
    <p:sldId id="589" r:id="rId6"/>
    <p:sldId id="591" r:id="rId7"/>
    <p:sldId id="590" r:id="rId8"/>
    <p:sldId id="592" r:id="rId9"/>
    <p:sldId id="593" r:id="rId10"/>
    <p:sldId id="594" r:id="rId11"/>
    <p:sldId id="595" r:id="rId12"/>
    <p:sldId id="596" r:id="rId13"/>
    <p:sldId id="597" r:id="rId14"/>
    <p:sldId id="598" r:id="rId15"/>
    <p:sldId id="599" r:id="rId16"/>
    <p:sldId id="600" r:id="rId17"/>
    <p:sldId id="601" r:id="rId18"/>
    <p:sldId id="602" r:id="rId19"/>
    <p:sldId id="603" r:id="rId20"/>
    <p:sldId id="604" r:id="rId21"/>
    <p:sldId id="605" r:id="rId22"/>
    <p:sldId id="606" r:id="rId23"/>
    <p:sldId id="607" r:id="rId24"/>
    <p:sldId id="608" r:id="rId25"/>
    <p:sldId id="609" r:id="rId26"/>
    <p:sldId id="612" r:id="rId27"/>
    <p:sldId id="611" r:id="rId28"/>
    <p:sldId id="613" r:id="rId29"/>
    <p:sldId id="614" r:id="rId30"/>
    <p:sldId id="616" r:id="rId31"/>
    <p:sldId id="618" r:id="rId32"/>
    <p:sldId id="617" r:id="rId33"/>
    <p:sldId id="621" r:id="rId34"/>
    <p:sldId id="622" r:id="rId35"/>
    <p:sldId id="623" r:id="rId36"/>
    <p:sldId id="624" r:id="rId37"/>
    <p:sldId id="620" r:id="rId38"/>
    <p:sldId id="625" r:id="rId39"/>
    <p:sldId id="586" r:id="rId40"/>
    <p:sldId id="504" r:id="rId41"/>
    <p:sldId id="50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Компютърна мрежа" id="{8C06866A-E178-44DD-92B5-05AF5F0DD447}">
          <p14:sldIdLst>
            <p14:sldId id="587"/>
            <p14:sldId id="588"/>
            <p14:sldId id="589"/>
            <p14:sldId id="591"/>
            <p14:sldId id="590"/>
            <p14:sldId id="592"/>
          </p14:sldIdLst>
        </p14:section>
        <p14:section name="Достъп до интернет" id="{19889C42-E5C1-4565-A2E5-468C7E1F23E2}">
          <p14:sldIdLst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</p14:sldIdLst>
        </p14:section>
        <p14:section name="Уеб браузър" id="{F604927E-AE52-4C82-ADB4-EC78035CF59A}">
          <p14:sldIdLst>
            <p14:sldId id="608"/>
            <p14:sldId id="609"/>
            <p14:sldId id="612"/>
            <p14:sldId id="611"/>
            <p14:sldId id="613"/>
            <p14:sldId id="614"/>
            <p14:sldId id="616"/>
            <p14:sldId id="618"/>
            <p14:sldId id="617"/>
            <p14:sldId id="621"/>
            <p14:sldId id="622"/>
            <p14:sldId id="623"/>
            <p14:sldId id="624"/>
            <p14:sldId id="620"/>
            <p14:sldId id="625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5214" autoAdjust="0"/>
  </p:normalViewPr>
  <p:slideViewPr>
    <p:cSldViewPr showGuides="1">
      <p:cViewPr varScale="1">
        <p:scale>
          <a:sx n="105" d="100"/>
          <a:sy n="105" d="100"/>
        </p:scale>
        <p:origin x="828" y="10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90489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54776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94540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00989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58619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eedtest.net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994508"/>
            <a:ext cx="11083636" cy="714491"/>
          </a:xfrm>
        </p:spPr>
        <p:txBody>
          <a:bodyPr>
            <a:normAutofit/>
          </a:bodyPr>
          <a:lstStyle/>
          <a:p>
            <a:r>
              <a:rPr lang="ru-RU" dirty="0"/>
              <a:t>Основни начини за достъп до Интернет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1563818"/>
          </a:xfrm>
        </p:spPr>
        <p:txBody>
          <a:bodyPr>
            <a:normAutofit fontScale="90000"/>
          </a:bodyPr>
          <a:lstStyle/>
          <a:p>
            <a:r>
              <a:rPr lang="ru-RU" dirty="0"/>
              <a:t>Същност на глобалната </a:t>
            </a:r>
            <a:br>
              <a:rPr lang="en-US" dirty="0"/>
            </a:br>
            <a:r>
              <a:rPr lang="ru-RU" dirty="0"/>
              <a:t>мрежа Интернет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4098" name="Picture 2" descr="A Brief History of the Internet and the World Wide Web - MBR Journal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3" b="1292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Компютърна мрежа</a:t>
            </a:r>
          </a:p>
          <a:p>
            <a:r>
              <a:rPr lang="bg-BG" dirty="0"/>
              <a:t>Достъп до </a:t>
            </a:r>
            <a:r>
              <a:rPr lang="bg-BG" b="1" dirty="0"/>
              <a:t>Интернет</a:t>
            </a:r>
          </a:p>
          <a:p>
            <a:r>
              <a:rPr lang="bg-BG" dirty="0"/>
              <a:t>Уеб </a:t>
            </a:r>
            <a:r>
              <a:rPr lang="bg-BG" b="1" dirty="0"/>
              <a:t>браузър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450916"/>
            <a:ext cx="10961783" cy="768084"/>
          </a:xfrm>
        </p:spPr>
        <p:txBody>
          <a:bodyPr/>
          <a:lstStyle/>
          <a:p>
            <a:r>
              <a:rPr lang="bg-BG" dirty="0"/>
              <a:t>Компютърна мрежа</a:t>
            </a:r>
            <a:endParaRPr lang="en-US" dirty="0"/>
          </a:p>
        </p:txBody>
      </p:sp>
      <p:pic>
        <p:nvPicPr>
          <p:cNvPr id="1026" name="Picture 2" descr="What is Computer Networking? - GreenCloud - Affordable KVM and Windows V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500" y="684000"/>
            <a:ext cx="6795000" cy="4077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97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/>
          <a:lstStyle/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Компютърната мрежа </a:t>
            </a:r>
            <a:r>
              <a:rPr lang="ru-RU" dirty="0"/>
              <a:t>– </a:t>
            </a:r>
            <a:r>
              <a:rPr lang="ru-RU" b="1" dirty="0"/>
              <a:t>система</a:t>
            </a:r>
            <a:r>
              <a:rPr lang="ru-RU" dirty="0"/>
              <a:t> от </a:t>
            </a:r>
            <a:r>
              <a:rPr lang="ru-RU" b="1" dirty="0"/>
              <a:t>свързани</a:t>
            </a:r>
            <a:r>
              <a:rPr lang="ru-RU" dirty="0"/>
              <a:t> помежду си </a:t>
            </a:r>
            <a:r>
              <a:rPr lang="ru-RU" b="1" dirty="0"/>
              <a:t>хардуерни компоненти </a:t>
            </a:r>
            <a:r>
              <a:rPr lang="ru-RU" dirty="0"/>
              <a:t>и </a:t>
            </a:r>
            <a:r>
              <a:rPr lang="ru-RU" b="1" dirty="0"/>
              <a:t>компютри</a:t>
            </a:r>
            <a:r>
              <a:rPr lang="ru-RU" dirty="0"/>
              <a:t>, която позволява </a:t>
            </a:r>
            <a:r>
              <a:rPr lang="ru-RU" b="1" dirty="0"/>
              <a:t>обмен</a:t>
            </a:r>
            <a:r>
              <a:rPr lang="ru-RU" dirty="0"/>
              <a:t> на </a:t>
            </a:r>
            <a:r>
              <a:rPr lang="ru-RU" b="1" dirty="0"/>
              <a:t>информация</a:t>
            </a:r>
          </a:p>
          <a:p>
            <a:pPr lvl="1"/>
            <a:r>
              <a:rPr lang="ru-RU" dirty="0"/>
              <a:t>Целта на мрежата е да осигури </a:t>
            </a:r>
            <a:r>
              <a:rPr lang="ru-RU" b="1" dirty="0"/>
              <a:t>достъп</a:t>
            </a:r>
            <a:r>
              <a:rPr lang="ru-RU" dirty="0"/>
              <a:t> на </a:t>
            </a:r>
            <a:r>
              <a:rPr lang="ru-RU" b="1" dirty="0"/>
              <a:t>потребителите</a:t>
            </a:r>
            <a:r>
              <a:rPr lang="ru-RU" dirty="0"/>
              <a:t> до </a:t>
            </a:r>
            <a:r>
              <a:rPr lang="ru-RU" b="1" dirty="0">
                <a:solidFill>
                  <a:schemeClr val="bg1"/>
                </a:solidFill>
              </a:rPr>
              <a:t>локалните</a:t>
            </a:r>
            <a:r>
              <a:rPr lang="ru-RU" dirty="0"/>
              <a:t> и </a:t>
            </a:r>
            <a:r>
              <a:rPr lang="ru-RU" b="1" dirty="0">
                <a:solidFill>
                  <a:schemeClr val="bg1"/>
                </a:solidFill>
              </a:rPr>
              <a:t>глобалните</a:t>
            </a:r>
            <a:r>
              <a:rPr lang="ru-RU" dirty="0"/>
              <a:t> </a:t>
            </a:r>
            <a:r>
              <a:rPr lang="ru-RU" b="1" dirty="0"/>
              <a:t>ресурси</a:t>
            </a:r>
            <a:r>
              <a:rPr lang="ru-RU" dirty="0"/>
              <a:t> на всички компютри в мрежата 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компютърна мрежа?</a:t>
            </a:r>
            <a:endParaRPr lang="en-US" dirty="0"/>
          </a:p>
        </p:txBody>
      </p:sp>
      <p:pic>
        <p:nvPicPr>
          <p:cNvPr id="2050" name="Picture 2" descr="Компютърни мрежи - ПГТЕ &quot;Христо Ботев&quot; - Монтана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00" y="4673875"/>
            <a:ext cx="4590000" cy="201290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16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Видовете </a:t>
            </a:r>
            <a:r>
              <a:rPr lang="bg-BG" b="1" dirty="0"/>
              <a:t>компютърни мрежи </a:t>
            </a:r>
            <a:r>
              <a:rPr lang="bg-BG" dirty="0"/>
              <a:t>са:</a:t>
            </a:r>
          </a:p>
          <a:p>
            <a:pPr lvl="1"/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Локална</a:t>
            </a:r>
            <a:r>
              <a:rPr lang="bg-BG" dirty="0"/>
              <a:t> </a:t>
            </a:r>
            <a:r>
              <a:rPr lang="en-US" dirty="0"/>
              <a:t>(</a:t>
            </a:r>
            <a:r>
              <a:rPr lang="en-US" b="1" dirty="0"/>
              <a:t>LAN</a:t>
            </a:r>
            <a:r>
              <a:rPr lang="en-US" dirty="0"/>
              <a:t> – Local Area Network)</a:t>
            </a:r>
            <a:endParaRPr lang="bg-BG" dirty="0"/>
          </a:p>
          <a:p>
            <a:pPr lvl="1"/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Глобална</a:t>
            </a:r>
            <a:r>
              <a:rPr lang="en-US" dirty="0"/>
              <a:t> (</a:t>
            </a:r>
            <a:r>
              <a:rPr lang="en-US" b="1" dirty="0"/>
              <a:t>WAN</a:t>
            </a:r>
            <a:r>
              <a:rPr lang="en-US" dirty="0"/>
              <a:t> – Wide Area Network)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компютърни мрежи</a:t>
            </a:r>
            <a:endParaRPr lang="en-US" dirty="0"/>
          </a:p>
        </p:txBody>
      </p:sp>
      <p:pic>
        <p:nvPicPr>
          <p:cNvPr id="3076" name="Picture 4" descr="Локална мрежа – Уикипеди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01" y="3643014"/>
            <a:ext cx="4770000" cy="286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000" y="3564000"/>
            <a:ext cx="4552481" cy="30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11000" y="1196125"/>
            <a:ext cx="12009444" cy="5528766"/>
          </a:xfrm>
        </p:spPr>
        <p:txBody>
          <a:bodyPr>
            <a:normAutofit/>
          </a:bodyPr>
          <a:lstStyle/>
          <a:p>
            <a:r>
              <a:rPr lang="en-US" sz="3600" dirty="0"/>
              <a:t>͏</a:t>
            </a:r>
            <a:r>
              <a:rPr lang="en-US" sz="3600" b="1" dirty="0">
                <a:solidFill>
                  <a:schemeClr val="bg1"/>
                </a:solidFill>
              </a:rPr>
              <a:t>LAN</a:t>
            </a:r>
            <a:r>
              <a:rPr lang="en-US" sz="3600" dirty="0"/>
              <a:t> (</a:t>
            </a:r>
            <a:r>
              <a:rPr lang="en-US" sz="3600" b="1" dirty="0">
                <a:solidFill>
                  <a:schemeClr val="bg1"/>
                </a:solidFill>
              </a:rPr>
              <a:t>L</a:t>
            </a:r>
            <a:r>
              <a:rPr lang="en-US" sz="3600" dirty="0"/>
              <a:t>ocal </a:t>
            </a:r>
            <a:r>
              <a:rPr lang="en-US" sz="3600" b="1" dirty="0">
                <a:solidFill>
                  <a:schemeClr val="bg1"/>
                </a:solidFill>
              </a:rPr>
              <a:t>A</a:t>
            </a:r>
            <a:r>
              <a:rPr lang="en-US" sz="3600" dirty="0"/>
              <a:t>rea </a:t>
            </a:r>
            <a:r>
              <a:rPr lang="en-US" sz="3600" b="1" dirty="0">
                <a:solidFill>
                  <a:schemeClr val="bg1"/>
                </a:solidFill>
              </a:rPr>
              <a:t>N</a:t>
            </a:r>
            <a:r>
              <a:rPr lang="en-US" sz="3600" dirty="0"/>
              <a:t>etwork</a:t>
            </a:r>
            <a:r>
              <a:rPr lang="bg-BG" sz="3600" dirty="0"/>
              <a:t>)</a:t>
            </a:r>
            <a:r>
              <a:rPr lang="en-US" sz="3600" dirty="0"/>
              <a:t> </a:t>
            </a:r>
            <a:r>
              <a:rPr lang="bg-BG" sz="3600" dirty="0"/>
              <a:t>обслужва </a:t>
            </a:r>
            <a:r>
              <a:rPr lang="bg-BG" sz="3600" b="1" dirty="0"/>
              <a:t>ограничени</a:t>
            </a:r>
            <a:r>
              <a:rPr lang="bg-BG" sz="3600" dirty="0"/>
              <a:t> </a:t>
            </a:r>
            <a:r>
              <a:rPr lang="bg-BG" sz="3600" b="1" dirty="0"/>
              <a:t>зони</a:t>
            </a:r>
            <a:r>
              <a:rPr lang="en-US" sz="3600" b="1" dirty="0"/>
              <a:t> </a:t>
            </a:r>
            <a:r>
              <a:rPr lang="bg-BG" sz="3600" dirty="0"/>
              <a:t>като:</a:t>
            </a:r>
          </a:p>
          <a:p>
            <a:pPr lvl="1"/>
            <a:r>
              <a:rPr lang="bg-BG" sz="3200" dirty="0"/>
              <a:t>Вашия </a:t>
            </a:r>
            <a:r>
              <a:rPr lang="bg-BG" sz="3200" b="1" dirty="0"/>
              <a:t>дом</a:t>
            </a:r>
            <a:r>
              <a:rPr lang="bg-BG" sz="3200" dirty="0"/>
              <a:t> или </a:t>
            </a:r>
            <a:r>
              <a:rPr lang="bg-BG" sz="3200" b="1" dirty="0"/>
              <a:t>училище</a:t>
            </a:r>
          </a:p>
          <a:p>
            <a:pPr lvl="1"/>
            <a:r>
              <a:rPr lang="bg-BG" sz="3200" dirty="0"/>
              <a:t>Отделна </a:t>
            </a:r>
            <a:r>
              <a:rPr lang="bg-BG" sz="3200" b="1" dirty="0"/>
              <a:t>фирма</a:t>
            </a:r>
            <a:r>
              <a:rPr lang="bg-BG" sz="3200" dirty="0"/>
              <a:t> или </a:t>
            </a:r>
            <a:r>
              <a:rPr lang="bg-BG" sz="3200" b="1" dirty="0"/>
              <a:t>организация</a:t>
            </a:r>
          </a:p>
          <a:p>
            <a:pPr lvl="1"/>
            <a:r>
              <a:rPr lang="bg-BG" sz="3200" b="1" dirty="0"/>
              <a:t>Сграда</a:t>
            </a:r>
            <a:r>
              <a:rPr lang="bg-BG" sz="3200" dirty="0"/>
              <a:t> или няколко </a:t>
            </a:r>
            <a:r>
              <a:rPr lang="bg-BG" sz="3200" b="1" dirty="0"/>
              <a:t>близко разположени сгради</a:t>
            </a:r>
            <a:endParaRPr lang="en-US" sz="32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Локална компютърна мрежа </a:t>
            </a:r>
            <a:r>
              <a:rPr lang="en-US" dirty="0"/>
              <a:t>(LAN)</a:t>
            </a:r>
          </a:p>
        </p:txBody>
      </p:sp>
      <p:pic>
        <p:nvPicPr>
          <p:cNvPr id="4100" name="Picture 4" descr="What is a Local Area Network (LAN)?"/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" t="3626" r="3005" b="3609"/>
          <a:stretch/>
        </p:blipFill>
        <p:spPr bwMode="auto">
          <a:xfrm>
            <a:off x="1569116" y="4059000"/>
            <a:ext cx="3581884" cy="263928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What is a LAN (local area network)? - Neos Net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972" y="4059000"/>
            <a:ext cx="4831229" cy="263928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18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WAN</a:t>
            </a:r>
            <a:r>
              <a:rPr lang="en-US" dirty="0"/>
              <a:t> </a:t>
            </a:r>
            <a:r>
              <a:rPr lang="bg-BG" dirty="0"/>
              <a:t>(</a:t>
            </a:r>
            <a:r>
              <a:rPr lang="en-US" b="1" dirty="0">
                <a:solidFill>
                  <a:schemeClr val="bg1"/>
                </a:solidFill>
              </a:rPr>
              <a:t>W</a:t>
            </a:r>
            <a:r>
              <a:rPr lang="en-US" dirty="0"/>
              <a:t>ide </a:t>
            </a:r>
            <a:r>
              <a:rPr lang="en-US" b="1" dirty="0">
                <a:solidFill>
                  <a:schemeClr val="bg1"/>
                </a:solidFill>
              </a:rPr>
              <a:t>A</a:t>
            </a:r>
            <a:r>
              <a:rPr lang="en-US" dirty="0"/>
              <a:t>rea </a:t>
            </a:r>
            <a:r>
              <a:rPr lang="en-US" b="1" dirty="0">
                <a:solidFill>
                  <a:schemeClr val="bg1"/>
                </a:solidFill>
              </a:rPr>
              <a:t>N</a:t>
            </a:r>
            <a:r>
              <a:rPr lang="en-US" dirty="0"/>
              <a:t>etwork</a:t>
            </a:r>
            <a:r>
              <a:rPr lang="bg-BG" dirty="0"/>
              <a:t>)</a:t>
            </a:r>
            <a:r>
              <a:rPr lang="en-US" dirty="0"/>
              <a:t> </a:t>
            </a:r>
            <a:r>
              <a:rPr lang="bg-BG" dirty="0"/>
              <a:t>свързрва </a:t>
            </a:r>
            <a:r>
              <a:rPr lang="bg-BG" b="1" dirty="0"/>
              <a:t>няколко</a:t>
            </a:r>
            <a:r>
              <a:rPr lang="bg-BG" dirty="0"/>
              <a:t> </a:t>
            </a:r>
            <a:r>
              <a:rPr lang="bg-BG" b="1" dirty="0"/>
              <a:t>локални</a:t>
            </a:r>
            <a:r>
              <a:rPr lang="bg-BG" dirty="0"/>
              <a:t> или </a:t>
            </a:r>
            <a:r>
              <a:rPr lang="bg-BG" b="1" dirty="0"/>
              <a:t>регионални</a:t>
            </a:r>
            <a:r>
              <a:rPr lang="bg-BG" dirty="0"/>
              <a:t> </a:t>
            </a:r>
            <a:r>
              <a:rPr lang="bg-BG" b="1" dirty="0"/>
              <a:t>мрежи</a:t>
            </a:r>
            <a:r>
              <a:rPr lang="bg-BG" dirty="0"/>
              <a:t>, които се намират на </a:t>
            </a:r>
            <a:r>
              <a:rPr lang="bg-BG" b="1" dirty="0"/>
              <a:t>голямо разстояние</a:t>
            </a:r>
          </a:p>
          <a:p>
            <a:r>
              <a:rPr lang="bg-BG" dirty="0"/>
              <a:t>Примери за </a:t>
            </a:r>
            <a:r>
              <a:rPr lang="bg-BG" b="1" dirty="0"/>
              <a:t>глобална компютърна мрежа </a:t>
            </a:r>
            <a:r>
              <a:rPr lang="bg-BG" dirty="0"/>
              <a:t>са мрежите на:</a:t>
            </a:r>
          </a:p>
          <a:p>
            <a:pPr lvl="1"/>
            <a:r>
              <a:rPr lang="bg-BG" b="1" dirty="0"/>
              <a:t>Мобилен оператор</a:t>
            </a:r>
          </a:p>
          <a:p>
            <a:pPr lvl="1">
              <a:spcAft>
                <a:spcPts val="0"/>
              </a:spcAft>
            </a:pPr>
            <a:r>
              <a:rPr lang="bg-BG" b="1" dirty="0"/>
              <a:t>Доставчик</a:t>
            </a:r>
            <a:r>
              <a:rPr lang="bg-BG" dirty="0"/>
              <a:t> на </a:t>
            </a:r>
            <a:r>
              <a:rPr lang="bg-BG" b="1" dirty="0"/>
              <a:t>интернет</a:t>
            </a:r>
            <a:r>
              <a:rPr lang="bg-BG" dirty="0"/>
              <a:t> за </a:t>
            </a:r>
          </a:p>
          <a:p>
            <a:pPr marL="442912" lvl="1" indent="0">
              <a:spcBef>
                <a:spcPts val="0"/>
              </a:spcBef>
              <a:buNone/>
            </a:pPr>
            <a:r>
              <a:rPr lang="bg-BG" dirty="0"/>
              <a:t>град или държава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Глобална компютърна мрежа </a:t>
            </a:r>
            <a:r>
              <a:rPr lang="en-US" dirty="0"/>
              <a:t>(WAN)</a:t>
            </a:r>
          </a:p>
        </p:txBody>
      </p:sp>
      <p:pic>
        <p:nvPicPr>
          <p:cNvPr id="5126" name="Picture 6" descr="WAN vs. LAN: What Is the Difference? | LAN and WAN Net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00" y="3204000"/>
            <a:ext cx="5628048" cy="351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42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Интернет</a:t>
            </a:r>
            <a:r>
              <a:rPr lang="bg-BG" dirty="0"/>
              <a:t> е част от </a:t>
            </a:r>
            <a:r>
              <a:rPr lang="bg-BG" b="1" dirty="0"/>
              <a:t>глобалната компютърна мрежа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bg1"/>
                </a:solidFill>
              </a:rPr>
              <a:t>WAN</a:t>
            </a:r>
            <a:r>
              <a:rPr lang="en-US" dirty="0"/>
              <a:t>)</a:t>
            </a:r>
            <a:endParaRPr lang="bg-BG" dirty="0"/>
          </a:p>
          <a:p>
            <a:r>
              <a:rPr lang="bg-BG" dirty="0"/>
              <a:t>Той </a:t>
            </a:r>
            <a:r>
              <a:rPr lang="bg-BG" b="1" dirty="0"/>
              <a:t>позволява</a:t>
            </a:r>
            <a:r>
              <a:rPr lang="bg-BG" dirty="0"/>
              <a:t>:</a:t>
            </a:r>
          </a:p>
          <a:p>
            <a:pPr lvl="1"/>
            <a:r>
              <a:rPr lang="bg-BG" dirty="0"/>
              <a:t>Свободна </a:t>
            </a:r>
            <a:r>
              <a:rPr lang="bg-BG" b="1" dirty="0"/>
              <a:t>комуникация</a:t>
            </a:r>
            <a:r>
              <a:rPr lang="bg-BG" dirty="0"/>
              <a:t> между милиони </a:t>
            </a:r>
            <a:r>
              <a:rPr lang="bg-BG" b="1" dirty="0"/>
              <a:t>потребители</a:t>
            </a:r>
          </a:p>
          <a:p>
            <a:pPr lvl="1"/>
            <a:r>
              <a:rPr lang="bg-BG" b="1" dirty="0"/>
              <a:t>Обмен</a:t>
            </a:r>
            <a:r>
              <a:rPr lang="bg-BG" dirty="0"/>
              <a:t> на разнообразна </a:t>
            </a:r>
            <a:r>
              <a:rPr lang="bg-BG" b="1" dirty="0"/>
              <a:t>информация</a:t>
            </a:r>
            <a:r>
              <a:rPr lang="bg-BG" dirty="0"/>
              <a:t> и </a:t>
            </a:r>
            <a:r>
              <a:rPr lang="bg-BG" b="1" dirty="0"/>
              <a:t>ресурси</a:t>
            </a:r>
          </a:p>
          <a:p>
            <a:r>
              <a:rPr lang="bg-BG" dirty="0"/>
              <a:t>Интернет е с </a:t>
            </a:r>
            <a:r>
              <a:rPr lang="bg-BG" b="1" dirty="0"/>
              <a:t>децентрализирано управление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Интернет</a:t>
            </a:r>
            <a:endParaRPr lang="en-US" dirty="0"/>
          </a:p>
        </p:txBody>
      </p:sp>
      <p:pic>
        <p:nvPicPr>
          <p:cNvPr id="1026" name="Picture 2" descr="Escola Virtual Go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000" y="4640480"/>
            <a:ext cx="3206784" cy="208441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rso de Internet básico - Completo Yoney Gallardo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382" y="4654435"/>
            <a:ext cx="3290400" cy="20565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76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Основни начини за достъп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Достъп до интернет</a:t>
            </a:r>
            <a:endParaRPr lang="en-US" dirty="0"/>
          </a:p>
        </p:txBody>
      </p:sp>
      <p:pic>
        <p:nvPicPr>
          <p:cNvPr id="2050" name="Picture 2" descr="Historia del Internet by Stiven Garcia - Issu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000" y="639000"/>
            <a:ext cx="6480000" cy="3780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247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Интернет достъпът </a:t>
            </a:r>
            <a:r>
              <a:rPr lang="ru-RU" dirty="0"/>
              <a:t>позволява на </a:t>
            </a:r>
            <a:r>
              <a:rPr lang="ru-RU" b="1" dirty="0"/>
              <a:t>устройства</a:t>
            </a:r>
            <a:r>
              <a:rPr lang="ru-RU" dirty="0"/>
              <a:t> да ползват услуги като:</a:t>
            </a:r>
          </a:p>
          <a:p>
            <a:pPr lvl="1"/>
            <a:r>
              <a:rPr lang="ru-RU" b="1" dirty="0"/>
              <a:t>Електронна поща</a:t>
            </a:r>
          </a:p>
          <a:p>
            <a:pPr lvl="1"/>
            <a:r>
              <a:rPr lang="bg-BG" noProof="0" dirty="0"/>
              <a:t>Отваряне на </a:t>
            </a:r>
            <a:r>
              <a:rPr lang="bg-BG" b="1" noProof="0" dirty="0"/>
              <a:t>сайтове</a:t>
            </a:r>
          </a:p>
          <a:p>
            <a:pPr lvl="1"/>
            <a:r>
              <a:rPr lang="ru-RU" dirty="0"/>
              <a:t>Трансфер на </a:t>
            </a:r>
            <a:r>
              <a:rPr lang="ru-RU" b="1" dirty="0"/>
              <a:t>файлове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Достъп до интернет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94" b="26887"/>
          <a:stretch/>
        </p:blipFill>
        <p:spPr>
          <a:xfrm>
            <a:off x="651000" y="4799210"/>
            <a:ext cx="4541966" cy="1609430"/>
          </a:xfrm>
          <a:prstGeom prst="rect">
            <a:avLst/>
          </a:prstGeom>
        </p:spPr>
      </p:pic>
      <p:pic>
        <p:nvPicPr>
          <p:cNvPr id="3074" name="Picture 2" descr="Файл:Hypertext.png – Уикипед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618" y="1944000"/>
            <a:ext cx="3419724" cy="22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000" y="4599000"/>
            <a:ext cx="5182960" cy="200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0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494000"/>
            <a:ext cx="6220598" cy="5230890"/>
          </a:xfrm>
        </p:spPr>
        <p:txBody>
          <a:bodyPr/>
          <a:lstStyle/>
          <a:p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Доставчици</a:t>
            </a:r>
            <a:r>
              <a:rPr lang="ru-RU" dirty="0"/>
              <a:t> (</a:t>
            </a:r>
            <a:r>
              <a:rPr lang="ru-RU" b="1" dirty="0"/>
              <a:t>Internet Service Provider</a:t>
            </a:r>
            <a:r>
              <a:rPr lang="ru-RU" dirty="0"/>
              <a:t>): </a:t>
            </a:r>
          </a:p>
          <a:p>
            <a:pPr lvl="1"/>
            <a:r>
              <a:rPr lang="ru-RU" dirty="0"/>
              <a:t>Осигуряват </a:t>
            </a:r>
            <a:r>
              <a:rPr lang="ru-RU" b="1" dirty="0"/>
              <a:t>интернет свързаност </a:t>
            </a:r>
            <a:r>
              <a:rPr lang="ru-RU" dirty="0"/>
              <a:t>на </a:t>
            </a:r>
            <a:r>
              <a:rPr lang="ru-RU" b="1" dirty="0"/>
              <a:t>потребителите</a:t>
            </a:r>
          </a:p>
          <a:p>
            <a:pPr lvl="1"/>
            <a:r>
              <a:rPr lang="ru-RU" dirty="0"/>
              <a:t>Използват различни </a:t>
            </a:r>
            <a:r>
              <a:rPr lang="ru-RU" b="1" dirty="0"/>
              <a:t>методи</a:t>
            </a:r>
            <a:r>
              <a:rPr lang="ru-RU" dirty="0"/>
              <a:t> и </a:t>
            </a:r>
            <a:r>
              <a:rPr lang="ru-RU" b="1" dirty="0"/>
              <a:t>технологии</a:t>
            </a:r>
            <a:r>
              <a:rPr lang="ru-RU" dirty="0"/>
              <a:t> за </a:t>
            </a:r>
            <a:r>
              <a:rPr lang="ru-RU" b="1" dirty="0"/>
              <a:t>връзка</a:t>
            </a:r>
          </a:p>
          <a:p>
            <a:pPr lvl="1"/>
            <a:r>
              <a:rPr lang="ru-RU" dirty="0"/>
              <a:t>Предлагат </a:t>
            </a:r>
            <a:r>
              <a:rPr lang="ru-RU" b="1" dirty="0"/>
              <a:t>разнообразни скорости </a:t>
            </a:r>
            <a:r>
              <a:rPr lang="ru-RU" dirty="0"/>
              <a:t>и ценови планове</a:t>
            </a: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Доставчици </a:t>
            </a:r>
            <a:endParaRPr lang="en-US" dirty="0"/>
          </a:p>
        </p:txBody>
      </p:sp>
      <p:pic>
        <p:nvPicPr>
          <p:cNvPr id="4104" name="Picture 8" descr="undef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616" y="1629000"/>
            <a:ext cx="5085425" cy="33767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276000" y="5112084"/>
            <a:ext cx="5812658" cy="116606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dirty="0">
                <a:solidFill>
                  <a:schemeClr val="bg1"/>
                </a:solidFill>
              </a:rPr>
              <a:t>Доставчик</a:t>
            </a:r>
            <a:r>
              <a:rPr lang="bg-BG" sz="2800" dirty="0"/>
              <a:t> поставя </a:t>
            </a:r>
            <a:r>
              <a:rPr lang="bg-BG" sz="2800" b="1" dirty="0"/>
              <a:t>кабели</a:t>
            </a:r>
            <a:r>
              <a:rPr lang="bg-BG" sz="2800" dirty="0"/>
              <a:t> за </a:t>
            </a:r>
            <a:r>
              <a:rPr lang="bg-BG" sz="2800" b="1" dirty="0"/>
              <a:t>осигуряване</a:t>
            </a:r>
            <a:r>
              <a:rPr lang="bg-BG" sz="2800" dirty="0"/>
              <a:t> на </a:t>
            </a:r>
            <a:r>
              <a:rPr lang="bg-BG" sz="2800" b="1" dirty="0"/>
              <a:t>достъп</a:t>
            </a:r>
            <a:r>
              <a:rPr lang="bg-BG" sz="2800" dirty="0"/>
              <a:t> до интернет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9893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Скоростта за </a:t>
            </a:r>
            <a:r>
              <a:rPr lang="bg-BG" b="1" dirty="0">
                <a:solidFill>
                  <a:schemeClr val="bg1"/>
                </a:solidFill>
              </a:rPr>
              <a:t>приемане</a:t>
            </a:r>
            <a:r>
              <a:rPr lang="bg-BG" dirty="0"/>
              <a:t> и </a:t>
            </a:r>
            <a:r>
              <a:rPr lang="bg-BG" b="1" dirty="0">
                <a:solidFill>
                  <a:schemeClr val="bg1"/>
                </a:solidFill>
              </a:rPr>
              <a:t>предаване</a:t>
            </a:r>
            <a:r>
              <a:rPr lang="bg-BG" dirty="0"/>
              <a:t> на </a:t>
            </a:r>
            <a:r>
              <a:rPr lang="bg-BG" b="1" dirty="0"/>
              <a:t>данните </a:t>
            </a:r>
            <a:r>
              <a:rPr lang="bg-BG" dirty="0"/>
              <a:t>в интернет се измерва в </a:t>
            </a:r>
            <a:r>
              <a:rPr lang="bg-BG" b="1" dirty="0"/>
              <a:t>битове</a:t>
            </a:r>
            <a:r>
              <a:rPr lang="bg-BG" dirty="0"/>
              <a:t> за </a:t>
            </a:r>
            <a:r>
              <a:rPr lang="bg-BG" b="1" dirty="0"/>
              <a:t>секунда</a:t>
            </a:r>
            <a:r>
              <a:rPr lang="bg-BG" dirty="0"/>
              <a:t> (</a:t>
            </a:r>
            <a:r>
              <a:rPr lang="en-US" dirty="0"/>
              <a:t>bit/s, bps</a:t>
            </a:r>
            <a:r>
              <a:rPr lang="bg-BG" dirty="0"/>
              <a:t>)</a:t>
            </a:r>
            <a:endParaRPr lang="en-US" dirty="0"/>
          </a:p>
          <a:p>
            <a:r>
              <a:rPr lang="bg-BG" dirty="0"/>
              <a:t>Може да измерите </a:t>
            </a:r>
            <a:r>
              <a:rPr lang="bg-BG" b="1" dirty="0"/>
              <a:t>вашата интернет скорост </a:t>
            </a:r>
            <a:r>
              <a:rPr lang="bg-BG" dirty="0"/>
              <a:t>от сайта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3"/>
              </a:rPr>
              <a:t>https://www.speedtest.net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Интернет скорост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00" y="3519000"/>
            <a:ext cx="4910635" cy="315034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5126" name="Picture 6" descr="Best Internet Speed for Online Gaming | HighSpeedOptio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000" y="4029341"/>
            <a:ext cx="3960000" cy="2640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47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Достъпът до интернет </a:t>
            </a:r>
            <a:r>
              <a:rPr lang="bg-BG" dirty="0"/>
              <a:t>се </a:t>
            </a:r>
            <a:r>
              <a:rPr lang="bg-BG" b="1" dirty="0"/>
              <a:t>осъществява</a:t>
            </a:r>
            <a:r>
              <a:rPr lang="bg-BG" dirty="0"/>
              <a:t> с помощта на специални </a:t>
            </a:r>
            <a:r>
              <a:rPr lang="bg-BG" b="1" dirty="0">
                <a:solidFill>
                  <a:schemeClr val="bg1"/>
                </a:solidFill>
              </a:rPr>
              <a:t>мрежови устройства</a:t>
            </a:r>
          </a:p>
          <a:p>
            <a:r>
              <a:rPr lang="bg-BG" b="1" dirty="0"/>
              <a:t>Примери</a:t>
            </a:r>
            <a:r>
              <a:rPr lang="bg-BG" dirty="0"/>
              <a:t> за такива устройства са:</a:t>
            </a:r>
          </a:p>
          <a:p>
            <a:pPr lvl="1"/>
            <a:r>
              <a:rPr lang="bg-BG" dirty="0"/>
              <a:t>Модем</a:t>
            </a:r>
          </a:p>
          <a:p>
            <a:pPr lvl="1"/>
            <a:r>
              <a:rPr lang="bg-BG" dirty="0"/>
              <a:t>Рутер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Мрежови устройства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" t="10357" b="5680"/>
          <a:stretch/>
        </p:blipFill>
        <p:spPr>
          <a:xfrm>
            <a:off x="6944595" y="2876630"/>
            <a:ext cx="4234182" cy="36328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6" b="15452"/>
          <a:stretch/>
        </p:blipFill>
        <p:spPr>
          <a:xfrm>
            <a:off x="2909159" y="3941267"/>
            <a:ext cx="3205716" cy="237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5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За да </a:t>
            </a:r>
            <a:r>
              <a:rPr lang="ru-RU" b="1" dirty="0">
                <a:solidFill>
                  <a:schemeClr val="bg1"/>
                </a:solidFill>
              </a:rPr>
              <a:t>контролира</a:t>
            </a:r>
            <a:r>
              <a:rPr lang="ru-RU" dirty="0"/>
              <a:t> </a:t>
            </a:r>
            <a:r>
              <a:rPr lang="ru-RU" b="1" dirty="0"/>
              <a:t>достъпът</a:t>
            </a:r>
            <a:r>
              <a:rPr lang="ru-RU" dirty="0"/>
              <a:t> до </a:t>
            </a:r>
            <a:r>
              <a:rPr lang="ru-RU" b="1" dirty="0"/>
              <a:t>услугите</a:t>
            </a:r>
            <a:r>
              <a:rPr lang="ru-RU" dirty="0"/>
              <a:t> и </a:t>
            </a:r>
            <a:r>
              <a:rPr lang="ru-RU" b="1" dirty="0"/>
              <a:t>информацията</a:t>
            </a:r>
            <a:r>
              <a:rPr lang="ru-RU" dirty="0"/>
              <a:t>, </a:t>
            </a:r>
            <a:r>
              <a:rPr lang="ru-RU" b="1" dirty="0"/>
              <a:t>доставчикът</a:t>
            </a:r>
            <a:r>
              <a:rPr lang="ru-RU" dirty="0"/>
              <a:t> създава за всеки клиент </a:t>
            </a:r>
            <a:r>
              <a:rPr lang="ru-RU" b="1" dirty="0">
                <a:solidFill>
                  <a:schemeClr val="bg1"/>
                </a:solidFill>
              </a:rPr>
              <a:t>акаунт</a:t>
            </a:r>
            <a:r>
              <a:rPr lang="ru-RU" dirty="0"/>
              <a:t>, който включва:</a:t>
            </a:r>
          </a:p>
          <a:p>
            <a:pPr lvl="1"/>
            <a:r>
              <a:rPr lang="ru-RU" dirty="0"/>
              <a:t>Потребителско име</a:t>
            </a:r>
          </a:p>
          <a:p>
            <a:pPr lvl="1"/>
            <a:r>
              <a:rPr lang="ru-RU" dirty="0"/>
              <a:t>Парола</a:t>
            </a:r>
          </a:p>
          <a:p>
            <a:pPr lvl="1"/>
            <a:r>
              <a:rPr lang="ru-RU" dirty="0"/>
              <a:t>Служебна информация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Контрол на достъпа</a:t>
            </a:r>
            <a:endParaRPr lang="en-US" dirty="0"/>
          </a:p>
        </p:txBody>
      </p:sp>
      <p:pic>
        <p:nvPicPr>
          <p:cNvPr id="7170" name="Picture 2" descr="Account - Free security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000" y="2965228"/>
            <a:ext cx="3555000" cy="355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95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Потребителското име </a:t>
            </a:r>
            <a:r>
              <a:rPr lang="bg-BG" dirty="0"/>
              <a:t>е </a:t>
            </a:r>
            <a:r>
              <a:rPr lang="bg-BG" b="1" dirty="0"/>
              <a:t>уникално име</a:t>
            </a:r>
          </a:p>
          <a:p>
            <a:pPr lvl="1"/>
            <a:r>
              <a:rPr lang="bg-BG" b="1" dirty="0"/>
              <a:t>Не се повтаря </a:t>
            </a:r>
            <a:r>
              <a:rPr lang="bg-BG" dirty="0"/>
              <a:t>в системата на доставчика</a:t>
            </a:r>
          </a:p>
          <a:p>
            <a:pPr lvl="1"/>
            <a:r>
              <a:rPr lang="ru-RU" b="1" dirty="0"/>
              <a:t>Потребителят</a:t>
            </a:r>
            <a:r>
              <a:rPr lang="ru-RU" dirty="0"/>
              <a:t> се </a:t>
            </a:r>
            <a:r>
              <a:rPr lang="ru-RU" b="1" dirty="0"/>
              <a:t>разпознава</a:t>
            </a:r>
            <a:r>
              <a:rPr lang="ru-RU" dirty="0"/>
              <a:t> по своето </a:t>
            </a:r>
            <a:r>
              <a:rPr lang="ru-RU" b="1" dirty="0"/>
              <a:t>потребителско име</a:t>
            </a:r>
          </a:p>
          <a:p>
            <a:r>
              <a:rPr lang="bg-BG" dirty="0"/>
              <a:t>Името на потребителя може да бъде:</a:t>
            </a:r>
          </a:p>
          <a:p>
            <a:pPr lvl="1"/>
            <a:r>
              <a:rPr lang="bg-BG" b="1" dirty="0"/>
              <a:t>Имейл адрес </a:t>
            </a:r>
            <a:r>
              <a:rPr lang="bg-BG" dirty="0"/>
              <a:t>на клиента</a:t>
            </a:r>
          </a:p>
          <a:p>
            <a:pPr lvl="1"/>
            <a:r>
              <a:rPr lang="bg-BG" dirty="0"/>
              <a:t>Комбинация от </a:t>
            </a:r>
            <a:r>
              <a:rPr lang="bg-BG" b="1" dirty="0"/>
              <a:t>букви</a:t>
            </a:r>
            <a:r>
              <a:rPr lang="bg-BG" dirty="0"/>
              <a:t> и </a:t>
            </a:r>
            <a:r>
              <a:rPr lang="bg-BG" b="1" dirty="0"/>
              <a:t>цифри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Потребителско име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3" r="11262"/>
          <a:stretch/>
        </p:blipFill>
        <p:spPr>
          <a:xfrm>
            <a:off x="7356000" y="3834000"/>
            <a:ext cx="3870000" cy="27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17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Паролата</a:t>
            </a:r>
            <a:r>
              <a:rPr lang="bg-BG" dirty="0"/>
              <a:t> е </a:t>
            </a:r>
            <a:r>
              <a:rPr lang="ru-RU" b="1" dirty="0"/>
              <a:t>тайна дума </a:t>
            </a:r>
            <a:r>
              <a:rPr lang="ru-RU" dirty="0"/>
              <a:t>или </a:t>
            </a:r>
            <a:r>
              <a:rPr lang="ru-RU" b="1" dirty="0"/>
              <a:t>комбинация</a:t>
            </a:r>
            <a:r>
              <a:rPr lang="ru-RU" dirty="0"/>
              <a:t> от </a:t>
            </a:r>
            <a:r>
              <a:rPr lang="ru-RU" b="1" dirty="0"/>
              <a:t>знаци</a:t>
            </a:r>
            <a:r>
              <a:rPr lang="ru-RU" dirty="0"/>
              <a:t>, известни само на потребителя и доставчика</a:t>
            </a:r>
          </a:p>
          <a:p>
            <a:r>
              <a:rPr lang="ru-RU" dirty="0"/>
              <a:t>В </a:t>
            </a:r>
            <a:r>
              <a:rPr lang="ru-RU" b="1" dirty="0"/>
              <a:t>съвремието</a:t>
            </a:r>
            <a:r>
              <a:rPr lang="ru-RU" dirty="0"/>
              <a:t> паролата все по-често се </a:t>
            </a:r>
            <a:r>
              <a:rPr lang="ru-RU" b="1" dirty="0"/>
              <a:t>заменя</a:t>
            </a:r>
            <a:r>
              <a:rPr lang="ru-RU" dirty="0"/>
              <a:t> с </a:t>
            </a:r>
            <a:r>
              <a:rPr lang="ru-RU" b="1" dirty="0"/>
              <a:t>биометрични данни </a:t>
            </a:r>
            <a:r>
              <a:rPr lang="ru-RU" dirty="0"/>
              <a:t>като:</a:t>
            </a:r>
          </a:p>
          <a:p>
            <a:pPr lvl="1"/>
            <a:r>
              <a:rPr lang="ru-RU" dirty="0"/>
              <a:t>Пръстов </a:t>
            </a:r>
            <a:r>
              <a:rPr lang="ru-RU" b="1" dirty="0"/>
              <a:t>отпечатък</a:t>
            </a:r>
          </a:p>
          <a:p>
            <a:pPr lvl="1"/>
            <a:r>
              <a:rPr lang="ru-RU" b="1" dirty="0"/>
              <a:t>Ирис</a:t>
            </a:r>
            <a:r>
              <a:rPr lang="ru-RU" dirty="0"/>
              <a:t> на окото</a:t>
            </a:r>
          </a:p>
          <a:p>
            <a:pPr lvl="1"/>
            <a:r>
              <a:rPr lang="ru-RU" b="1" dirty="0"/>
              <a:t>Лице</a:t>
            </a:r>
            <a:r>
              <a:rPr lang="ru-RU" dirty="0"/>
              <a:t> на потребителя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Парола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000" y="4284000"/>
            <a:ext cx="3801504" cy="2574000"/>
          </a:xfrm>
          <a:prstGeom prst="rect">
            <a:avLst/>
          </a:prstGeom>
        </p:spPr>
      </p:pic>
      <p:pic>
        <p:nvPicPr>
          <p:cNvPr id="9220" name="Picture 4" descr="The fundamentals of Iris Recognition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786" y="3191692"/>
            <a:ext cx="2634593" cy="194730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683" y="4266876"/>
            <a:ext cx="2627124" cy="262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0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Видовете достъп </a:t>
            </a:r>
            <a:r>
              <a:rPr lang="bg-BG" dirty="0"/>
              <a:t>до интернет са</a:t>
            </a:r>
            <a:r>
              <a:rPr lang="en-US" dirty="0"/>
              <a:t> </a:t>
            </a:r>
            <a:r>
              <a:rPr lang="bg-BG" dirty="0"/>
              <a:t>през:</a:t>
            </a:r>
          </a:p>
          <a:p>
            <a:pPr lvl="1"/>
            <a:r>
              <a:rPr lang="bg-BG" b="1" dirty="0"/>
              <a:t>Локална</a:t>
            </a:r>
            <a:r>
              <a:rPr lang="bg-BG" dirty="0"/>
              <a:t> </a:t>
            </a:r>
            <a:r>
              <a:rPr lang="bg-BG" b="1" dirty="0"/>
              <a:t>мрежа</a:t>
            </a:r>
            <a:r>
              <a:rPr lang="bg-BG" dirty="0"/>
              <a:t> </a:t>
            </a:r>
            <a:r>
              <a:rPr lang="en-US" dirty="0"/>
              <a:t>(LAN)</a:t>
            </a:r>
          </a:p>
          <a:p>
            <a:pPr lvl="1"/>
            <a:r>
              <a:rPr lang="bg-BG" dirty="0"/>
              <a:t>Телефонен </a:t>
            </a:r>
            <a:r>
              <a:rPr lang="bg-BG" b="1" dirty="0"/>
              <a:t>кабел</a:t>
            </a:r>
          </a:p>
          <a:p>
            <a:pPr lvl="1"/>
            <a:r>
              <a:rPr lang="bg-BG" dirty="0"/>
              <a:t>Мрежата на </a:t>
            </a:r>
            <a:r>
              <a:rPr lang="bg-BG" b="1" dirty="0"/>
              <a:t>мобилен оператор</a:t>
            </a:r>
          </a:p>
          <a:p>
            <a:pPr lvl="1"/>
            <a:r>
              <a:rPr lang="bg-BG" b="1" dirty="0"/>
              <a:t>Сателитен</a:t>
            </a:r>
            <a:r>
              <a:rPr lang="bg-BG" dirty="0"/>
              <a:t> достъп</a:t>
            </a:r>
          </a:p>
          <a:p>
            <a:pPr lvl="1"/>
            <a:r>
              <a:rPr lang="bg-BG" b="1" dirty="0"/>
              <a:t>Радиовръзка</a:t>
            </a:r>
            <a:endParaRPr lang="en-US" b="1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достъп до интернет</a:t>
            </a:r>
            <a:endParaRPr lang="en-US" dirty="0"/>
          </a:p>
        </p:txBody>
      </p:sp>
      <p:pic>
        <p:nvPicPr>
          <p:cNvPr id="1026" name="Picture 2" descr="Lan - Free networking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000" y="1996613"/>
            <a:ext cx="1906801" cy="190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obile network - Free computer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143" y="4419000"/>
            <a:ext cx="2266801" cy="22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atellite - Free technology ic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803" y="4756306"/>
            <a:ext cx="1850384" cy="185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adio - Free communications ico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011" y="4591209"/>
            <a:ext cx="2020989" cy="202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hone cable Special Lineal color icon | Freepik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156" y="1832801"/>
            <a:ext cx="2170245" cy="217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2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Локална мрежа </a:t>
            </a:r>
            <a:r>
              <a:rPr lang="ru-RU" b="1" dirty="0"/>
              <a:t>(LAN)</a:t>
            </a:r>
            <a:r>
              <a:rPr lang="ru-RU" dirty="0"/>
              <a:t> е </a:t>
            </a:r>
            <a:r>
              <a:rPr lang="ru-RU" b="1" dirty="0"/>
              <a:t>най-широко</a:t>
            </a:r>
            <a:r>
              <a:rPr lang="ru-RU" dirty="0"/>
              <a:t> използваният начин за достъп</a:t>
            </a:r>
            <a:r>
              <a:rPr lang="en-US" dirty="0"/>
              <a:t> </a:t>
            </a:r>
            <a:r>
              <a:rPr lang="bg-BG" dirty="0"/>
              <a:t>до </a:t>
            </a:r>
            <a:r>
              <a:rPr lang="bg-BG" b="1" dirty="0"/>
              <a:t>интернет</a:t>
            </a:r>
            <a:endParaRPr lang="ru-RU" b="1" dirty="0"/>
          </a:p>
          <a:p>
            <a:pPr lvl="1"/>
            <a:r>
              <a:rPr lang="ru-RU" b="1" dirty="0"/>
              <a:t>Доставчикът</a:t>
            </a:r>
            <a:r>
              <a:rPr lang="ru-RU" dirty="0"/>
              <a:t> осигурява </a:t>
            </a:r>
            <a:r>
              <a:rPr lang="ru-RU" b="1" dirty="0"/>
              <a:t>интернет връзка </a:t>
            </a:r>
            <a:r>
              <a:rPr lang="ru-RU" dirty="0"/>
              <a:t>до </a:t>
            </a:r>
            <a:r>
              <a:rPr lang="ru-RU" b="1" dirty="0"/>
              <a:t>локалната мрежа</a:t>
            </a:r>
            <a:r>
              <a:rPr lang="ru-RU" dirty="0"/>
              <a:t> на потребителя</a:t>
            </a:r>
          </a:p>
          <a:p>
            <a:pPr lvl="1"/>
            <a:r>
              <a:rPr lang="ru-RU" dirty="0"/>
              <a:t>Всички </a:t>
            </a:r>
            <a:r>
              <a:rPr lang="ru-RU" b="1" dirty="0"/>
              <a:t>устройства</a:t>
            </a:r>
            <a:r>
              <a:rPr lang="ru-RU" dirty="0"/>
              <a:t>, свързани в локалната мрежа, получават </a:t>
            </a:r>
            <a:r>
              <a:rPr lang="ru-RU" b="1" dirty="0"/>
              <a:t>достъп </a:t>
            </a:r>
            <a:r>
              <a:rPr lang="ru-RU" dirty="0"/>
              <a:t>до</a:t>
            </a:r>
            <a:r>
              <a:rPr lang="ru-RU" b="1" dirty="0"/>
              <a:t> интернет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достъп до интернет</a:t>
            </a:r>
            <a:r>
              <a:rPr lang="en-US" dirty="0"/>
              <a:t> –</a:t>
            </a:r>
            <a:r>
              <a:rPr lang="bg-BG" dirty="0"/>
              <a:t> </a:t>
            </a:r>
            <a:r>
              <a:rPr lang="en-US" dirty="0"/>
              <a:t>LAN</a:t>
            </a:r>
            <a:r>
              <a:rPr lang="bg-BG" dirty="0"/>
              <a:t> (1)</a:t>
            </a:r>
            <a:endParaRPr lang="en-US" dirty="0"/>
          </a:p>
        </p:txBody>
      </p:sp>
      <p:pic>
        <p:nvPicPr>
          <p:cNvPr id="2050" name="Picture 2" descr="How to Set Up and Configure a LAN in 8 Step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000" y="4347902"/>
            <a:ext cx="3555532" cy="228569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etworking Fundamentals | LAN vs WAN | Ethernet | Network Security Bas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783" y="4625851"/>
            <a:ext cx="3020269" cy="20115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00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9685598" cy="5528766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/>
              <a:t>Рутер</a:t>
            </a:r>
            <a:r>
              <a:rPr lang="ru-RU" dirty="0"/>
              <a:t> – устройство за </a:t>
            </a:r>
            <a:r>
              <a:rPr lang="ru-RU" b="1" dirty="0"/>
              <a:t>свързване</a:t>
            </a:r>
            <a:r>
              <a:rPr lang="ru-RU" dirty="0"/>
              <a:t> на </a:t>
            </a:r>
            <a:r>
              <a:rPr lang="ru-RU" b="1" dirty="0"/>
              <a:t>две различни мрежи </a:t>
            </a:r>
          </a:p>
          <a:p>
            <a:pPr lvl="1"/>
            <a:r>
              <a:rPr lang="ru-RU" dirty="0"/>
              <a:t>В случая едната е </a:t>
            </a:r>
            <a:r>
              <a:rPr lang="ru-RU" b="1" dirty="0">
                <a:solidFill>
                  <a:schemeClr val="bg1"/>
                </a:solidFill>
              </a:rPr>
              <a:t>интернет</a:t>
            </a:r>
            <a:r>
              <a:rPr lang="ru-RU" dirty="0"/>
              <a:t>, а другата е </a:t>
            </a:r>
            <a:r>
              <a:rPr lang="en-US" b="1" dirty="0">
                <a:solidFill>
                  <a:schemeClr val="bg1"/>
                </a:solidFill>
              </a:rPr>
              <a:t>LAN</a:t>
            </a:r>
            <a:r>
              <a:rPr lang="en-US" b="1" dirty="0"/>
              <a:t> </a:t>
            </a:r>
            <a:r>
              <a:rPr lang="bg-BG" dirty="0"/>
              <a:t>на</a:t>
            </a:r>
            <a:r>
              <a:rPr lang="bg-BG" b="1" dirty="0"/>
              <a:t> клиента</a:t>
            </a:r>
            <a:r>
              <a:rPr lang="ru-RU" b="1" dirty="0"/>
              <a:t> </a:t>
            </a:r>
          </a:p>
          <a:p>
            <a:r>
              <a:rPr lang="ru-RU" dirty="0"/>
              <a:t>Видове </a:t>
            </a:r>
            <a:r>
              <a:rPr lang="ru-RU" b="1" dirty="0"/>
              <a:t>връзки</a:t>
            </a:r>
            <a:r>
              <a:rPr lang="ru-RU" dirty="0"/>
              <a:t> с рутера:</a:t>
            </a:r>
          </a:p>
          <a:p>
            <a:pPr lvl="1"/>
            <a:r>
              <a:rPr lang="ru-RU" b="1" dirty="0"/>
              <a:t>͏Мрежов кабел</a:t>
            </a:r>
            <a:endParaRPr lang="ru-RU" dirty="0"/>
          </a:p>
          <a:p>
            <a:pPr lvl="2"/>
            <a:r>
              <a:rPr lang="ru-RU" dirty="0"/>
              <a:t>Включва се в </a:t>
            </a:r>
            <a:r>
              <a:rPr lang="ru-RU" b="1" dirty="0"/>
              <a:t>мрежовата карта </a:t>
            </a:r>
            <a:r>
              <a:rPr lang="ru-RU" dirty="0"/>
              <a:t>на </a:t>
            </a:r>
            <a:r>
              <a:rPr lang="ru-RU" b="1" dirty="0"/>
              <a:t>устройството</a:t>
            </a:r>
            <a:r>
              <a:rPr lang="ru-RU" dirty="0"/>
              <a:t> и в </a:t>
            </a:r>
            <a:r>
              <a:rPr lang="ru-RU" b="1" dirty="0"/>
              <a:t>рутера</a:t>
            </a:r>
            <a:endParaRPr lang="en-US" b="1" dirty="0"/>
          </a:p>
          <a:p>
            <a:pPr lvl="1"/>
            <a:r>
              <a:rPr lang="ru-RU" b="1" dirty="0"/>
              <a:t>͏WiFi връзка</a:t>
            </a:r>
            <a:endParaRPr lang="ru-RU" dirty="0"/>
          </a:p>
          <a:p>
            <a:pPr lvl="2"/>
            <a:r>
              <a:rPr lang="ru-RU" b="1" dirty="0"/>
              <a:t>Устройството</a:t>
            </a:r>
            <a:r>
              <a:rPr lang="ru-RU" dirty="0"/>
              <a:t> трябва да има </a:t>
            </a:r>
            <a:r>
              <a:rPr lang="ru-RU" b="1" dirty="0"/>
              <a:t>вградена</a:t>
            </a:r>
            <a:r>
              <a:rPr lang="ru-RU" dirty="0"/>
              <a:t> или </a:t>
            </a:r>
            <a:r>
              <a:rPr lang="ru-RU" b="1" dirty="0"/>
              <a:t>инсталирана</a:t>
            </a:r>
            <a:r>
              <a:rPr lang="ru-RU" dirty="0"/>
              <a:t> допълнително </a:t>
            </a:r>
            <a:r>
              <a:rPr lang="ru-RU" b="1" dirty="0">
                <a:solidFill>
                  <a:schemeClr val="bg1"/>
                </a:solidFill>
              </a:rPr>
              <a:t>WiFi карта</a:t>
            </a:r>
          </a:p>
          <a:p>
            <a:r>
              <a:rPr lang="ru-RU" b="1" dirty="0"/>
              <a:t>Локалната мрежа </a:t>
            </a:r>
            <a:r>
              <a:rPr lang="ru-RU" dirty="0"/>
              <a:t>и </a:t>
            </a:r>
            <a:r>
              <a:rPr lang="ru-RU" b="1" dirty="0"/>
              <a:t>WiFi връзка </a:t>
            </a:r>
            <a:r>
              <a:rPr lang="ru-RU" dirty="0"/>
              <a:t>трябва да се защитят с </a:t>
            </a:r>
            <a:r>
              <a:rPr lang="ru-RU" b="1" dirty="0">
                <a:solidFill>
                  <a:schemeClr val="bg1"/>
                </a:solidFill>
              </a:rPr>
              <a:t>парола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достъп до интернет</a:t>
            </a:r>
            <a:r>
              <a:rPr lang="en-US" dirty="0"/>
              <a:t> –</a:t>
            </a:r>
            <a:r>
              <a:rPr lang="bg-BG" dirty="0"/>
              <a:t> </a:t>
            </a:r>
            <a:r>
              <a:rPr lang="en-US" dirty="0"/>
              <a:t>LAN</a:t>
            </a:r>
            <a:r>
              <a:rPr lang="bg-BG" dirty="0"/>
              <a:t> (2)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032" y="1404000"/>
            <a:ext cx="2542500" cy="2542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2" b="8970"/>
          <a:stretch/>
        </p:blipFill>
        <p:spPr>
          <a:xfrm>
            <a:off x="9287095" y="3861378"/>
            <a:ext cx="3063905" cy="276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9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С помощта на </a:t>
            </a:r>
            <a:r>
              <a:rPr lang="bg-BG" b="1" dirty="0">
                <a:solidFill>
                  <a:schemeClr val="bg1"/>
                </a:solidFill>
              </a:rPr>
              <a:t>специални модеми </a:t>
            </a:r>
            <a:r>
              <a:rPr lang="bg-BG" dirty="0"/>
              <a:t>и </a:t>
            </a:r>
            <a:r>
              <a:rPr lang="bg-BG" b="1" dirty="0">
                <a:solidFill>
                  <a:schemeClr val="bg1"/>
                </a:solidFill>
              </a:rPr>
              <a:t>телефонен кабел </a:t>
            </a:r>
            <a:r>
              <a:rPr lang="bg-BG" dirty="0"/>
              <a:t>може да се осъществява </a:t>
            </a:r>
            <a:r>
              <a:rPr lang="bg-BG" b="1" dirty="0"/>
              <a:t>връзка</a:t>
            </a:r>
            <a:r>
              <a:rPr lang="bg-BG" dirty="0"/>
              <a:t> с </a:t>
            </a:r>
            <a:r>
              <a:rPr lang="bg-BG" b="1" dirty="0"/>
              <a:t>интернет</a:t>
            </a:r>
            <a:endParaRPr lang="en-US" b="1" dirty="0"/>
          </a:p>
          <a:p>
            <a:pPr lvl="1"/>
            <a:r>
              <a:rPr lang="bg-BG" dirty="0"/>
              <a:t>Това е </a:t>
            </a:r>
            <a:r>
              <a:rPr lang="bg-BG" b="1" dirty="0"/>
              <a:t>остаряла технология</a:t>
            </a:r>
          </a:p>
          <a:p>
            <a:pPr lvl="1"/>
            <a:r>
              <a:rPr lang="ru-RU" dirty="0"/>
              <a:t>Подходяща е за зони </a:t>
            </a:r>
            <a:r>
              <a:rPr lang="ru-RU" b="1" dirty="0"/>
              <a:t>без оптична </a:t>
            </a:r>
            <a:r>
              <a:rPr lang="ru-RU" dirty="0"/>
              <a:t>или </a:t>
            </a:r>
            <a:r>
              <a:rPr lang="ru-RU" b="1" dirty="0"/>
              <a:t>LAN мрежа</a:t>
            </a:r>
          </a:p>
          <a:p>
            <a:r>
              <a:rPr lang="bg-BG" dirty="0"/>
              <a:t>Видовете </a:t>
            </a:r>
            <a:r>
              <a:rPr lang="bg-BG" b="1" dirty="0"/>
              <a:t>модеми</a:t>
            </a:r>
            <a:r>
              <a:rPr lang="bg-BG" dirty="0"/>
              <a:t> са:</a:t>
            </a:r>
          </a:p>
          <a:p>
            <a:pPr lvl="1"/>
            <a:r>
              <a:rPr lang="en-US" dirty="0"/>
              <a:t>Dial-up</a:t>
            </a:r>
          </a:p>
          <a:p>
            <a:pPr lvl="1"/>
            <a:r>
              <a:rPr lang="en-US" dirty="0"/>
              <a:t>ISDN</a:t>
            </a:r>
          </a:p>
          <a:p>
            <a:pPr lvl="1"/>
            <a:r>
              <a:rPr lang="en-US" dirty="0"/>
              <a:t>ADSL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Видове достъп до интернет</a:t>
            </a:r>
            <a:r>
              <a:rPr lang="en-US" dirty="0"/>
              <a:t> –</a:t>
            </a:r>
            <a:r>
              <a:rPr lang="bg-BG" dirty="0"/>
              <a:t> телефонен кабел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944" y="4554000"/>
            <a:ext cx="3155110" cy="16836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000" y="5105010"/>
            <a:ext cx="3690000" cy="16198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408" y="3582163"/>
            <a:ext cx="2827063" cy="212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 помощта на </a:t>
            </a:r>
            <a:r>
              <a:rPr lang="en-US" b="1" dirty="0">
                <a:solidFill>
                  <a:schemeClr val="bg1"/>
                </a:solidFill>
              </a:rPr>
              <a:t>GSM </a:t>
            </a:r>
            <a:r>
              <a:rPr lang="bg-BG" b="1" dirty="0">
                <a:solidFill>
                  <a:schemeClr val="bg1"/>
                </a:solidFill>
              </a:rPr>
              <a:t>модем </a:t>
            </a:r>
            <a:r>
              <a:rPr lang="bg-BG" dirty="0"/>
              <a:t>и </a:t>
            </a:r>
            <a:r>
              <a:rPr lang="bg-BG" b="1" dirty="0"/>
              <a:t>мрежата</a:t>
            </a:r>
            <a:r>
              <a:rPr lang="bg-BG" dirty="0"/>
              <a:t> на </a:t>
            </a:r>
            <a:r>
              <a:rPr lang="bg-BG" b="1" dirty="0"/>
              <a:t>мобилен оператор </a:t>
            </a:r>
            <a:r>
              <a:rPr lang="bg-BG" dirty="0"/>
              <a:t>се осъществява връзка с </a:t>
            </a:r>
            <a:r>
              <a:rPr lang="bg-BG" b="1" dirty="0"/>
              <a:t>интернет</a:t>
            </a:r>
          </a:p>
          <a:p>
            <a:pPr lvl="1"/>
            <a:r>
              <a:rPr lang="ru-RU" dirty="0"/>
              <a:t>Използва се основно за </a:t>
            </a:r>
            <a:r>
              <a:rPr lang="ru-RU" b="1" dirty="0"/>
              <a:t>телефони</a:t>
            </a:r>
            <a:r>
              <a:rPr lang="ru-RU" dirty="0"/>
              <a:t> и </a:t>
            </a:r>
            <a:r>
              <a:rPr lang="ru-RU" b="1" dirty="0"/>
              <a:t>таблети</a:t>
            </a:r>
          </a:p>
          <a:p>
            <a:pPr lvl="1"/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4G</a:t>
            </a:r>
            <a:r>
              <a:rPr lang="ru-RU" dirty="0"/>
              <a:t> и </a:t>
            </a:r>
            <a:r>
              <a:rPr lang="ru-RU" b="1" dirty="0">
                <a:solidFill>
                  <a:schemeClr val="bg1"/>
                </a:solidFill>
              </a:rPr>
              <a:t>5G</a:t>
            </a:r>
            <a:r>
              <a:rPr lang="ru-RU" dirty="0"/>
              <a:t> мрежите осигуряват отлична </a:t>
            </a:r>
            <a:r>
              <a:rPr lang="ru-RU" b="1" dirty="0"/>
              <a:t>скорост</a:t>
            </a:r>
            <a:r>
              <a:rPr lang="ru-RU" dirty="0"/>
              <a:t> на </a:t>
            </a:r>
            <a:r>
              <a:rPr lang="ru-RU" b="1" dirty="0"/>
              <a:t>данните</a:t>
            </a:r>
            <a:r>
              <a:rPr lang="ru-RU" dirty="0"/>
              <a:t>, подходяща за </a:t>
            </a:r>
            <a:r>
              <a:rPr lang="ru-RU" b="1" dirty="0"/>
              <a:t>малки предприятия </a:t>
            </a:r>
            <a:r>
              <a:rPr lang="ru-RU" dirty="0"/>
              <a:t>и </a:t>
            </a:r>
            <a:r>
              <a:rPr lang="ru-RU" b="1" dirty="0"/>
              <a:t>домашни нужди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Видове достъп до интернет</a:t>
            </a:r>
            <a:r>
              <a:rPr lang="en-US" dirty="0"/>
              <a:t> –</a:t>
            </a:r>
            <a:r>
              <a:rPr lang="bg-BG" dirty="0"/>
              <a:t> мобилен оператор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995" y="4142987"/>
            <a:ext cx="2751013" cy="2751013"/>
          </a:xfrm>
          <a:prstGeom prst="rect">
            <a:avLst/>
          </a:prstGeom>
        </p:spPr>
      </p:pic>
      <p:pic>
        <p:nvPicPr>
          <p:cNvPr id="3074" name="Picture 2" descr="Smartphone Awards 2023!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598" y="4338016"/>
            <a:ext cx="4129402" cy="232278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4G-N12 B1｜Modem Routers｜ASUS Baltics">
            <a:extLst>
              <a:ext uri="{FF2B5EF4-FFF2-40B4-BE49-F238E27FC236}">
                <a16:creationId xmlns:a16="http://schemas.microsoft.com/office/drawing/2014/main" id="{4030392F-005B-4C4E-E616-DBCFBE77E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00" y="4168079"/>
            <a:ext cx="2500921" cy="2500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64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Интернет връзката </a:t>
            </a:r>
            <a:r>
              <a:rPr lang="bg-BG" dirty="0"/>
              <a:t>чрез </a:t>
            </a:r>
            <a:r>
              <a:rPr lang="bg-BG" b="1" dirty="0">
                <a:solidFill>
                  <a:schemeClr val="bg1"/>
                </a:solidFill>
              </a:rPr>
              <a:t>сателитна чиния </a:t>
            </a:r>
            <a:r>
              <a:rPr lang="bg-BG" dirty="0"/>
              <a:t>и </a:t>
            </a:r>
            <a:r>
              <a:rPr lang="bg-BG" b="1" dirty="0">
                <a:solidFill>
                  <a:schemeClr val="bg1"/>
                </a:solidFill>
              </a:rPr>
              <a:t>приемник</a:t>
            </a:r>
          </a:p>
          <a:p>
            <a:pPr lvl="1"/>
            <a:r>
              <a:rPr lang="ru-RU" dirty="0"/>
              <a:t>Покрива </a:t>
            </a:r>
            <a:r>
              <a:rPr lang="ru-RU" b="1" dirty="0"/>
              <a:t>големи територии</a:t>
            </a:r>
            <a:r>
              <a:rPr lang="ru-RU" dirty="0"/>
              <a:t> – идеално решение за </a:t>
            </a:r>
            <a:r>
              <a:rPr lang="ru-RU" b="1" dirty="0"/>
              <a:t>изолирани райони </a:t>
            </a:r>
            <a:r>
              <a:rPr lang="ru-RU" dirty="0"/>
              <a:t>без </a:t>
            </a:r>
            <a:r>
              <a:rPr lang="ru-RU" dirty="0" err="1"/>
              <a:t>комуникационна</a:t>
            </a:r>
            <a:r>
              <a:rPr lang="ru-RU" dirty="0"/>
              <a:t> инфраструктура</a:t>
            </a:r>
            <a:endParaRPr lang="en-US" dirty="0"/>
          </a:p>
          <a:p>
            <a:pPr lvl="1"/>
            <a:r>
              <a:rPr lang="bg-BG" dirty="0"/>
              <a:t>Пример: вила в планината</a:t>
            </a:r>
            <a:endParaRPr lang="ru-RU" dirty="0"/>
          </a:p>
          <a:p>
            <a:r>
              <a:rPr lang="ru-RU" b="1" dirty="0"/>
              <a:t>Недостатъци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Зависимост от </a:t>
            </a:r>
            <a:r>
              <a:rPr lang="ru-RU" b="1" dirty="0"/>
              <a:t>атмосферните условия</a:t>
            </a:r>
          </a:p>
          <a:p>
            <a:pPr lvl="1"/>
            <a:r>
              <a:rPr lang="ru-RU" b="1" dirty="0"/>
              <a:t>Висока цена</a:t>
            </a:r>
          </a:p>
          <a:p>
            <a:pPr lvl="1"/>
            <a:r>
              <a:rPr lang="ru-RU" dirty="0"/>
              <a:t>Необходими са </a:t>
            </a:r>
            <a:r>
              <a:rPr lang="ru-RU" b="1" dirty="0"/>
              <a:t>големи</a:t>
            </a:r>
            <a:r>
              <a:rPr lang="ru-RU" dirty="0"/>
              <a:t> </a:t>
            </a:r>
            <a:r>
              <a:rPr lang="ru-RU" b="1" dirty="0"/>
              <a:t>инвестиции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Видове достъп до интернет</a:t>
            </a:r>
            <a:r>
              <a:rPr lang="en-US" dirty="0"/>
              <a:t> –</a:t>
            </a:r>
            <a:r>
              <a:rPr lang="bg-BG" dirty="0"/>
              <a:t> сателитен достъп</a:t>
            </a:r>
            <a:endParaRPr lang="en-US" dirty="0"/>
          </a:p>
        </p:txBody>
      </p:sp>
      <p:pic>
        <p:nvPicPr>
          <p:cNvPr id="4098" name="Picture 2" descr="Satellite Internet access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000" y="3210594"/>
            <a:ext cx="3345189" cy="329640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99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380598" cy="5528766"/>
          </a:xfrm>
        </p:spPr>
        <p:txBody>
          <a:bodyPr/>
          <a:lstStyle/>
          <a:p>
            <a:r>
              <a:rPr lang="ru-RU" b="1" dirty="0"/>
              <a:t>Интернет връзка </a:t>
            </a:r>
            <a:r>
              <a:rPr lang="ru-RU" dirty="0"/>
              <a:t>чрез </a:t>
            </a:r>
            <a:r>
              <a:rPr lang="ru-RU" b="1" dirty="0">
                <a:solidFill>
                  <a:schemeClr val="bg1"/>
                </a:solidFill>
              </a:rPr>
              <a:t>базова станция </a:t>
            </a:r>
            <a:r>
              <a:rPr lang="ru-RU" dirty="0"/>
              <a:t>и </a:t>
            </a:r>
            <a:r>
              <a:rPr lang="ru-RU" b="1" dirty="0">
                <a:solidFill>
                  <a:schemeClr val="bg1"/>
                </a:solidFill>
              </a:rPr>
              <a:t>двупосочна радиопредавателна </a:t>
            </a:r>
            <a:r>
              <a:rPr lang="ru-RU" dirty="0"/>
              <a:t>система</a:t>
            </a:r>
          </a:p>
          <a:p>
            <a:r>
              <a:rPr lang="ru-RU" b="1" dirty="0"/>
              <a:t>По-евтина</a:t>
            </a:r>
            <a:r>
              <a:rPr lang="ru-RU" dirty="0"/>
              <a:t> от кабелния достъп, но:</a:t>
            </a:r>
          </a:p>
          <a:p>
            <a:pPr lvl="1"/>
            <a:r>
              <a:rPr lang="ru-RU" b="1" dirty="0"/>
              <a:t>По-бавна</a:t>
            </a:r>
            <a:r>
              <a:rPr lang="ru-RU" dirty="0"/>
              <a:t> и </a:t>
            </a:r>
            <a:r>
              <a:rPr lang="ru-RU" b="1" dirty="0"/>
              <a:t>несигурна</a:t>
            </a:r>
          </a:p>
          <a:p>
            <a:pPr lvl="1">
              <a:spcAft>
                <a:spcPts val="0"/>
              </a:spcAft>
            </a:pPr>
            <a:r>
              <a:rPr lang="ru-RU" dirty="0"/>
              <a:t>Зависима от </a:t>
            </a:r>
            <a:r>
              <a:rPr lang="ru-RU" b="1" dirty="0"/>
              <a:t>атмосферните условия </a:t>
            </a:r>
            <a:endParaRPr lang="en-US" b="1" dirty="0"/>
          </a:p>
          <a:p>
            <a:pPr marL="442912" lvl="1" indent="0">
              <a:spcBef>
                <a:spcPts val="0"/>
              </a:spcBef>
              <a:buNone/>
            </a:pPr>
            <a:r>
              <a:rPr lang="ru-RU" dirty="0"/>
              <a:t>и</a:t>
            </a:r>
            <a:r>
              <a:rPr lang="en-US" dirty="0"/>
              <a:t> </a:t>
            </a:r>
            <a:r>
              <a:rPr lang="ru-RU" b="1" dirty="0"/>
              <a:t>видимостта</a:t>
            </a:r>
            <a:r>
              <a:rPr lang="ru-RU" dirty="0"/>
              <a:t> към </a:t>
            </a:r>
            <a:r>
              <a:rPr lang="ru-RU" b="1" dirty="0"/>
              <a:t>базовата станция</a:t>
            </a:r>
          </a:p>
          <a:p>
            <a:pPr>
              <a:spcAft>
                <a:spcPts val="0"/>
              </a:spcAft>
            </a:pPr>
            <a:r>
              <a:rPr lang="ru-RU" dirty="0"/>
              <a:t>Свързването става с </a:t>
            </a:r>
            <a:r>
              <a:rPr lang="ru-RU" b="1" dirty="0"/>
              <a:t>потребителско 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    </a:t>
            </a:r>
            <a:r>
              <a:rPr lang="ru-RU" b="1" dirty="0"/>
              <a:t>име</a:t>
            </a:r>
            <a:r>
              <a:rPr lang="ru-RU" dirty="0"/>
              <a:t> и </a:t>
            </a:r>
            <a:r>
              <a:rPr lang="ru-RU" b="1" dirty="0"/>
              <a:t>парола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Видове достъп до интернет</a:t>
            </a:r>
            <a:r>
              <a:rPr lang="en-US" dirty="0"/>
              <a:t> –</a:t>
            </a:r>
            <a:r>
              <a:rPr lang="bg-BG" dirty="0"/>
              <a:t> радиовръзка</a:t>
            </a:r>
            <a:endParaRPr lang="en-US" dirty="0"/>
          </a:p>
        </p:txBody>
      </p:sp>
      <p:pic>
        <p:nvPicPr>
          <p:cNvPr id="5122" name="Picture 2" descr="Radio enlaces: ¿Qué son y para qué se utilizan? - Revista Seguridad 360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536" y="2799000"/>
            <a:ext cx="4194464" cy="279721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3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Указател на полезни адреси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Уеб браузър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781" y="1359000"/>
            <a:ext cx="3112438" cy="248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7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Picture 14" descr="Firefox logo - Wikipedia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593" y="2141011"/>
            <a:ext cx="2157137" cy="224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Най-използваните</a:t>
            </a:r>
            <a:r>
              <a:rPr lang="bg-BG" dirty="0"/>
              <a:t> браузъри са: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accent3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o</a:t>
            </a:r>
            <a:r>
              <a:rPr lang="en-US" b="1" dirty="0">
                <a:solidFill>
                  <a:schemeClr val="accent1"/>
                </a:solidFill>
              </a:rPr>
              <a:t>o</a:t>
            </a:r>
            <a:r>
              <a:rPr lang="en-US" b="1" dirty="0">
                <a:solidFill>
                  <a:srgbClr val="00B0F0"/>
                </a:solidFill>
              </a:rPr>
              <a:t>g</a:t>
            </a:r>
            <a:r>
              <a:rPr lang="en-US" b="1" dirty="0">
                <a:solidFill>
                  <a:schemeClr val="accent2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e </a:t>
            </a:r>
            <a:r>
              <a:rPr lang="en-US" dirty="0"/>
              <a:t>Chrome</a:t>
            </a:r>
          </a:p>
          <a:p>
            <a:pPr lvl="1"/>
            <a:r>
              <a:rPr lang="en-US" dirty="0"/>
              <a:t>Mozilla Firefox</a:t>
            </a:r>
          </a:p>
          <a:p>
            <a:pPr lvl="1"/>
            <a:r>
              <a:rPr lang="en-US" dirty="0"/>
              <a:t>Opera</a:t>
            </a:r>
          </a:p>
          <a:p>
            <a:pPr lvl="1"/>
            <a:r>
              <a:rPr lang="en-US" dirty="0"/>
              <a:t>Safari</a:t>
            </a:r>
          </a:p>
          <a:p>
            <a:pPr lvl="1"/>
            <a:r>
              <a:rPr lang="en-US" dirty="0"/>
              <a:t>Microsoft Edge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Най-популярни бразузъри</a:t>
            </a:r>
            <a:endParaRPr lang="en-US" dirty="0"/>
          </a:p>
        </p:txBody>
      </p:sp>
      <p:pic>
        <p:nvPicPr>
          <p:cNvPr id="2050" name="Picture 2" descr="upload.wikimedia.org/wikipedia/commons/thumb/e/e1/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500" y="2417999"/>
            <a:ext cx="1911001" cy="191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pera (браузър) – Уикипедия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5576" y="2349000"/>
            <a:ext cx="1900424" cy="190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undefined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203" y="4629953"/>
            <a:ext cx="2066497" cy="2057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upload.wikimedia.org/wikipedia/commons/thumb/7/7e/...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500" y="4629953"/>
            <a:ext cx="2002248" cy="200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75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Указател на полезни адреси </a:t>
            </a:r>
            <a:r>
              <a:rPr lang="en-US" dirty="0"/>
              <a:t>(</a:t>
            </a:r>
            <a:r>
              <a:rPr lang="en-US" b="1" dirty="0"/>
              <a:t>Bookmarks</a:t>
            </a:r>
            <a:r>
              <a:rPr lang="en-US" dirty="0"/>
              <a:t>) </a:t>
            </a:r>
            <a:r>
              <a:rPr lang="bg-BG" dirty="0"/>
              <a:t>– позволява </a:t>
            </a:r>
            <a:r>
              <a:rPr lang="bg-BG" b="1" dirty="0"/>
              <a:t>запазването</a:t>
            </a:r>
            <a:r>
              <a:rPr lang="bg-BG" dirty="0"/>
              <a:t> на </a:t>
            </a:r>
            <a:r>
              <a:rPr lang="bg-BG" b="1" dirty="0"/>
              <a:t>често използвани </a:t>
            </a:r>
            <a:r>
              <a:rPr lang="bg-BG" dirty="0"/>
              <a:t>уеб </a:t>
            </a:r>
            <a:r>
              <a:rPr lang="bg-BG" b="1" dirty="0"/>
              <a:t>страници</a:t>
            </a:r>
          </a:p>
          <a:p>
            <a:pPr lvl="1"/>
            <a:r>
              <a:rPr lang="ru-RU" b="1" dirty="0"/>
              <a:t>Избягва</a:t>
            </a:r>
            <a:r>
              <a:rPr lang="ru-RU" dirty="0"/>
              <a:t> необходимостта от </a:t>
            </a:r>
            <a:r>
              <a:rPr lang="ru-RU" b="1" dirty="0"/>
              <a:t>повторно</a:t>
            </a:r>
            <a:r>
              <a:rPr lang="ru-RU" dirty="0"/>
              <a:t> изписване на </a:t>
            </a:r>
            <a:r>
              <a:rPr lang="ru-RU" b="1" dirty="0"/>
              <a:t>адреси</a:t>
            </a:r>
          </a:p>
          <a:p>
            <a:pPr lvl="1"/>
            <a:r>
              <a:rPr lang="ru-RU" dirty="0"/>
              <a:t>Подбраните страници могат да се </a:t>
            </a:r>
            <a:r>
              <a:rPr lang="ru-RU" b="1" dirty="0"/>
              <a:t>организират</a:t>
            </a:r>
            <a:r>
              <a:rPr lang="ru-RU" dirty="0"/>
              <a:t> в </a:t>
            </a:r>
            <a:r>
              <a:rPr lang="ru-RU" b="1" dirty="0"/>
              <a:t>папки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Указател на полезни адреси</a:t>
            </a:r>
            <a:endParaRPr lang="en-US" dirty="0"/>
          </a:p>
        </p:txBody>
      </p:sp>
      <p:pic>
        <p:nvPicPr>
          <p:cNvPr id="3074" name="Picture 2" descr="Google Chrome Tutorial: Save Bookmarks as Icons Onl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425" y="3904487"/>
            <a:ext cx="5014050" cy="282040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7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00" y="1158958"/>
            <a:ext cx="10405277" cy="563619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3944" t="2519" r="3944" b="52869"/>
          <a:stretch/>
        </p:blipFill>
        <p:spPr>
          <a:xfrm>
            <a:off x="3846000" y="2821388"/>
            <a:ext cx="4095000" cy="384761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7107" t="2329" r="7611" b="52307"/>
          <a:stretch/>
        </p:blipFill>
        <p:spPr>
          <a:xfrm>
            <a:off x="7941000" y="1584000"/>
            <a:ext cx="3340277" cy="361479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Bookmarks manager </a:t>
            </a:r>
            <a:r>
              <a:rPr lang="bg-BG" dirty="0"/>
              <a:t>в </a:t>
            </a:r>
            <a:r>
              <a:rPr lang="en-US" dirty="0"/>
              <a:t>Google Chrome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9966000" y="1584000"/>
            <a:ext cx="1125000" cy="990000"/>
          </a:xfrm>
          <a:prstGeom prst="straightConnector1">
            <a:avLst/>
          </a:prstGeom>
          <a:ln w="1143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 bwMode="auto">
          <a:xfrm>
            <a:off x="7941000" y="4230291"/>
            <a:ext cx="3340277" cy="27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510060" y="1778213"/>
            <a:ext cx="5376753" cy="1591573"/>
          </a:xfrm>
          <a:prstGeom prst="wedgeRoundRectCallout">
            <a:avLst>
              <a:gd name="adj1" fmla="val 20145"/>
              <a:gd name="adj2" fmla="val 10627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да отворим и да разгледаме запазените ни адреси и папки, избираме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Bookmark manager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3846000" y="4337174"/>
            <a:ext cx="4095000" cy="27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821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Bookmarks manager </a:t>
            </a:r>
            <a:r>
              <a:rPr lang="bg-BG" dirty="0"/>
              <a:t>в </a:t>
            </a:r>
            <a:r>
              <a:rPr lang="en-US" dirty="0"/>
              <a:t>Google Chrome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08" y="1149692"/>
            <a:ext cx="10422384" cy="56454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ounded Rectangular Callout 7"/>
          <p:cNvSpPr/>
          <p:nvPr/>
        </p:nvSpPr>
        <p:spPr bwMode="auto">
          <a:xfrm>
            <a:off x="1281000" y="4284000"/>
            <a:ext cx="4725000" cy="1080000"/>
          </a:xfrm>
          <a:prstGeom prst="wedgeRoundRectCallout">
            <a:avLst>
              <a:gd name="adj1" fmla="val -21228"/>
              <a:gd name="adj2" fmla="val 4556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отваря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указателят на  полезни адреси</a:t>
            </a:r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</a:t>
            </a:r>
            <a:r>
              <a:rPr lang="en-US" sz="2800" b="1" dirty="0">
                <a:solidFill>
                  <a:schemeClr val="accent3"/>
                </a:solidFill>
              </a:rPr>
              <a:t>G</a:t>
            </a:r>
            <a:r>
              <a:rPr lang="en-US" sz="2800" b="1" dirty="0">
                <a:solidFill>
                  <a:srgbClr val="FF0000"/>
                </a:solidFill>
              </a:rPr>
              <a:t>o</a:t>
            </a:r>
            <a:r>
              <a:rPr lang="en-US" sz="2800" b="1" dirty="0">
                <a:solidFill>
                  <a:schemeClr val="accent1"/>
                </a:solidFill>
              </a:rPr>
              <a:t>o</a:t>
            </a:r>
            <a:r>
              <a:rPr lang="en-US" sz="2800" b="1" dirty="0">
                <a:solidFill>
                  <a:srgbClr val="00B0F0"/>
                </a:solidFill>
              </a:rPr>
              <a:t>g</a:t>
            </a:r>
            <a:r>
              <a:rPr lang="en-US" sz="2800" b="1" dirty="0">
                <a:solidFill>
                  <a:schemeClr val="accent2"/>
                </a:solidFill>
              </a:rPr>
              <a:t>l</a:t>
            </a:r>
            <a:r>
              <a:rPr lang="en-US" sz="2800" b="1" dirty="0">
                <a:solidFill>
                  <a:srgbClr val="FF0000"/>
                </a:solidFill>
              </a:rPr>
              <a:t>e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223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Bookmarks</a:t>
            </a:r>
            <a:r>
              <a:rPr lang="bg-BG" dirty="0"/>
              <a:t> – елементи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08" y="1149692"/>
            <a:ext cx="10422384" cy="56454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Rounded Rectangular Callout 8"/>
          <p:cNvSpPr/>
          <p:nvPr/>
        </p:nvSpPr>
        <p:spPr bwMode="auto">
          <a:xfrm>
            <a:off x="561000" y="3757711"/>
            <a:ext cx="3420000" cy="1035001"/>
          </a:xfrm>
          <a:prstGeom prst="wedgeRoundRectCallout">
            <a:avLst>
              <a:gd name="adj1" fmla="val -12677"/>
              <a:gd name="adj2" fmla="val -10413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Секция с папки със запазените адреси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781000" y="2259000"/>
            <a:ext cx="1890000" cy="720000"/>
          </a:xfrm>
          <a:prstGeom prst="wedgeRoundRectCallout">
            <a:avLst>
              <a:gd name="adj1" fmla="val -68753"/>
              <a:gd name="adj2" fmla="val -6208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Търсачка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9201000" y="2169000"/>
            <a:ext cx="2790000" cy="1035000"/>
          </a:xfrm>
          <a:prstGeom prst="wedgeRoundRectCallout">
            <a:avLst>
              <a:gd name="adj1" fmla="val -46116"/>
              <a:gd name="adj2" fmla="val 9531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Запазените полезни адреси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520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Bookmarks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08" y="1149692"/>
            <a:ext cx="10422384" cy="56454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12" name="Straight Arrow Connector 11"/>
          <p:cNvCxnSpPr/>
          <p:nvPr/>
        </p:nvCxnSpPr>
        <p:spPr>
          <a:xfrm flipV="1">
            <a:off x="9651000" y="2079000"/>
            <a:ext cx="1170000" cy="976124"/>
          </a:xfrm>
          <a:prstGeom prst="straightConnector1">
            <a:avLst/>
          </a:prstGeom>
          <a:ln w="1143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000" y="1764000"/>
            <a:ext cx="2090194" cy="3753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3306000" y="2709000"/>
            <a:ext cx="4860000" cy="1755000"/>
          </a:xfrm>
          <a:prstGeom prst="wedgeRoundRectCallout">
            <a:avLst>
              <a:gd name="adj1" fmla="val 69946"/>
              <a:gd name="adj2" fmla="val -4009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3306000" y="2695317"/>
            <a:ext cx="4860000" cy="1768683"/>
          </a:xfrm>
          <a:prstGeom prst="wedgeRoundRectCallout">
            <a:avLst>
              <a:gd name="adj1" fmla="val 68793"/>
              <a:gd name="adj2" fmla="val -1542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Оттук можем да създаваме нови папки и да добавяме </a:t>
            </a:r>
          </a:p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уеб адреси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903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08" y="1149692"/>
            <a:ext cx="10422384" cy="56454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000" y="1764000"/>
            <a:ext cx="2090194" cy="3753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3" name="Rectangle 2"/>
          <p:cNvSpPr/>
          <p:nvPr/>
        </p:nvSpPr>
        <p:spPr bwMode="auto">
          <a:xfrm>
            <a:off x="8931000" y="3024000"/>
            <a:ext cx="2090194" cy="54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Bookmarks</a:t>
            </a:r>
            <a:r>
              <a:rPr lang="bg-BG" dirty="0"/>
              <a:t> – добавяне на папка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1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Bookmarks</a:t>
            </a:r>
            <a:r>
              <a:rPr lang="bg-BG" dirty="0"/>
              <a:t> – добавяне на папка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08" y="1131693"/>
            <a:ext cx="10422384" cy="56454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ounded Rectangular Callout 7"/>
          <p:cNvSpPr/>
          <p:nvPr/>
        </p:nvSpPr>
        <p:spPr bwMode="auto">
          <a:xfrm>
            <a:off x="5871000" y="2034000"/>
            <a:ext cx="4365000" cy="1395000"/>
          </a:xfrm>
          <a:prstGeom prst="wedgeRoundRectCallout">
            <a:avLst>
              <a:gd name="adj1" fmla="val -31962"/>
              <a:gd name="adj2" fmla="val 7683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текстовото поле изписваме как искаме да се казва нашата папка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8661000" y="5094000"/>
            <a:ext cx="1125000" cy="810000"/>
          </a:xfrm>
          <a:prstGeom prst="straightConnector1">
            <a:avLst/>
          </a:prstGeom>
          <a:ln w="1143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60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09" y="1128405"/>
            <a:ext cx="10428458" cy="564874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Bookmarks</a:t>
            </a:r>
            <a:r>
              <a:rPr lang="bg-BG" dirty="0"/>
              <a:t> – добавяне на папка</a:t>
            </a:r>
            <a:endParaRPr lang="en-US" dirty="0"/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3531000" y="2484000"/>
            <a:ext cx="4725000" cy="1395000"/>
          </a:xfrm>
          <a:prstGeom prst="wedgeRoundRectCallout">
            <a:avLst>
              <a:gd name="adj1" fmla="val -60789"/>
              <a:gd name="adj2" fmla="val -399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Папките се организират подобно на файловата система на компютъра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6591000" y="4824000"/>
            <a:ext cx="3600000" cy="1125000"/>
          </a:xfrm>
          <a:prstGeom prst="wedgeRoundRectCallout">
            <a:avLst>
              <a:gd name="adj1" fmla="val -26141"/>
              <a:gd name="adj2" fmla="val 3281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създава нова празна папка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248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09" y="1128405"/>
            <a:ext cx="10428458" cy="564874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Bookmarks</a:t>
            </a:r>
            <a:r>
              <a:rPr lang="bg-BG" dirty="0"/>
              <a:t> – добавяне на адрес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000" y="1764000"/>
            <a:ext cx="2090194" cy="3753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Rectangle 8"/>
          <p:cNvSpPr/>
          <p:nvPr/>
        </p:nvSpPr>
        <p:spPr bwMode="auto">
          <a:xfrm>
            <a:off x="8931000" y="2529000"/>
            <a:ext cx="2090194" cy="54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718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10" y="1128406"/>
            <a:ext cx="10428458" cy="564874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Bookmarks</a:t>
            </a:r>
            <a:r>
              <a:rPr lang="bg-BG" dirty="0"/>
              <a:t> – добавяне на адрес</a:t>
            </a:r>
            <a:endParaRPr lang="en-US" dirty="0"/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7041000" y="1584000"/>
            <a:ext cx="4590000" cy="1530000"/>
          </a:xfrm>
          <a:prstGeom prst="wedgeRoundRectCallout">
            <a:avLst>
              <a:gd name="adj1" fmla="val -30094"/>
              <a:gd name="adj2" fmla="val 7185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първото текстово поле се изписва името на сайта, който ще добавим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1146000" y="5230779"/>
            <a:ext cx="5400000" cy="1276221"/>
          </a:xfrm>
          <a:prstGeom prst="wedgeRoundRectCallout">
            <a:avLst>
              <a:gd name="adj1" fmla="val 35358"/>
              <a:gd name="adj2" fmla="val -8143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URL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полето въвеждаме адреса на избрания от нас сайт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8864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10" y="1128407"/>
            <a:ext cx="10428458" cy="564874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Bookmarks</a:t>
            </a:r>
            <a:r>
              <a:rPr lang="bg-BG" dirty="0"/>
              <a:t> – добавяне на адрес</a:t>
            </a:r>
            <a:endParaRPr lang="en-US" dirty="0"/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1866000" y="3879000"/>
            <a:ext cx="3780000" cy="1215000"/>
          </a:xfrm>
          <a:prstGeom prst="wedgeRoundRectCallout">
            <a:avLst>
              <a:gd name="adj1" fmla="val 36782"/>
              <a:gd name="adj2" fmla="val -10423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появява новият запазен адрес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832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Bookmarks</a:t>
            </a:r>
            <a:r>
              <a:rPr lang="bg-BG" dirty="0"/>
              <a:t> – добавяне на адрес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040" y="1179000"/>
            <a:ext cx="8451920" cy="5535808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 bwMode="auto">
          <a:xfrm>
            <a:off x="4836000" y="2844000"/>
            <a:ext cx="4680000" cy="1530000"/>
          </a:xfrm>
          <a:prstGeom prst="wedgeRoundRectCallout">
            <a:avLst>
              <a:gd name="adj1" fmla="val 37956"/>
              <a:gd name="adj2" fmla="val -11300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Друг начин за добавяне на адреси е чрез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звездичката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 адресното поле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254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040" y="1179000"/>
            <a:ext cx="8451920" cy="553580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Bookmarks</a:t>
            </a:r>
            <a:r>
              <a:rPr lang="bg-BG" dirty="0"/>
              <a:t> – добавяне на адрес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2181000" y="4374000"/>
            <a:ext cx="5490000" cy="1575000"/>
          </a:xfrm>
          <a:prstGeom prst="wedgeRoundRectCallout">
            <a:avLst>
              <a:gd name="adj1" fmla="val 31133"/>
              <a:gd name="adj2" fmla="val -10660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Добавянето става по същия начин – избираме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адреса и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папка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в която да бъде запазен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822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39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Компютърна мрежа </a:t>
            </a:r>
            <a:r>
              <a:rPr lang="ru-RU" sz="2800" b="1" dirty="0">
                <a:solidFill>
                  <a:schemeClr val="bg2"/>
                </a:solidFill>
              </a:rPr>
              <a:t>– </a:t>
            </a:r>
            <a:r>
              <a:rPr lang="ru-RU" sz="2800" dirty="0">
                <a:solidFill>
                  <a:schemeClr val="bg2"/>
                </a:solidFill>
              </a:rPr>
              <a:t>група от </a:t>
            </a:r>
            <a:r>
              <a:rPr lang="ru-RU" sz="2800" b="1" dirty="0">
                <a:solidFill>
                  <a:schemeClr val="bg2"/>
                </a:solidFill>
              </a:rPr>
              <a:t>свързани устройства</a:t>
            </a:r>
            <a:r>
              <a:rPr lang="ru-RU" sz="2800" dirty="0">
                <a:solidFill>
                  <a:schemeClr val="bg2"/>
                </a:solidFill>
              </a:rPr>
              <a:t>, които </a:t>
            </a:r>
            <a:r>
              <a:rPr lang="ru-RU" sz="2800" b="1" dirty="0">
                <a:solidFill>
                  <a:schemeClr val="bg2"/>
                </a:solidFill>
              </a:rPr>
              <a:t>обменят</a:t>
            </a:r>
            <a:r>
              <a:rPr lang="ru-RU" sz="2800" dirty="0">
                <a:solidFill>
                  <a:schemeClr val="bg2"/>
                </a:solidFill>
              </a:rPr>
              <a:t> </a:t>
            </a:r>
            <a:r>
              <a:rPr lang="ru-RU" sz="2800" b="1" dirty="0">
                <a:solidFill>
                  <a:schemeClr val="bg2"/>
                </a:solidFill>
              </a:rPr>
              <a:t>данни</a:t>
            </a:r>
            <a:r>
              <a:rPr lang="ru-RU" sz="2800" dirty="0">
                <a:solidFill>
                  <a:schemeClr val="bg2"/>
                </a:solidFill>
              </a:rPr>
              <a:t> и споделят </a:t>
            </a:r>
            <a:r>
              <a:rPr lang="ru-RU" sz="2800" b="1" dirty="0">
                <a:solidFill>
                  <a:schemeClr val="bg2"/>
                </a:solidFill>
              </a:rPr>
              <a:t>ресурси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bg-BG" sz="2600" b="1" dirty="0">
                <a:solidFill>
                  <a:schemeClr val="bg2"/>
                </a:solidFill>
              </a:rPr>
              <a:t>Локална компютърна мрежа </a:t>
            </a:r>
            <a:r>
              <a:rPr lang="bg-BG" sz="2600" dirty="0">
                <a:solidFill>
                  <a:schemeClr val="bg2"/>
                </a:solidFill>
              </a:rPr>
              <a:t>(</a:t>
            </a:r>
            <a:r>
              <a:rPr lang="en-US" sz="2600" dirty="0">
                <a:solidFill>
                  <a:schemeClr val="bg2"/>
                </a:solidFill>
              </a:rPr>
              <a:t>LAN</a:t>
            </a:r>
            <a:r>
              <a:rPr lang="bg-BG" sz="2600" dirty="0">
                <a:solidFill>
                  <a:schemeClr val="bg2"/>
                </a:solidFill>
              </a:rPr>
              <a:t>)</a:t>
            </a:r>
            <a:endParaRPr lang="en-US" sz="2600" dirty="0">
              <a:solidFill>
                <a:schemeClr val="bg2"/>
              </a:solidFill>
            </a:endParaRP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bg-BG" sz="2600" b="1" dirty="0">
                <a:solidFill>
                  <a:schemeClr val="bg2"/>
                </a:solidFill>
              </a:rPr>
              <a:t>Глобална компютърна мрежа </a:t>
            </a:r>
            <a:r>
              <a:rPr lang="bg-BG" sz="2600" dirty="0">
                <a:solidFill>
                  <a:schemeClr val="bg2"/>
                </a:solidFill>
              </a:rPr>
              <a:t>(</a:t>
            </a:r>
            <a:r>
              <a:rPr lang="en-US" sz="2600" dirty="0">
                <a:solidFill>
                  <a:schemeClr val="bg2"/>
                </a:solidFill>
              </a:rPr>
              <a:t>WAN</a:t>
            </a:r>
            <a:r>
              <a:rPr lang="bg-BG" sz="2600" dirty="0">
                <a:solidFill>
                  <a:schemeClr val="bg2"/>
                </a:solidFill>
              </a:rPr>
              <a:t>)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Интернет</a:t>
            </a:r>
            <a:r>
              <a:rPr lang="ru-RU" sz="2800" dirty="0">
                <a:solidFill>
                  <a:schemeClr val="bg2"/>
                </a:solidFill>
              </a:rPr>
              <a:t> – </a:t>
            </a:r>
            <a:r>
              <a:rPr lang="ru-RU" sz="2800" b="1" dirty="0">
                <a:solidFill>
                  <a:schemeClr val="bg2"/>
                </a:solidFill>
              </a:rPr>
              <a:t>глобална мрежа</a:t>
            </a:r>
            <a:r>
              <a:rPr lang="ru-RU" sz="2800" dirty="0">
                <a:solidFill>
                  <a:schemeClr val="bg2"/>
                </a:solidFill>
              </a:rPr>
              <a:t>, която </a:t>
            </a:r>
            <a:r>
              <a:rPr lang="ru-RU" sz="2800" b="1" dirty="0">
                <a:solidFill>
                  <a:schemeClr val="bg2"/>
                </a:solidFill>
              </a:rPr>
              <a:t>свързва</a:t>
            </a:r>
            <a:r>
              <a:rPr lang="ru-RU" sz="2800" dirty="0">
                <a:solidFill>
                  <a:schemeClr val="bg2"/>
                </a:solidFill>
              </a:rPr>
              <a:t> милиарди </a:t>
            </a:r>
            <a:r>
              <a:rPr lang="ru-RU" sz="2800" b="1" dirty="0">
                <a:solidFill>
                  <a:schemeClr val="bg2"/>
                </a:solidFill>
              </a:rPr>
              <a:t>устройства</a:t>
            </a:r>
            <a:r>
              <a:rPr lang="ru-RU" sz="2800" dirty="0">
                <a:solidFill>
                  <a:schemeClr val="bg2"/>
                </a:solidFill>
              </a:rPr>
              <a:t> и позволява </a:t>
            </a:r>
            <a:r>
              <a:rPr lang="ru-RU" sz="2800" b="1" dirty="0">
                <a:solidFill>
                  <a:schemeClr val="bg2"/>
                </a:solidFill>
              </a:rPr>
              <a:t>обмен</a:t>
            </a:r>
            <a:r>
              <a:rPr lang="ru-RU" sz="2800" dirty="0">
                <a:solidFill>
                  <a:schemeClr val="bg2"/>
                </a:solidFill>
              </a:rPr>
              <a:t> на </a:t>
            </a:r>
            <a:r>
              <a:rPr lang="ru-RU" sz="2800" b="1" dirty="0">
                <a:solidFill>
                  <a:schemeClr val="bg2"/>
                </a:solidFill>
              </a:rPr>
              <a:t>информация</a:t>
            </a:r>
            <a:r>
              <a:rPr lang="ru-RU" sz="2800" dirty="0">
                <a:solidFill>
                  <a:schemeClr val="bg2"/>
                </a:solidFill>
              </a:rPr>
              <a:t>, </a:t>
            </a:r>
            <a:r>
              <a:rPr lang="ru-RU" sz="2800" b="1" dirty="0">
                <a:solidFill>
                  <a:schemeClr val="bg2"/>
                </a:solidFill>
              </a:rPr>
              <a:t>комуникация</a:t>
            </a:r>
            <a:r>
              <a:rPr lang="ru-RU" sz="2800" dirty="0">
                <a:solidFill>
                  <a:schemeClr val="bg2"/>
                </a:solidFill>
              </a:rPr>
              <a:t> и </a:t>
            </a:r>
            <a:r>
              <a:rPr lang="bg-BG" sz="2800" dirty="0">
                <a:solidFill>
                  <a:schemeClr val="bg2"/>
                </a:solidFill>
              </a:rPr>
              <a:t>т.н.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Указател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полезни адреси </a:t>
            </a:r>
            <a:r>
              <a:rPr lang="bg-BG" sz="2800" dirty="0">
                <a:solidFill>
                  <a:schemeClr val="bg2"/>
                </a:solidFill>
              </a:rPr>
              <a:t>в </a:t>
            </a:r>
            <a:r>
              <a:rPr lang="en-US" sz="2800" b="1" dirty="0">
                <a:solidFill>
                  <a:schemeClr val="accent3"/>
                </a:solidFill>
              </a:rPr>
              <a:t>G</a:t>
            </a:r>
            <a:r>
              <a:rPr lang="en-US" sz="2800" b="1" dirty="0">
                <a:solidFill>
                  <a:srgbClr val="FF0000"/>
                </a:solidFill>
              </a:rPr>
              <a:t>o</a:t>
            </a:r>
            <a:r>
              <a:rPr lang="en-US" sz="2800" b="1" dirty="0">
                <a:solidFill>
                  <a:schemeClr val="accent1"/>
                </a:solidFill>
              </a:rPr>
              <a:t>o</a:t>
            </a:r>
            <a:r>
              <a:rPr lang="en-US" sz="2800" b="1" dirty="0">
                <a:solidFill>
                  <a:srgbClr val="00B0F0"/>
                </a:solidFill>
              </a:rPr>
              <a:t>g</a:t>
            </a:r>
            <a:r>
              <a:rPr lang="en-US" sz="2800" b="1" dirty="0">
                <a:solidFill>
                  <a:schemeClr val="accent2"/>
                </a:solidFill>
              </a:rPr>
              <a:t>l</a:t>
            </a:r>
            <a:r>
              <a:rPr lang="en-US" sz="2800" b="1" dirty="0">
                <a:solidFill>
                  <a:srgbClr val="FF0000"/>
                </a:solidFill>
              </a:rPr>
              <a:t>e</a:t>
            </a:r>
            <a:r>
              <a:rPr lang="bg-BG" sz="2800" dirty="0">
                <a:solidFill>
                  <a:schemeClr val="bg2"/>
                </a:solidFill>
              </a:rPr>
              <a:t> </a:t>
            </a:r>
            <a:endParaRPr lang="en-US" sz="28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endParaRPr lang="ru-RU" sz="28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endParaRPr lang="bg-BG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4147</TotalTime>
  <Words>1350</Words>
  <Application>Microsoft Office PowerPoint</Application>
  <PresentationFormat>Widescreen</PresentationFormat>
  <Paragraphs>232</Paragraphs>
  <Slides>41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Consolas</vt:lpstr>
      <vt:lpstr>Wingdings</vt:lpstr>
      <vt:lpstr>SoftUni</vt:lpstr>
      <vt:lpstr>Същност на глобалната  мрежа Интернет</vt:lpstr>
      <vt:lpstr>Съдържание</vt:lpstr>
      <vt:lpstr>Компютърна мрежа</vt:lpstr>
      <vt:lpstr>Какво е компютърна мрежа?</vt:lpstr>
      <vt:lpstr>Видове компютърни мрежи</vt:lpstr>
      <vt:lpstr>Локална компютърна мрежа (LAN)</vt:lpstr>
      <vt:lpstr>Глобална компютърна мрежа (WAN)</vt:lpstr>
      <vt:lpstr>Интернет</vt:lpstr>
      <vt:lpstr>Достъп до интернет</vt:lpstr>
      <vt:lpstr>Достъп до интернет</vt:lpstr>
      <vt:lpstr>Доставчици </vt:lpstr>
      <vt:lpstr>Интернет скорост</vt:lpstr>
      <vt:lpstr>Мрежови устройства</vt:lpstr>
      <vt:lpstr>Контрол на достъпа</vt:lpstr>
      <vt:lpstr>Потребителско име</vt:lpstr>
      <vt:lpstr>Парола</vt:lpstr>
      <vt:lpstr>Видове достъп до интернет</vt:lpstr>
      <vt:lpstr>Видове достъп до интернет – LAN (1)</vt:lpstr>
      <vt:lpstr>Видове достъп до интернет – LAN (2)</vt:lpstr>
      <vt:lpstr>Видове достъп до интернет – телефонен кабел</vt:lpstr>
      <vt:lpstr>Видове достъп до интернет – мобилен оператор</vt:lpstr>
      <vt:lpstr>Видове достъп до интернет – сателитен достъп</vt:lpstr>
      <vt:lpstr>Видове достъп до интернет – радиовръзка</vt:lpstr>
      <vt:lpstr>Уеб браузър</vt:lpstr>
      <vt:lpstr>Най-популярни бразузъри</vt:lpstr>
      <vt:lpstr>Указател на полезни адреси</vt:lpstr>
      <vt:lpstr>Bookmarks manager в Google Chrome</vt:lpstr>
      <vt:lpstr>Bookmarks manager в Google Chrome</vt:lpstr>
      <vt:lpstr>Bookmarks – елементи</vt:lpstr>
      <vt:lpstr>Bookmarks</vt:lpstr>
      <vt:lpstr>Bookmarks – добавяне на папка</vt:lpstr>
      <vt:lpstr>Bookmarks – добавяне на папка</vt:lpstr>
      <vt:lpstr>Bookmarks – добавяне на папка</vt:lpstr>
      <vt:lpstr>Bookmarks – добавяне на адрес</vt:lpstr>
      <vt:lpstr>Bookmarks – добавяне на адрес</vt:lpstr>
      <vt:lpstr>Bookmarks – добавяне на адрес</vt:lpstr>
      <vt:lpstr>Bookmarks – добавяне на адрес</vt:lpstr>
      <vt:lpstr>Bookmarks – добавяне на адрес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Същност на глобалната мрежа интернет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488</cp:revision>
  <dcterms:created xsi:type="dcterms:W3CDTF">2018-05-23T13:08:44Z</dcterms:created>
  <dcterms:modified xsi:type="dcterms:W3CDTF">2026-09-25T09:02:54Z</dcterms:modified>
  <cp:category/>
</cp:coreProperties>
</file>