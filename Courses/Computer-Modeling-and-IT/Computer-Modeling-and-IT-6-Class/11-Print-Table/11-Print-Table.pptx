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2"/>
  </p:notesMasterIdLst>
  <p:handoutMasterIdLst>
    <p:handoutMasterId r:id="rId23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3" r:id="rId10"/>
    <p:sldId id="594" r:id="rId11"/>
    <p:sldId id="595" r:id="rId12"/>
    <p:sldId id="596" r:id="rId13"/>
    <p:sldId id="597" r:id="rId14"/>
    <p:sldId id="598" r:id="rId15"/>
    <p:sldId id="599" r:id="rId16"/>
    <p:sldId id="601" r:id="rId17"/>
    <p:sldId id="602" r:id="rId18"/>
    <p:sldId id="586" r:id="rId19"/>
    <p:sldId id="504" r:id="rId20"/>
    <p:sldId id="50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͏Настройки за отпечатване на таблица" id="{863BD062-3121-4220-9509-BD606D3C71EA}">
          <p14:sldIdLst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</p14:sldIdLst>
        </p14:section>
        <p14:section name="Отпечатване на таблица" id="{0513C316-E51D-48F6-894A-96DFD8A7CF1B}">
          <p14:sldIdLst>
            <p14:sldId id="595"/>
            <p14:sldId id="596"/>
            <p14:sldId id="597"/>
            <p14:sldId id="598"/>
            <p14:sldId id="599"/>
            <p14:sldId id="601"/>
            <p14:sldId id="602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80808"/>
    <a:srgbClr val="EA9100"/>
    <a:srgbClr val="0000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4" autoAdjust="0"/>
    <p:restoredTop sz="93784" autoAdjust="0"/>
  </p:normalViewPr>
  <p:slideViewPr>
    <p:cSldViewPr showGuides="1">
      <p:cViewPr varScale="1">
        <p:scale>
          <a:sx n="104" d="100"/>
          <a:sy n="104" d="100"/>
        </p:scale>
        <p:origin x="876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2160395"/>
          </a:xfrm>
        </p:spPr>
        <p:txBody>
          <a:bodyPr>
            <a:normAutofit/>
          </a:bodyPr>
          <a:lstStyle/>
          <a:p>
            <a:r>
              <a:rPr lang="ru-RU" dirty="0"/>
              <a:t>Отпечатване на таблица и на отделни части от нея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  <p:pic>
        <p:nvPicPr>
          <p:cNvPr id="1028" name="Picture 4" descr="The benefits of driverless printing and why PDF is the key | Adobe Blog"/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24" b="17277"/>
          <a:stretch/>
        </p:blipFill>
        <p:spPr bwMode="auto">
          <a:xfrm>
            <a:off x="6390123" y="3114001"/>
            <a:ext cx="5248260" cy="24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679234" cy="5207396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/>
              <a:t>Настройки</a:t>
            </a:r>
            <a:r>
              <a:rPr lang="bg-BG" dirty="0"/>
              <a:t> за отпечатване на таблица</a:t>
            </a:r>
          </a:p>
          <a:p>
            <a:r>
              <a:rPr lang="bg-BG" dirty="0"/>
              <a:t>͏</a:t>
            </a:r>
            <a:r>
              <a:rPr lang="bg-BG" b="1" dirty="0"/>
              <a:t>Отпечатване</a:t>
            </a:r>
            <a:r>
              <a:rPr lang="bg-BG" dirty="0"/>
              <a:t> на таблица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4704824"/>
            <a:ext cx="10961783" cy="1739175"/>
          </a:xfrm>
        </p:spPr>
        <p:txBody>
          <a:bodyPr/>
          <a:lstStyle/>
          <a:p>
            <a:r>
              <a:rPr lang="ru-RU" dirty="0"/>
              <a:t>͏Настройки за отпечатване на таблица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000" y="1449000"/>
            <a:ext cx="2348400" cy="23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2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11000" y="1196125"/>
            <a:ext cx="11925000" cy="5528766"/>
          </a:xfrm>
        </p:spPr>
        <p:txBody>
          <a:bodyPr/>
          <a:lstStyle/>
          <a:p>
            <a:r>
              <a:rPr lang="bg-BG" dirty="0"/>
              <a:t>Електронните таблици могат да бъдат </a:t>
            </a:r>
            <a:r>
              <a:rPr lang="bg-BG" b="1" dirty="0"/>
              <a:t>отпечатвани</a:t>
            </a:r>
            <a:r>
              <a:rPr lang="bg-BG" dirty="0"/>
              <a:t> на </a:t>
            </a:r>
            <a:r>
              <a:rPr lang="bg-BG" b="1" dirty="0"/>
              <a:t>хартия</a:t>
            </a:r>
          </a:p>
          <a:p>
            <a:r>
              <a:rPr lang="bg-BG" b="1" dirty="0"/>
              <a:t>Настройките</a:t>
            </a:r>
            <a:r>
              <a:rPr lang="bg-BG" dirty="0"/>
              <a:t> за отпечатването могат да се задават 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Page Setup</a:t>
            </a:r>
            <a:r>
              <a:rPr lang="en-US" dirty="0"/>
              <a:t> </a:t>
            </a:r>
            <a:r>
              <a:rPr lang="bg-BG" dirty="0"/>
              <a:t>на </a:t>
            </a:r>
            <a:r>
              <a:rPr lang="bg-BG" b="1" dirty="0"/>
              <a:t>менюто </a:t>
            </a:r>
            <a:r>
              <a:rPr lang="en-US" b="1" dirty="0">
                <a:solidFill>
                  <a:schemeClr val="bg1"/>
                </a:solidFill>
              </a:rPr>
              <a:t>Page Layout</a:t>
            </a:r>
            <a:endParaRPr lang="bg-BG" b="1" dirty="0">
              <a:solidFill>
                <a:schemeClr val="bg1"/>
              </a:solidFill>
            </a:endParaRPr>
          </a:p>
          <a:p>
            <a:r>
              <a:rPr lang="bg-BG" dirty="0"/>
              <a:t>Друг вариант е от диалоговия прозорец </a:t>
            </a:r>
            <a:r>
              <a:rPr lang="en-US" b="1" dirty="0">
                <a:solidFill>
                  <a:schemeClr val="bg1"/>
                </a:solidFill>
              </a:rPr>
              <a:t>Page Setup</a:t>
            </a:r>
            <a:endParaRPr lang="bg-BG" b="1" dirty="0">
              <a:solidFill>
                <a:schemeClr val="bg1"/>
              </a:solidFill>
            </a:endParaRPr>
          </a:p>
          <a:p>
            <a:pPr lvl="1"/>
            <a:r>
              <a:rPr lang="bg-BG" dirty="0"/>
              <a:t>Той се отваря от стрелката в </a:t>
            </a:r>
            <a:r>
              <a:rPr lang="bg-BG" b="1" dirty="0"/>
              <a:t>долния десен ъгъл 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Настройки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" b="99"/>
          <a:stretch/>
        </p:blipFill>
        <p:spPr>
          <a:xfrm>
            <a:off x="3216000" y="4644000"/>
            <a:ext cx="5703214" cy="193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10" name="Straight Arrow Connector 9"/>
          <p:cNvCxnSpPr/>
          <p:nvPr/>
        </p:nvCxnSpPr>
        <p:spPr>
          <a:xfrm flipH="1">
            <a:off x="8886000" y="5589000"/>
            <a:ext cx="990000" cy="7650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40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 раздела </a:t>
            </a:r>
            <a:r>
              <a:rPr lang="en-US" b="1" dirty="0">
                <a:solidFill>
                  <a:schemeClr val="bg1"/>
                </a:solidFill>
              </a:rPr>
              <a:t>Page</a:t>
            </a:r>
            <a:r>
              <a:rPr lang="en-US" dirty="0"/>
              <a:t> </a:t>
            </a:r>
            <a:r>
              <a:rPr lang="bg-BG" dirty="0"/>
              <a:t>(Страница) се задават </a:t>
            </a:r>
            <a:r>
              <a:rPr lang="bg-BG" b="1" dirty="0"/>
              <a:t>общите характеристики</a:t>
            </a:r>
            <a:r>
              <a:rPr lang="bg-BG" dirty="0"/>
              <a:t> на страницата</a:t>
            </a:r>
          </a:p>
          <a:p>
            <a:pPr lvl="1"/>
            <a:r>
              <a:rPr lang="bg-BG" dirty="0"/>
              <a:t>Ориентация</a:t>
            </a:r>
          </a:p>
          <a:p>
            <a:pPr lvl="1"/>
            <a:r>
              <a:rPr lang="bg-BG" dirty="0"/>
              <a:t>Мащабиране</a:t>
            </a:r>
          </a:p>
          <a:p>
            <a:pPr lvl="1"/>
            <a:r>
              <a:rPr lang="bg-BG" dirty="0"/>
              <a:t>Размер на хартията</a:t>
            </a:r>
          </a:p>
          <a:p>
            <a:pPr lvl="1"/>
            <a:r>
              <a:rPr lang="bg-BG" dirty="0"/>
              <a:t>Качество на печат</a:t>
            </a:r>
          </a:p>
          <a:p>
            <a:pPr lvl="1"/>
            <a:r>
              <a:rPr lang="bg-BG" dirty="0"/>
              <a:t>Номер на първата страница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000" y="1962163"/>
            <a:ext cx="4590000" cy="47471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6771000" y="2664000"/>
            <a:ext cx="3240000" cy="686929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6770154" y="3350929"/>
            <a:ext cx="3510845" cy="843071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71000" y="4187342"/>
            <a:ext cx="4365000" cy="456658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6771000" y="4637342"/>
            <a:ext cx="4365000" cy="243587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6771000" y="4878525"/>
            <a:ext cx="1665000" cy="3954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945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802436" cy="5528766"/>
          </a:xfrm>
        </p:spPr>
        <p:txBody>
          <a:bodyPr>
            <a:normAutofit fontScale="92500" lnSpcReduction="10000"/>
          </a:bodyPr>
          <a:lstStyle/>
          <a:p>
            <a:r>
              <a:rPr lang="bg-BG" dirty="0"/>
              <a:t>От раздела </a:t>
            </a:r>
            <a:r>
              <a:rPr lang="en-US" b="1" dirty="0">
                <a:solidFill>
                  <a:schemeClr val="bg1"/>
                </a:solidFill>
              </a:rPr>
              <a:t>Margins</a:t>
            </a:r>
            <a:r>
              <a:rPr lang="en-US" dirty="0"/>
              <a:t> (</a:t>
            </a:r>
            <a:r>
              <a:rPr lang="bg-BG" dirty="0"/>
              <a:t>Полета</a:t>
            </a:r>
            <a:r>
              <a:rPr lang="en-US" dirty="0"/>
              <a:t>)</a:t>
            </a:r>
            <a:r>
              <a:rPr lang="bg-BG" dirty="0"/>
              <a:t> се задава </a:t>
            </a:r>
            <a:r>
              <a:rPr lang="bg-BG" b="1" dirty="0"/>
              <a:t>размера</a:t>
            </a:r>
            <a:r>
              <a:rPr lang="bg-BG" dirty="0"/>
              <a:t> на </a:t>
            </a:r>
            <a:r>
              <a:rPr lang="bg-BG" b="1" dirty="0"/>
              <a:t>белите полета </a:t>
            </a:r>
            <a:r>
              <a:rPr lang="bg-BG" dirty="0"/>
              <a:t>на листа</a:t>
            </a:r>
          </a:p>
          <a:p>
            <a:pPr lvl="1"/>
            <a:r>
              <a:rPr lang="en-US" dirty="0"/>
              <a:t>Top, Bottom, Left, Right</a:t>
            </a:r>
            <a:endParaRPr lang="bg-BG" dirty="0"/>
          </a:p>
          <a:p>
            <a:r>
              <a:rPr lang="bg-BG" dirty="0"/>
              <a:t>От секциата </a:t>
            </a:r>
            <a:r>
              <a:rPr lang="en-US" b="1" dirty="0"/>
              <a:t>Center page </a:t>
            </a:r>
            <a:r>
              <a:rPr lang="bg-BG" dirty="0"/>
              <a:t>(Центриране в страницата) може да изберете таблицата да се </a:t>
            </a:r>
            <a:r>
              <a:rPr lang="bg-BG" b="1" dirty="0"/>
              <a:t>центрира</a:t>
            </a:r>
            <a:r>
              <a:rPr lang="bg-BG" dirty="0"/>
              <a:t> по</a:t>
            </a:r>
            <a:r>
              <a:rPr lang="en-US" dirty="0"/>
              <a:t>:</a:t>
            </a:r>
          </a:p>
          <a:p>
            <a:pPr lvl="1"/>
            <a:r>
              <a:rPr lang="bg-BG" dirty="0"/>
              <a:t>Хоризонтала</a:t>
            </a:r>
            <a:endParaRPr lang="en-US" dirty="0"/>
          </a:p>
          <a:p>
            <a:pPr lvl="1"/>
            <a:r>
              <a:rPr lang="bg-BG" dirty="0"/>
              <a:t>Вертикала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422" y="1447258"/>
            <a:ext cx="4860059" cy="5026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7851000" y="2169000"/>
            <a:ext cx="3240000" cy="2610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087519" y="4778999"/>
            <a:ext cx="2068481" cy="675001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8256000" y="5094000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8031000" y="5300895"/>
            <a:ext cx="72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2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660598" cy="5528766"/>
          </a:xfrm>
        </p:spPr>
        <p:txBody>
          <a:bodyPr>
            <a:normAutofit fontScale="92500"/>
          </a:bodyPr>
          <a:lstStyle/>
          <a:p>
            <a:r>
              <a:rPr lang="bg-BG" dirty="0"/>
              <a:t>От раздела </a:t>
            </a:r>
            <a:r>
              <a:rPr lang="en-US" b="1" dirty="0">
                <a:solidFill>
                  <a:schemeClr val="bg1"/>
                </a:solidFill>
              </a:rPr>
              <a:t>Sheet</a:t>
            </a:r>
            <a:r>
              <a:rPr lang="en-US" dirty="0"/>
              <a:t> </a:t>
            </a:r>
            <a:r>
              <a:rPr lang="bg-BG" dirty="0"/>
              <a:t>(Лист) се задава областта за печат и печатане на заглавия</a:t>
            </a:r>
          </a:p>
          <a:p>
            <a:r>
              <a:rPr lang="en-US" b="1" dirty="0"/>
              <a:t>Print area </a:t>
            </a:r>
            <a:r>
              <a:rPr lang="en-US" dirty="0"/>
              <a:t>(</a:t>
            </a:r>
            <a:r>
              <a:rPr lang="bg-BG" dirty="0"/>
              <a:t>Област за печат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bg-BG" dirty="0"/>
              <a:t>Задавате областта на работния лист, която искате да се отпечата</a:t>
            </a:r>
            <a:endParaRPr lang="en-US" dirty="0"/>
          </a:p>
          <a:p>
            <a:r>
              <a:rPr lang="en-US" b="1" dirty="0"/>
              <a:t>Print titles </a:t>
            </a:r>
            <a:r>
              <a:rPr lang="bg-BG" dirty="0"/>
              <a:t>(Заглавия за печат)</a:t>
            </a:r>
            <a:endParaRPr lang="en-US" dirty="0"/>
          </a:p>
          <a:p>
            <a:r>
              <a:rPr lang="en-US" b="1" dirty="0"/>
              <a:t>Page Order </a:t>
            </a:r>
            <a:r>
              <a:rPr lang="bg-BG" dirty="0"/>
              <a:t>(Ред на страниците)</a:t>
            </a:r>
          </a:p>
          <a:p>
            <a:pPr lvl="1"/>
            <a:r>
              <a:rPr lang="bg-BG" dirty="0"/>
              <a:t>Избирате </a:t>
            </a:r>
            <a:r>
              <a:rPr lang="bg-BG" b="1" dirty="0"/>
              <a:t>последователността</a:t>
            </a:r>
            <a:r>
              <a:rPr lang="bg-BG" dirty="0"/>
              <a:t> на </a:t>
            </a:r>
            <a:r>
              <a:rPr lang="bg-BG" b="1" dirty="0"/>
              <a:t>печатане</a:t>
            </a:r>
            <a:r>
              <a:rPr lang="bg-BG" dirty="0"/>
              <a:t> на страниците</a:t>
            </a:r>
          </a:p>
          <a:p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Sheet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326" y="1854000"/>
            <a:ext cx="4281378" cy="442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7742246" y="2439000"/>
            <a:ext cx="4113754" cy="31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742246" y="4374000"/>
            <a:ext cx="2223754" cy="85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8445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755598" cy="5528766"/>
          </a:xfrm>
        </p:spPr>
        <p:txBody>
          <a:bodyPr>
            <a:normAutofit/>
          </a:bodyPr>
          <a:lstStyle/>
          <a:p>
            <a:r>
              <a:rPr lang="bg-BG" dirty="0"/>
              <a:t>Когато таблицата </a:t>
            </a:r>
            <a:r>
              <a:rPr lang="bg-BG" b="1" dirty="0"/>
              <a:t>голяма</a:t>
            </a:r>
            <a:r>
              <a:rPr lang="bg-BG" dirty="0"/>
              <a:t>, се отпечатва на </a:t>
            </a:r>
            <a:r>
              <a:rPr lang="bg-BG" b="1" dirty="0"/>
              <a:t>няколко страници</a:t>
            </a:r>
          </a:p>
          <a:p>
            <a:pPr lvl="1"/>
            <a:r>
              <a:rPr lang="bg-BG" dirty="0"/>
              <a:t>Редовете и колоните, които са </a:t>
            </a:r>
            <a:r>
              <a:rPr lang="bg-BG" b="1" dirty="0"/>
              <a:t>заглавни,</a:t>
            </a:r>
            <a:r>
              <a:rPr lang="bg-BG" dirty="0"/>
              <a:t> се отпечатват </a:t>
            </a:r>
            <a:r>
              <a:rPr lang="bg-BG" b="1" dirty="0"/>
              <a:t>само</a:t>
            </a:r>
            <a:r>
              <a:rPr lang="bg-BG" dirty="0"/>
              <a:t> на </a:t>
            </a:r>
            <a:r>
              <a:rPr lang="bg-BG" b="1" dirty="0"/>
              <a:t>първата страница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2881313" algn="l"/>
              </a:tabLst>
            </a:pPr>
            <a:r>
              <a:rPr lang="bg-BG" dirty="0"/>
              <a:t>Заглавия за печат</a:t>
            </a:r>
            <a:r>
              <a:rPr lang="en-US" dirty="0"/>
              <a:t> (1)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000" y="3273289"/>
            <a:ext cx="3966216" cy="34346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259" y="3228450"/>
            <a:ext cx="4005741" cy="3535996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 bwMode="auto">
          <a:xfrm>
            <a:off x="219604" y="5517000"/>
            <a:ext cx="1754259" cy="990000"/>
          </a:xfrm>
          <a:prstGeom prst="wedgeRoundRectCallout">
            <a:avLst>
              <a:gd name="adj1" fmla="val 37935"/>
              <a:gd name="adj2" fmla="val -9777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Първа страница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ounded Rectangular Callout 16"/>
          <p:cNvSpPr/>
          <p:nvPr/>
        </p:nvSpPr>
        <p:spPr bwMode="auto">
          <a:xfrm>
            <a:off x="10215422" y="4734000"/>
            <a:ext cx="1754259" cy="990000"/>
          </a:xfrm>
          <a:prstGeom prst="wedgeRoundRectCallout">
            <a:avLst>
              <a:gd name="adj1" fmla="val -41274"/>
              <a:gd name="adj2" fmla="val -6970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Втора страница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2395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Текстовите кутии:</a:t>
            </a:r>
          </a:p>
          <a:p>
            <a:pPr lvl="1"/>
            <a:r>
              <a:rPr lang="en-US" b="1" dirty="0"/>
              <a:t>Rows to repeat at top </a:t>
            </a:r>
            <a:r>
              <a:rPr lang="en-US" dirty="0"/>
              <a:t>(</a:t>
            </a:r>
            <a:r>
              <a:rPr lang="bg-BG" dirty="0"/>
              <a:t>Повтаряни редове отгоре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en-US" b="1" dirty="0"/>
              <a:t>Columns to repeat at left </a:t>
            </a:r>
            <a:r>
              <a:rPr lang="en-US" dirty="0"/>
              <a:t>(</a:t>
            </a:r>
            <a:r>
              <a:rPr lang="bg-BG" dirty="0"/>
              <a:t>Повтаряни колони отляво</a:t>
            </a:r>
            <a:r>
              <a:rPr lang="en-US" dirty="0"/>
              <a:t>)</a:t>
            </a:r>
            <a:r>
              <a:rPr lang="bg-BG" dirty="0"/>
              <a:t> </a:t>
            </a:r>
          </a:p>
          <a:p>
            <a:pPr marL="0" indent="0">
              <a:buNone/>
            </a:pPr>
            <a:r>
              <a:rPr lang="bg-BG" dirty="0"/>
              <a:t>позволяват отпечатването на </a:t>
            </a:r>
            <a:r>
              <a:rPr lang="bg-BG" b="1" dirty="0"/>
              <a:t>заглавните редове </a:t>
            </a:r>
            <a:r>
              <a:rPr lang="bg-BG" dirty="0"/>
              <a:t>и </a:t>
            </a:r>
            <a:r>
              <a:rPr lang="bg-BG" b="1" dirty="0"/>
              <a:t>колони</a:t>
            </a:r>
            <a:r>
              <a:rPr lang="bg-BG" dirty="0"/>
              <a:t> на </a:t>
            </a:r>
            <a:r>
              <a:rPr lang="bg-BG" b="1" dirty="0"/>
              <a:t>всяка страница</a:t>
            </a:r>
          </a:p>
          <a:p>
            <a:pPr>
              <a:spcBef>
                <a:spcPts val="0"/>
              </a:spcBef>
            </a:pPr>
            <a:r>
              <a:rPr lang="bg-BG" dirty="0"/>
              <a:t>За целта </a:t>
            </a:r>
            <a:r>
              <a:rPr lang="bg-BG" b="1" dirty="0"/>
              <a:t>маркирайте</a:t>
            </a:r>
            <a:r>
              <a:rPr lang="bg-BG" dirty="0"/>
              <a:t> редовете и колоните, които искате да се отпечатват на всяка страница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Заглавия за печат</a:t>
            </a:r>
            <a:r>
              <a:rPr lang="en-US" dirty="0"/>
              <a:t> (2)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3872"/>
          <a:stretch/>
        </p:blipFill>
        <p:spPr>
          <a:xfrm>
            <a:off x="2759278" y="5591935"/>
            <a:ext cx="6673445" cy="113295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582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bg-BG" b="1" dirty="0"/>
              <a:t>С</a:t>
            </a:r>
            <a:r>
              <a:rPr lang="bg-BG" dirty="0"/>
              <a:t> </a:t>
            </a:r>
            <a:r>
              <a:rPr lang="en-US" dirty="0"/>
              <a:t>Rows to repeat at top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Без</a:t>
            </a:r>
            <a:r>
              <a:rPr lang="bg-BG" dirty="0"/>
              <a:t> </a:t>
            </a:r>
            <a:r>
              <a:rPr lang="en-US" dirty="0"/>
              <a:t>Rows to repeat at top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Заглавия за печат</a:t>
            </a:r>
            <a:r>
              <a:rPr lang="en-US" dirty="0"/>
              <a:t> (3)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000" y="2062770"/>
            <a:ext cx="4442030" cy="39885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00" y="2079000"/>
            <a:ext cx="4500000" cy="3972294"/>
          </a:xfrm>
          <a:prstGeom prst="rect">
            <a:avLst/>
          </a:prstGeom>
        </p:spPr>
      </p:pic>
      <p:sp>
        <p:nvSpPr>
          <p:cNvPr id="9" name="Rounded Rectangular Callout 8"/>
          <p:cNvSpPr/>
          <p:nvPr/>
        </p:nvSpPr>
        <p:spPr bwMode="auto">
          <a:xfrm>
            <a:off x="5236076" y="2979000"/>
            <a:ext cx="1755000" cy="1042788"/>
          </a:xfrm>
          <a:prstGeom prst="wedgeRoundRectCallout">
            <a:avLst>
              <a:gd name="adj1" fmla="val 64983"/>
              <a:gd name="adj2" fmla="val 8797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236076" y="2979000"/>
            <a:ext cx="1755000" cy="1042788"/>
          </a:xfrm>
          <a:prstGeom prst="wedgeRoundRectCallout">
            <a:avLst>
              <a:gd name="adj1" fmla="val -62209"/>
              <a:gd name="adj2" fmla="val 8399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Втора страница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94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sz="quarter" idx="10"/>
          </p:nvPr>
        </p:nvSpPr>
        <p:spPr>
          <a:xfrm>
            <a:off x="615109" y="5229000"/>
            <a:ext cx="10961783" cy="768084"/>
          </a:xfrm>
        </p:spPr>
        <p:txBody>
          <a:bodyPr/>
          <a:lstStyle/>
          <a:p>
            <a:r>
              <a:rPr lang="bg-BG" dirty="0"/>
              <a:t>Отпечатване на таблица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16290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8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Отпечатване на таблица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9663" y="1359000"/>
            <a:ext cx="8352673" cy="524059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Rounded Rectangular Callout 6"/>
          <p:cNvSpPr/>
          <p:nvPr/>
        </p:nvSpPr>
        <p:spPr bwMode="auto">
          <a:xfrm>
            <a:off x="2901000" y="2574000"/>
            <a:ext cx="2114999" cy="1080000"/>
          </a:xfrm>
          <a:prstGeom prst="wedgeRoundRectCallout">
            <a:avLst>
              <a:gd name="adj1" fmla="val -76659"/>
              <a:gd name="adj2" fmla="val -9861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Отваряме менюто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136823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Отпечатване на таблица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3589" y="1269000"/>
            <a:ext cx="8604822" cy="539879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3306000" y="3114000"/>
            <a:ext cx="2925000" cy="1125000"/>
          </a:xfrm>
          <a:prstGeom prst="wedgeRoundRectCallout">
            <a:avLst>
              <a:gd name="adj1" fmla="val -71074"/>
              <a:gd name="adj2" fmla="val 17483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Избираме командата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</a:t>
            </a:r>
          </a:p>
        </p:txBody>
      </p:sp>
    </p:spTree>
    <p:extLst>
      <p:ext uri="{BB962C8B-B14F-4D97-AF65-F5344CB8AC3E}">
        <p14:creationId xmlns:p14="http://schemas.microsoft.com/office/powerpoint/2010/main" val="360285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Отпечатване на таблица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4823" y="1230596"/>
            <a:ext cx="9702354" cy="542490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Rounded Rectangular Callout 7"/>
          <p:cNvSpPr/>
          <p:nvPr/>
        </p:nvSpPr>
        <p:spPr bwMode="auto">
          <a:xfrm>
            <a:off x="7695240" y="1416468"/>
            <a:ext cx="4095000" cy="1035000"/>
          </a:xfrm>
          <a:prstGeom prst="wedgeRoundRectCallout">
            <a:avLst>
              <a:gd name="adj1" fmla="val -18740"/>
              <a:gd name="adj2" fmla="val 4133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се отваря прозорец за принтиране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7483210" y="5000104"/>
            <a:ext cx="4307030" cy="1485000"/>
          </a:xfrm>
          <a:prstGeom prst="wedgeRoundRectCallout">
            <a:avLst>
              <a:gd name="adj1" fmla="val -25813"/>
              <a:gd name="adj2" fmla="val -3242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Дясната част показва как ще изглежда таблицата след отпечатването ѝ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4640311" y="1437677"/>
            <a:ext cx="2835000" cy="639596"/>
          </a:xfrm>
          <a:prstGeom prst="wedgeRoundRectCallout">
            <a:avLst>
              <a:gd name="adj1" fmla="val -54789"/>
              <a:gd name="adj2" fmla="val 6491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Броя на копията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5176070" y="3063584"/>
            <a:ext cx="3575510" cy="1035000"/>
          </a:xfrm>
          <a:prstGeom prst="wedgeRoundRectCallout">
            <a:avLst>
              <a:gd name="adj1" fmla="val -68974"/>
              <a:gd name="adj2" fmla="val -3591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Принтерът, който ще отпечата таблицата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594350" y="3594346"/>
            <a:ext cx="2114441" cy="3061154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5197990" y="4230460"/>
            <a:ext cx="3326020" cy="646048"/>
          </a:xfrm>
          <a:prstGeom prst="wedgeRoundRectCallout">
            <a:avLst>
              <a:gd name="adj1" fmla="val -60189"/>
              <a:gd name="adj2" fmla="val 5007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Настройки за печат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862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402" y="99000"/>
            <a:ext cx="10270594" cy="882654"/>
          </a:xfrm>
        </p:spPr>
        <p:txBody>
          <a:bodyPr/>
          <a:lstStyle/>
          <a:p>
            <a:r>
              <a:rPr lang="bg-BG" dirty="0"/>
              <a:t>Настройки за печат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3924" y="1373428"/>
            <a:ext cx="3154151" cy="512674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36" b="169"/>
          <a:stretch/>
        </p:blipFill>
        <p:spPr>
          <a:xfrm>
            <a:off x="6186002" y="2464053"/>
            <a:ext cx="4095000" cy="4005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1370999" y="1718999"/>
            <a:ext cx="2835001" cy="553827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321575" y="2522641"/>
            <a:ext cx="1684425" cy="9963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ounded Rectangular Callout 10"/>
          <p:cNvSpPr/>
          <p:nvPr/>
        </p:nvSpPr>
        <p:spPr bwMode="auto">
          <a:xfrm>
            <a:off x="4813502" y="1291192"/>
            <a:ext cx="2745000" cy="1080000"/>
          </a:xfrm>
          <a:prstGeom prst="wedgeRoundRectCallout">
            <a:avLst>
              <a:gd name="adj1" fmla="val -5380"/>
              <a:gd name="adj2" fmla="val 8037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Отпечатва само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активния лист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8235542" y="1336338"/>
            <a:ext cx="3712496" cy="1014863"/>
          </a:xfrm>
          <a:prstGeom prst="wedgeRoundRectCallout">
            <a:avLst>
              <a:gd name="adj1" fmla="val 1380"/>
              <a:gd name="adj2" fmla="val 17502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Отпечатва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цялата работна книга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5916000" y="5247014"/>
            <a:ext cx="5737496" cy="1052850"/>
          </a:xfrm>
          <a:prstGeom prst="wedgeRoundRectCallout">
            <a:avLst>
              <a:gd name="adj1" fmla="val 6416"/>
              <a:gd name="adj2" fmla="val -8076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Отпечатва само частта от работния лист, която е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маркирана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199241" y="2508334"/>
            <a:ext cx="4050000" cy="877964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6199241" y="3392030"/>
            <a:ext cx="4050000" cy="830658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208502" y="4222688"/>
            <a:ext cx="4050000" cy="767627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5100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402" y="99000"/>
            <a:ext cx="10270594" cy="882654"/>
          </a:xfrm>
        </p:spPr>
        <p:txBody>
          <a:bodyPr/>
          <a:lstStyle/>
          <a:p>
            <a:r>
              <a:rPr lang="bg-BG" dirty="0"/>
              <a:t>Настройки за печат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2472" y="1388971"/>
            <a:ext cx="3167056" cy="512674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Rounded Rectangular Callout 7"/>
          <p:cNvSpPr/>
          <p:nvPr/>
        </p:nvSpPr>
        <p:spPr bwMode="auto">
          <a:xfrm>
            <a:off x="7716000" y="1269000"/>
            <a:ext cx="4320000" cy="1125000"/>
          </a:xfrm>
          <a:prstGeom prst="wedgeRoundRectCallout">
            <a:avLst>
              <a:gd name="adj1" fmla="val -63521"/>
              <a:gd name="adj2" fmla="val 5499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53B396D3-86EF-F957-0DC8-175C4553C4C4}"/>
              </a:ext>
            </a:extLst>
          </p:cNvPr>
          <p:cNvSpPr/>
          <p:nvPr/>
        </p:nvSpPr>
        <p:spPr bwMode="auto">
          <a:xfrm>
            <a:off x="7716000" y="1269000"/>
            <a:ext cx="4320000" cy="1125000"/>
          </a:xfrm>
          <a:prstGeom prst="wedgeRoundRectCallout">
            <a:avLst>
              <a:gd name="adj1" fmla="val -92669"/>
              <a:gd name="adj2" fmla="val 4808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Избор кои страници да отпечатате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ounded Rectangular Callout 17"/>
          <p:cNvSpPr/>
          <p:nvPr/>
        </p:nvSpPr>
        <p:spPr bwMode="auto">
          <a:xfrm>
            <a:off x="1838400" y="3204000"/>
            <a:ext cx="2277600" cy="702600"/>
          </a:xfrm>
          <a:prstGeom prst="wedgeRoundRectCallout">
            <a:avLst>
              <a:gd name="adj1" fmla="val 59058"/>
              <a:gd name="adj2" fmla="val 8468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Ориентация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ounded Rectangular Callout 18"/>
          <p:cNvSpPr/>
          <p:nvPr/>
        </p:nvSpPr>
        <p:spPr bwMode="auto">
          <a:xfrm>
            <a:off x="7826899" y="3753018"/>
            <a:ext cx="1817616" cy="646656"/>
          </a:xfrm>
          <a:prstGeom prst="wedgeRoundRectCallout">
            <a:avLst>
              <a:gd name="adj1" fmla="val -71150"/>
              <a:gd name="adj2" fmla="val 9577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Формат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ounded Rectangular Callout 19"/>
          <p:cNvSpPr/>
          <p:nvPr/>
        </p:nvSpPr>
        <p:spPr bwMode="auto">
          <a:xfrm>
            <a:off x="1417493" y="4403839"/>
            <a:ext cx="2587608" cy="990000"/>
          </a:xfrm>
          <a:prstGeom prst="wedgeRoundRectCallout">
            <a:avLst>
              <a:gd name="adj1" fmla="val 63272"/>
              <a:gd name="adj2" fmla="val 4235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Размер на белите полета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360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317" y="2574892"/>
            <a:ext cx="3446764" cy="352268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Настройки за печат – мащабиране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490" y="1449000"/>
            <a:ext cx="3167056" cy="512674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Rectangle 6"/>
          <p:cNvSpPr/>
          <p:nvPr/>
        </p:nvSpPr>
        <p:spPr bwMode="auto">
          <a:xfrm>
            <a:off x="813608" y="5577442"/>
            <a:ext cx="2840273" cy="596558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836565" y="5184000"/>
            <a:ext cx="540628" cy="55784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ounded Rectangular Callout 8"/>
          <p:cNvSpPr/>
          <p:nvPr/>
        </p:nvSpPr>
        <p:spPr bwMode="auto">
          <a:xfrm>
            <a:off x="3942409" y="1179000"/>
            <a:ext cx="3537591" cy="1017485"/>
          </a:xfrm>
          <a:prstGeom prst="wedgeRoundRectCallout">
            <a:avLst>
              <a:gd name="adj1" fmla="val -17970"/>
              <a:gd name="adj2" fmla="val 8171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Отпечатва таблицата в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реален размер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7643556" y="1318188"/>
            <a:ext cx="4269444" cy="1038506"/>
          </a:xfrm>
          <a:prstGeom prst="wedgeRoundRectCallout">
            <a:avLst>
              <a:gd name="adj1" fmla="val -41748"/>
              <a:gd name="adj2" fmla="val 15621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Свива таблицата така, че да се събере в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един лист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8086765" y="3471562"/>
            <a:ext cx="4044444" cy="1662148"/>
          </a:xfrm>
          <a:prstGeom prst="wedgeRoundRectCallout">
            <a:avLst>
              <a:gd name="adj1" fmla="val -52987"/>
              <a:gd name="adj2" fmla="val 1254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Намалява размера така, че да се събере на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широчина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 един лист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431000" y="2574000"/>
            <a:ext cx="3473081" cy="807373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4431000" y="3381373"/>
            <a:ext cx="3473081" cy="767627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31000" y="4149709"/>
            <a:ext cx="3473081" cy="767627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431000" y="4917336"/>
            <a:ext cx="3473081" cy="767627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ounded Rectangular Callout 20"/>
          <p:cNvSpPr/>
          <p:nvPr/>
        </p:nvSpPr>
        <p:spPr bwMode="auto">
          <a:xfrm>
            <a:off x="6001388" y="5720152"/>
            <a:ext cx="5745889" cy="1042425"/>
          </a:xfrm>
          <a:prstGeom prst="wedgeRoundRectCallout">
            <a:avLst>
              <a:gd name="adj1" fmla="val -58021"/>
              <a:gd name="adj2" fmla="val -4767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Намалява размера така, че да се събере на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височина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 един лист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8463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741000" y="1504870"/>
            <a:ext cx="11040744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600" b="1" dirty="0">
                <a:solidFill>
                  <a:schemeClr val="bg2"/>
                </a:solidFill>
              </a:rPr>
              <a:t>Настройки</a:t>
            </a:r>
            <a:r>
              <a:rPr lang="bg-BG" sz="2600" dirty="0">
                <a:solidFill>
                  <a:schemeClr val="bg2"/>
                </a:solidFill>
              </a:rPr>
              <a:t> за отпечатване</a:t>
            </a:r>
            <a:r>
              <a:rPr lang="bg-BG" sz="2600" b="1" dirty="0">
                <a:solidFill>
                  <a:schemeClr val="bg2"/>
                </a:solidFill>
              </a:rPr>
              <a:t>: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Page</a:t>
            </a:r>
          </a:p>
          <a:p>
            <a:pPr marL="1421733" lvl="2" indent="-355600">
              <a:lnSpc>
                <a:spcPct val="100000"/>
              </a:lnSpc>
              <a:buClr>
                <a:schemeClr val="bg2"/>
              </a:buClr>
            </a:pPr>
            <a:r>
              <a:rPr lang="ru-RU" sz="2200" b="1" dirty="0">
                <a:solidFill>
                  <a:schemeClr val="bg2"/>
                </a:solidFill>
              </a:rPr>
              <a:t>Ориентация</a:t>
            </a:r>
          </a:p>
          <a:p>
            <a:pPr marL="1421733" lvl="2" indent="-355600">
              <a:lnSpc>
                <a:spcPct val="100000"/>
              </a:lnSpc>
              <a:buClr>
                <a:schemeClr val="bg2"/>
              </a:buClr>
            </a:pPr>
            <a:r>
              <a:rPr lang="ru-RU" sz="2200" b="1" dirty="0">
                <a:solidFill>
                  <a:schemeClr val="bg2"/>
                </a:solidFill>
              </a:rPr>
              <a:t>Мащабиране</a:t>
            </a:r>
          </a:p>
          <a:p>
            <a:pPr marL="1421733" lvl="2" indent="-355600">
              <a:lnSpc>
                <a:spcPct val="100000"/>
              </a:lnSpc>
              <a:buClr>
                <a:schemeClr val="bg2"/>
              </a:buClr>
            </a:pPr>
            <a:r>
              <a:rPr lang="ru-RU" sz="2200" b="1" dirty="0">
                <a:solidFill>
                  <a:schemeClr val="bg2"/>
                </a:solidFill>
              </a:rPr>
              <a:t>Размер на хартията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Margins</a:t>
            </a:r>
          </a:p>
          <a:p>
            <a:pPr marL="1421733" lvl="2" indent="-355600">
              <a:lnSpc>
                <a:spcPct val="100000"/>
              </a:lnSpc>
              <a:buClr>
                <a:schemeClr val="bg2"/>
              </a:buClr>
            </a:pPr>
            <a:r>
              <a:rPr lang="en-US" sz="2200" b="1" dirty="0">
                <a:solidFill>
                  <a:schemeClr val="bg2"/>
                </a:solidFill>
              </a:rPr>
              <a:t>Top, Bottom, Left, Right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Sheet</a:t>
            </a:r>
          </a:p>
          <a:p>
            <a:pPr marL="1421733" lvl="2" indent="-355600">
              <a:lnSpc>
                <a:spcPct val="100000"/>
              </a:lnSpc>
              <a:buClr>
                <a:schemeClr val="bg2"/>
              </a:buClr>
            </a:pPr>
            <a:r>
              <a:rPr lang="en-US" sz="2200" b="1" dirty="0">
                <a:solidFill>
                  <a:schemeClr val="bg2"/>
                </a:solidFill>
              </a:rPr>
              <a:t>Print area</a:t>
            </a:r>
          </a:p>
          <a:p>
            <a:pPr marL="1421733" lvl="2" indent="-355600">
              <a:lnSpc>
                <a:spcPct val="100000"/>
              </a:lnSpc>
              <a:buClr>
                <a:schemeClr val="bg2"/>
              </a:buClr>
            </a:pPr>
            <a:r>
              <a:rPr lang="en-US" sz="2200" b="1" dirty="0">
                <a:solidFill>
                  <a:schemeClr val="bg2"/>
                </a:solidFill>
              </a:rPr>
              <a:t>Print titles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3929921" y="2558058"/>
            <a:ext cx="5305712" cy="1615294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1733" lvl="2" indent="-355600">
              <a:lnSpc>
                <a:spcPct val="100000"/>
              </a:lnSpc>
              <a:buClr>
                <a:schemeClr val="bg2"/>
              </a:buClr>
            </a:pPr>
            <a:r>
              <a:rPr lang="ru-RU" sz="2200" b="1" dirty="0">
                <a:solidFill>
                  <a:schemeClr val="bg2"/>
                </a:solidFill>
              </a:rPr>
              <a:t>Качество на печат</a:t>
            </a:r>
          </a:p>
          <a:p>
            <a:pPr marL="1421733" lvl="2" indent="-355600">
              <a:lnSpc>
                <a:spcPct val="100000"/>
              </a:lnSpc>
              <a:buClr>
                <a:schemeClr val="bg2"/>
              </a:buClr>
            </a:pPr>
            <a:r>
              <a:rPr lang="ru-RU" sz="2200" b="1" dirty="0">
                <a:solidFill>
                  <a:schemeClr val="bg2"/>
                </a:solidFill>
              </a:rPr>
              <a:t>Номер на първата страница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3929921" y="5528058"/>
            <a:ext cx="5305712" cy="825942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1733" lvl="2" indent="-355600">
              <a:lnSpc>
                <a:spcPct val="100000"/>
              </a:lnSpc>
              <a:buClr>
                <a:schemeClr val="bg2"/>
              </a:buClr>
            </a:pPr>
            <a:r>
              <a:rPr lang="en-US" sz="2200" b="1" dirty="0">
                <a:solidFill>
                  <a:schemeClr val="bg2"/>
                </a:solidFill>
              </a:rPr>
              <a:t>Page order</a:t>
            </a: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5548</TotalTime>
  <Words>680</Words>
  <Application>Microsoft Office PowerPoint</Application>
  <PresentationFormat>Widescreen</PresentationFormat>
  <Paragraphs>122</Paragraphs>
  <Slides>20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Wingdings</vt:lpstr>
      <vt:lpstr>SoftUni</vt:lpstr>
      <vt:lpstr>Отпечатване на таблица и на отделни части от нея</vt:lpstr>
      <vt:lpstr>Съдържание</vt:lpstr>
      <vt:lpstr>͏Настройки за отпечатване на таблица</vt:lpstr>
      <vt:lpstr>Настройки</vt:lpstr>
      <vt:lpstr>Page</vt:lpstr>
      <vt:lpstr>Margins</vt:lpstr>
      <vt:lpstr>Sheet</vt:lpstr>
      <vt:lpstr>Заглавия за печат (1)</vt:lpstr>
      <vt:lpstr>Заглавия за печат (2)</vt:lpstr>
      <vt:lpstr>Заглавия за печат (3)</vt:lpstr>
      <vt:lpstr>Отпечатване на таблица</vt:lpstr>
      <vt:lpstr>Отпечатване на таблица</vt:lpstr>
      <vt:lpstr>Отпечатване на таблица</vt:lpstr>
      <vt:lpstr>Отпечатване на таблица</vt:lpstr>
      <vt:lpstr>Настройки за печат </vt:lpstr>
      <vt:lpstr>Настройки за печат </vt:lpstr>
      <vt:lpstr>Настройки за печат – мащабиране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Отпечатване на таблица и на отделни части от нея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911</cp:revision>
  <dcterms:created xsi:type="dcterms:W3CDTF">2018-05-23T13:08:44Z</dcterms:created>
  <dcterms:modified xsi:type="dcterms:W3CDTF">2026-09-25T08:58:06Z</dcterms:modified>
  <cp:category/>
</cp:coreProperties>
</file>