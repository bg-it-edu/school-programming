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2"/>
  </p:sldMasterIdLst>
  <p:notesMasterIdLst>
    <p:notesMasterId r:id="rId18"/>
  </p:notesMasterIdLst>
  <p:handoutMasterIdLst>
    <p:handoutMasterId r:id="rId19"/>
  </p:handoutMasterIdLst>
  <p:sldIdLst>
    <p:sldId id="503" r:id="rId3"/>
    <p:sldId id="276" r:id="rId4"/>
    <p:sldId id="618" r:id="rId5"/>
    <p:sldId id="619" r:id="rId6"/>
    <p:sldId id="620" r:id="rId7"/>
    <p:sldId id="621" r:id="rId8"/>
    <p:sldId id="607" r:id="rId9"/>
    <p:sldId id="608" r:id="rId10"/>
    <p:sldId id="609" r:id="rId11"/>
    <p:sldId id="610" r:id="rId12"/>
    <p:sldId id="612" r:id="rId13"/>
    <p:sldId id="613" r:id="rId14"/>
    <p:sldId id="586" r:id="rId15"/>
    <p:sldId id="504" r:id="rId16"/>
    <p:sldId id="505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ъведение" id="{A0C7653D-1924-4F56-9E27-AA2B21F1DA92}">
          <p14:sldIdLst>
            <p14:sldId id="503"/>
            <p14:sldId id="276"/>
          </p14:sldIdLst>
        </p14:section>
        <p14:section name="Дебъгване" id="{415AEA19-58D6-4206-8576-AB83077339C6}">
          <p14:sldIdLst>
            <p14:sldId id="618"/>
            <p14:sldId id="619"/>
            <p14:sldId id="620"/>
            <p14:sldId id="621"/>
          </p14:sldIdLst>
        </p14:section>
        <p14:section name="Серии от проверки" id="{E94E5F2C-9FC3-451E-A69F-2DAC55A543F2}">
          <p14:sldIdLst>
            <p14:sldId id="607"/>
            <p14:sldId id="608"/>
            <p14:sldId id="609"/>
          </p14:sldIdLst>
        </p14:section>
        <p14:section name="Живот на променлива" id="{F9929E9C-4E61-47B0-B3E1-3128342E40AF}">
          <p14:sldIdLst>
            <p14:sldId id="610"/>
            <p14:sldId id="612"/>
            <p14:sldId id="613"/>
          </p14:sldIdLst>
        </p14:section>
        <p14:section name="Заключение" id="{E19D07F1-86E2-47E9-B2AB-7ADC4F89DC12}">
          <p14:sldIdLst>
            <p14:sldId id="586"/>
            <p14:sldId id="504"/>
            <p14:sldId id="50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4465"/>
    <a:srgbClr val="ADB4C3"/>
    <a:srgbClr val="EA91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293" autoAdjust="0"/>
    <p:restoredTop sz="95214" autoAdjust="0"/>
  </p:normalViewPr>
  <p:slideViewPr>
    <p:cSldViewPr showGuides="1">
      <p:cViewPr varScale="1">
        <p:scale>
          <a:sx n="111" d="100"/>
          <a:sy n="111" d="100"/>
        </p:scale>
        <p:origin x="516" y="96"/>
      </p:cViewPr>
      <p:guideLst>
        <p:guide orient="horz" pos="2184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8" d="100"/>
          <a:sy n="88" d="100"/>
        </p:scale>
        <p:origin x="3822" y="66"/>
      </p:cViewPr>
      <p:guideLst/>
    </p:cSldViewPr>
  </p:notesViewPr>
  <p:gridSpacing cx="45000" cy="45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hyperlink" Target="https://softuni.org/" TargetMode="External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6F20103-83CC-4A54-8FDE-9D37FC2629C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A53962-26EF-44E4-9E69-61B1727AB1C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087215-0C8F-4762-A664-737A353EC9A4}" type="datetimeFigureOut">
              <a:rPr lang="bg-BG" smtClean="0"/>
              <a:t>25.9.2026 г.</a:t>
            </a:fld>
            <a:endParaRPr lang="bg-B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A6967E-448F-4887-8FCB-34482EFBCC7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-1" y="8892000"/>
            <a:ext cx="6443999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bg-BG" sz="1100" dirty="0"/>
              <a:t>Работна група </a:t>
            </a:r>
            <a:r>
              <a:rPr lang="ru-RU" sz="1100" dirty="0"/>
              <a:t>"Образование по програмиране и ИТ</a:t>
            </a:r>
            <a:r>
              <a:rPr lang="bg-BG" sz="1100" dirty="0"/>
              <a:t>", с подкрепата на </a:t>
            </a:r>
            <a:r>
              <a:rPr lang="en-US" sz="1100" dirty="0">
                <a:hlinkClick r:id="rId2"/>
              </a:rPr>
              <a:t>SoftUni</a:t>
            </a:r>
            <a:endParaRPr lang="en-US" sz="11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6554C2-DDBA-40E2-9536-53A07EC502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443999" y="8892000"/>
            <a:ext cx="412413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C318AE-53F9-47EA-B5FE-E9473933AF11}" type="slidenum">
              <a:rPr lang="bg-BG" smtClean="0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4150602968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hyperlink" Target="https://softuni.org/" TargetMode="External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D84649-876A-46C9-8472-14CB09C070D8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488999" y="8892000"/>
            <a:ext cx="367414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F067CD-8E6B-4360-9AA8-C5DF2A48A6D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C3A49B-3196-44DF-AC28-085C72EFBFF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92000"/>
            <a:ext cx="6488999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bg-BG" sz="1100" dirty="0"/>
              <a:t>Работна група </a:t>
            </a:r>
            <a:r>
              <a:rPr lang="bg-BG" dirty="0"/>
              <a:t>"Образование по програмиране и ИТ"</a:t>
            </a:r>
            <a:r>
              <a:rPr lang="bg-BG" sz="1100" dirty="0"/>
              <a:t>, с подкрепата на </a:t>
            </a:r>
            <a:r>
              <a:rPr lang="en-US" sz="1100" dirty="0">
                <a:hlinkClick r:id="rId2"/>
              </a:rPr>
              <a:t>SoftUni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530847692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8" name="Slide Image Placeholder 7">
            <a:extLst>
              <a:ext uri="{FF2B5EF4-FFF2-40B4-BE49-F238E27FC236}">
                <a16:creationId xmlns:a16="http://schemas.microsoft.com/office/drawing/2014/main" id="{78811095-27E9-49AB-972B-D4E20B3963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9" name="Notes Placeholder 8">
            <a:extLst>
              <a:ext uri="{FF2B5EF4-FFF2-40B4-BE49-F238E27FC236}">
                <a16:creationId xmlns:a16="http://schemas.microsoft.com/office/drawing/2014/main" id="{E923224B-0CC3-475A-8628-8A90751AE6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288A3F3-90B1-4930-8D00-5603BDABEF1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44894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Image Placeholder 13">
            <a:extLst>
              <a:ext uri="{FF2B5EF4-FFF2-40B4-BE49-F238E27FC236}">
                <a16:creationId xmlns:a16="http://schemas.microsoft.com/office/drawing/2014/main" id="{A1F0B3C6-2E53-4CA3-86D1-53D46EC352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5" name="Notes Placeholder 14">
            <a:extLst>
              <a:ext uri="{FF2B5EF4-FFF2-40B4-BE49-F238E27FC236}">
                <a16:creationId xmlns:a16="http://schemas.microsoft.com/office/drawing/2014/main" id="{149CC699-A079-49A5-A4D6-73B7F849A7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121F4233-7E9A-40D2-9066-2DB14E2FA5AD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18F1DFF-B3E7-4ABF-97EE-0BBF3A961EC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85307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 dirty="0"/>
              <a:t>© Software University Foundation – </a:t>
            </a:r>
            <a:r>
              <a:rPr lang="en-US" sz="1000" u="sng" dirty="0">
                <a:hlinkClick r:id="rId3"/>
              </a:rPr>
              <a:t>http://softuni.org</a:t>
            </a:r>
            <a:endParaRPr lang="en-US" sz="1000" dirty="0"/>
          </a:p>
          <a:p>
            <a:r>
              <a:rPr lang="en-US" sz="1000" dirty="0"/>
              <a:t>This work is licensed under the </a:t>
            </a:r>
            <a:r>
              <a:rPr lang="en-US" sz="1000" u="sng" noProof="1">
                <a:hlinkClick r:id="rId4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 dirty="0"/>
              <a:t>license.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58047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49B984-F964-47FF-8179-0A3007CE21CD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059BE0-D868-413B-AAA1-1CC88D1F52C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65903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27548A-4D3C-449B-81A5-FA4BE4628490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472CE7-61C1-4B7B-B0C8-5A45F017871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88444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http://creativecommons.org/licenses/by-nc-sa/4.0/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Bottom">
            <a:extLst>
              <a:ext uri="{FF2B5EF4-FFF2-40B4-BE49-F238E27FC236}">
                <a16:creationId xmlns:a16="http://schemas.microsoft.com/office/drawing/2014/main" id="{6854D183-0374-4B3E-B2CE-32F308A81591}"/>
              </a:ext>
            </a:extLst>
          </p:cNvPr>
          <p:cNvSpPr/>
          <p:nvPr userDrawn="1"/>
        </p:nvSpPr>
        <p:spPr>
          <a:xfrm>
            <a:off x="0" y="6702676"/>
            <a:ext cx="12195176" cy="1553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33" name="Picture Placeholder Title Image">
            <a:extLst>
              <a:ext uri="{FF2B5EF4-FFF2-40B4-BE49-F238E27FC236}">
                <a16:creationId xmlns:a16="http://schemas.microsoft.com/office/drawing/2014/main" id="{A04D819A-89E2-4714-8C56-1838BF467EF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390123" y="3400017"/>
            <a:ext cx="5248260" cy="2188983"/>
          </a:xfrm>
        </p:spPr>
        <p:txBody>
          <a:bodyPr/>
          <a:lstStyle>
            <a:lvl1pPr marL="0" indent="0" algn="ctr" latinLnBrk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10" name="Company Web Site">
            <a:extLst>
              <a:ext uri="{FF2B5EF4-FFF2-40B4-BE49-F238E27FC236}">
                <a16:creationId xmlns:a16="http://schemas.microsoft.com/office/drawing/2014/main" id="{0B99B1EE-62FA-4AA4-920C-D444D6C0B77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90120" y="6086106"/>
            <a:ext cx="5248260" cy="341313"/>
          </a:xfrm>
        </p:spPr>
        <p:txBody>
          <a:bodyPr lIns="36000" rIns="36000" anchor="ctr" anchorCtr="0">
            <a:noAutofit/>
          </a:bodyPr>
          <a:lstStyle>
            <a:lvl1pPr marL="0" indent="0" algn="r">
              <a:buNone/>
              <a:defRPr sz="1800"/>
            </a:lvl1pPr>
          </a:lstStyle>
          <a:p>
            <a:pPr lvl="0"/>
            <a:r>
              <a:rPr lang="en-US" dirty="0"/>
              <a:t>https://softuni.foundation  </a:t>
            </a:r>
          </a:p>
        </p:txBody>
      </p:sp>
      <p:sp>
        <p:nvSpPr>
          <p:cNvPr id="6" name="Company Name">
            <a:extLst>
              <a:ext uri="{FF2B5EF4-FFF2-40B4-BE49-F238E27FC236}">
                <a16:creationId xmlns:a16="http://schemas.microsoft.com/office/drawing/2014/main" id="{2A76510A-0BAE-A827-E77C-BE88E38F52A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90122" y="5698189"/>
            <a:ext cx="5248260" cy="374236"/>
          </a:xfrm>
        </p:spPr>
        <p:txBody>
          <a:bodyPr lIns="36000" rIns="36000" anchor="ctr" anchorCtr="0">
            <a:normAutofit/>
          </a:bodyPr>
          <a:lstStyle>
            <a:lvl1pPr marL="0" indent="0" algn="r">
              <a:buNone/>
              <a:defRPr sz="2000" b="1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SoftUni Foundation</a:t>
            </a:r>
          </a:p>
        </p:txBody>
      </p:sp>
      <p:sp>
        <p:nvSpPr>
          <p:cNvPr id="31" name="Author Position">
            <a:extLst>
              <a:ext uri="{FF2B5EF4-FFF2-40B4-BE49-F238E27FC236}">
                <a16:creationId xmlns:a16="http://schemas.microsoft.com/office/drawing/2014/main" id="{3E6B87B7-9D33-4EBB-BD4F-C0436BA3FD7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534045" y="6085863"/>
            <a:ext cx="4751953" cy="341556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l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1800" b="0" kern="1200" dirty="0" smtClean="0">
                <a:solidFill>
                  <a:schemeClr val="tx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URL</a:t>
            </a:r>
          </a:p>
        </p:txBody>
      </p:sp>
      <p:sp>
        <p:nvSpPr>
          <p:cNvPr id="30" name="Author Name">
            <a:extLst>
              <a:ext uri="{FF2B5EF4-FFF2-40B4-BE49-F238E27FC236}">
                <a16:creationId xmlns:a16="http://schemas.microsoft.com/office/drawing/2014/main" id="{2EA92DCA-4DB5-4D03-ACD3-A6A296592D0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534046" y="5251106"/>
            <a:ext cx="4751954" cy="724904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l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2000" b="1" kern="1200" dirty="0" smtClean="0">
                <a:solidFill>
                  <a:schemeClr val="tx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Authors</a:t>
            </a:r>
          </a:p>
        </p:txBody>
      </p:sp>
      <p:sp>
        <p:nvSpPr>
          <p:cNvPr id="43" name="Presentation Subtitle">
            <a:extLst>
              <a:ext uri="{FF2B5EF4-FFF2-40B4-BE49-F238E27FC236}">
                <a16:creationId xmlns:a16="http://schemas.microsoft.com/office/drawing/2014/main" id="{37BDB812-1395-4B02-ABCF-6A331EEE23E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54746" y="1402942"/>
            <a:ext cx="11083636" cy="1306057"/>
          </a:xfrm>
        </p:spPr>
        <p:txBody>
          <a:bodyPr anchor="t" anchorCtr="0">
            <a:normAutofit/>
          </a:bodyPr>
          <a:lstStyle>
            <a:lvl1pPr marL="0" indent="0" algn="ctr" latinLnBrk="0">
              <a:buNone/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Presentation Subtitle</a:t>
            </a:r>
          </a:p>
        </p:txBody>
      </p:sp>
      <p:sp>
        <p:nvSpPr>
          <p:cNvPr id="2" name="Presentation Title">
            <a:extLst>
              <a:ext uri="{FF2B5EF4-FFF2-40B4-BE49-F238E27FC236}">
                <a16:creationId xmlns:a16="http://schemas.microsoft.com/office/drawing/2014/main" id="{A4DF3AB8-E6E3-4FCE-8A4A-ECD147720A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746" y="321501"/>
            <a:ext cx="11083636" cy="971589"/>
          </a:xfrm>
        </p:spPr>
        <p:txBody>
          <a:bodyPr>
            <a:normAutofit/>
          </a:bodyPr>
          <a:lstStyle>
            <a:lvl1pPr algn="ctr" latinLnBrk="0">
              <a:defRPr sz="5400"/>
            </a:lvl1pPr>
          </a:lstStyle>
          <a:p>
            <a:r>
              <a:rPr lang="en-US" noProof="0" dirty="0"/>
              <a:t>Presentation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4D0DB3-F60A-469B-7831-209CB666CCE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549" y="4325954"/>
            <a:ext cx="2538082" cy="633046"/>
          </a:xfrm>
          <a:prstGeom prst="rect">
            <a:avLst/>
          </a:prstGeom>
        </p:spPr>
      </p:pic>
      <p:pic>
        <p:nvPicPr>
          <p:cNvPr id="5" name="Picture 4" title="CC-BY-NC-SA License">
            <a:hlinkClick r:id="rId3" tooltip="This work is licensed under the &quot;Creative Commons Attribution-NonCommercial-ShareAlike 4.0 International&quot; license"/>
            <a:extLst>
              <a:ext uri="{FF2B5EF4-FFF2-40B4-BE49-F238E27FC236}">
                <a16:creationId xmlns:a16="http://schemas.microsoft.com/office/drawing/2014/main" id="{2D40731C-0303-A69D-63FD-E048A73CA59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402682" y="4321352"/>
            <a:ext cx="1809336" cy="633045"/>
          </a:xfrm>
          <a:prstGeom prst="roundRect">
            <a:avLst>
              <a:gd name="adj" fmla="val 3940"/>
            </a:avLst>
          </a:prstGeom>
          <a:solidFill>
            <a:srgbClr val="231F20">
              <a:alpha val="50000"/>
            </a:srgbClr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0654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Center Icon"/>
          <p:cNvSpPr>
            <a:spLocks noChangeAspect="1"/>
          </p:cNvSpPr>
          <p:nvPr/>
        </p:nvSpPr>
        <p:spPr>
          <a:xfrm>
            <a:off x="4319736" y="867751"/>
            <a:ext cx="3552529" cy="355252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Subtitle"/>
          <p:cNvSpPr>
            <a:spLocks noGrp="1"/>
          </p:cNvSpPr>
          <p:nvPr>
            <p:ph type="subTitle" sz="quarter" idx="11" hasCustomPrompt="1"/>
          </p:nvPr>
        </p:nvSpPr>
        <p:spPr>
          <a:xfrm>
            <a:off x="615109" y="5585916"/>
            <a:ext cx="10961783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3998" b="0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Subtitle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 sz="quarter" idx="10" hasCustomPrompt="1"/>
          </p:nvPr>
        </p:nvSpPr>
        <p:spPr>
          <a:xfrm>
            <a:off x="615109" y="4704825"/>
            <a:ext cx="10961783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5396" b="1" baseline="0">
                <a:solidFill>
                  <a:schemeClr val="tx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Title</a:t>
            </a:r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529216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">
            <a:extLst>
              <a:ext uri="{FF2B5EF4-FFF2-40B4-BE49-F238E27FC236}">
                <a16:creationId xmlns:a16="http://schemas.microsoft.com/office/drawing/2014/main" id="{C1780DB1-0AF0-4108-AFE1-9DA99F0DBC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" name="Slide Body Text">
            <a:extLst>
              <a:ext uri="{FF2B5EF4-FFF2-40B4-BE49-F238E27FC236}">
                <a16:creationId xmlns:a16="http://schemas.microsoft.com/office/drawing/2014/main" id="{5A9D2960-6D42-439F-82E8-812822013A1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2" y="1196125"/>
            <a:ext cx="11818096" cy="5528766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Rectangle Top">
            <a:extLst>
              <a:ext uri="{FF2B5EF4-FFF2-40B4-BE49-F238E27FC236}">
                <a16:creationId xmlns:a16="http://schemas.microsoft.com/office/drawing/2014/main" id="{391AFA4E-7870-4561-A1B8-AC956B0C8931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19B5B676-7892-440F-8191-7109B2C598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10270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9A1D0F-F579-6A3C-C698-4E2E7F1AB26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970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portant Conce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0020EB61-2079-41A3-B356-B1D8D48D78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Rectangle Left"/>
          <p:cNvSpPr/>
          <p:nvPr/>
        </p:nvSpPr>
        <p:spPr>
          <a:xfrm>
            <a:off x="0" y="0"/>
            <a:ext cx="115383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3074" name="Picture Bulb" descr="Bul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35205" y="1792355"/>
            <a:ext cx="1830304" cy="4062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lide Body Text">
            <a:extLst>
              <a:ext uri="{FF2B5EF4-FFF2-40B4-BE49-F238E27FC236}">
                <a16:creationId xmlns:a16="http://schemas.microsoft.com/office/drawing/2014/main" id="{CB4CB13C-66A1-466B-A6C1-B0BABF5CFE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66000" y="1121143"/>
            <a:ext cx="10129234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8" name="Slide Title">
            <a:extLst>
              <a:ext uri="{FF2B5EF4-FFF2-40B4-BE49-F238E27FC236}">
                <a16:creationId xmlns:a16="http://schemas.microsoft.com/office/drawing/2014/main" id="{E2DA9691-CDF5-499C-94BB-AAA61DAC1B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956" y="100750"/>
            <a:ext cx="9164044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8CA5371-2597-CF8F-1859-22639580743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1877" y="362077"/>
            <a:ext cx="1443357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530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portant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1865BF6B-7F07-4E9C-879F-80E36EEB34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2" name="Rectangle Left">
            <a:extLst>
              <a:ext uri="{FF2B5EF4-FFF2-40B4-BE49-F238E27FC236}">
                <a16:creationId xmlns:a16="http://schemas.microsoft.com/office/drawing/2014/main" id="{345FB1C8-7F66-4D5C-ACCE-AE919936BCFD}"/>
              </a:ext>
            </a:extLst>
          </p:cNvPr>
          <p:cNvSpPr/>
          <p:nvPr/>
        </p:nvSpPr>
        <p:spPr>
          <a:xfrm>
            <a:off x="0" y="0"/>
            <a:ext cx="115383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3074" name="Picture Bulb" descr="Bul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20027" y="3314704"/>
            <a:ext cx="1260665" cy="2797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Slide Body Text">
            <a:extLst>
              <a:ext uri="{FF2B5EF4-FFF2-40B4-BE49-F238E27FC236}">
                <a16:creationId xmlns:a16="http://schemas.microsoft.com/office/drawing/2014/main" id="{6157C8DE-E0AF-422B-BBB1-F0AF1264B5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673561" y="1121143"/>
            <a:ext cx="10321675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Slide Title">
            <a:extLst>
              <a:ext uri="{FF2B5EF4-FFF2-40B4-BE49-F238E27FC236}">
                <a16:creationId xmlns:a16="http://schemas.microsoft.com/office/drawing/2014/main" id="{0D5CC956-5C4A-44BE-8F8B-327FAFA51E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956" y="100750"/>
            <a:ext cx="9164044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37AF1B9-D67A-246A-86B6-E28F19C5239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1877" y="362077"/>
            <a:ext cx="1443357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651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F0B8C963-1813-4B69-AD27-6D02EBBBB5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" name="Rectangle Left">
            <a:extLst>
              <a:ext uri="{FF2B5EF4-FFF2-40B4-BE49-F238E27FC236}">
                <a16:creationId xmlns:a16="http://schemas.microsoft.com/office/drawing/2014/main" id="{345FB1C8-7F66-4D5C-ACCE-AE919936BCFD}"/>
              </a:ext>
            </a:extLst>
          </p:cNvPr>
          <p:cNvSpPr/>
          <p:nvPr userDrawn="1"/>
        </p:nvSpPr>
        <p:spPr>
          <a:xfrm>
            <a:off x="0" y="0"/>
            <a:ext cx="429471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4" name="Picture Bulb" descr="Bulb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56000" y="5098868"/>
            <a:ext cx="779209" cy="1729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lide Body Text">
            <a:extLst>
              <a:ext uri="{FF2B5EF4-FFF2-40B4-BE49-F238E27FC236}">
                <a16:creationId xmlns:a16="http://schemas.microsoft.com/office/drawing/2014/main" id="{7296EDA7-D37D-4B31-A888-371F0804124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5176" y="1121143"/>
            <a:ext cx="11410061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55A88B09-3557-48A3-BF27-42699C2692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177" y="100750"/>
            <a:ext cx="9875824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C2C375B-43BF-D1DD-F160-1500A111885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1877" y="362077"/>
            <a:ext cx="1443357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562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urce Code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">
            <a:extLst>
              <a:ext uri="{FF2B5EF4-FFF2-40B4-BE49-F238E27FC236}">
                <a16:creationId xmlns:a16="http://schemas.microsoft.com/office/drawing/2014/main" id="{509D954E-A844-4072-A556-DE584BEB93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9" name="Rectangle Top">
            <a:extLst>
              <a:ext uri="{FF2B5EF4-FFF2-40B4-BE49-F238E27FC236}">
                <a16:creationId xmlns:a16="http://schemas.microsoft.com/office/drawing/2014/main" id="{A15CE03A-0933-4E5D-9EA1-718D4F802FFC}"/>
              </a:ext>
            </a:extLst>
          </p:cNvPr>
          <p:cNvSpPr/>
          <p:nvPr userDrawn="1"/>
        </p:nvSpPr>
        <p:spPr>
          <a:xfrm>
            <a:off x="0" y="1311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2" name="Slide Body Text">
            <a:extLst>
              <a:ext uri="{FF2B5EF4-FFF2-40B4-BE49-F238E27FC236}">
                <a16:creationId xmlns:a16="http://schemas.microsoft.com/office/drawing/2014/main" id="{B608ED73-CE88-49E4-8BFC-DBD6E9AE6B1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6" y="1206668"/>
            <a:ext cx="11804831" cy="5550582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This is a code example</a:t>
            </a:r>
          </a:p>
        </p:txBody>
      </p:sp>
      <p:sp>
        <p:nvSpPr>
          <p:cNvPr id="4" name="Code Box">
            <a:extLst>
              <a:ext uri="{FF2B5EF4-FFF2-40B4-BE49-F238E27FC236}">
                <a16:creationId xmlns:a16="http://schemas.microsoft.com/office/drawing/2014/main" id="{F4E021E9-D6DB-4272-8C9F-CEF4940FDC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4683" y="2034000"/>
            <a:ext cx="10836275" cy="2237893"/>
          </a:xfr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5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>
            <a:lvl1pPr>
              <a:buNone/>
              <a:defRPr lang="en-US" sz="2800" b="1" smtClean="0">
                <a:latin typeface="Consolas" pitchFamily="49" charset="0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Source code box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…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…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…</a:t>
            </a:r>
          </a:p>
        </p:txBody>
      </p:sp>
      <p:sp>
        <p:nvSpPr>
          <p:cNvPr id="11" name="Slide Title">
            <a:extLst>
              <a:ext uri="{FF2B5EF4-FFF2-40B4-BE49-F238E27FC236}">
                <a16:creationId xmlns:a16="http://schemas.microsoft.com/office/drawing/2014/main" id="{47D60833-F0A9-4F29-8C06-A963A7C8BE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5" y="100750"/>
            <a:ext cx="10239658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B69A4E8-9221-8F79-65B4-BF9AA7F87D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829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Center Icon"/>
          <p:cNvSpPr>
            <a:spLocks noChangeAspect="1"/>
          </p:cNvSpPr>
          <p:nvPr/>
        </p:nvSpPr>
        <p:spPr>
          <a:xfrm>
            <a:off x="831000" y="1091471"/>
            <a:ext cx="3552529" cy="355252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Subtitle"/>
          <p:cNvSpPr>
            <a:spLocks noGrp="1"/>
          </p:cNvSpPr>
          <p:nvPr>
            <p:ph type="subTitle" sz="quarter" idx="11" hasCustomPrompt="1"/>
          </p:nvPr>
        </p:nvSpPr>
        <p:spPr>
          <a:xfrm>
            <a:off x="5241000" y="3338387"/>
            <a:ext cx="6065892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3998" b="0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Subtitle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 sz="quarter" idx="10" hasCustomPrompt="1"/>
          </p:nvPr>
        </p:nvSpPr>
        <p:spPr>
          <a:xfrm>
            <a:off x="5241000" y="1471047"/>
            <a:ext cx="6065892" cy="175433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5396" b="1" baseline="0">
                <a:solidFill>
                  <a:schemeClr val="tx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Title</a:t>
            </a:r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2423919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">
            <a:extLst>
              <a:ext uri="{FF2B5EF4-FFF2-40B4-BE49-F238E27FC236}">
                <a16:creationId xmlns:a16="http://schemas.microsoft.com/office/drawing/2014/main" id="{39DDE17E-5472-41F3-AF5F-54DFF10DC6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23" name="Slide Body Text">
            <a:extLst>
              <a:ext uri="{FF2B5EF4-FFF2-40B4-BE49-F238E27FC236}">
                <a16:creationId xmlns:a16="http://schemas.microsoft.com/office/drawing/2014/main" id="{889D93F4-ABFA-46BF-8E5D-FE6562ACB20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6766" y="1371604"/>
            <a:ext cx="11781606" cy="5207396"/>
          </a:xfrm>
        </p:spPr>
        <p:txBody>
          <a:bodyPr>
            <a:normAutofit/>
          </a:bodyPr>
          <a:lstStyle>
            <a:lvl1pPr marL="514042" indent="-514042" latinLnBrk="0">
              <a:buFont typeface="+mj-lt"/>
              <a:buAutoNum type="arabicPeriod"/>
              <a:defRPr sz="3600">
                <a:solidFill>
                  <a:schemeClr val="tx1"/>
                </a:solidFill>
              </a:defRPr>
            </a:lvl1pPr>
            <a:lvl2pPr>
              <a:defRPr sz="3400"/>
            </a:lvl2pPr>
          </a:lstStyle>
          <a:p>
            <a:pPr lvl="0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0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0"/>
            <a:r>
              <a:rPr lang="en-US" noProof="0" dirty="0"/>
              <a:t>…</a:t>
            </a:r>
          </a:p>
        </p:txBody>
      </p:sp>
      <p:sp>
        <p:nvSpPr>
          <p:cNvPr id="8" name="Rectangle Top">
            <a:extLst>
              <a:ext uri="{FF2B5EF4-FFF2-40B4-BE49-F238E27FC236}">
                <a16:creationId xmlns:a16="http://schemas.microsoft.com/office/drawing/2014/main" id="{930E0800-9260-4369-8330-8264DD33C5CE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3" name="Slide Title">
            <a:extLst>
              <a:ext uri="{FF2B5EF4-FFF2-40B4-BE49-F238E27FC236}">
                <a16:creationId xmlns:a16="http://schemas.microsoft.com/office/drawing/2014/main" id="{357D7BE1-6358-42CC-94F3-7BCDD91DCB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10270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Table of Contents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FD808AB-EC49-1578-0005-D58D2A365AA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724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Bottom"/>
          <p:cNvSpPr/>
          <p:nvPr/>
        </p:nvSpPr>
        <p:spPr>
          <a:xfrm>
            <a:off x="2" y="6264000"/>
            <a:ext cx="12192000" cy="594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856" tIns="60928" rIns="121856" bIns="6092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6750ECE4-94E0-469B-B8E4-562792823B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462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bg2"/>
                </a:solidFill>
              </a:defRPr>
            </a:lvl1pPr>
          </a:lstStyle>
          <a:p>
            <a:fld id="{2BF067CD-8E6B-4360-9AA8-C5DF2A48A6D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Oval Logo Holder"/>
          <p:cNvSpPr/>
          <p:nvPr/>
        </p:nvSpPr>
        <p:spPr>
          <a:xfrm>
            <a:off x="5161650" y="4824665"/>
            <a:ext cx="1868701" cy="1868701"/>
          </a:xfrm>
          <a:prstGeom prst="ellipse">
            <a:avLst/>
          </a:prstGeom>
          <a:solidFill>
            <a:schemeClr val="tx2"/>
          </a:solidFill>
          <a:ln w="635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0" name="Text Placeholder Right">
            <a:extLst>
              <a:ext uri="{FF2B5EF4-FFF2-40B4-BE49-F238E27FC236}">
                <a16:creationId xmlns:a16="http://schemas.microsoft.com/office/drawing/2014/main" id="{AF69A59F-C564-4A04-B1CC-31C26149999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56000" y="1195931"/>
            <a:ext cx="5545597" cy="4957073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Text Placeholder Left">
            <a:extLst>
              <a:ext uri="{FF2B5EF4-FFF2-40B4-BE49-F238E27FC236}">
                <a16:creationId xmlns:a16="http://schemas.microsoft.com/office/drawing/2014/main" id="{C8A626D2-456B-41EF-9818-EA8DD7E314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2" y="1195931"/>
            <a:ext cx="5545598" cy="4957073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Rectangle Top">
            <a:extLst>
              <a:ext uri="{FF2B5EF4-FFF2-40B4-BE49-F238E27FC236}">
                <a16:creationId xmlns:a16="http://schemas.microsoft.com/office/drawing/2014/main" id="{E03301DA-D0AF-46FD-8740-2F761250203A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5" name="Slide Title">
            <a:extLst>
              <a:ext uri="{FF2B5EF4-FFF2-40B4-BE49-F238E27FC236}">
                <a16:creationId xmlns:a16="http://schemas.microsoft.com/office/drawing/2014/main" id="{EA9A94D1-F9F6-4D7B-85E3-896A987B6A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5" y="100750"/>
            <a:ext cx="10270595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C9792D8-D354-4699-B7D6-B8CB7F77594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98753" y="5340443"/>
            <a:ext cx="1334859" cy="98286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6351E19-25DA-EAD2-9FBE-358B6135D72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033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">
            <a:extLst>
              <a:ext uri="{FF2B5EF4-FFF2-40B4-BE49-F238E27FC236}">
                <a16:creationId xmlns:a16="http://schemas.microsoft.com/office/drawing/2014/main" id="{F888EE71-82B3-40F1-A63F-7417422FB4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444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4" name="Text Placeholder Body">
            <a:extLst>
              <a:ext uri="{FF2B5EF4-FFF2-40B4-BE49-F238E27FC236}">
                <a16:creationId xmlns:a16="http://schemas.microsoft.com/office/drawing/2014/main" id="{A2ABE920-240F-4CF6-AD45-23ED489FAD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69002" y="1353866"/>
            <a:ext cx="7426234" cy="5219931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Picture Placeholder Left"/>
          <p:cNvSpPr>
            <a:spLocks noGrp="1"/>
          </p:cNvSpPr>
          <p:nvPr>
            <p:ph type="pic" idx="1" hasCustomPrompt="1"/>
          </p:nvPr>
        </p:nvSpPr>
        <p:spPr>
          <a:xfrm>
            <a:off x="190405" y="1355077"/>
            <a:ext cx="3889373" cy="536640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anchor="ctr"/>
          <a:lstStyle>
            <a:lvl1pPr marL="0" indent="0" algn="ctr" latinLnBrk="0">
              <a:buNone/>
              <a:defRPr sz="2131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609219" indent="0">
              <a:buNone/>
              <a:defRPr sz="3731"/>
            </a:lvl2pPr>
            <a:lvl3pPr marL="1218438" indent="0">
              <a:buNone/>
              <a:defRPr sz="3198"/>
            </a:lvl3pPr>
            <a:lvl4pPr marL="1827657" indent="0">
              <a:buNone/>
              <a:defRPr sz="2665"/>
            </a:lvl4pPr>
            <a:lvl5pPr marL="2436876" indent="0">
              <a:buNone/>
              <a:defRPr sz="2665"/>
            </a:lvl5pPr>
            <a:lvl6pPr marL="3046096" indent="0">
              <a:buNone/>
              <a:defRPr sz="2665"/>
            </a:lvl6pPr>
            <a:lvl7pPr marL="3655315" indent="0">
              <a:buNone/>
              <a:defRPr sz="2665"/>
            </a:lvl7pPr>
            <a:lvl8pPr marL="4264533" indent="0">
              <a:buNone/>
              <a:defRPr sz="2665"/>
            </a:lvl8pPr>
            <a:lvl9pPr marL="4873752" indent="0">
              <a:buNone/>
              <a:defRPr sz="2665"/>
            </a:lvl9pPr>
          </a:lstStyle>
          <a:p>
            <a:r>
              <a:rPr lang="en-US" altLang="ko-KR" noProof="0"/>
              <a:t>Your Picture Here</a:t>
            </a:r>
          </a:p>
        </p:txBody>
      </p:sp>
      <p:sp>
        <p:nvSpPr>
          <p:cNvPr id="3" name="Rectangle Left Second"/>
          <p:cNvSpPr/>
          <p:nvPr/>
        </p:nvSpPr>
        <p:spPr>
          <a:xfrm>
            <a:off x="4127777" y="1748999"/>
            <a:ext cx="240001" cy="3360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2" name="Rectangle Left First"/>
          <p:cNvSpPr/>
          <p:nvPr/>
        </p:nvSpPr>
        <p:spPr>
          <a:xfrm>
            <a:off x="4079775" y="1355073"/>
            <a:ext cx="48001" cy="550292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0" name="Rectangle Down">
            <a:extLst>
              <a:ext uri="{FF2B5EF4-FFF2-40B4-BE49-F238E27FC236}">
                <a16:creationId xmlns:a16="http://schemas.microsoft.com/office/drawing/2014/main" id="{E9B994EC-35A8-4A11-98CB-25DC28852F94}"/>
              </a:ext>
            </a:extLst>
          </p:cNvPr>
          <p:cNvSpPr/>
          <p:nvPr/>
        </p:nvSpPr>
        <p:spPr>
          <a:xfrm>
            <a:off x="2" y="6721482"/>
            <a:ext cx="12192000" cy="1365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Rectangle Top">
            <a:extLst>
              <a:ext uri="{FF2B5EF4-FFF2-40B4-BE49-F238E27FC236}">
                <a16:creationId xmlns:a16="http://schemas.microsoft.com/office/drawing/2014/main" id="{274B8F05-DFCE-47BD-BAFD-DF93E1A63BDD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3" name="Slide Title">
            <a:extLst>
              <a:ext uri="{FF2B5EF4-FFF2-40B4-BE49-F238E27FC236}">
                <a16:creationId xmlns:a16="http://schemas.microsoft.com/office/drawing/2014/main" id="{3F218E34-55D7-4290-BFE4-80F31F9415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10270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F3DB3E-BDAA-8201-9A01-2F52640A84C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019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Bottom">
            <a:extLst>
              <a:ext uri="{FF2B5EF4-FFF2-40B4-BE49-F238E27FC236}">
                <a16:creationId xmlns:a16="http://schemas.microsoft.com/office/drawing/2014/main" id="{550A59F9-9A9D-4956-95B4-F78CC0DB1D59}"/>
              </a:ext>
            </a:extLst>
          </p:cNvPr>
          <p:cNvSpPr/>
          <p:nvPr userDrawn="1"/>
        </p:nvSpPr>
        <p:spPr>
          <a:xfrm>
            <a:off x="0" y="6371332"/>
            <a:ext cx="12195176" cy="48723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107753B-8639-4399-B782-EE5377184D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6988" y="1461842"/>
            <a:ext cx="10731663" cy="3047158"/>
          </a:xfrm>
        </p:spPr>
        <p:txBody>
          <a:bodyPr>
            <a:normAutofit/>
          </a:bodyPr>
          <a:lstStyle>
            <a:lvl1pPr algn="ctr">
              <a:defRPr sz="13800"/>
            </a:lvl1pPr>
          </a:lstStyle>
          <a:p>
            <a:r>
              <a:rPr lang="bg-BG" dirty="0"/>
              <a:t>Въпроси?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2061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Body Text">
            <a:extLst>
              <a:ext uri="{FF2B5EF4-FFF2-40B4-BE49-F238E27FC236}">
                <a16:creationId xmlns:a16="http://schemas.microsoft.com/office/drawing/2014/main" id="{90CBFB32-9F46-4F2F-8A54-9EE8BED278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0404" y="1138844"/>
            <a:ext cx="11804830" cy="5530156"/>
          </a:xfrm>
          <a:prstGeom prst="rect">
            <a:avLst/>
          </a:prstGeom>
        </p:spPr>
        <p:txBody>
          <a:bodyPr vert="horz" lIns="108000" tIns="36000" rIns="108000" bIns="36000" rtlCol="0">
            <a:normAutofit/>
          </a:bodyPr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10" name="Slide Title">
            <a:extLst>
              <a:ext uri="{FF2B5EF4-FFF2-40B4-BE49-F238E27FC236}">
                <a16:creationId xmlns:a16="http://schemas.microsoft.com/office/drawing/2014/main" id="{B770C392-3003-4C35-9625-BB041F825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05" y="100750"/>
            <a:ext cx="11804829" cy="882654"/>
          </a:xfrm>
          <a:prstGeom prst="rect">
            <a:avLst/>
          </a:prstGeom>
        </p:spPr>
        <p:txBody>
          <a:bodyPr vert="horz" lIns="108000" tIns="36000" rIns="108000" bIns="3600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678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89" r:id="rId2"/>
    <p:sldLayoutId id="2147483681" r:id="rId3"/>
    <p:sldLayoutId id="2147483679" r:id="rId4"/>
    <p:sldLayoutId id="2147483680" r:id="rId5"/>
    <p:sldLayoutId id="2147483688" r:id="rId6"/>
    <p:sldLayoutId id="2147483684" r:id="rId7"/>
    <p:sldLayoutId id="2147483690" r:id="rId8"/>
    <p:sldLayoutId id="2147483677" r:id="rId9"/>
    <p:sldLayoutId id="2147483683" r:id="rId10"/>
    <p:sldLayoutId id="2147483685" r:id="rId11"/>
    <p:sldLayoutId id="2147483686" r:id="rId12"/>
  </p:sldLayoutIdLst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  <p:txStyles>
    <p:titleStyle>
      <a:lvl1pPr algn="l" defTabSz="1218438" rtl="0" eaLnBrk="1" latinLnBrk="0" hangingPunct="1">
        <a:spcBef>
          <a:spcPct val="0"/>
        </a:spcBef>
        <a:buNone/>
        <a:defRPr sz="3998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363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3398" kern="1200">
          <a:solidFill>
            <a:schemeClr val="tx1"/>
          </a:solidFill>
          <a:latin typeface="+mn-lt"/>
          <a:ea typeface="+mn-ea"/>
          <a:cs typeface="+mn-cs"/>
        </a:defRPr>
      </a:lvl1pPr>
      <a:lvl2pPr marL="803275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3198" kern="1200">
          <a:solidFill>
            <a:schemeClr val="tx1"/>
          </a:solidFill>
          <a:latin typeface="+mn-lt"/>
          <a:ea typeface="+mn-ea"/>
          <a:cs typeface="+mn-cs"/>
        </a:defRPr>
      </a:lvl2pPr>
      <a:lvl3pPr marL="1255713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998" kern="1200">
          <a:solidFill>
            <a:schemeClr val="tx1"/>
          </a:solidFill>
          <a:latin typeface="+mn-lt"/>
          <a:ea typeface="+mn-ea"/>
          <a:cs typeface="+mn-cs"/>
        </a:defRPr>
      </a:lvl3pPr>
      <a:lvl4pPr marL="1700213" indent="-352425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8988" indent="-266700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598" kern="1200">
          <a:solidFill>
            <a:schemeClr val="tx1"/>
          </a:solidFill>
          <a:latin typeface="+mn-lt"/>
          <a:ea typeface="+mn-ea"/>
          <a:cs typeface="+mn-cs"/>
        </a:defRPr>
      </a:lvl5pPr>
      <a:lvl6pPr marL="3350704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59924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69143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78362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1pPr>
      <a:lvl2pPr marL="609219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218438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3pPr>
      <a:lvl4pPr marL="1827657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4pPr>
      <a:lvl5pPr marL="2436876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5pPr>
      <a:lvl6pPr marL="3046096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6pPr>
      <a:lvl7pPr marL="3655315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7pPr>
      <a:lvl8pPr marL="4264533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8pPr>
      <a:lvl9pPr marL="4873752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184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hyperlink" Target="https://github.com/BG-IT-Edu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G-IT-Edu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.png"/><Relationship Id="rId5" Type="http://schemas.openxmlformats.org/officeDocument/2006/relationships/hyperlink" Target="http://creativecommons.org/licenses/by-nc-sa/4.0/" TargetMode="External"/><Relationship Id="rId4" Type="http://schemas.openxmlformats.org/officeDocument/2006/relationships/hyperlink" Target="https://github.com/BG-IT-Edu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4" name="Picture 10" descr="Graph algorithms 101: popular algorithms and how to apply them"/>
          <p:cNvPicPr>
            <a:picLocks noGrp="1" noChangeAspect="1" noChangeArrowheads="1"/>
          </p:cNvPicPr>
          <p:nvPr>
            <p:ph type="pic" sz="quarter" idx="10"/>
          </p:nvPr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246" b="24246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Author Name">
            <a:extLst>
              <a:ext uri="{FF2B5EF4-FFF2-40B4-BE49-F238E27FC236}">
                <a16:creationId xmlns:a16="http://schemas.microsoft.com/office/drawing/2014/main" id="{FA396BB6-2053-4690-9672-BC528007D37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6</a:t>
            </a:r>
            <a:r>
              <a:rPr lang="bg-BG" dirty="0"/>
              <a:t> клас</a:t>
            </a:r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8DE66249-1FBD-414B-AF0D-550F7312AF7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>
            <a:normAutofit lnSpcReduction="10000"/>
          </a:bodyPr>
          <a:lstStyle/>
          <a:p>
            <a:r>
              <a:rPr lang="bg-BG" dirty="0"/>
              <a:t>Компютърно моделиране и ИТ</a:t>
            </a:r>
            <a:endParaRPr lang="en-US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520F80DC-BAF0-05EE-2BC1-37C2321904F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hlinkClick r:id="rId4"/>
              </a:rPr>
              <a:t>https://github.com/BG-IT-Edu</a:t>
            </a:r>
            <a:endParaRPr lang="en-US" dirty="0"/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E4D839B2-02D1-883A-3CE0-7CF25557FBA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>
            <a:normAutofit/>
          </a:bodyPr>
          <a:lstStyle/>
          <a:p>
            <a:r>
              <a:rPr lang="bg-BG" dirty="0"/>
              <a:t>Проект "Отворено учебно съдържание по програмиране и ИТ", СофтУни Фондация </a:t>
            </a:r>
          </a:p>
        </p:txBody>
      </p:sp>
      <p:sp>
        <p:nvSpPr>
          <p:cNvPr id="2" name="Presentation Title">
            <a:extLst>
              <a:ext uri="{FF2B5EF4-FFF2-40B4-BE49-F238E27FC236}">
                <a16:creationId xmlns:a16="http://schemas.microsoft.com/office/drawing/2014/main" id="{37F91798-9AD5-4209-8887-958029548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809" y="321501"/>
            <a:ext cx="9952382" cy="1455014"/>
          </a:xfrm>
        </p:spPr>
        <p:txBody>
          <a:bodyPr>
            <a:normAutofit fontScale="90000"/>
          </a:bodyPr>
          <a:lstStyle/>
          <a:p>
            <a:r>
              <a:rPr lang="bg-BG" dirty="0"/>
              <a:t>Дебъгване и живот на променлива</a:t>
            </a:r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25302" y="3204321"/>
            <a:ext cx="1902125" cy="852457"/>
          </a:xfrm>
          <a:prstGeom prst="rect">
            <a:avLst/>
          </a:prstGeom>
        </p:spPr>
      </p:pic>
      <p:sp>
        <p:nvSpPr>
          <p:cNvPr id="3" name="Subtitle 11">
            <a:extLst>
              <a:ext uri="{FF2B5EF4-FFF2-40B4-BE49-F238E27FC236}">
                <a16:creationId xmlns:a16="http://schemas.microsoft.com/office/drawing/2014/main" id="{1B1676FC-AD6D-3188-D813-12D3E16BA2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4744" y="1793101"/>
            <a:ext cx="11083636" cy="918803"/>
          </a:xfrm>
        </p:spPr>
        <p:txBody>
          <a:bodyPr>
            <a:normAutofit/>
          </a:bodyPr>
          <a:lstStyle/>
          <a:p>
            <a:r>
              <a:rPr lang="ru-RU" dirty="0"/>
              <a:t>Условна конструкция </a:t>
            </a:r>
            <a:r>
              <a:rPr lang="en-GB" dirty="0"/>
              <a:t>If-else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6405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6A760D59-0056-4F39-B077-DBDBE3D2927E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44419" name="Slide Body"/>
          <p:cNvSpPr>
            <a:spLocks noGrp="1" noChangeArrowheads="1"/>
          </p:cNvSpPr>
          <p:nvPr>
            <p:ph type="body" sz="quarter" idx="13"/>
          </p:nvPr>
        </p:nvSpPr>
        <p:spPr>
          <a:xfrm>
            <a:off x="196766" y="1371604"/>
            <a:ext cx="8959234" cy="5207396"/>
          </a:xfrm>
        </p:spPr>
        <p:txBody>
          <a:bodyPr/>
          <a:lstStyle/>
          <a:p>
            <a:r>
              <a:rPr lang="bg-BG" dirty="0"/>
              <a:t>͏Дебъгване</a:t>
            </a:r>
          </a:p>
          <a:p>
            <a:r>
              <a:rPr lang="bg-BG" dirty="0"/>
              <a:t>Серии от проверки</a:t>
            </a:r>
          </a:p>
          <a:p>
            <a:r>
              <a:rPr lang="bg-BG" dirty="0"/>
              <a:t>͏</a:t>
            </a:r>
            <a:r>
              <a:rPr lang="bg-BG" b="1" dirty="0"/>
              <a:t>Живот</a:t>
            </a:r>
            <a:r>
              <a:rPr lang="bg-BG" dirty="0"/>
              <a:t> на променлива</a:t>
            </a:r>
          </a:p>
        </p:txBody>
      </p:sp>
      <p:sp>
        <p:nvSpPr>
          <p:cNvPr id="444418" name="Slide Title"/>
          <p:cNvSpPr>
            <a:spLocks noGrp="1" noChangeArrowheads="1"/>
          </p:cNvSpPr>
          <p:nvPr>
            <p:ph type="title"/>
          </p:nvPr>
        </p:nvSpPr>
        <p:spPr>
          <a:xfrm>
            <a:off x="190406" y="100750"/>
            <a:ext cx="10270594" cy="882654"/>
          </a:xfrm>
        </p:spPr>
        <p:txBody>
          <a:bodyPr/>
          <a:lstStyle/>
          <a:p>
            <a:r>
              <a:rPr lang="bg-BG"/>
              <a:t>Съдържание</a:t>
            </a:r>
            <a:endParaRPr lang="bg-B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35CDFB-0E94-0132-177D-CD4B4F85BF8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3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011000" y="1584000"/>
            <a:ext cx="1581246" cy="21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986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22201-BAEA-468F-B23B-EB38A3C796A7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bg-BG"/>
              <a:t>Дебъгване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101FEB-F0AD-4A5D-8FBF-F51C6208CA6F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5908" y="1524001"/>
            <a:ext cx="2220185" cy="2220185"/>
          </a:xfrm>
          <a:prstGeom prst="rect">
            <a:avLst/>
          </a:prstGeom>
        </p:spPr>
      </p:pic>
      <p:sp>
        <p:nvSpPr>
          <p:cNvPr id="7" name="Subtitle 6">
            <a:extLst>
              <a:ext uri="{FF2B5EF4-FFF2-40B4-BE49-F238E27FC236}">
                <a16:creationId xmlns:a16="http://schemas.microsoft.com/office/drawing/2014/main" id="{74AF53BC-2E9A-4833-9CBE-AF631DA486ED}"/>
              </a:ext>
            </a:extLst>
          </p:cNvPr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bg-BG"/>
              <a:t>Прости операции с дебъгер</a:t>
            </a:r>
          </a:p>
        </p:txBody>
      </p:sp>
    </p:spTree>
    <p:extLst>
      <p:ext uri="{BB962C8B-B14F-4D97-AF65-F5344CB8AC3E}">
        <p14:creationId xmlns:p14="http://schemas.microsoft.com/office/powerpoint/2010/main" val="4113272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6000" y="3294000"/>
            <a:ext cx="4680000" cy="3393316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91523A-C4BB-413F-AFB1-48142DE8C55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685999" y="1143000"/>
            <a:ext cx="10250737" cy="5276048"/>
          </a:xfrm>
        </p:spPr>
        <p:txBody>
          <a:bodyPr/>
          <a:lstStyle/>
          <a:p>
            <a:r>
              <a:rPr lang="bg-BG" sz="3600" dirty="0"/>
              <a:t>͏</a:t>
            </a:r>
            <a:r>
              <a:rPr lang="bg-BG" sz="3600" b="1" dirty="0">
                <a:solidFill>
                  <a:schemeClr val="bg1"/>
                </a:solidFill>
              </a:rPr>
              <a:t>Дебъгване</a:t>
            </a:r>
            <a:r>
              <a:rPr lang="bg-BG" sz="3600" dirty="0"/>
              <a:t> – процес на </a:t>
            </a:r>
            <a:r>
              <a:rPr lang="bg-BG" sz="3600" b="1" dirty="0"/>
              <a:t>проследяване</a:t>
            </a:r>
            <a:r>
              <a:rPr lang="bg-BG" sz="3600" dirty="0"/>
              <a:t> на </a:t>
            </a:r>
            <a:r>
              <a:rPr lang="bg-BG" sz="3600" b="1" dirty="0"/>
              <a:t>изпълнението</a:t>
            </a:r>
            <a:r>
              <a:rPr lang="bg-BG" sz="3600" dirty="0"/>
              <a:t> на програмата</a:t>
            </a:r>
          </a:p>
          <a:p>
            <a:pPr lvl="1"/>
            <a:r>
              <a:rPr lang="bg-BG" sz="3400" dirty="0"/>
              <a:t>Това ни позволява да </a:t>
            </a:r>
            <a:r>
              <a:rPr lang="bg-BG" sz="3400" b="1" dirty="0"/>
              <a:t>откриваме грешки </a:t>
            </a:r>
            <a:r>
              <a:rPr lang="bg-BG" sz="3400" dirty="0"/>
              <a:t>(</a:t>
            </a:r>
            <a:r>
              <a:rPr lang="bg-BG" sz="3400" b="1" dirty="0"/>
              <a:t>бъгове</a:t>
            </a:r>
            <a:r>
              <a:rPr lang="bg-BG" sz="3400" dirty="0"/>
              <a:t>)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Дебъгване</a:t>
            </a:r>
            <a:endParaRPr lang="en-GB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8CB18A96-5B00-4D6A-A4E7-26DA8C321AF7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2" name="Rounded Rectangular Callout 1"/>
          <p:cNvSpPr/>
          <p:nvPr/>
        </p:nvSpPr>
        <p:spPr bwMode="auto">
          <a:xfrm>
            <a:off x="2676000" y="4059000"/>
            <a:ext cx="2160000" cy="630000"/>
          </a:xfrm>
          <a:prstGeom prst="wedgeRoundRectCallout">
            <a:avLst>
              <a:gd name="adj1" fmla="val 76149"/>
              <a:gd name="adj2" fmla="val 94168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Breakpoint</a:t>
            </a:r>
          </a:p>
        </p:txBody>
      </p:sp>
    </p:spTree>
    <p:extLst>
      <p:ext uri="{BB962C8B-B14F-4D97-AF65-F5344CB8AC3E}">
        <p14:creationId xmlns:p14="http://schemas.microsoft.com/office/powerpoint/2010/main" val="3890379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9901" y="3733025"/>
            <a:ext cx="4146551" cy="3006529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Дебъгване в</a:t>
            </a:r>
            <a:r>
              <a:rPr lang="en-US" dirty="0"/>
              <a:t> Thonny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424728D-C3ED-4376-8562-ED552A1B26C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27851" y="999969"/>
            <a:ext cx="10033549" cy="527604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bg-BG" sz="3000" dirty="0"/>
              <a:t>Натискане на </a:t>
            </a:r>
            <a:r>
              <a:rPr lang="bg-BG" sz="3000" b="1" dirty="0"/>
              <a:t>бутона</a:t>
            </a:r>
            <a:r>
              <a:rPr lang="bg-BG" sz="3000" dirty="0"/>
              <a:t> </a:t>
            </a:r>
            <a:r>
              <a:rPr lang="en-US" sz="3000" dirty="0"/>
              <a:t>[</a:t>
            </a:r>
            <a:r>
              <a:rPr lang="en-US" sz="3000" b="1" dirty="0">
                <a:solidFill>
                  <a:schemeClr val="bg1"/>
                </a:solidFill>
              </a:rPr>
              <a:t>Debugger</a:t>
            </a:r>
            <a:r>
              <a:rPr lang="en-US" sz="3000" dirty="0"/>
              <a:t>]</a:t>
            </a:r>
            <a:r>
              <a:rPr lang="bg-BG" sz="3000" b="1" dirty="0">
                <a:solidFill>
                  <a:schemeClr val="bg1"/>
                </a:solidFill>
              </a:rPr>
              <a:t> </a:t>
            </a:r>
            <a:r>
              <a:rPr lang="bg-BG" sz="3000" dirty="0"/>
              <a:t>ще стартира програмата в </a:t>
            </a:r>
            <a:r>
              <a:rPr lang="en-US" sz="3000" b="1" dirty="0">
                <a:solidFill>
                  <a:schemeClr val="bg1"/>
                </a:solidFill>
              </a:rPr>
              <a:t>debug</a:t>
            </a:r>
            <a:r>
              <a:rPr lang="en-US" sz="3000" b="1" dirty="0"/>
              <a:t> </a:t>
            </a:r>
            <a:r>
              <a:rPr lang="bg-BG" sz="3000" b="1" dirty="0"/>
              <a:t>режим</a:t>
            </a:r>
          </a:p>
          <a:p>
            <a:pPr>
              <a:lnSpc>
                <a:spcPct val="100000"/>
              </a:lnSpc>
            </a:pPr>
            <a:r>
              <a:rPr lang="bg-BG" sz="3000" dirty="0"/>
              <a:t>Можем да преминем към </a:t>
            </a:r>
            <a:r>
              <a:rPr lang="bg-BG" sz="3000" b="1" dirty="0"/>
              <a:t>следващата стъпка </a:t>
            </a:r>
            <a:r>
              <a:rPr lang="bg-BG" sz="3000" dirty="0"/>
              <a:t>с </a:t>
            </a:r>
            <a:r>
              <a:rPr lang="en-US" sz="3000" dirty="0"/>
              <a:t>[</a:t>
            </a:r>
            <a:r>
              <a:rPr lang="bg-BG" sz="3000" b="1" dirty="0">
                <a:solidFill>
                  <a:schemeClr val="bg1"/>
                </a:solidFill>
              </a:rPr>
              <a:t>F</a:t>
            </a:r>
            <a:r>
              <a:rPr lang="en-US" sz="3000" b="1" dirty="0">
                <a:solidFill>
                  <a:schemeClr val="bg1"/>
                </a:solidFill>
              </a:rPr>
              <a:t>7</a:t>
            </a:r>
            <a:r>
              <a:rPr lang="en-US" sz="3000" dirty="0"/>
              <a:t>]</a:t>
            </a:r>
          </a:p>
          <a:p>
            <a:pPr>
              <a:lnSpc>
                <a:spcPct val="100000"/>
              </a:lnSpc>
            </a:pPr>
            <a:r>
              <a:rPr lang="bg-BG" sz="3000" dirty="0"/>
              <a:t>Можем да създаваме</a:t>
            </a:r>
            <a:r>
              <a:rPr lang="en-US" sz="3000" dirty="0"/>
              <a:t> </a:t>
            </a:r>
            <a:r>
              <a:rPr lang="bg-BG" sz="3000" b="1" dirty="0">
                <a:solidFill>
                  <a:schemeClr val="bg1"/>
                </a:solidFill>
              </a:rPr>
              <a:t>стопери</a:t>
            </a:r>
            <a:r>
              <a:rPr lang="bg-BG" sz="3000" dirty="0"/>
              <a:t> </a:t>
            </a:r>
            <a:r>
              <a:rPr lang="en-US" sz="3000" dirty="0"/>
              <a:t>(</a:t>
            </a:r>
            <a:r>
              <a:rPr lang="en-US" sz="3000" b="1" dirty="0"/>
              <a:t>breakpoints</a:t>
            </a:r>
            <a:r>
              <a:rPr lang="en-US" sz="3000" dirty="0"/>
              <a:t>)</a:t>
            </a:r>
            <a:r>
              <a:rPr lang="bg-BG" sz="3000" dirty="0"/>
              <a:t>,</a:t>
            </a:r>
            <a:r>
              <a:rPr lang="en-US" sz="3000" dirty="0"/>
              <a:t> </a:t>
            </a:r>
            <a:r>
              <a:rPr lang="bg-BG" sz="3000" dirty="0"/>
              <a:t>като цъкнем в най-лявата част на полето за писане на код</a:t>
            </a:r>
          </a:p>
        </p:txBody>
      </p:sp>
      <p:sp>
        <p:nvSpPr>
          <p:cNvPr id="8" name="AutoShape 7">
            <a:extLst>
              <a:ext uri="{FF2B5EF4-FFF2-40B4-BE49-F238E27FC236}">
                <a16:creationId xmlns:a16="http://schemas.microsoft.com/office/drawing/2014/main" id="{672CF3A2-D953-4549-B78E-AFBF83CE80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6000" y="5397921"/>
            <a:ext cx="2189977" cy="662392"/>
          </a:xfrm>
          <a:prstGeom prst="wedgeRoundRectCallout">
            <a:avLst>
              <a:gd name="adj1" fmla="val 87231"/>
              <a:gd name="adj2" fmla="val -49280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3000" b="1" dirty="0">
                <a:solidFill>
                  <a:srgbClr val="FFFFFF"/>
                </a:solidFill>
              </a:rPr>
              <a:t>Breakpoint</a:t>
            </a:r>
            <a:endParaRPr lang="bg-BG" sz="3000" b="1" dirty="0">
              <a:solidFill>
                <a:srgbClr val="FFFFFF"/>
              </a:solidFill>
            </a:endParaRPr>
          </a:p>
        </p:txBody>
      </p:sp>
      <p:sp>
        <p:nvSpPr>
          <p:cNvPr id="9" name="AutoShape 7">
            <a:extLst>
              <a:ext uri="{FF2B5EF4-FFF2-40B4-BE49-F238E27FC236}">
                <a16:creationId xmlns:a16="http://schemas.microsoft.com/office/drawing/2014/main" id="{D0162643-F30C-4A9B-8CB6-6656A57CA8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9036" y="4059000"/>
            <a:ext cx="2189977" cy="662392"/>
          </a:xfrm>
          <a:prstGeom prst="wedgeRoundRectCallout">
            <a:avLst>
              <a:gd name="adj1" fmla="val 85443"/>
              <a:gd name="adj2" fmla="val 33929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3000" b="1" dirty="0">
                <a:solidFill>
                  <a:srgbClr val="FFFFFF"/>
                </a:solidFill>
              </a:rPr>
              <a:t>Breakpoint</a:t>
            </a:r>
            <a:endParaRPr lang="bg-BG" sz="3000" b="1" dirty="0">
              <a:solidFill>
                <a:srgbClr val="FFFFFF"/>
              </a:solidFill>
            </a:endParaRPr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6BFB1B87-5FAF-4DF9-82BA-C682590E5EC2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0211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6</a:t>
            </a:fld>
            <a:endParaRPr lang="en-US" noProof="0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Дебъгване – видео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500" y="1266425"/>
            <a:ext cx="10305000" cy="5447315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777550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6"/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bg-BG" dirty="0"/>
              <a:t>По-сложни условни конструкции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bg-BG" dirty="0"/>
              <a:t>Серии от проверки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5645202-705F-411B-A374-D00271DA22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272" y="1219201"/>
            <a:ext cx="2667457" cy="266745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186907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ADE8A7-C220-472D-BF70-6F690FF0A11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96956" y="999000"/>
            <a:ext cx="10784044" cy="5276048"/>
          </a:xfrm>
        </p:spPr>
        <p:txBody>
          <a:bodyPr>
            <a:noAutofit/>
          </a:bodyPr>
          <a:lstStyle/>
          <a:p>
            <a:pPr marL="457200" indent="-457200">
              <a:lnSpc>
                <a:spcPct val="100000"/>
              </a:lnSpc>
            </a:pPr>
            <a:r>
              <a:rPr lang="bg-BG" sz="3200" dirty="0"/>
              <a:t>Конструкцията </a:t>
            </a:r>
            <a:r>
              <a:rPr lang="en-US" sz="3000" b="1" dirty="0">
                <a:latin typeface="Consolas" panose="020B0609020204030204" pitchFamily="49" charset="0"/>
              </a:rPr>
              <a:t>if/else - if/else…</a:t>
            </a:r>
            <a:r>
              <a:rPr lang="en-US" sz="3000" dirty="0"/>
              <a:t> </a:t>
            </a:r>
            <a:r>
              <a:rPr lang="bg-BG" sz="3200" dirty="0"/>
              <a:t>е </a:t>
            </a:r>
            <a:r>
              <a:rPr lang="bg-BG" sz="3200" b="1" dirty="0"/>
              <a:t>серия от проверки</a:t>
            </a:r>
          </a:p>
          <a:p>
            <a:pPr marL="0" indent="0">
              <a:lnSpc>
                <a:spcPct val="100000"/>
              </a:lnSpc>
              <a:spcBef>
                <a:spcPts val="12600"/>
              </a:spcBef>
              <a:spcAft>
                <a:spcPts val="12600"/>
              </a:spcAft>
              <a:buNone/>
            </a:pPr>
            <a:endParaRPr lang="bg-BG" sz="3200" dirty="0"/>
          </a:p>
          <a:p>
            <a:pPr marL="457200" indent="-457200">
              <a:lnSpc>
                <a:spcPct val="100000"/>
              </a:lnSpc>
            </a:pPr>
            <a:r>
              <a:rPr lang="bg-BG" sz="3200" dirty="0"/>
              <a:t>При </a:t>
            </a:r>
            <a:r>
              <a:rPr lang="bg-BG" sz="3200" b="1" dirty="0"/>
              <a:t>истинност</a:t>
            </a:r>
            <a:r>
              <a:rPr lang="bg-BG" sz="3200" dirty="0"/>
              <a:t> на </a:t>
            </a:r>
            <a:r>
              <a:rPr lang="bg-BG" sz="3200" b="1" dirty="0"/>
              <a:t>едно условие</a:t>
            </a:r>
            <a:r>
              <a:rPr lang="bg-BG" sz="3200" dirty="0"/>
              <a:t>, </a:t>
            </a:r>
            <a:r>
              <a:rPr lang="bg-BG" sz="3200" b="1" dirty="0">
                <a:solidFill>
                  <a:schemeClr val="bg1"/>
                </a:solidFill>
              </a:rPr>
              <a:t>не се продължава</a:t>
            </a:r>
            <a:r>
              <a:rPr lang="bg-BG" sz="3200" dirty="0">
                <a:solidFill>
                  <a:schemeClr val="bg1"/>
                </a:solidFill>
              </a:rPr>
              <a:t> </a:t>
            </a:r>
            <a:r>
              <a:rPr lang="bg-BG" sz="3200" dirty="0"/>
              <a:t>към</a:t>
            </a:r>
            <a:r>
              <a:rPr lang="en-US" sz="3200" dirty="0"/>
              <a:t> </a:t>
            </a:r>
            <a:r>
              <a:rPr lang="bg-BG" sz="3200" dirty="0"/>
              <a:t>проверяване на следващите условия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Серии от проверки</a:t>
            </a:r>
            <a:endParaRPr lang="en-US" dirty="0"/>
          </a:p>
        </p:txBody>
      </p:sp>
      <p:pic>
        <p:nvPicPr>
          <p:cNvPr id="1030" name="Picture 6" descr="Image result for true or false png">
            <a:extLst>
              <a:ext uri="{FF2B5EF4-FFF2-40B4-BE49-F238E27FC236}">
                <a16:creationId xmlns:a16="http://schemas.microsoft.com/office/drawing/2014/main" id="{15520DB1-CF14-4760-B61B-E61C58DC7C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377273">
            <a:off x="7569810" y="3267543"/>
            <a:ext cx="3691043" cy="677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lide Number">
            <a:extLst>
              <a:ext uri="{FF2B5EF4-FFF2-40B4-BE49-F238E27FC236}">
                <a16:creationId xmlns:a16="http://schemas.microsoft.com/office/drawing/2014/main" id="{C6EA0576-C778-42A6-9C8B-C5EBEC170C46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0C413137-A048-4BA1-B23F-600250B4A6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57939" y="1810014"/>
            <a:ext cx="3743061" cy="3418986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5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pPr defTabSz="1218438" eaLnBrk="0" latinLnBrk="1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it-IT" sz="2600" b="1" noProof="1">
                <a:latin typeface="Consolas" pitchFamily="49" charset="0"/>
              </a:rPr>
              <a:t>if </a:t>
            </a:r>
            <a:r>
              <a:rPr lang="bg-BG" sz="2600" b="1" noProof="1">
                <a:latin typeface="Consolas" pitchFamily="49" charset="0"/>
              </a:rPr>
              <a:t>...</a:t>
            </a:r>
            <a:r>
              <a:rPr lang="en-US" sz="2600" b="1" noProof="1">
                <a:latin typeface="Consolas" pitchFamily="49" charset="0"/>
              </a:rPr>
              <a:t>:</a:t>
            </a:r>
            <a:r>
              <a:rPr lang="it-IT" sz="2600" b="1" noProof="1">
                <a:latin typeface="Consolas" pitchFamily="49" charset="0"/>
              </a:rPr>
              <a:t> </a:t>
            </a:r>
          </a:p>
          <a:p>
            <a:pPr defTabSz="1218438" eaLnBrk="0" latinLnBrk="1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i="1" noProof="1">
                <a:solidFill>
                  <a:schemeClr val="accent2"/>
                </a:solidFill>
              </a:rPr>
              <a:t>    # </a:t>
            </a:r>
            <a:r>
              <a:rPr lang="bg-BG" sz="2600" b="1" i="1" noProof="1">
                <a:solidFill>
                  <a:schemeClr val="accent2"/>
                </a:solidFill>
                <a:latin typeface="Consolas" panose="020B0609020204030204" pitchFamily="49" charset="0"/>
              </a:rPr>
              <a:t>код</a:t>
            </a:r>
          </a:p>
          <a:p>
            <a:pPr defTabSz="1218438" eaLnBrk="0" latinLnBrk="1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latin typeface="Consolas" pitchFamily="49" charset="0"/>
                <a:cs typeface="Consolas" pitchFamily="49" charset="0"/>
              </a:rPr>
              <a:t>elif </a:t>
            </a:r>
            <a:r>
              <a:rPr lang="en-US" sz="2600" b="1" noProof="1">
                <a:latin typeface="Consolas" pitchFamily="49" charset="0"/>
              </a:rPr>
              <a:t>...: </a:t>
            </a:r>
          </a:p>
          <a:p>
            <a:pPr defTabSz="1218438" eaLnBrk="0" latinLnBrk="1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i="1" noProof="1">
                <a:solidFill>
                  <a:schemeClr val="accent2"/>
                </a:solidFill>
              </a:rPr>
              <a:t>    # </a:t>
            </a:r>
            <a:r>
              <a:rPr lang="bg-BG" sz="2600" b="1" i="1" noProof="1">
                <a:solidFill>
                  <a:schemeClr val="accent2"/>
                </a:solidFill>
                <a:latin typeface="Consolas" panose="020B0609020204030204" pitchFamily="49" charset="0"/>
              </a:rPr>
              <a:t>код</a:t>
            </a:r>
            <a:endParaRPr lang="bg-BG" sz="2600" b="1" i="1" noProof="1">
              <a:solidFill>
                <a:schemeClr val="accent2"/>
              </a:solidFill>
            </a:endParaRPr>
          </a:p>
          <a:p>
            <a:pPr defTabSz="1218438" eaLnBrk="0" latinLnBrk="1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latin typeface="Consolas" pitchFamily="49" charset="0"/>
                <a:cs typeface="Consolas" pitchFamily="49" charset="0"/>
              </a:rPr>
              <a:t>elif </a:t>
            </a:r>
            <a:r>
              <a:rPr lang="en-US" sz="2600" b="1" noProof="1">
                <a:latin typeface="Consolas" pitchFamily="49" charset="0"/>
              </a:rPr>
              <a:t>...: </a:t>
            </a:r>
          </a:p>
          <a:p>
            <a:pPr defTabSz="1218438" eaLnBrk="0" latinLnBrk="1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i="1" noProof="1">
                <a:solidFill>
                  <a:schemeClr val="accent4"/>
                </a:solidFill>
              </a:rPr>
              <a:t>    </a:t>
            </a:r>
            <a:r>
              <a:rPr lang="en-US" sz="2600" b="1" i="1" noProof="1">
                <a:solidFill>
                  <a:schemeClr val="accent2"/>
                </a:solidFill>
              </a:rPr>
              <a:t># </a:t>
            </a:r>
            <a:r>
              <a:rPr lang="bg-BG" sz="2600" b="1" i="1" noProof="1">
                <a:solidFill>
                  <a:schemeClr val="accent2"/>
                </a:solidFill>
                <a:latin typeface="Consolas" panose="020B0609020204030204" pitchFamily="49" charset="0"/>
              </a:rPr>
              <a:t>код</a:t>
            </a:r>
            <a:endParaRPr lang="bg-BG" sz="2600" b="1" i="1" noProof="1">
              <a:solidFill>
                <a:schemeClr val="accent2"/>
              </a:solidFill>
            </a:endParaRPr>
          </a:p>
          <a:p>
            <a:pPr defTabSz="1218438" eaLnBrk="0" latinLnBrk="1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latin typeface="Consolas" pitchFamily="49" charset="0"/>
              </a:rPr>
              <a:t>else:</a:t>
            </a:r>
            <a:endParaRPr lang="bg-BG" sz="2600" b="1" noProof="1">
              <a:latin typeface="Consolas" pitchFamily="49" charset="0"/>
            </a:endParaRPr>
          </a:p>
          <a:p>
            <a:pPr defTabSz="1218438" eaLnBrk="0" latinLnBrk="1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i="1" noProof="1">
                <a:solidFill>
                  <a:schemeClr val="accent4"/>
                </a:solidFill>
              </a:rPr>
              <a:t>    </a:t>
            </a:r>
            <a:r>
              <a:rPr lang="en-US" sz="2600" b="1" i="1" noProof="1">
                <a:solidFill>
                  <a:schemeClr val="accent2"/>
                </a:solidFill>
              </a:rPr>
              <a:t># </a:t>
            </a:r>
            <a:r>
              <a:rPr lang="bg-BG" sz="2600" b="1" i="1" noProof="1">
                <a:solidFill>
                  <a:schemeClr val="accent2"/>
                </a:solidFill>
                <a:latin typeface="Consolas" panose="020B0609020204030204" pitchFamily="49" charset="0"/>
              </a:rPr>
              <a:t>код</a:t>
            </a:r>
          </a:p>
        </p:txBody>
      </p:sp>
    </p:spTree>
    <p:extLst>
      <p:ext uri="{BB962C8B-B14F-4D97-AF65-F5344CB8AC3E}">
        <p14:creationId xmlns:p14="http://schemas.microsoft.com/office/powerpoint/2010/main" val="5052923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Серия от проверки – пример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61C6294-5C29-463F-A68A-55B7810D8E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8000" y="2451596"/>
            <a:ext cx="4953000" cy="3298953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5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it-IT" sz="2600" b="1" noProof="1">
                <a:latin typeface="Consolas" pitchFamily="49" charset="0"/>
              </a:rPr>
              <a:t>a = 7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it-IT" sz="2600" b="1" noProof="1">
                <a:latin typeface="Consolas" pitchFamily="49" charset="0"/>
              </a:rPr>
              <a:t>if a &gt; 4: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it-IT" sz="2600" b="1" noProof="1">
                <a:latin typeface="Consolas" pitchFamily="49" charset="0"/>
              </a:rPr>
              <a:t>   print('Bigger than 4')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it-IT" sz="2600" b="1" noProof="1">
                <a:latin typeface="Consolas" pitchFamily="49" charset="0"/>
              </a:rPr>
              <a:t>elif a &gt; 5: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it-IT" sz="2600" b="1" noProof="1">
                <a:latin typeface="Consolas" pitchFamily="49" charset="0"/>
              </a:rPr>
              <a:t>   print('Bigger than 5')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it-IT" sz="2600" b="1" noProof="1">
                <a:latin typeface="Consolas" pitchFamily="49" charset="0"/>
              </a:rPr>
              <a:t>else: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it-IT" sz="2600" b="1" noProof="1">
                <a:latin typeface="Consolas" pitchFamily="49" charset="0"/>
              </a:rPr>
              <a:t>   print('Equal to 7')</a:t>
            </a:r>
          </a:p>
        </p:txBody>
      </p:sp>
      <p:sp>
        <p:nvSpPr>
          <p:cNvPr id="15" name="AutoShape 7">
            <a:extLst>
              <a:ext uri="{FF2B5EF4-FFF2-40B4-BE49-F238E27FC236}">
                <a16:creationId xmlns:a16="http://schemas.microsoft.com/office/drawing/2014/main" id="{B8828551-2E72-4E18-8EDC-1743E152F8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46001" y="2844000"/>
            <a:ext cx="3014999" cy="1181063"/>
          </a:xfrm>
          <a:prstGeom prst="wedgeRoundRectCallout">
            <a:avLst>
              <a:gd name="adj1" fmla="val -60947"/>
              <a:gd name="adj2" fmla="val 21488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</a:rPr>
              <a:t>Извежда се само</a:t>
            </a:r>
            <a:r>
              <a:rPr lang="en-US" sz="2800" b="1" dirty="0">
                <a:solidFill>
                  <a:srgbClr val="FFFFFF"/>
                </a:solidFill>
              </a:rPr>
              <a:t> "Bigger than 4"</a:t>
            </a:r>
            <a:r>
              <a:rPr lang="bg-BG" sz="2800" b="1" dirty="0">
                <a:solidFill>
                  <a:srgbClr val="FFFFFF"/>
                </a:solidFill>
              </a:rPr>
              <a:t>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633335E-CBA7-4C8A-9C1F-785990DA99B5}"/>
              </a:ext>
            </a:extLst>
          </p:cNvPr>
          <p:cNvSpPr/>
          <p:nvPr/>
        </p:nvSpPr>
        <p:spPr>
          <a:xfrm>
            <a:off x="1753152" y="1131752"/>
            <a:ext cx="1028284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bg-BG" sz="3600" dirty="0"/>
              <a:t>Програмата проверява първото условие, установява, че е </a:t>
            </a:r>
            <a:r>
              <a:rPr lang="bg-BG" sz="3600" b="1" dirty="0"/>
              <a:t>вярно</a:t>
            </a:r>
            <a:r>
              <a:rPr lang="bg-BG" sz="3600" dirty="0"/>
              <a:t> и </a:t>
            </a:r>
            <a:r>
              <a:rPr lang="bg-BG" sz="3600" b="1" dirty="0"/>
              <a:t>приключва</a:t>
            </a:r>
            <a:endParaRPr lang="en-US" sz="36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11D5EA0-B321-430A-BBE9-19DB423D8A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6601" y="4457088"/>
            <a:ext cx="4784673" cy="126916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8" name="Slide Number">
            <a:extLst>
              <a:ext uri="{FF2B5EF4-FFF2-40B4-BE49-F238E27FC236}">
                <a16:creationId xmlns:a16="http://schemas.microsoft.com/office/drawing/2014/main" id="{52DFB33C-DA50-485A-9204-BA5BB0347BBC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4278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/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bg-BG" dirty="0"/>
              <a:t>Диапазон на използване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bg-BG" dirty="0"/>
              <a:t>Живот на променлива</a:t>
            </a:r>
            <a:endParaRPr lang="en-US" dirty="0"/>
          </a:p>
        </p:txBody>
      </p:sp>
      <p:pic>
        <p:nvPicPr>
          <p:cNvPr id="7" name="Картина 3">
            <a:extLst>
              <a:ext uri="{FF2B5EF4-FFF2-40B4-BE49-F238E27FC236}">
                <a16:creationId xmlns:a16="http://schemas.microsoft.com/office/drawing/2014/main" id="{AE170D94-392D-433B-BEF9-406CF390D51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9295" y="1400332"/>
            <a:ext cx="2593411" cy="2471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965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098C6A8-8D2A-4B99-A7CB-655CE49236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2040" y="1196127"/>
            <a:ext cx="11808021" cy="5185625"/>
          </a:xfrm>
        </p:spPr>
        <p:txBody>
          <a:bodyPr>
            <a:normAutofit/>
          </a:bodyPr>
          <a:lstStyle/>
          <a:p>
            <a:pPr marL="457200" lvl="1" indent="-457200">
              <a:buFont typeface="Wingdings" panose="05000000000000000000" pitchFamily="2" charset="2"/>
              <a:buChar char="§"/>
            </a:pPr>
            <a:r>
              <a:rPr lang="en-US" sz="3600" b="1" dirty="0"/>
              <a:t>Пример</a:t>
            </a:r>
            <a:r>
              <a:rPr lang="en-US" sz="3600" dirty="0"/>
              <a:t>: </a:t>
            </a:r>
          </a:p>
          <a:p>
            <a:pPr marL="909638" lvl="2" indent="-457200"/>
            <a:r>
              <a:rPr lang="en-US" sz="3400" dirty="0"/>
              <a:t>Променливата </a:t>
            </a:r>
            <a:r>
              <a:rPr lang="en-US" sz="3400" b="1" dirty="0">
                <a:solidFill>
                  <a:schemeClr val="bg1"/>
                </a:solidFill>
                <a:latin typeface="Consolas" panose="020B0609020204030204" pitchFamily="49" charset="0"/>
              </a:rPr>
              <a:t>salary</a:t>
            </a:r>
            <a:r>
              <a:rPr lang="bg-BG" sz="3400" b="1" dirty="0"/>
              <a:t> </a:t>
            </a:r>
            <a:r>
              <a:rPr lang="en-US" sz="3400" dirty="0">
                <a:latin typeface="Consolas" panose="020B0609020204030204" pitchFamily="49" charset="0"/>
              </a:rPr>
              <a:t>ще</a:t>
            </a:r>
            <a:r>
              <a:rPr lang="en-US" sz="3400" dirty="0"/>
              <a:t> съществува </a:t>
            </a:r>
            <a:r>
              <a:rPr lang="en-US" sz="3400" b="1" dirty="0"/>
              <a:t>само</a:t>
            </a:r>
            <a:r>
              <a:rPr lang="bg-BG" sz="3400" dirty="0"/>
              <a:t> </a:t>
            </a:r>
            <a:r>
              <a:rPr lang="en-US" sz="3400" dirty="0"/>
              <a:t>ако е</a:t>
            </a:r>
            <a:r>
              <a:rPr lang="bg-BG" sz="3400" dirty="0"/>
              <a:t> </a:t>
            </a:r>
            <a:r>
              <a:rPr lang="en-US" sz="3400" b="1" dirty="0"/>
              <a:t>инициализирана</a:t>
            </a:r>
            <a:r>
              <a:rPr lang="en-US" sz="3400" dirty="0"/>
              <a:t> някъде в програмата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Живот на променлива (1)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16000" y="3562232"/>
            <a:ext cx="5400000" cy="2341768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accent6">
                <a:lumMod val="75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pPr defTabSz="1218438" eaLnBrk="0" latinLnBrk="1" hangingPunct="0">
              <a:spcBef>
                <a:spcPts val="600"/>
              </a:spcBef>
              <a:spcAft>
                <a:spcPts val="600"/>
              </a:spcAft>
              <a:buClr>
                <a:srgbClr val="67748E">
                  <a:lumMod val="40000"/>
                  <a:lumOff val="60000"/>
                </a:srgbClr>
              </a:buClr>
              <a:buSzPct val="70000"/>
            </a:pPr>
            <a:r>
              <a:rPr lang="bg-BG" sz="2700" b="1" noProof="1">
                <a:latin typeface="Consolas" pitchFamily="49" charset="0"/>
              </a:rPr>
              <a:t>current</a:t>
            </a:r>
            <a:r>
              <a:rPr lang="en-US" sz="2700" b="1" noProof="1">
                <a:latin typeface="Consolas" pitchFamily="49" charset="0"/>
              </a:rPr>
              <a:t>_d</a:t>
            </a:r>
            <a:r>
              <a:rPr lang="bg-BG" sz="2700" b="1" noProof="1">
                <a:latin typeface="Consolas" pitchFamily="49" charset="0"/>
              </a:rPr>
              <a:t>ay = </a:t>
            </a:r>
            <a:r>
              <a:rPr lang="en-US" sz="2700" b="1" noProof="1">
                <a:latin typeface="Consolas" pitchFamily="49" charset="0"/>
              </a:rPr>
              <a:t>"Monday"</a:t>
            </a:r>
          </a:p>
          <a:p>
            <a:pPr defTabSz="1218438" eaLnBrk="0" latinLnBrk="1" hangingPunct="0">
              <a:spcBef>
                <a:spcPts val="600"/>
              </a:spcBef>
              <a:spcAft>
                <a:spcPts val="600"/>
              </a:spcAft>
              <a:buClr>
                <a:srgbClr val="67748E">
                  <a:lumMod val="40000"/>
                  <a:lumOff val="60000"/>
                </a:srgbClr>
              </a:buClr>
              <a:buSzPct val="70000"/>
            </a:pPr>
            <a:r>
              <a:rPr lang="en-US" sz="2700" b="1" noProof="1">
                <a:latin typeface="Consolas" pitchFamily="49" charset="0"/>
              </a:rPr>
              <a:t>if </a:t>
            </a:r>
            <a:r>
              <a:rPr lang="bg-BG" sz="2700" b="1" noProof="1">
                <a:latin typeface="Consolas" pitchFamily="49" charset="0"/>
              </a:rPr>
              <a:t>cur</a:t>
            </a:r>
            <a:r>
              <a:rPr lang="en-US" sz="2700" b="1" noProof="1">
                <a:latin typeface="Consolas" pitchFamily="49" charset="0"/>
              </a:rPr>
              <a:t>r</a:t>
            </a:r>
            <a:r>
              <a:rPr lang="bg-BG" sz="2700" b="1" noProof="1">
                <a:latin typeface="Consolas" pitchFamily="49" charset="0"/>
              </a:rPr>
              <a:t>ent</a:t>
            </a:r>
            <a:r>
              <a:rPr lang="en-US" sz="2700" b="1" noProof="1">
                <a:latin typeface="Consolas" pitchFamily="49" charset="0"/>
              </a:rPr>
              <a:t>_d</a:t>
            </a:r>
            <a:r>
              <a:rPr lang="bg-BG" sz="2700" b="1" noProof="1">
                <a:latin typeface="Consolas" pitchFamily="49" charset="0"/>
              </a:rPr>
              <a:t>ay</a:t>
            </a:r>
            <a:r>
              <a:rPr lang="en-US" sz="2700" b="1" noProof="1">
                <a:latin typeface="Consolas" pitchFamily="49" charset="0"/>
              </a:rPr>
              <a:t> ==</a:t>
            </a:r>
            <a:r>
              <a:rPr lang="bg-BG" sz="2700" b="1" noProof="1">
                <a:latin typeface="Consolas" pitchFamily="49" charset="0"/>
              </a:rPr>
              <a:t> </a:t>
            </a:r>
            <a:r>
              <a:rPr lang="en-US" sz="2700" b="1" noProof="1">
                <a:latin typeface="Consolas" pitchFamily="49" charset="0"/>
              </a:rPr>
              <a:t>"Monday":</a:t>
            </a:r>
          </a:p>
          <a:p>
            <a:pPr defTabSz="1218438" eaLnBrk="0" latinLnBrk="1" hangingPunct="0">
              <a:spcBef>
                <a:spcPts val="600"/>
              </a:spcBef>
              <a:spcAft>
                <a:spcPts val="600"/>
              </a:spcAft>
              <a:buClr>
                <a:srgbClr val="67748E">
                  <a:lumMod val="40000"/>
                  <a:lumOff val="60000"/>
                </a:srgbClr>
              </a:buClr>
              <a:buSzPct val="70000"/>
            </a:pPr>
            <a:r>
              <a:rPr lang="bg-BG" sz="2700" b="1" noProof="1">
                <a:solidFill>
                  <a:srgbClr val="234465">
                    <a:lumMod val="75000"/>
                  </a:srgbClr>
                </a:solidFill>
                <a:latin typeface="Consolas" pitchFamily="49" charset="0"/>
              </a:rPr>
              <a:t>    </a:t>
            </a:r>
            <a:r>
              <a:rPr lang="en-US" sz="2700" b="1" noProof="1">
                <a:solidFill>
                  <a:schemeClr val="bg1"/>
                </a:solidFill>
                <a:latin typeface="Consolas" pitchFamily="49" charset="0"/>
              </a:rPr>
              <a:t>salary</a:t>
            </a:r>
            <a:r>
              <a:rPr lang="en-US" sz="2700" b="1" noProof="1">
                <a:solidFill>
                  <a:srgbClr val="234465">
                    <a:lumMod val="75000"/>
                  </a:srgbClr>
                </a:solidFill>
                <a:latin typeface="Consolas" pitchFamily="49" charset="0"/>
              </a:rPr>
              <a:t> </a:t>
            </a:r>
            <a:r>
              <a:rPr lang="en-US" sz="2700" b="1" noProof="1">
                <a:latin typeface="Consolas" pitchFamily="49" charset="0"/>
              </a:rPr>
              <a:t>=</a:t>
            </a:r>
            <a:r>
              <a:rPr lang="bg-BG" sz="2700" b="1" noProof="1">
                <a:latin typeface="Consolas" pitchFamily="49" charset="0"/>
              </a:rPr>
              <a:t> 1000</a:t>
            </a:r>
            <a:endParaRPr lang="en-US" sz="2700" b="1" noProof="1">
              <a:latin typeface="Consolas" pitchFamily="49" charset="0"/>
            </a:endParaRPr>
          </a:p>
          <a:p>
            <a:pPr defTabSz="1218438" eaLnBrk="0" latinLnBrk="1" hangingPunct="0">
              <a:spcBef>
                <a:spcPts val="600"/>
              </a:spcBef>
              <a:spcAft>
                <a:spcPts val="600"/>
              </a:spcAft>
              <a:buClr>
                <a:srgbClr val="67748E">
                  <a:lumMod val="40000"/>
                  <a:lumOff val="60000"/>
                </a:srgbClr>
              </a:buClr>
              <a:buSzPct val="70000"/>
            </a:pPr>
            <a:r>
              <a:rPr lang="en-US" sz="2700" b="1" noProof="1">
                <a:latin typeface="Consolas" pitchFamily="49" charset="0"/>
              </a:rPr>
              <a:t>print(</a:t>
            </a:r>
            <a:r>
              <a:rPr lang="en-US" sz="2700" b="1" noProof="1">
                <a:solidFill>
                  <a:schemeClr val="bg1"/>
                </a:solidFill>
                <a:latin typeface="Consolas" pitchFamily="49" charset="0"/>
              </a:rPr>
              <a:t>salary</a:t>
            </a:r>
            <a:r>
              <a:rPr lang="en-US" sz="2700" b="1" noProof="1">
                <a:latin typeface="Consolas" pitchFamily="49" charset="0"/>
              </a:rPr>
              <a:t>) </a:t>
            </a:r>
            <a:r>
              <a:rPr lang="en-US" sz="2700" b="1" noProof="1">
                <a:solidFill>
                  <a:srgbClr val="234465">
                    <a:lumMod val="75000"/>
                  </a:srgbClr>
                </a:solidFill>
                <a:latin typeface="Consolas" pitchFamily="49" charset="0"/>
              </a:rPr>
              <a:t> </a:t>
            </a:r>
            <a:r>
              <a:rPr lang="en-US" sz="2700" b="1" i="1" noProof="1">
                <a:solidFill>
                  <a:schemeClr val="accent2"/>
                </a:solidFill>
                <a:latin typeface="Consolas" pitchFamily="49" charset="0"/>
              </a:rPr>
              <a:t># 1000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D8FC332E-C894-4B1E-8119-78028E973FD3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47111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098C6A8-8D2A-4B99-A7CB-655CE49236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2040" y="1196127"/>
            <a:ext cx="11808021" cy="5185625"/>
          </a:xfrm>
        </p:spPr>
        <p:txBody>
          <a:bodyPr>
            <a:normAutofit/>
          </a:bodyPr>
          <a:lstStyle/>
          <a:p>
            <a:pPr marL="457200" lvl="1" indent="-457200">
              <a:buFont typeface="Wingdings" panose="05000000000000000000" pitchFamily="2" charset="2"/>
              <a:buChar char="§"/>
            </a:pPr>
            <a:r>
              <a:rPr lang="en-US" sz="3600" b="1" dirty="0"/>
              <a:t>Пример</a:t>
            </a:r>
            <a:r>
              <a:rPr lang="en-US" sz="3600" dirty="0"/>
              <a:t>: </a:t>
            </a:r>
          </a:p>
          <a:p>
            <a:pPr marL="909638" lvl="2" indent="-457200"/>
            <a:r>
              <a:rPr lang="en-US" sz="3400" dirty="0"/>
              <a:t>Променливата </a:t>
            </a:r>
            <a:r>
              <a:rPr lang="en-US" sz="3400" b="1" dirty="0">
                <a:solidFill>
                  <a:schemeClr val="bg1"/>
                </a:solidFill>
                <a:latin typeface="Consolas" panose="020B0609020204030204" pitchFamily="49" charset="0"/>
              </a:rPr>
              <a:t>salary</a:t>
            </a:r>
            <a:r>
              <a:rPr lang="en-US" sz="3400" b="1" dirty="0"/>
              <a:t> няма да </a:t>
            </a:r>
            <a:r>
              <a:rPr lang="en-US" sz="3400" dirty="0"/>
              <a:t>съществува, ако </a:t>
            </a:r>
            <a:r>
              <a:rPr lang="en-US" sz="3400" b="1" dirty="0"/>
              <a:t>не бъде инициализирана</a:t>
            </a:r>
            <a:r>
              <a:rPr lang="en-US" sz="3400" dirty="0"/>
              <a:t> някъде в програмата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Живот на променлива</a:t>
            </a:r>
            <a:r>
              <a:rPr lang="en-US" dirty="0"/>
              <a:t> (2)</a:t>
            </a:r>
            <a:endParaRPr lang="bg-BG" dirty="0"/>
          </a:p>
        </p:txBody>
      </p:sp>
      <p:sp>
        <p:nvSpPr>
          <p:cNvPr id="5" name="TextBox 4"/>
          <p:cNvSpPr txBox="1"/>
          <p:nvPr/>
        </p:nvSpPr>
        <p:spPr>
          <a:xfrm>
            <a:off x="3216000" y="3654000"/>
            <a:ext cx="5445000" cy="2341768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accent6">
                <a:lumMod val="75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pPr defTabSz="1218438" eaLnBrk="0" latinLnBrk="1" hangingPunct="0">
              <a:spcBef>
                <a:spcPts val="600"/>
              </a:spcBef>
              <a:spcAft>
                <a:spcPts val="600"/>
              </a:spcAft>
              <a:buClr>
                <a:srgbClr val="67748E">
                  <a:lumMod val="40000"/>
                  <a:lumOff val="60000"/>
                </a:srgbClr>
              </a:buClr>
              <a:buSzPct val="70000"/>
            </a:pPr>
            <a:r>
              <a:rPr lang="bg-BG" sz="2700" b="1" noProof="1">
                <a:latin typeface="Consolas" pitchFamily="49" charset="0"/>
              </a:rPr>
              <a:t>current</a:t>
            </a:r>
            <a:r>
              <a:rPr lang="en-US" sz="2700" b="1" noProof="1">
                <a:latin typeface="Consolas" pitchFamily="49" charset="0"/>
              </a:rPr>
              <a:t>_d</a:t>
            </a:r>
            <a:r>
              <a:rPr lang="bg-BG" sz="2700" b="1" noProof="1">
                <a:latin typeface="Consolas" pitchFamily="49" charset="0"/>
              </a:rPr>
              <a:t>ay = </a:t>
            </a:r>
            <a:r>
              <a:rPr lang="en-US" sz="2700" b="1" noProof="1">
                <a:latin typeface="Consolas" pitchFamily="49" charset="0"/>
              </a:rPr>
              <a:t>"Tuesday" </a:t>
            </a:r>
          </a:p>
          <a:p>
            <a:pPr defTabSz="1218438" eaLnBrk="0" latinLnBrk="1" hangingPunct="0">
              <a:spcBef>
                <a:spcPts val="600"/>
              </a:spcBef>
              <a:spcAft>
                <a:spcPts val="600"/>
              </a:spcAft>
              <a:buClr>
                <a:srgbClr val="67748E">
                  <a:lumMod val="40000"/>
                  <a:lumOff val="60000"/>
                </a:srgbClr>
              </a:buClr>
              <a:buSzPct val="70000"/>
            </a:pPr>
            <a:r>
              <a:rPr lang="en-US" sz="2700" b="1" noProof="1">
                <a:latin typeface="Consolas" pitchFamily="49" charset="0"/>
              </a:rPr>
              <a:t>if </a:t>
            </a:r>
            <a:r>
              <a:rPr lang="bg-BG" sz="2700" b="1" noProof="1">
                <a:latin typeface="Consolas" pitchFamily="49" charset="0"/>
              </a:rPr>
              <a:t>cur</a:t>
            </a:r>
            <a:r>
              <a:rPr lang="en-US" sz="2700" b="1" noProof="1">
                <a:latin typeface="Consolas" pitchFamily="49" charset="0"/>
              </a:rPr>
              <a:t>r</a:t>
            </a:r>
            <a:r>
              <a:rPr lang="bg-BG" sz="2700" b="1" noProof="1">
                <a:latin typeface="Consolas" pitchFamily="49" charset="0"/>
              </a:rPr>
              <a:t>ent</a:t>
            </a:r>
            <a:r>
              <a:rPr lang="en-US" sz="2700" b="1" noProof="1">
                <a:latin typeface="Consolas" pitchFamily="49" charset="0"/>
              </a:rPr>
              <a:t>_d</a:t>
            </a:r>
            <a:r>
              <a:rPr lang="bg-BG" sz="2700" b="1" noProof="1">
                <a:latin typeface="Consolas" pitchFamily="49" charset="0"/>
              </a:rPr>
              <a:t>ay</a:t>
            </a:r>
            <a:r>
              <a:rPr lang="en-US" sz="2700" b="1" noProof="1">
                <a:latin typeface="Consolas" pitchFamily="49" charset="0"/>
              </a:rPr>
              <a:t> ==</a:t>
            </a:r>
            <a:r>
              <a:rPr lang="bg-BG" sz="2700" b="1" noProof="1">
                <a:latin typeface="Consolas" pitchFamily="49" charset="0"/>
              </a:rPr>
              <a:t> </a:t>
            </a:r>
            <a:r>
              <a:rPr lang="en-US" sz="2700" b="1" noProof="1">
                <a:latin typeface="Consolas" pitchFamily="49" charset="0"/>
              </a:rPr>
              <a:t>"Monday"</a:t>
            </a:r>
            <a:r>
              <a:rPr lang="bg-BG" sz="2700" b="1" noProof="1">
                <a:latin typeface="Consolas" pitchFamily="49" charset="0"/>
              </a:rPr>
              <a:t>:</a:t>
            </a:r>
            <a:endParaRPr lang="en-US" sz="2700" b="1" noProof="1">
              <a:latin typeface="Consolas" pitchFamily="49" charset="0"/>
            </a:endParaRPr>
          </a:p>
          <a:p>
            <a:pPr defTabSz="1218438" eaLnBrk="0" latinLnBrk="1" hangingPunct="0">
              <a:spcBef>
                <a:spcPts val="600"/>
              </a:spcBef>
              <a:spcAft>
                <a:spcPts val="600"/>
              </a:spcAft>
              <a:buClr>
                <a:srgbClr val="67748E">
                  <a:lumMod val="40000"/>
                  <a:lumOff val="60000"/>
                </a:srgbClr>
              </a:buClr>
              <a:buSzPct val="70000"/>
            </a:pPr>
            <a:r>
              <a:rPr lang="en-US" sz="2700" b="1" noProof="1">
                <a:solidFill>
                  <a:srgbClr val="234465">
                    <a:lumMod val="75000"/>
                  </a:srgbClr>
                </a:solidFill>
                <a:latin typeface="Consolas" pitchFamily="49" charset="0"/>
              </a:rPr>
              <a:t>    </a:t>
            </a:r>
            <a:r>
              <a:rPr lang="en-US" sz="2700" b="1" noProof="1">
                <a:solidFill>
                  <a:schemeClr val="bg1"/>
                </a:solidFill>
                <a:latin typeface="Consolas" pitchFamily="49" charset="0"/>
              </a:rPr>
              <a:t>salary</a:t>
            </a:r>
            <a:r>
              <a:rPr lang="en-US" sz="2700" b="1" noProof="1">
                <a:solidFill>
                  <a:srgbClr val="234465">
                    <a:lumMod val="75000"/>
                  </a:srgbClr>
                </a:solidFill>
                <a:latin typeface="Consolas" pitchFamily="49" charset="0"/>
              </a:rPr>
              <a:t> </a:t>
            </a:r>
            <a:r>
              <a:rPr lang="en-US" sz="2700" b="1" noProof="1">
                <a:latin typeface="Consolas" pitchFamily="49" charset="0"/>
              </a:rPr>
              <a:t>=</a:t>
            </a:r>
            <a:r>
              <a:rPr lang="bg-BG" sz="2700" b="1" noProof="1">
                <a:latin typeface="Consolas" pitchFamily="49" charset="0"/>
              </a:rPr>
              <a:t> 1000</a:t>
            </a:r>
            <a:endParaRPr lang="en-US" sz="2700" b="1" noProof="1">
              <a:latin typeface="Consolas" pitchFamily="49" charset="0"/>
            </a:endParaRPr>
          </a:p>
          <a:p>
            <a:pPr defTabSz="1218438" eaLnBrk="0" latinLnBrk="1" hangingPunct="0">
              <a:spcBef>
                <a:spcPts val="600"/>
              </a:spcBef>
              <a:spcAft>
                <a:spcPts val="600"/>
              </a:spcAft>
              <a:buClr>
                <a:srgbClr val="67748E">
                  <a:lumMod val="40000"/>
                  <a:lumOff val="60000"/>
                </a:srgbClr>
              </a:buClr>
              <a:buSzPct val="70000"/>
            </a:pPr>
            <a:r>
              <a:rPr lang="en-US" sz="2700" b="1" noProof="1">
                <a:latin typeface="Consolas" pitchFamily="49" charset="0"/>
              </a:rPr>
              <a:t>print</a:t>
            </a:r>
            <a:r>
              <a:rPr lang="bg-BG" sz="2700" b="1" noProof="1">
                <a:latin typeface="Consolas" pitchFamily="49" charset="0"/>
              </a:rPr>
              <a:t>(</a:t>
            </a:r>
            <a:r>
              <a:rPr lang="en-US" sz="2700" b="1" noProof="1">
                <a:solidFill>
                  <a:schemeClr val="bg1"/>
                </a:solidFill>
                <a:latin typeface="Consolas" pitchFamily="49" charset="0"/>
              </a:rPr>
              <a:t>salary</a:t>
            </a:r>
            <a:r>
              <a:rPr lang="en-US" sz="2700" b="1" noProof="1">
                <a:latin typeface="Consolas" pitchFamily="49" charset="0"/>
              </a:rPr>
              <a:t>)</a:t>
            </a:r>
            <a:r>
              <a:rPr lang="en-US" sz="2700" b="1" noProof="1">
                <a:solidFill>
                  <a:srgbClr val="234465">
                    <a:lumMod val="75000"/>
                  </a:srgbClr>
                </a:solidFill>
                <a:latin typeface="Consolas" pitchFamily="49" charset="0"/>
              </a:rPr>
              <a:t>  </a:t>
            </a:r>
            <a:r>
              <a:rPr lang="en-US" sz="2700" b="1" i="1" noProof="1">
                <a:solidFill>
                  <a:schemeClr val="accent2"/>
                </a:solidFill>
                <a:latin typeface="Consolas" pitchFamily="49" charset="0"/>
              </a:rPr>
              <a:t># Error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4A8C9343-5587-4072-8011-3A1D49FD6CC3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105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0E49D336-45B6-44D3-97C4-E28F8DEA202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69725" y="1577986"/>
            <a:ext cx="7581212" cy="4772369"/>
          </a:xfrm>
        </p:spPr>
        <p:txBody>
          <a:bodyPr/>
          <a:lstStyle>
            <a:lvl1pPr marL="514350" indent="-514350">
              <a:buFont typeface="Wingdings" panose="05000000000000000000" pitchFamily="2" charset="2"/>
              <a:buChar char="§"/>
              <a:defRPr>
                <a:solidFill>
                  <a:schemeClr val="bg2"/>
                </a:solidFill>
              </a:defRPr>
            </a:lvl1pPr>
            <a:lvl2pPr marL="1123935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2pPr>
            <a:lvl3pPr marL="1733520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3pPr>
            <a:lvl4pPr marL="2343105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4pPr>
            <a:lvl5pPr marL="2952689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…</a:t>
            </a:r>
          </a:p>
          <a:p>
            <a:pPr lvl="0"/>
            <a:r>
              <a:rPr lang="en-GB" dirty="0"/>
              <a:t>…</a:t>
            </a:r>
            <a:endParaRPr lang="en-US" dirty="0"/>
          </a:p>
          <a:p>
            <a:pPr lvl="0"/>
            <a:r>
              <a:rPr lang="en-GB" dirty="0"/>
              <a:t>…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/>
              <a:t>Какво научихме днес?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3"/>
          </p:nvPr>
        </p:nvSpPr>
        <p:spPr>
          <a:xfrm>
            <a:off x="11566412" y="6397196"/>
            <a:ext cx="428822" cy="308845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014DD1E-5D91-48A3-AD6D-45FBA980D106}" type="slidenum">
              <a:rPr lang="en-US" smtClean="0"/>
              <a:pPr/>
              <a:t>13</a:t>
            </a:fld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BAFE522-EB7D-4931-A015-9A7E8A98517D}"/>
              </a:ext>
            </a:extLst>
          </p:cNvPr>
          <p:cNvGrpSpPr/>
          <p:nvPr/>
        </p:nvGrpSpPr>
        <p:grpSpPr>
          <a:xfrm>
            <a:off x="196766" y="1314000"/>
            <a:ext cx="11798468" cy="5300339"/>
            <a:chOff x="472011" y="1508786"/>
            <a:chExt cx="3799787" cy="4865561"/>
          </a:xfrm>
        </p:grpSpPr>
        <p:sp>
          <p:nvSpPr>
            <p:cNvPr id="10" name="Rounded Rectangle 10">
              <a:extLst>
                <a:ext uri="{FF2B5EF4-FFF2-40B4-BE49-F238E27FC236}">
                  <a16:creationId xmlns:a16="http://schemas.microsoft.com/office/drawing/2014/main" id="{18F78F23-3D09-4B63-8DF9-D49CFBB145EE}"/>
                </a:ext>
              </a:extLst>
            </p:cNvPr>
            <p:cNvSpPr/>
            <p:nvPr userDrawn="1"/>
          </p:nvSpPr>
          <p:spPr>
            <a:xfrm>
              <a:off x="472011" y="1508786"/>
              <a:ext cx="3799787" cy="4865561"/>
            </a:xfrm>
            <a:prstGeom prst="roundRect">
              <a:avLst>
                <a:gd name="adj" fmla="val 3968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399" dirty="0"/>
            </a:p>
          </p:txBody>
        </p:sp>
        <p:sp>
          <p:nvSpPr>
            <p:cNvPr id="11" name="Rounded Rectangle 16">
              <a:extLst>
                <a:ext uri="{FF2B5EF4-FFF2-40B4-BE49-F238E27FC236}">
                  <a16:creationId xmlns:a16="http://schemas.microsoft.com/office/drawing/2014/main" id="{F12C06CE-2BBE-46C2-B718-813794C58DF9}"/>
                </a:ext>
              </a:extLst>
            </p:cNvPr>
            <p:cNvSpPr/>
            <p:nvPr userDrawn="1"/>
          </p:nvSpPr>
          <p:spPr>
            <a:xfrm>
              <a:off x="540767" y="1781251"/>
              <a:ext cx="85794" cy="4320631"/>
            </a:xfrm>
            <a:prstGeom prst="roundRect">
              <a:avLst>
                <a:gd name="adj" fmla="val 50000"/>
              </a:avLst>
            </a:prstGeom>
            <a:solidFill>
              <a:schemeClr val="bg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399">
                <a:solidFill>
                  <a:schemeClr val="bg1"/>
                </a:solidFill>
              </a:endParaRPr>
            </a:p>
          </p:txBody>
        </p:sp>
        <p:sp>
          <p:nvSpPr>
            <p:cNvPr id="12" name="Half Frame 11">
              <a:extLst>
                <a:ext uri="{FF2B5EF4-FFF2-40B4-BE49-F238E27FC236}">
                  <a16:creationId xmlns:a16="http://schemas.microsoft.com/office/drawing/2014/main" id="{66CDBB1E-AF3C-43FC-9F34-2DD691F81726}"/>
                </a:ext>
              </a:extLst>
            </p:cNvPr>
            <p:cNvSpPr/>
            <p:nvPr userDrawn="1"/>
          </p:nvSpPr>
          <p:spPr>
            <a:xfrm rot="5400000">
              <a:off x="3762569" y="1912372"/>
              <a:ext cx="669775" cy="238503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2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399">
                <a:solidFill>
                  <a:schemeClr val="tx1"/>
                </a:solidFill>
              </a:endParaRPr>
            </a:p>
          </p:txBody>
        </p:sp>
      </p:grpSp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B96A0DF8-27E7-4DC8-BBE3-7238AAAEB845}"/>
              </a:ext>
            </a:extLst>
          </p:cNvPr>
          <p:cNvSpPr txBox="1">
            <a:spLocks/>
          </p:cNvSpPr>
          <p:nvPr/>
        </p:nvSpPr>
        <p:spPr>
          <a:xfrm>
            <a:off x="668236" y="1610812"/>
            <a:ext cx="11113508" cy="4894130"/>
          </a:xfrm>
          <a:prstGeom prst="rect">
            <a:avLst/>
          </a:prstGeom>
        </p:spPr>
        <p:txBody>
          <a:bodyPr vert="horz" lIns="108000" tIns="36000" rIns="108000" bIns="36000" rtlCol="0">
            <a:noAutofit/>
          </a:bodyPr>
          <a:lstStyle>
            <a:lvl1pPr marL="456915" indent="-456915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3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89981" indent="-380762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1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048" indent="-304610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9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2267" indent="-304610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1485" indent="-304610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0704" indent="-304610" algn="l" defTabSz="121843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59924" indent="-304610" algn="l" defTabSz="121843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143" indent="-304610" algn="l" defTabSz="121843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8362" indent="-304610" algn="l" defTabSz="121843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bg-BG" sz="3200" b="1" dirty="0">
                <a:solidFill>
                  <a:schemeClr val="bg2"/>
                </a:solidFill>
              </a:rPr>
              <a:t>Оператори</a:t>
            </a:r>
            <a:r>
              <a:rPr lang="bg-BG" sz="3200" dirty="0">
                <a:solidFill>
                  <a:schemeClr val="bg2"/>
                </a:solidFill>
              </a:rPr>
              <a:t> за </a:t>
            </a:r>
            <a:r>
              <a:rPr lang="bg-BG" sz="3200" b="1" dirty="0">
                <a:solidFill>
                  <a:schemeClr val="bg2"/>
                </a:solidFill>
              </a:rPr>
              <a:t>сравнение</a:t>
            </a:r>
          </a:p>
          <a:p>
            <a:r>
              <a:rPr lang="bg-BG" sz="3200" dirty="0">
                <a:solidFill>
                  <a:schemeClr val="bg2"/>
                </a:solidFill>
              </a:rPr>
              <a:t>Конструкции за проверка на условие –</a:t>
            </a:r>
            <a:r>
              <a:rPr lang="en-US" sz="3200" dirty="0">
                <a:solidFill>
                  <a:schemeClr val="bg2"/>
                </a:solidFill>
              </a:rPr>
              <a:t> </a:t>
            </a:r>
            <a:r>
              <a:rPr lang="en-US" sz="32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onsolas" pitchFamily="49" charset="0"/>
              </a:rPr>
              <a:t>if</a:t>
            </a:r>
            <a:r>
              <a:rPr lang="en-US" sz="3200" dirty="0">
                <a:solidFill>
                  <a:schemeClr val="bg2"/>
                </a:solidFill>
              </a:rPr>
              <a:t> </a:t>
            </a:r>
            <a:r>
              <a:rPr lang="bg-BG" sz="3200" dirty="0">
                <a:solidFill>
                  <a:schemeClr val="bg2"/>
                </a:solidFill>
              </a:rPr>
              <a:t>и </a:t>
            </a:r>
            <a:r>
              <a:rPr lang="en-US" sz="32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onsolas" pitchFamily="49" charset="0"/>
              </a:rPr>
              <a:t>if-else</a:t>
            </a:r>
            <a:endParaRPr lang="bg-BG" sz="3200" b="1" dirty="0">
              <a:solidFill>
                <a:schemeClr val="accent1">
                  <a:lumMod val="60000"/>
                  <a:lumOff val="40000"/>
                </a:schemeClr>
              </a:solidFill>
              <a:latin typeface="Consolas" pitchFamily="49" charset="0"/>
            </a:endParaRPr>
          </a:p>
          <a:p>
            <a:r>
              <a:rPr lang="bg-BG" sz="3200" b="1" dirty="0">
                <a:solidFill>
                  <a:schemeClr val="bg2"/>
                </a:solidFill>
              </a:rPr>
              <a:t>Закръгляне</a:t>
            </a:r>
            <a:r>
              <a:rPr lang="bg-BG" sz="3200" dirty="0">
                <a:solidFill>
                  <a:schemeClr val="bg2"/>
                </a:solidFill>
              </a:rPr>
              <a:t> и </a:t>
            </a:r>
            <a:r>
              <a:rPr lang="bg-BG" sz="3200" b="1" dirty="0">
                <a:solidFill>
                  <a:schemeClr val="bg2"/>
                </a:solidFill>
              </a:rPr>
              <a:t>форматиране</a:t>
            </a:r>
            <a:endParaRPr lang="en-US" sz="3200" b="1" dirty="0">
              <a:solidFill>
                <a:schemeClr val="bg2"/>
              </a:solidFill>
            </a:endParaRPr>
          </a:p>
          <a:p>
            <a:r>
              <a:rPr lang="bg-BG" sz="3200" dirty="0">
                <a:solidFill>
                  <a:schemeClr val="bg2"/>
                </a:solidFill>
                <a:latin typeface="Calibri (Body)"/>
              </a:rPr>
              <a:t>Серии от проверки</a:t>
            </a:r>
            <a:endParaRPr lang="en-US" sz="3200" dirty="0">
              <a:solidFill>
                <a:schemeClr val="bg2"/>
              </a:solidFill>
              <a:latin typeface="Calibri (Body)"/>
            </a:endParaRPr>
          </a:p>
          <a:p>
            <a:r>
              <a:rPr lang="bg-BG" sz="3200" dirty="0">
                <a:solidFill>
                  <a:schemeClr val="bg2"/>
                </a:solidFill>
              </a:rPr>
              <a:t>Дебъгване</a:t>
            </a:r>
            <a:endParaRPr lang="bg-BG" sz="3200" dirty="0">
              <a:solidFill>
                <a:schemeClr val="bg2"/>
              </a:solidFill>
              <a:latin typeface="Calibri (Body)"/>
            </a:endParaRPr>
          </a:p>
          <a:p>
            <a:r>
              <a:rPr lang="bg-BG" sz="3200" b="1" dirty="0">
                <a:solidFill>
                  <a:schemeClr val="bg2"/>
                </a:solidFill>
              </a:rPr>
              <a:t>Живот</a:t>
            </a:r>
            <a:r>
              <a:rPr lang="bg-BG" sz="3200" dirty="0">
                <a:solidFill>
                  <a:schemeClr val="bg2"/>
                </a:solidFill>
              </a:rPr>
              <a:t> на променливата</a:t>
            </a:r>
          </a:p>
        </p:txBody>
      </p:sp>
    </p:spTree>
    <p:extLst>
      <p:ext uri="{BB962C8B-B14F-4D97-AF65-F5344CB8AC3E}">
        <p14:creationId xmlns:p14="http://schemas.microsoft.com/office/powerpoint/2010/main" val="3528394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Title">
            <a:extLst>
              <a:ext uri="{FF2B5EF4-FFF2-40B4-BE49-F238E27FC236}">
                <a16:creationId xmlns:a16="http://schemas.microsoft.com/office/drawing/2014/main" id="{FA0703FC-0F8F-4C80-A615-E4B381EC0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Въпроси</a:t>
            </a:r>
            <a:r>
              <a:rPr lang="en-US" dirty="0"/>
              <a:t>?</a:t>
            </a:r>
          </a:p>
        </p:txBody>
      </p:sp>
      <p:sp>
        <p:nvSpPr>
          <p:cNvPr id="2" name="Rectangle Bottom Copyright">
            <a:extLst>
              <a:ext uri="{FF2B5EF4-FFF2-40B4-BE49-F238E27FC236}">
                <a16:creationId xmlns:a16="http://schemas.microsoft.com/office/drawing/2014/main" id="{664812A4-2991-44D1-BFE9-32E55AADF8A5}"/>
              </a:ext>
            </a:extLst>
          </p:cNvPr>
          <p:cNvSpPr/>
          <p:nvPr/>
        </p:nvSpPr>
        <p:spPr>
          <a:xfrm>
            <a:off x="111000" y="6454758"/>
            <a:ext cx="11970000" cy="3042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bg-BG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Проект "</a:t>
            </a:r>
            <a:r>
              <a:rPr lang="bg-BG" sz="1600" dirty="0">
                <a:solidFill>
                  <a:schemeClr val="bg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Отворено учебно съдържание по програмиране и ИТ</a:t>
            </a:r>
            <a:r>
              <a:rPr lang="bg-BG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", СофтУни Фондация (лиценз </a:t>
            </a:r>
            <a:r>
              <a:rPr lang="en-US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CC-BY-NC-SA</a:t>
            </a:r>
            <a:r>
              <a:rPr lang="bg-BG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)</a:t>
            </a:r>
            <a:endParaRPr lang="bg-BG" sz="2400" dirty="0">
              <a:solidFill>
                <a:schemeClr val="bg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2534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F48C3C93-90A1-4D31-BEA6-B54D1106CE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2" name="Slide Body">
            <a:extLst>
              <a:ext uri="{FF2B5EF4-FFF2-40B4-BE49-F238E27FC236}">
                <a16:creationId xmlns:a16="http://schemas.microsoft.com/office/drawing/2014/main" id="{980F49B1-E4BE-4389-A747-7AB9B71AD92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269001"/>
            <a:ext cx="9865598" cy="2474999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bg-BG" sz="3200" dirty="0"/>
              <a:t>Този курс</a:t>
            </a:r>
            <a:r>
              <a:rPr lang="en-US" sz="3200" dirty="0"/>
              <a:t> (</a:t>
            </a:r>
            <a:r>
              <a:rPr lang="bg-BG" sz="3200" dirty="0"/>
              <a:t>презентации, примери, демонстрационен код, упражнения, домашни, видео и други активи</a:t>
            </a:r>
            <a:r>
              <a:rPr lang="en-US" sz="3200" dirty="0"/>
              <a:t>) </a:t>
            </a:r>
            <a:r>
              <a:rPr lang="bg-BG" sz="3200" dirty="0"/>
              <a:t>представлява</a:t>
            </a:r>
            <a:r>
              <a:rPr lang="en-US" sz="3200" dirty="0"/>
              <a:t> </a:t>
            </a:r>
            <a:r>
              <a:rPr lang="bg-BG" sz="3200" b="1" dirty="0"/>
              <a:t>свободно учебно съдържание </a:t>
            </a:r>
            <a:r>
              <a:rPr lang="bg-BG" sz="3200" dirty="0"/>
              <a:t>и се разпространява под свободен лиценз </a:t>
            </a:r>
            <a:r>
              <a:rPr lang="en-US" sz="3200" b="1" dirty="0"/>
              <a:t>CC-BY-NC-SA</a:t>
            </a:r>
            <a:endParaRPr lang="bg-BG" sz="3200" dirty="0"/>
          </a:p>
        </p:txBody>
      </p:sp>
      <p:pic>
        <p:nvPicPr>
          <p:cNvPr id="6" name="Picture License" descr="License">
            <a:extLst>
              <a:ext uri="{FF2B5EF4-FFF2-40B4-BE49-F238E27FC236}">
                <a16:creationId xmlns:a16="http://schemas.microsoft.com/office/drawing/2014/main" id="{82BA520F-A037-4E01-AA18-27D9F1E930A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226175" y="1440120"/>
            <a:ext cx="1198986" cy="1268880"/>
          </a:xfrm>
          <a:prstGeom prst="rect">
            <a:avLst/>
          </a:prstGeom>
        </p:spPr>
      </p:pic>
      <p:sp>
        <p:nvSpPr>
          <p:cNvPr id="3" name="Slide Title">
            <a:extLst>
              <a:ext uri="{FF2B5EF4-FFF2-40B4-BE49-F238E27FC236}">
                <a16:creationId xmlns:a16="http://schemas.microsoft.com/office/drawing/2014/main" id="{E5F1FB41-80C3-4816-BC47-CCC50632E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Лиценз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18DF19-B750-4C88-975B-661A6BF61F5E}"/>
              </a:ext>
            </a:extLst>
          </p:cNvPr>
          <p:cNvSpPr txBox="1"/>
          <p:nvPr/>
        </p:nvSpPr>
        <p:spPr>
          <a:xfrm>
            <a:off x="190401" y="3927519"/>
            <a:ext cx="11710599" cy="1979644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/>
          <a:p>
            <a:pPr marL="360363" indent="-360363" defTabSz="1218438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bg-BG" sz="3200" dirty="0"/>
              <a:t>Проект "</a:t>
            </a:r>
            <a:r>
              <a:rPr lang="bg-BG" sz="3200" b="1" dirty="0"/>
              <a:t>Отворено учебно съдържание по програмиране и ИТ</a:t>
            </a:r>
            <a:r>
              <a:rPr lang="bg-BG" sz="3200" dirty="0"/>
              <a:t>" към Фондация "Софтуерен университет"</a:t>
            </a:r>
            <a:r>
              <a:rPr lang="en-US" sz="3200" dirty="0"/>
              <a:t>:</a:t>
            </a:r>
            <a:endParaRPr lang="bg-BG" sz="3200" dirty="0"/>
          </a:p>
          <a:p>
            <a:pPr marL="817563" lvl="1" indent="-360363" defTabSz="1218438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234465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4"/>
              </a:rPr>
              <a:t>https://github.com/BG-IT-Edu</a:t>
            </a:r>
            <a:endParaRPr kumimoji="0" lang="bg-BG" sz="3200" b="0" i="0" u="none" strike="noStrike" kern="1200" cap="none" spc="0" normalizeH="0" baseline="0" noProof="0" dirty="0">
              <a:ln>
                <a:noFill/>
              </a:ln>
              <a:solidFill>
                <a:srgbClr val="234465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7" name="Picture 6" title="CC-BY-NC-SA License">
            <a:hlinkClick r:id="rId5" tooltip="This work is licensed under the &quot;Creative Commons Attribution-NonCommercial-ShareAlike 4.0 International&quot; license"/>
            <a:extLst>
              <a:ext uri="{FF2B5EF4-FFF2-40B4-BE49-F238E27FC236}">
                <a16:creationId xmlns:a16="http://schemas.microsoft.com/office/drawing/2014/main" id="{F6C77C47-F7D8-A176-5C69-7FDE5C7E80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831000" y="2908593"/>
            <a:ext cx="1989336" cy="696022"/>
          </a:xfrm>
          <a:prstGeom prst="roundRect">
            <a:avLst>
              <a:gd name="adj" fmla="val 3940"/>
            </a:avLst>
          </a:prstGeom>
          <a:solidFill>
            <a:srgbClr val="231F20">
              <a:alpha val="50000"/>
            </a:srgbClr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79276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theme/theme1.xml><?xml version="1.0" encoding="utf-8"?>
<a:theme xmlns:a="http://schemas.openxmlformats.org/drawingml/2006/main" name="SoftUni">
  <a:themeElements>
    <a:clrScheme name="Custom 2">
      <a:dk1>
        <a:srgbClr val="234465"/>
      </a:dk1>
      <a:lt1>
        <a:srgbClr val="BF7800"/>
      </a:lt1>
      <a:dk2>
        <a:srgbClr val="234465"/>
      </a:dk2>
      <a:lt2>
        <a:srgbClr val="FFFFFF"/>
      </a:lt2>
      <a:accent1>
        <a:srgbClr val="FFA000"/>
      </a:accent1>
      <a:accent2>
        <a:srgbClr val="00B050"/>
      </a:accent2>
      <a:accent3>
        <a:srgbClr val="44A9F8"/>
      </a:accent3>
      <a:accent4>
        <a:srgbClr val="7030A0"/>
      </a:accent4>
      <a:accent5>
        <a:srgbClr val="67748E"/>
      </a:accent5>
      <a:accent6>
        <a:srgbClr val="F4F5F7"/>
      </a:accent6>
      <a:hlink>
        <a:srgbClr val="BF7800"/>
      </a:hlink>
      <a:folHlink>
        <a:srgbClr val="EF9511"/>
      </a:folHlink>
    </a:clrScheme>
    <a:fontScheme name="SoftUni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dk2">
            <a:alpha val="80000"/>
          </a:schemeClr>
        </a:solidFill>
        <a:ln w="19050">
          <a:solidFill>
            <a:schemeClr val="tx1">
              <a:lumMod val="75000"/>
              <a:alpha val="80000"/>
            </a:schemeClr>
          </a:solidFill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2800" b="1" dirty="0">
            <a:solidFill>
              <a:srgbClr val="FFFFFF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defRPr>
        </a:defPPr>
      </a:lstStyle>
      <a:style>
        <a:lnRef idx="2">
          <a:schemeClr val="accent1">
            <a:shade val="50000"/>
          </a:schemeClr>
        </a:lnRef>
        <a:fillRef idx="1001">
          <a:schemeClr val="dk2"/>
        </a:fillRef>
        <a:effectRef idx="0">
          <a:schemeClr val="accent1"/>
        </a:effectRef>
        <a:fontRef idx="minor">
          <a:schemeClr val="lt1"/>
        </a:fontRef>
      </a:style>
    </a:spDef>
    <a:txDef>
      <a:spPr>
        <a:solidFill>
          <a:schemeClr val="accent6">
            <a:lumMod val="75000"/>
            <a:alpha val="15000"/>
          </a:schemeClr>
        </a:solidFill>
        <a:ln w="12700">
          <a:solidFill>
            <a:schemeClr val="tx1">
              <a:lumMod val="75000"/>
            </a:schemeClr>
          </a:solidFill>
        </a:ln>
      </a:spPr>
      <a:bodyPr vert="horz" wrap="square" lIns="144000" tIns="108000" rIns="144000" bIns="108000" rtlCol="0">
        <a:spAutoFit/>
      </a:bodyPr>
      <a:lstStyle>
        <a:defPPr algn="l" eaLnBrk="0" hangingPunct="0">
          <a:lnSpc>
            <a:spcPct val="110000"/>
          </a:lnSpc>
          <a:buClr>
            <a:schemeClr val="accent5">
              <a:lumMod val="40000"/>
              <a:lumOff val="60000"/>
            </a:schemeClr>
          </a:buClr>
          <a:buSzPct val="70000"/>
          <a:defRPr sz="24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SoftUni" id="{D61FAD9B-6E74-4E03-BFE4-B363D484F1DA}" vid="{7089C1A3-635B-4B03-A017-DAF10A3A396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Control xmlns="http://schemas.microsoft.com/VisualStudio/2011/storyboarding/control">
  <Id Name="78547a60-fe77-40a2-a8c9-bde463256757" Revision="1" Stencil="System.MyShapes" StencilVersion="1.0"/>
</Control>
</file>

<file path=customXml/itemProps1.xml><?xml version="1.0" encoding="utf-8"?>
<ds:datastoreItem xmlns:ds="http://schemas.openxmlformats.org/officeDocument/2006/customXml" ds:itemID="{02D3C180-A449-4DFB-9DCA-0EF1ECA410E1}">
  <ds:schemaRefs>
    <ds:schemaRef ds:uri="http://schemas.microsoft.com/VisualStudio/2011/storyboarding/control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5673</TotalTime>
  <Words>560</Words>
  <Application>Microsoft Office PowerPoint</Application>
  <PresentationFormat>Widescreen</PresentationFormat>
  <Paragraphs>100</Paragraphs>
  <Slides>15</Slides>
  <Notes>5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Calibri (Body)</vt:lpstr>
      <vt:lpstr>Consolas</vt:lpstr>
      <vt:lpstr>Wingdings</vt:lpstr>
      <vt:lpstr>SoftUni</vt:lpstr>
      <vt:lpstr>Дебъгване и живот на променлива</vt:lpstr>
      <vt:lpstr>Съдържание</vt:lpstr>
      <vt:lpstr>Дебъгване</vt:lpstr>
      <vt:lpstr>Дебъгване</vt:lpstr>
      <vt:lpstr>Дебъгване в Thonny</vt:lpstr>
      <vt:lpstr>Дебъгване – видео</vt:lpstr>
      <vt:lpstr>Серии от проверки</vt:lpstr>
      <vt:lpstr>Серии от проверки</vt:lpstr>
      <vt:lpstr>Серия от проверки – пример</vt:lpstr>
      <vt:lpstr>Живот на променлива</vt:lpstr>
      <vt:lpstr>Живот на променлива (1)</vt:lpstr>
      <vt:lpstr>Живот на променлива (2)</vt:lpstr>
      <vt:lpstr>Какво научихме днес?</vt:lpstr>
      <vt:lpstr>Въпроси?</vt:lpstr>
      <vt:lpstr>Лиценз</vt:lpstr>
    </vt:vector>
  </TitlesOfParts>
  <Company>BG-IT-Edu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Дебъгване и живот на променлива</dc:title>
  <dc:subject>КМИТ - 6 клас</dc:subject>
  <dc:creator>BG-IT-Edu</dc:creator>
  <cp:keywords>programming; training; course</cp:keywords>
  <dc:description>Open Programming and IT Courseware for IT Teachers (BG-IT-Edu): https://github.com/BG-IT-Edu
With the kind support of SoftUni: https://softuni.bg</dc:description>
  <cp:lastModifiedBy>Zaraliev</cp:lastModifiedBy>
  <cp:revision>1548</cp:revision>
  <dcterms:created xsi:type="dcterms:W3CDTF">2018-05-23T13:08:44Z</dcterms:created>
  <dcterms:modified xsi:type="dcterms:W3CDTF">2026-09-25T09:06:14Z</dcterms:modified>
  <cp:category/>
</cp:coreProperties>
</file>