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22"/>
  </p:notesMasterIdLst>
  <p:handoutMasterIdLst>
    <p:handoutMasterId r:id="rId23"/>
  </p:handoutMasterIdLst>
  <p:sldIdLst>
    <p:sldId id="503" r:id="rId2"/>
    <p:sldId id="276" r:id="rId3"/>
    <p:sldId id="602" r:id="rId4"/>
    <p:sldId id="603" r:id="rId5"/>
    <p:sldId id="604" r:id="rId6"/>
    <p:sldId id="605" r:id="rId7"/>
    <p:sldId id="606" r:id="rId8"/>
    <p:sldId id="607" r:id="rId9"/>
    <p:sldId id="608" r:id="rId10"/>
    <p:sldId id="609" r:id="rId11"/>
    <p:sldId id="610" r:id="rId12"/>
    <p:sldId id="611" r:id="rId13"/>
    <p:sldId id="612" r:id="rId14"/>
    <p:sldId id="613" r:id="rId15"/>
    <p:sldId id="614" r:id="rId16"/>
    <p:sldId id="615" r:id="rId17"/>
    <p:sldId id="616" r:id="rId18"/>
    <p:sldId id="586" r:id="rId19"/>
    <p:sldId id="504" r:id="rId20"/>
    <p:sldId id="50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A0C7653D-1924-4F56-9E27-AA2B21F1DA92}">
          <p14:sldIdLst>
            <p14:sldId id="503"/>
            <p14:sldId id="276"/>
          </p14:sldIdLst>
        </p14:section>
        <p14:section name="Обработка на списъци" id="{71F9B31E-5263-43BB-B45B-84989B1A9E3D}">
          <p14:sldIdLst>
            <p14:sldId id="602"/>
            <p14:sldId id="603"/>
            <p14:sldId id="604"/>
            <p14:sldId id="605"/>
            <p14:sldId id="606"/>
          </p14:sldIdLst>
        </p14:section>
        <p14:section name="Преминаване през списъци с цикли" id="{81C51695-2E1F-4855-BB47-E8E7A7AE3A58}">
          <p14:sldIdLst>
            <p14:sldId id="607"/>
            <p14:sldId id="608"/>
            <p14:sldId id="609"/>
            <p14:sldId id="610"/>
            <p14:sldId id="611"/>
          </p14:sldIdLst>
        </p14:section>
        <p14:section name="Търсене на елементи в списък" id="{8C45B45F-6550-4848-83E7-A08A2B708A2A}">
          <p14:sldIdLst>
            <p14:sldId id="612"/>
            <p14:sldId id="613"/>
            <p14:sldId id="614"/>
            <p14:sldId id="615"/>
            <p14:sldId id="616"/>
          </p14:sldIdLst>
        </p14:section>
        <p14:section name="Заключение" id="{E19D07F1-86E2-47E9-B2AB-7ADC4F89DC12}">
          <p14:sldIdLst>
            <p14:sldId id="586"/>
            <p14:sldId id="504"/>
            <p14:sldId id="50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4465"/>
    <a:srgbClr val="ADB4C3"/>
    <a:srgbClr val="EA9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70" autoAdjust="0"/>
    <p:restoredTop sz="95214" autoAdjust="0"/>
  </p:normalViewPr>
  <p:slideViewPr>
    <p:cSldViewPr showGuides="1">
      <p:cViewPr varScale="1">
        <p:scale>
          <a:sx n="111" d="100"/>
          <a:sy n="111" d="100"/>
        </p:scale>
        <p:origin x="510" y="96"/>
      </p:cViewPr>
      <p:guideLst>
        <p:guide orient="horz" pos="2184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8" d="100"/>
          <a:sy n="88" d="100"/>
        </p:scale>
        <p:origin x="3822" y="66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F20103-83CC-4A54-8FDE-9D37FC262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53962-26EF-44E4-9E69-61B1727AB1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7215-0C8F-4762-A664-737A353EC9A4}" type="datetimeFigureOut">
              <a:rPr lang="bg-BG" smtClean="0"/>
              <a:t>25.9.2026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6967E-448F-4887-8FCB-34482EFBC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" y="8892000"/>
            <a:ext cx="6443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bg-BG" sz="1100" dirty="0"/>
              <a:t>Работна група </a:t>
            </a:r>
            <a:r>
              <a:rPr lang="ru-RU" sz="1100" dirty="0"/>
              <a:t>"Образование по програмиране и ИТ</a:t>
            </a:r>
            <a:r>
              <a:rPr lang="bg-BG" sz="1100" dirty="0"/>
              <a:t>",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554C2-DDBA-40E2-9536-53A07EC50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43999" y="8892000"/>
            <a:ext cx="412413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318AE-53F9-47EA-B5FE-E9473933AF11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5060296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84649-876A-46C9-8472-14CB09C070D8}" type="datetimeFigureOut">
              <a:rPr lang="en-US" smtClean="0"/>
              <a:t>9/25/2026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88999" y="8892000"/>
            <a:ext cx="367414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067CD-8E6B-4360-9AA8-C5DF2A48A6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92000"/>
            <a:ext cx="6488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bg-BG" sz="1100" dirty="0"/>
              <a:t>Работна група </a:t>
            </a:r>
            <a:r>
              <a:rPr lang="bg-BG" dirty="0"/>
              <a:t>"Образование по програмиране и ИТ"</a:t>
            </a:r>
            <a:r>
              <a:rPr lang="bg-BG" sz="1100" dirty="0"/>
              <a:t>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5308476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Slide Image Placeholder 7">
            <a:extLst>
              <a:ext uri="{FF2B5EF4-FFF2-40B4-BE49-F238E27FC236}">
                <a16:creationId xmlns:a16="http://schemas.microsoft.com/office/drawing/2014/main" id="{78811095-27E9-49AB-972B-D4E20B3963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E923224B-0CC3-475A-8628-8A90751AE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288A3F3-90B1-4930-8D00-5603BDABEF1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594489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Image Placeholder 13">
            <a:extLst>
              <a:ext uri="{FF2B5EF4-FFF2-40B4-BE49-F238E27FC236}">
                <a16:creationId xmlns:a16="http://schemas.microsoft.com/office/drawing/2014/main" id="{A1F0B3C6-2E53-4CA3-86D1-53D46EC352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5" name="Notes Placeholder 14">
            <a:extLst>
              <a:ext uri="{FF2B5EF4-FFF2-40B4-BE49-F238E27FC236}">
                <a16:creationId xmlns:a16="http://schemas.microsoft.com/office/drawing/2014/main" id="{149CC699-A079-49A5-A4D6-73B7F849A7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121F4233-7E9A-40D2-9066-2DB14E2FA5A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18F1DFF-B3E7-4ABF-97EE-0BBF3A961E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40285307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10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sz="1100" dirty="0"/>
              <a:t>Работна група </a:t>
            </a:r>
            <a:r>
              <a:rPr lang="bg-BG" dirty="0"/>
              <a:t>"Образование по програмиране и ИТ"</a:t>
            </a:r>
            <a:r>
              <a:rPr lang="bg-BG" sz="1100" dirty="0"/>
              <a:t>, с подкрепата на </a:t>
            </a:r>
            <a:r>
              <a:rPr lang="en-US" sz="1100" dirty="0">
                <a:hlinkClick r:id="rId3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5654846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3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8047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49B984-F964-47FF-8179-0A3007CE21C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059BE0-D868-413B-AAA1-1CC88D1F52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4665903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7548A-4D3C-449B-81A5-FA4BE4628490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472CE7-61C1-4B7B-B0C8-5A45F017871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64884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Bottom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 userDrawn="1"/>
        </p:nvSpPr>
        <p:spPr>
          <a:xfrm>
            <a:off x="0" y="6702676"/>
            <a:ext cx="12195176" cy="155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90123" y="3400017"/>
            <a:ext cx="5248260" cy="2188983"/>
          </a:xfrm>
        </p:spPr>
        <p:txBody>
          <a:bodyPr/>
          <a:lstStyle>
            <a:lvl1pPr marL="0" indent="0" algn="ctr" latinLnBrk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10" name="Company Web Site">
            <a:extLst>
              <a:ext uri="{FF2B5EF4-FFF2-40B4-BE49-F238E27FC236}">
                <a16:creationId xmlns:a16="http://schemas.microsoft.com/office/drawing/2014/main" id="{0B99B1EE-62FA-4AA4-920C-D444D6C0B77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90120" y="6086106"/>
            <a:ext cx="5248260" cy="341313"/>
          </a:xfrm>
        </p:spPr>
        <p:txBody>
          <a:bodyPr lIns="36000" rIns="36000" anchor="ctr" anchorCtr="0">
            <a:noAutofit/>
          </a:bodyPr>
          <a:lstStyle>
            <a:lvl1pPr marL="0" indent="0" algn="r">
              <a:buNone/>
              <a:defRPr sz="1800"/>
            </a:lvl1pPr>
          </a:lstStyle>
          <a:p>
            <a:pPr lvl="0"/>
            <a:r>
              <a:rPr lang="en-US" dirty="0"/>
              <a:t>https://softuni.foundation  </a:t>
            </a:r>
          </a:p>
        </p:txBody>
      </p:sp>
      <p:sp>
        <p:nvSpPr>
          <p:cNvPr id="6" name="Company Name">
            <a:extLst>
              <a:ext uri="{FF2B5EF4-FFF2-40B4-BE49-F238E27FC236}">
                <a16:creationId xmlns:a16="http://schemas.microsoft.com/office/drawing/2014/main" id="{2A76510A-0BAE-A827-E77C-BE88E38F52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90122" y="5698189"/>
            <a:ext cx="5248260" cy="374236"/>
          </a:xfrm>
        </p:spPr>
        <p:txBody>
          <a:bodyPr lIns="36000" rIns="36000" anchor="ctr" anchorCtr="0">
            <a:normAutofit/>
          </a:bodyPr>
          <a:lstStyle>
            <a:lvl1pPr marL="0" indent="0" algn="r">
              <a:buNone/>
              <a:defRPr sz="2000" b="1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SoftUni Foundation</a:t>
            </a:r>
          </a:p>
        </p:txBody>
      </p:sp>
      <p:sp>
        <p:nvSpPr>
          <p:cNvPr id="31" name="Author Position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534045" y="6085863"/>
            <a:ext cx="4751953" cy="34155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800" b="0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URL</a:t>
            </a:r>
          </a:p>
        </p:txBody>
      </p:sp>
      <p:sp>
        <p:nvSpPr>
          <p:cNvPr id="30" name="Author Name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534046" y="5251106"/>
            <a:ext cx="4751954" cy="724904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Authors</a:t>
            </a:r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746" y="1402942"/>
            <a:ext cx="11083636" cy="1306057"/>
          </a:xfrm>
        </p:spPr>
        <p:txBody>
          <a:bodyPr anchor="t" anchorCtr="0">
            <a:normAutofit/>
          </a:bodyPr>
          <a:lstStyle>
            <a:lvl1pPr marL="0" indent="0" algn="ctr" latinLnBrk="0">
              <a:buNone/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746" y="321501"/>
            <a:ext cx="11083636" cy="971589"/>
          </a:xfrm>
        </p:spPr>
        <p:txBody>
          <a:bodyPr>
            <a:normAutofit/>
          </a:bodyPr>
          <a:lstStyle>
            <a:lvl1pPr algn="ctr" latinLnBrk="0">
              <a:defRPr sz="5400"/>
            </a:lvl1pPr>
          </a:lstStyle>
          <a:p>
            <a:r>
              <a:rPr lang="en-US" noProof="0" dirty="0"/>
              <a:t>Presentation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4D0DB3-F60A-469B-7831-209CB666CC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549" y="4325954"/>
            <a:ext cx="2538082" cy="633046"/>
          </a:xfrm>
          <a:prstGeom prst="rect">
            <a:avLst/>
          </a:prstGeom>
        </p:spPr>
      </p:pic>
      <p:pic>
        <p:nvPicPr>
          <p:cNvPr id="5" name="Picture 4" title="CC-BY-NC-SA License">
            <a:hlinkClick r:id="rId3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2D40731C-0303-A69D-63FD-E048A73CA59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02682" y="4321352"/>
            <a:ext cx="1809336" cy="633045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0654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4319736" y="86775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615109" y="5585916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615109" y="4704825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52921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9A1D0F-F579-6A3C-C698-4E2E7F1AB2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97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0020EB61-2079-41A3-B356-B1D8D48D7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Left"/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35205" y="1792355"/>
            <a:ext cx="1830304" cy="4062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6000" y="1121143"/>
            <a:ext cx="10129234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Slide Title">
            <a:extLst>
              <a:ext uri="{FF2B5EF4-FFF2-40B4-BE49-F238E27FC236}">
                <a16:creationId xmlns:a16="http://schemas.microsoft.com/office/drawing/2014/main" id="{E2DA9691-CDF5-499C-94BB-AAA61DAC1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CA5371-2597-CF8F-1859-2263958074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530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1865BF6B-7F07-4E9C-879F-80E36EEB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20027" y="3314704"/>
            <a:ext cx="1260665" cy="279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Slide Body Text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3561" y="1121143"/>
            <a:ext cx="10321675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7AF1B9-D67A-246A-86B6-E28F19C523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65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0B8C963-1813-4B69-AD27-6D02EBBBB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 userDrawn="1"/>
        </p:nvSpPr>
        <p:spPr>
          <a:xfrm>
            <a:off x="0" y="0"/>
            <a:ext cx="42947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4" name="Picture Bulb" descr="Bulb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56000" y="5098868"/>
            <a:ext cx="779209" cy="1729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7296EDA7-D37D-4B31-A888-371F080412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176" y="1121143"/>
            <a:ext cx="11410061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55A88B09-3557-48A3-BF27-42699C269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177" y="100750"/>
            <a:ext cx="987582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2C375B-43BF-D1DD-F160-1500A111885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56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509D954E-A844-4072-A556-DE584BEB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Rectangle Top">
            <a:extLst>
              <a:ext uri="{FF2B5EF4-FFF2-40B4-BE49-F238E27FC236}">
                <a16:creationId xmlns:a16="http://schemas.microsoft.com/office/drawing/2014/main" id="{A15CE03A-0933-4E5D-9EA1-718D4F802FFC}"/>
              </a:ext>
            </a:extLst>
          </p:cNvPr>
          <p:cNvSpPr/>
          <p:nvPr userDrawn="1"/>
        </p:nvSpPr>
        <p:spPr>
          <a:xfrm>
            <a:off x="0" y="1311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2" name="Slide Body Text">
            <a:extLst>
              <a:ext uri="{FF2B5EF4-FFF2-40B4-BE49-F238E27FC236}">
                <a16:creationId xmlns:a16="http://schemas.microsoft.com/office/drawing/2014/main" id="{B608ED73-CE88-49E4-8BFC-DBD6E9AE6B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6" y="1206668"/>
            <a:ext cx="11804831" cy="5550582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This is a code example</a:t>
            </a:r>
          </a:p>
        </p:txBody>
      </p:sp>
      <p:sp>
        <p:nvSpPr>
          <p:cNvPr id="4" name="Code Box">
            <a:extLst>
              <a:ext uri="{FF2B5EF4-FFF2-40B4-BE49-F238E27FC236}">
                <a16:creationId xmlns:a16="http://schemas.microsoft.com/office/drawing/2014/main" id="{F4E021E9-D6DB-4272-8C9F-CEF4940FDC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3" y="2034000"/>
            <a:ext cx="10836275" cy="2237893"/>
          </a:xfr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lvl1pPr>
              <a:buNone/>
              <a:defRPr lang="en-US" sz="2800" b="1" smtClean="0">
                <a:latin typeface="Consolas" pitchFamily="49" charset="0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Source code box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</p:txBody>
      </p:sp>
      <p:sp>
        <p:nvSpPr>
          <p:cNvPr id="11" name="Slide Title">
            <a:extLst>
              <a:ext uri="{FF2B5EF4-FFF2-40B4-BE49-F238E27FC236}">
                <a16:creationId xmlns:a16="http://schemas.microsoft.com/office/drawing/2014/main" id="{47D60833-F0A9-4F29-8C06-A963A7C8B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39658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69A4E8-9221-8F79-65B4-BF9AA7F87D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82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831000" y="109147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5241000" y="3338387"/>
            <a:ext cx="6065892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5241000" y="1471047"/>
            <a:ext cx="6065892" cy="17543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423919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39DDE17E-5472-41F3-AF5F-54DFF10DC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66" y="1371604"/>
            <a:ext cx="11781606" cy="5207396"/>
          </a:xfrm>
        </p:spPr>
        <p:txBody>
          <a:bodyPr>
            <a:normAutofit/>
          </a:bodyPr>
          <a:lstStyle>
            <a:lvl1pPr marL="514042" indent="-514042" latinLnBrk="0">
              <a:buFont typeface="+mj-lt"/>
              <a:buAutoNum type="arabicPeriod"/>
              <a:defRPr sz="3600">
                <a:solidFill>
                  <a:schemeClr val="tx1"/>
                </a:solidFill>
              </a:defRPr>
            </a:lvl1pPr>
            <a:lvl2pPr>
              <a:defRPr sz="3400"/>
            </a:lvl2pPr>
          </a:lstStyle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930E0800-9260-4369-8330-8264DD33C5CE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57D7BE1-6358-42CC-94F3-7BCDD91DC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Table of Contents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D808AB-EC49-1578-0005-D58D2A365A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72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Bottom"/>
          <p:cNvSpPr/>
          <p:nvPr/>
        </p:nvSpPr>
        <p:spPr>
          <a:xfrm>
            <a:off x="2" y="6264000"/>
            <a:ext cx="12192000" cy="59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56" tIns="60928" rIns="121856" bIns="6092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750ECE4-94E0-469B-B8E4-562792823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62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Oval Logo Holder"/>
          <p:cNvSpPr/>
          <p:nvPr/>
        </p:nvSpPr>
        <p:spPr>
          <a:xfrm>
            <a:off x="5161650" y="4824665"/>
            <a:ext cx="1868701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Text Placeholder Right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6000" y="1195931"/>
            <a:ext cx="5545597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Left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5931"/>
            <a:ext cx="5545598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E03301DA-D0AF-46FD-8740-2F761250203A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5" name="Slide Title">
            <a:extLst>
              <a:ext uri="{FF2B5EF4-FFF2-40B4-BE49-F238E27FC236}">
                <a16:creationId xmlns:a16="http://schemas.microsoft.com/office/drawing/2014/main" id="{EA9A94D1-F9F6-4D7B-85E3-896A987B6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70595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9792D8-D354-4699-B7D6-B8CB7F7759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98753" y="5340443"/>
            <a:ext cx="1334859" cy="9828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351E19-25DA-EAD2-9FBE-358B6135D72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0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F888EE71-82B3-40F1-A63F-7417422FB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44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9002" y="1353866"/>
            <a:ext cx="7426234" cy="5219931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Picture Placeholder Left"/>
          <p:cNvSpPr>
            <a:spLocks noGrp="1"/>
          </p:cNvSpPr>
          <p:nvPr>
            <p:ph type="pic" idx="1" hasCustomPrompt="1"/>
          </p:nvPr>
        </p:nvSpPr>
        <p:spPr>
          <a:xfrm>
            <a:off x="190405" y="1355077"/>
            <a:ext cx="3889373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 latinLnBrk="0">
              <a:buNone/>
              <a:defRPr sz="213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219" indent="0">
              <a:buNone/>
              <a:defRPr sz="3731"/>
            </a:lvl2pPr>
            <a:lvl3pPr marL="1218438" indent="0">
              <a:buNone/>
              <a:defRPr sz="3198"/>
            </a:lvl3pPr>
            <a:lvl4pPr marL="1827657" indent="0">
              <a:buNone/>
              <a:defRPr sz="2665"/>
            </a:lvl4pPr>
            <a:lvl5pPr marL="2436876" indent="0">
              <a:buNone/>
              <a:defRPr sz="2665"/>
            </a:lvl5pPr>
            <a:lvl6pPr marL="3046096" indent="0">
              <a:buNone/>
              <a:defRPr sz="2665"/>
            </a:lvl6pPr>
            <a:lvl7pPr marL="3655315" indent="0">
              <a:buNone/>
              <a:defRPr sz="2665"/>
            </a:lvl7pPr>
            <a:lvl8pPr marL="4264533" indent="0">
              <a:buNone/>
              <a:defRPr sz="2665"/>
            </a:lvl8pPr>
            <a:lvl9pPr marL="4873752" indent="0">
              <a:buNone/>
              <a:defRPr sz="2665"/>
            </a:lvl9pPr>
          </a:lstStyle>
          <a:p>
            <a:r>
              <a:rPr lang="en-US" altLang="ko-KR" noProof="0" dirty="0"/>
              <a:t>Your Picture Here</a:t>
            </a:r>
          </a:p>
        </p:txBody>
      </p:sp>
      <p:sp>
        <p:nvSpPr>
          <p:cNvPr id="3" name="Rectangle Left Second"/>
          <p:cNvSpPr/>
          <p:nvPr/>
        </p:nvSpPr>
        <p:spPr>
          <a:xfrm>
            <a:off x="4127777" y="1748999"/>
            <a:ext cx="240001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Left First"/>
          <p:cNvSpPr/>
          <p:nvPr/>
        </p:nvSpPr>
        <p:spPr>
          <a:xfrm>
            <a:off x="4079775" y="1355073"/>
            <a:ext cx="48001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Down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2"/>
            <a:ext cx="12192000" cy="1365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Rectangle Top">
            <a:extLst>
              <a:ext uri="{FF2B5EF4-FFF2-40B4-BE49-F238E27FC236}">
                <a16:creationId xmlns:a16="http://schemas.microsoft.com/office/drawing/2014/main" id="{274B8F05-DFCE-47BD-BAFD-DF93E1A63BDD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F3DB3E-BDAA-8201-9A01-2F52640A84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01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107753B-8639-4399-B782-EE5377184D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6988" y="1461842"/>
            <a:ext cx="10731663" cy="3047158"/>
          </a:xfrm>
        </p:spPr>
        <p:txBody>
          <a:bodyPr>
            <a:normAutofit/>
          </a:bodyPr>
          <a:lstStyle>
            <a:lvl1pPr algn="ctr">
              <a:defRPr sz="13800"/>
            </a:lvl1pPr>
          </a:lstStyle>
          <a:p>
            <a:r>
              <a:rPr lang="bg-BG" dirty="0"/>
              <a:t>Въпроси?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06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04" y="1138844"/>
            <a:ext cx="11804830" cy="553015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9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78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89" r:id="rId2"/>
    <p:sldLayoutId id="2147483681" r:id="rId3"/>
    <p:sldLayoutId id="2147483679" r:id="rId4"/>
    <p:sldLayoutId id="2147483680" r:id="rId5"/>
    <p:sldLayoutId id="2147483688" r:id="rId6"/>
    <p:sldLayoutId id="2147483684" r:id="rId7"/>
    <p:sldLayoutId id="2147483690" r:id="rId8"/>
    <p:sldLayoutId id="2147483677" r:id="rId9"/>
    <p:sldLayoutId id="2147483683" r:id="rId10"/>
    <p:sldLayoutId id="2147483685" r:id="rId11"/>
    <p:sldLayoutId id="2147483686" r:id="rId12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438" rtl="0" eaLnBrk="1" latinLnBrk="0" hangingPunct="1">
        <a:spcBef>
          <a:spcPct val="0"/>
        </a:spcBef>
        <a:buNone/>
        <a:defRPr sz="399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8" kern="1200">
          <a:solidFill>
            <a:schemeClr val="tx1"/>
          </a:solidFill>
          <a:latin typeface="+mn-lt"/>
          <a:ea typeface="+mn-ea"/>
          <a:cs typeface="+mn-cs"/>
        </a:defRPr>
      </a:lvl2pPr>
      <a:lvl3pPr marL="125571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1700213" indent="-352425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8988" indent="-266700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8" kern="1200">
          <a:solidFill>
            <a:schemeClr val="tx1"/>
          </a:solidFill>
          <a:latin typeface="+mn-lt"/>
          <a:ea typeface="+mn-ea"/>
          <a:cs typeface="+mn-cs"/>
        </a:defRPr>
      </a:lvl5pPr>
      <a:lvl6pPr marL="335070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hyperlink" Target="http://creativecommons.org/licenses/by-nc-sa/4.0/" TargetMode="External"/><Relationship Id="rId4" Type="http://schemas.openxmlformats.org/officeDocument/2006/relationships/hyperlink" Target="https://github.com/BG-IT-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hor Name">
            <a:extLst>
              <a:ext uri="{FF2B5EF4-FFF2-40B4-BE49-F238E27FC236}">
                <a16:creationId xmlns:a16="http://schemas.microsoft.com/office/drawing/2014/main" id="{FA396BB6-2053-4690-9672-BC528007D37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6</a:t>
            </a:r>
            <a:r>
              <a:rPr lang="bg-BG" dirty="0"/>
              <a:t> клас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8DE66249-1FBD-414B-AF0D-550F7312AF7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lnSpcReduction="10000"/>
          </a:bodyPr>
          <a:lstStyle/>
          <a:p>
            <a:r>
              <a:rPr lang="bg-BG" dirty="0"/>
              <a:t>Компютърно моделиране и ИТ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20F80DC-BAF0-05EE-2BC1-37C2321904F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hlinkClick r:id="rId3"/>
              </a:rPr>
              <a:t>https://github.com/BG-IT-Edu</a:t>
            </a:r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E4D839B2-02D1-883A-3CE0-7CF25557FB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/>
          </a:bodyPr>
          <a:lstStyle/>
          <a:p>
            <a:r>
              <a:rPr lang="bg-BG" dirty="0"/>
              <a:t>Проект "Отворено учебно съдържание по програмиране и ИТ", СофтУни Фондация </a:t>
            </a:r>
          </a:p>
        </p:txBody>
      </p:sp>
      <p:sp>
        <p:nvSpPr>
          <p:cNvPr id="12" name="Subtitle 11"/>
          <p:cNvSpPr>
            <a:spLocks noGrp="1"/>
          </p:cNvSpPr>
          <p:nvPr>
            <p:ph type="subTitle" idx="1"/>
          </p:nvPr>
        </p:nvSpPr>
        <p:spPr>
          <a:xfrm>
            <a:off x="554746" y="1449000"/>
            <a:ext cx="11083636" cy="918803"/>
          </a:xfrm>
        </p:spPr>
        <p:txBody>
          <a:bodyPr>
            <a:normAutofit/>
          </a:bodyPr>
          <a:lstStyle/>
          <a:p>
            <a:r>
              <a:rPr lang="bg-BG" dirty="0"/>
              <a:t>Обработка на списъци</a:t>
            </a:r>
            <a:endParaRPr lang="en-US" dirty="0"/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37F91798-9AD5-4209-8887-958029548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405" y="321501"/>
            <a:ext cx="10691191" cy="947499"/>
          </a:xfrm>
        </p:spPr>
        <p:txBody>
          <a:bodyPr>
            <a:normAutofit/>
          </a:bodyPr>
          <a:lstStyle/>
          <a:p>
            <a:r>
              <a:rPr lang="bg-BG" dirty="0"/>
              <a:t>Списъци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5302" y="3204321"/>
            <a:ext cx="1902125" cy="852457"/>
          </a:xfrm>
          <a:prstGeom prst="rect">
            <a:avLst/>
          </a:prstGeom>
        </p:spPr>
      </p:pic>
      <p:pic>
        <p:nvPicPr>
          <p:cNvPr id="1026" name="Picture 2" descr="Why We Continue to Rely on (and Love) To-Do Lists"/>
          <p:cNvPicPr>
            <a:picLocks noGrp="1" noChangeAspect="1" noChangeArrowheads="1"/>
          </p:cNvPicPr>
          <p:nvPr>
            <p:ph type="pic" sz="quarter" idx="10"/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98" t="10671" r="398" b="7011"/>
          <a:stretch/>
        </p:blipFill>
        <p:spPr bwMode="auto">
          <a:xfrm>
            <a:off x="6390123" y="3159000"/>
            <a:ext cx="5248260" cy="243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6405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890"/>
    </mc:Choice>
    <mc:Fallback xmlns="">
      <p:transition spd="slow" advClick="0" advTm="89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6A760D59-0056-4F39-B077-DBDBE3D2927E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44419" name="Slide Body"/>
          <p:cNvSpPr>
            <a:spLocks noGrp="1" noChangeArrowheads="1"/>
          </p:cNvSpPr>
          <p:nvPr>
            <p:ph type="body" sz="quarter" idx="13"/>
          </p:nvPr>
        </p:nvSpPr>
        <p:spPr>
          <a:xfrm>
            <a:off x="196766" y="1371604"/>
            <a:ext cx="8959234" cy="5207396"/>
          </a:xfrm>
        </p:spPr>
        <p:txBody>
          <a:bodyPr>
            <a:normAutofit/>
          </a:bodyPr>
          <a:lstStyle/>
          <a:p>
            <a:r>
              <a:rPr lang="bg-BG" dirty="0"/>
              <a:t>͏</a:t>
            </a:r>
            <a:r>
              <a:rPr lang="bg-BG" b="1" dirty="0"/>
              <a:t>Обработка</a:t>
            </a:r>
            <a:r>
              <a:rPr lang="bg-BG" dirty="0"/>
              <a:t> на списъци</a:t>
            </a:r>
            <a:endParaRPr lang="en-US" dirty="0"/>
          </a:p>
          <a:p>
            <a:r>
              <a:rPr lang="ru-RU" dirty="0"/>
              <a:t>Преминаване през списъци с </a:t>
            </a:r>
            <a:r>
              <a:rPr lang="ru-RU" b="1" dirty="0"/>
              <a:t>цикли</a:t>
            </a:r>
            <a:endParaRPr lang="en-US" b="1" dirty="0"/>
          </a:p>
          <a:p>
            <a:r>
              <a:rPr lang="ru-RU" dirty="0"/>
              <a:t>͏</a:t>
            </a:r>
            <a:r>
              <a:rPr lang="ru-RU" b="1" dirty="0"/>
              <a:t>Търсене</a:t>
            </a:r>
            <a:r>
              <a:rPr lang="en-US" dirty="0"/>
              <a:t> </a:t>
            </a:r>
            <a:r>
              <a:rPr lang="bg-BG" dirty="0"/>
              <a:t>на </a:t>
            </a:r>
            <a:r>
              <a:rPr lang="bg-BG" b="1" dirty="0"/>
              <a:t>елементи</a:t>
            </a:r>
            <a:r>
              <a:rPr lang="ru-RU" dirty="0"/>
              <a:t> в списък</a:t>
            </a:r>
            <a:endParaRPr lang="bg-BG" dirty="0"/>
          </a:p>
        </p:txBody>
      </p:sp>
      <p:sp>
        <p:nvSpPr>
          <p:cNvPr id="444418" name="Slide Title"/>
          <p:cNvSpPr>
            <a:spLocks noGrp="1" noChangeArrowheads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/>
              <a:t>Съдържание</a:t>
            </a:r>
            <a:endParaRPr lang="bg-B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35CDFB-0E94-0132-177D-CD4B4F85BF8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3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11000" y="1584000"/>
            <a:ext cx="1581246" cy="21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986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dirty="0"/>
              <a:t>Използване на вградени функции</a:t>
            </a: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dirty="0"/>
              <a:t>Обработка на списъци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6000" y="1087181"/>
            <a:ext cx="2961488" cy="2961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82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45598" cy="5528766"/>
          </a:xfrm>
        </p:spPr>
        <p:txBody>
          <a:bodyPr/>
          <a:lstStyle/>
          <a:p>
            <a:r>
              <a:rPr lang="bg-BG" dirty="0"/>
              <a:t>Използвайте </a:t>
            </a:r>
            <a:r>
              <a:rPr lang="en-US" b="1" dirty="0">
                <a:solidFill>
                  <a:schemeClr val="bg1"/>
                </a:solidFill>
              </a:rPr>
              <a:t>append</a:t>
            </a:r>
            <a:r>
              <a:rPr lang="en-US" dirty="0"/>
              <a:t> </a:t>
            </a:r>
            <a:r>
              <a:rPr lang="bg-BG" b="1" dirty="0"/>
              <a:t>функцията</a:t>
            </a:r>
            <a:r>
              <a:rPr lang="bg-BG" dirty="0"/>
              <a:t>, за да добавите нов елемент към списъка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Добавяне на елемент</a:t>
            </a:r>
            <a:r>
              <a:rPr lang="en-US" dirty="0"/>
              <a:t> </a:t>
            </a:r>
            <a:r>
              <a:rPr lang="bg-BG" dirty="0"/>
              <a:t>към списък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73500" y="2524998"/>
            <a:ext cx="6277500" cy="2074002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eaLnBrk="0" hangingPunct="0">
              <a:lnSpc>
                <a:spcPct val="110000"/>
              </a:lnSpc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empty_list = []</a:t>
            </a:r>
          </a:p>
          <a:p>
            <a:pPr eaLnBrk="0" hangingPunct="0">
              <a:lnSpc>
                <a:spcPct val="110000"/>
              </a:lnSpc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empty_list.</a:t>
            </a: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append(</a:t>
            </a:r>
            <a:r>
              <a:rPr lang="en-US" sz="2400" b="1" dirty="0">
                <a:latin typeface="Consolas" panose="020B0609020204030204" pitchFamily="49" charset="0"/>
              </a:rPr>
              <a:t>2</a:t>
            </a: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  <a:p>
            <a:pPr eaLnBrk="0" hangingPunct="0">
              <a:lnSpc>
                <a:spcPct val="110000"/>
              </a:lnSpc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empty_list.</a:t>
            </a: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append(</a:t>
            </a:r>
            <a:r>
              <a:rPr lang="en-US" sz="2400" b="1" dirty="0">
                <a:latin typeface="Consolas" panose="020B0609020204030204" pitchFamily="49" charset="0"/>
              </a:rPr>
              <a:t>3</a:t>
            </a: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  <a:endParaRPr lang="bg-BG" sz="2400" b="1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eaLnBrk="0" hangingPunct="0">
              <a:lnSpc>
                <a:spcPct val="110000"/>
              </a:lnSpc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print(empty_list) </a:t>
            </a:r>
            <a:r>
              <a:rPr lang="en-US" sz="2400" b="1" i="1" dirty="0">
                <a:solidFill>
                  <a:schemeClr val="accent2"/>
                </a:solidFill>
                <a:latin typeface="Consolas" panose="020B0609020204030204" pitchFamily="49" charset="0"/>
              </a:rPr>
              <a:t># [2, 3]</a:t>
            </a:r>
          </a:p>
        </p:txBody>
      </p:sp>
    </p:spTree>
    <p:extLst>
      <p:ext uri="{BB962C8B-B14F-4D97-AF65-F5344CB8AC3E}">
        <p14:creationId xmlns:p14="http://schemas.microsoft.com/office/powerpoint/2010/main" val="3554267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45598" cy="5528766"/>
          </a:xfrm>
        </p:spPr>
        <p:txBody>
          <a:bodyPr/>
          <a:lstStyle/>
          <a:p>
            <a:r>
              <a:rPr lang="bg-BG" dirty="0"/>
              <a:t>Използвайте </a:t>
            </a:r>
            <a:r>
              <a:rPr lang="en-US" b="1" dirty="0">
                <a:solidFill>
                  <a:schemeClr val="bg1"/>
                </a:solidFill>
              </a:rPr>
              <a:t>remove</a:t>
            </a:r>
            <a:r>
              <a:rPr lang="en-US" dirty="0"/>
              <a:t> </a:t>
            </a:r>
            <a:r>
              <a:rPr lang="bg-BG" b="1" dirty="0"/>
              <a:t>функцията</a:t>
            </a:r>
            <a:r>
              <a:rPr lang="bg-BG" dirty="0"/>
              <a:t>, за да премахнете специфичен елемент от списъка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Изтриване на елемент</a:t>
            </a:r>
            <a:r>
              <a:rPr lang="en-US" dirty="0"/>
              <a:t> </a:t>
            </a:r>
            <a:r>
              <a:rPr lang="bg-BG" dirty="0"/>
              <a:t>от списък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73500" y="2524998"/>
            <a:ext cx="6277500" cy="2074002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eaLnBrk="0" hangingPunct="0">
              <a:lnSpc>
                <a:spcPct val="110000"/>
              </a:lnSpc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list_of_numbers = [1, 2, 3, 4, 5]</a:t>
            </a:r>
          </a:p>
          <a:p>
            <a:pPr eaLnBrk="0" hangingPunct="0">
              <a:lnSpc>
                <a:spcPct val="110000"/>
              </a:lnSpc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list_of_numbers.</a:t>
            </a: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remove(</a:t>
            </a:r>
            <a:r>
              <a:rPr lang="en-US" sz="2400" b="1" dirty="0">
                <a:latin typeface="Consolas" panose="020B0609020204030204" pitchFamily="49" charset="0"/>
              </a:rPr>
              <a:t>3</a:t>
            </a: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  <a:p>
            <a:pPr eaLnBrk="0" hangingPunct="0">
              <a:lnSpc>
                <a:spcPct val="110000"/>
              </a:lnSpc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list_of_numbers.</a:t>
            </a: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remove(</a:t>
            </a:r>
            <a:r>
              <a:rPr lang="en-US" sz="2400" b="1" dirty="0">
                <a:latin typeface="Consolas" panose="020B0609020204030204" pitchFamily="49" charset="0"/>
              </a:rPr>
              <a:t>1</a:t>
            </a: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  <a:p>
            <a:pPr eaLnBrk="0" hangingPunct="0">
              <a:lnSpc>
                <a:spcPct val="110000"/>
              </a:lnSpc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print(list_of_numbers) </a:t>
            </a:r>
            <a:r>
              <a:rPr lang="en-US" sz="2400" b="1" i="1" dirty="0">
                <a:solidFill>
                  <a:schemeClr val="accent2"/>
                </a:solidFill>
                <a:latin typeface="Consolas" panose="020B0609020204030204" pitchFamily="49" charset="0"/>
              </a:rPr>
              <a:t># [2, 4, 5]</a:t>
            </a:r>
          </a:p>
        </p:txBody>
      </p:sp>
    </p:spTree>
    <p:extLst>
      <p:ext uri="{BB962C8B-B14F-4D97-AF65-F5344CB8AC3E}">
        <p14:creationId xmlns:p14="http://schemas.microsoft.com/office/powerpoint/2010/main" val="181370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Създайте програма, която чете </a:t>
            </a:r>
            <a:r>
              <a:rPr lang="bg-BG" b="1" dirty="0"/>
              <a:t>цяло число </a:t>
            </a:r>
            <a:r>
              <a:rPr lang="en-US" b="1" dirty="0">
                <a:solidFill>
                  <a:schemeClr val="bg1"/>
                </a:solidFill>
              </a:rPr>
              <a:t>n</a:t>
            </a:r>
          </a:p>
          <a:p>
            <a:pPr lvl="1"/>
            <a:r>
              <a:rPr lang="bg-BG" dirty="0"/>
              <a:t>На следващите </a:t>
            </a:r>
            <a:r>
              <a:rPr lang="en-US" b="1" dirty="0">
                <a:solidFill>
                  <a:schemeClr val="bg1"/>
                </a:solidFill>
              </a:rPr>
              <a:t>n</a:t>
            </a:r>
            <a:r>
              <a:rPr lang="en-US" dirty="0"/>
              <a:t> </a:t>
            </a:r>
            <a:r>
              <a:rPr lang="bg-BG" dirty="0"/>
              <a:t>на брой </a:t>
            </a:r>
            <a:r>
              <a:rPr lang="bg-BG" b="1" dirty="0"/>
              <a:t>реда</a:t>
            </a:r>
            <a:r>
              <a:rPr lang="bg-BG" dirty="0"/>
              <a:t> ще получите </a:t>
            </a:r>
            <a:r>
              <a:rPr lang="bg-BG" b="1" dirty="0"/>
              <a:t>имената</a:t>
            </a:r>
            <a:r>
              <a:rPr lang="bg-BG" dirty="0"/>
              <a:t> на различни</a:t>
            </a:r>
            <a:r>
              <a:rPr lang="bg-BG" b="1" dirty="0"/>
              <a:t> курсове</a:t>
            </a:r>
          </a:p>
          <a:p>
            <a:pPr lvl="1"/>
            <a:r>
              <a:rPr lang="bg-BG" dirty="0"/>
              <a:t>Трябва да </a:t>
            </a:r>
            <a:r>
              <a:rPr lang="bg-BG" b="1" dirty="0"/>
              <a:t>създадете</a:t>
            </a:r>
            <a:r>
              <a:rPr lang="bg-BG" dirty="0"/>
              <a:t> </a:t>
            </a:r>
            <a:r>
              <a:rPr lang="bg-BG" b="1" dirty="0"/>
              <a:t>списък</a:t>
            </a:r>
            <a:r>
              <a:rPr lang="bg-BG" dirty="0"/>
              <a:t> от тях и да го </a:t>
            </a:r>
            <a:r>
              <a:rPr lang="bg-BG" b="1" dirty="0"/>
              <a:t>принтирате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Курсове – условие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023799" y="4242095"/>
            <a:ext cx="1350000" cy="1436905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400" b="1" dirty="0">
                <a:latin typeface="Consolas" panose="020B0609020204030204" pitchFamily="49" charset="0"/>
              </a:rPr>
              <a:t>2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Math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IT</a:t>
            </a:r>
            <a:endParaRPr lang="bg-BG" sz="2400" b="1" dirty="0">
              <a:latin typeface="Consolas" panose="020B06090202040302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46000" y="4648361"/>
            <a:ext cx="3740297" cy="624374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ctr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['Math', 'IT']</a:t>
            </a:r>
            <a:endParaRPr lang="bg-BG" sz="2400" b="1" dirty="0">
              <a:latin typeface="Consolas" panose="020B0609020204030204" pitchFamily="49" charset="0"/>
            </a:endParaRPr>
          </a:p>
        </p:txBody>
      </p:sp>
      <p:sp>
        <p:nvSpPr>
          <p:cNvPr id="7" name="Right Arrow 11">
            <a:extLst>
              <a:ext uri="{FF2B5EF4-FFF2-40B4-BE49-F238E27FC236}">
                <a16:creationId xmlns:a16="http://schemas.microsoft.com/office/drawing/2014/main" id="{42DEB2C5-A593-42F9-A1DB-4ECBB3770AD4}"/>
              </a:ext>
            </a:extLst>
          </p:cNvPr>
          <p:cNvSpPr/>
          <p:nvPr/>
        </p:nvSpPr>
        <p:spPr>
          <a:xfrm>
            <a:off x="4786051" y="4808216"/>
            <a:ext cx="447696" cy="304662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180041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Курсове – решение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692400" y="2034000"/>
            <a:ext cx="6807201" cy="3468230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n = int(input())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courses = []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2400" b="1" dirty="0">
              <a:latin typeface="Consolas" panose="020B0609020204030204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for n in range(n):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    current_course = input()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    courses.append(current_course)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2400" b="1" dirty="0">
              <a:latin typeface="Consolas" panose="020B0609020204030204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print(courses)</a:t>
            </a:r>
            <a:endParaRPr lang="bg-BG" sz="2400" b="1" dirty="0">
              <a:latin typeface="Consolas" panose="020B0609020204030204" pitchFamily="49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1401" y="4584068"/>
            <a:ext cx="2536399" cy="2196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049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 sz="quarter" idx="10"/>
          </p:nvPr>
        </p:nvSpPr>
        <p:spPr>
          <a:xfrm>
            <a:off x="1690555" y="4914000"/>
            <a:ext cx="8810891" cy="1533084"/>
          </a:xfrm>
        </p:spPr>
        <p:txBody>
          <a:bodyPr/>
          <a:lstStyle/>
          <a:p>
            <a:r>
              <a:rPr lang="ru-RU" dirty="0"/>
              <a:t>Преминаване през списъци с цикли</a:t>
            </a:r>
            <a:endParaRPr lang="en-US" dirty="0"/>
          </a:p>
        </p:txBody>
      </p:sp>
      <p:pic>
        <p:nvPicPr>
          <p:cNvPr id="2050" name="Picture 2" descr="Cycle - Free arrows ic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2250" y="1179000"/>
            <a:ext cx="2767500" cy="2767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235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Има два варианта, с които може да </a:t>
            </a:r>
            <a:r>
              <a:rPr lang="bg-BG" b="1" dirty="0"/>
              <a:t>преминете</a:t>
            </a:r>
            <a:r>
              <a:rPr lang="bg-BG" dirty="0"/>
              <a:t> през </a:t>
            </a:r>
            <a:r>
              <a:rPr lang="bg-BG" b="1" dirty="0"/>
              <a:t>списък</a:t>
            </a:r>
            <a:r>
              <a:rPr lang="bg-BG" dirty="0"/>
              <a:t>, използвайки </a:t>
            </a:r>
            <a:r>
              <a:rPr lang="en-US" b="1" dirty="0">
                <a:solidFill>
                  <a:schemeClr val="bg1"/>
                </a:solidFill>
              </a:rPr>
              <a:t>for</a:t>
            </a:r>
            <a:r>
              <a:rPr lang="en-US" b="1" dirty="0"/>
              <a:t> </a:t>
            </a:r>
            <a:r>
              <a:rPr lang="bg-BG" b="1" dirty="0"/>
              <a:t>цикъл</a:t>
            </a:r>
            <a:r>
              <a:rPr lang="en-US" dirty="0"/>
              <a:t>:</a:t>
            </a:r>
          </a:p>
          <a:p>
            <a:pPr lvl="1">
              <a:spcAft>
                <a:spcPts val="1800"/>
              </a:spcAft>
            </a:pPr>
            <a:r>
              <a:rPr lang="bg-BG" b="1" dirty="0"/>
              <a:t>Итерация</a:t>
            </a:r>
            <a:r>
              <a:rPr lang="bg-BG" dirty="0"/>
              <a:t> на отделните елементи</a:t>
            </a:r>
            <a:endParaRPr lang="en-US" dirty="0"/>
          </a:p>
          <a:p>
            <a:pPr lvl="1"/>
            <a:endParaRPr lang="en-US" dirty="0"/>
          </a:p>
          <a:p>
            <a:pPr marL="442912" lvl="1" indent="0">
              <a:buNone/>
            </a:pPr>
            <a:endParaRPr lang="en-US" dirty="0"/>
          </a:p>
          <a:p>
            <a:pPr lvl="1"/>
            <a:r>
              <a:rPr lang="bg-BG" dirty="0"/>
              <a:t>Използване на </a:t>
            </a:r>
            <a:r>
              <a:rPr lang="bg-BG" b="1" dirty="0"/>
              <a:t>индекси</a:t>
            </a:r>
            <a:endParaRPr lang="en-US" b="1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Използване на </a:t>
            </a:r>
            <a:r>
              <a:rPr lang="en-US" dirty="0"/>
              <a:t>for </a:t>
            </a:r>
            <a:r>
              <a:rPr lang="bg-BG" dirty="0"/>
              <a:t>цикъл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056000" y="3069000"/>
            <a:ext cx="8145000" cy="1436905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my_pets = ["cat", "dog", "fish"]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for </a:t>
            </a: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element</a:t>
            </a:r>
            <a:r>
              <a:rPr lang="en-US" sz="2400" b="1" dirty="0">
                <a:latin typeface="Consolas" panose="020B0609020204030204" pitchFamily="49" charset="0"/>
              </a:rPr>
              <a:t> in </a:t>
            </a: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my_pets</a:t>
            </a:r>
            <a:r>
              <a:rPr lang="en-US" sz="2400" b="1" dirty="0">
                <a:latin typeface="Consolas" panose="020B0609020204030204" pitchFamily="49" charset="0"/>
              </a:rPr>
              <a:t>: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	print(element, end=" ") </a:t>
            </a:r>
            <a:r>
              <a:rPr lang="en-US" sz="2400" b="1" i="1" dirty="0">
                <a:solidFill>
                  <a:schemeClr val="accent2"/>
                </a:solidFill>
                <a:latin typeface="Consolas" panose="020B0609020204030204" pitchFamily="49" charset="0"/>
              </a:rPr>
              <a:t># cat, dog, fish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000" y="5184000"/>
            <a:ext cx="9405000" cy="1436905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my_pets = ["cat", "dog", "fish"]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for </a:t>
            </a: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index</a:t>
            </a:r>
            <a:r>
              <a:rPr lang="en-US" sz="2400" b="1" dirty="0">
                <a:latin typeface="Consolas" panose="020B0609020204030204" pitchFamily="49" charset="0"/>
              </a:rPr>
              <a:t> in </a:t>
            </a: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range</a:t>
            </a:r>
            <a:r>
              <a:rPr lang="en-US" sz="2400" b="1" dirty="0"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len(my_pets)</a:t>
            </a:r>
            <a:r>
              <a:rPr lang="en-US" sz="2400" b="1" dirty="0">
                <a:latin typeface="Consolas" panose="020B0609020204030204" pitchFamily="49" charset="0"/>
              </a:rPr>
              <a:t>):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	print(my_pets[index], end=" ") </a:t>
            </a:r>
            <a:r>
              <a:rPr lang="en-US" sz="2400" b="1" i="1" dirty="0">
                <a:solidFill>
                  <a:schemeClr val="accent2"/>
                </a:solidFill>
                <a:latin typeface="Consolas" panose="020B0609020204030204" pitchFamily="49" charset="0"/>
              </a:rPr>
              <a:t># cat, dog, fish</a:t>
            </a:r>
          </a:p>
        </p:txBody>
      </p:sp>
    </p:spTree>
    <p:extLst>
      <p:ext uri="{BB962C8B-B14F-4D97-AF65-F5344CB8AC3E}">
        <p14:creationId xmlns:p14="http://schemas.microsoft.com/office/powerpoint/2010/main" val="64693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10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95201" y="1196125"/>
            <a:ext cx="6315799" cy="5528766"/>
          </a:xfrm>
        </p:spPr>
        <p:txBody>
          <a:bodyPr>
            <a:normAutofit/>
          </a:bodyPr>
          <a:lstStyle/>
          <a:p>
            <a:r>
              <a:rPr lang="ru-RU" sz="3600" dirty="0"/>
              <a:t>Можете също така да използвате </a:t>
            </a:r>
            <a:r>
              <a:rPr lang="ru-RU" sz="3600" b="1" dirty="0">
                <a:solidFill>
                  <a:schemeClr val="bg1"/>
                </a:solidFill>
              </a:rPr>
              <a:t>while</a:t>
            </a:r>
            <a:r>
              <a:rPr lang="ru-RU" sz="3600" b="1" dirty="0"/>
              <a:t> цикъл</a:t>
            </a:r>
            <a:r>
              <a:rPr lang="ru-RU" sz="3600" dirty="0"/>
              <a:t> за итерация</a:t>
            </a:r>
          </a:p>
          <a:p>
            <a:pPr lvl="1"/>
            <a:r>
              <a:rPr lang="ru-RU" sz="3200" dirty="0"/>
              <a:t>В първия пример итерираме през елементите, докато достигнем </a:t>
            </a:r>
            <a:r>
              <a:rPr lang="ru-RU" sz="3200" b="1" dirty="0"/>
              <a:t>края на списъка</a:t>
            </a:r>
          </a:p>
          <a:p>
            <a:pPr lvl="1"/>
            <a:r>
              <a:rPr lang="ru-RU" sz="3200" dirty="0"/>
              <a:t>Във втория пример итерираме, докато </a:t>
            </a:r>
            <a:r>
              <a:rPr lang="ru-RU" sz="3200" b="1" dirty="0"/>
              <a:t>няма повече елементи </a:t>
            </a:r>
            <a:r>
              <a:rPr lang="ru-RU" sz="3200" dirty="0"/>
              <a:t>в </a:t>
            </a:r>
            <a:r>
              <a:rPr lang="ru-RU" sz="3200" b="1" dirty="0"/>
              <a:t>списъка</a:t>
            </a:r>
            <a:endParaRPr lang="en-US" sz="3200" b="1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Използване на </a:t>
            </a:r>
            <a:r>
              <a:rPr lang="en-US" dirty="0"/>
              <a:t>while </a:t>
            </a:r>
            <a:r>
              <a:rPr lang="bg-BG" dirty="0"/>
              <a:t>цикъл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876272" y="2036804"/>
            <a:ext cx="4979728" cy="1923704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numCol="1" rtlCol="0">
            <a:spAutoFit/>
          </a:bodyPr>
          <a:lstStyle>
            <a:defPPr>
              <a:defRPr lang="en-US"/>
            </a:defPPr>
            <a:lvl1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 sz="2000" b="1">
                <a:latin typeface="Consolas" panose="020B0609020204030204" pitchFamily="49" charset="0"/>
              </a:defRPr>
            </a:lvl1pPr>
          </a:lstStyle>
          <a:p>
            <a:pPr>
              <a:spcAft>
                <a:spcPts val="100"/>
              </a:spcAft>
            </a:pPr>
            <a:r>
              <a:rPr lang="en-US" dirty="0"/>
              <a:t>my_list = ["cat", "dog", "fish"]</a:t>
            </a:r>
            <a:endParaRPr lang="bg-BG" dirty="0"/>
          </a:p>
          <a:p>
            <a:r>
              <a:rPr lang="en-US" dirty="0"/>
              <a:t>i = 0</a:t>
            </a:r>
          </a:p>
          <a:p>
            <a:r>
              <a:rPr lang="en-US" dirty="0"/>
              <a:t>while i </a:t>
            </a:r>
            <a:r>
              <a:rPr lang="en-US" dirty="0">
                <a:solidFill>
                  <a:schemeClr val="bg1"/>
                </a:solidFill>
              </a:rPr>
              <a:t>&lt; len</a:t>
            </a:r>
            <a:r>
              <a:rPr lang="en-US" dirty="0"/>
              <a:t>(my_list):</a:t>
            </a:r>
          </a:p>
          <a:p>
            <a:r>
              <a:rPr lang="en-US" dirty="0"/>
              <a:t>	print(my_list</a:t>
            </a:r>
            <a:r>
              <a:rPr lang="en-US" dirty="0">
                <a:solidFill>
                  <a:schemeClr val="bg1"/>
                </a:solidFill>
              </a:rPr>
              <a:t>[i]</a:t>
            </a:r>
            <a:r>
              <a:rPr lang="en-US" dirty="0"/>
              <a:t>, end=" ")</a:t>
            </a:r>
          </a:p>
          <a:p>
            <a:pPr>
              <a:spcAft>
                <a:spcPts val="600"/>
              </a:spcAft>
            </a:pPr>
            <a:r>
              <a:rPr lang="en-US" dirty="0"/>
              <a:t>	i += i	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5457" y="4329000"/>
            <a:ext cx="5700543" cy="1910880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numCol="1" rtlCol="0">
            <a:spAutoFit/>
          </a:bodyPr>
          <a:lstStyle>
            <a:defPPr>
              <a:defRPr lang="en-US"/>
            </a:defPPr>
            <a:lvl1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 sz="2000" b="1">
                <a:latin typeface="Consolas" panose="020B0609020204030204" pitchFamily="49" charset="0"/>
              </a:defRPr>
            </a:lvl1pPr>
          </a:lstStyle>
          <a:p>
            <a:r>
              <a:rPr lang="en-US" dirty="0"/>
              <a:t>my_list = ["cat", "dog", "fish"]</a:t>
            </a:r>
            <a:endParaRPr lang="bg-BG" dirty="0"/>
          </a:p>
          <a:p>
            <a:r>
              <a:rPr lang="en-US" dirty="0"/>
              <a:t>while my_list:</a:t>
            </a:r>
          </a:p>
          <a:p>
            <a:r>
              <a:rPr lang="en-US" dirty="0"/>
              <a:t>	print(my_list[0], end=" ")</a:t>
            </a:r>
          </a:p>
          <a:p>
            <a:r>
              <a:rPr lang="en-US" dirty="0"/>
              <a:t>	current_element = my_list[0]</a:t>
            </a:r>
          </a:p>
          <a:p>
            <a:r>
              <a:rPr lang="en-US" dirty="0"/>
              <a:t>	my_list.remove(current_element)</a:t>
            </a:r>
          </a:p>
        </p:txBody>
      </p:sp>
    </p:spTree>
    <p:extLst>
      <p:ext uri="{BB962C8B-B14F-4D97-AF65-F5344CB8AC3E}">
        <p14:creationId xmlns:p14="http://schemas.microsoft.com/office/powerpoint/2010/main" val="2188909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Ще получите </a:t>
            </a:r>
            <a:r>
              <a:rPr lang="bg-BG" b="1" dirty="0"/>
              <a:t>цяло число </a:t>
            </a:r>
            <a:r>
              <a:rPr lang="en-US" b="1" dirty="0">
                <a:solidFill>
                  <a:schemeClr val="bg1"/>
                </a:solidFill>
              </a:rPr>
              <a:t>n</a:t>
            </a:r>
          </a:p>
          <a:p>
            <a:r>
              <a:rPr lang="ru-RU" dirty="0"/>
              <a:t>На следващите </a:t>
            </a:r>
            <a:r>
              <a:rPr lang="ru-RU" b="1" dirty="0">
                <a:solidFill>
                  <a:schemeClr val="bg1"/>
                </a:solidFill>
              </a:rPr>
              <a:t>n</a:t>
            </a:r>
            <a:r>
              <a:rPr lang="ru-RU" b="1" dirty="0"/>
              <a:t> реда </a:t>
            </a:r>
            <a:r>
              <a:rPr lang="ru-RU" dirty="0"/>
              <a:t>ще получ</a:t>
            </a:r>
            <a:r>
              <a:rPr lang="bg-BG" dirty="0"/>
              <a:t>авате</a:t>
            </a:r>
            <a:r>
              <a:rPr lang="ru-RU" dirty="0"/>
              <a:t> </a:t>
            </a:r>
            <a:r>
              <a:rPr lang="ru-RU" b="1" dirty="0"/>
              <a:t>цели числа</a:t>
            </a:r>
          </a:p>
          <a:p>
            <a:r>
              <a:rPr lang="ru-RU" dirty="0"/>
              <a:t>Създайте и отпечатайте </a:t>
            </a:r>
            <a:r>
              <a:rPr lang="ru-RU" b="1" dirty="0"/>
              <a:t>два списъка</a:t>
            </a:r>
            <a:r>
              <a:rPr lang="ru-RU" dirty="0"/>
              <a:t>:</a:t>
            </a:r>
          </a:p>
          <a:p>
            <a:pPr lvl="1"/>
            <a:r>
              <a:rPr lang="ru-RU" dirty="0"/>
              <a:t>Един с всички </a:t>
            </a:r>
            <a:r>
              <a:rPr lang="ru-RU" b="1" dirty="0">
                <a:solidFill>
                  <a:schemeClr val="bg1"/>
                </a:solidFill>
              </a:rPr>
              <a:t>положителни</a:t>
            </a:r>
            <a:r>
              <a:rPr lang="ru-RU" dirty="0"/>
              <a:t> (</a:t>
            </a:r>
            <a:r>
              <a:rPr lang="ru-RU" b="1" dirty="0"/>
              <a:t>включително 0</a:t>
            </a:r>
            <a:r>
              <a:rPr lang="ru-RU" dirty="0"/>
              <a:t>) </a:t>
            </a:r>
            <a:r>
              <a:rPr lang="ru-RU" b="1" dirty="0"/>
              <a:t>числа</a:t>
            </a:r>
          </a:p>
          <a:p>
            <a:pPr lvl="1"/>
            <a:r>
              <a:rPr lang="ru-RU" dirty="0"/>
              <a:t>Един с всички </a:t>
            </a:r>
            <a:r>
              <a:rPr lang="ru-RU" b="1" dirty="0">
                <a:solidFill>
                  <a:schemeClr val="bg1"/>
                </a:solidFill>
              </a:rPr>
              <a:t>отрицателни</a:t>
            </a:r>
            <a:r>
              <a:rPr lang="ru-RU" b="1" dirty="0"/>
              <a:t> числа</a:t>
            </a:r>
          </a:p>
          <a:p>
            <a:r>
              <a:rPr lang="ru-RU" dirty="0"/>
              <a:t>Накрая отпечатайте следното: </a:t>
            </a:r>
          </a:p>
          <a:p>
            <a:pPr marL="442912" lvl="1" indent="0">
              <a:spcAft>
                <a:spcPts val="0"/>
              </a:spcAft>
              <a:buNone/>
            </a:pPr>
            <a:r>
              <a:rPr lang="ru-RU" dirty="0"/>
              <a:t>"</a:t>
            </a:r>
            <a:r>
              <a:rPr lang="ru-RU" b="1" dirty="0"/>
              <a:t>Брой на положителните числа: {count_positives} </a:t>
            </a:r>
          </a:p>
          <a:p>
            <a:pPr marL="442912" lvl="1" indent="0">
              <a:spcBef>
                <a:spcPts val="0"/>
              </a:spcBef>
              <a:buNone/>
            </a:pPr>
            <a:r>
              <a:rPr lang="ru-RU" b="1" dirty="0"/>
              <a:t>Сума на отрицателните: {sum_of_negatives}</a:t>
            </a:r>
            <a:r>
              <a:rPr lang="ru-RU" dirty="0"/>
              <a:t>"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Статисика – условие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09" t="23370" r="15585" b="6078"/>
          <a:stretch/>
        </p:blipFill>
        <p:spPr>
          <a:xfrm>
            <a:off x="9189438" y="4816329"/>
            <a:ext cx="2931006" cy="1908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034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12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Статистика – решение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393500" y="1456262"/>
            <a:ext cx="9405000" cy="5070913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n = int(input())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bg-BG" sz="2400" b="1" dirty="0">
              <a:latin typeface="Consolas" panose="020B0609020204030204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positives = []</a:t>
            </a:r>
            <a:endParaRPr lang="bg-BG" sz="2400" b="1" dirty="0">
              <a:latin typeface="Consolas" panose="020B0609020204030204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negatives = [] 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bg-BG" sz="2400" b="1" dirty="0">
              <a:latin typeface="Consolas" panose="020B0609020204030204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for n in range(n): </a:t>
            </a:r>
            <a:endParaRPr lang="bg-BG" sz="2400" b="1" dirty="0">
              <a:latin typeface="Consolas" panose="020B0609020204030204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400" b="1" dirty="0">
                <a:latin typeface="Consolas" panose="020B0609020204030204" pitchFamily="49" charset="0"/>
              </a:rPr>
              <a:t>	</a:t>
            </a:r>
            <a:r>
              <a:rPr lang="en-US" sz="2400" b="1" i="1" dirty="0">
                <a:solidFill>
                  <a:schemeClr val="accent2"/>
                </a:solidFill>
                <a:latin typeface="Consolas" panose="020B0609020204030204" pitchFamily="49" charset="0"/>
              </a:rPr>
              <a:t># </a:t>
            </a:r>
            <a:r>
              <a:rPr lang="bg-BG" sz="2400" b="1" i="1" dirty="0">
                <a:solidFill>
                  <a:schemeClr val="accent2"/>
                </a:solidFill>
                <a:latin typeface="Consolas" panose="020B0609020204030204" pitchFamily="49" charset="0"/>
              </a:rPr>
              <a:t>Прочетете числата от потребителя и ги </a:t>
            </a:r>
            <a:r>
              <a:rPr lang="en-US" sz="2400" b="1" i="1" dirty="0">
                <a:solidFill>
                  <a:schemeClr val="accent2"/>
                </a:solidFill>
                <a:latin typeface="Consolas" panose="020B0609020204030204" pitchFamily="49" charset="0"/>
              </a:rPr>
              <a:t>	</a:t>
            </a:r>
            <a:r>
              <a:rPr lang="bg-BG" sz="2400" b="1" i="1" dirty="0">
                <a:solidFill>
                  <a:schemeClr val="accent2"/>
                </a:solidFill>
                <a:latin typeface="Consolas" panose="020B0609020204030204" pitchFamily="49" charset="0"/>
              </a:rPr>
              <a:t>добавете в подходящия списък</a:t>
            </a:r>
            <a:r>
              <a:rPr lang="en-US" sz="2400" b="1" i="1" dirty="0">
                <a:solidFill>
                  <a:schemeClr val="accent2"/>
                </a:solidFill>
                <a:latin typeface="Consolas" panose="020B0609020204030204" pitchFamily="49" charset="0"/>
              </a:rPr>
              <a:t> </a:t>
            </a:r>
            <a:endParaRPr lang="bg-BG" sz="2400" b="1" i="1" dirty="0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bg-BG" sz="2400" dirty="0">
              <a:latin typeface="Consolas" panose="020B0609020204030204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i="1" dirty="0">
                <a:solidFill>
                  <a:schemeClr val="accent2"/>
                </a:solidFill>
                <a:latin typeface="Consolas" panose="020B0609020204030204" pitchFamily="49" charset="0"/>
              </a:rPr>
              <a:t># </a:t>
            </a:r>
            <a:r>
              <a:rPr lang="bg-BG" sz="2400" b="1" i="1" dirty="0">
                <a:solidFill>
                  <a:schemeClr val="accent2"/>
                </a:solidFill>
                <a:latin typeface="Consolas" panose="020B0609020204030204" pitchFamily="49" charset="0"/>
              </a:rPr>
              <a:t>Отпечатайте списъка с позитивни числа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i="1" dirty="0">
                <a:solidFill>
                  <a:schemeClr val="accent2"/>
                </a:solidFill>
                <a:latin typeface="Consolas" panose="020B0609020204030204" pitchFamily="49" charset="0"/>
              </a:rPr>
              <a:t># </a:t>
            </a:r>
            <a:r>
              <a:rPr lang="bg-BG" sz="2400" b="1" i="1" dirty="0">
                <a:solidFill>
                  <a:schemeClr val="accent2"/>
                </a:solidFill>
                <a:latin typeface="Consolas" panose="020B0609020204030204" pitchFamily="49" charset="0"/>
              </a:rPr>
              <a:t>Отпечатайте списъка с отрицателни числа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i="1" dirty="0">
                <a:solidFill>
                  <a:schemeClr val="accent2"/>
                </a:solidFill>
                <a:latin typeface="Consolas" panose="020B0609020204030204" pitchFamily="49" charset="0"/>
              </a:rPr>
              <a:t># </a:t>
            </a:r>
            <a:r>
              <a:rPr lang="bg-BG" sz="2400" b="1" i="1" dirty="0">
                <a:solidFill>
                  <a:schemeClr val="accent2"/>
                </a:solidFill>
                <a:latin typeface="Consolas" panose="020B0609020204030204" pitchFamily="49" charset="0"/>
              </a:rPr>
              <a:t>Отпечатайте статистиките</a:t>
            </a:r>
          </a:p>
        </p:txBody>
      </p:sp>
    </p:spTree>
    <p:extLst>
      <p:ext uri="{BB962C8B-B14F-4D97-AF65-F5344CB8AC3E}">
        <p14:creationId xmlns:p14="http://schemas.microsoft.com/office/powerpoint/2010/main" val="441686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dirty="0"/>
              <a:t>Използване на вградени функции</a:t>
            </a: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ru-RU" dirty="0"/>
              <a:t>Търсене</a:t>
            </a:r>
            <a:r>
              <a:rPr lang="en-US" dirty="0"/>
              <a:t> </a:t>
            </a:r>
            <a:r>
              <a:rPr lang="bg-BG" dirty="0"/>
              <a:t>на елементи</a:t>
            </a:r>
            <a:r>
              <a:rPr lang="ru-RU" dirty="0"/>
              <a:t> в списък</a:t>
            </a:r>
            <a:endParaRPr lang="en-US" dirty="0"/>
          </a:p>
        </p:txBody>
      </p:sp>
      <p:pic>
        <p:nvPicPr>
          <p:cNvPr id="3080" name="Picture 8" descr="Magnifier PNG, Vector, PSD, and Clipart With Transparent Background for  Free Download | Pngtre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1000" y="1314000"/>
            <a:ext cx="2790000" cy="2790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6182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b="1" dirty="0"/>
              <a:t>Ключовата дума </a:t>
            </a:r>
            <a:r>
              <a:rPr lang="en-US" dirty="0"/>
              <a:t>"</a:t>
            </a:r>
            <a:r>
              <a:rPr lang="en-US" b="1" dirty="0">
                <a:solidFill>
                  <a:schemeClr val="bg1"/>
                </a:solidFill>
              </a:rPr>
              <a:t>in</a:t>
            </a:r>
            <a:r>
              <a:rPr lang="en-US" dirty="0"/>
              <a:t>" </a:t>
            </a:r>
            <a:r>
              <a:rPr lang="bg-BG" dirty="0"/>
              <a:t>се използва, за да се провери дали търсеният</a:t>
            </a:r>
            <a:r>
              <a:rPr lang="bg-BG" b="1" dirty="0"/>
              <a:t> </a:t>
            </a:r>
            <a:r>
              <a:rPr lang="bg-BG" dirty="0"/>
              <a:t>елемент</a:t>
            </a:r>
            <a:r>
              <a:rPr lang="bg-BG" b="1" dirty="0"/>
              <a:t> </a:t>
            </a:r>
            <a:r>
              <a:rPr lang="bg-BG" dirty="0"/>
              <a:t>е в</a:t>
            </a:r>
            <a:r>
              <a:rPr lang="bg-BG" b="1" dirty="0"/>
              <a:t> </a:t>
            </a:r>
            <a:r>
              <a:rPr lang="bg-BG" dirty="0"/>
              <a:t>списъка</a:t>
            </a:r>
          </a:p>
          <a:p>
            <a:endParaRPr lang="bg-BG" dirty="0"/>
          </a:p>
          <a:p>
            <a:endParaRPr lang="bg-BG" dirty="0"/>
          </a:p>
          <a:p>
            <a:r>
              <a:rPr lang="bg-BG" dirty="0"/>
              <a:t>Обикновено </a:t>
            </a:r>
            <a:r>
              <a:rPr lang="en-US" dirty="0"/>
              <a:t>"</a:t>
            </a:r>
            <a:r>
              <a:rPr lang="en-US" b="1" dirty="0">
                <a:solidFill>
                  <a:schemeClr val="bg1"/>
                </a:solidFill>
              </a:rPr>
              <a:t>in</a:t>
            </a:r>
            <a:r>
              <a:rPr lang="en-US" dirty="0"/>
              <a:t>" </a:t>
            </a:r>
            <a:r>
              <a:rPr lang="bg-BG" dirty="0"/>
              <a:t>се използва в </a:t>
            </a:r>
            <a:r>
              <a:rPr lang="en-US" b="1" dirty="0">
                <a:solidFill>
                  <a:schemeClr val="bg1"/>
                </a:solidFill>
              </a:rPr>
              <a:t>if-else</a:t>
            </a:r>
            <a:r>
              <a:rPr lang="en-US" b="1" dirty="0"/>
              <a:t> </a:t>
            </a:r>
            <a:r>
              <a:rPr lang="bg-BG" b="1" dirty="0"/>
              <a:t>конструкция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Ключовата дума </a:t>
            </a:r>
            <a:r>
              <a:rPr lang="en-US" dirty="0"/>
              <a:t>"in"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1000" y="2379165"/>
            <a:ext cx="6480000" cy="1436905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my_list = [1, 2, 3, 4]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if 3 </a:t>
            </a: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in</a:t>
            </a:r>
            <a:r>
              <a:rPr lang="en-US" sz="2400" b="1" dirty="0">
                <a:latin typeface="Consolas" panose="020B0609020204030204" pitchFamily="49" charset="0"/>
              </a:rPr>
              <a:t> my_list: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	print("</a:t>
            </a:r>
            <a:r>
              <a:rPr lang="bg-BG" sz="2400" b="1" dirty="0">
                <a:latin typeface="Consolas" panose="020B0609020204030204" pitchFamily="49" charset="0"/>
              </a:rPr>
              <a:t>Числото 3 е в списъка</a:t>
            </a:r>
            <a:r>
              <a:rPr lang="en-US" sz="2400" b="1" dirty="0">
                <a:latin typeface="Consolas" panose="020B0609020204030204" pitchFamily="49" charset="0"/>
              </a:rPr>
              <a:t>")</a:t>
            </a:r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/>
          <a:lstStyle/>
          <a:p>
            <a:r>
              <a:rPr lang="bg-BG" noProof="0" dirty="0"/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3057564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b="1" dirty="0"/>
              <a:t>Изразът </a:t>
            </a:r>
            <a:r>
              <a:rPr lang="en-US" dirty="0"/>
              <a:t>"</a:t>
            </a:r>
            <a:r>
              <a:rPr lang="en-US" b="1" dirty="0">
                <a:solidFill>
                  <a:schemeClr val="bg1"/>
                </a:solidFill>
              </a:rPr>
              <a:t>not in</a:t>
            </a:r>
            <a:r>
              <a:rPr lang="en-US" dirty="0"/>
              <a:t>" </a:t>
            </a:r>
            <a:r>
              <a:rPr lang="bg-BG" dirty="0"/>
              <a:t>се използва, за да се провери дали търсеният</a:t>
            </a:r>
            <a:r>
              <a:rPr lang="bg-BG" b="1" dirty="0"/>
              <a:t> </a:t>
            </a:r>
            <a:r>
              <a:rPr lang="bg-BG" dirty="0"/>
              <a:t>елемент</a:t>
            </a:r>
            <a:r>
              <a:rPr lang="bg-BG" b="1" dirty="0"/>
              <a:t> НЕ </a:t>
            </a:r>
            <a:r>
              <a:rPr lang="bg-BG" dirty="0"/>
              <a:t>е в</a:t>
            </a:r>
            <a:r>
              <a:rPr lang="bg-BG" b="1" dirty="0"/>
              <a:t> </a:t>
            </a:r>
            <a:r>
              <a:rPr lang="bg-BG" dirty="0"/>
              <a:t>списъка</a:t>
            </a:r>
          </a:p>
          <a:p>
            <a:endParaRPr lang="bg-BG" dirty="0"/>
          </a:p>
          <a:p>
            <a:endParaRPr lang="bg-BG" dirty="0"/>
          </a:p>
          <a:p>
            <a:r>
              <a:rPr lang="bg-BG" dirty="0"/>
              <a:t>Обикновено </a:t>
            </a:r>
            <a:r>
              <a:rPr lang="en-US" dirty="0"/>
              <a:t>"</a:t>
            </a:r>
            <a:r>
              <a:rPr lang="en-US" b="1" dirty="0">
                <a:solidFill>
                  <a:schemeClr val="bg1"/>
                </a:solidFill>
              </a:rPr>
              <a:t>not in</a:t>
            </a:r>
            <a:r>
              <a:rPr lang="en-US" dirty="0"/>
              <a:t>" </a:t>
            </a:r>
            <a:r>
              <a:rPr lang="bg-BG" dirty="0"/>
              <a:t>също се използва в </a:t>
            </a:r>
            <a:r>
              <a:rPr lang="en-US" b="1" dirty="0">
                <a:solidFill>
                  <a:schemeClr val="bg1"/>
                </a:solidFill>
              </a:rPr>
              <a:t>if-else</a:t>
            </a:r>
            <a:r>
              <a:rPr lang="en-US" b="1" dirty="0"/>
              <a:t> </a:t>
            </a:r>
            <a:r>
              <a:rPr lang="bg-BG" b="1" dirty="0"/>
              <a:t>конструкция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Изразът </a:t>
            </a:r>
            <a:r>
              <a:rPr lang="en-US" dirty="0"/>
              <a:t>"not in"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1000" y="2379165"/>
            <a:ext cx="6975000" cy="1436905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my_list = [1, 2, 3, 4]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if </a:t>
            </a:r>
            <a:r>
              <a:rPr lang="bg-BG" sz="2400" b="1" dirty="0">
                <a:latin typeface="Consolas" panose="020B0609020204030204" pitchFamily="49" charset="0"/>
              </a:rPr>
              <a:t>5</a:t>
            </a:r>
            <a:r>
              <a:rPr lang="en-US" sz="2400" b="1" dirty="0"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not in </a:t>
            </a:r>
            <a:r>
              <a:rPr lang="en-US" sz="2400" b="1" dirty="0">
                <a:latin typeface="Consolas" panose="020B0609020204030204" pitchFamily="49" charset="0"/>
              </a:rPr>
              <a:t>my_list: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	print("</a:t>
            </a:r>
            <a:r>
              <a:rPr lang="bg-BG" sz="2400" b="1" dirty="0">
                <a:latin typeface="Consolas" panose="020B0609020204030204" pitchFamily="49" charset="0"/>
              </a:rPr>
              <a:t>Числото </a:t>
            </a:r>
            <a:r>
              <a:rPr lang="en-US" sz="2400" b="1" dirty="0">
                <a:latin typeface="Consolas" panose="020B0609020204030204" pitchFamily="49" charset="0"/>
              </a:rPr>
              <a:t>5</a:t>
            </a:r>
            <a:r>
              <a:rPr lang="bg-BG" sz="2400" b="1" dirty="0">
                <a:latin typeface="Consolas" panose="020B0609020204030204" pitchFamily="49" charset="0"/>
              </a:rPr>
              <a:t> не е в списъка</a:t>
            </a:r>
            <a:r>
              <a:rPr lang="en-US" sz="2400" b="1" dirty="0">
                <a:latin typeface="Consolas" panose="020B0609020204030204" pitchFamily="49" charset="0"/>
              </a:rPr>
              <a:t>")</a:t>
            </a:r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/>
          <a:lstStyle/>
          <a:p>
            <a:r>
              <a:rPr lang="bg-BG" noProof="0" dirty="0"/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2866837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16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Ще получите </a:t>
            </a:r>
            <a:r>
              <a:rPr lang="bg-BG" b="1" dirty="0"/>
              <a:t>цяло число </a:t>
            </a:r>
            <a:r>
              <a:rPr lang="en-US" b="1" dirty="0">
                <a:solidFill>
                  <a:schemeClr val="bg1"/>
                </a:solidFill>
              </a:rPr>
              <a:t>n</a:t>
            </a:r>
            <a:r>
              <a:rPr lang="en-US" b="1" dirty="0"/>
              <a:t> </a:t>
            </a:r>
            <a:r>
              <a:rPr lang="bg-BG" dirty="0"/>
              <a:t>и </a:t>
            </a:r>
            <a:r>
              <a:rPr lang="bg-BG" b="1" dirty="0">
                <a:solidFill>
                  <a:schemeClr val="bg1"/>
                </a:solidFill>
              </a:rPr>
              <a:t>дума</a:t>
            </a:r>
          </a:p>
          <a:p>
            <a:r>
              <a:rPr lang="bg-BG" dirty="0"/>
              <a:t>На следващите </a:t>
            </a:r>
            <a:r>
              <a:rPr lang="en-US" b="1" dirty="0">
                <a:solidFill>
                  <a:schemeClr val="bg1"/>
                </a:solidFill>
              </a:rPr>
              <a:t>n</a:t>
            </a:r>
            <a:r>
              <a:rPr lang="en-US" b="1" dirty="0"/>
              <a:t> </a:t>
            </a:r>
            <a:r>
              <a:rPr lang="bg-BG" dirty="0"/>
              <a:t>на брой </a:t>
            </a:r>
            <a:r>
              <a:rPr lang="bg-BG" b="1" dirty="0"/>
              <a:t>реда </a:t>
            </a:r>
            <a:r>
              <a:rPr lang="bg-BG" dirty="0"/>
              <a:t>ще получавате </a:t>
            </a:r>
            <a:r>
              <a:rPr lang="bg-BG" b="1" dirty="0"/>
              <a:t>текст</a:t>
            </a:r>
            <a:endParaRPr lang="en-US" b="1" dirty="0"/>
          </a:p>
          <a:p>
            <a:r>
              <a:rPr lang="ru-RU" b="1" dirty="0"/>
              <a:t>Добав</a:t>
            </a:r>
            <a:r>
              <a:rPr lang="bg-BG" b="1" dirty="0"/>
              <a:t>яйте</a:t>
            </a:r>
            <a:r>
              <a:rPr lang="bg-BG" dirty="0"/>
              <a:t> го</a:t>
            </a:r>
            <a:r>
              <a:rPr lang="ru-RU" dirty="0"/>
              <a:t> в списък и ги </a:t>
            </a:r>
            <a:r>
              <a:rPr lang="ru-RU" b="1" dirty="0"/>
              <a:t>отпечатайте</a:t>
            </a:r>
            <a:endParaRPr lang="en-US" b="1" dirty="0"/>
          </a:p>
          <a:p>
            <a:r>
              <a:rPr lang="ru-RU" dirty="0"/>
              <a:t>След това </a:t>
            </a:r>
            <a:r>
              <a:rPr lang="ru-RU" b="1" dirty="0">
                <a:solidFill>
                  <a:schemeClr val="bg1"/>
                </a:solidFill>
              </a:rPr>
              <a:t>филтрирайте</a:t>
            </a:r>
            <a:r>
              <a:rPr lang="ru-RU" dirty="0"/>
              <a:t> само </a:t>
            </a:r>
            <a:r>
              <a:rPr lang="bg-BG" b="1" dirty="0"/>
              <a:t>елементите</a:t>
            </a:r>
            <a:r>
              <a:rPr lang="bg-BG" dirty="0"/>
              <a:t> от </a:t>
            </a:r>
            <a:r>
              <a:rPr lang="bg-BG" b="1" dirty="0"/>
              <a:t>списъка</a:t>
            </a:r>
            <a:r>
              <a:rPr lang="ru-RU" dirty="0"/>
              <a:t>, които </a:t>
            </a:r>
            <a:r>
              <a:rPr lang="ru-RU" b="1" dirty="0"/>
              <a:t>съдържат</a:t>
            </a:r>
            <a:r>
              <a:rPr lang="ru-RU" dirty="0"/>
              <a:t> дадената </a:t>
            </a:r>
            <a:r>
              <a:rPr lang="ru-RU" b="1" dirty="0"/>
              <a:t>дума</a:t>
            </a:r>
            <a:r>
              <a:rPr lang="en-US" b="1" dirty="0"/>
              <a:t> </a:t>
            </a:r>
            <a:r>
              <a:rPr lang="bg-BG" dirty="0"/>
              <a:t>и принтирайте списъка отново</a:t>
            </a:r>
            <a:endParaRPr lang="en-US" b="1" dirty="0"/>
          </a:p>
          <a:p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Търсене – условие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7365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17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Търсене – решение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393500" y="1224000"/>
            <a:ext cx="9405000" cy="5477178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n = int(input())</a:t>
            </a:r>
            <a:endParaRPr lang="bg-BG" sz="2400" b="1" dirty="0">
              <a:latin typeface="Consolas" panose="020B0609020204030204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word = input()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bg-BG" sz="2400" b="1" dirty="0">
              <a:latin typeface="Consolas" panose="020B0609020204030204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strings = []</a:t>
            </a:r>
            <a:endParaRPr lang="bg-BG" sz="2400" b="1" dirty="0">
              <a:latin typeface="Consolas" panose="020B0609020204030204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for i in range(n): </a:t>
            </a:r>
            <a:endParaRPr lang="bg-BG" sz="2400" b="1" dirty="0">
              <a:latin typeface="Consolas" panose="020B0609020204030204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400" b="1" dirty="0">
                <a:latin typeface="Consolas" panose="020B0609020204030204" pitchFamily="49" charset="0"/>
              </a:rPr>
              <a:t>	</a:t>
            </a:r>
            <a:r>
              <a:rPr lang="en-US" sz="2400" b="1" dirty="0">
                <a:latin typeface="Consolas" panose="020B0609020204030204" pitchFamily="49" charset="0"/>
              </a:rPr>
              <a:t>current_string = input() </a:t>
            </a:r>
            <a:endParaRPr lang="bg-BG" sz="2400" b="1" dirty="0">
              <a:latin typeface="Consolas" panose="020B0609020204030204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400" b="1" dirty="0">
                <a:latin typeface="Consolas" panose="020B0609020204030204" pitchFamily="49" charset="0"/>
              </a:rPr>
              <a:t>	</a:t>
            </a:r>
            <a:r>
              <a:rPr lang="en-US" sz="2400" b="1" dirty="0">
                <a:latin typeface="Consolas" panose="020B0609020204030204" pitchFamily="49" charset="0"/>
              </a:rPr>
              <a:t>strings.append(current_string) </a:t>
            </a:r>
            <a:endParaRPr lang="bg-BG" sz="2400" b="1" dirty="0">
              <a:latin typeface="Consolas" panose="020B0609020204030204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print(strings) </a:t>
            </a:r>
            <a:endParaRPr lang="bg-BG" sz="2400" b="1" dirty="0">
              <a:latin typeface="Consolas" panose="020B0609020204030204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bg-BG" sz="2400" b="1" dirty="0">
              <a:latin typeface="Consolas" panose="020B0609020204030204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for i in range(len(strings) - 1, -1, -1): </a:t>
            </a:r>
            <a:endParaRPr lang="bg-BG" sz="2400" b="1" dirty="0">
              <a:latin typeface="Consolas" panose="020B0609020204030204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400" b="1" dirty="0">
                <a:latin typeface="Consolas" panose="020B0609020204030204" pitchFamily="49" charset="0"/>
              </a:rPr>
              <a:t>	</a:t>
            </a:r>
            <a:r>
              <a:rPr lang="en-US" sz="2400" b="1" dirty="0">
                <a:latin typeface="Consolas" panose="020B0609020204030204" pitchFamily="49" charset="0"/>
              </a:rPr>
              <a:t>if word not in strings[i]:</a:t>
            </a:r>
            <a:endParaRPr lang="bg-BG" sz="2400" b="1" dirty="0">
              <a:latin typeface="Consolas" panose="020B0609020204030204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400" b="1" dirty="0">
                <a:latin typeface="Consolas" panose="020B0609020204030204" pitchFamily="49" charset="0"/>
              </a:rPr>
              <a:t>		</a:t>
            </a:r>
            <a:r>
              <a:rPr lang="en-US" sz="2400" b="1" dirty="0">
                <a:latin typeface="Consolas" panose="020B0609020204030204" pitchFamily="49" charset="0"/>
              </a:rPr>
              <a:t>strings.remove(strings[i])</a:t>
            </a:r>
            <a:endParaRPr lang="bg-BG" sz="2400" b="1" dirty="0">
              <a:latin typeface="Consolas" panose="020B0609020204030204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print(strings)</a:t>
            </a:r>
            <a:endParaRPr lang="bg-BG" sz="2400" b="1" i="1" dirty="0">
              <a:solidFill>
                <a:schemeClr val="accent2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6950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E49D336-45B6-44D3-97C4-E28F8DEA20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69725" y="1577986"/>
            <a:ext cx="7581212" cy="4772369"/>
          </a:xfrm>
        </p:spPr>
        <p:txBody>
          <a:bodyPr/>
          <a:lstStyle>
            <a:lvl1pPr marL="514350" indent="-51435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1pPr>
            <a:lvl2pPr marL="112393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1733520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3pPr>
            <a:lvl4pPr marL="234310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4pPr>
            <a:lvl5pPr marL="2952689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…</a:t>
            </a:r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Какво научихме днес?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3"/>
          </p:nvPr>
        </p:nvSpPr>
        <p:spPr>
          <a:xfrm>
            <a:off x="11566412" y="6397196"/>
            <a:ext cx="428822" cy="30884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/>
              <a:pPr/>
              <a:t>18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BAFE522-EB7D-4931-A015-9A7E8A98517D}"/>
              </a:ext>
            </a:extLst>
          </p:cNvPr>
          <p:cNvGrpSpPr/>
          <p:nvPr/>
        </p:nvGrpSpPr>
        <p:grpSpPr>
          <a:xfrm>
            <a:off x="196766" y="1314000"/>
            <a:ext cx="11798468" cy="5300339"/>
            <a:chOff x="472011" y="1508786"/>
            <a:chExt cx="3799787" cy="4865561"/>
          </a:xfrm>
        </p:grpSpPr>
        <p:sp>
          <p:nvSpPr>
            <p:cNvPr id="10" name="Rounded Rectangle 10">
              <a:extLst>
                <a:ext uri="{FF2B5EF4-FFF2-40B4-BE49-F238E27FC236}">
                  <a16:creationId xmlns:a16="http://schemas.microsoft.com/office/drawing/2014/main" id="{18F78F23-3D09-4B63-8DF9-D49CFBB145EE}"/>
                </a:ext>
              </a:extLst>
            </p:cNvPr>
            <p:cNvSpPr/>
            <p:nvPr userDrawn="1"/>
          </p:nvSpPr>
          <p:spPr>
            <a:xfrm>
              <a:off x="472011" y="1508786"/>
              <a:ext cx="3799787" cy="4865561"/>
            </a:xfrm>
            <a:prstGeom prst="roundRect">
              <a:avLst>
                <a:gd name="adj" fmla="val 396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 dirty="0"/>
            </a:p>
          </p:txBody>
        </p:sp>
        <p:sp>
          <p:nvSpPr>
            <p:cNvPr id="11" name="Rounded Rectangle 16">
              <a:extLst>
                <a:ext uri="{FF2B5EF4-FFF2-40B4-BE49-F238E27FC236}">
                  <a16:creationId xmlns:a16="http://schemas.microsoft.com/office/drawing/2014/main" id="{F12C06CE-2BBE-46C2-B718-813794C58DF9}"/>
                </a:ext>
              </a:extLst>
            </p:cNvPr>
            <p:cNvSpPr/>
            <p:nvPr userDrawn="1"/>
          </p:nvSpPr>
          <p:spPr>
            <a:xfrm>
              <a:off x="540767" y="1781251"/>
              <a:ext cx="85794" cy="4320631"/>
            </a:xfrm>
            <a:prstGeom prst="roundRect">
              <a:avLst>
                <a:gd name="adj" fmla="val 50000"/>
              </a:avLst>
            </a:prstGeom>
            <a:solidFill>
              <a:schemeClr val="bg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>
                <a:solidFill>
                  <a:schemeClr val="bg1"/>
                </a:solidFill>
              </a:endParaRPr>
            </a:p>
          </p:txBody>
        </p:sp>
        <p:sp>
          <p:nvSpPr>
            <p:cNvPr id="12" name="Half Frame 11">
              <a:extLst>
                <a:ext uri="{FF2B5EF4-FFF2-40B4-BE49-F238E27FC236}">
                  <a16:creationId xmlns:a16="http://schemas.microsoft.com/office/drawing/2014/main" id="{66CDBB1E-AF3C-43FC-9F34-2DD691F81726}"/>
                </a:ext>
              </a:extLst>
            </p:cNvPr>
            <p:cNvSpPr/>
            <p:nvPr userDrawn="1"/>
          </p:nvSpPr>
          <p:spPr>
            <a:xfrm rot="5400000">
              <a:off x="3762569" y="1912372"/>
              <a:ext cx="669775" cy="238503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2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>
                <a:solidFill>
                  <a:schemeClr val="tx1"/>
                </a:solidFill>
              </a:endParaRPr>
            </a:p>
          </p:txBody>
        </p:sp>
      </p:grp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B96A0DF8-27E7-4DC8-BBE3-7238AAAEB845}"/>
              </a:ext>
            </a:extLst>
          </p:cNvPr>
          <p:cNvSpPr txBox="1">
            <a:spLocks/>
          </p:cNvSpPr>
          <p:nvPr/>
        </p:nvSpPr>
        <p:spPr>
          <a:xfrm>
            <a:off x="668236" y="1610812"/>
            <a:ext cx="11113508" cy="4894130"/>
          </a:xfrm>
          <a:prstGeom prst="rect">
            <a:avLst/>
          </a:prstGeom>
        </p:spPr>
        <p:txBody>
          <a:bodyPr vert="horz" lIns="108000" tIns="36000" rIns="108000" bIns="36000" rtlCol="0">
            <a:noAutofit/>
          </a:bodyPr>
          <a:lstStyle>
            <a:lvl1pPr marL="456915" indent="-456915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9981" indent="-380762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6565" indent="-456565">
              <a:lnSpc>
                <a:spcPct val="100000"/>
              </a:lnSpc>
            </a:pPr>
            <a:r>
              <a:rPr lang="bg-BG" sz="3200" b="1" dirty="0">
                <a:solidFill>
                  <a:schemeClr val="bg2"/>
                </a:solidFill>
              </a:rPr>
              <a:t>Добавяне</a:t>
            </a:r>
            <a:r>
              <a:rPr lang="bg-BG" sz="3200" dirty="0">
                <a:solidFill>
                  <a:schemeClr val="bg2"/>
                </a:solidFill>
              </a:rPr>
              <a:t> и </a:t>
            </a:r>
            <a:r>
              <a:rPr lang="bg-BG" sz="3200" b="1" dirty="0">
                <a:solidFill>
                  <a:schemeClr val="bg2"/>
                </a:solidFill>
              </a:rPr>
              <a:t>премахване</a:t>
            </a:r>
            <a:r>
              <a:rPr lang="bg-BG" sz="3200" dirty="0">
                <a:solidFill>
                  <a:schemeClr val="bg2"/>
                </a:solidFill>
              </a:rPr>
              <a:t> на </a:t>
            </a:r>
            <a:r>
              <a:rPr lang="bg-BG" sz="3200" b="1" dirty="0">
                <a:solidFill>
                  <a:schemeClr val="bg2"/>
                </a:solidFill>
              </a:rPr>
              <a:t>елементи</a:t>
            </a:r>
            <a:r>
              <a:rPr lang="bg-BG" sz="3200" dirty="0">
                <a:solidFill>
                  <a:schemeClr val="bg2"/>
                </a:solidFill>
              </a:rPr>
              <a:t> от </a:t>
            </a:r>
            <a:r>
              <a:rPr lang="bg-BG" sz="3200" b="1" dirty="0">
                <a:solidFill>
                  <a:schemeClr val="bg2"/>
                </a:solidFill>
              </a:rPr>
              <a:t>списък</a:t>
            </a:r>
          </a:p>
          <a:p>
            <a:pPr marL="989631" lvl="1" indent="-456565">
              <a:lnSpc>
                <a:spcPct val="100000"/>
              </a:lnSpc>
            </a:pPr>
            <a:r>
              <a:rPr lang="en-US" sz="2800" dirty="0">
                <a:solidFill>
                  <a:schemeClr val="bg2"/>
                </a:solidFill>
              </a:rPr>
              <a:t>͏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append()</a:t>
            </a:r>
          </a:p>
          <a:p>
            <a:pPr marL="989631" lvl="1" indent="-456565">
              <a:lnSpc>
                <a:spcPct val="100000"/>
              </a:lnSpc>
            </a:pPr>
            <a:r>
              <a:rPr lang="en-US" sz="2800" dirty="0">
                <a:solidFill>
                  <a:schemeClr val="bg2"/>
                </a:solidFill>
              </a:rPr>
              <a:t>͏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remove()</a:t>
            </a:r>
          </a:p>
          <a:p>
            <a:pPr marL="456565" indent="-456565">
              <a:lnSpc>
                <a:spcPct val="100000"/>
              </a:lnSpc>
            </a:pPr>
            <a:r>
              <a:rPr lang="bg-BG" sz="3200" b="1" dirty="0">
                <a:solidFill>
                  <a:schemeClr val="bg2"/>
                </a:solidFill>
              </a:rPr>
              <a:t>Итерация</a:t>
            </a:r>
            <a:r>
              <a:rPr lang="bg-BG" sz="3200" dirty="0">
                <a:solidFill>
                  <a:schemeClr val="bg2"/>
                </a:solidFill>
              </a:rPr>
              <a:t> на </a:t>
            </a:r>
            <a:r>
              <a:rPr lang="bg-BG" sz="3200" b="1" dirty="0">
                <a:solidFill>
                  <a:schemeClr val="bg2"/>
                </a:solidFill>
              </a:rPr>
              <a:t>списък</a:t>
            </a:r>
            <a:r>
              <a:rPr lang="bg-BG" sz="3200" dirty="0">
                <a:solidFill>
                  <a:schemeClr val="bg2"/>
                </a:solidFill>
              </a:rPr>
              <a:t> и </a:t>
            </a:r>
            <a:r>
              <a:rPr lang="bg-BG" sz="3200" b="1" dirty="0">
                <a:solidFill>
                  <a:schemeClr val="bg2"/>
                </a:solidFill>
              </a:rPr>
              <a:t>достъпване</a:t>
            </a:r>
            <a:r>
              <a:rPr lang="bg-BG" sz="3200" dirty="0">
                <a:solidFill>
                  <a:schemeClr val="bg2"/>
                </a:solidFill>
              </a:rPr>
              <a:t> на неговите </a:t>
            </a:r>
            <a:r>
              <a:rPr lang="bg-BG" sz="3200" b="1" dirty="0">
                <a:solidFill>
                  <a:schemeClr val="bg2"/>
                </a:solidFill>
              </a:rPr>
              <a:t>елементи</a:t>
            </a:r>
            <a:endParaRPr lang="ru-RU" sz="3200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8394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FA0703FC-0F8F-4C80-A615-E4B381EC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Въпроси</a:t>
            </a:r>
            <a:r>
              <a:rPr lang="en-US" dirty="0"/>
              <a:t>?</a:t>
            </a:r>
          </a:p>
        </p:txBody>
      </p:sp>
      <p:sp>
        <p:nvSpPr>
          <p:cNvPr id="2" name="Rectangle Bottom Copyright">
            <a:extLst>
              <a:ext uri="{FF2B5EF4-FFF2-40B4-BE49-F238E27FC236}">
                <a16:creationId xmlns:a16="http://schemas.microsoft.com/office/drawing/2014/main" id="{664812A4-2991-44D1-BFE9-32E55AADF8A5}"/>
              </a:ext>
            </a:extLst>
          </p:cNvPr>
          <p:cNvSpPr/>
          <p:nvPr/>
        </p:nvSpPr>
        <p:spPr>
          <a:xfrm>
            <a:off x="111000" y="6454758"/>
            <a:ext cx="11970000" cy="3042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Проект "</a:t>
            </a:r>
            <a:r>
              <a:rPr lang="bg-BG" sz="1600" dirty="0">
                <a:solidFill>
                  <a:schemeClr val="bg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Отворено учебно съдържание по програмиране и ИТ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", СофтУни Фондация (лиценз </a:t>
            </a:r>
            <a:r>
              <a:rPr lang="en-US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CC-BY-NC-SA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bg-BG" sz="240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534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48C3C93-90A1-4D31-BEA6-B54D1106CE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2" name="Slide Body">
            <a:extLst>
              <a:ext uri="{FF2B5EF4-FFF2-40B4-BE49-F238E27FC236}">
                <a16:creationId xmlns:a16="http://schemas.microsoft.com/office/drawing/2014/main" id="{980F49B1-E4BE-4389-A747-7AB9B71AD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269001"/>
            <a:ext cx="9865598" cy="2474999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bg-BG" sz="3200" dirty="0"/>
              <a:t>Този курс</a:t>
            </a:r>
            <a:r>
              <a:rPr lang="en-US" sz="3200" dirty="0"/>
              <a:t> (</a:t>
            </a:r>
            <a:r>
              <a:rPr lang="bg-BG" sz="3200" dirty="0"/>
              <a:t>презентации, примери, демонстрационен код, упражнения, домашни, видео и други активи</a:t>
            </a:r>
            <a:r>
              <a:rPr lang="en-US" sz="3200" dirty="0"/>
              <a:t>) </a:t>
            </a:r>
            <a:r>
              <a:rPr lang="bg-BG" sz="3200" dirty="0"/>
              <a:t>представлява</a:t>
            </a:r>
            <a:r>
              <a:rPr lang="en-US" sz="3200" dirty="0"/>
              <a:t> </a:t>
            </a:r>
            <a:r>
              <a:rPr lang="bg-BG" sz="3200" b="1" dirty="0"/>
              <a:t>свободно учебно съдържание </a:t>
            </a:r>
            <a:r>
              <a:rPr lang="bg-BG" sz="3200" dirty="0"/>
              <a:t>и се разпространява под свободен лиценз </a:t>
            </a:r>
            <a:r>
              <a:rPr lang="en-US" sz="3200" b="1" dirty="0"/>
              <a:t>CC-BY-NC-SA</a:t>
            </a:r>
            <a:endParaRPr lang="bg-BG" sz="3200" dirty="0"/>
          </a:p>
        </p:txBody>
      </p:sp>
      <p:pic>
        <p:nvPicPr>
          <p:cNvPr id="6" name="Picture License" descr="License">
            <a:extLst>
              <a:ext uri="{FF2B5EF4-FFF2-40B4-BE49-F238E27FC236}">
                <a16:creationId xmlns:a16="http://schemas.microsoft.com/office/drawing/2014/main" id="{82BA520F-A037-4E01-AA18-27D9F1E930A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26175" y="1440120"/>
            <a:ext cx="1198986" cy="1268880"/>
          </a:xfrm>
          <a:prstGeom prst="rect">
            <a:avLst/>
          </a:prstGeom>
        </p:spPr>
      </p:pic>
      <p:sp>
        <p:nvSpPr>
          <p:cNvPr id="3" name="Slide Title">
            <a:extLst>
              <a:ext uri="{FF2B5EF4-FFF2-40B4-BE49-F238E27FC236}">
                <a16:creationId xmlns:a16="http://schemas.microsoft.com/office/drawing/2014/main" id="{E5F1FB41-80C3-4816-BC47-CCC50632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Лиценз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18DF19-B750-4C88-975B-661A6BF61F5E}"/>
              </a:ext>
            </a:extLst>
          </p:cNvPr>
          <p:cNvSpPr txBox="1"/>
          <p:nvPr/>
        </p:nvSpPr>
        <p:spPr>
          <a:xfrm>
            <a:off x="190401" y="3927519"/>
            <a:ext cx="11710599" cy="1979644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marL="360363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bg-BG" sz="3200" dirty="0"/>
              <a:t>Проект "</a:t>
            </a:r>
            <a:r>
              <a:rPr lang="bg-BG" sz="3200" b="1" dirty="0"/>
              <a:t>Отворено учебно съдържание по програмиране и ИТ</a:t>
            </a:r>
            <a:r>
              <a:rPr lang="bg-BG" sz="3200" dirty="0"/>
              <a:t>" към Фондация "Софтуерен университет"</a:t>
            </a:r>
            <a:r>
              <a:rPr lang="en-US" sz="3200" dirty="0"/>
              <a:t>:</a:t>
            </a:r>
            <a:endParaRPr lang="bg-BG" sz="3200" dirty="0"/>
          </a:p>
          <a:p>
            <a:pPr marL="817563" lvl="1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/>
              </a:rPr>
              <a:t>https://github.com/BG-IT-Edu</a:t>
            </a:r>
            <a:endParaRPr kumimoji="0" lang="bg-BG" sz="3200" b="0" i="0" u="none" strike="noStrike" kern="1200" cap="none" spc="0" normalizeH="0" baseline="0" noProof="0" dirty="0">
              <a:ln>
                <a:noFill/>
              </a:ln>
              <a:solidFill>
                <a:srgbClr val="234465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title="CC-BY-NC-SA License">
            <a:hlinkClick r:id="rId5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F6C77C47-F7D8-A176-5C69-7FDE5C7E80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31000" y="2908593"/>
            <a:ext cx="1989336" cy="696022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9276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theme/theme1.xml><?xml version="1.0" encoding="utf-8"?>
<a:theme xmlns:a="http://schemas.openxmlformats.org/drawingml/2006/main" name="SoftUni">
  <a:themeElements>
    <a:clrScheme name="Custom 2">
      <a:dk1>
        <a:srgbClr val="234465"/>
      </a:dk1>
      <a:lt1>
        <a:srgbClr val="BF78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BF7800"/>
      </a:hlink>
      <a:folHlink>
        <a:srgbClr val="EF9511"/>
      </a:folHlink>
    </a:clrScheme>
    <a:fontScheme name="SoftUn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6035</TotalTime>
  <Words>1097</Words>
  <Application>Microsoft Office PowerPoint</Application>
  <PresentationFormat>Widescreen</PresentationFormat>
  <Paragraphs>165</Paragraphs>
  <Slides>20</Slides>
  <Notes>6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Consolas</vt:lpstr>
      <vt:lpstr>Wingdings</vt:lpstr>
      <vt:lpstr>SoftUni</vt:lpstr>
      <vt:lpstr>Списъци</vt:lpstr>
      <vt:lpstr>Съдържание</vt:lpstr>
      <vt:lpstr>Обработка на списъци</vt:lpstr>
      <vt:lpstr>Добавяне на елемент към списък</vt:lpstr>
      <vt:lpstr>Изтриване на елемент от списък</vt:lpstr>
      <vt:lpstr>Курсове – условие</vt:lpstr>
      <vt:lpstr>Курсове – решение</vt:lpstr>
      <vt:lpstr>Преминаване през списъци с цикли</vt:lpstr>
      <vt:lpstr>Използване на for цикъл</vt:lpstr>
      <vt:lpstr>Използване на while цикъл</vt:lpstr>
      <vt:lpstr>Статисика – условие</vt:lpstr>
      <vt:lpstr>Статистика – решение</vt:lpstr>
      <vt:lpstr>Търсене на елементи в списък</vt:lpstr>
      <vt:lpstr>Ключовата дума "in"</vt:lpstr>
      <vt:lpstr>Изразът "not in"</vt:lpstr>
      <vt:lpstr>Търсене – условие</vt:lpstr>
      <vt:lpstr>Търсене – решение</vt:lpstr>
      <vt:lpstr>Какво научихме днес?</vt:lpstr>
      <vt:lpstr>Въпроси?</vt:lpstr>
      <vt:lpstr>Лиценз</vt:lpstr>
    </vt:vector>
  </TitlesOfParts>
  <Company>BG-IT-Edu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Обработка на списъци</dc:title>
  <dc:subject>КМИТ - 6 клас</dc:subject>
  <dc:creator>BG-IT-Edu</dc:creator>
  <cp:keywords>programming; training; course</cp:keywords>
  <dc:description>Open Programming and IT Courseware for IT Teachers (BG-IT-Edu): https://github.com/BG-IT-Edu
With the kind support of SoftUni: https://softuni.bg</dc:description>
  <cp:lastModifiedBy>Zaraliev</cp:lastModifiedBy>
  <cp:revision>1941</cp:revision>
  <dcterms:created xsi:type="dcterms:W3CDTF">2018-05-23T13:08:44Z</dcterms:created>
  <dcterms:modified xsi:type="dcterms:W3CDTF">2026-09-25T09:07:02Z</dcterms:modified>
  <cp:category/>
</cp:coreProperties>
</file>