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2"/>
  </p:notesMasterIdLst>
  <p:handoutMasterIdLst>
    <p:handoutMasterId r:id="rId23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98" r:id="rId15"/>
    <p:sldId id="599" r:id="rId16"/>
    <p:sldId id="600" r:id="rId17"/>
    <p:sldId id="601" r:id="rId18"/>
    <p:sldId id="586" r:id="rId19"/>
    <p:sldId id="504" r:id="rId20"/>
    <p:sldId id="50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Списъци" id="{5B5C68D3-9797-4C6B-9F3E-DB7F84392B7E}">
          <p14:sldIdLst>
            <p14:sldId id="587"/>
            <p14:sldId id="588"/>
            <p14:sldId id="589"/>
          </p14:sldIdLst>
        </p14:section>
        <p14:section name="Съхранение на данни" id="{F5F73B1C-CB74-434A-9991-694F1C1A060D}">
          <p14:sldIdLst>
            <p14:sldId id="590"/>
            <p14:sldId id="591"/>
            <p14:sldId id="592"/>
          </p14:sldIdLst>
        </p14:section>
        <p14:section name="Създаване на списък" id="{89F4B817-2555-4BBE-974A-1A67F8BCF701}">
          <p14:sldIdLst>
            <p14:sldId id="593"/>
            <p14:sldId id="594"/>
            <p14:sldId id="595"/>
            <p14:sldId id="596"/>
          </p14:sldIdLst>
        </p14:section>
        <p14:section name="Достъпване на елементи" id="{3E341BCA-C6C3-4363-9300-60DC1D746F4E}">
          <p14:sldIdLst>
            <p14:sldId id="597"/>
            <p14:sldId id="598"/>
            <p14:sldId id="599"/>
            <p14:sldId id="600"/>
            <p14:sldId id="601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0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0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 dirty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554746" y="1449000"/>
            <a:ext cx="11083636" cy="918803"/>
          </a:xfrm>
        </p:spPr>
        <p:txBody>
          <a:bodyPr>
            <a:normAutofit/>
          </a:bodyPr>
          <a:lstStyle/>
          <a:p>
            <a:r>
              <a:rPr lang="bg-BG" dirty="0"/>
              <a:t>Основни действия и ползи от списъци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05" y="321501"/>
            <a:ext cx="10691191" cy="947499"/>
          </a:xfrm>
        </p:spPr>
        <p:txBody>
          <a:bodyPr>
            <a:normAutofit/>
          </a:bodyPr>
          <a:lstStyle/>
          <a:p>
            <a:r>
              <a:rPr lang="bg-BG" dirty="0"/>
              <a:t>Списъци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1026" name="Picture 2" descr="Why We Continue to Rely on (and Love) To-Do Lists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8" t="10671" r="398" b="7011"/>
          <a:stretch/>
        </p:blipFill>
        <p:spPr bwMode="auto">
          <a:xfrm>
            <a:off x="6390123" y="3159000"/>
            <a:ext cx="5248260" cy="243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90"/>
    </mc:Choice>
    <mc:Fallback xmlns="">
      <p:transition spd="slow" advClick="0" advTm="8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>
            <a:normAutofit/>
          </a:bodyPr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Списъци</a:t>
            </a:r>
          </a:p>
          <a:p>
            <a:r>
              <a:rPr lang="bg-BG" dirty="0"/>
              <a:t>͏</a:t>
            </a:r>
            <a:r>
              <a:rPr lang="bg-BG" b="1" dirty="0"/>
              <a:t>Съхранение</a:t>
            </a:r>
            <a:r>
              <a:rPr lang="bg-BG" dirty="0"/>
              <a:t> на </a:t>
            </a:r>
            <a:r>
              <a:rPr lang="bg-BG" b="1" dirty="0"/>
              <a:t>данни</a:t>
            </a:r>
          </a:p>
          <a:p>
            <a:r>
              <a:rPr lang="bg-BG" dirty="0"/>
              <a:t>͏</a:t>
            </a:r>
            <a:r>
              <a:rPr lang="bg-BG" b="1" dirty="0"/>
              <a:t>Създаване</a:t>
            </a:r>
            <a:r>
              <a:rPr lang="bg-BG" dirty="0"/>
              <a:t> на списък</a:t>
            </a:r>
          </a:p>
          <a:p>
            <a:r>
              <a:rPr lang="bg-BG" dirty="0"/>
              <a:t>͏</a:t>
            </a:r>
            <a:r>
              <a:rPr lang="bg-BG" b="1" dirty="0"/>
              <a:t>Достъпване</a:t>
            </a:r>
            <a:r>
              <a:rPr lang="bg-BG" dirty="0"/>
              <a:t> на </a:t>
            </a:r>
            <a:r>
              <a:rPr lang="bg-BG" b="1" dirty="0"/>
              <a:t>елементи</a:t>
            </a:r>
            <a:endParaRPr lang="bg-BG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ru-RU" dirty="0"/>
              <a:t>Определение и употреба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Списъци</a:t>
            </a:r>
            <a:endParaRPr lang="en-US" dirty="0"/>
          </a:p>
        </p:txBody>
      </p:sp>
      <p:pic>
        <p:nvPicPr>
          <p:cNvPr id="2050" name="Picture 2" descr="1,000+ Free List &amp; Checklist Images - Pixab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000" y="1269000"/>
            <a:ext cx="1807989" cy="263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6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Списък</a:t>
            </a:r>
            <a:r>
              <a:rPr lang="bg-BG" dirty="0"/>
              <a:t> – </a:t>
            </a:r>
            <a:r>
              <a:rPr lang="ru-RU" b="1" dirty="0"/>
              <a:t>колекция</a:t>
            </a:r>
            <a:r>
              <a:rPr lang="ru-RU" dirty="0"/>
              <a:t> от </a:t>
            </a:r>
            <a:r>
              <a:rPr lang="ru-RU" b="1" dirty="0"/>
              <a:t>данни</a:t>
            </a:r>
            <a:r>
              <a:rPr lang="ru-RU" dirty="0"/>
              <a:t>, която поддържа </a:t>
            </a:r>
            <a:r>
              <a:rPr lang="ru-RU" b="1" dirty="0"/>
              <a:t>индекси</a:t>
            </a:r>
          </a:p>
          <a:p>
            <a:pPr lvl="1"/>
            <a:r>
              <a:rPr lang="ru-RU" dirty="0"/>
              <a:t>Тази колекция е </a:t>
            </a:r>
            <a:r>
              <a:rPr lang="ru-RU" b="1" dirty="0"/>
              <a:t>изменяема</a:t>
            </a:r>
            <a:r>
              <a:rPr lang="ru-RU" dirty="0"/>
              <a:t> (може да се </a:t>
            </a:r>
            <a:r>
              <a:rPr lang="ru-RU" b="1" dirty="0"/>
              <a:t>променя</a:t>
            </a:r>
            <a:r>
              <a:rPr lang="ru-RU" dirty="0"/>
              <a:t>)</a:t>
            </a:r>
          </a:p>
          <a:p>
            <a:r>
              <a:rPr lang="bg-BG" dirty="0"/>
              <a:t>Позволява </a:t>
            </a:r>
            <a:r>
              <a:rPr lang="bg-BG" b="1" dirty="0"/>
              <a:t>дублиране</a:t>
            </a:r>
            <a:r>
              <a:rPr lang="bg-BG" dirty="0"/>
              <a:t> на елементи</a:t>
            </a:r>
          </a:p>
          <a:p>
            <a:r>
              <a:rPr lang="ru-RU" dirty="0"/>
              <a:t>В Python списъците се записват с квадратни скоби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списък?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316000" y="4599000"/>
            <a:ext cx="7785000" cy="62437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list_example =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400" b="1" dirty="0">
                <a:latin typeface="Consolas" panose="020B0609020204030204" pitchFamily="49" charset="0"/>
              </a:rPr>
              <a:t>"apple", "banana", "cherry"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446000" y="5454000"/>
            <a:ext cx="3260383" cy="585000"/>
          </a:xfrm>
          <a:prstGeom prst="wedgeRoundRectCallout">
            <a:avLst>
              <a:gd name="adj1" fmla="val -47006"/>
              <a:gd name="adj2" fmla="val -10680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 от списък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054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Списъците са много полезни за съхранение на </a:t>
            </a:r>
            <a:r>
              <a:rPr lang="ru-RU" b="1" dirty="0">
                <a:solidFill>
                  <a:schemeClr val="bg1"/>
                </a:solidFill>
              </a:rPr>
              <a:t>множество елементи</a:t>
            </a:r>
          </a:p>
          <a:p>
            <a:r>
              <a:rPr lang="ru-RU" dirty="0"/>
              <a:t>Те могат да се </a:t>
            </a:r>
            <a:r>
              <a:rPr lang="ru-RU" b="1" dirty="0">
                <a:solidFill>
                  <a:schemeClr val="bg1"/>
                </a:solidFill>
              </a:rPr>
              <a:t>разширяват</a:t>
            </a:r>
            <a:r>
              <a:rPr lang="ru-RU" dirty="0"/>
              <a:t> и </a:t>
            </a:r>
            <a:r>
              <a:rPr lang="ru-RU" b="1" dirty="0">
                <a:solidFill>
                  <a:schemeClr val="bg1"/>
                </a:solidFill>
              </a:rPr>
              <a:t>свиват</a:t>
            </a:r>
          </a:p>
          <a:p>
            <a:r>
              <a:rPr lang="ru-RU" dirty="0"/>
              <a:t>В </a:t>
            </a:r>
            <a:r>
              <a:rPr lang="ru-RU" b="1" dirty="0"/>
              <a:t>Python</a:t>
            </a:r>
            <a:r>
              <a:rPr lang="ru-RU" dirty="0"/>
              <a:t> един списък може да съхранява </a:t>
            </a:r>
            <a:r>
              <a:rPr lang="ru-RU" b="1" dirty="0"/>
              <a:t>елементи</a:t>
            </a:r>
            <a:r>
              <a:rPr lang="ru-RU" dirty="0"/>
              <a:t> с </a:t>
            </a:r>
            <a:r>
              <a:rPr lang="ru-RU" b="1" dirty="0">
                <a:solidFill>
                  <a:schemeClr val="bg1"/>
                </a:solidFill>
              </a:rPr>
              <a:t>различни типове данни</a:t>
            </a:r>
          </a:p>
          <a:p>
            <a:r>
              <a:rPr lang="ru-RU" dirty="0"/>
              <a:t>Списъците са </a:t>
            </a:r>
            <a:r>
              <a:rPr lang="ru-RU" b="1" dirty="0"/>
              <a:t>основата</a:t>
            </a:r>
            <a:r>
              <a:rPr lang="ru-RU" dirty="0"/>
              <a:t> за други </a:t>
            </a:r>
            <a:r>
              <a:rPr lang="ru-RU" b="1" dirty="0"/>
              <a:t>абстрактни типове данни</a:t>
            </a:r>
            <a:r>
              <a:rPr lang="ru-RU" dirty="0"/>
              <a:t> като </a:t>
            </a:r>
            <a:r>
              <a:rPr lang="ru-RU" b="1" dirty="0">
                <a:solidFill>
                  <a:schemeClr val="bg1"/>
                </a:solidFill>
              </a:rPr>
              <a:t>опашки</a:t>
            </a:r>
            <a:r>
              <a:rPr lang="ru-RU" dirty="0"/>
              <a:t>, </a:t>
            </a:r>
            <a:r>
              <a:rPr lang="ru-RU" b="1" dirty="0">
                <a:solidFill>
                  <a:schemeClr val="bg1"/>
                </a:solidFill>
              </a:rPr>
              <a:t>стекове</a:t>
            </a:r>
            <a:r>
              <a:rPr lang="ru-RU" dirty="0"/>
              <a:t> и др.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Употреба в програмирането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3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135916"/>
            <a:ext cx="10961783" cy="768084"/>
          </a:xfrm>
        </p:spPr>
        <p:txBody>
          <a:bodyPr/>
          <a:lstStyle/>
          <a:p>
            <a:r>
              <a:rPr lang="bg-BG" dirty="0"/>
              <a:t>Съхранение на данни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000" y="1314000"/>
            <a:ext cx="2700000" cy="291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6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3" y="1196125"/>
            <a:ext cx="8065598" cy="5528766"/>
          </a:xfrm>
        </p:spPr>
        <p:txBody>
          <a:bodyPr/>
          <a:lstStyle/>
          <a:p>
            <a:r>
              <a:rPr lang="ru-RU" dirty="0"/>
              <a:t>В </a:t>
            </a:r>
            <a:r>
              <a:rPr lang="ru-RU" b="1" dirty="0"/>
              <a:t>Python</a:t>
            </a:r>
            <a:r>
              <a:rPr lang="ru-RU" dirty="0"/>
              <a:t> </a:t>
            </a:r>
            <a:r>
              <a:rPr lang="ru-RU" b="1" dirty="0">
                <a:solidFill>
                  <a:schemeClr val="bg1"/>
                </a:solidFill>
              </a:rPr>
              <a:t>списък</a:t>
            </a:r>
            <a:r>
              <a:rPr lang="ru-RU" dirty="0"/>
              <a:t> може да съхранява </a:t>
            </a:r>
            <a:r>
              <a:rPr lang="ru-RU" b="1" dirty="0"/>
              <a:t>данни</a:t>
            </a:r>
            <a:r>
              <a:rPr lang="ru-RU" dirty="0"/>
              <a:t> от </a:t>
            </a:r>
            <a:r>
              <a:rPr lang="ru-RU" b="1" dirty="0"/>
              <a:t>всякакъв тип</a:t>
            </a:r>
            <a:r>
              <a:rPr lang="ru-RU" dirty="0"/>
              <a:t> като:</a:t>
            </a:r>
          </a:p>
          <a:p>
            <a:pPr lvl="1"/>
            <a:r>
              <a:rPr lang="bg-BG" dirty="0"/>
              <a:t>Цели числа (</a:t>
            </a:r>
            <a:r>
              <a:rPr lang="en-US" dirty="0"/>
              <a:t>integers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Дробни числа</a:t>
            </a:r>
            <a:r>
              <a:rPr lang="en-US" dirty="0"/>
              <a:t> (floats)</a:t>
            </a:r>
            <a:endParaRPr lang="bg-BG" dirty="0"/>
          </a:p>
          <a:p>
            <a:pPr lvl="1"/>
            <a:r>
              <a:rPr lang="bg-BG" dirty="0"/>
              <a:t>Текст</a:t>
            </a:r>
            <a:r>
              <a:rPr lang="en-US" dirty="0"/>
              <a:t> (string)</a:t>
            </a:r>
            <a:endParaRPr lang="bg-BG" dirty="0"/>
          </a:p>
          <a:p>
            <a:pPr lvl="1"/>
            <a:r>
              <a:rPr lang="bg-BG" dirty="0"/>
              <a:t>Обекти</a:t>
            </a:r>
          </a:p>
          <a:p>
            <a:pPr lvl="1"/>
            <a:r>
              <a:rPr lang="bg-BG" dirty="0"/>
              <a:t>Други списъци</a:t>
            </a:r>
          </a:p>
          <a:p>
            <a:pPr lvl="1"/>
            <a:r>
              <a:rPr lang="bg-BG" dirty="0"/>
              <a:t>Смесени данни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Данни в списъци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000" y="1449000"/>
            <a:ext cx="2729608" cy="2063850"/>
          </a:xfrm>
          <a:prstGeom prst="rect">
            <a:avLst/>
          </a:prstGeom>
        </p:spPr>
      </p:pic>
      <p:pic>
        <p:nvPicPr>
          <p:cNvPr id="4099" name="Picture 3" descr="Floating point numbers - Preslav Mihaylo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703" y="2831887"/>
            <a:ext cx="3285001" cy="100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typography - How compose an image from a specific text? - TeX - LaTeX Stack  Exchange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000" y="4104000"/>
            <a:ext cx="2808325" cy="207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000" y="4154788"/>
            <a:ext cx="4410000" cy="244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1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Примери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6000" y="1944000"/>
            <a:ext cx="9765000" cy="62437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todo_list = ["</a:t>
            </a:r>
            <a:r>
              <a:rPr lang="bg-BG" sz="2400" b="1" dirty="0">
                <a:latin typeface="Consolas" panose="020B0609020204030204" pitchFamily="49" charset="0"/>
              </a:rPr>
              <a:t>Да измия чиниите</a:t>
            </a:r>
            <a:r>
              <a:rPr lang="en-US" sz="2400" b="1" dirty="0">
                <a:latin typeface="Consolas" panose="020B0609020204030204" pitchFamily="49" charset="0"/>
              </a:rPr>
              <a:t>", "</a:t>
            </a:r>
            <a:r>
              <a:rPr lang="bg-BG" sz="2400" b="1" dirty="0">
                <a:latin typeface="Consolas" panose="020B0609020204030204" pitchFamily="49" charset="0"/>
              </a:rPr>
              <a:t>Да изчистя стаята ми</a:t>
            </a:r>
            <a:r>
              <a:rPr lang="en-US" sz="2400" b="1" dirty="0">
                <a:latin typeface="Consolas" panose="020B0609020204030204" pitchFamily="49" charset="0"/>
              </a:rPr>
              <a:t>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000" y="3496500"/>
            <a:ext cx="6345000" cy="62437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favourite_numbers = [0, 7, 21, 18]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000" y="5049000"/>
            <a:ext cx="6345000" cy="62437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random_list = [6, "Elena", 9.99]</a:t>
            </a:r>
          </a:p>
        </p:txBody>
      </p:sp>
      <p:sp>
        <p:nvSpPr>
          <p:cNvPr id="10" name="Rounded Rectangle 9"/>
          <p:cNvSpPr/>
          <p:nvPr/>
        </p:nvSpPr>
        <p:spPr bwMode="auto">
          <a:xfrm>
            <a:off x="8796000" y="2484000"/>
            <a:ext cx="2542500" cy="63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Списък с текст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5826000" y="4042126"/>
            <a:ext cx="3420000" cy="63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Списък с цели числа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5824575" y="5589000"/>
            <a:ext cx="4392600" cy="630000"/>
          </a:xfrm>
          <a:prstGeom prst="round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Списък със смесени данни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651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090916"/>
            <a:ext cx="10961783" cy="768084"/>
          </a:xfrm>
        </p:spPr>
        <p:txBody>
          <a:bodyPr/>
          <a:lstStyle/>
          <a:p>
            <a:r>
              <a:rPr lang="bg-BG" dirty="0"/>
              <a:t>Създаване на списък</a:t>
            </a:r>
            <a:endParaRPr lang="en-US" dirty="0"/>
          </a:p>
        </p:txBody>
      </p:sp>
      <p:pic>
        <p:nvPicPr>
          <p:cNvPr id="5126" name="Picture 6" descr="Revealed: The Secret To Making Effective To-do Lists - Forbes India Blog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500" y="594000"/>
            <a:ext cx="5535000" cy="415125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22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Списък</a:t>
            </a:r>
            <a:r>
              <a:rPr lang="bg-BG" dirty="0"/>
              <a:t> може да бъде </a:t>
            </a:r>
            <a:r>
              <a:rPr lang="bg-BG" b="1" dirty="0"/>
              <a:t>създаден</a:t>
            </a:r>
            <a:r>
              <a:rPr lang="bg-BG" dirty="0"/>
              <a:t> като:</a:t>
            </a:r>
          </a:p>
          <a:p>
            <a:pPr lvl="1"/>
            <a:r>
              <a:rPr lang="bg-BG" b="1" dirty="0"/>
              <a:t>Изредим съдържанието </a:t>
            </a:r>
            <a:r>
              <a:rPr lang="bg-BG" dirty="0"/>
              <a:t>на списъка със </a:t>
            </a:r>
            <a:r>
              <a:rPr lang="bg-BG" b="1" dirty="0"/>
              <a:t>запетаи</a:t>
            </a:r>
            <a:r>
              <a:rPr lang="bg-BG" dirty="0"/>
              <a:t> в </a:t>
            </a:r>
            <a:r>
              <a:rPr lang="bg-BG" b="1" dirty="0"/>
              <a:t>квадратни скоби</a:t>
            </a:r>
            <a:endParaRPr lang="en-US" b="1" dirty="0"/>
          </a:p>
          <a:p>
            <a:pPr lvl="1"/>
            <a:endParaRPr lang="en-US" dirty="0"/>
          </a:p>
          <a:p>
            <a:pPr lvl="1"/>
            <a:r>
              <a:rPr lang="bg-BG" dirty="0"/>
              <a:t>Използваме </a:t>
            </a:r>
            <a:r>
              <a:rPr lang="bg-BG" b="1" dirty="0"/>
              <a:t>функцията </a:t>
            </a:r>
            <a:r>
              <a:rPr lang="en-US" b="1" dirty="0">
                <a:solidFill>
                  <a:schemeClr val="bg1"/>
                </a:solidFill>
              </a:rPr>
              <a:t>list()</a:t>
            </a:r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списък в </a:t>
            </a:r>
            <a:r>
              <a:rPr lang="en-US" dirty="0"/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000" y="3069000"/>
            <a:ext cx="3690000" cy="62437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my_list =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400" b="1" dirty="0">
                <a:latin typeface="Consolas" panose="020B0609020204030204" pitchFamily="49" charset="0"/>
              </a:rPr>
              <a:t>1, 2, 3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000" y="4419000"/>
            <a:ext cx="3690000" cy="62437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empty_list =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list()</a:t>
            </a:r>
          </a:p>
        </p:txBody>
      </p:sp>
    </p:spTree>
    <p:extLst>
      <p:ext uri="{BB962C8B-B14F-4D97-AF65-F5344CB8AC3E}">
        <p14:creationId xmlns:p14="http://schemas.microsoft.com/office/powerpoint/2010/main" val="244748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3000"/>
              </a:spcAft>
            </a:pPr>
            <a:r>
              <a:rPr lang="ru-RU" dirty="0"/>
              <a:t>Можете да използвате </a:t>
            </a:r>
            <a:r>
              <a:rPr lang="ru-RU" b="1" dirty="0"/>
              <a:t>функцията</a:t>
            </a:r>
            <a:r>
              <a:rPr lang="ru-RU" dirty="0"/>
              <a:t> </a:t>
            </a:r>
            <a:r>
              <a:rPr lang="ru-RU" b="1" dirty="0">
                <a:solidFill>
                  <a:schemeClr val="bg1"/>
                </a:solidFill>
              </a:rPr>
              <a:t>split()</a:t>
            </a:r>
            <a:r>
              <a:rPr lang="ru-RU" dirty="0"/>
              <a:t>, за да </a:t>
            </a:r>
            <a:r>
              <a:rPr lang="ru-RU" b="1" dirty="0"/>
              <a:t>разделите</a:t>
            </a:r>
            <a:r>
              <a:rPr lang="ru-RU" dirty="0"/>
              <a:t> </a:t>
            </a:r>
            <a:r>
              <a:rPr lang="ru-RU" b="1" dirty="0"/>
              <a:t>текст</a:t>
            </a:r>
            <a:r>
              <a:rPr lang="ru-RU" dirty="0"/>
              <a:t> и да създадете списък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bg-BG" dirty="0"/>
              <a:t>Можете да подадете </a:t>
            </a:r>
            <a:r>
              <a:rPr lang="bg-BG" b="1" dirty="0"/>
              <a:t>различен </a:t>
            </a:r>
            <a:r>
              <a:rPr lang="bg-BG" b="1" dirty="0">
                <a:solidFill>
                  <a:schemeClr val="bg1"/>
                </a:solidFill>
              </a:rPr>
              <a:t>разделител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списък от текст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1000" y="2523603"/>
            <a:ext cx="6030000" cy="14369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some_text = "a b c"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my_list = some_text.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split(</a:t>
            </a:r>
            <a:r>
              <a:rPr lang="en-US" sz="2400" b="1" dirty="0">
                <a:latin typeface="Consolas" panose="020B0609020204030204" pitchFamily="49" charset="0"/>
              </a:rPr>
              <a:t>" "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print(my_list)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['a', 'b', 'c']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099450" y="2310882"/>
            <a:ext cx="2255326" cy="571746"/>
          </a:xfrm>
          <a:prstGeom prst="wedgeRoundRectCallout">
            <a:avLst>
              <a:gd name="adj1" fmla="val -76581"/>
              <a:gd name="adj2" fmla="val 7416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Разделител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1000" y="4869000"/>
            <a:ext cx="6030000" cy="14369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some_text = "a</a:t>
            </a:r>
            <a:r>
              <a:rPr lang="bg-BG" sz="2400" b="1" dirty="0">
                <a:latin typeface="Consolas" panose="020B0609020204030204" pitchFamily="49" charset="0"/>
              </a:rPr>
              <a:t>,</a:t>
            </a:r>
            <a:r>
              <a:rPr lang="en-US" sz="2400" b="1" dirty="0">
                <a:latin typeface="Consolas" panose="020B0609020204030204" pitchFamily="49" charset="0"/>
              </a:rPr>
              <a:t> b</a:t>
            </a:r>
            <a:r>
              <a:rPr lang="bg-BG" sz="2400" b="1" dirty="0">
                <a:latin typeface="Consolas" panose="020B0609020204030204" pitchFamily="49" charset="0"/>
              </a:rPr>
              <a:t>,</a:t>
            </a:r>
            <a:r>
              <a:rPr lang="en-US" sz="2400" b="1" dirty="0">
                <a:latin typeface="Consolas" panose="020B0609020204030204" pitchFamily="49" charset="0"/>
              </a:rPr>
              <a:t> c"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my_list = some_text.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split(</a:t>
            </a:r>
            <a:r>
              <a:rPr lang="en-US" sz="2400" b="1" dirty="0">
                <a:latin typeface="Consolas" panose="020B0609020204030204" pitchFamily="49" charset="0"/>
              </a:rPr>
              <a:t>"</a:t>
            </a:r>
            <a:r>
              <a:rPr lang="bg-BG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  <a:r>
              <a:rPr lang="en-US" sz="2400" b="1" dirty="0">
                <a:latin typeface="Consolas" panose="020B0609020204030204" pitchFamily="49" charset="0"/>
              </a:rPr>
              <a:t> "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print(my_list)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['a', 'b', 'c']</a:t>
            </a:r>
          </a:p>
        </p:txBody>
      </p:sp>
    </p:spTree>
    <p:extLst>
      <p:ext uri="{BB962C8B-B14F-4D97-AF65-F5344CB8AC3E}">
        <p14:creationId xmlns:p14="http://schemas.microsoft.com/office/powerpoint/2010/main" val="232852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3600"/>
              </a:spcAft>
            </a:pPr>
            <a:r>
              <a:rPr lang="ru-RU" dirty="0"/>
              <a:t>Можете да създадете </a:t>
            </a:r>
            <a:r>
              <a:rPr lang="ru-RU" b="1" dirty="0"/>
              <a:t>текст</a:t>
            </a:r>
            <a:r>
              <a:rPr lang="ru-RU" dirty="0"/>
              <a:t> от </a:t>
            </a:r>
            <a:r>
              <a:rPr lang="ru-RU" b="1" dirty="0"/>
              <a:t>списък</a:t>
            </a:r>
            <a:r>
              <a:rPr lang="ru-RU" dirty="0"/>
              <a:t> с помощта на </a:t>
            </a:r>
            <a:r>
              <a:rPr lang="ru-RU" b="1" dirty="0"/>
              <a:t>функцията</a:t>
            </a:r>
            <a:r>
              <a:rPr lang="ru-RU" dirty="0"/>
              <a:t> </a:t>
            </a:r>
            <a:r>
              <a:rPr lang="ru-RU" b="1" dirty="0">
                <a:solidFill>
                  <a:schemeClr val="bg1"/>
                </a:solidFill>
              </a:rPr>
              <a:t>string.join()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bg-BG" b="1" dirty="0">
              <a:solidFill>
                <a:schemeClr val="bg1"/>
              </a:solidFill>
            </a:endParaRPr>
          </a:p>
          <a:p>
            <a:r>
              <a:rPr lang="bg-BG" dirty="0"/>
              <a:t>Резултатър от </a:t>
            </a:r>
            <a:r>
              <a:rPr lang="en-US" b="1" dirty="0">
                <a:solidFill>
                  <a:schemeClr val="bg1"/>
                </a:solidFill>
              </a:rPr>
              <a:t>join</a:t>
            </a:r>
            <a:r>
              <a:rPr lang="en-US" dirty="0"/>
              <a:t> </a:t>
            </a:r>
            <a:r>
              <a:rPr lang="bg-BG" b="1" dirty="0"/>
              <a:t>функцията</a:t>
            </a:r>
            <a:r>
              <a:rPr lang="bg-BG" dirty="0"/>
              <a:t> винаги е </a:t>
            </a:r>
            <a:r>
              <a:rPr lang="bg-BG" b="1" dirty="0"/>
              <a:t>текст</a:t>
            </a:r>
            <a:r>
              <a:rPr lang="bg-BG" dirty="0"/>
              <a:t> (</a:t>
            </a:r>
            <a:r>
              <a:rPr lang="en-US" b="1" dirty="0"/>
              <a:t>string</a:t>
            </a:r>
            <a:r>
              <a:rPr lang="bg-BG" dirty="0"/>
              <a:t>)</a:t>
            </a:r>
            <a:endParaRPr lang="en-US" dirty="0"/>
          </a:p>
          <a:p>
            <a:r>
              <a:rPr lang="bg-BG" dirty="0"/>
              <a:t>В </a:t>
            </a:r>
            <a:r>
              <a:rPr lang="en-US" dirty="0"/>
              <a:t>Python </a:t>
            </a:r>
            <a:r>
              <a:rPr lang="en-US" b="1" dirty="0">
                <a:solidFill>
                  <a:schemeClr val="bg1"/>
                </a:solidFill>
              </a:rPr>
              <a:t>join</a:t>
            </a:r>
            <a:r>
              <a:rPr lang="en-US" dirty="0"/>
              <a:t> </a:t>
            </a:r>
            <a:r>
              <a:rPr lang="bg-BG" dirty="0"/>
              <a:t>може да се използва само при </a:t>
            </a:r>
            <a:r>
              <a:rPr lang="bg-BG" b="1" dirty="0"/>
              <a:t>списъци с текст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Обединяване на списъци в текст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6000" y="2529000"/>
            <a:ext cx="6165000" cy="103064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my_list = ["a", "b", "c"]</a:t>
            </a:r>
            <a:endParaRPr lang="bg-BG" sz="2400" b="1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"-".join</a:t>
            </a:r>
            <a:r>
              <a:rPr lang="en-US" sz="2400" b="1" dirty="0">
                <a:latin typeface="Consolas" panose="020B0609020204030204" pitchFamily="49" charset="0"/>
              </a:rPr>
              <a:t>(my_list))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a-b-c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6000" y="5684626"/>
            <a:ext cx="6165000" cy="62437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"-".join</a:t>
            </a:r>
            <a:r>
              <a:rPr lang="en-US" sz="2400" b="1" dirty="0">
                <a:latin typeface="Consolas" panose="020B0609020204030204" pitchFamily="49" charset="0"/>
              </a:rPr>
              <a:t>([1, 2, 3]))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error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081000" y="3609000"/>
            <a:ext cx="3330000" cy="675000"/>
          </a:xfrm>
          <a:prstGeom prst="wedgeRoundRectCallout">
            <a:avLst>
              <a:gd name="adj1" fmla="val -76609"/>
              <a:gd name="adj2" fmla="val -7578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Текстов разделител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49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Използване на индексите на отделните елементи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Достъпване на елементи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76000" y="1899000"/>
            <a:ext cx="3240000" cy="137592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7200" dirty="0">
                <a:solidFill>
                  <a:schemeClr val="bg2"/>
                </a:solidFill>
              </a:rPr>
              <a:t>[index]</a:t>
            </a:r>
          </a:p>
        </p:txBody>
      </p:sp>
    </p:spTree>
    <p:extLst>
      <p:ext uri="{BB962C8B-B14F-4D97-AF65-F5344CB8AC3E}">
        <p14:creationId xmlns:p14="http://schemas.microsoft.com/office/powerpoint/2010/main" val="88125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Използвайте </a:t>
            </a:r>
            <a:r>
              <a:rPr lang="ru-RU" b="1" dirty="0">
                <a:solidFill>
                  <a:schemeClr val="bg1"/>
                </a:solidFill>
              </a:rPr>
              <a:t>квадратни скоби</a:t>
            </a:r>
            <a:r>
              <a:rPr lang="ru-RU" dirty="0"/>
              <a:t>, за да получите елемент по</a:t>
            </a:r>
            <a:r>
              <a:rPr lang="en-US" dirty="0"/>
              <a:t> </a:t>
            </a:r>
            <a:r>
              <a:rPr lang="bg-BG" dirty="0"/>
              <a:t>неговия</a:t>
            </a:r>
            <a:r>
              <a:rPr lang="ru-RU" dirty="0"/>
              <a:t> </a:t>
            </a:r>
            <a:r>
              <a:rPr lang="ru-RU" b="1" dirty="0"/>
              <a:t>индекс</a:t>
            </a:r>
            <a:endParaRPr lang="en-US" b="1" dirty="0"/>
          </a:p>
          <a:p>
            <a:r>
              <a:rPr lang="ru-RU" dirty="0"/>
              <a:t>Индексите описват </a:t>
            </a:r>
            <a:r>
              <a:rPr lang="ru-RU" b="1" dirty="0"/>
              <a:t>позицията</a:t>
            </a:r>
            <a:r>
              <a:rPr lang="ru-RU" dirty="0"/>
              <a:t> на даден елемент</a:t>
            </a:r>
            <a:endParaRPr lang="en-US" dirty="0"/>
          </a:p>
          <a:p>
            <a:r>
              <a:rPr lang="ru-RU" dirty="0"/>
              <a:t>Винаги </a:t>
            </a:r>
            <a:r>
              <a:rPr lang="ru-RU" b="1" dirty="0"/>
              <a:t>започваме</a:t>
            </a:r>
            <a:r>
              <a:rPr lang="ru-RU" dirty="0"/>
              <a:t> да броим индексите от </a:t>
            </a:r>
            <a:r>
              <a:rPr lang="ru-RU" b="1" dirty="0">
                <a:solidFill>
                  <a:schemeClr val="bg1"/>
                </a:solidFill>
              </a:rPr>
              <a:t>0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индекси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48500" y="4284000"/>
            <a:ext cx="5895000" cy="184317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list_of_numbers = [1, 6, 9]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print(list_of_numbers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[0]</a:t>
            </a:r>
            <a:r>
              <a:rPr lang="en-US" sz="2400" b="1" dirty="0">
                <a:latin typeface="Consolas" panose="020B0609020204030204" pitchFamily="49" charset="0"/>
              </a:rPr>
              <a:t>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1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print(list_of_numbers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[1]</a:t>
            </a:r>
            <a:r>
              <a:rPr lang="en-US" sz="2400" b="1" dirty="0">
                <a:latin typeface="Consolas" panose="020B0609020204030204" pitchFamily="49" charset="0"/>
              </a:rPr>
              <a:t>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6</a:t>
            </a:r>
            <a:endParaRPr lang="bg-BG" sz="24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print(list_of_numbers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[2]</a:t>
            </a:r>
            <a:r>
              <a:rPr lang="en-US" sz="2400" b="1" dirty="0">
                <a:latin typeface="Consolas" panose="020B0609020204030204" pitchFamily="49" charset="0"/>
              </a:rPr>
              <a:t>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9</a:t>
            </a:r>
            <a:endParaRPr lang="bg-BG" sz="24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46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b="1" dirty="0">
                <a:solidFill>
                  <a:schemeClr val="bg1"/>
                </a:solidFill>
              </a:rPr>
              <a:t>Python</a:t>
            </a:r>
            <a:r>
              <a:rPr lang="ru-RU" dirty="0"/>
              <a:t> можете да използвате </a:t>
            </a:r>
            <a:r>
              <a:rPr lang="ru-RU" b="1" dirty="0"/>
              <a:t>отрицателния</a:t>
            </a:r>
            <a:r>
              <a:rPr lang="en-US" dirty="0"/>
              <a:t> </a:t>
            </a:r>
            <a:r>
              <a:rPr lang="ru-RU" b="1" dirty="0"/>
              <a:t>знак</a:t>
            </a:r>
            <a:r>
              <a:rPr lang="en-US" b="1" dirty="0"/>
              <a:t> </a:t>
            </a:r>
            <a:r>
              <a:rPr lang="en-US" dirty="0"/>
              <a:t>("</a:t>
            </a:r>
            <a:r>
              <a:rPr lang="bg-BG" dirty="0"/>
              <a:t>–</a:t>
            </a:r>
            <a:r>
              <a:rPr lang="en-US" dirty="0"/>
              <a:t>")</a:t>
            </a:r>
            <a:r>
              <a:rPr lang="ru-RU" dirty="0"/>
              <a:t> за достъп до елемент</a:t>
            </a:r>
            <a:endParaRPr lang="en-US" dirty="0"/>
          </a:p>
          <a:p>
            <a:r>
              <a:rPr lang="ru-RU" dirty="0"/>
              <a:t>Отрицателният знак ще започне да брои от </a:t>
            </a:r>
            <a:r>
              <a:rPr lang="ru-RU" b="1" dirty="0"/>
              <a:t>края на списъка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"–"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57250" y="3834000"/>
            <a:ext cx="6277500" cy="184317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my_pets = ["cat", "dog", "parrot"]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print(my_pets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[-1]</a:t>
            </a:r>
            <a:r>
              <a:rPr lang="en-US" sz="2400" b="1" dirty="0">
                <a:latin typeface="Consolas" panose="020B0609020204030204" pitchFamily="49" charset="0"/>
              </a:rPr>
              <a:t>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parrot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print(my_pets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[-2]</a:t>
            </a:r>
            <a:r>
              <a:rPr lang="en-US" sz="2400" b="1" dirty="0">
                <a:latin typeface="Consolas" panose="020B0609020204030204" pitchFamily="49" charset="0"/>
              </a:rPr>
              <a:t>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dog</a:t>
            </a:r>
            <a:endParaRPr lang="bg-BG" sz="24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print(my_pets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[-3]</a:t>
            </a:r>
            <a:r>
              <a:rPr lang="en-US" sz="2400" b="1" dirty="0">
                <a:latin typeface="Consolas" panose="020B0609020204030204" pitchFamily="49" charset="0"/>
              </a:rPr>
              <a:t>) </a:t>
            </a:r>
            <a:r>
              <a:rPr lang="en-US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cat</a:t>
            </a:r>
            <a:endParaRPr lang="bg-BG" sz="24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58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Намирате се в </a:t>
            </a:r>
            <a:r>
              <a:rPr lang="ru-RU" b="1" dirty="0"/>
              <a:t>зоологическата градина </a:t>
            </a:r>
            <a:r>
              <a:rPr lang="ru-RU" dirty="0"/>
              <a:t>и </a:t>
            </a:r>
            <a:r>
              <a:rPr lang="ru-RU" b="1" dirty="0"/>
              <a:t>сурикатите</a:t>
            </a:r>
            <a:r>
              <a:rPr lang="ru-RU" dirty="0"/>
              <a:t> изглеждат </a:t>
            </a:r>
            <a:r>
              <a:rPr lang="ru-RU" b="1" dirty="0"/>
              <a:t>странно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Ще получите </a:t>
            </a:r>
            <a:r>
              <a:rPr lang="ru-RU" b="1" dirty="0">
                <a:solidFill>
                  <a:schemeClr val="bg1"/>
                </a:solidFill>
              </a:rPr>
              <a:t>3 входни текста</a:t>
            </a:r>
            <a:r>
              <a:rPr lang="ru-RU" dirty="0"/>
              <a:t>: (опашка, тяло, глава)</a:t>
            </a:r>
          </a:p>
          <a:p>
            <a:pPr lvl="1"/>
            <a:r>
              <a:rPr lang="ru-RU" b="1" dirty="0"/>
              <a:t>Пренаредете елементите</a:t>
            </a:r>
            <a:r>
              <a:rPr lang="ru-RU" dirty="0"/>
              <a:t> в </a:t>
            </a:r>
            <a:r>
              <a:rPr lang="ru-RU" b="1" dirty="0"/>
              <a:t>масива</a:t>
            </a:r>
            <a:r>
              <a:rPr lang="ru-RU" dirty="0"/>
              <a:t>, така че животното да изглежда нормално: (глава, тяло, опашка)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Чудат зоопарк – условие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8818" y="4625676"/>
            <a:ext cx="5085000" cy="14369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 tail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 body seems on place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my head is on the wrong end!</a:t>
            </a:r>
            <a:endParaRPr lang="bg-BG" sz="2400" b="1" dirty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54335" y="4625675"/>
            <a:ext cx="5129249" cy="143690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['my head is on the wrong end!', 'my body seems on place', 'my tail']</a:t>
            </a:r>
            <a:endParaRPr lang="bg-BG" sz="2400" b="1" dirty="0">
              <a:latin typeface="Consolas" panose="020B0609020204030204" pitchFamily="49" charset="0"/>
            </a:endParaRPr>
          </a:p>
        </p:txBody>
      </p:sp>
      <p:sp>
        <p:nvSpPr>
          <p:cNvPr id="13" name="Right Arrow 11">
            <a:extLst>
              <a:ext uri="{FF2B5EF4-FFF2-40B4-BE49-F238E27FC236}">
                <a16:creationId xmlns:a16="http://schemas.microsoft.com/office/drawing/2014/main" id="{42DEB2C5-A593-42F9-A1DB-4ECBB3770AD4}"/>
              </a:ext>
            </a:extLst>
          </p:cNvPr>
          <p:cNvSpPr/>
          <p:nvPr/>
        </p:nvSpPr>
        <p:spPr>
          <a:xfrm>
            <a:off x="5870581" y="5191796"/>
            <a:ext cx="447696" cy="3046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7700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Чудат зоопарк – решение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2901000" y="2349000"/>
            <a:ext cx="6390000" cy="3177381"/>
          </a:xfrm>
        </p:spPr>
        <p:txBody>
          <a:bodyPr/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>
                <a:solidFill>
                  <a:srgbClr val="7030A0"/>
                </a:solidFill>
              </a:rPr>
              <a:t>tail</a:t>
            </a:r>
            <a:r>
              <a:rPr lang="en-US" dirty="0"/>
              <a:t> = input()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>
                <a:solidFill>
                  <a:srgbClr val="FFC000"/>
                </a:solidFill>
              </a:rPr>
              <a:t>body</a:t>
            </a:r>
            <a:r>
              <a:rPr lang="en-US" dirty="0"/>
              <a:t> = input()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>
                <a:solidFill>
                  <a:srgbClr val="00B050"/>
                </a:solidFill>
              </a:rPr>
              <a:t>head</a:t>
            </a:r>
            <a:r>
              <a:rPr lang="en-US" dirty="0"/>
              <a:t> = input()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/>
              <a:t>meerkat = [</a:t>
            </a:r>
            <a:r>
              <a:rPr lang="en-US" dirty="0">
                <a:solidFill>
                  <a:srgbClr val="00B050"/>
                </a:solidFill>
              </a:rPr>
              <a:t>head</a:t>
            </a:r>
            <a:r>
              <a:rPr lang="en-US" dirty="0"/>
              <a:t>, </a:t>
            </a:r>
            <a:r>
              <a:rPr lang="en-US" dirty="0">
                <a:solidFill>
                  <a:srgbClr val="FFC000"/>
                </a:solidFill>
              </a:rPr>
              <a:t>body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tail</a:t>
            </a:r>
            <a:r>
              <a:rPr lang="en-US" dirty="0"/>
              <a:t>]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dirty="0"/>
              <a:t>print(meerkat)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141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lnSpc>
                <a:spcPct val="100000"/>
              </a:lnSpc>
            </a:pPr>
            <a:r>
              <a:rPr lang="bg-BG" sz="3200" b="1" dirty="0">
                <a:solidFill>
                  <a:schemeClr val="bg2"/>
                </a:solidFill>
              </a:rPr>
              <a:t>͏</a:t>
            </a:r>
            <a:r>
              <a:rPr lang="bg-BG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Списък</a:t>
            </a:r>
            <a:r>
              <a:rPr lang="bg-BG" sz="3200" dirty="0">
                <a:solidFill>
                  <a:schemeClr val="bg2"/>
                </a:solidFill>
              </a:rPr>
              <a:t> – </a:t>
            </a:r>
            <a:r>
              <a:rPr lang="ru-RU" sz="3200" b="1" dirty="0">
                <a:solidFill>
                  <a:schemeClr val="bg2"/>
                </a:solidFill>
              </a:rPr>
              <a:t>колекция</a:t>
            </a:r>
            <a:r>
              <a:rPr lang="ru-RU" sz="3200" dirty="0">
                <a:solidFill>
                  <a:schemeClr val="bg2"/>
                </a:solidFill>
              </a:rPr>
              <a:t> от </a:t>
            </a:r>
            <a:r>
              <a:rPr lang="ru-RU" sz="3200" b="1" dirty="0">
                <a:solidFill>
                  <a:schemeClr val="bg2"/>
                </a:solidFill>
              </a:rPr>
              <a:t>данни</a:t>
            </a:r>
            <a:r>
              <a:rPr lang="ru-RU" sz="3200" dirty="0">
                <a:solidFill>
                  <a:schemeClr val="bg2"/>
                </a:solidFill>
              </a:rPr>
              <a:t>, която поддържа </a:t>
            </a:r>
            <a:r>
              <a:rPr lang="ru-RU" sz="3200" b="1" dirty="0">
                <a:solidFill>
                  <a:schemeClr val="bg2"/>
                </a:solidFill>
              </a:rPr>
              <a:t>индекси</a:t>
            </a:r>
            <a:endParaRPr lang="en-US" sz="3200" b="1" dirty="0">
              <a:solidFill>
                <a:schemeClr val="bg2"/>
              </a:solidFill>
            </a:endParaRPr>
          </a:p>
          <a:p>
            <a:pPr marL="456565" indent="-456565">
              <a:lnSpc>
                <a:spcPct val="100000"/>
              </a:lnSpc>
            </a:pPr>
            <a:r>
              <a:rPr lang="bg-BG" sz="3200" b="1" dirty="0">
                <a:solidFill>
                  <a:schemeClr val="bg2"/>
                </a:solidFill>
              </a:rPr>
              <a:t>Създаване</a:t>
            </a:r>
            <a:r>
              <a:rPr lang="bg-BG" sz="3200" dirty="0">
                <a:solidFill>
                  <a:schemeClr val="bg2"/>
                </a:solidFill>
              </a:rPr>
              <a:t> на </a:t>
            </a:r>
            <a:r>
              <a:rPr lang="bg-BG" sz="3200" b="1" dirty="0">
                <a:solidFill>
                  <a:schemeClr val="bg2"/>
                </a:solidFill>
              </a:rPr>
              <a:t>списъци</a:t>
            </a:r>
          </a:p>
          <a:p>
            <a:pPr marL="989631" lvl="1" indent="-456565">
              <a:lnSpc>
                <a:spcPct val="100000"/>
              </a:lnSpc>
            </a:pPr>
            <a:r>
              <a:rPr lang="en-US" sz="2800" b="1" dirty="0">
                <a:solidFill>
                  <a:schemeClr val="bg2"/>
                </a:solidFill>
                <a:latin typeface="Consolas" panose="020B0609020204030204" pitchFamily="49" charset="0"/>
              </a:rPr>
              <a:t>my_list =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[1, 2, 3]</a:t>
            </a:r>
          </a:p>
          <a:p>
            <a:pPr marL="989631" lvl="1" indent="-456565">
              <a:lnSpc>
                <a:spcPct val="100000"/>
              </a:lnSpc>
            </a:pPr>
            <a:r>
              <a:rPr lang="en-US" sz="2800" b="1" dirty="0">
                <a:solidFill>
                  <a:schemeClr val="bg2"/>
                </a:solidFill>
              </a:rPr>
              <a:t>empty_list =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list()</a:t>
            </a:r>
            <a:endParaRPr lang="ru-RU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6034</TotalTime>
  <Words>949</Words>
  <Application>Microsoft Office PowerPoint</Application>
  <PresentationFormat>Widescreen</PresentationFormat>
  <Paragraphs>138</Paragraphs>
  <Slides>20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Wingdings</vt:lpstr>
      <vt:lpstr>SoftUni</vt:lpstr>
      <vt:lpstr>Списъци</vt:lpstr>
      <vt:lpstr>Съдържание</vt:lpstr>
      <vt:lpstr>Списъци</vt:lpstr>
      <vt:lpstr>Какво е списък?</vt:lpstr>
      <vt:lpstr>Употреба в програмирането</vt:lpstr>
      <vt:lpstr>Съхранение на данни</vt:lpstr>
      <vt:lpstr>Данни в списъци</vt:lpstr>
      <vt:lpstr>Примери</vt:lpstr>
      <vt:lpstr>Създаване на списък</vt:lpstr>
      <vt:lpstr>Създаване на списък в Python</vt:lpstr>
      <vt:lpstr>Създаване на списък от текст</vt:lpstr>
      <vt:lpstr>Обединяване на списъци в текст</vt:lpstr>
      <vt:lpstr>Достъпване на елементи</vt:lpstr>
      <vt:lpstr>Използване на индекси</vt:lpstr>
      <vt:lpstr>Използване на "–"</vt:lpstr>
      <vt:lpstr>Чудат зоопарк – условие</vt:lpstr>
      <vt:lpstr>Чудат зоопарк – решение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Списъци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1935</cp:revision>
  <dcterms:created xsi:type="dcterms:W3CDTF">2018-05-23T13:08:44Z</dcterms:created>
  <dcterms:modified xsi:type="dcterms:W3CDTF">2026-09-25T09:06:55Z</dcterms:modified>
  <cp:category/>
</cp:coreProperties>
</file>