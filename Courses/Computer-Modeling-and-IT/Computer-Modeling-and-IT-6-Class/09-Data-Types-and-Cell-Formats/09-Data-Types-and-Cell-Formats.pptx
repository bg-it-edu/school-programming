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3"/>
  </p:notesMasterIdLst>
  <p:handoutMasterIdLst>
    <p:handoutMasterId r:id="rId14"/>
  </p:handoutMasterIdLst>
  <p:sldIdLst>
    <p:sldId id="503" r:id="rId2"/>
    <p:sldId id="276" r:id="rId3"/>
    <p:sldId id="587" r:id="rId4"/>
    <p:sldId id="588" r:id="rId5"/>
    <p:sldId id="589" r:id="rId6"/>
    <p:sldId id="590" r:id="rId7"/>
    <p:sldId id="591" r:id="rId8"/>
    <p:sldId id="592" r:id="rId9"/>
    <p:sldId id="586" r:id="rId10"/>
    <p:sldId id="504" r:id="rId11"/>
    <p:sldId id="50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͏Типове данни и формат на представяне на данните" id="{D2AE1720-4FBD-4515-B177-0ED23AEA3E8B}">
          <p14:sldIdLst>
            <p14:sldId id="587"/>
            <p14:sldId id="588"/>
            <p14:sldId id="589"/>
            <p14:sldId id="590"/>
            <p14:sldId id="591"/>
            <p14:sldId id="592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465"/>
    <a:srgbClr val="ADB4C3"/>
    <a:srgbClr val="EA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46" autoAdjust="0"/>
    <p:restoredTop sz="93764" autoAdjust="0"/>
  </p:normalViewPr>
  <p:slideViewPr>
    <p:cSldViewPr showGuides="1">
      <p:cViewPr varScale="1">
        <p:scale>
          <a:sx n="104" d="100"/>
          <a:sy n="104" d="100"/>
        </p:scale>
        <p:origin x="534" y="114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83407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2581409"/>
          </a:xfrm>
        </p:spPr>
        <p:txBody>
          <a:bodyPr>
            <a:normAutofit/>
          </a:bodyPr>
          <a:lstStyle/>
          <a:p>
            <a:r>
              <a:rPr lang="ru-RU" dirty="0"/>
              <a:t>Създаване на таблица по модел с данни от различен тип. Формат на представяне на данните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159338"/>
            <a:ext cx="2002460" cy="897423"/>
          </a:xfrm>
          <a:prstGeom prst="rect">
            <a:avLst/>
          </a:prstGeom>
        </p:spPr>
      </p:pic>
      <p:pic>
        <p:nvPicPr>
          <p:cNvPr id="1029" name="Picture 5" descr="Spreadsheet Illustration Concept Business Analysis And Analytical Database  Report Financial Accounting Data With Table Number Stock Illustration -  Download Image Now - iStock"/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8" t="8465" r="398" b="8302"/>
          <a:stretch/>
        </p:blipFill>
        <p:spPr bwMode="auto">
          <a:xfrm>
            <a:off x="6392631" y="3029508"/>
            <a:ext cx="5248260" cy="265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9679234" cy="5207396"/>
          </a:xfrm>
        </p:spPr>
        <p:txBody>
          <a:bodyPr/>
          <a:lstStyle/>
          <a:p>
            <a:r>
              <a:rPr lang="bg-BG" dirty="0"/>
              <a:t>Типове данни в </a:t>
            </a:r>
            <a:r>
              <a:rPr lang="en-US" b="1" dirty="0"/>
              <a:t>Excel</a:t>
            </a:r>
          </a:p>
          <a:p>
            <a:r>
              <a:rPr lang="bg-BG" dirty="0"/>
              <a:t>Формат на представяне на данните</a:t>
            </a:r>
          </a:p>
          <a:p>
            <a:r>
              <a:rPr lang="bg-BG" dirty="0"/>
              <a:t>Пример: работа с типове данни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615109" y="4704825"/>
            <a:ext cx="10961783" cy="1694175"/>
          </a:xfrm>
        </p:spPr>
        <p:txBody>
          <a:bodyPr/>
          <a:lstStyle/>
          <a:p>
            <a:r>
              <a:rPr lang="bg-BG" dirty="0"/>
              <a:t>͏Типове данни и формат на представяне на данните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000" y="1359000"/>
            <a:ext cx="2790000" cy="236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2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90406" y="1196125"/>
            <a:ext cx="12001594" cy="5528766"/>
          </a:xfrm>
        </p:spPr>
        <p:txBody>
          <a:bodyPr>
            <a:normAutofit fontScale="92500"/>
          </a:bodyPr>
          <a:lstStyle/>
          <a:p>
            <a:r>
              <a:rPr lang="en-US" sz="3500" b="1" dirty="0"/>
              <a:t>Excel</a:t>
            </a:r>
            <a:r>
              <a:rPr lang="en-US" sz="3500" dirty="0"/>
              <a:t> </a:t>
            </a:r>
            <a:r>
              <a:rPr lang="bg-BG" dirty="0"/>
              <a:t>разпознава </a:t>
            </a:r>
            <a:r>
              <a:rPr lang="bg-BG" sz="3500" b="1" dirty="0"/>
              <a:t>различните типове данни </a:t>
            </a:r>
            <a:r>
              <a:rPr lang="bg-BG" sz="3500" dirty="0"/>
              <a:t>и ги </a:t>
            </a:r>
            <a:r>
              <a:rPr lang="bg-BG" sz="3500" b="1" dirty="0"/>
              <a:t>интерпетира</a:t>
            </a:r>
            <a:r>
              <a:rPr lang="bg-BG" sz="3500" dirty="0"/>
              <a:t> по </a:t>
            </a:r>
            <a:r>
              <a:rPr lang="bg-BG" sz="3500" b="1" dirty="0"/>
              <a:t>различен начин</a:t>
            </a:r>
            <a:r>
              <a:rPr lang="bg-BG" sz="3500" dirty="0"/>
              <a:t>, тъй като всеки тип има своите </a:t>
            </a:r>
            <a:r>
              <a:rPr lang="bg-BG" sz="3500" b="1" dirty="0"/>
              <a:t>особености</a:t>
            </a:r>
          </a:p>
          <a:p>
            <a:r>
              <a:rPr lang="bg-BG" sz="3500" dirty="0"/>
              <a:t>В програмта има различни </a:t>
            </a:r>
            <a:r>
              <a:rPr lang="bg-BG" sz="3500" b="1" dirty="0"/>
              <a:t>типове данни </a:t>
            </a:r>
            <a:r>
              <a:rPr lang="bg-BG" sz="3500" dirty="0"/>
              <a:t>като:</a:t>
            </a:r>
          </a:p>
          <a:p>
            <a:pPr lvl="1"/>
            <a:r>
              <a:rPr lang="bg-BG" sz="3200" b="1" dirty="0"/>
              <a:t>Текст</a:t>
            </a:r>
          </a:p>
          <a:p>
            <a:pPr lvl="1"/>
            <a:r>
              <a:rPr lang="bg-BG" sz="3200" b="1" dirty="0"/>
              <a:t>Числа</a:t>
            </a:r>
          </a:p>
          <a:p>
            <a:pPr lvl="1"/>
            <a:r>
              <a:rPr lang="bg-BG" sz="3200" b="1" dirty="0"/>
              <a:t>Дати</a:t>
            </a:r>
          </a:p>
          <a:p>
            <a:pPr lvl="1"/>
            <a:r>
              <a:rPr lang="bg-BG" sz="3200" b="1" dirty="0"/>
              <a:t>Валутни данни </a:t>
            </a:r>
            <a:r>
              <a:rPr lang="bg-BG" sz="3200" dirty="0"/>
              <a:t>и </a:t>
            </a:r>
            <a:r>
              <a:rPr lang="bg-BG" sz="3200" b="1" dirty="0"/>
              <a:t>т.н.</a:t>
            </a:r>
          </a:p>
          <a:p>
            <a:r>
              <a:rPr lang="ru-RU" sz="3500" dirty="0"/>
              <a:t>Данни, комбиниращи </a:t>
            </a:r>
            <a:r>
              <a:rPr lang="ru-RU" sz="3500" b="1" dirty="0"/>
              <a:t>букви</a:t>
            </a:r>
            <a:r>
              <a:rPr lang="ru-RU" sz="3500" dirty="0"/>
              <a:t>, </a:t>
            </a:r>
            <a:r>
              <a:rPr lang="ru-RU" sz="3500" b="1" dirty="0"/>
              <a:t>цифри</a:t>
            </a:r>
            <a:r>
              <a:rPr lang="ru-RU" sz="3500" dirty="0"/>
              <a:t> и </a:t>
            </a:r>
            <a:r>
              <a:rPr lang="ru-RU" sz="3500" b="1" dirty="0"/>
              <a:t>др.</a:t>
            </a:r>
            <a:r>
              <a:rPr lang="ru-RU" sz="3500" dirty="0"/>
              <a:t>, се третират като </a:t>
            </a:r>
            <a:r>
              <a:rPr lang="ru-RU" sz="3500" b="1" dirty="0"/>
              <a:t>текст</a:t>
            </a:r>
            <a:endParaRPr lang="bg-BG" sz="3500" b="1" dirty="0"/>
          </a:p>
          <a:p>
            <a:endParaRPr lang="bg-BG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Типове данни в </a:t>
            </a:r>
            <a:r>
              <a:rPr lang="en-US" dirty="0"/>
              <a:t>Excel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000" y="3114000"/>
            <a:ext cx="5108152" cy="235137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347434" y="4124892"/>
            <a:ext cx="2141188" cy="759796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dirty="0">
                <a:solidFill>
                  <a:schemeClr val="accent6">
                    <a:lumMod val="10000"/>
                  </a:schemeClr>
                </a:solidFill>
              </a:rPr>
              <a:t>Пъдпъдък</a:t>
            </a:r>
            <a:endParaRPr lang="en-US" sz="24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54775" y="4124892"/>
            <a:ext cx="1376906" cy="759796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dirty="0">
                <a:solidFill>
                  <a:schemeClr val="accent6">
                    <a:lumMod val="10000"/>
                  </a:schemeClr>
                </a:solidFill>
              </a:rPr>
              <a:t>18</a:t>
            </a:r>
            <a:endParaRPr lang="en-US" sz="24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75019" y="4795132"/>
            <a:ext cx="2542150" cy="759796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dirty="0">
                <a:solidFill>
                  <a:schemeClr val="accent6">
                    <a:lumMod val="10000"/>
                  </a:schemeClr>
                </a:solidFill>
              </a:rPr>
              <a:t>1.7.2022 г.</a:t>
            </a:r>
            <a:endParaRPr lang="en-US" sz="24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56787" y="4779000"/>
            <a:ext cx="2329578" cy="759796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dirty="0">
                <a:solidFill>
                  <a:schemeClr val="accent6">
                    <a:lumMod val="10000"/>
                  </a:schemeClr>
                </a:solidFill>
              </a:rPr>
              <a:t>100,00 лв.</a:t>
            </a:r>
            <a:endParaRPr lang="en-US" sz="2400" b="1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787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000" y="3373866"/>
            <a:ext cx="4667901" cy="281026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8650598" cy="5528766"/>
          </a:xfrm>
        </p:spPr>
        <p:txBody>
          <a:bodyPr/>
          <a:lstStyle/>
          <a:p>
            <a:r>
              <a:rPr lang="bg-BG" dirty="0"/>
              <a:t>Форматът на представяне на различните типове данни се задава от </a:t>
            </a:r>
            <a:r>
              <a:rPr lang="bg-BG" b="1" dirty="0"/>
              <a:t>падащото меню</a:t>
            </a:r>
            <a:r>
              <a:rPr lang="bg-BG" dirty="0"/>
              <a:t> на </a:t>
            </a:r>
            <a:r>
              <a:rPr lang="bg-BG" b="1" dirty="0"/>
              <a:t>панела </a:t>
            </a:r>
            <a:r>
              <a:rPr lang="en-US" b="1" dirty="0">
                <a:solidFill>
                  <a:schemeClr val="bg1"/>
                </a:solidFill>
              </a:rPr>
              <a:t>Number</a:t>
            </a:r>
            <a:r>
              <a:rPr lang="en-US" b="1" dirty="0"/>
              <a:t> </a:t>
            </a:r>
            <a:r>
              <a:rPr lang="bg-BG" dirty="0"/>
              <a:t>от </a:t>
            </a:r>
            <a:r>
              <a:rPr lang="bg-BG" b="1" dirty="0"/>
              <a:t>менюто </a:t>
            </a:r>
            <a:r>
              <a:rPr lang="en-US" b="1" dirty="0">
                <a:solidFill>
                  <a:schemeClr val="bg1"/>
                </a:solidFill>
              </a:rPr>
              <a:t>Home</a:t>
            </a:r>
            <a:endParaRPr lang="bg-BG" b="1" dirty="0">
              <a:solidFill>
                <a:schemeClr val="bg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Формат на представяне на данните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" r="1788"/>
          <a:stretch/>
        </p:blipFill>
        <p:spPr>
          <a:xfrm>
            <a:off x="9703620" y="1291733"/>
            <a:ext cx="1800000" cy="543315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306000" y="4509000"/>
            <a:ext cx="1884186" cy="79705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600" b="1" dirty="0">
                <a:solidFill>
                  <a:schemeClr val="accent6">
                    <a:lumMod val="10000"/>
                  </a:schemeClr>
                </a:solidFill>
              </a:rPr>
              <a:t>202,29</a:t>
            </a:r>
            <a:endParaRPr lang="en-US" sz="28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9696000" y="1989000"/>
            <a:ext cx="1800000" cy="450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9696000" y="1558235"/>
            <a:ext cx="1800000" cy="450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9696000" y="2451349"/>
            <a:ext cx="1800000" cy="418416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9696000" y="2869765"/>
            <a:ext cx="1800000" cy="424235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9696000" y="3299445"/>
            <a:ext cx="1800000" cy="424235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9696000" y="3723465"/>
            <a:ext cx="1800000" cy="424235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9696000" y="4177410"/>
            <a:ext cx="1800000" cy="424235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9696000" y="4641504"/>
            <a:ext cx="1800000" cy="424235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9696000" y="5093932"/>
            <a:ext cx="1800000" cy="424235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9696000" y="5532967"/>
            <a:ext cx="1800000" cy="424235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9696000" y="5957202"/>
            <a:ext cx="1800000" cy="424235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11000" y="4509000"/>
            <a:ext cx="2379186" cy="82750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600" b="1" dirty="0">
                <a:solidFill>
                  <a:schemeClr val="accent6">
                    <a:lumMod val="10000"/>
                  </a:schemeClr>
                </a:solidFill>
              </a:rPr>
              <a:t>202,29 лв.</a:t>
            </a:r>
            <a:endParaRPr lang="en-US" sz="28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74957" y="4519059"/>
            <a:ext cx="2379186" cy="82750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600" b="1" dirty="0">
                <a:solidFill>
                  <a:schemeClr val="accent6">
                    <a:lumMod val="10000"/>
                  </a:schemeClr>
                </a:solidFill>
              </a:rPr>
              <a:t>20.7.1900</a:t>
            </a:r>
            <a:endParaRPr lang="en-US" sz="28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316000" y="4556384"/>
            <a:ext cx="3151667" cy="73273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100" b="1" dirty="0">
                <a:solidFill>
                  <a:schemeClr val="accent6">
                    <a:lumMod val="10000"/>
                  </a:schemeClr>
                </a:solidFill>
              </a:rPr>
              <a:t>20 юли 1900г.</a:t>
            </a:r>
            <a:endParaRPr lang="en-US" sz="31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702240" y="4505054"/>
            <a:ext cx="2379186" cy="82750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600" b="1" dirty="0">
                <a:solidFill>
                  <a:schemeClr val="accent6">
                    <a:lumMod val="10000"/>
                  </a:schemeClr>
                </a:solidFill>
              </a:rPr>
              <a:t>6:57:36</a:t>
            </a:r>
            <a:endParaRPr lang="en-US" sz="28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666197" y="4512946"/>
            <a:ext cx="2379186" cy="82750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600" b="1" dirty="0">
                <a:solidFill>
                  <a:schemeClr val="accent6">
                    <a:lumMod val="10000"/>
                  </a:schemeClr>
                </a:solidFill>
              </a:rPr>
              <a:t>20229,00%</a:t>
            </a:r>
            <a:endParaRPr lang="en-US" sz="28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630154" y="4512946"/>
            <a:ext cx="2379186" cy="82750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600" b="1" dirty="0">
                <a:solidFill>
                  <a:schemeClr val="accent6">
                    <a:lumMod val="10000"/>
                  </a:schemeClr>
                </a:solidFill>
              </a:rPr>
              <a:t>202 2/7</a:t>
            </a:r>
            <a:endParaRPr lang="en-US" sz="28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29523" y="4502887"/>
            <a:ext cx="2379186" cy="82750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600" b="1" dirty="0">
                <a:solidFill>
                  <a:schemeClr val="accent6">
                    <a:lumMod val="10000"/>
                  </a:schemeClr>
                </a:solidFill>
              </a:rPr>
              <a:t>2,02Е+02</a:t>
            </a:r>
            <a:endParaRPr lang="en-US" sz="28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44722" y="4510084"/>
            <a:ext cx="2379186" cy="82750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600" b="1" dirty="0">
                <a:solidFill>
                  <a:schemeClr val="accent6">
                    <a:lumMod val="10000"/>
                  </a:schemeClr>
                </a:solidFill>
              </a:rPr>
              <a:t>202,29</a:t>
            </a:r>
            <a:endParaRPr lang="en-US" sz="2800" b="1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39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3" grpId="0"/>
      <p:bldP spid="23" grpId="1"/>
      <p:bldP spid="24" grpId="0"/>
      <p:bldP spid="24" grpId="1"/>
      <p:bldP spid="25" grpId="0"/>
      <p:bldP spid="25" grpId="1"/>
      <p:bldP spid="26" grpId="0"/>
      <p:bldP spid="26" grpId="1"/>
      <p:bldP spid="27" grpId="0"/>
      <p:bldP spid="27" grpId="1"/>
      <p:bldP spid="28" grpId="0"/>
      <p:bldP spid="28" grpId="1"/>
      <p:bldP spid="29" grpId="0"/>
      <p:bldP spid="29" grpId="1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Повече настойки за типа данни и формата им може да зададете чрез опцията </a:t>
            </a:r>
            <a:r>
              <a:rPr lang="en-US" b="1" dirty="0">
                <a:solidFill>
                  <a:schemeClr val="bg1"/>
                </a:solidFill>
              </a:rPr>
              <a:t>More Number Formats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Формат на представяне на данните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1" r="750"/>
          <a:stretch/>
        </p:blipFill>
        <p:spPr>
          <a:xfrm>
            <a:off x="426000" y="3339000"/>
            <a:ext cx="4654176" cy="196861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Rectangle 5"/>
          <p:cNvSpPr/>
          <p:nvPr/>
        </p:nvSpPr>
        <p:spPr bwMode="auto">
          <a:xfrm>
            <a:off x="543666" y="4438308"/>
            <a:ext cx="4337333" cy="700691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89864" y="2383086"/>
            <a:ext cx="4654176" cy="4323703"/>
          </a:xfrm>
          <a:prstGeom prst="rect">
            <a:avLst/>
          </a:prstGeom>
        </p:spPr>
      </p:pic>
      <p:cxnSp>
        <p:nvCxnSpPr>
          <p:cNvPr id="9" name="Straight Arrow Connector 8"/>
          <p:cNvCxnSpPr>
            <a:cxnSpLocks/>
          </p:cNvCxnSpPr>
          <p:nvPr/>
        </p:nvCxnSpPr>
        <p:spPr>
          <a:xfrm flipV="1">
            <a:off x="4499015" y="4599000"/>
            <a:ext cx="1478903" cy="2700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4965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Формат на представяне на данните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33690" y="1289408"/>
            <a:ext cx="5784621" cy="537388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7" name="Rectangle 6"/>
          <p:cNvSpPr/>
          <p:nvPr/>
        </p:nvSpPr>
        <p:spPr bwMode="auto">
          <a:xfrm>
            <a:off x="3074514" y="1989000"/>
            <a:ext cx="1581486" cy="3195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503690" y="2142270"/>
            <a:ext cx="2430000" cy="810000"/>
          </a:xfrm>
          <a:prstGeom prst="wedgeRoundRectCallout">
            <a:avLst>
              <a:gd name="adj1" fmla="val 52920"/>
              <a:gd name="adj2" fmla="val 15388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Типове данни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4739514" y="2940756"/>
            <a:ext cx="3786486" cy="2295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9045761" y="4644000"/>
            <a:ext cx="2627899" cy="990000"/>
          </a:xfrm>
          <a:prstGeom prst="wedgeRoundRectCallout">
            <a:avLst>
              <a:gd name="adj1" fmla="val -66583"/>
              <a:gd name="adj2" fmla="val -5457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Допълнителни опции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8031000" y="1510413"/>
            <a:ext cx="4005000" cy="1733957"/>
          </a:xfrm>
          <a:prstGeom prst="wedgeRoundRectCallout">
            <a:avLst>
              <a:gd name="adj1" fmla="val -88898"/>
              <a:gd name="adj2" fmla="val 2739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Изберете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колко знака след десетичната запетая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да се показват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5135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типове данни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478954"/>
              </p:ext>
            </p:extLst>
          </p:nvPr>
        </p:nvGraphicFramePr>
        <p:xfrm>
          <a:off x="1078500" y="1380727"/>
          <a:ext cx="10035000" cy="514658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4118870">
                  <a:extLst>
                    <a:ext uri="{9D8B030D-6E8A-4147-A177-3AD203B41FA5}">
                      <a16:colId xmlns:a16="http://schemas.microsoft.com/office/drawing/2014/main" val="2008932669"/>
                    </a:ext>
                  </a:extLst>
                </a:gridCol>
                <a:gridCol w="5916130">
                  <a:extLst>
                    <a:ext uri="{9D8B030D-6E8A-4147-A177-3AD203B41FA5}">
                      <a16:colId xmlns:a16="http://schemas.microsoft.com/office/drawing/2014/main" val="669753019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bg-BG" sz="2800" dirty="0">
                          <a:solidFill>
                            <a:schemeClr val="bg2"/>
                          </a:solidFill>
                        </a:rPr>
                        <a:t>Тип</a:t>
                      </a:r>
                      <a:r>
                        <a:rPr lang="bg-BG" sz="2800" baseline="0" dirty="0">
                          <a:solidFill>
                            <a:schemeClr val="bg2"/>
                          </a:solidFill>
                        </a:rPr>
                        <a:t> данни</a:t>
                      </a:r>
                      <a:endParaRPr lang="en-US" sz="2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2800" dirty="0">
                          <a:solidFill>
                            <a:schemeClr val="bg2"/>
                          </a:solidFill>
                        </a:rPr>
                        <a:t>Формат</a:t>
                      </a:r>
                      <a:endParaRPr lang="en-US" sz="2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188326"/>
                  </a:ext>
                </a:extLst>
              </a:tr>
              <a:tr h="578430">
                <a:tc>
                  <a:txBody>
                    <a:bodyPr/>
                    <a:lstStyle/>
                    <a:p>
                      <a:r>
                        <a:rPr lang="en-US" b="1" dirty="0"/>
                        <a:t>General</a:t>
                      </a:r>
                      <a:r>
                        <a:rPr lang="en-US" baseline="0" dirty="0"/>
                        <a:t> (</a:t>
                      </a:r>
                      <a:r>
                        <a:rPr lang="bg-BG" baseline="0" dirty="0"/>
                        <a:t>Общ</a:t>
                      </a:r>
                      <a:r>
                        <a:rPr lang="en-US" baseline="0" dirty="0"/>
                        <a:t>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Показва данните така, както ги</a:t>
                      </a:r>
                      <a:r>
                        <a:rPr lang="bg-BG" baseline="0" dirty="0"/>
                        <a:t> въвеждате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917285"/>
                  </a:ext>
                </a:extLst>
              </a:tr>
              <a:tr h="638873">
                <a:tc>
                  <a:txBody>
                    <a:bodyPr/>
                    <a:lstStyle/>
                    <a:p>
                      <a:r>
                        <a:rPr lang="en-US" b="1" dirty="0"/>
                        <a:t>Number</a:t>
                      </a:r>
                      <a:r>
                        <a:rPr lang="bg-BG" dirty="0"/>
                        <a:t> (Число)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Числов</a:t>
                      </a:r>
                      <a:r>
                        <a:rPr lang="bg-BG" baseline="0" dirty="0"/>
                        <a:t> формат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148460"/>
                  </a:ext>
                </a:extLst>
              </a:tr>
              <a:tr h="598944">
                <a:tc>
                  <a:txBody>
                    <a:bodyPr/>
                    <a:lstStyle/>
                    <a:p>
                      <a:r>
                        <a:rPr lang="en-US" b="1" dirty="0"/>
                        <a:t>Currency</a:t>
                      </a:r>
                      <a:r>
                        <a:rPr lang="bg-BG" dirty="0"/>
                        <a:t> (Валута)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Показва знак за валута след числото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6124410"/>
                  </a:ext>
                </a:extLst>
              </a:tr>
              <a:tr h="559014">
                <a:tc>
                  <a:txBody>
                    <a:bodyPr/>
                    <a:lstStyle/>
                    <a:p>
                      <a:r>
                        <a:rPr lang="en-US" b="1" dirty="0"/>
                        <a:t>Text</a:t>
                      </a:r>
                      <a:r>
                        <a:rPr lang="bg-BG" dirty="0"/>
                        <a:t> (Текст)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Текстов формат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465411"/>
                  </a:ext>
                </a:extLst>
              </a:tr>
              <a:tr h="559014">
                <a:tc>
                  <a:txBody>
                    <a:bodyPr/>
                    <a:lstStyle/>
                    <a:p>
                      <a:r>
                        <a:rPr lang="en-US" b="1" dirty="0"/>
                        <a:t>Date</a:t>
                      </a:r>
                      <a:r>
                        <a:rPr lang="bg-BG" dirty="0"/>
                        <a:t> (Дата)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Формат за ден,</a:t>
                      </a:r>
                      <a:r>
                        <a:rPr lang="bg-BG" baseline="0" dirty="0"/>
                        <a:t> месец и година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46026"/>
                  </a:ext>
                </a:extLst>
              </a:tr>
              <a:tr h="819106">
                <a:tc>
                  <a:txBody>
                    <a:bodyPr/>
                    <a:lstStyle/>
                    <a:p>
                      <a:r>
                        <a:rPr lang="en-US" b="1" dirty="0"/>
                        <a:t>Time</a:t>
                      </a:r>
                      <a:r>
                        <a:rPr lang="bg-BG" dirty="0"/>
                        <a:t> (Час)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Формат за час</a:t>
                      </a:r>
                      <a:r>
                        <a:rPr lang="bg-BG" baseline="0" dirty="0"/>
                        <a:t>, минута и секунда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6462924"/>
                  </a:ext>
                </a:extLst>
              </a:tr>
              <a:tr h="673199">
                <a:tc>
                  <a:txBody>
                    <a:bodyPr/>
                    <a:lstStyle/>
                    <a:p>
                      <a:r>
                        <a:rPr lang="en-US" b="1" dirty="0"/>
                        <a:t>Percentage</a:t>
                      </a:r>
                      <a:r>
                        <a:rPr lang="en-US" dirty="0"/>
                        <a:t> </a:t>
                      </a:r>
                      <a:r>
                        <a:rPr lang="bg-BG" dirty="0"/>
                        <a:t>(Процент)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Превръща числото</a:t>
                      </a:r>
                      <a:r>
                        <a:rPr lang="bg-BG" baseline="0" dirty="0"/>
                        <a:t> в проценти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3683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7325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57798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741000" y="1610812"/>
            <a:ext cx="11040744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ru-RU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Типове данни</a:t>
            </a:r>
            <a:r>
              <a:rPr lang="ru-RU" sz="2600" b="1" dirty="0">
                <a:solidFill>
                  <a:schemeClr val="bg2"/>
                </a:solidFill>
              </a:rPr>
              <a:t>: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ru-RU" sz="2400" b="1" dirty="0">
                <a:solidFill>
                  <a:schemeClr val="bg2"/>
                </a:solidFill>
              </a:rPr>
              <a:t>Текст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ru-RU" sz="2400" b="1" dirty="0">
                <a:solidFill>
                  <a:schemeClr val="bg2"/>
                </a:solidFill>
              </a:rPr>
              <a:t>Число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ru-RU" sz="2400" b="1" dirty="0">
                <a:solidFill>
                  <a:schemeClr val="bg2"/>
                </a:solidFill>
              </a:rPr>
              <a:t>Дата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ru-RU" sz="2400" b="1" dirty="0">
                <a:solidFill>
                  <a:schemeClr val="bg2"/>
                </a:solidFill>
              </a:rPr>
              <a:t>Валутни данни </a:t>
            </a:r>
            <a:r>
              <a:rPr lang="ru-RU" sz="2400" dirty="0">
                <a:solidFill>
                  <a:schemeClr val="bg2"/>
                </a:solidFill>
              </a:rPr>
              <a:t>и др.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ru-RU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Форматиране</a:t>
            </a:r>
            <a:r>
              <a:rPr lang="ru-RU" sz="2600" dirty="0">
                <a:solidFill>
                  <a:schemeClr val="bg2"/>
                </a:solidFill>
              </a:rPr>
              <a:t> на различните типове </a:t>
            </a:r>
            <a:r>
              <a:rPr lang="ru-RU" sz="2600" b="1" dirty="0">
                <a:solidFill>
                  <a:schemeClr val="bg2"/>
                </a:solidFill>
              </a:rPr>
              <a:t>данни</a:t>
            </a:r>
            <a:endParaRPr lang="ru-RU" sz="2800" b="1" dirty="0">
              <a:solidFill>
                <a:schemeClr val="bg2"/>
              </a:solidFill>
            </a:endParaRP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endParaRPr lang="ru-RU" sz="2800" b="1" dirty="0">
              <a:solidFill>
                <a:schemeClr val="bg2"/>
              </a:solidFill>
            </a:endParaRP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endParaRPr lang="en-US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5145</TotalTime>
  <Words>500</Words>
  <Application>Microsoft Office PowerPoint</Application>
  <PresentationFormat>Widescreen</PresentationFormat>
  <Paragraphs>92</Paragraphs>
  <Slides>11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Wingdings</vt:lpstr>
      <vt:lpstr>SoftUni</vt:lpstr>
      <vt:lpstr>Създаване на таблица по модел с данни от различен тип. Формат на представяне на данните</vt:lpstr>
      <vt:lpstr>Съдържание</vt:lpstr>
      <vt:lpstr>͏Типове данни и формат на представяне на данните</vt:lpstr>
      <vt:lpstr>Типове данни в Excel</vt:lpstr>
      <vt:lpstr>Формат на представяне на данните</vt:lpstr>
      <vt:lpstr>Формат на представяне на данните</vt:lpstr>
      <vt:lpstr>Формат на представяне на данните</vt:lpstr>
      <vt:lpstr>Основни типове данни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Създаване на таблица по модел с данни от различен тип. Формат на представяне на данните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741</cp:revision>
  <dcterms:created xsi:type="dcterms:W3CDTF">2018-05-23T13:08:44Z</dcterms:created>
  <dcterms:modified xsi:type="dcterms:W3CDTF">2026-09-25T08:57:14Z</dcterms:modified>
  <cp:category/>
</cp:coreProperties>
</file>